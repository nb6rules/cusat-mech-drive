
<file path=[Content_Types].xml><?xml version="1.0" encoding="utf-8"?>
<Types xmlns="http://schemas.openxmlformats.org/package/2006/content-types">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325" r:id="rId3"/>
    <p:sldId id="326" r:id="rId4"/>
    <p:sldId id="327" r:id="rId5"/>
    <p:sldId id="328"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3" d="100"/>
          <a:sy n="73" d="100"/>
        </p:scale>
        <p:origin x="-114"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96DFF08F-DC6B-4601-B491-B0F83F6DD2DA}" type="datetimeFigureOut">
              <a:rPr lang="en-US" dirty="0"/>
              <a:pPr/>
              <a:t>8/11/2023</a:t>
            </a:fld>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dirty="0"/>
              <a:pPr/>
              <a:t>‹#›</a:t>
            </a:fld>
            <a:endParaRPr lang="en-US" dirty="0"/>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dirty="0"/>
              <a:pPr/>
              <a:t>8/11/2023</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anose="020B0503020204020204"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5pPr>
      <a:lvl6pPr marL="1600200" indent="-22860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6pPr>
      <a:lvl7pPr marL="1899920" indent="-22860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7pPr>
      <a:lvl8pPr marL="2200275" indent="-22860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8pPr>
      <a:lvl9pPr marL="2499995" indent="-22860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dirty="0" smtClean="0">
                <a:solidFill>
                  <a:schemeClr val="tx1"/>
                </a:solidFill>
                <a:latin typeface="Times New Roman" pitchFamily="18" charset="0"/>
                <a:cs typeface="Times New Roman" pitchFamily="18" charset="0"/>
              </a:rPr>
              <a:t>Enumerated  data  type (module 3)</a:t>
            </a:r>
            <a:endParaRPr lang="en-IN" sz="44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latin typeface="Times New Roman" pitchFamily="18" charset="0"/>
                <a:cs typeface="Times New Roman" pitchFamily="18" charset="0"/>
              </a:rPr>
              <a:t>Enumerated data type (module 3)</a:t>
            </a:r>
            <a:endParaRPr lang="en-US"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sz="2800" dirty="0" smtClean="0">
                <a:solidFill>
                  <a:schemeClr val="tx1"/>
                </a:solidFill>
                <a:latin typeface="Times New Roman" pitchFamily="18" charset="0"/>
                <a:cs typeface="Times New Roman" pitchFamily="18" charset="0"/>
              </a:rPr>
              <a:t>In computer programming </a:t>
            </a:r>
            <a:r>
              <a:rPr lang="en-US" sz="2800" b="1" dirty="0" smtClean="0">
                <a:solidFill>
                  <a:schemeClr val="tx1"/>
                </a:solidFill>
                <a:latin typeface="Times New Roman" pitchFamily="18" charset="0"/>
                <a:cs typeface="Times New Roman" pitchFamily="18" charset="0"/>
              </a:rPr>
              <a:t>enumerated data type (</a:t>
            </a:r>
            <a:r>
              <a:rPr lang="en-US" sz="2800" b="1" dirty="0" err="1" smtClean="0">
                <a:solidFill>
                  <a:schemeClr val="tx1"/>
                </a:solidFill>
                <a:latin typeface="Times New Roman" pitchFamily="18" charset="0"/>
                <a:cs typeface="Times New Roman" pitchFamily="18" charset="0"/>
              </a:rPr>
              <a:t>enum</a:t>
            </a:r>
            <a:r>
              <a:rPr lang="en-US" sz="2800" b="1" dirty="0" smtClean="0">
                <a:solidFill>
                  <a:schemeClr val="tx1"/>
                </a:solidFill>
                <a:latin typeface="Times New Roman" pitchFamily="18" charset="0"/>
                <a:cs typeface="Times New Roman" pitchFamily="18" charset="0"/>
              </a:rPr>
              <a:t>) </a:t>
            </a:r>
            <a:r>
              <a:rPr lang="en-US" sz="2800" dirty="0" smtClean="0">
                <a:solidFill>
                  <a:schemeClr val="tx1"/>
                </a:solidFill>
                <a:latin typeface="Times New Roman" pitchFamily="18" charset="0"/>
                <a:cs typeface="Times New Roman" pitchFamily="18" charset="0"/>
              </a:rPr>
              <a:t>is used to create the group of constants.</a:t>
            </a:r>
          </a:p>
          <a:p>
            <a:pPr>
              <a:buNone/>
            </a:pPr>
            <a:endParaRPr lang="en-US" sz="2800" dirty="0" smtClean="0">
              <a:solidFill>
                <a:schemeClr val="tx1"/>
              </a:solidFill>
              <a:latin typeface="Times New Roman" pitchFamily="18" charset="0"/>
              <a:cs typeface="Times New Roman" pitchFamily="18" charset="0"/>
            </a:endParaRPr>
          </a:p>
          <a:p>
            <a:r>
              <a:rPr lang="en-US" sz="2800" dirty="0" smtClean="0">
                <a:solidFill>
                  <a:schemeClr val="tx1"/>
                </a:solidFill>
                <a:latin typeface="Times New Roman" pitchFamily="18" charset="0"/>
                <a:cs typeface="Times New Roman" pitchFamily="18" charset="0"/>
              </a:rPr>
              <a:t>It is a </a:t>
            </a:r>
            <a:r>
              <a:rPr lang="en-US" sz="2800" b="1" dirty="0" smtClean="0">
                <a:solidFill>
                  <a:schemeClr val="tx1"/>
                </a:solidFill>
                <a:latin typeface="Times New Roman" pitchFamily="18" charset="0"/>
                <a:cs typeface="Times New Roman" pitchFamily="18" charset="0"/>
              </a:rPr>
              <a:t>user-defined data type </a:t>
            </a:r>
            <a:r>
              <a:rPr lang="en-US" sz="2800" dirty="0" smtClean="0">
                <a:solidFill>
                  <a:schemeClr val="tx1"/>
                </a:solidFill>
                <a:latin typeface="Times New Roman" pitchFamily="18" charset="0"/>
                <a:cs typeface="Times New Roman" pitchFamily="18" charset="0"/>
              </a:rPr>
              <a:t>that consists of integer values, and it provides meaningful names to these values.</a:t>
            </a:r>
          </a:p>
          <a:p>
            <a:endParaRPr lang="en-US" sz="2800" dirty="0" smtClean="0">
              <a:solidFill>
                <a:schemeClr val="tx1"/>
              </a:solidFill>
              <a:latin typeface="Times New Roman" pitchFamily="18" charset="0"/>
              <a:cs typeface="Times New Roman" pitchFamily="18" charset="0"/>
            </a:endParaRPr>
          </a:p>
          <a:p>
            <a:r>
              <a:rPr lang="en-US" sz="2800" dirty="0" smtClean="0">
                <a:solidFill>
                  <a:schemeClr val="tx1"/>
                </a:solidFill>
                <a:latin typeface="Times New Roman" pitchFamily="18" charset="0"/>
                <a:cs typeface="Times New Roman" pitchFamily="18" charset="0"/>
              </a:rPr>
              <a:t>By default, </a:t>
            </a:r>
            <a:r>
              <a:rPr lang="en-US" sz="2800" i="1" dirty="0" smtClean="0">
                <a:solidFill>
                  <a:schemeClr val="tx1"/>
                </a:solidFill>
                <a:latin typeface="Times New Roman" pitchFamily="18" charset="0"/>
                <a:cs typeface="Times New Roman" pitchFamily="18" charset="0"/>
              </a:rPr>
              <a:t>const1</a:t>
            </a:r>
            <a:r>
              <a:rPr lang="en-US" sz="2800" dirty="0" smtClean="0">
                <a:solidFill>
                  <a:schemeClr val="tx1"/>
                </a:solidFill>
                <a:latin typeface="Times New Roman" pitchFamily="18" charset="0"/>
                <a:cs typeface="Times New Roman" pitchFamily="18" charset="0"/>
              </a:rPr>
              <a:t> is 0, </a:t>
            </a:r>
            <a:r>
              <a:rPr lang="en-US" sz="2800" i="1" dirty="0" smtClean="0">
                <a:solidFill>
                  <a:schemeClr val="tx1"/>
                </a:solidFill>
                <a:latin typeface="Times New Roman" pitchFamily="18" charset="0"/>
                <a:cs typeface="Times New Roman" pitchFamily="18" charset="0"/>
              </a:rPr>
              <a:t>const2</a:t>
            </a:r>
            <a:r>
              <a:rPr lang="en-US" sz="2800" dirty="0" smtClean="0">
                <a:solidFill>
                  <a:schemeClr val="tx1"/>
                </a:solidFill>
                <a:latin typeface="Times New Roman" pitchFamily="18" charset="0"/>
                <a:cs typeface="Times New Roman" pitchFamily="18" charset="0"/>
              </a:rPr>
              <a:t> is 1 and so on. You can change default values of </a:t>
            </a:r>
            <a:r>
              <a:rPr lang="en-US" sz="2800" dirty="0" err="1" smtClean="0">
                <a:solidFill>
                  <a:schemeClr val="tx1"/>
                </a:solidFill>
                <a:latin typeface="Times New Roman" pitchFamily="18" charset="0"/>
                <a:cs typeface="Times New Roman" pitchFamily="18" charset="0"/>
              </a:rPr>
              <a:t>enum</a:t>
            </a:r>
            <a:r>
              <a:rPr lang="en-US" sz="2800" dirty="0" smtClean="0">
                <a:solidFill>
                  <a:schemeClr val="tx1"/>
                </a:solidFill>
                <a:latin typeface="Times New Roman" pitchFamily="18" charset="0"/>
                <a:cs typeface="Times New Roman" pitchFamily="18" charset="0"/>
              </a:rPr>
              <a:t> elements during declaration (if necessary).</a:t>
            </a:r>
          </a:p>
          <a:p>
            <a:endParaRPr lang="en-US" sz="2800" dirty="0" smtClean="0">
              <a:solidFill>
                <a:schemeClr val="tx1"/>
              </a:solidFill>
              <a:latin typeface="Times New Roman" pitchFamily="18" charset="0"/>
              <a:cs typeface="Times New Roman" pitchFamily="18" charset="0"/>
            </a:endParaRPr>
          </a:p>
          <a:p>
            <a:endParaRPr lang="en-US"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579120"/>
          </a:xfrm>
        </p:spPr>
        <p:txBody>
          <a:bodyPr>
            <a:normAutofit fontScale="90000"/>
          </a:bodyPr>
          <a:lstStyle/>
          <a:p>
            <a:r>
              <a:rPr lang="en-US" b="1" dirty="0" smtClean="0"/>
              <a:t>For example:</a:t>
            </a:r>
            <a:r>
              <a:rPr lang="en-US" dirty="0" smtClean="0"/>
              <a:t/>
            </a:r>
            <a:br>
              <a:rPr lang="en-US" dirty="0" smtClean="0"/>
            </a:br>
            <a:endParaRPr lang="en-US" dirty="0"/>
          </a:p>
        </p:txBody>
      </p:sp>
      <p:sp>
        <p:nvSpPr>
          <p:cNvPr id="3" name="Content Placeholder 2"/>
          <p:cNvSpPr>
            <a:spLocks noGrp="1"/>
          </p:cNvSpPr>
          <p:nvPr>
            <p:ph idx="1"/>
          </p:nvPr>
        </p:nvSpPr>
        <p:spPr>
          <a:xfrm>
            <a:off x="1143000" y="1058091"/>
            <a:ext cx="9872871" cy="5037909"/>
          </a:xfrm>
        </p:spPr>
        <p:txBody>
          <a:bodyPr>
            <a:normAutofit/>
          </a:bodyPr>
          <a:lstStyle/>
          <a:p>
            <a:pPr>
              <a:buNone/>
            </a:pPr>
            <a:r>
              <a:rPr lang="en-US" sz="3200" dirty="0" err="1" smtClean="0">
                <a:solidFill>
                  <a:schemeClr val="tx1"/>
                </a:solidFill>
                <a:latin typeface="Times New Roman" pitchFamily="18" charset="0"/>
                <a:cs typeface="Times New Roman" pitchFamily="18" charset="0"/>
              </a:rPr>
              <a:t>enum</a:t>
            </a:r>
            <a:r>
              <a:rPr lang="en-US" sz="3200" dirty="0" smtClean="0">
                <a:solidFill>
                  <a:schemeClr val="tx1"/>
                </a:solidFill>
                <a:latin typeface="Times New Roman" pitchFamily="18" charset="0"/>
                <a:cs typeface="Times New Roman" pitchFamily="18" charset="0"/>
              </a:rPr>
              <a:t> fruits{mango, apple, strawberry, papaya};  </a:t>
            </a:r>
          </a:p>
          <a:p>
            <a:pPr>
              <a:buNone/>
            </a:pPr>
            <a:endParaRPr lang="en-US" sz="3200" dirty="0" smtClean="0">
              <a:solidFill>
                <a:schemeClr val="tx1"/>
              </a:solidFill>
              <a:latin typeface="Times New Roman" pitchFamily="18" charset="0"/>
              <a:cs typeface="Times New Roman" pitchFamily="18" charset="0"/>
            </a:endParaRPr>
          </a:p>
          <a:p>
            <a:r>
              <a:rPr lang="en-US" sz="2400" dirty="0" smtClean="0">
                <a:solidFill>
                  <a:schemeClr val="tx1"/>
                </a:solidFill>
                <a:latin typeface="Times New Roman" pitchFamily="18" charset="0"/>
                <a:cs typeface="Times New Roman" pitchFamily="18" charset="0"/>
              </a:rPr>
              <a:t>The default value of mango is 0, apple is 1, strawberry is 2, and papaya is 3. If we want to change these default values, then we can do as given below:</a:t>
            </a:r>
          </a:p>
          <a:p>
            <a:endParaRPr lang="en-US" sz="3200" dirty="0" smtClean="0">
              <a:solidFill>
                <a:schemeClr val="tx1"/>
              </a:solidFill>
              <a:latin typeface="Times New Roman" pitchFamily="18" charset="0"/>
              <a:cs typeface="Times New Roman" pitchFamily="18" charset="0"/>
            </a:endParaRPr>
          </a:p>
          <a:p>
            <a:pPr>
              <a:buNone/>
            </a:pPr>
            <a:endParaRPr lang="en-US" sz="3200" dirty="0" smtClean="0">
              <a:solidFill>
                <a:schemeClr val="tx1"/>
              </a:solidFill>
              <a:latin typeface="Times New Roman" pitchFamily="18" charset="0"/>
              <a:cs typeface="Times New Roman" pitchFamily="18" charset="0"/>
            </a:endParaRPr>
          </a:p>
          <a:p>
            <a:pPr>
              <a:buNone/>
            </a:pPr>
            <a:r>
              <a:rPr lang="en-US" sz="3200" dirty="0" err="1" smtClean="0">
                <a:solidFill>
                  <a:schemeClr val="tx1"/>
                </a:solidFill>
                <a:latin typeface="Times New Roman" pitchFamily="18" charset="0"/>
                <a:cs typeface="Times New Roman" pitchFamily="18" charset="0"/>
              </a:rPr>
              <a:t>enum</a:t>
            </a:r>
            <a:r>
              <a:rPr lang="en-US" sz="3200" dirty="0" smtClean="0">
                <a:solidFill>
                  <a:schemeClr val="tx1"/>
                </a:solidFill>
                <a:latin typeface="Times New Roman" pitchFamily="18" charset="0"/>
                <a:cs typeface="Times New Roman" pitchFamily="18" charset="0"/>
              </a:rPr>
              <a:t> fruits{  mango=2,  apple=1,  strawberry=5,  papaya=7,   };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2188" y="230777"/>
            <a:ext cx="9875520" cy="1356360"/>
          </a:xfrm>
        </p:spPr>
        <p:txBody>
          <a:bodyPr/>
          <a:lstStyle/>
          <a:p>
            <a:r>
              <a:rPr lang="en-US" dirty="0" smtClean="0"/>
              <a:t>Example </a:t>
            </a:r>
            <a:endParaRPr lang="en-US" dirty="0"/>
          </a:p>
        </p:txBody>
      </p:sp>
      <p:sp>
        <p:nvSpPr>
          <p:cNvPr id="3" name="Content Placeholder 2"/>
          <p:cNvSpPr>
            <a:spLocks noGrp="1"/>
          </p:cNvSpPr>
          <p:nvPr>
            <p:ph idx="1"/>
          </p:nvPr>
        </p:nvSpPr>
        <p:spPr>
          <a:xfrm>
            <a:off x="1143000" y="1018903"/>
            <a:ext cx="9872871" cy="5077097"/>
          </a:xfrm>
        </p:spPr>
        <p:txBody>
          <a:bodyPr>
            <a:normAutofit fontScale="92500" lnSpcReduction="20000"/>
          </a:bodyPr>
          <a:lstStyle/>
          <a:p>
            <a:pPr>
              <a:buNone/>
            </a:pPr>
            <a:endParaRPr lang="en-US" dirty="0" smtClean="0">
              <a:solidFill>
                <a:schemeClr val="tx1"/>
              </a:solidFill>
            </a:endParaRPr>
          </a:p>
          <a:p>
            <a:pPr>
              <a:buNone/>
            </a:pPr>
            <a:r>
              <a:rPr lang="en-US" dirty="0" smtClean="0">
                <a:solidFill>
                  <a:schemeClr val="tx1"/>
                </a:solidFill>
              </a:rPr>
              <a:t>    </a:t>
            </a:r>
            <a:r>
              <a:rPr lang="en-US" b="1" dirty="0" smtClean="0">
                <a:solidFill>
                  <a:schemeClr val="tx1"/>
                </a:solidFill>
                <a:latin typeface="Times New Roman" pitchFamily="18" charset="0"/>
                <a:cs typeface="Times New Roman" pitchFamily="18" charset="0"/>
              </a:rPr>
              <a:t>#include &lt;</a:t>
            </a:r>
            <a:r>
              <a:rPr lang="en-US" b="1" dirty="0" err="1" smtClean="0">
                <a:solidFill>
                  <a:schemeClr val="tx1"/>
                </a:solidFill>
                <a:latin typeface="Times New Roman" pitchFamily="18" charset="0"/>
                <a:cs typeface="Times New Roman" pitchFamily="18" charset="0"/>
              </a:rPr>
              <a:t>stdio.h</a:t>
            </a:r>
            <a:r>
              <a:rPr lang="en-US" b="1" dirty="0" smtClean="0">
                <a:solidFill>
                  <a:schemeClr val="tx1"/>
                </a:solidFill>
                <a:latin typeface="Times New Roman" pitchFamily="18" charset="0"/>
                <a:cs typeface="Times New Roman" pitchFamily="18" charset="0"/>
              </a:rPr>
              <a:t>&gt;  </a:t>
            </a:r>
          </a:p>
          <a:p>
            <a:pPr>
              <a:buNone/>
            </a:pPr>
            <a:r>
              <a:rPr lang="en-US" b="1" dirty="0" err="1" smtClean="0">
                <a:solidFill>
                  <a:schemeClr val="tx1"/>
                </a:solidFill>
                <a:latin typeface="Times New Roman" pitchFamily="18" charset="0"/>
                <a:cs typeface="Times New Roman" pitchFamily="18" charset="0"/>
              </a:rPr>
              <a:t>enum</a:t>
            </a:r>
            <a:r>
              <a:rPr lang="en-US" b="1" dirty="0" smtClean="0">
                <a:solidFill>
                  <a:schemeClr val="tx1"/>
                </a:solidFill>
                <a:latin typeface="Times New Roman" pitchFamily="18" charset="0"/>
                <a:cs typeface="Times New Roman" pitchFamily="18" charset="0"/>
              </a:rPr>
              <a:t> weekdays{Sunday=1, Monday, Tuesday, Wednesday, Thursday, Friday, Saturday};  </a:t>
            </a:r>
          </a:p>
          <a:p>
            <a:pPr>
              <a:buNone/>
            </a:pP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int</a:t>
            </a:r>
            <a:r>
              <a:rPr lang="en-US" b="1" dirty="0" smtClean="0">
                <a:solidFill>
                  <a:schemeClr val="tx1"/>
                </a:solidFill>
                <a:latin typeface="Times New Roman" pitchFamily="18" charset="0"/>
                <a:cs typeface="Times New Roman" pitchFamily="18" charset="0"/>
              </a:rPr>
              <a:t> main()  </a:t>
            </a:r>
          </a:p>
          <a:p>
            <a:pPr>
              <a:buNone/>
            </a:pPr>
            <a:r>
              <a:rPr lang="en-US" b="1" dirty="0" smtClean="0">
                <a:solidFill>
                  <a:schemeClr val="tx1"/>
                </a:solidFill>
                <a:latin typeface="Times New Roman" pitchFamily="18" charset="0"/>
                <a:cs typeface="Times New Roman" pitchFamily="18" charset="0"/>
              </a:rPr>
              <a:t>{  </a:t>
            </a:r>
          </a:p>
          <a:p>
            <a:pPr>
              <a:buNone/>
            </a:pP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enum</a:t>
            </a:r>
            <a:r>
              <a:rPr lang="en-US" b="1" dirty="0" smtClean="0">
                <a:solidFill>
                  <a:schemeClr val="tx1"/>
                </a:solidFill>
                <a:latin typeface="Times New Roman" pitchFamily="18" charset="0"/>
                <a:cs typeface="Times New Roman" pitchFamily="18" charset="0"/>
              </a:rPr>
              <a:t> weekdays w; 	</a:t>
            </a:r>
            <a:r>
              <a:rPr lang="en-US" dirty="0" smtClean="0">
                <a:solidFill>
                  <a:schemeClr val="tx1"/>
                </a:solidFill>
                <a:latin typeface="Times New Roman" pitchFamily="18" charset="0"/>
                <a:cs typeface="Times New Roman" pitchFamily="18" charset="0"/>
              </a:rPr>
              <a:t>// variable declaration of weekdays type </a:t>
            </a:r>
            <a:r>
              <a:rPr lang="en-US" b="1" dirty="0" smtClean="0">
                <a:solidFill>
                  <a:schemeClr val="tx1"/>
                </a:solidFill>
                <a:latin typeface="Times New Roman" pitchFamily="18" charset="0"/>
                <a:cs typeface="Times New Roman" pitchFamily="18" charset="0"/>
              </a:rPr>
              <a:t> </a:t>
            </a:r>
          </a:p>
          <a:p>
            <a:pPr>
              <a:buNone/>
            </a:pPr>
            <a:r>
              <a:rPr lang="en-US" b="1" dirty="0" smtClean="0">
                <a:solidFill>
                  <a:schemeClr val="tx1"/>
                </a:solidFill>
                <a:latin typeface="Times New Roman" pitchFamily="18" charset="0"/>
                <a:cs typeface="Times New Roman" pitchFamily="18" charset="0"/>
              </a:rPr>
              <a:t> w=Monday; 		</a:t>
            </a:r>
            <a:r>
              <a:rPr lang="en-US" dirty="0" smtClean="0">
                <a:solidFill>
                  <a:schemeClr val="tx1"/>
                </a:solidFill>
                <a:latin typeface="Times New Roman" pitchFamily="18" charset="0"/>
                <a:cs typeface="Times New Roman" pitchFamily="18" charset="0"/>
              </a:rPr>
              <a:t>// assigning value of Monday to w.  </a:t>
            </a:r>
          </a:p>
          <a:p>
            <a:pPr>
              <a:buNone/>
            </a:pP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printf</a:t>
            </a:r>
            <a:r>
              <a:rPr lang="en-US" b="1" dirty="0" smtClean="0">
                <a:solidFill>
                  <a:schemeClr val="tx1"/>
                </a:solidFill>
                <a:latin typeface="Times New Roman" pitchFamily="18" charset="0"/>
                <a:cs typeface="Times New Roman" pitchFamily="18" charset="0"/>
              </a:rPr>
              <a:t>("The value of w is %</a:t>
            </a:r>
            <a:r>
              <a:rPr lang="en-US" b="1" dirty="0" err="1" smtClean="0">
                <a:solidFill>
                  <a:schemeClr val="tx1"/>
                </a:solidFill>
                <a:latin typeface="Times New Roman" pitchFamily="18" charset="0"/>
                <a:cs typeface="Times New Roman" pitchFamily="18" charset="0"/>
              </a:rPr>
              <a:t>d",w</a:t>
            </a:r>
            <a:r>
              <a:rPr lang="en-US" b="1" dirty="0" smtClean="0">
                <a:solidFill>
                  <a:schemeClr val="tx1"/>
                </a:solidFill>
                <a:latin typeface="Times New Roman" pitchFamily="18" charset="0"/>
                <a:cs typeface="Times New Roman" pitchFamily="18" charset="0"/>
              </a:rPr>
              <a:t>);  </a:t>
            </a:r>
          </a:p>
          <a:p>
            <a:pPr>
              <a:buNone/>
            </a:pPr>
            <a:r>
              <a:rPr lang="en-US" b="1" dirty="0" smtClean="0">
                <a:solidFill>
                  <a:schemeClr val="tx1"/>
                </a:solidFill>
                <a:latin typeface="Times New Roman" pitchFamily="18" charset="0"/>
                <a:cs typeface="Times New Roman" pitchFamily="18" charset="0"/>
              </a:rPr>
              <a:t>    return 0;  </a:t>
            </a:r>
          </a:p>
          <a:p>
            <a:pPr>
              <a:buNone/>
            </a:pPr>
            <a:r>
              <a:rPr lang="en-US" b="1" dirty="0" smtClean="0">
                <a:solidFill>
                  <a:schemeClr val="tx1"/>
                </a:solidFill>
                <a:latin typeface="Times New Roman" pitchFamily="18" charset="0"/>
                <a:cs typeface="Times New Roman" pitchFamily="18" charset="0"/>
              </a:rPr>
              <a:t>}  </a:t>
            </a:r>
          </a:p>
          <a:p>
            <a:pPr algn="ctr">
              <a:buNone/>
            </a:pPr>
            <a:r>
              <a:rPr lang="en-US" b="1" dirty="0" smtClean="0">
                <a:solidFill>
                  <a:schemeClr val="tx1"/>
                </a:solidFill>
                <a:latin typeface="Times New Roman" pitchFamily="18" charset="0"/>
                <a:cs typeface="Times New Roman" pitchFamily="18" charset="0"/>
              </a:rPr>
              <a:t>Output</a:t>
            </a:r>
          </a:p>
          <a:p>
            <a:pPr algn="ctr">
              <a:buNone/>
            </a:pPr>
            <a:r>
              <a:rPr lang="en-US" b="1" dirty="0" smtClean="0">
                <a:solidFill>
                  <a:schemeClr val="tx1"/>
                </a:solidFill>
                <a:latin typeface="Times New Roman" pitchFamily="18" charset="0"/>
                <a:cs typeface="Times New Roman" pitchFamily="18" charset="0"/>
              </a:rPr>
              <a:t>The value of w is 2</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2371" y="385353"/>
            <a:ext cx="9872871" cy="6119949"/>
          </a:xfrm>
        </p:spPr>
        <p:txBody>
          <a:bodyPr>
            <a:normAutofit fontScale="47500" lnSpcReduction="20000"/>
          </a:bodyPr>
          <a:lstStyle/>
          <a:p>
            <a:pPr>
              <a:buNone/>
            </a:pPr>
            <a:r>
              <a:rPr lang="en-US" sz="5100" dirty="0" smtClean="0">
                <a:solidFill>
                  <a:schemeClr val="tx1"/>
                </a:solidFill>
                <a:latin typeface="Times New Roman" pitchFamily="18" charset="0"/>
                <a:cs typeface="Times New Roman" pitchFamily="18" charset="0"/>
              </a:rPr>
              <a:t>#include &lt;</a:t>
            </a:r>
            <a:r>
              <a:rPr lang="en-US" sz="5100" dirty="0" err="1" smtClean="0">
                <a:solidFill>
                  <a:schemeClr val="tx1"/>
                </a:solidFill>
                <a:latin typeface="Times New Roman" pitchFamily="18" charset="0"/>
                <a:cs typeface="Times New Roman" pitchFamily="18" charset="0"/>
              </a:rPr>
              <a:t>stdio.h</a:t>
            </a:r>
            <a:r>
              <a:rPr lang="en-US" sz="5100" dirty="0" smtClean="0">
                <a:solidFill>
                  <a:schemeClr val="tx1"/>
                </a:solidFill>
                <a:latin typeface="Times New Roman" pitchFamily="18" charset="0"/>
                <a:cs typeface="Times New Roman" pitchFamily="18" charset="0"/>
              </a:rPr>
              <a:t>&gt;  </a:t>
            </a:r>
          </a:p>
          <a:p>
            <a:pPr>
              <a:buNone/>
            </a:pPr>
            <a:r>
              <a:rPr lang="en-US" sz="5100" dirty="0" smtClean="0">
                <a:solidFill>
                  <a:schemeClr val="tx1"/>
                </a:solidFill>
                <a:latin typeface="Times New Roman" pitchFamily="18" charset="0"/>
                <a:cs typeface="Times New Roman" pitchFamily="18" charset="0"/>
              </a:rPr>
              <a:t> </a:t>
            </a:r>
            <a:r>
              <a:rPr lang="en-US" sz="5100" dirty="0" err="1" smtClean="0">
                <a:solidFill>
                  <a:schemeClr val="tx1"/>
                </a:solidFill>
                <a:latin typeface="Times New Roman" pitchFamily="18" charset="0"/>
                <a:cs typeface="Times New Roman" pitchFamily="18" charset="0"/>
              </a:rPr>
              <a:t>enum</a:t>
            </a:r>
            <a:r>
              <a:rPr lang="en-US" sz="5100" dirty="0" smtClean="0">
                <a:solidFill>
                  <a:schemeClr val="tx1"/>
                </a:solidFill>
                <a:latin typeface="Times New Roman" pitchFamily="18" charset="0"/>
                <a:cs typeface="Times New Roman" pitchFamily="18" charset="0"/>
              </a:rPr>
              <a:t> months{</a:t>
            </a:r>
            <a:r>
              <a:rPr lang="en-US" sz="5100" dirty="0" err="1" smtClean="0">
                <a:solidFill>
                  <a:schemeClr val="tx1"/>
                </a:solidFill>
                <a:latin typeface="Times New Roman" pitchFamily="18" charset="0"/>
                <a:cs typeface="Times New Roman" pitchFamily="18" charset="0"/>
              </a:rPr>
              <a:t>jan</a:t>
            </a:r>
            <a:r>
              <a:rPr lang="en-US" sz="5100" dirty="0" smtClean="0">
                <a:solidFill>
                  <a:schemeClr val="tx1"/>
                </a:solidFill>
                <a:latin typeface="Times New Roman" pitchFamily="18" charset="0"/>
                <a:cs typeface="Times New Roman" pitchFamily="18" charset="0"/>
              </a:rPr>
              <a:t>=1, </a:t>
            </a:r>
            <a:r>
              <a:rPr lang="en-US" sz="5100" dirty="0" err="1" smtClean="0">
                <a:solidFill>
                  <a:schemeClr val="tx1"/>
                </a:solidFill>
                <a:latin typeface="Times New Roman" pitchFamily="18" charset="0"/>
                <a:cs typeface="Times New Roman" pitchFamily="18" charset="0"/>
              </a:rPr>
              <a:t>feb</a:t>
            </a:r>
            <a:r>
              <a:rPr lang="en-US" sz="5100" dirty="0" smtClean="0">
                <a:solidFill>
                  <a:schemeClr val="tx1"/>
                </a:solidFill>
                <a:latin typeface="Times New Roman" pitchFamily="18" charset="0"/>
                <a:cs typeface="Times New Roman" pitchFamily="18" charset="0"/>
              </a:rPr>
              <a:t>, march, </a:t>
            </a:r>
            <a:r>
              <a:rPr lang="en-US" sz="5100" dirty="0" err="1" smtClean="0">
                <a:solidFill>
                  <a:schemeClr val="tx1"/>
                </a:solidFill>
                <a:latin typeface="Times New Roman" pitchFamily="18" charset="0"/>
                <a:cs typeface="Times New Roman" pitchFamily="18" charset="0"/>
              </a:rPr>
              <a:t>april</a:t>
            </a:r>
            <a:r>
              <a:rPr lang="en-US" sz="5100" dirty="0" smtClean="0">
                <a:solidFill>
                  <a:schemeClr val="tx1"/>
                </a:solidFill>
                <a:latin typeface="Times New Roman" pitchFamily="18" charset="0"/>
                <a:cs typeface="Times New Roman" pitchFamily="18" charset="0"/>
              </a:rPr>
              <a:t>, may, </a:t>
            </a:r>
            <a:r>
              <a:rPr lang="en-US" sz="5100" dirty="0" err="1" smtClean="0">
                <a:solidFill>
                  <a:schemeClr val="tx1"/>
                </a:solidFill>
                <a:latin typeface="Times New Roman" pitchFamily="18" charset="0"/>
                <a:cs typeface="Times New Roman" pitchFamily="18" charset="0"/>
              </a:rPr>
              <a:t>june</a:t>
            </a:r>
            <a:r>
              <a:rPr lang="en-US" sz="5100" dirty="0" smtClean="0">
                <a:solidFill>
                  <a:schemeClr val="tx1"/>
                </a:solidFill>
                <a:latin typeface="Times New Roman" pitchFamily="18" charset="0"/>
                <a:cs typeface="Times New Roman" pitchFamily="18" charset="0"/>
              </a:rPr>
              <a:t>, </a:t>
            </a:r>
            <a:r>
              <a:rPr lang="en-US" sz="5100" dirty="0" err="1" smtClean="0">
                <a:solidFill>
                  <a:schemeClr val="tx1"/>
                </a:solidFill>
                <a:latin typeface="Times New Roman" pitchFamily="18" charset="0"/>
                <a:cs typeface="Times New Roman" pitchFamily="18" charset="0"/>
              </a:rPr>
              <a:t>july</a:t>
            </a:r>
            <a:r>
              <a:rPr lang="en-US" sz="5100" dirty="0" smtClean="0">
                <a:solidFill>
                  <a:schemeClr val="tx1"/>
                </a:solidFill>
                <a:latin typeface="Times New Roman" pitchFamily="18" charset="0"/>
                <a:cs typeface="Times New Roman" pitchFamily="18" charset="0"/>
              </a:rPr>
              <a:t>, august, </a:t>
            </a:r>
            <a:r>
              <a:rPr lang="en-US" sz="5100" dirty="0" err="1" smtClean="0">
                <a:solidFill>
                  <a:schemeClr val="tx1"/>
                </a:solidFill>
                <a:latin typeface="Times New Roman" pitchFamily="18" charset="0"/>
                <a:cs typeface="Times New Roman" pitchFamily="18" charset="0"/>
              </a:rPr>
              <a:t>september</a:t>
            </a:r>
            <a:r>
              <a:rPr lang="en-US" sz="5100" dirty="0" smtClean="0">
                <a:solidFill>
                  <a:schemeClr val="tx1"/>
                </a:solidFill>
                <a:latin typeface="Times New Roman" pitchFamily="18" charset="0"/>
                <a:cs typeface="Times New Roman" pitchFamily="18" charset="0"/>
              </a:rPr>
              <a:t>, </a:t>
            </a:r>
            <a:r>
              <a:rPr lang="en-US" sz="5100" dirty="0" err="1" smtClean="0">
                <a:solidFill>
                  <a:schemeClr val="tx1"/>
                </a:solidFill>
                <a:latin typeface="Times New Roman" pitchFamily="18" charset="0"/>
                <a:cs typeface="Times New Roman" pitchFamily="18" charset="0"/>
              </a:rPr>
              <a:t>october</a:t>
            </a:r>
            <a:r>
              <a:rPr lang="en-US" sz="5100" dirty="0" smtClean="0">
                <a:solidFill>
                  <a:schemeClr val="tx1"/>
                </a:solidFill>
                <a:latin typeface="Times New Roman" pitchFamily="18" charset="0"/>
                <a:cs typeface="Times New Roman" pitchFamily="18" charset="0"/>
              </a:rPr>
              <a:t>, </a:t>
            </a:r>
            <a:r>
              <a:rPr lang="en-US" sz="5100" dirty="0" err="1" smtClean="0">
                <a:solidFill>
                  <a:schemeClr val="tx1"/>
                </a:solidFill>
                <a:latin typeface="Times New Roman" pitchFamily="18" charset="0"/>
                <a:cs typeface="Times New Roman" pitchFamily="18" charset="0"/>
              </a:rPr>
              <a:t>november</a:t>
            </a:r>
            <a:r>
              <a:rPr lang="en-US" sz="5100" dirty="0" smtClean="0">
                <a:solidFill>
                  <a:schemeClr val="tx1"/>
                </a:solidFill>
                <a:latin typeface="Times New Roman" pitchFamily="18" charset="0"/>
                <a:cs typeface="Times New Roman" pitchFamily="18" charset="0"/>
              </a:rPr>
              <a:t>, </a:t>
            </a:r>
            <a:r>
              <a:rPr lang="en-US" sz="5100" dirty="0" err="1" smtClean="0">
                <a:solidFill>
                  <a:schemeClr val="tx1"/>
                </a:solidFill>
                <a:latin typeface="Times New Roman" pitchFamily="18" charset="0"/>
                <a:cs typeface="Times New Roman" pitchFamily="18" charset="0"/>
              </a:rPr>
              <a:t>december</a:t>
            </a:r>
            <a:r>
              <a:rPr lang="en-US" sz="5100" dirty="0" smtClean="0">
                <a:solidFill>
                  <a:schemeClr val="tx1"/>
                </a:solidFill>
                <a:latin typeface="Times New Roman" pitchFamily="18" charset="0"/>
                <a:cs typeface="Times New Roman" pitchFamily="18" charset="0"/>
              </a:rPr>
              <a:t>};  </a:t>
            </a:r>
          </a:p>
          <a:p>
            <a:pPr>
              <a:buNone/>
            </a:pPr>
            <a:r>
              <a:rPr lang="en-US" sz="5100" dirty="0" err="1" smtClean="0">
                <a:solidFill>
                  <a:schemeClr val="tx1"/>
                </a:solidFill>
                <a:latin typeface="Times New Roman" pitchFamily="18" charset="0"/>
                <a:cs typeface="Times New Roman" pitchFamily="18" charset="0"/>
              </a:rPr>
              <a:t>int</a:t>
            </a:r>
            <a:r>
              <a:rPr lang="en-US" sz="5100" dirty="0" smtClean="0">
                <a:solidFill>
                  <a:schemeClr val="tx1"/>
                </a:solidFill>
                <a:latin typeface="Times New Roman" pitchFamily="18" charset="0"/>
                <a:cs typeface="Times New Roman" pitchFamily="18" charset="0"/>
              </a:rPr>
              <a:t> main()  </a:t>
            </a:r>
          </a:p>
          <a:p>
            <a:pPr>
              <a:buNone/>
            </a:pPr>
            <a:r>
              <a:rPr lang="en-US" sz="5100" dirty="0" smtClean="0">
                <a:solidFill>
                  <a:schemeClr val="tx1"/>
                </a:solidFill>
                <a:latin typeface="Times New Roman" pitchFamily="18" charset="0"/>
                <a:cs typeface="Times New Roman" pitchFamily="18" charset="0"/>
              </a:rPr>
              <a:t>{  </a:t>
            </a:r>
          </a:p>
          <a:p>
            <a:pPr>
              <a:buNone/>
            </a:pPr>
            <a:r>
              <a:rPr lang="en-US" sz="5100" dirty="0" smtClean="0">
                <a:solidFill>
                  <a:schemeClr val="tx1"/>
                </a:solidFill>
                <a:latin typeface="Times New Roman" pitchFamily="18" charset="0"/>
                <a:cs typeface="Times New Roman" pitchFamily="18" charset="0"/>
              </a:rPr>
              <a:t>// printing the values of months  </a:t>
            </a:r>
          </a:p>
          <a:p>
            <a:pPr>
              <a:buNone/>
            </a:pPr>
            <a:r>
              <a:rPr lang="en-US" sz="5100" dirty="0" smtClean="0">
                <a:solidFill>
                  <a:schemeClr val="tx1"/>
                </a:solidFill>
                <a:latin typeface="Times New Roman" pitchFamily="18" charset="0"/>
                <a:cs typeface="Times New Roman" pitchFamily="18" charset="0"/>
              </a:rPr>
              <a:t> for(</a:t>
            </a:r>
            <a:r>
              <a:rPr lang="en-US" sz="5100" dirty="0" err="1" smtClean="0">
                <a:solidFill>
                  <a:schemeClr val="tx1"/>
                </a:solidFill>
                <a:latin typeface="Times New Roman" pitchFamily="18" charset="0"/>
                <a:cs typeface="Times New Roman" pitchFamily="18" charset="0"/>
              </a:rPr>
              <a:t>int</a:t>
            </a:r>
            <a:r>
              <a:rPr lang="en-US" sz="5100" dirty="0" smtClean="0">
                <a:solidFill>
                  <a:schemeClr val="tx1"/>
                </a:solidFill>
                <a:latin typeface="Times New Roman" pitchFamily="18" charset="0"/>
                <a:cs typeface="Times New Roman" pitchFamily="18" charset="0"/>
              </a:rPr>
              <a:t> </a:t>
            </a:r>
            <a:r>
              <a:rPr lang="en-US" sz="5100" dirty="0" err="1" smtClean="0">
                <a:solidFill>
                  <a:schemeClr val="tx1"/>
                </a:solidFill>
                <a:latin typeface="Times New Roman" pitchFamily="18" charset="0"/>
                <a:cs typeface="Times New Roman" pitchFamily="18" charset="0"/>
              </a:rPr>
              <a:t>i</a:t>
            </a:r>
            <a:r>
              <a:rPr lang="en-US" sz="5100" dirty="0" smtClean="0">
                <a:solidFill>
                  <a:schemeClr val="tx1"/>
                </a:solidFill>
                <a:latin typeface="Times New Roman" pitchFamily="18" charset="0"/>
                <a:cs typeface="Times New Roman" pitchFamily="18" charset="0"/>
              </a:rPr>
              <a:t>=</a:t>
            </a:r>
            <a:r>
              <a:rPr lang="en-US" sz="5100" dirty="0" err="1" smtClean="0">
                <a:solidFill>
                  <a:schemeClr val="tx1"/>
                </a:solidFill>
                <a:latin typeface="Times New Roman" pitchFamily="18" charset="0"/>
                <a:cs typeface="Times New Roman" pitchFamily="18" charset="0"/>
              </a:rPr>
              <a:t>jan;i</a:t>
            </a:r>
            <a:r>
              <a:rPr lang="en-US" sz="5100" dirty="0" smtClean="0">
                <a:solidFill>
                  <a:schemeClr val="tx1"/>
                </a:solidFill>
                <a:latin typeface="Times New Roman" pitchFamily="18" charset="0"/>
                <a:cs typeface="Times New Roman" pitchFamily="18" charset="0"/>
              </a:rPr>
              <a:t>&lt;=</a:t>
            </a:r>
            <a:r>
              <a:rPr lang="en-US" sz="5100" dirty="0" err="1" smtClean="0">
                <a:solidFill>
                  <a:schemeClr val="tx1"/>
                </a:solidFill>
                <a:latin typeface="Times New Roman" pitchFamily="18" charset="0"/>
                <a:cs typeface="Times New Roman" pitchFamily="18" charset="0"/>
              </a:rPr>
              <a:t>december;i</a:t>
            </a:r>
            <a:r>
              <a:rPr lang="en-US" sz="5100" dirty="0" smtClean="0">
                <a:solidFill>
                  <a:schemeClr val="tx1"/>
                </a:solidFill>
                <a:latin typeface="Times New Roman" pitchFamily="18" charset="0"/>
                <a:cs typeface="Times New Roman" pitchFamily="18" charset="0"/>
              </a:rPr>
              <a:t>++)  </a:t>
            </a:r>
          </a:p>
          <a:p>
            <a:pPr>
              <a:buNone/>
            </a:pPr>
            <a:r>
              <a:rPr lang="en-US" sz="5100" dirty="0" smtClean="0">
                <a:solidFill>
                  <a:schemeClr val="tx1"/>
                </a:solidFill>
                <a:latin typeface="Times New Roman" pitchFamily="18" charset="0"/>
                <a:cs typeface="Times New Roman" pitchFamily="18" charset="0"/>
              </a:rPr>
              <a:t> {  </a:t>
            </a:r>
          </a:p>
          <a:p>
            <a:pPr>
              <a:buNone/>
            </a:pPr>
            <a:r>
              <a:rPr lang="en-US" sz="5100" dirty="0" smtClean="0">
                <a:solidFill>
                  <a:schemeClr val="tx1"/>
                </a:solidFill>
                <a:latin typeface="Times New Roman" pitchFamily="18" charset="0"/>
                <a:cs typeface="Times New Roman" pitchFamily="18" charset="0"/>
              </a:rPr>
              <a:t> </a:t>
            </a:r>
            <a:r>
              <a:rPr lang="en-US" sz="5100" dirty="0" err="1" smtClean="0">
                <a:solidFill>
                  <a:schemeClr val="tx1"/>
                </a:solidFill>
                <a:latin typeface="Times New Roman" pitchFamily="18" charset="0"/>
                <a:cs typeface="Times New Roman" pitchFamily="18" charset="0"/>
              </a:rPr>
              <a:t>printf</a:t>
            </a:r>
            <a:r>
              <a:rPr lang="en-US" sz="5100" dirty="0" smtClean="0">
                <a:solidFill>
                  <a:schemeClr val="tx1"/>
                </a:solidFill>
                <a:latin typeface="Times New Roman" pitchFamily="18" charset="0"/>
                <a:cs typeface="Times New Roman" pitchFamily="18" charset="0"/>
              </a:rPr>
              <a:t>("%d, ",</a:t>
            </a:r>
            <a:r>
              <a:rPr lang="en-US" sz="5100" dirty="0" err="1" smtClean="0">
                <a:solidFill>
                  <a:schemeClr val="tx1"/>
                </a:solidFill>
                <a:latin typeface="Times New Roman" pitchFamily="18" charset="0"/>
                <a:cs typeface="Times New Roman" pitchFamily="18" charset="0"/>
              </a:rPr>
              <a:t>i</a:t>
            </a:r>
            <a:r>
              <a:rPr lang="en-US" sz="5100" dirty="0" smtClean="0">
                <a:solidFill>
                  <a:schemeClr val="tx1"/>
                </a:solidFill>
                <a:latin typeface="Times New Roman" pitchFamily="18" charset="0"/>
                <a:cs typeface="Times New Roman" pitchFamily="18" charset="0"/>
              </a:rPr>
              <a:t>);  </a:t>
            </a:r>
          </a:p>
          <a:p>
            <a:pPr>
              <a:buNone/>
            </a:pPr>
            <a:r>
              <a:rPr lang="en-US" sz="5100" dirty="0" smtClean="0">
                <a:solidFill>
                  <a:schemeClr val="tx1"/>
                </a:solidFill>
                <a:latin typeface="Times New Roman" pitchFamily="18" charset="0"/>
                <a:cs typeface="Times New Roman" pitchFamily="18" charset="0"/>
              </a:rPr>
              <a:t> }  </a:t>
            </a:r>
          </a:p>
          <a:p>
            <a:pPr>
              <a:buNone/>
            </a:pPr>
            <a:r>
              <a:rPr lang="en-US" sz="5100" dirty="0" smtClean="0">
                <a:solidFill>
                  <a:schemeClr val="tx1"/>
                </a:solidFill>
                <a:latin typeface="Times New Roman" pitchFamily="18" charset="0"/>
                <a:cs typeface="Times New Roman" pitchFamily="18" charset="0"/>
              </a:rPr>
              <a:t>    return 0;  </a:t>
            </a:r>
          </a:p>
          <a:p>
            <a:pPr>
              <a:buNone/>
            </a:pPr>
            <a:r>
              <a:rPr lang="en-US" sz="5100" dirty="0" smtClean="0">
                <a:solidFill>
                  <a:schemeClr val="tx1"/>
                </a:solidFill>
                <a:latin typeface="Times New Roman" pitchFamily="18" charset="0"/>
                <a:cs typeface="Times New Roman" pitchFamily="18" charset="0"/>
              </a:rPr>
              <a:t>}  </a:t>
            </a:r>
          </a:p>
          <a:p>
            <a:pPr>
              <a:buNone/>
            </a:pPr>
            <a:r>
              <a:rPr lang="en-US" sz="5100" b="1" dirty="0" smtClean="0">
                <a:latin typeface="Times New Roman" pitchFamily="18" charset="0"/>
                <a:cs typeface="Times New Roman" pitchFamily="18" charset="0"/>
              </a:rPr>
              <a:t>Output</a:t>
            </a:r>
          </a:p>
          <a:p>
            <a:pPr>
              <a:buNone/>
            </a:pPr>
            <a:r>
              <a:rPr lang="en-US" sz="5100" b="1" dirty="0" smtClean="0">
                <a:solidFill>
                  <a:schemeClr val="tx1"/>
                </a:solidFill>
                <a:latin typeface="Times New Roman" pitchFamily="18" charset="0"/>
                <a:cs typeface="Times New Roman" pitchFamily="18" charset="0"/>
              </a:rPr>
              <a:t>1,2,3,4,5,6,7,8,9,10,11,12</a:t>
            </a:r>
            <a:endParaRPr lang="en-US" sz="5100" dirty="0" smtClean="0">
              <a:solidFill>
                <a:schemeClr val="tx1"/>
              </a:solidFill>
              <a:latin typeface="Times New Roman" pitchFamily="18" charset="0"/>
              <a:cs typeface="Times New Roman" pitchFamily="18" charset="0"/>
            </a:endParaRPr>
          </a:p>
          <a:p>
            <a:endParaRPr lang="en-US" dirty="0"/>
          </a:p>
        </p:txBody>
      </p:sp>
    </p:spTree>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TM03457444[[fn=Basis]]</Template>
  <TotalTime>10016</TotalTime>
  <Words>91</Words>
  <Application>Microsoft Office PowerPoint</Application>
  <PresentationFormat>Custom</PresentationFormat>
  <Paragraphs>40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Basis</vt:lpstr>
      <vt:lpstr>Enumerated  data  type (module 3)</vt:lpstr>
      <vt:lpstr>Enumerated data type (module 3)</vt:lpstr>
      <vt:lpstr>For example: </vt:lpstr>
      <vt:lpstr>Example </vt:lpstr>
      <vt:lpstr>Slide 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CUSAT CS</cp:lastModifiedBy>
  <cp:revision>167</cp:revision>
  <dcterms:created xsi:type="dcterms:W3CDTF">2020-08-23T11:58:00Z</dcterms:created>
  <dcterms:modified xsi:type="dcterms:W3CDTF">2023-08-11T12:11:09Z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1033-11.2.0.9747</vt:lpwstr>
  </property>
</Properties>
</file>