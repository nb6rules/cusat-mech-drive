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s/slide5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s/slide5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docProps/custom.xml" ContentType="application/vnd.openxmlformats-officedocument.custom-properti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4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0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59"/>
  </p:notesMasterIdLst>
  <p:sldIdLst>
    <p:sldId id="256" r:id="rId2"/>
    <p:sldId id="303" r:id="rId3"/>
    <p:sldId id="444" r:id="rId4"/>
    <p:sldId id="573" r:id="rId5"/>
    <p:sldId id="447" r:id="rId6"/>
    <p:sldId id="448" r:id="rId7"/>
    <p:sldId id="446" r:id="rId8"/>
    <p:sldId id="406" r:id="rId9"/>
    <p:sldId id="407" r:id="rId10"/>
    <p:sldId id="408" r:id="rId11"/>
    <p:sldId id="409" r:id="rId12"/>
    <p:sldId id="410" r:id="rId13"/>
    <p:sldId id="490" r:id="rId14"/>
    <p:sldId id="411" r:id="rId15"/>
    <p:sldId id="491" r:id="rId16"/>
    <p:sldId id="492" r:id="rId17"/>
    <p:sldId id="413" r:id="rId18"/>
    <p:sldId id="414" r:id="rId19"/>
    <p:sldId id="415" r:id="rId20"/>
    <p:sldId id="416" r:id="rId21"/>
    <p:sldId id="417" r:id="rId22"/>
    <p:sldId id="418" r:id="rId23"/>
    <p:sldId id="419" r:id="rId24"/>
    <p:sldId id="423" r:id="rId25"/>
    <p:sldId id="424" r:id="rId26"/>
    <p:sldId id="427" r:id="rId27"/>
    <p:sldId id="428" r:id="rId28"/>
    <p:sldId id="565" r:id="rId29"/>
    <p:sldId id="566" r:id="rId30"/>
    <p:sldId id="567" r:id="rId31"/>
    <p:sldId id="568" r:id="rId32"/>
    <p:sldId id="569" r:id="rId33"/>
    <p:sldId id="429" r:id="rId34"/>
    <p:sldId id="430" r:id="rId35"/>
    <p:sldId id="431" r:id="rId36"/>
    <p:sldId id="432" r:id="rId37"/>
    <p:sldId id="434" r:id="rId38"/>
    <p:sldId id="433" r:id="rId39"/>
    <p:sldId id="563" r:id="rId40"/>
    <p:sldId id="533" r:id="rId41"/>
    <p:sldId id="534" r:id="rId42"/>
    <p:sldId id="535" r:id="rId43"/>
    <p:sldId id="536" r:id="rId44"/>
    <p:sldId id="537" r:id="rId45"/>
    <p:sldId id="530" r:id="rId46"/>
    <p:sldId id="438" r:id="rId47"/>
    <p:sldId id="439" r:id="rId48"/>
    <p:sldId id="440" r:id="rId49"/>
    <p:sldId id="572" r:id="rId50"/>
    <p:sldId id="570" r:id="rId51"/>
    <p:sldId id="571" r:id="rId52"/>
    <p:sldId id="441" r:id="rId53"/>
    <p:sldId id="532" r:id="rId54"/>
    <p:sldId id="443" r:id="rId55"/>
    <p:sldId id="442" r:id="rId56"/>
    <p:sldId id="335" r:id="rId57"/>
    <p:sldId id="336" r:id="rId5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4995" autoAdjust="0"/>
    <p:restoredTop sz="94660"/>
  </p:normalViewPr>
  <p:slideViewPr>
    <p:cSldViewPr snapToGrid="0">
      <p:cViewPr varScale="1">
        <p:scale>
          <a:sx n="73" d="100"/>
          <a:sy n="73" d="100"/>
        </p:scale>
        <p:origin x="-594" y="-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pPr/>
              <a:t>1/23/2023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96DFF08F-DC6B-4601-B491-B0F83F6DD2DA}" type="datetimeFigureOut">
              <a:rPr lang="en-US" dirty="0"/>
              <a:pPr/>
              <a:t>1/23/2023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pPr/>
              <a:t>1/23/2023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pPr/>
              <a:t>1/23/2023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pPr/>
              <a:t>1/23/2023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pPr/>
              <a:t>1/23/2023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pPr/>
              <a:t>1/23/2023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pPr/>
              <a:t>1/23/2023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pPr/>
              <a:t>1/23/2023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pPr/>
              <a:t>1/23/2023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pPr/>
              <a:t>1/23/2023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pPr/>
              <a:t>1/23/2023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96DFF08F-DC6B-4601-B491-B0F83F6DD2DA}" type="datetimeFigureOut">
              <a:rPr lang="en-US" dirty="0"/>
              <a:pPr/>
              <a:t>1/23/2023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anose="020B0503020204020204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anose="020B0503020204020204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anose="020B0503020204020204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anose="020B0503020204020204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anose="020B0503020204020204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2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anose="020B0503020204020204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89992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anose="020B0503020204020204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27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anose="020B0503020204020204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49999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anose="020B0503020204020204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/>
              <a:t>STRINGS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 b="1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Introduction</a:t>
            </a:r>
          </a:p>
          <a:p>
            <a:r>
              <a:rPr lang="en-IN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Declaration &amp; Initialization</a:t>
            </a:r>
          </a:p>
          <a:p>
            <a:r>
              <a:rPr lang="en-IN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Reading &amp; Printing Strings</a:t>
            </a:r>
          </a:p>
          <a:p>
            <a:r>
              <a:rPr lang="en-IN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Arithmetic Operations on characters</a:t>
            </a:r>
          </a:p>
          <a:p>
            <a:r>
              <a:rPr lang="en-IN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String Handling Functions</a:t>
            </a:r>
          </a:p>
          <a:p>
            <a:r>
              <a:rPr lang="en-IN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Table of Strings</a:t>
            </a:r>
          </a:p>
          <a:p>
            <a:r>
              <a:rPr lang="en-IN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References</a:t>
            </a:r>
          </a:p>
          <a:p>
            <a:endParaRPr lang="en-IN" altLang="en-US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IN" altLang="en-US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IN" altLang="en-US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altLang="en-US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2057400"/>
            <a:ext cx="9872980" cy="4038600"/>
          </a:xfrm>
        </p:spPr>
        <p:txBody>
          <a:bodyPr>
            <a:normAutofit/>
          </a:bodyPr>
          <a:lstStyle/>
          <a:p>
            <a:pPr marL="469900" marR="488950" indent="-342900" algn="just">
              <a:lnSpc>
                <a:spcPct val="100000"/>
              </a:lnSpc>
              <a:spcBef>
                <a:spcPts val="100"/>
              </a:spcBef>
              <a:buSzPct val="59000"/>
              <a:buFont typeface="Arial" panose="020B0604020202020204" pitchFamily="34" charset="0"/>
              <a:buChar char="•"/>
              <a:tabLst>
                <a:tab pos="469265" algn="l"/>
                <a:tab pos="469900" algn="l"/>
              </a:tabLst>
            </a:pPr>
            <a:r>
              <a:rPr sz="2800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String can be represented as </a:t>
            </a:r>
            <a:r>
              <a:rPr sz="28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a </a:t>
            </a:r>
            <a:r>
              <a:rPr sz="2800" b="1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single-dimensional character </a:t>
            </a:r>
            <a:r>
              <a:rPr sz="280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type</a:t>
            </a:r>
            <a:r>
              <a:rPr sz="2800" b="1" spc="-1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sz="2800" b="1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array.</a:t>
            </a:r>
            <a:endParaRPr sz="2800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469900" marR="93980" indent="-342900" algn="just">
              <a:lnSpc>
                <a:spcPct val="100000"/>
              </a:lnSpc>
              <a:spcBef>
                <a:spcPts val="790"/>
              </a:spcBef>
              <a:buSzPct val="59000"/>
              <a:buFont typeface="Arial" panose="020B0604020202020204" pitchFamily="34" charset="0"/>
              <a:buChar char="•"/>
              <a:tabLst>
                <a:tab pos="469265" algn="l"/>
                <a:tab pos="469900" algn="l"/>
              </a:tabLst>
            </a:pPr>
            <a:r>
              <a:rPr sz="28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C </a:t>
            </a:r>
            <a:r>
              <a:rPr sz="2800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language does not provide the intrinsic string</a:t>
            </a:r>
            <a:r>
              <a:rPr sz="2800" spc="-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sz="2800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types.</a:t>
            </a:r>
          </a:p>
          <a:p>
            <a:pPr marL="469900" marR="93980" indent="-342900" algn="just">
              <a:lnSpc>
                <a:spcPct val="100000"/>
              </a:lnSpc>
              <a:spcBef>
                <a:spcPts val="790"/>
              </a:spcBef>
              <a:buSzPct val="59000"/>
              <a:buFont typeface="Arial" panose="020B0604020202020204" pitchFamily="34" charset="0"/>
              <a:buChar char="•"/>
              <a:tabLst>
                <a:tab pos="469265" algn="l"/>
                <a:tab pos="469900" algn="l"/>
              </a:tabLst>
            </a:pPr>
            <a:r>
              <a:rPr sz="2800" b="1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Strings in </a:t>
            </a:r>
            <a:r>
              <a:rPr sz="280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C are </a:t>
            </a:r>
            <a:r>
              <a:rPr sz="2800" b="1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group </a:t>
            </a:r>
            <a:r>
              <a:rPr sz="280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of </a:t>
            </a:r>
            <a:r>
              <a:rPr sz="2800" b="1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characters, digits, and symbols  </a:t>
            </a:r>
            <a:r>
              <a:rPr sz="2800" b="1" spc="-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enclosed </a:t>
            </a:r>
            <a:r>
              <a:rPr sz="2800" b="1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in quotation marks </a:t>
            </a:r>
            <a:r>
              <a:rPr sz="280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or  </a:t>
            </a:r>
            <a:r>
              <a:rPr sz="2800" b="1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simply </a:t>
            </a:r>
            <a:r>
              <a:rPr sz="280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we </a:t>
            </a:r>
            <a:r>
              <a:rPr sz="2800" b="1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can say the string is  declared </a:t>
            </a:r>
            <a:r>
              <a:rPr sz="280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as a </a:t>
            </a:r>
            <a:r>
              <a:rPr sz="2800" b="1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“character</a:t>
            </a:r>
            <a:r>
              <a:rPr sz="2800" b="1" spc="-4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sz="2800" b="1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array</a:t>
            </a:r>
            <a:r>
              <a:rPr sz="2800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”.</a:t>
            </a:r>
          </a:p>
          <a:p>
            <a:pPr marL="469900" marR="93980" indent="-342900" algn="just">
              <a:lnSpc>
                <a:spcPct val="100000"/>
              </a:lnSpc>
              <a:spcBef>
                <a:spcPts val="790"/>
              </a:spcBef>
              <a:buSzPct val="59000"/>
              <a:buFont typeface="Arial" panose="020B0604020202020204" pitchFamily="34" charset="0"/>
              <a:buChar char="•"/>
              <a:tabLst>
                <a:tab pos="469265" algn="l"/>
                <a:tab pos="469900" algn="l"/>
              </a:tabLst>
            </a:pPr>
            <a:r>
              <a:rPr sz="2800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The end of </a:t>
            </a:r>
            <a:r>
              <a:rPr sz="28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the </a:t>
            </a:r>
            <a:r>
              <a:rPr sz="2800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string </a:t>
            </a:r>
            <a:r>
              <a:rPr sz="28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is </a:t>
            </a:r>
            <a:r>
              <a:rPr sz="2800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marked  </a:t>
            </a:r>
            <a:r>
              <a:rPr sz="28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with a </a:t>
            </a:r>
            <a:r>
              <a:rPr sz="2800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special character, </a:t>
            </a:r>
            <a:r>
              <a:rPr sz="28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the</a:t>
            </a:r>
            <a:r>
              <a:rPr sz="2800" spc="-8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sz="280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‘\0’  </a:t>
            </a:r>
            <a:r>
              <a:rPr sz="2800" b="1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(</a:t>
            </a:r>
            <a:r>
              <a:rPr sz="2800" b="1" i="1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Null </a:t>
            </a:r>
            <a:r>
              <a:rPr sz="2800" b="1" i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character)</a:t>
            </a:r>
            <a:r>
              <a:rPr sz="28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, </a:t>
            </a:r>
            <a:r>
              <a:rPr sz="2800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which has the  decimal value</a:t>
            </a:r>
            <a:r>
              <a:rPr sz="28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0.</a:t>
            </a:r>
          </a:p>
          <a:p>
            <a:pPr marL="45720" indent="0" algn="just">
              <a:buNone/>
            </a:pPr>
            <a:endParaRPr lang="en-US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966651"/>
            <a:ext cx="9872871" cy="5891349"/>
          </a:xfrm>
        </p:spPr>
        <p:txBody>
          <a:bodyPr/>
          <a:lstStyle/>
          <a:p>
            <a:pPr marL="469900" marR="93980" indent="-342900" algn="just">
              <a:lnSpc>
                <a:spcPct val="100000"/>
              </a:lnSpc>
              <a:spcBef>
                <a:spcPts val="790"/>
              </a:spcBef>
              <a:buSzPct val="59000"/>
              <a:buFont typeface="Arial" panose="020B0604020202020204" pitchFamily="34" charset="0"/>
              <a:buChar char="•"/>
              <a:tabLst>
                <a:tab pos="469265" algn="l"/>
                <a:tab pos="469900" algn="l"/>
              </a:tabLst>
            </a:pPr>
            <a:r>
              <a:rPr lang="en-US" sz="2800" spc="-5" dirty="0" smtClean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There is </a:t>
            </a:r>
            <a:r>
              <a:rPr lang="en-US" sz="2800" dirty="0" smtClean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a </a:t>
            </a:r>
            <a:r>
              <a:rPr lang="en-US" sz="2800" spc="-5" dirty="0" smtClean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difference between </a:t>
            </a:r>
            <a:r>
              <a:rPr lang="en-US" sz="2800" dirty="0" smtClean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a  </a:t>
            </a:r>
            <a:r>
              <a:rPr lang="en-US" sz="2800" i="1" spc="-5" dirty="0" smtClean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character </a:t>
            </a:r>
            <a:r>
              <a:rPr lang="en-US" sz="2800" spc="-5" dirty="0" smtClean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stored </a:t>
            </a:r>
            <a:r>
              <a:rPr lang="en-US" sz="2800" dirty="0" smtClean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in </a:t>
            </a:r>
            <a:r>
              <a:rPr lang="en-US" sz="2800" spc="-5" dirty="0" smtClean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memory and  </a:t>
            </a:r>
            <a:r>
              <a:rPr lang="en-US" sz="2800" dirty="0" smtClean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a </a:t>
            </a:r>
            <a:r>
              <a:rPr lang="en-US" sz="2800" i="1" spc="-5" dirty="0" smtClean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single character string </a:t>
            </a:r>
            <a:r>
              <a:rPr lang="en-US" sz="2800" spc="-5" dirty="0" smtClean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stored  in </a:t>
            </a:r>
            <a:r>
              <a:rPr lang="en-US" sz="2800" dirty="0" smtClean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a</a:t>
            </a:r>
            <a:r>
              <a:rPr lang="en-US" sz="2800" spc="-10" dirty="0" smtClean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en-US" sz="2800" spc="-5" dirty="0" smtClean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memory.</a:t>
            </a:r>
          </a:p>
          <a:p>
            <a:pPr marL="469900" marR="93980" indent="-342900" algn="just">
              <a:lnSpc>
                <a:spcPct val="100000"/>
              </a:lnSpc>
              <a:spcBef>
                <a:spcPts val="790"/>
              </a:spcBef>
              <a:buSzPct val="59000"/>
              <a:buFont typeface="Arial" panose="020B0604020202020204" pitchFamily="34" charset="0"/>
              <a:buChar char="•"/>
              <a:tabLst>
                <a:tab pos="469265" algn="l"/>
                <a:tab pos="469900" algn="l"/>
              </a:tabLst>
            </a:pPr>
            <a:r>
              <a:rPr lang="en-US" sz="2800" spc="-5" dirty="0" smtClean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The </a:t>
            </a:r>
            <a:r>
              <a:rPr lang="en-US" sz="2800" b="1" spc="-5" dirty="0" smtClean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character requires only one  byte </a:t>
            </a:r>
            <a:r>
              <a:rPr lang="en-US" sz="2800" spc="-5" dirty="0" smtClean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whereas </a:t>
            </a:r>
            <a:r>
              <a:rPr lang="en-US" sz="2800" dirty="0" smtClean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the </a:t>
            </a:r>
            <a:r>
              <a:rPr lang="en-US" sz="2800" b="1" spc="-5" dirty="0" smtClean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single  character string requires two  bytes </a:t>
            </a:r>
            <a:r>
              <a:rPr lang="en-US" sz="2800" spc="-5" dirty="0" smtClean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(one byte for the character  and other </a:t>
            </a:r>
            <a:r>
              <a:rPr lang="en-US" sz="2800" dirty="0" smtClean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byte </a:t>
            </a:r>
            <a:r>
              <a:rPr lang="en-US" sz="2800" spc="-5" dirty="0" smtClean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for </a:t>
            </a:r>
            <a:r>
              <a:rPr lang="en-US" sz="2800" dirty="0" smtClean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the</a:t>
            </a:r>
            <a:r>
              <a:rPr lang="en-US" sz="2800" spc="-45" dirty="0" smtClean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en-US" sz="2800" spc="-5" dirty="0" smtClean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delimiter).</a:t>
            </a:r>
            <a:endParaRPr lang="en-US" sz="2800" dirty="0" smtClean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469900" marR="189230" indent="-342900" algn="just">
              <a:lnSpc>
                <a:spcPct val="100000"/>
              </a:lnSpc>
              <a:spcBef>
                <a:spcPts val="800"/>
              </a:spcBef>
              <a:buSzPct val="59000"/>
              <a:buFont typeface="Arial" panose="020B0604020202020204" pitchFamily="34" charset="0"/>
              <a:buChar char="•"/>
              <a:tabLst>
                <a:tab pos="469265" algn="l"/>
                <a:tab pos="469900" algn="l"/>
              </a:tabLst>
            </a:pPr>
            <a:r>
              <a:rPr lang="en-US" sz="2800" spc="-5" dirty="0" smtClean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The </a:t>
            </a:r>
            <a:r>
              <a:rPr lang="en-US" sz="2800" b="1" spc="-5" dirty="0" smtClean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string functions </a:t>
            </a:r>
            <a:r>
              <a:rPr lang="en-US" sz="2800" spc="-5" dirty="0" smtClean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operate on null-terminated arrays of  characters and require the  </a:t>
            </a:r>
            <a:r>
              <a:rPr lang="en-US" sz="2800" b="1" spc="-5" dirty="0" smtClean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header &lt;</a:t>
            </a:r>
            <a:r>
              <a:rPr lang="en-US" sz="2800" b="1" spc="-5" dirty="0" err="1" smtClean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string.h</a:t>
            </a:r>
            <a:r>
              <a:rPr lang="en-US" sz="2800" b="1" spc="-5" dirty="0" smtClean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&gt;</a:t>
            </a:r>
            <a:r>
              <a:rPr lang="en-US" b="1" spc="-5" dirty="0" smtClean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.</a:t>
            </a:r>
            <a:endParaRPr lang="en-US" b="1" dirty="0" smtClean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Introduction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1619794"/>
            <a:ext cx="9872871" cy="4476206"/>
          </a:xfrm>
        </p:spPr>
        <p:txBody>
          <a:bodyPr>
            <a:normAutofit/>
          </a:bodyPr>
          <a:lstStyle/>
          <a:p>
            <a:pPr marL="353695" indent="-341630">
              <a:lnSpc>
                <a:spcPts val="3325"/>
              </a:lnSpc>
              <a:spcBef>
                <a:spcPts val="95"/>
              </a:spcBef>
              <a:buChar char="•"/>
              <a:tabLst>
                <a:tab pos="353695" algn="l"/>
                <a:tab pos="354330" algn="l"/>
              </a:tabLst>
            </a:pPr>
            <a:r>
              <a:rPr sz="2200" b="1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A string is </a:t>
            </a:r>
            <a:r>
              <a:rPr sz="220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an array </a:t>
            </a:r>
            <a:r>
              <a:rPr sz="2200" b="1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of</a:t>
            </a:r>
            <a:r>
              <a:rPr sz="2200" b="1" spc="-1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sz="220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characters</a:t>
            </a:r>
            <a:r>
              <a:rPr lang="en-IN" sz="22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.</a:t>
            </a:r>
            <a:endParaRPr sz="22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53695" marR="5080" indent="-341630">
              <a:lnSpc>
                <a:spcPts val="2690"/>
              </a:lnSpc>
              <a:spcBef>
                <a:spcPts val="610"/>
              </a:spcBef>
              <a:buChar char="•"/>
              <a:tabLst>
                <a:tab pos="353695" algn="l"/>
                <a:tab pos="354330" algn="l"/>
              </a:tabLst>
            </a:pPr>
            <a:r>
              <a:rPr sz="2200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Any group </a:t>
            </a:r>
            <a:r>
              <a:rPr sz="22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of characters </a:t>
            </a:r>
            <a:r>
              <a:rPr sz="2200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defined between double  </a:t>
            </a:r>
            <a:r>
              <a:rPr sz="22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quotation </a:t>
            </a:r>
            <a:r>
              <a:rPr sz="2200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marks is a </a:t>
            </a:r>
            <a:r>
              <a:rPr sz="220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constant</a:t>
            </a:r>
            <a:r>
              <a:rPr sz="2200" b="1" spc="-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sz="2200" b="1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string</a:t>
            </a:r>
            <a:endParaRPr sz="2200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754380" lvl="1" indent="-285115">
              <a:lnSpc>
                <a:spcPts val="2835"/>
              </a:lnSpc>
              <a:spcBef>
                <a:spcPts val="735"/>
              </a:spcBef>
              <a:buChar char="–"/>
              <a:tabLst>
                <a:tab pos="755015" algn="l"/>
              </a:tabLst>
            </a:pPr>
            <a:r>
              <a:rPr sz="2200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EXAMPLE: </a:t>
            </a:r>
            <a:r>
              <a:rPr sz="22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“Man </a:t>
            </a:r>
            <a:r>
              <a:rPr sz="2200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is obviously </a:t>
            </a:r>
            <a:r>
              <a:rPr sz="22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made to</a:t>
            </a:r>
            <a:r>
              <a:rPr sz="2200" spc="-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sz="22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think.”</a:t>
            </a:r>
            <a:endParaRPr sz="22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53695" marR="736600" indent="-341630">
              <a:lnSpc>
                <a:spcPct val="80000"/>
              </a:lnSpc>
              <a:spcBef>
                <a:spcPts val="630"/>
              </a:spcBef>
              <a:buChar char="•"/>
              <a:tabLst>
                <a:tab pos="353695" algn="l"/>
                <a:tab pos="354330" algn="l"/>
              </a:tabLst>
            </a:pPr>
            <a:r>
              <a:rPr sz="2200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To </a:t>
            </a:r>
            <a:r>
              <a:rPr sz="22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include </a:t>
            </a:r>
            <a:r>
              <a:rPr sz="2200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a </a:t>
            </a:r>
            <a:r>
              <a:rPr sz="22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double quote </a:t>
            </a:r>
            <a:r>
              <a:rPr sz="2200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in the </a:t>
            </a:r>
            <a:r>
              <a:rPr sz="22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string </a:t>
            </a:r>
            <a:r>
              <a:rPr sz="2200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to be  </a:t>
            </a:r>
            <a:r>
              <a:rPr sz="22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printed, </a:t>
            </a:r>
            <a:r>
              <a:rPr sz="2200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use a </a:t>
            </a:r>
            <a:r>
              <a:rPr sz="22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back</a:t>
            </a:r>
            <a:r>
              <a:rPr sz="2200" spc="-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sz="2200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slash.</a:t>
            </a:r>
            <a:endParaRPr sz="22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754380" lvl="1" indent="-285115">
              <a:lnSpc>
                <a:spcPct val="100000"/>
              </a:lnSpc>
              <a:spcBef>
                <a:spcPts val="710"/>
              </a:spcBef>
              <a:buChar char="–"/>
              <a:tabLst>
                <a:tab pos="755015" algn="l"/>
              </a:tabLst>
            </a:pPr>
            <a:r>
              <a:rPr sz="2200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EXAMPLE: printf(“Well Done</a:t>
            </a:r>
            <a:r>
              <a:rPr sz="2200" spc="3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sz="22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!”);</a:t>
            </a:r>
            <a:endParaRPr sz="22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754380" lvl="1" indent="-285115">
              <a:lnSpc>
                <a:spcPct val="100000"/>
              </a:lnSpc>
              <a:spcBef>
                <a:spcPts val="710"/>
              </a:spcBef>
              <a:buChar char="–"/>
              <a:tabLst>
                <a:tab pos="755015" algn="l"/>
                <a:tab pos="2344420" algn="l"/>
              </a:tabLst>
            </a:pPr>
            <a:r>
              <a:rPr sz="2200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OUTPUT:	Well</a:t>
            </a:r>
            <a:r>
              <a:rPr sz="2200" spc="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sz="2200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Done!</a:t>
            </a:r>
            <a:endParaRPr sz="22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754380" lvl="1" indent="-285115">
              <a:lnSpc>
                <a:spcPct val="100000"/>
              </a:lnSpc>
              <a:spcBef>
                <a:spcPts val="700"/>
              </a:spcBef>
              <a:buChar char="–"/>
              <a:tabLst>
                <a:tab pos="755015" algn="l"/>
              </a:tabLst>
            </a:pPr>
            <a:r>
              <a:rPr sz="2200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EXAMPLE: printf(“\</a:t>
            </a:r>
            <a:r>
              <a:rPr lang="en-IN" sz="2200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”</a:t>
            </a:r>
            <a:r>
              <a:rPr sz="2200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Well</a:t>
            </a:r>
            <a:r>
              <a:rPr sz="2200" spc="-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sz="2200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Done!\</a:t>
            </a:r>
            <a:r>
              <a:rPr lang="en-IN" sz="2200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”</a:t>
            </a:r>
            <a:r>
              <a:rPr sz="2200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”);</a:t>
            </a:r>
            <a:endParaRPr sz="22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754380" lvl="1" indent="-285115">
              <a:lnSpc>
                <a:spcPct val="100000"/>
              </a:lnSpc>
              <a:spcBef>
                <a:spcPts val="695"/>
              </a:spcBef>
              <a:buChar char="–"/>
              <a:tabLst>
                <a:tab pos="755015" algn="l"/>
                <a:tab pos="2344420" algn="l"/>
              </a:tabLst>
            </a:pPr>
            <a:r>
              <a:rPr sz="2200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OUTPUT:	</a:t>
            </a:r>
            <a:r>
              <a:rPr lang="en-IN" sz="2200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“</a:t>
            </a:r>
            <a:r>
              <a:rPr sz="22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Well</a:t>
            </a:r>
            <a:r>
              <a:rPr sz="2200" spc="-1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sz="2200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Done!</a:t>
            </a:r>
            <a:r>
              <a:rPr lang="en-IN" sz="2200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Introduction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53695" indent="-341630">
              <a:lnSpc>
                <a:spcPct val="100000"/>
              </a:lnSpc>
              <a:spcBef>
                <a:spcPts val="925"/>
              </a:spcBef>
              <a:buChar char="•"/>
              <a:tabLst>
                <a:tab pos="353695" algn="l"/>
                <a:tab pos="354330" algn="l"/>
              </a:tabLst>
            </a:pPr>
            <a:r>
              <a:rPr sz="2200" b="1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Common operations </a:t>
            </a:r>
            <a:r>
              <a:rPr sz="22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performed </a:t>
            </a:r>
            <a:r>
              <a:rPr sz="2200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on </a:t>
            </a:r>
            <a:r>
              <a:rPr sz="22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strings</a:t>
            </a:r>
            <a:r>
              <a:rPr sz="2200" spc="6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sz="2200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are:</a:t>
            </a:r>
            <a:endParaRPr sz="22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754380" lvl="1" indent="-285115">
              <a:lnSpc>
                <a:spcPct val="100000"/>
              </a:lnSpc>
              <a:spcBef>
                <a:spcPts val="710"/>
              </a:spcBef>
              <a:buChar char="–"/>
              <a:tabLst>
                <a:tab pos="755015" algn="l"/>
              </a:tabLst>
            </a:pPr>
            <a:r>
              <a:rPr sz="2200" b="1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Reading</a:t>
            </a:r>
            <a:r>
              <a:rPr sz="2200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and </a:t>
            </a:r>
            <a:r>
              <a:rPr sz="2200" b="1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writing</a:t>
            </a:r>
            <a:r>
              <a:rPr sz="2200" spc="5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sz="2200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strings</a:t>
            </a:r>
            <a:endParaRPr sz="22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754380" lvl="1" indent="-285115">
              <a:lnSpc>
                <a:spcPct val="100000"/>
              </a:lnSpc>
              <a:spcBef>
                <a:spcPts val="700"/>
              </a:spcBef>
              <a:buChar char="–"/>
              <a:tabLst>
                <a:tab pos="755015" algn="l"/>
              </a:tabLst>
            </a:pPr>
            <a:r>
              <a:rPr sz="2200" b="1" spc="-5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Combining </a:t>
            </a:r>
            <a:r>
              <a:rPr sz="2200" spc="-5" smtClean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together</a:t>
            </a:r>
            <a:endParaRPr sz="22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754380" lvl="1" indent="-285115">
              <a:lnSpc>
                <a:spcPct val="100000"/>
              </a:lnSpc>
              <a:spcBef>
                <a:spcPts val="710"/>
              </a:spcBef>
              <a:buChar char="–"/>
              <a:tabLst>
                <a:tab pos="755015" algn="l"/>
              </a:tabLst>
            </a:pPr>
            <a:r>
              <a:rPr sz="2200" b="1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Copying</a:t>
            </a:r>
            <a:r>
              <a:rPr sz="2200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sz="2200" spc="-5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one </a:t>
            </a:r>
            <a:r>
              <a:rPr sz="2200" smtClean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st</a:t>
            </a:r>
            <a:r>
              <a:rPr lang="en-US" sz="2200" dirty="0" smtClean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strings</a:t>
            </a:r>
            <a:r>
              <a:rPr lang="en-US" sz="2200" spc="30" dirty="0" smtClean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sz="2200" smtClean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ring </a:t>
            </a:r>
            <a:r>
              <a:rPr sz="22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to</a:t>
            </a:r>
            <a:r>
              <a:rPr sz="2200" spc="3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sz="2200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another</a:t>
            </a:r>
            <a:endParaRPr sz="22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754380" lvl="1" indent="-285115">
              <a:lnSpc>
                <a:spcPct val="100000"/>
              </a:lnSpc>
              <a:spcBef>
                <a:spcPts val="695"/>
              </a:spcBef>
              <a:buChar char="–"/>
              <a:tabLst>
                <a:tab pos="755015" algn="l"/>
              </a:tabLst>
            </a:pPr>
            <a:r>
              <a:rPr sz="2200" b="1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Comparing</a:t>
            </a:r>
            <a:r>
              <a:rPr sz="2200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strings </a:t>
            </a:r>
            <a:r>
              <a:rPr sz="22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for</a:t>
            </a:r>
            <a:r>
              <a:rPr sz="2200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equality</a:t>
            </a:r>
            <a:endParaRPr sz="22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754380" lvl="1" indent="-285115">
              <a:lnSpc>
                <a:spcPct val="100000"/>
              </a:lnSpc>
              <a:spcBef>
                <a:spcPts val="695"/>
              </a:spcBef>
              <a:buChar char="–"/>
              <a:tabLst>
                <a:tab pos="755015" algn="l"/>
              </a:tabLst>
            </a:pPr>
            <a:r>
              <a:rPr sz="2200" b="1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Extracting</a:t>
            </a:r>
            <a:r>
              <a:rPr sz="2200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sz="22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a </a:t>
            </a:r>
            <a:r>
              <a:rPr sz="2200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portion </a:t>
            </a:r>
            <a:r>
              <a:rPr sz="22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of a</a:t>
            </a:r>
            <a:r>
              <a:rPr sz="2200" spc="-1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sz="2200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string</a:t>
            </a:r>
          </a:p>
          <a:p>
            <a:pPr marL="754380" lvl="1" indent="-285115">
              <a:lnSpc>
                <a:spcPct val="100000"/>
              </a:lnSpc>
              <a:spcBef>
                <a:spcPts val="695"/>
              </a:spcBef>
              <a:buChar char="–"/>
              <a:tabLst>
                <a:tab pos="755015" algn="l"/>
              </a:tabLst>
            </a:pPr>
            <a:r>
              <a:rPr lang="en-IN" altLang="en-US" sz="2200" b="1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Reversing</a:t>
            </a:r>
            <a:r>
              <a:rPr lang="en-IN" altLang="en-US" sz="2200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a string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Declaration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The syntax is: </a:t>
            </a:r>
            <a:r>
              <a:rPr spc="-5" dirty="0">
                <a:solidFill>
                  <a:schemeClr val="accent2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char</a:t>
            </a:r>
            <a:r>
              <a:rPr spc="-60" dirty="0">
                <a:solidFill>
                  <a:schemeClr val="accent2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spc="-5" dirty="0">
                <a:solidFill>
                  <a:schemeClr val="accent2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string-name[size];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Examples:</a:t>
            </a:r>
            <a:endParaRPr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744220" lvl="2" indent="0">
              <a:lnSpc>
                <a:spcPct val="100000"/>
              </a:lnSpc>
              <a:spcBef>
                <a:spcPts val="410"/>
              </a:spcBef>
              <a:buNone/>
            </a:pPr>
            <a:r>
              <a:rPr sz="2400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char name[20];</a:t>
            </a:r>
            <a:endParaRPr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744220" marR="1752600" lvl="2" indent="0">
              <a:lnSpc>
                <a:spcPct val="111000"/>
              </a:lnSpc>
              <a:spcBef>
                <a:spcPts val="10"/>
              </a:spcBef>
              <a:buNone/>
            </a:pPr>
            <a:r>
              <a:rPr sz="2400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char</a:t>
            </a:r>
            <a:r>
              <a:rPr sz="2400" spc="-7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sz="2400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address[25]; </a:t>
            </a:r>
          </a:p>
          <a:p>
            <a:pPr marL="744220" marR="1752600" lvl="2" indent="0">
              <a:lnSpc>
                <a:spcPct val="111000"/>
              </a:lnSpc>
              <a:spcBef>
                <a:spcPts val="10"/>
              </a:spcBef>
              <a:buNone/>
            </a:pPr>
            <a:r>
              <a:rPr sz="2400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char</a:t>
            </a:r>
            <a:r>
              <a:rPr sz="2400" spc="-1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sz="2400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city[15];</a:t>
            </a:r>
            <a:endParaRPr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548640" lvl="2" indent="0">
              <a:buNone/>
            </a:pPr>
            <a:endParaRPr lang="en-US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18920" y="762318"/>
            <a:ext cx="9875520" cy="4425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12545" marR="5080" indent="-1256665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DECLARING AND</a:t>
            </a:r>
            <a:r>
              <a:rPr sz="2800" spc="-3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INITIALIZING  STRING</a:t>
            </a:r>
            <a:r>
              <a:rPr sz="28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VARAIBLES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13535" y="1735455"/>
            <a:ext cx="8754110" cy="386524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353695" marR="542925" indent="-341630" algn="just">
              <a:lnSpc>
                <a:spcPts val="3020"/>
              </a:lnSpc>
              <a:spcBef>
                <a:spcPts val="480"/>
              </a:spcBef>
              <a:buChar char="•"/>
              <a:tabLst>
                <a:tab pos="353695" algn="l"/>
                <a:tab pos="354330" algn="l"/>
              </a:tabLst>
            </a:pP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A string variable is any valid C 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variable </a:t>
            </a: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name and 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is </a:t>
            </a: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always declared as an</a:t>
            </a:r>
            <a:r>
              <a:rPr sz="2200" spc="4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array</a:t>
            </a:r>
            <a:endParaRPr sz="2200">
              <a:latin typeface="Times New Roman" panose="02020603050405020304" charset="0"/>
              <a:cs typeface="Times New Roman" panose="02020603050405020304" charset="0"/>
            </a:endParaRPr>
          </a:p>
          <a:p>
            <a:pPr marL="754380" lvl="1" indent="-285115" algn="just">
              <a:lnSpc>
                <a:spcPct val="100000"/>
              </a:lnSpc>
              <a:spcBef>
                <a:spcPts val="670"/>
              </a:spcBef>
              <a:buChar char="–"/>
              <a:tabLst>
                <a:tab pos="755015" algn="l"/>
              </a:tabLst>
            </a:pP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SYNTAX: </a:t>
            </a:r>
            <a:r>
              <a:rPr sz="2200" spc="-5" dirty="0">
                <a:solidFill>
                  <a:schemeClr val="accent2"/>
                </a:solidFill>
                <a:latin typeface="Times New Roman" panose="02020603050405020304" charset="0"/>
                <a:cs typeface="Times New Roman" panose="02020603050405020304" charset="0"/>
              </a:rPr>
              <a:t>char</a:t>
            </a:r>
            <a:r>
              <a:rPr sz="2200" spc="10" dirty="0">
                <a:solidFill>
                  <a:schemeClr val="accent2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200" spc="-5" dirty="0">
                <a:solidFill>
                  <a:schemeClr val="accent2"/>
                </a:solidFill>
                <a:latin typeface="Times New Roman" panose="02020603050405020304" charset="0"/>
                <a:cs typeface="Times New Roman" panose="02020603050405020304" charset="0"/>
              </a:rPr>
              <a:t>string_name[size];</a:t>
            </a:r>
            <a:endParaRPr sz="2200">
              <a:latin typeface="Times New Roman" panose="02020603050405020304" charset="0"/>
              <a:cs typeface="Times New Roman" panose="02020603050405020304" charset="0"/>
            </a:endParaRPr>
          </a:p>
          <a:p>
            <a:pPr marL="353695" marR="5080" indent="-341630" algn="just">
              <a:lnSpc>
                <a:spcPts val="3020"/>
              </a:lnSpc>
              <a:spcBef>
                <a:spcPts val="635"/>
              </a:spcBef>
              <a:buChar char="•"/>
              <a:tabLst>
                <a:tab pos="353695" algn="l"/>
                <a:tab pos="354330" algn="l"/>
              </a:tabLst>
            </a:pP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The size 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determines </a:t>
            </a: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the number of 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characters </a:t>
            </a: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in  the</a:t>
            </a:r>
            <a:r>
              <a:rPr sz="2200" spc="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string-name</a:t>
            </a:r>
            <a:endParaRPr sz="2200">
              <a:latin typeface="Times New Roman" panose="02020603050405020304" charset="0"/>
              <a:cs typeface="Times New Roman" panose="02020603050405020304" charset="0"/>
            </a:endParaRPr>
          </a:p>
          <a:p>
            <a:pPr marL="754380" lvl="1" indent="-285115" algn="just">
              <a:lnSpc>
                <a:spcPct val="100000"/>
              </a:lnSpc>
              <a:spcBef>
                <a:spcPts val="670"/>
              </a:spcBef>
              <a:buChar char="–"/>
              <a:tabLst>
                <a:tab pos="755015" algn="l"/>
              </a:tabLst>
            </a:pP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EXAMPLE: char</a:t>
            </a:r>
            <a:r>
              <a:rPr sz="2200" spc="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city[10];</a:t>
            </a:r>
            <a:endParaRPr sz="2200">
              <a:latin typeface="Times New Roman" panose="02020603050405020304" charset="0"/>
              <a:cs typeface="Times New Roman" panose="02020603050405020304" charset="0"/>
            </a:endParaRPr>
          </a:p>
          <a:p>
            <a:pPr marL="353695" marR="125095" indent="-341630" algn="just">
              <a:lnSpc>
                <a:spcPts val="3020"/>
              </a:lnSpc>
              <a:spcBef>
                <a:spcPts val="650"/>
              </a:spcBef>
              <a:buChar char="•"/>
              <a:tabLst>
                <a:tab pos="353695" algn="l"/>
                <a:tab pos="354330" algn="l"/>
              </a:tabLst>
            </a:pP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When the compiler 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assigns </a:t>
            </a: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a 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character string to  </a:t>
            </a: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a 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character array, </a:t>
            </a: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it </a:t>
            </a:r>
            <a:r>
              <a:rPr sz="2200" b="1" spc="-5" dirty="0">
                <a:latin typeface="Times New Roman" panose="02020603050405020304" charset="0"/>
                <a:cs typeface="Times New Roman" panose="02020603050405020304" charset="0"/>
              </a:rPr>
              <a:t>automatically supplies a  null character </a:t>
            </a:r>
            <a:r>
              <a:rPr sz="2200" b="1" dirty="0">
                <a:latin typeface="Times New Roman" panose="02020603050405020304" charset="0"/>
                <a:cs typeface="Times New Roman" panose="02020603050405020304" charset="0"/>
              </a:rPr>
              <a:t>(‘\0’) at </a:t>
            </a:r>
            <a:r>
              <a:rPr sz="2200" b="1" spc="-5" dirty="0">
                <a:latin typeface="Times New Roman" panose="02020603050405020304" charset="0"/>
                <a:cs typeface="Times New Roman" panose="02020603050405020304" charset="0"/>
              </a:rPr>
              <a:t>the end </a:t>
            </a:r>
            <a:r>
              <a:rPr sz="2200" b="1" dirty="0">
                <a:latin typeface="Times New Roman" panose="02020603050405020304" charset="0"/>
                <a:cs typeface="Times New Roman" panose="02020603050405020304" charset="0"/>
              </a:rPr>
              <a:t>of </a:t>
            </a:r>
            <a:r>
              <a:rPr sz="2200" b="1" spc="-5" dirty="0">
                <a:latin typeface="Times New Roman" panose="02020603050405020304" charset="0"/>
                <a:cs typeface="Times New Roman" panose="02020603050405020304" charset="0"/>
              </a:rPr>
              <a:t>the</a:t>
            </a:r>
            <a:r>
              <a:rPr sz="2200" b="1" spc="3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200" b="1" dirty="0">
                <a:latin typeface="Times New Roman" panose="02020603050405020304" charset="0"/>
                <a:cs typeface="Times New Roman" panose="02020603050405020304" charset="0"/>
              </a:rPr>
              <a:t>string</a:t>
            </a:r>
            <a:r>
              <a:rPr lang="en-IN" sz="2200" b="1" dirty="0">
                <a:latin typeface="Times New Roman" panose="02020603050405020304" charset="0"/>
                <a:cs typeface="Times New Roman" panose="02020603050405020304" charset="0"/>
              </a:rPr>
              <a:t>.</a:t>
            </a:r>
            <a:endParaRPr sz="22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353695" marR="895350" indent="-341630" algn="just">
              <a:lnSpc>
                <a:spcPts val="3030"/>
              </a:lnSpc>
              <a:spcBef>
                <a:spcPts val="600"/>
              </a:spcBef>
              <a:buChar char="•"/>
              <a:tabLst>
                <a:tab pos="353695" algn="l"/>
                <a:tab pos="354330" algn="l"/>
              </a:tabLst>
            </a:pP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The </a:t>
            </a:r>
            <a:r>
              <a:rPr sz="2200" b="1" dirty="0">
                <a:latin typeface="Times New Roman" panose="02020603050405020304" charset="0"/>
                <a:cs typeface="Times New Roman" panose="02020603050405020304" charset="0"/>
              </a:rPr>
              <a:t>size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should be equal to the </a:t>
            </a:r>
            <a:r>
              <a:rPr sz="2200" b="1" spc="-5" dirty="0">
                <a:latin typeface="Times New Roman" panose="02020603050405020304" charset="0"/>
                <a:cs typeface="Times New Roman" panose="02020603050405020304" charset="0"/>
              </a:rPr>
              <a:t>maximum  number of </a:t>
            </a:r>
            <a:r>
              <a:rPr sz="2200" b="1" dirty="0">
                <a:latin typeface="Times New Roman" panose="02020603050405020304" charset="0"/>
                <a:cs typeface="Times New Roman" panose="02020603050405020304" charset="0"/>
              </a:rPr>
              <a:t>characters </a:t>
            </a:r>
            <a:r>
              <a:rPr sz="2200" b="1" spc="-5" dirty="0">
                <a:latin typeface="Times New Roman" panose="02020603050405020304" charset="0"/>
                <a:cs typeface="Times New Roman" panose="02020603050405020304" charset="0"/>
              </a:rPr>
              <a:t>in the </a:t>
            </a:r>
            <a:r>
              <a:rPr sz="2200" b="1" dirty="0">
                <a:latin typeface="Times New Roman" panose="02020603050405020304" charset="0"/>
                <a:cs typeface="Times New Roman" panose="02020603050405020304" charset="0"/>
              </a:rPr>
              <a:t>string plus </a:t>
            </a:r>
            <a:r>
              <a:rPr sz="2200" b="1" spc="-5" dirty="0">
                <a:latin typeface="Times New Roman" panose="02020603050405020304" charset="0"/>
                <a:cs typeface="Times New Roman" panose="02020603050405020304" charset="0"/>
              </a:rPr>
              <a:t>one</a:t>
            </a:r>
            <a:r>
              <a:rPr lang="en-IN" sz="2200" b="1" spc="-5" dirty="0">
                <a:latin typeface="Times New Roman" panose="02020603050405020304" charset="0"/>
                <a:cs typeface="Times New Roman" panose="02020603050405020304" charset="0"/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518920" y="1757680"/>
            <a:ext cx="10074275" cy="25025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3695" marR="5080" indent="-341630">
              <a:lnSpc>
                <a:spcPct val="100000"/>
              </a:lnSpc>
              <a:spcBef>
                <a:spcPts val="95"/>
              </a:spcBef>
              <a:buChar char="•"/>
              <a:tabLst>
                <a:tab pos="353695" algn="l"/>
                <a:tab pos="354330" algn="l"/>
              </a:tabLst>
            </a:pP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Character arrays may be 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initialized </a:t>
            </a: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when 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they </a:t>
            </a: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are</a:t>
            </a:r>
            <a:r>
              <a:rPr sz="2200" spc="-1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declared</a:t>
            </a:r>
            <a:endParaRPr sz="2200">
              <a:latin typeface="Times New Roman" panose="02020603050405020304" charset="0"/>
              <a:cs typeface="Times New Roman" panose="02020603050405020304" charset="0"/>
            </a:endParaRPr>
          </a:p>
          <a:p>
            <a:pPr marL="923925">
              <a:lnSpc>
                <a:spcPct val="100000"/>
              </a:lnSpc>
              <a:spcBef>
                <a:spcPts val="1205"/>
              </a:spcBef>
            </a:pP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char city[9] = </a:t>
            </a: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“NEW</a:t>
            </a:r>
            <a:r>
              <a:rPr sz="2200" spc="-3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YORK”;</a:t>
            </a:r>
            <a:endParaRPr sz="2200">
              <a:latin typeface="Times New Roman" panose="02020603050405020304" charset="0"/>
              <a:cs typeface="Times New Roman" panose="02020603050405020304" charset="0"/>
            </a:endParaRPr>
          </a:p>
          <a:p>
            <a:pPr marL="923925">
              <a:lnSpc>
                <a:spcPct val="100000"/>
              </a:lnSpc>
              <a:spcBef>
                <a:spcPts val="795"/>
              </a:spcBef>
            </a:pP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char city[9] = </a:t>
            </a: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(‘N’,’E’,’W’,’</a:t>
            </a:r>
            <a:r>
              <a:rPr sz="2200" spc="-2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‘,’Y’,’O’,’R’,’K’,’\0’);</a:t>
            </a:r>
            <a:endParaRPr sz="2200">
              <a:latin typeface="Times New Roman" panose="02020603050405020304" charset="0"/>
              <a:cs typeface="Times New Roman" panose="02020603050405020304" charset="0"/>
            </a:endParaRPr>
          </a:p>
          <a:p>
            <a:pPr marL="353695" marR="165735" indent="-341630">
              <a:lnSpc>
                <a:spcPct val="100000"/>
              </a:lnSpc>
              <a:spcBef>
                <a:spcPts val="785"/>
              </a:spcBef>
              <a:buChar char="•"/>
              <a:tabLst>
                <a:tab pos="353695" algn="l"/>
                <a:tab pos="354330" algn="l"/>
              </a:tabLst>
            </a:pP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When we 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initialize </a:t>
            </a: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a 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character </a:t>
            </a: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by listing 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its elements, </a:t>
            </a: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we must 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supply </a:t>
            </a: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the 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null</a:t>
            </a:r>
            <a:r>
              <a:rPr sz="2200" spc="-2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terminator</a:t>
            </a:r>
            <a:endParaRPr sz="2200">
              <a:latin typeface="Times New Roman" panose="02020603050405020304" charset="0"/>
              <a:cs typeface="Times New Roman" panose="02020603050405020304" charset="0"/>
            </a:endParaRPr>
          </a:p>
          <a:p>
            <a:pPr marL="353695" marR="1173480" indent="-341630">
              <a:lnSpc>
                <a:spcPct val="100000"/>
              </a:lnSpc>
              <a:spcBef>
                <a:spcPts val="795"/>
              </a:spcBef>
              <a:buChar char="•"/>
              <a:tabLst>
                <a:tab pos="353695" algn="l"/>
                <a:tab pos="354330" algn="l"/>
              </a:tabLst>
            </a:pP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Can 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initialize </a:t>
            </a: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a character 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array </a:t>
            </a: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without 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specifying </a:t>
            </a:r>
            <a:r>
              <a:rPr lang="en-IN" sz="2200" dirty="0">
                <a:latin typeface="Times New Roman" panose="02020603050405020304" charset="0"/>
                <a:cs typeface="Times New Roman" panose="02020603050405020304" charset="0"/>
              </a:rPr>
              <a:t>t</a:t>
            </a: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he number of 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elements.</a:t>
            </a:r>
            <a:endParaRPr sz="22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object 2"/>
          <p:cNvSpPr txBox="1">
            <a:spLocks noGrp="1"/>
          </p:cNvSpPr>
          <p:nvPr>
            <p:ph type="title"/>
          </p:nvPr>
        </p:nvSpPr>
        <p:spPr>
          <a:xfrm>
            <a:off x="1518920" y="772795"/>
            <a:ext cx="9084310" cy="4425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12545" marR="5080" indent="-1256665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DECLARING AND</a:t>
            </a:r>
            <a:r>
              <a:rPr sz="2800" spc="-3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INITIALIZING  STRING</a:t>
            </a:r>
            <a:r>
              <a:rPr sz="28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VARAIBLES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835785" y="1625600"/>
            <a:ext cx="8966835" cy="38125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3695" marR="5080" indent="-341630">
              <a:lnSpc>
                <a:spcPct val="100000"/>
              </a:lnSpc>
              <a:spcBef>
                <a:spcPts val="95"/>
              </a:spcBef>
              <a:buChar char="•"/>
              <a:tabLst>
                <a:tab pos="353695" algn="l"/>
                <a:tab pos="354330" algn="l"/>
              </a:tabLst>
            </a:pPr>
            <a:r>
              <a:rPr sz="2200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The size of the </a:t>
            </a:r>
            <a:r>
              <a:rPr sz="22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array </a:t>
            </a:r>
            <a:r>
              <a:rPr sz="2200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will be </a:t>
            </a:r>
            <a:r>
              <a:rPr sz="22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determined  </a:t>
            </a:r>
            <a:r>
              <a:rPr sz="2200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automatically, based on the number of elements  </a:t>
            </a:r>
            <a:r>
              <a:rPr sz="22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initialized.</a:t>
            </a:r>
            <a:endParaRPr sz="22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923925">
              <a:lnSpc>
                <a:spcPct val="100000"/>
              </a:lnSpc>
              <a:spcBef>
                <a:spcPts val="715"/>
              </a:spcBef>
            </a:pPr>
            <a:r>
              <a:rPr sz="2200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char </a:t>
            </a:r>
            <a:r>
              <a:rPr sz="22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string[ ] =</a:t>
            </a:r>
            <a:r>
              <a:rPr sz="2200" spc="-3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2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{'G','O','O','D','\0'};</a:t>
            </a:r>
            <a:endParaRPr sz="22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53695" marR="221615" indent="-341630">
              <a:lnSpc>
                <a:spcPct val="100000"/>
              </a:lnSpc>
              <a:spcBef>
                <a:spcPts val="785"/>
              </a:spcBef>
              <a:buChar char="•"/>
              <a:tabLst>
                <a:tab pos="353695" algn="l"/>
                <a:tab pos="354330" algn="l"/>
              </a:tabLst>
            </a:pPr>
            <a:r>
              <a:rPr sz="2200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Can also declare the size much </a:t>
            </a:r>
            <a:r>
              <a:rPr sz="22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larger than </a:t>
            </a:r>
            <a:r>
              <a:rPr sz="2200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the  </a:t>
            </a:r>
            <a:r>
              <a:rPr sz="22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string</a:t>
            </a:r>
            <a:r>
              <a:rPr sz="2200" spc="-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200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size.</a:t>
            </a:r>
            <a:endParaRPr sz="22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937260">
              <a:lnSpc>
                <a:spcPct val="100000"/>
              </a:lnSpc>
              <a:spcBef>
                <a:spcPts val="815"/>
              </a:spcBef>
            </a:pPr>
            <a:r>
              <a:rPr sz="2200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char </a:t>
            </a:r>
            <a:r>
              <a:rPr sz="22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str[10] =</a:t>
            </a:r>
            <a:r>
              <a:rPr sz="2200" spc="-3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200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“GOOD”;</a:t>
            </a:r>
            <a:endParaRPr sz="22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53695" indent="-341630">
              <a:lnSpc>
                <a:spcPct val="100000"/>
              </a:lnSpc>
              <a:spcBef>
                <a:spcPts val="785"/>
              </a:spcBef>
              <a:buChar char="•"/>
              <a:tabLst>
                <a:tab pos="353695" algn="l"/>
                <a:tab pos="354330" algn="l"/>
              </a:tabLst>
            </a:pPr>
            <a:r>
              <a:rPr sz="2200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Following will result in a compile time</a:t>
            </a:r>
            <a:r>
              <a:rPr sz="2200" spc="10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2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error.</a:t>
            </a:r>
          </a:p>
          <a:p>
            <a:pPr marL="926465" lvl="2" indent="0">
              <a:lnSpc>
                <a:spcPct val="100000"/>
              </a:lnSpc>
              <a:spcBef>
                <a:spcPts val="785"/>
              </a:spcBef>
              <a:buNone/>
              <a:tabLst>
                <a:tab pos="353695" algn="l"/>
                <a:tab pos="354330" algn="l"/>
              </a:tabLst>
            </a:pPr>
            <a:r>
              <a:rPr sz="2200" spc="-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char 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str[3] =</a:t>
            </a:r>
            <a:r>
              <a:rPr sz="2200" spc="-2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“GOOD”;</a:t>
            </a:r>
            <a:endParaRPr sz="22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53695" indent="-341630">
              <a:lnSpc>
                <a:spcPct val="100000"/>
              </a:lnSpc>
              <a:spcBef>
                <a:spcPts val="785"/>
              </a:spcBef>
              <a:buChar char="•"/>
              <a:tabLst>
                <a:tab pos="353695" algn="l"/>
                <a:tab pos="354330" algn="l"/>
              </a:tabLst>
            </a:pPr>
            <a:r>
              <a:rPr lang="en-IN" sz="22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Eg:- c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har name[ 8] = </a:t>
            </a:r>
            <a:r>
              <a:rPr sz="2200" spc="-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{‘P’, ‘R’, ‘O’, ‘G’, 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‘R’, </a:t>
            </a:r>
            <a:r>
              <a:rPr sz="2200" spc="-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‘A’, ‘M’,</a:t>
            </a:r>
            <a:r>
              <a:rPr sz="2200" spc="-5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en-IN" sz="2200" spc="-5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'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\0’};</a:t>
            </a:r>
            <a:endParaRPr sz="22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923925">
              <a:lnSpc>
                <a:spcPct val="100000"/>
              </a:lnSpc>
              <a:spcBef>
                <a:spcPts val="1205"/>
              </a:spcBef>
            </a:pPr>
            <a:endParaRPr sz="22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object 2"/>
          <p:cNvSpPr txBox="1">
            <a:spLocks noGrp="1"/>
          </p:cNvSpPr>
          <p:nvPr>
            <p:ph type="title"/>
          </p:nvPr>
        </p:nvSpPr>
        <p:spPr>
          <a:xfrm>
            <a:off x="1518920" y="772795"/>
            <a:ext cx="9084310" cy="4425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12545" marR="5080" indent="-1256665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DECLARING AND</a:t>
            </a:r>
            <a:r>
              <a:rPr sz="2800" spc="-3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INITIALIZING  STRING</a:t>
            </a:r>
            <a:r>
              <a:rPr sz="28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VARAIBLES</a:t>
            </a:r>
          </a:p>
        </p:txBody>
      </p:sp>
      <p:sp>
        <p:nvSpPr>
          <p:cNvPr id="6" name="object 4"/>
          <p:cNvSpPr txBox="1"/>
          <p:nvPr/>
        </p:nvSpPr>
        <p:spPr>
          <a:xfrm>
            <a:off x="3065144" y="5308600"/>
            <a:ext cx="13843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P</a:t>
            </a:r>
          </a:p>
        </p:txBody>
      </p:sp>
      <p:sp>
        <p:nvSpPr>
          <p:cNvPr id="7" name="object 5"/>
          <p:cNvSpPr txBox="1"/>
          <p:nvPr/>
        </p:nvSpPr>
        <p:spPr>
          <a:xfrm>
            <a:off x="3847464" y="5308600"/>
            <a:ext cx="16129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R</a:t>
            </a:r>
          </a:p>
        </p:txBody>
      </p:sp>
      <p:sp>
        <p:nvSpPr>
          <p:cNvPr id="8" name="object 6"/>
          <p:cNvSpPr txBox="1"/>
          <p:nvPr/>
        </p:nvSpPr>
        <p:spPr>
          <a:xfrm>
            <a:off x="4707254" y="5308600"/>
            <a:ext cx="17272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O</a:t>
            </a:r>
          </a:p>
        </p:txBody>
      </p:sp>
      <p:sp>
        <p:nvSpPr>
          <p:cNvPr id="9" name="object 7"/>
          <p:cNvSpPr txBox="1"/>
          <p:nvPr/>
        </p:nvSpPr>
        <p:spPr>
          <a:xfrm>
            <a:off x="5570854" y="5308600"/>
            <a:ext cx="17272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G</a:t>
            </a:r>
          </a:p>
        </p:txBody>
      </p:sp>
      <p:sp>
        <p:nvSpPr>
          <p:cNvPr id="10" name="object 8"/>
          <p:cNvSpPr txBox="1"/>
          <p:nvPr/>
        </p:nvSpPr>
        <p:spPr>
          <a:xfrm>
            <a:off x="6442075" y="5308600"/>
            <a:ext cx="16129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R</a:t>
            </a:r>
          </a:p>
        </p:txBody>
      </p:sp>
      <p:sp>
        <p:nvSpPr>
          <p:cNvPr id="11" name="object 9"/>
          <p:cNvSpPr txBox="1"/>
          <p:nvPr/>
        </p:nvSpPr>
        <p:spPr>
          <a:xfrm>
            <a:off x="7380604" y="5308600"/>
            <a:ext cx="17272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A</a:t>
            </a:r>
          </a:p>
        </p:txBody>
      </p:sp>
      <p:sp>
        <p:nvSpPr>
          <p:cNvPr id="12" name="object 10"/>
          <p:cNvSpPr txBox="1"/>
          <p:nvPr/>
        </p:nvSpPr>
        <p:spPr>
          <a:xfrm>
            <a:off x="8307704" y="5308600"/>
            <a:ext cx="20637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M</a:t>
            </a:r>
          </a:p>
        </p:txBody>
      </p:sp>
      <p:sp>
        <p:nvSpPr>
          <p:cNvPr id="13" name="object 11"/>
          <p:cNvSpPr txBox="1"/>
          <p:nvPr/>
        </p:nvSpPr>
        <p:spPr>
          <a:xfrm>
            <a:off x="9182734" y="5308600"/>
            <a:ext cx="18415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\0</a:t>
            </a:r>
          </a:p>
        </p:txBody>
      </p:sp>
      <p:sp>
        <p:nvSpPr>
          <p:cNvPr id="14" name="object 12"/>
          <p:cNvSpPr txBox="1"/>
          <p:nvPr/>
        </p:nvSpPr>
        <p:spPr>
          <a:xfrm>
            <a:off x="2811144" y="6015990"/>
            <a:ext cx="4762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chemeClr val="tx1"/>
                </a:solidFill>
                <a:latin typeface="Verdana" panose="020B0604030504040204"/>
                <a:cs typeface="Verdana" panose="020B0604030504040204"/>
              </a:rPr>
              <a:t>1</a:t>
            </a:r>
            <a:r>
              <a:rPr sz="1400" spc="-5" dirty="0">
                <a:solidFill>
                  <a:schemeClr val="tx1"/>
                </a:solidFill>
                <a:latin typeface="Verdana" panose="020B0604030504040204"/>
                <a:cs typeface="Verdana" panose="020B0604030504040204"/>
              </a:rPr>
              <a:t>001</a:t>
            </a:r>
          </a:p>
        </p:txBody>
      </p:sp>
      <p:sp>
        <p:nvSpPr>
          <p:cNvPr id="15" name="object 13"/>
          <p:cNvSpPr txBox="1"/>
          <p:nvPr/>
        </p:nvSpPr>
        <p:spPr>
          <a:xfrm>
            <a:off x="3648075" y="6015990"/>
            <a:ext cx="47752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chemeClr val="tx1"/>
                </a:solidFill>
                <a:latin typeface="Verdana" panose="020B0604030504040204"/>
                <a:cs typeface="Verdana" panose="020B0604030504040204"/>
              </a:rPr>
              <a:t>1002</a:t>
            </a:r>
          </a:p>
        </p:txBody>
      </p:sp>
      <p:sp>
        <p:nvSpPr>
          <p:cNvPr id="16" name="object 14"/>
          <p:cNvSpPr txBox="1"/>
          <p:nvPr/>
        </p:nvSpPr>
        <p:spPr>
          <a:xfrm>
            <a:off x="6240145" y="6015990"/>
            <a:ext cx="4762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chemeClr val="tx1"/>
                </a:solidFill>
                <a:latin typeface="Verdana" panose="020B0604030504040204"/>
                <a:cs typeface="Verdana" panose="020B0604030504040204"/>
              </a:rPr>
              <a:t>1</a:t>
            </a:r>
            <a:r>
              <a:rPr sz="1400" spc="-5" dirty="0">
                <a:solidFill>
                  <a:schemeClr val="tx1"/>
                </a:solidFill>
                <a:latin typeface="Verdana" panose="020B0604030504040204"/>
                <a:cs typeface="Verdana" panose="020B0604030504040204"/>
              </a:rPr>
              <a:t>005</a:t>
            </a:r>
          </a:p>
        </p:txBody>
      </p:sp>
      <p:sp>
        <p:nvSpPr>
          <p:cNvPr id="17" name="object 15"/>
          <p:cNvSpPr txBox="1"/>
          <p:nvPr/>
        </p:nvSpPr>
        <p:spPr>
          <a:xfrm>
            <a:off x="7154545" y="6015990"/>
            <a:ext cx="4762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chemeClr val="tx1"/>
                </a:solidFill>
                <a:latin typeface="Verdana" panose="020B0604030504040204"/>
                <a:cs typeface="Verdana" panose="020B0604030504040204"/>
              </a:rPr>
              <a:t>1</a:t>
            </a:r>
            <a:r>
              <a:rPr sz="1400" spc="-5" dirty="0">
                <a:solidFill>
                  <a:schemeClr val="tx1"/>
                </a:solidFill>
                <a:latin typeface="Verdana" panose="020B0604030504040204"/>
                <a:cs typeface="Verdana" panose="020B0604030504040204"/>
              </a:rPr>
              <a:t>006</a:t>
            </a:r>
          </a:p>
        </p:txBody>
      </p:sp>
      <p:sp>
        <p:nvSpPr>
          <p:cNvPr id="18" name="object 16"/>
          <p:cNvSpPr txBox="1"/>
          <p:nvPr/>
        </p:nvSpPr>
        <p:spPr>
          <a:xfrm>
            <a:off x="8145145" y="6015990"/>
            <a:ext cx="4762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chemeClr val="tx1"/>
                </a:solidFill>
                <a:latin typeface="Verdana" panose="020B0604030504040204"/>
                <a:cs typeface="Verdana" panose="020B0604030504040204"/>
              </a:rPr>
              <a:t>10</a:t>
            </a:r>
            <a:r>
              <a:rPr sz="1400" spc="-10" dirty="0">
                <a:solidFill>
                  <a:schemeClr val="tx1"/>
                </a:solidFill>
                <a:latin typeface="Verdana" panose="020B0604030504040204"/>
                <a:cs typeface="Verdana" panose="020B0604030504040204"/>
              </a:rPr>
              <a:t>0</a:t>
            </a:r>
            <a:r>
              <a:rPr sz="1400" dirty="0">
                <a:solidFill>
                  <a:schemeClr val="tx1"/>
                </a:solidFill>
                <a:latin typeface="Verdana" panose="020B0604030504040204"/>
                <a:cs typeface="Verdana" panose="020B0604030504040204"/>
              </a:rPr>
              <a:t>7</a:t>
            </a:r>
          </a:p>
        </p:txBody>
      </p:sp>
      <p:sp>
        <p:nvSpPr>
          <p:cNvPr id="19" name="object 17"/>
          <p:cNvSpPr txBox="1"/>
          <p:nvPr/>
        </p:nvSpPr>
        <p:spPr>
          <a:xfrm>
            <a:off x="4487545" y="6015990"/>
            <a:ext cx="4762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chemeClr val="tx1"/>
                </a:solidFill>
                <a:latin typeface="Verdana" panose="020B0604030504040204"/>
                <a:cs typeface="Verdana" panose="020B0604030504040204"/>
              </a:rPr>
              <a:t>10</a:t>
            </a:r>
            <a:r>
              <a:rPr sz="1400" spc="-10" dirty="0">
                <a:solidFill>
                  <a:schemeClr val="tx1"/>
                </a:solidFill>
                <a:latin typeface="Verdana" panose="020B0604030504040204"/>
                <a:cs typeface="Verdana" panose="020B0604030504040204"/>
              </a:rPr>
              <a:t>0</a:t>
            </a:r>
            <a:r>
              <a:rPr sz="1400" dirty="0">
                <a:solidFill>
                  <a:schemeClr val="tx1"/>
                </a:solidFill>
                <a:latin typeface="Verdana" panose="020B0604030504040204"/>
                <a:cs typeface="Verdana" panose="020B0604030504040204"/>
              </a:rPr>
              <a:t>3</a:t>
            </a:r>
          </a:p>
        </p:txBody>
      </p:sp>
      <p:sp>
        <p:nvSpPr>
          <p:cNvPr id="20" name="object 18"/>
          <p:cNvSpPr txBox="1"/>
          <p:nvPr/>
        </p:nvSpPr>
        <p:spPr>
          <a:xfrm>
            <a:off x="5325745" y="6015990"/>
            <a:ext cx="4762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chemeClr val="tx1"/>
                </a:solidFill>
                <a:latin typeface="Verdana" panose="020B0604030504040204"/>
                <a:cs typeface="Verdana" panose="020B0604030504040204"/>
              </a:rPr>
              <a:t>1</a:t>
            </a:r>
            <a:r>
              <a:rPr sz="1400" spc="-5" dirty="0">
                <a:solidFill>
                  <a:schemeClr val="tx1"/>
                </a:solidFill>
                <a:latin typeface="Verdana" panose="020B0604030504040204"/>
                <a:cs typeface="Verdana" panose="020B0604030504040204"/>
              </a:rPr>
              <a:t>004</a:t>
            </a:r>
          </a:p>
        </p:txBody>
      </p:sp>
      <p:sp>
        <p:nvSpPr>
          <p:cNvPr id="21" name="object 19"/>
          <p:cNvSpPr txBox="1"/>
          <p:nvPr/>
        </p:nvSpPr>
        <p:spPr>
          <a:xfrm>
            <a:off x="9059544" y="6015990"/>
            <a:ext cx="4762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chemeClr val="tx1"/>
                </a:solidFill>
                <a:latin typeface="Verdana" panose="020B0604030504040204"/>
                <a:cs typeface="Verdana" panose="020B0604030504040204"/>
              </a:rPr>
              <a:t>10</a:t>
            </a:r>
            <a:r>
              <a:rPr sz="1400" spc="-10" dirty="0">
                <a:solidFill>
                  <a:schemeClr val="tx1"/>
                </a:solidFill>
                <a:latin typeface="Verdana" panose="020B0604030504040204"/>
                <a:cs typeface="Verdana" panose="020B0604030504040204"/>
              </a:rPr>
              <a:t>0</a:t>
            </a:r>
            <a:r>
              <a:rPr sz="1400" dirty="0">
                <a:solidFill>
                  <a:schemeClr val="tx1"/>
                </a:solidFill>
                <a:latin typeface="Verdana" panose="020B0604030504040204"/>
                <a:cs typeface="Verdana" panose="020B0604030504040204"/>
              </a:rPr>
              <a:t>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270635" y="1626870"/>
            <a:ext cx="9332595" cy="3480435"/>
          </a:xfrm>
          <a:prstGeom prst="rect">
            <a:avLst/>
          </a:prstGeom>
        </p:spPr>
        <p:txBody>
          <a:bodyPr vert="horz" wrap="square" lIns="0" tIns="117475" rIns="0" bIns="0" rtlCol="0">
            <a:spAutoFit/>
          </a:bodyPr>
          <a:lstStyle/>
          <a:p>
            <a:pPr marL="354330" indent="-342265">
              <a:lnSpc>
                <a:spcPct val="100000"/>
              </a:lnSpc>
              <a:spcBef>
                <a:spcPts val="925"/>
              </a:spcBef>
              <a:buChar char="•"/>
              <a:tabLst>
                <a:tab pos="353695" algn="l"/>
                <a:tab pos="354965" algn="l"/>
              </a:tabLst>
            </a:pP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We cannot separate the 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initialization </a:t>
            </a: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from</a:t>
            </a:r>
            <a:r>
              <a:rPr sz="2200" spc="3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declaration</a:t>
            </a:r>
            <a:endParaRPr sz="2200">
              <a:latin typeface="Times New Roman" panose="02020603050405020304" charset="0"/>
              <a:cs typeface="Times New Roman" panose="02020603050405020304" charset="0"/>
            </a:endParaRPr>
          </a:p>
          <a:p>
            <a:pPr marL="755015" lvl="1" indent="-285750">
              <a:lnSpc>
                <a:spcPct val="100000"/>
              </a:lnSpc>
              <a:spcBef>
                <a:spcPts val="710"/>
              </a:spcBef>
              <a:buChar char="–"/>
              <a:tabLst>
                <a:tab pos="755650" algn="l"/>
              </a:tabLst>
            </a:pP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char 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str[5];</a:t>
            </a:r>
            <a:endParaRPr sz="2200">
              <a:latin typeface="Times New Roman" panose="02020603050405020304" charset="0"/>
              <a:cs typeface="Times New Roman" panose="02020603050405020304" charset="0"/>
            </a:endParaRPr>
          </a:p>
          <a:p>
            <a:pPr marL="755015" lvl="1" indent="-285750">
              <a:lnSpc>
                <a:spcPct val="100000"/>
              </a:lnSpc>
              <a:spcBef>
                <a:spcPts val="700"/>
              </a:spcBef>
              <a:buChar char="–"/>
              <a:tabLst>
                <a:tab pos="755650" algn="l"/>
              </a:tabLst>
            </a:pP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str =</a:t>
            </a:r>
            <a:r>
              <a:rPr sz="2200" spc="-2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“GOOD”;</a:t>
            </a:r>
            <a:endParaRPr sz="2200">
              <a:latin typeface="Times New Roman" panose="02020603050405020304" charset="0"/>
              <a:cs typeface="Times New Roman" panose="02020603050405020304" charset="0"/>
            </a:endParaRPr>
          </a:p>
          <a:p>
            <a:pPr marL="354330" indent="-342265">
              <a:lnSpc>
                <a:spcPct val="100000"/>
              </a:lnSpc>
              <a:spcBef>
                <a:spcPts val="790"/>
              </a:spcBef>
              <a:buChar char="•"/>
              <a:tabLst>
                <a:tab pos="353695" algn="l"/>
                <a:tab pos="354965" algn="l"/>
              </a:tabLst>
            </a:pP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Following is </a:t>
            </a:r>
            <a:r>
              <a:rPr sz="2200" spc="-5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not</a:t>
            </a:r>
            <a:r>
              <a:rPr sz="2200" spc="25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allowed</a:t>
            </a:r>
            <a:endParaRPr sz="2200">
              <a:latin typeface="Times New Roman" panose="02020603050405020304" charset="0"/>
              <a:cs typeface="Times New Roman" panose="02020603050405020304" charset="0"/>
            </a:endParaRPr>
          </a:p>
          <a:p>
            <a:pPr marL="755015" lvl="1" indent="-285750">
              <a:lnSpc>
                <a:spcPct val="100000"/>
              </a:lnSpc>
              <a:spcBef>
                <a:spcPts val="710"/>
              </a:spcBef>
              <a:buChar char="–"/>
              <a:tabLst>
                <a:tab pos="755650" algn="l"/>
              </a:tabLst>
            </a:pP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char</a:t>
            </a: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 s1[4]=”abc”;</a:t>
            </a:r>
            <a:endParaRPr sz="2200">
              <a:latin typeface="Times New Roman" panose="02020603050405020304" charset="0"/>
              <a:cs typeface="Times New Roman" panose="02020603050405020304" charset="0"/>
            </a:endParaRPr>
          </a:p>
          <a:p>
            <a:pPr marL="755015" lvl="1" indent="-285750">
              <a:lnSpc>
                <a:spcPct val="100000"/>
              </a:lnSpc>
              <a:spcBef>
                <a:spcPts val="710"/>
              </a:spcBef>
              <a:buChar char="–"/>
              <a:tabLst>
                <a:tab pos="755650" algn="l"/>
              </a:tabLst>
            </a:pP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char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 s2[4];</a:t>
            </a:r>
            <a:endParaRPr sz="2200">
              <a:latin typeface="Times New Roman" panose="02020603050405020304" charset="0"/>
              <a:cs typeface="Times New Roman" panose="02020603050405020304" charset="0"/>
            </a:endParaRPr>
          </a:p>
          <a:p>
            <a:pPr marL="469900">
              <a:lnSpc>
                <a:spcPct val="100000"/>
              </a:lnSpc>
              <a:spcBef>
                <a:spcPts val="695"/>
              </a:spcBef>
            </a:pP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– </a:t>
            </a: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s2 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=</a:t>
            </a:r>
            <a:r>
              <a:rPr sz="2200" spc="-43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s1;</a:t>
            </a:r>
            <a:endParaRPr sz="2200">
              <a:latin typeface="Times New Roman" panose="02020603050405020304" charset="0"/>
              <a:cs typeface="Times New Roman" panose="02020603050405020304" charset="0"/>
            </a:endParaRPr>
          </a:p>
          <a:p>
            <a:pPr marL="12065" marR="280035" indent="0">
              <a:lnSpc>
                <a:spcPct val="100000"/>
              </a:lnSpc>
              <a:spcBef>
                <a:spcPts val="790"/>
              </a:spcBef>
              <a:buNone/>
              <a:tabLst>
                <a:tab pos="353695" algn="l"/>
                <a:tab pos="354965" algn="l"/>
              </a:tabLst>
            </a:pPr>
            <a:endParaRPr lang="en-IN" sz="22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object 2"/>
          <p:cNvSpPr txBox="1">
            <a:spLocks noGrp="1"/>
          </p:cNvSpPr>
          <p:nvPr/>
        </p:nvSpPr>
        <p:spPr>
          <a:xfrm>
            <a:off x="1518920" y="772795"/>
            <a:ext cx="9084310" cy="442595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312545" marR="5080" indent="-1256665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DECLARING AND</a:t>
            </a:r>
            <a:r>
              <a:rPr sz="2800" spc="-3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INITIALIZING  STRING</a:t>
            </a:r>
            <a:r>
              <a:rPr sz="28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VARAIBLES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042035" y="1412875"/>
            <a:ext cx="10107930" cy="493583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3695" indent="-341630" algn="just">
              <a:lnSpc>
                <a:spcPts val="3325"/>
              </a:lnSpc>
              <a:spcBef>
                <a:spcPts val="95"/>
              </a:spcBef>
              <a:buChar char="•"/>
              <a:tabLst>
                <a:tab pos="353695" algn="l"/>
                <a:tab pos="354330" algn="l"/>
              </a:tabLst>
            </a:pP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Reading</a:t>
            </a:r>
            <a:r>
              <a:rPr sz="2200" spc="1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words</a:t>
            </a:r>
            <a:endParaRPr sz="2200">
              <a:latin typeface="Times New Roman" panose="02020603050405020304" charset="0"/>
              <a:cs typeface="Times New Roman" panose="02020603050405020304" charset="0"/>
            </a:endParaRPr>
          </a:p>
          <a:p>
            <a:pPr marL="754380" marR="138430" lvl="1" indent="-285115" algn="just">
              <a:lnSpc>
                <a:spcPts val="2300"/>
              </a:lnSpc>
              <a:spcBef>
                <a:spcPts val="525"/>
              </a:spcBef>
              <a:buChar char="–"/>
              <a:tabLst>
                <a:tab pos="755015" algn="l"/>
              </a:tabLst>
            </a:pPr>
            <a:r>
              <a:rPr sz="2400" dirty="0">
                <a:latin typeface="Times New Roman" panose="02020603050405020304" charset="0"/>
                <a:cs typeface="Times New Roman" panose="02020603050405020304" charset="0"/>
              </a:rPr>
              <a:t>The </a:t>
            </a:r>
            <a:r>
              <a:rPr sz="2400" spc="-5" dirty="0">
                <a:latin typeface="Times New Roman" panose="02020603050405020304" charset="0"/>
                <a:cs typeface="Times New Roman" panose="02020603050405020304" charset="0"/>
              </a:rPr>
              <a:t>input function </a:t>
            </a:r>
            <a:r>
              <a:rPr sz="2400" dirty="0">
                <a:latin typeface="Times New Roman" panose="02020603050405020304" charset="0"/>
                <a:cs typeface="Times New Roman" panose="02020603050405020304" charset="0"/>
              </a:rPr>
              <a:t>scanf </a:t>
            </a:r>
            <a:r>
              <a:rPr sz="2400" spc="-5" dirty="0">
                <a:latin typeface="Times New Roman" panose="02020603050405020304" charset="0"/>
                <a:cs typeface="Times New Roman" panose="02020603050405020304" charset="0"/>
              </a:rPr>
              <a:t>can be used with </a:t>
            </a:r>
            <a:r>
              <a:rPr sz="2400" b="1" spc="-5" dirty="0">
                <a:latin typeface="Times New Roman" panose="02020603050405020304" charset="0"/>
                <a:cs typeface="Times New Roman" panose="02020603050405020304" charset="0"/>
              </a:rPr>
              <a:t>%s </a:t>
            </a:r>
            <a:r>
              <a:rPr sz="2400" b="1" dirty="0">
                <a:latin typeface="Times New Roman" panose="02020603050405020304" charset="0"/>
                <a:cs typeface="Times New Roman" panose="02020603050405020304" charset="0"/>
              </a:rPr>
              <a:t>format  </a:t>
            </a:r>
            <a:r>
              <a:rPr sz="2400" b="1" spc="-5" dirty="0">
                <a:latin typeface="Times New Roman" panose="02020603050405020304" charset="0"/>
                <a:cs typeface="Times New Roman" panose="02020603050405020304" charset="0"/>
              </a:rPr>
              <a:t>specification </a:t>
            </a:r>
            <a:r>
              <a:rPr sz="2400" b="1" dirty="0">
                <a:latin typeface="Times New Roman" panose="02020603050405020304" charset="0"/>
                <a:cs typeface="Times New Roman" panose="02020603050405020304" charset="0"/>
              </a:rPr>
              <a:t>to </a:t>
            </a:r>
            <a:r>
              <a:rPr sz="2400" b="1" spc="-5" dirty="0">
                <a:latin typeface="Times New Roman" panose="02020603050405020304" charset="0"/>
                <a:cs typeface="Times New Roman" panose="02020603050405020304" charset="0"/>
              </a:rPr>
              <a:t>read</a:t>
            </a:r>
            <a:r>
              <a:rPr sz="2400" spc="-5" dirty="0">
                <a:latin typeface="Times New Roman" panose="02020603050405020304" charset="0"/>
                <a:cs typeface="Times New Roman" panose="02020603050405020304" charset="0"/>
              </a:rPr>
              <a:t> in a string </a:t>
            </a:r>
            <a:r>
              <a:rPr sz="2400" dirty="0">
                <a:latin typeface="Times New Roman" panose="02020603050405020304" charset="0"/>
                <a:cs typeface="Times New Roman" panose="02020603050405020304" charset="0"/>
              </a:rPr>
              <a:t>of</a:t>
            </a:r>
            <a:r>
              <a:rPr sz="2400" spc="4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400" spc="-5" dirty="0">
                <a:latin typeface="Times New Roman" panose="02020603050405020304" charset="0"/>
                <a:cs typeface="Times New Roman" panose="02020603050405020304" charset="0"/>
              </a:rPr>
              <a:t>character</a:t>
            </a:r>
            <a:r>
              <a:rPr lang="en-IN" sz="2400" spc="-5" dirty="0">
                <a:latin typeface="Times New Roman" panose="02020603050405020304" charset="0"/>
                <a:cs typeface="Times New Roman" panose="02020603050405020304" charset="0"/>
              </a:rPr>
              <a:t>.</a:t>
            </a:r>
            <a:endParaRPr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1838325" marR="3464560" algn="just">
              <a:lnSpc>
                <a:spcPct val="109000"/>
              </a:lnSpc>
              <a:spcBef>
                <a:spcPts val="230"/>
              </a:spcBef>
            </a:pPr>
            <a:r>
              <a:rPr sz="2400" b="1" dirty="0">
                <a:latin typeface="Times New Roman" panose="02020603050405020304" charset="0"/>
                <a:cs typeface="Times New Roman" panose="02020603050405020304" charset="0"/>
              </a:rPr>
              <a:t>char address[15];  </a:t>
            </a:r>
          </a:p>
          <a:p>
            <a:pPr marL="1838325" marR="3464560" algn="just">
              <a:lnSpc>
                <a:spcPct val="109000"/>
              </a:lnSpc>
              <a:spcBef>
                <a:spcPts val="230"/>
              </a:spcBef>
            </a:pPr>
            <a:r>
              <a:rPr sz="2400" b="1" spc="-5" dirty="0">
                <a:latin typeface="Times New Roman" panose="02020603050405020304" charset="0"/>
                <a:cs typeface="Times New Roman" panose="02020603050405020304" charset="0"/>
              </a:rPr>
              <a:t>scanf(“%s”, </a:t>
            </a:r>
            <a:r>
              <a:rPr sz="2400" b="1" dirty="0">
                <a:latin typeface="Times New Roman" panose="02020603050405020304" charset="0"/>
                <a:cs typeface="Times New Roman" panose="02020603050405020304" charset="0"/>
              </a:rPr>
              <a:t>address);</a:t>
            </a:r>
            <a:endParaRPr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754380" marR="480695" lvl="1" indent="-285115" algn="just">
              <a:lnSpc>
                <a:spcPct val="80000"/>
              </a:lnSpc>
              <a:spcBef>
                <a:spcPts val="490"/>
              </a:spcBef>
              <a:buChar char="–"/>
              <a:tabLst>
                <a:tab pos="755015" algn="l"/>
              </a:tabLst>
            </a:pPr>
            <a:r>
              <a:rPr sz="2400" dirty="0">
                <a:latin typeface="Times New Roman" panose="02020603050405020304" charset="0"/>
                <a:cs typeface="Times New Roman" panose="02020603050405020304" charset="0"/>
              </a:rPr>
              <a:t>The </a:t>
            </a:r>
            <a:r>
              <a:rPr sz="2400" spc="-5" dirty="0">
                <a:latin typeface="Times New Roman" panose="02020603050405020304" charset="0"/>
                <a:cs typeface="Times New Roman" panose="02020603050405020304" charset="0"/>
              </a:rPr>
              <a:t>problem with the scanf function is </a:t>
            </a:r>
            <a:r>
              <a:rPr sz="2400" dirty="0">
                <a:latin typeface="Times New Roman" panose="02020603050405020304" charset="0"/>
                <a:cs typeface="Times New Roman" panose="02020603050405020304" charset="0"/>
              </a:rPr>
              <a:t>that it  </a:t>
            </a:r>
            <a:r>
              <a:rPr sz="2400" spc="-5" dirty="0">
                <a:latin typeface="Times New Roman" panose="02020603050405020304" charset="0"/>
                <a:cs typeface="Times New Roman" panose="02020603050405020304" charset="0"/>
              </a:rPr>
              <a:t>terminates </a:t>
            </a:r>
            <a:r>
              <a:rPr sz="2400" dirty="0">
                <a:latin typeface="Times New Roman" panose="02020603050405020304" charset="0"/>
                <a:cs typeface="Times New Roman" panose="02020603050405020304" charset="0"/>
              </a:rPr>
              <a:t>its </a:t>
            </a:r>
            <a:r>
              <a:rPr sz="2400" spc="-5" dirty="0">
                <a:latin typeface="Times New Roman" panose="02020603050405020304" charset="0"/>
                <a:cs typeface="Times New Roman" panose="02020603050405020304" charset="0"/>
              </a:rPr>
              <a:t>input on </a:t>
            </a:r>
            <a:r>
              <a:rPr sz="2400" dirty="0">
                <a:latin typeface="Times New Roman" panose="02020603050405020304" charset="0"/>
                <a:cs typeface="Times New Roman" panose="02020603050405020304" charset="0"/>
              </a:rPr>
              <a:t>the </a:t>
            </a:r>
            <a:r>
              <a:rPr sz="2400" spc="-5" dirty="0">
                <a:latin typeface="Times New Roman" panose="02020603050405020304" charset="0"/>
                <a:cs typeface="Times New Roman" panose="02020603050405020304" charset="0"/>
              </a:rPr>
              <a:t>first white space it</a:t>
            </a:r>
            <a:r>
              <a:rPr sz="2400" spc="8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400" spc="-5" dirty="0">
                <a:latin typeface="Times New Roman" panose="02020603050405020304" charset="0"/>
                <a:cs typeface="Times New Roman" panose="02020603050405020304" charset="0"/>
              </a:rPr>
              <a:t>finds</a:t>
            </a:r>
            <a:r>
              <a:rPr lang="en-IN" sz="2400" spc="-5" dirty="0">
                <a:latin typeface="Times New Roman" panose="02020603050405020304" charset="0"/>
                <a:cs typeface="Times New Roman" panose="02020603050405020304" charset="0"/>
              </a:rPr>
              <a:t>.</a:t>
            </a:r>
            <a:endParaRPr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754380" marR="153670" lvl="1" indent="-285115" algn="just">
              <a:lnSpc>
                <a:spcPct val="80000"/>
              </a:lnSpc>
              <a:spcBef>
                <a:spcPts val="500"/>
              </a:spcBef>
              <a:buChar char="–"/>
              <a:tabLst>
                <a:tab pos="755015" algn="l"/>
              </a:tabLst>
            </a:pPr>
            <a:r>
              <a:rPr sz="2400" dirty="0">
                <a:latin typeface="Times New Roman" panose="02020603050405020304" charset="0"/>
                <a:cs typeface="Times New Roman" panose="02020603050405020304" charset="0"/>
              </a:rPr>
              <a:t>A </a:t>
            </a:r>
            <a:r>
              <a:rPr sz="2400" spc="-5" dirty="0">
                <a:latin typeface="Times New Roman" panose="02020603050405020304" charset="0"/>
                <a:cs typeface="Times New Roman" panose="02020603050405020304" charset="0"/>
              </a:rPr>
              <a:t>white space include blanks, </a:t>
            </a:r>
            <a:r>
              <a:rPr sz="2400" dirty="0">
                <a:latin typeface="Times New Roman" panose="02020603050405020304" charset="0"/>
                <a:cs typeface="Times New Roman" panose="02020603050405020304" charset="0"/>
              </a:rPr>
              <a:t>tabs, </a:t>
            </a:r>
            <a:r>
              <a:rPr sz="2400" spc="-5" dirty="0">
                <a:latin typeface="Times New Roman" panose="02020603050405020304" charset="0"/>
                <a:cs typeface="Times New Roman" panose="02020603050405020304" charset="0"/>
              </a:rPr>
              <a:t>carriage </a:t>
            </a:r>
            <a:r>
              <a:rPr sz="2400" dirty="0">
                <a:latin typeface="Times New Roman" panose="02020603050405020304" charset="0"/>
                <a:cs typeface="Times New Roman" panose="02020603050405020304" charset="0"/>
              </a:rPr>
              <a:t>returns,  form feeds and </a:t>
            </a:r>
            <a:r>
              <a:rPr sz="2400" spc="-5" dirty="0">
                <a:latin typeface="Times New Roman" panose="02020603050405020304" charset="0"/>
                <a:cs typeface="Times New Roman" panose="02020603050405020304" charset="0"/>
              </a:rPr>
              <a:t>new</a:t>
            </a:r>
            <a:r>
              <a:rPr sz="2400" spc="-2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400" spc="-5" dirty="0">
                <a:latin typeface="Times New Roman" panose="02020603050405020304" charset="0"/>
                <a:cs typeface="Times New Roman" panose="02020603050405020304" charset="0"/>
              </a:rPr>
              <a:t>lines</a:t>
            </a:r>
            <a:endParaRPr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1828800" algn="just">
              <a:lnSpc>
                <a:spcPts val="2355"/>
              </a:lnSpc>
              <a:spcBef>
                <a:spcPts val="35"/>
              </a:spcBef>
            </a:pPr>
            <a:r>
              <a:rPr sz="2400" dirty="0">
                <a:latin typeface="Times New Roman" panose="02020603050405020304" charset="0"/>
                <a:cs typeface="Times New Roman" panose="02020603050405020304" charset="0"/>
              </a:rPr>
              <a:t>INPUT: NEW</a:t>
            </a:r>
            <a:r>
              <a:rPr sz="2400" spc="-3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400" dirty="0">
                <a:latin typeface="Times New Roman" panose="02020603050405020304" charset="0"/>
                <a:cs typeface="Times New Roman" panose="02020603050405020304" charset="0"/>
              </a:rPr>
              <a:t>YORK</a:t>
            </a:r>
            <a:endParaRPr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754380" marR="751840" lvl="1" indent="-285115" algn="just">
              <a:lnSpc>
                <a:spcPts val="2300"/>
              </a:lnSpc>
              <a:spcBef>
                <a:spcPts val="515"/>
              </a:spcBef>
              <a:buChar char="–"/>
              <a:tabLst>
                <a:tab pos="755015" algn="l"/>
              </a:tabLst>
            </a:pPr>
            <a:r>
              <a:rPr sz="2400" dirty="0">
                <a:latin typeface="Times New Roman" panose="02020603050405020304" charset="0"/>
                <a:cs typeface="Times New Roman" panose="02020603050405020304" charset="0"/>
              </a:rPr>
              <a:t>Only the </a:t>
            </a:r>
            <a:r>
              <a:rPr sz="2400" spc="-5" dirty="0">
                <a:latin typeface="Times New Roman" panose="02020603050405020304" charset="0"/>
                <a:cs typeface="Times New Roman" panose="02020603050405020304" charset="0"/>
              </a:rPr>
              <a:t>string “NEW” </a:t>
            </a:r>
            <a:r>
              <a:rPr sz="2400" spc="-10" dirty="0">
                <a:latin typeface="Times New Roman" panose="02020603050405020304" charset="0"/>
                <a:cs typeface="Times New Roman" panose="02020603050405020304" charset="0"/>
              </a:rPr>
              <a:t>will </a:t>
            </a:r>
            <a:r>
              <a:rPr sz="2400" spc="-5" dirty="0">
                <a:latin typeface="Times New Roman" panose="02020603050405020304" charset="0"/>
                <a:cs typeface="Times New Roman" panose="02020603050405020304" charset="0"/>
              </a:rPr>
              <a:t>be </a:t>
            </a:r>
            <a:r>
              <a:rPr sz="2400" dirty="0">
                <a:latin typeface="Times New Roman" panose="02020603050405020304" charset="0"/>
                <a:cs typeface="Times New Roman" panose="02020603050405020304" charset="0"/>
              </a:rPr>
              <a:t>read </a:t>
            </a:r>
            <a:r>
              <a:rPr sz="2400" spc="-5" dirty="0">
                <a:latin typeface="Times New Roman" panose="02020603050405020304" charset="0"/>
                <a:cs typeface="Times New Roman" panose="02020603050405020304" charset="0"/>
              </a:rPr>
              <a:t>into </a:t>
            </a:r>
            <a:r>
              <a:rPr sz="2400" dirty="0">
                <a:latin typeface="Times New Roman" panose="02020603050405020304" charset="0"/>
                <a:cs typeface="Times New Roman" panose="02020603050405020304" charset="0"/>
              </a:rPr>
              <a:t>the </a:t>
            </a:r>
            <a:r>
              <a:rPr sz="2400" spc="-5" dirty="0">
                <a:latin typeface="Times New Roman" panose="02020603050405020304" charset="0"/>
                <a:cs typeface="Times New Roman" panose="02020603050405020304" charset="0"/>
              </a:rPr>
              <a:t>array address</a:t>
            </a:r>
            <a:r>
              <a:rPr lang="en-IN" sz="2400" spc="-5" dirty="0">
                <a:latin typeface="Times New Roman" panose="02020603050405020304" charset="0"/>
                <a:cs typeface="Times New Roman" panose="02020603050405020304" charset="0"/>
              </a:rPr>
              <a:t>.</a:t>
            </a:r>
            <a:endParaRPr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754380" marR="91440" lvl="1" indent="-285115" algn="just">
              <a:lnSpc>
                <a:spcPts val="2300"/>
              </a:lnSpc>
              <a:spcBef>
                <a:spcPts val="510"/>
              </a:spcBef>
              <a:buChar char="–"/>
              <a:tabLst>
                <a:tab pos="755015" algn="l"/>
              </a:tabLst>
            </a:pPr>
            <a:r>
              <a:rPr sz="2400" dirty="0">
                <a:latin typeface="Times New Roman" panose="02020603050405020304" charset="0"/>
                <a:cs typeface="Times New Roman" panose="02020603050405020304" charset="0"/>
              </a:rPr>
              <a:t>In the </a:t>
            </a:r>
            <a:r>
              <a:rPr sz="2400" spc="-5" dirty="0">
                <a:latin typeface="Times New Roman" panose="02020603050405020304" charset="0"/>
                <a:cs typeface="Times New Roman" panose="02020603050405020304" charset="0"/>
              </a:rPr>
              <a:t>case </a:t>
            </a:r>
            <a:r>
              <a:rPr sz="2400" dirty="0">
                <a:latin typeface="Times New Roman" panose="02020603050405020304" charset="0"/>
                <a:cs typeface="Times New Roman" panose="02020603050405020304" charset="0"/>
              </a:rPr>
              <a:t>of </a:t>
            </a:r>
            <a:r>
              <a:rPr sz="2400" spc="-5" dirty="0">
                <a:latin typeface="Times New Roman" panose="02020603050405020304" charset="0"/>
                <a:cs typeface="Times New Roman" panose="02020603050405020304" charset="0"/>
              </a:rPr>
              <a:t>character </a:t>
            </a:r>
            <a:r>
              <a:rPr sz="2400" dirty="0">
                <a:latin typeface="Times New Roman" panose="02020603050405020304" charset="0"/>
                <a:cs typeface="Times New Roman" panose="02020603050405020304" charset="0"/>
              </a:rPr>
              <a:t>arrays, the </a:t>
            </a:r>
            <a:r>
              <a:rPr sz="2400" b="1" spc="-5" dirty="0">
                <a:latin typeface="Times New Roman" panose="02020603050405020304" charset="0"/>
                <a:cs typeface="Times New Roman" panose="02020603050405020304" charset="0"/>
              </a:rPr>
              <a:t>ampersand </a:t>
            </a:r>
            <a:r>
              <a:rPr sz="2400" b="1" dirty="0">
                <a:latin typeface="Times New Roman" panose="02020603050405020304" charset="0"/>
                <a:cs typeface="Times New Roman" panose="02020603050405020304" charset="0"/>
              </a:rPr>
              <a:t>(&amp;) </a:t>
            </a:r>
            <a:r>
              <a:rPr sz="2400" b="1" spc="-5" dirty="0">
                <a:latin typeface="Times New Roman" panose="02020603050405020304" charset="0"/>
                <a:cs typeface="Times New Roman" panose="02020603050405020304" charset="0"/>
              </a:rPr>
              <a:t>is  not required before </a:t>
            </a:r>
            <a:r>
              <a:rPr sz="2400" b="1" dirty="0">
                <a:latin typeface="Times New Roman" panose="02020603050405020304" charset="0"/>
                <a:cs typeface="Times New Roman" panose="02020603050405020304" charset="0"/>
              </a:rPr>
              <a:t>the </a:t>
            </a:r>
            <a:r>
              <a:rPr sz="2400" b="1" spc="-5" dirty="0">
                <a:latin typeface="Times New Roman" panose="02020603050405020304" charset="0"/>
                <a:cs typeface="Times New Roman" panose="02020603050405020304" charset="0"/>
              </a:rPr>
              <a:t>variable</a:t>
            </a:r>
            <a:r>
              <a:rPr sz="2400" b="1" spc="4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400" b="1" spc="-5" dirty="0">
                <a:latin typeface="Times New Roman" panose="02020603050405020304" charset="0"/>
                <a:cs typeface="Times New Roman" panose="02020603050405020304" charset="0"/>
              </a:rPr>
              <a:t>name</a:t>
            </a:r>
            <a:r>
              <a:rPr lang="en-IN" sz="2400" b="1" spc="-5" dirty="0">
                <a:latin typeface="Times New Roman" panose="02020603050405020304" charset="0"/>
                <a:cs typeface="Times New Roman" panose="02020603050405020304" charset="0"/>
              </a:rPr>
              <a:t>.</a:t>
            </a:r>
            <a:endParaRPr sz="24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754380" marR="5080" lvl="1" indent="-285115" algn="just">
              <a:lnSpc>
                <a:spcPts val="2300"/>
              </a:lnSpc>
              <a:spcBef>
                <a:spcPts val="505"/>
              </a:spcBef>
              <a:buChar char="–"/>
              <a:tabLst>
                <a:tab pos="755015" algn="l"/>
              </a:tabLst>
            </a:pPr>
            <a:r>
              <a:rPr sz="2400" dirty="0">
                <a:latin typeface="Times New Roman" panose="02020603050405020304" charset="0"/>
                <a:cs typeface="Times New Roman" panose="02020603050405020304" charset="0"/>
              </a:rPr>
              <a:t>The scanf </a:t>
            </a:r>
            <a:r>
              <a:rPr sz="2400" spc="-5" dirty="0">
                <a:latin typeface="Times New Roman" panose="02020603050405020304" charset="0"/>
                <a:cs typeface="Times New Roman" panose="02020603050405020304" charset="0"/>
              </a:rPr>
              <a:t>function automatically terminates </a:t>
            </a:r>
            <a:r>
              <a:rPr sz="2400" dirty="0">
                <a:latin typeface="Times New Roman" panose="02020603050405020304" charset="0"/>
                <a:cs typeface="Times New Roman" panose="02020603050405020304" charset="0"/>
              </a:rPr>
              <a:t>the </a:t>
            </a:r>
            <a:r>
              <a:rPr sz="2400" spc="-5" dirty="0">
                <a:latin typeface="Times New Roman" panose="02020603050405020304" charset="0"/>
                <a:cs typeface="Times New Roman" panose="02020603050405020304" charset="0"/>
              </a:rPr>
              <a:t>string with a null</a:t>
            </a:r>
            <a:r>
              <a:rPr sz="2400" spc="2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400" spc="-5" dirty="0">
                <a:latin typeface="Times New Roman" panose="02020603050405020304" charset="0"/>
                <a:cs typeface="Times New Roman" panose="02020603050405020304" charset="0"/>
              </a:rPr>
              <a:t>character</a:t>
            </a:r>
            <a:r>
              <a:rPr lang="en-IN" sz="2400" spc="-5" dirty="0">
                <a:latin typeface="Times New Roman" panose="02020603050405020304" charset="0"/>
                <a:cs typeface="Times New Roman" panose="02020603050405020304" charset="0"/>
              </a:rPr>
              <a:t>.</a:t>
            </a:r>
          </a:p>
        </p:txBody>
      </p:sp>
      <p:sp>
        <p:nvSpPr>
          <p:cNvPr id="5" name="object 2"/>
          <p:cNvSpPr txBox="1">
            <a:spLocks noGrp="1"/>
          </p:cNvSpPr>
          <p:nvPr/>
        </p:nvSpPr>
        <p:spPr>
          <a:xfrm>
            <a:off x="1640840" y="560070"/>
            <a:ext cx="9084310" cy="442595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312545" marR="5080" indent="-1256665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DECLARING AND</a:t>
            </a:r>
            <a:r>
              <a:rPr sz="2800" spc="-3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INITIALIZING  STRING</a:t>
            </a:r>
            <a:r>
              <a:rPr sz="28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VARAIBLES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54605" y="281940"/>
            <a:ext cx="6014085" cy="6889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lang="en-IN" spc="-10" dirty="0">
                <a:solidFill>
                  <a:schemeClr val="tx1"/>
                </a:solidFill>
              </a:rPr>
              <a:t>EXAMPLE </a:t>
            </a:r>
            <a:r>
              <a:rPr spc="-10" dirty="0">
                <a:solidFill>
                  <a:schemeClr val="tx1"/>
                </a:solidFill>
              </a:rPr>
              <a:t>PROGRAM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07060" y="1590675"/>
            <a:ext cx="6323965" cy="2861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431800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latin typeface="Arial" panose="020B0604020202020204"/>
                <a:cs typeface="Arial" panose="020B0604020202020204"/>
                <a:sym typeface="+mn-ea"/>
              </a:rPr>
              <a:t>#include</a:t>
            </a:r>
            <a:r>
              <a:rPr sz="2000" dirty="0">
                <a:latin typeface="Arial" panose="020B0604020202020204"/>
                <a:cs typeface="Arial" panose="020B0604020202020204"/>
                <a:sym typeface="+mn-ea"/>
              </a:rPr>
              <a:t>&lt;stdio.</a:t>
            </a:r>
            <a:r>
              <a:rPr lang="en-IN" sz="2000" dirty="0">
                <a:latin typeface="Arial" panose="020B0604020202020204"/>
                <a:cs typeface="Arial" panose="020B0604020202020204"/>
                <a:sym typeface="+mn-ea"/>
              </a:rPr>
              <a:t>h</a:t>
            </a:r>
            <a:r>
              <a:rPr sz="2000" dirty="0">
                <a:latin typeface="Arial" panose="020B0604020202020204"/>
                <a:cs typeface="Arial" panose="020B0604020202020204"/>
                <a:sym typeface="+mn-ea"/>
              </a:rPr>
              <a:t>&gt; </a:t>
            </a:r>
          </a:p>
          <a:p>
            <a:pPr marL="12700" marR="431800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latin typeface="Arial" panose="020B0604020202020204"/>
                <a:cs typeface="Arial" panose="020B0604020202020204"/>
                <a:sym typeface="+mn-ea"/>
              </a:rPr>
              <a:t>int main </a:t>
            </a:r>
            <a:r>
              <a:rPr sz="2000" dirty="0">
                <a:latin typeface="Arial" panose="020B0604020202020204"/>
                <a:cs typeface="Arial" panose="020B0604020202020204"/>
                <a:sym typeface="+mn-ea"/>
              </a:rPr>
              <a:t>() </a:t>
            </a:r>
          </a:p>
          <a:p>
            <a:pPr marL="12700" marR="43180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Arial" panose="020B0604020202020204"/>
                <a:cs typeface="Arial" panose="020B0604020202020204"/>
                <a:sym typeface="+mn-ea"/>
              </a:rPr>
              <a:t>{</a:t>
            </a:r>
            <a:endParaRPr sz="2000">
              <a:latin typeface="Arial" panose="020B0604020202020204"/>
              <a:cs typeface="Arial" panose="020B0604020202020204"/>
            </a:endParaRPr>
          </a:p>
          <a:p>
            <a:pPr marL="926465">
              <a:lnSpc>
                <a:spcPct val="100000"/>
              </a:lnSpc>
            </a:pPr>
            <a:r>
              <a:rPr sz="2000" spc="-5" dirty="0">
                <a:latin typeface="Arial" panose="020B0604020202020204"/>
                <a:cs typeface="Arial" panose="020B0604020202020204"/>
                <a:sym typeface="+mn-ea"/>
              </a:rPr>
              <a:t>char </a:t>
            </a:r>
            <a:r>
              <a:rPr sz="2000" dirty="0">
                <a:latin typeface="Arial" panose="020B0604020202020204"/>
                <a:cs typeface="Arial" panose="020B0604020202020204"/>
                <a:sym typeface="+mn-ea"/>
              </a:rPr>
              <a:t>greeting[6] = </a:t>
            </a:r>
            <a:r>
              <a:rPr sz="2000" spc="-5" dirty="0">
                <a:latin typeface="Arial" panose="020B0604020202020204"/>
                <a:cs typeface="Arial" panose="020B0604020202020204"/>
                <a:sym typeface="+mn-ea"/>
              </a:rPr>
              <a:t>{'H', </a:t>
            </a:r>
            <a:r>
              <a:rPr sz="2000" dirty="0">
                <a:latin typeface="Arial" panose="020B0604020202020204"/>
                <a:cs typeface="Arial" panose="020B0604020202020204"/>
                <a:sym typeface="+mn-ea"/>
              </a:rPr>
              <a:t>'e', 'l', 'l', 'o', </a:t>
            </a:r>
            <a:r>
              <a:rPr sz="2000" spc="-5" dirty="0">
                <a:latin typeface="Arial" panose="020B0604020202020204"/>
                <a:cs typeface="Arial" panose="020B0604020202020204"/>
                <a:sym typeface="+mn-ea"/>
              </a:rPr>
              <a:t>'\0’};</a:t>
            </a:r>
            <a:endParaRPr sz="2000">
              <a:latin typeface="Arial" panose="020B0604020202020204"/>
              <a:cs typeface="Arial" panose="020B0604020202020204"/>
            </a:endParaRPr>
          </a:p>
          <a:p>
            <a:pPr marL="926465">
              <a:lnSpc>
                <a:spcPct val="100000"/>
              </a:lnSpc>
            </a:pPr>
            <a:r>
              <a:rPr sz="2000" dirty="0">
                <a:latin typeface="Arial" panose="020B0604020202020204"/>
                <a:cs typeface="Arial" panose="020B0604020202020204"/>
                <a:sym typeface="+mn-ea"/>
              </a:rPr>
              <a:t>//</a:t>
            </a:r>
            <a:r>
              <a:rPr lang="en-IN" sz="2000" dirty="0">
                <a:latin typeface="Arial" panose="020B0604020202020204"/>
                <a:cs typeface="Arial" panose="020B0604020202020204"/>
                <a:sym typeface="+mn-ea"/>
              </a:rPr>
              <a:t>OR</a:t>
            </a:r>
            <a:endParaRPr sz="2000">
              <a:latin typeface="Arial" panose="020B0604020202020204"/>
              <a:cs typeface="Arial" panose="020B0604020202020204"/>
            </a:endParaRPr>
          </a:p>
          <a:p>
            <a:pPr marL="926465">
              <a:lnSpc>
                <a:spcPct val="100000"/>
              </a:lnSpc>
            </a:pPr>
            <a:r>
              <a:rPr sz="2000" dirty="0">
                <a:latin typeface="Arial" panose="020B0604020202020204"/>
                <a:cs typeface="Arial" panose="020B0604020202020204"/>
                <a:sym typeface="+mn-ea"/>
              </a:rPr>
              <a:t>// char </a:t>
            </a:r>
            <a:r>
              <a:rPr sz="2000" spc="-5" dirty="0">
                <a:latin typeface="Arial" panose="020B0604020202020204"/>
                <a:cs typeface="Arial" panose="020B0604020202020204"/>
                <a:sym typeface="+mn-ea"/>
              </a:rPr>
              <a:t>greeting[] </a:t>
            </a:r>
            <a:r>
              <a:rPr sz="2000" dirty="0">
                <a:latin typeface="Arial" panose="020B0604020202020204"/>
                <a:cs typeface="Arial" panose="020B0604020202020204"/>
                <a:sym typeface="+mn-ea"/>
              </a:rPr>
              <a:t>=</a:t>
            </a:r>
            <a:r>
              <a:rPr sz="2000" spc="-10" dirty="0">
                <a:latin typeface="Arial" panose="020B0604020202020204"/>
                <a:cs typeface="Arial" panose="020B0604020202020204"/>
                <a:sym typeface="+mn-ea"/>
              </a:rPr>
              <a:t> </a:t>
            </a:r>
            <a:r>
              <a:rPr sz="2000" spc="-5" dirty="0">
                <a:latin typeface="Arial" panose="020B0604020202020204"/>
                <a:cs typeface="Arial" panose="020B0604020202020204"/>
                <a:sym typeface="+mn-ea"/>
              </a:rPr>
              <a:t>“Hello”;</a:t>
            </a:r>
            <a:endParaRPr sz="2000">
              <a:latin typeface="Arial" panose="020B0604020202020204"/>
              <a:cs typeface="Arial" panose="020B0604020202020204"/>
            </a:endParaRPr>
          </a:p>
          <a:p>
            <a:pPr marL="926465" marR="5080">
              <a:lnSpc>
                <a:spcPct val="100000"/>
              </a:lnSpc>
            </a:pPr>
            <a:r>
              <a:rPr sz="2000" dirty="0">
                <a:latin typeface="Arial" panose="020B0604020202020204"/>
                <a:cs typeface="Arial" panose="020B0604020202020204"/>
                <a:sym typeface="+mn-ea"/>
              </a:rPr>
              <a:t>printf("Greeting </a:t>
            </a:r>
            <a:r>
              <a:rPr sz="2000" spc="-5" dirty="0">
                <a:latin typeface="Arial" panose="020B0604020202020204"/>
                <a:cs typeface="Arial" panose="020B0604020202020204"/>
                <a:sym typeface="+mn-ea"/>
              </a:rPr>
              <a:t>message: </a:t>
            </a:r>
            <a:r>
              <a:rPr sz="2000" dirty="0">
                <a:latin typeface="Arial" panose="020B0604020202020204"/>
                <a:cs typeface="Arial" panose="020B0604020202020204"/>
                <a:sym typeface="+mn-ea"/>
              </a:rPr>
              <a:t>%s\n", </a:t>
            </a:r>
            <a:r>
              <a:rPr sz="2000" spc="-5" dirty="0">
                <a:latin typeface="Arial" panose="020B0604020202020204"/>
                <a:cs typeface="Arial" panose="020B0604020202020204"/>
                <a:sym typeface="+mn-ea"/>
              </a:rPr>
              <a:t>greeting </a:t>
            </a:r>
            <a:r>
              <a:rPr sz="2000" dirty="0">
                <a:latin typeface="Arial" panose="020B0604020202020204"/>
                <a:cs typeface="Arial" panose="020B0604020202020204"/>
                <a:sym typeface="+mn-ea"/>
              </a:rPr>
              <a:t>);  return</a:t>
            </a:r>
            <a:r>
              <a:rPr sz="2000" spc="-5" dirty="0">
                <a:latin typeface="Arial" panose="020B0604020202020204"/>
                <a:cs typeface="Arial" panose="020B0604020202020204"/>
                <a:sym typeface="+mn-ea"/>
              </a:rPr>
              <a:t> </a:t>
            </a:r>
            <a:r>
              <a:rPr sz="2000" dirty="0">
                <a:latin typeface="Arial" panose="020B0604020202020204"/>
                <a:cs typeface="Arial" panose="020B0604020202020204"/>
                <a:sym typeface="+mn-ea"/>
              </a:rPr>
              <a:t>0;</a:t>
            </a:r>
            <a:endParaRPr sz="20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ts val="2810"/>
              </a:lnSpc>
            </a:pPr>
            <a:r>
              <a:rPr sz="2000" dirty="0">
                <a:latin typeface="Arial" panose="020B0604020202020204"/>
                <a:cs typeface="Arial" panose="020B0604020202020204"/>
                <a:sym typeface="+mn-ea"/>
              </a:rPr>
              <a:t>}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object 3"/>
          <p:cNvSpPr txBox="1"/>
          <p:nvPr/>
        </p:nvSpPr>
        <p:spPr>
          <a:xfrm>
            <a:off x="8244205" y="1811020"/>
            <a:ext cx="3543300" cy="9632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 sz="2000" b="1" u="sng" dirty="0">
                <a:latin typeface="Arial" panose="020B0604020202020204"/>
                <a:cs typeface="Arial" panose="020B0604020202020204"/>
              </a:rPr>
              <a:t>OUTPUT:</a:t>
            </a: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endParaRPr lang="en-IN" sz="2000" b="1" u="sng" dirty="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 sz="2000" dirty="0">
                <a:latin typeface="Arial" panose="020B0604020202020204"/>
                <a:cs typeface="Arial" panose="020B0604020202020204"/>
              </a:rPr>
              <a:t>Hello</a:t>
            </a:r>
            <a:endParaRPr lang="en-IN" sz="200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26793" y="557148"/>
            <a:ext cx="8737600" cy="6273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READING STRING FROM</a:t>
            </a:r>
            <a:r>
              <a:rPr sz="4000" spc="-5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4000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TERMINAL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40180" y="1882140"/>
            <a:ext cx="9408795" cy="198708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54380" lvl="1" indent="-285115">
              <a:lnSpc>
                <a:spcPct val="100000"/>
              </a:lnSpc>
              <a:spcBef>
                <a:spcPts val="715"/>
              </a:spcBef>
              <a:buChar char="–"/>
              <a:tabLst>
                <a:tab pos="755015" algn="l"/>
              </a:tabLst>
            </a:pPr>
            <a:r>
              <a:rPr sz="2200" spc="-5" smtClean="0">
                <a:latin typeface="Times New Roman" panose="02020603050405020304" charset="0"/>
                <a:cs typeface="Times New Roman" panose="02020603050405020304" charset="0"/>
              </a:rPr>
              <a:t>char </a:t>
            </a: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line[80];</a:t>
            </a:r>
            <a:endParaRPr sz="2200">
              <a:latin typeface="Times New Roman" panose="02020603050405020304" charset="0"/>
              <a:cs typeface="Times New Roman" panose="02020603050405020304" charset="0"/>
            </a:endParaRPr>
          </a:p>
          <a:p>
            <a:pPr marL="469900">
              <a:lnSpc>
                <a:spcPct val="100000"/>
              </a:lnSpc>
              <a:spcBef>
                <a:spcPts val="695"/>
              </a:spcBef>
            </a:pP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–</a:t>
            </a:r>
            <a:r>
              <a:rPr sz="2200" spc="23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200" spc="-5">
                <a:latin typeface="Times New Roman" panose="02020603050405020304" charset="0"/>
                <a:cs typeface="Times New Roman" panose="02020603050405020304" charset="0"/>
              </a:rPr>
              <a:t>scanf</a:t>
            </a:r>
            <a:r>
              <a:rPr sz="2200" spc="-5" smtClean="0">
                <a:latin typeface="Times New Roman" panose="02020603050405020304" charset="0"/>
                <a:cs typeface="Times New Roman" panose="02020603050405020304" charset="0"/>
              </a:rPr>
              <a:t>(“%</a:t>
            </a:r>
            <a:r>
              <a:rPr lang="en-US" sz="2200" spc="-5" dirty="0" smtClean="0">
                <a:latin typeface="Times New Roman" panose="02020603050405020304" charset="0"/>
                <a:cs typeface="Times New Roman" panose="02020603050405020304" charset="0"/>
              </a:rPr>
              <a:t>s”</a:t>
            </a:r>
            <a:r>
              <a:rPr sz="2200" spc="-5" smtClean="0">
                <a:latin typeface="Times New Roman" panose="02020603050405020304" charset="0"/>
                <a:cs typeface="Times New Roman" panose="02020603050405020304" charset="0"/>
              </a:rPr>
              <a:t>,line)</a:t>
            </a:r>
            <a:r>
              <a:rPr lang="en-US" sz="2200" spc="-5" dirty="0" smtClean="0">
                <a:latin typeface="Times New Roman" panose="02020603050405020304" charset="0"/>
                <a:cs typeface="Times New Roman" panose="02020603050405020304" charset="0"/>
              </a:rPr>
              <a:t>;</a:t>
            </a:r>
            <a:endParaRPr sz="2200">
              <a:latin typeface="Times New Roman" panose="02020603050405020304" charset="0"/>
              <a:cs typeface="Times New Roman" panose="02020603050405020304" charset="0"/>
            </a:endParaRPr>
          </a:p>
          <a:p>
            <a:pPr marL="754380" lvl="1" indent="-285115">
              <a:lnSpc>
                <a:spcPct val="100000"/>
              </a:lnSpc>
              <a:spcBef>
                <a:spcPts val="710"/>
              </a:spcBef>
              <a:buChar char="–"/>
              <a:tabLst>
                <a:tab pos="755015" algn="l"/>
              </a:tabLst>
            </a:pP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printf(“%s”,line);</a:t>
            </a:r>
            <a:endParaRPr sz="2200">
              <a:latin typeface="Times New Roman" panose="02020603050405020304" charset="0"/>
              <a:cs typeface="Times New Roman" panose="02020603050405020304" charset="0"/>
            </a:endParaRPr>
          </a:p>
          <a:p>
            <a:pPr marL="353695" marR="224790" indent="-341630">
              <a:lnSpc>
                <a:spcPct val="100000"/>
              </a:lnSpc>
              <a:spcBef>
                <a:spcPts val="790"/>
              </a:spcBef>
              <a:buChar char="•"/>
              <a:tabLst>
                <a:tab pos="353695" algn="l"/>
                <a:tab pos="354330" algn="l"/>
              </a:tabLst>
            </a:pP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Will 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read </a:t>
            </a: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a line 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of input from </a:t>
            </a: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the 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keyboard and  display </a:t>
            </a: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the same on the</a:t>
            </a:r>
            <a:r>
              <a:rPr sz="2200" spc="2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screen.</a:t>
            </a:r>
            <a:endParaRPr sz="22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27275" y="452120"/>
            <a:ext cx="8027035" cy="6889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spc="-10" dirty="0">
                <a:solidFill>
                  <a:schemeClr val="tx1"/>
                </a:solidFill>
              </a:rPr>
              <a:t>PR</a:t>
            </a:r>
            <a:r>
              <a:rPr lang="en-IN" spc="-10" dirty="0">
                <a:solidFill>
                  <a:schemeClr val="tx1"/>
                </a:solidFill>
              </a:rPr>
              <a:t>INTING STRING PROGRAM1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77925" y="1641475"/>
            <a:ext cx="4714875" cy="40411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2000" dirty="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Calibri" panose="020F0502020204030204"/>
                <a:cs typeface="Calibri" panose="020F0502020204030204"/>
                <a:sym typeface="+mn-ea"/>
              </a:rPr>
              <a:t>main( )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20" dirty="0">
                <a:latin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  <a:sym typeface="+mn-ea"/>
              </a:rPr>
              <a:t>{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926465" marR="40894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Calibri" panose="020F0502020204030204"/>
                <a:cs typeface="Calibri" panose="020F0502020204030204"/>
                <a:sym typeface="+mn-ea"/>
              </a:rPr>
              <a:t>char </a:t>
            </a:r>
            <a:r>
              <a:rPr sz="2000" spc="-5" dirty="0">
                <a:latin typeface="Calibri" panose="020F0502020204030204"/>
                <a:cs typeface="Calibri" panose="020F0502020204030204"/>
                <a:sym typeface="+mn-ea"/>
              </a:rPr>
              <a:t>name[ </a:t>
            </a:r>
            <a:r>
              <a:rPr sz="2000" dirty="0">
                <a:latin typeface="Calibri" panose="020F0502020204030204"/>
                <a:cs typeface="Calibri" panose="020F0502020204030204"/>
                <a:sym typeface="+mn-ea"/>
              </a:rPr>
              <a:t>] = "</a:t>
            </a:r>
            <a:r>
              <a:rPr lang="en-IN" sz="2000" dirty="0">
                <a:latin typeface="Calibri" panose="020F0502020204030204"/>
                <a:cs typeface="Calibri" panose="020F0502020204030204"/>
                <a:sym typeface="+mn-ea"/>
              </a:rPr>
              <a:t>Babbage</a:t>
            </a:r>
            <a:r>
              <a:rPr sz="2000" dirty="0">
                <a:latin typeface="Calibri" panose="020F0502020204030204"/>
                <a:cs typeface="Calibri" panose="020F0502020204030204"/>
                <a:sym typeface="+mn-ea"/>
              </a:rPr>
              <a:t>"</a:t>
            </a:r>
            <a:r>
              <a:rPr sz="2000" spc="-135" dirty="0">
                <a:latin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  <a:sym typeface="+mn-ea"/>
              </a:rPr>
              <a:t>;  </a:t>
            </a:r>
          </a:p>
          <a:p>
            <a:pPr marL="926465" marR="408940">
              <a:lnSpc>
                <a:spcPct val="100000"/>
              </a:lnSpc>
              <a:spcBef>
                <a:spcPts val="5"/>
              </a:spcBef>
            </a:pPr>
            <a:r>
              <a:rPr sz="2000" spc="-10" dirty="0">
                <a:latin typeface="Calibri" panose="020F0502020204030204"/>
                <a:cs typeface="Calibri" panose="020F0502020204030204"/>
                <a:sym typeface="+mn-ea"/>
              </a:rPr>
              <a:t>int </a:t>
            </a:r>
            <a:r>
              <a:rPr sz="2000" dirty="0">
                <a:latin typeface="Calibri" panose="020F0502020204030204"/>
                <a:cs typeface="Calibri" panose="020F0502020204030204"/>
                <a:sym typeface="+mn-ea"/>
              </a:rPr>
              <a:t>i = 0</a:t>
            </a:r>
            <a:r>
              <a:rPr sz="2000" spc="-10" dirty="0">
                <a:latin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  <a:sym typeface="+mn-ea"/>
              </a:rPr>
              <a:t>;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926465">
              <a:lnSpc>
                <a:spcPct val="100000"/>
              </a:lnSpc>
            </a:pPr>
            <a:r>
              <a:rPr sz="2000" dirty="0">
                <a:latin typeface="Calibri" panose="020F0502020204030204"/>
                <a:cs typeface="Calibri" panose="020F0502020204030204"/>
                <a:sym typeface="+mn-ea"/>
              </a:rPr>
              <a:t>while ( i </a:t>
            </a:r>
            <a:r>
              <a:rPr sz="2000" spc="-5" dirty="0">
                <a:latin typeface="Calibri" panose="020F0502020204030204"/>
                <a:cs typeface="Calibri" panose="020F0502020204030204"/>
                <a:sym typeface="+mn-ea"/>
              </a:rPr>
              <a:t>&lt;= </a:t>
            </a:r>
            <a:r>
              <a:rPr lang="en-IN" sz="2000" spc="-5" dirty="0">
                <a:latin typeface="Calibri" panose="020F0502020204030204"/>
                <a:cs typeface="Calibri" panose="020F0502020204030204"/>
                <a:sym typeface="+mn-ea"/>
              </a:rPr>
              <a:t>6</a:t>
            </a:r>
            <a:r>
              <a:rPr sz="2000" dirty="0">
                <a:latin typeface="Calibri" panose="020F0502020204030204"/>
                <a:cs typeface="Calibri" panose="020F0502020204030204"/>
                <a:sym typeface="+mn-ea"/>
              </a:rPr>
              <a:t> )</a:t>
            </a:r>
            <a:r>
              <a:rPr sz="2000" spc="-25" dirty="0">
                <a:latin typeface="Calibri" panose="020F0502020204030204"/>
                <a:cs typeface="Calibri" panose="020F0502020204030204"/>
                <a:sym typeface="+mn-ea"/>
              </a:rPr>
              <a:t> </a:t>
            </a:r>
          </a:p>
          <a:p>
            <a:pPr marL="926465">
              <a:lnSpc>
                <a:spcPct val="100000"/>
              </a:lnSpc>
            </a:pPr>
            <a:r>
              <a:rPr sz="2000" dirty="0">
                <a:latin typeface="Calibri" panose="020F0502020204030204"/>
                <a:cs typeface="Calibri" panose="020F0502020204030204"/>
                <a:sym typeface="+mn-ea"/>
              </a:rPr>
              <a:t>{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1841500" marR="5080">
              <a:lnSpc>
                <a:spcPct val="100000"/>
              </a:lnSpc>
            </a:pPr>
            <a:r>
              <a:rPr sz="2000" b="1" spc="-10" dirty="0">
                <a:latin typeface="Calibri" panose="020F0502020204030204"/>
                <a:cs typeface="Calibri" panose="020F0502020204030204"/>
                <a:sym typeface="+mn-ea"/>
              </a:rPr>
              <a:t>printf </a:t>
            </a:r>
            <a:r>
              <a:rPr sz="2000" b="1" dirty="0">
                <a:latin typeface="Calibri" panose="020F0502020204030204"/>
                <a:cs typeface="Calibri" panose="020F0502020204030204"/>
                <a:sym typeface="+mn-ea"/>
              </a:rPr>
              <a:t>( </a:t>
            </a:r>
            <a:r>
              <a:rPr sz="2000" b="1" spc="-5" dirty="0">
                <a:latin typeface="Calibri" panose="020F0502020204030204"/>
                <a:cs typeface="Calibri" panose="020F0502020204030204"/>
                <a:sym typeface="+mn-ea"/>
              </a:rPr>
              <a:t>"%c", name[i] </a:t>
            </a:r>
            <a:r>
              <a:rPr sz="2000" b="1" dirty="0">
                <a:latin typeface="Calibri" panose="020F0502020204030204"/>
                <a:cs typeface="Calibri" panose="020F0502020204030204"/>
                <a:sym typeface="+mn-ea"/>
              </a:rPr>
              <a:t>)</a:t>
            </a:r>
            <a:r>
              <a:rPr sz="2000" b="1" spc="-55" dirty="0">
                <a:latin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000" b="1">
                <a:latin typeface="Calibri" panose="020F0502020204030204"/>
                <a:cs typeface="Calibri" panose="020F0502020204030204"/>
                <a:sym typeface="+mn-ea"/>
              </a:rPr>
              <a:t>;  </a:t>
            </a:r>
            <a:endParaRPr lang="en-US" sz="2000" b="1" dirty="0" smtClean="0">
              <a:latin typeface="Calibri" panose="020F0502020204030204"/>
              <a:cs typeface="Calibri" panose="020F0502020204030204"/>
              <a:sym typeface="+mn-ea"/>
            </a:endParaRPr>
          </a:p>
          <a:p>
            <a:pPr marL="1841500" marR="5080">
              <a:lnSpc>
                <a:spcPct val="100000"/>
              </a:lnSpc>
            </a:pPr>
            <a:r>
              <a:rPr sz="2000" spc="5" smtClean="0">
                <a:latin typeface="Calibri" panose="020F0502020204030204"/>
                <a:cs typeface="Calibri" panose="020F0502020204030204"/>
                <a:sym typeface="+mn-ea"/>
              </a:rPr>
              <a:t>i</a:t>
            </a:r>
            <a:r>
              <a:rPr sz="2000" spc="5" dirty="0">
                <a:latin typeface="Calibri" panose="020F0502020204030204"/>
                <a:cs typeface="Calibri" panose="020F0502020204030204"/>
                <a:sym typeface="+mn-ea"/>
              </a:rPr>
              <a:t>++ </a:t>
            </a:r>
            <a:r>
              <a:rPr sz="2000" dirty="0">
                <a:latin typeface="Calibri" panose="020F0502020204030204"/>
                <a:cs typeface="Calibri" panose="020F0502020204030204"/>
                <a:sym typeface="+mn-ea"/>
              </a:rPr>
              <a:t>;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926465">
              <a:lnSpc>
                <a:spcPct val="100000"/>
              </a:lnSpc>
            </a:pPr>
            <a:r>
              <a:rPr sz="2000" dirty="0">
                <a:latin typeface="Calibri" panose="020F0502020204030204"/>
                <a:cs typeface="Calibri" panose="020F0502020204030204"/>
                <a:sym typeface="+mn-ea"/>
              </a:rPr>
              <a:t>}</a:t>
            </a:r>
          </a:p>
          <a:p>
            <a:pPr marL="926465">
              <a:lnSpc>
                <a:spcPct val="100000"/>
              </a:lnSpc>
            </a:pPr>
            <a:r>
              <a:rPr lang="en-IN" sz="2000" dirty="0">
                <a:latin typeface="Calibri" panose="020F0502020204030204"/>
                <a:cs typeface="Calibri" panose="020F0502020204030204"/>
                <a:sym typeface="+mn-ea"/>
              </a:rPr>
              <a:t>printf(“Using puts:”);</a:t>
            </a:r>
          </a:p>
          <a:p>
            <a:pPr marL="926465">
              <a:lnSpc>
                <a:spcPct val="100000"/>
              </a:lnSpc>
            </a:pPr>
            <a:r>
              <a:rPr lang="en-IN" sz="2000" b="1" dirty="0">
                <a:latin typeface="Calibri" panose="020F0502020204030204"/>
                <a:cs typeface="Calibri" panose="020F0502020204030204"/>
                <a:sym typeface="+mn-ea"/>
              </a:rPr>
              <a:t>puts(name);</a:t>
            </a:r>
            <a:endParaRPr sz="2000" b="1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alibri" panose="020F0502020204030204"/>
                <a:cs typeface="Calibri" panose="020F0502020204030204"/>
                <a:sym typeface="+mn-ea"/>
              </a:rPr>
              <a:t>}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object 3"/>
          <p:cNvSpPr txBox="1"/>
          <p:nvPr/>
        </p:nvSpPr>
        <p:spPr>
          <a:xfrm>
            <a:off x="6871335" y="2001520"/>
            <a:ext cx="3543300" cy="16059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 sz="2000" b="1" u="sng" dirty="0">
                <a:latin typeface="Arial" panose="020B0604020202020204"/>
                <a:cs typeface="Arial" panose="020B0604020202020204"/>
              </a:rPr>
              <a:t>OUTPUT:</a:t>
            </a: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endParaRPr lang="en-IN" sz="2000" b="1" u="sng" dirty="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 sz="2000" dirty="0">
                <a:latin typeface="Arial" panose="020B0604020202020204"/>
                <a:cs typeface="Arial" panose="020B0604020202020204"/>
              </a:rPr>
              <a:t>Babbage</a:t>
            </a: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 sz="2000" dirty="0">
                <a:latin typeface="Calibri" panose="020F0502020204030204"/>
                <a:cs typeface="Calibri" panose="020F0502020204030204"/>
                <a:sym typeface="+mn-ea"/>
              </a:rPr>
              <a:t>Using puts:</a:t>
            </a:r>
            <a:r>
              <a:rPr lang="en-IN" sz="2000" dirty="0">
                <a:latin typeface="Arial" panose="020B0604020202020204"/>
                <a:cs typeface="Arial" panose="020B0604020202020204"/>
                <a:sym typeface="+mn-ea"/>
              </a:rPr>
              <a:t>Babbage</a:t>
            </a:r>
            <a:endParaRPr lang="en-IN" sz="2000" dirty="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endParaRPr lang="en-IN" sz="200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88260" y="412115"/>
            <a:ext cx="7376160" cy="136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spc="-10" dirty="0">
                <a:solidFill>
                  <a:schemeClr val="tx1"/>
                </a:solidFill>
              </a:rPr>
              <a:t>PR</a:t>
            </a:r>
            <a:r>
              <a:rPr lang="en-IN" spc="-10" dirty="0">
                <a:solidFill>
                  <a:schemeClr val="tx1"/>
                </a:solidFill>
              </a:rPr>
              <a:t>INTING </a:t>
            </a:r>
            <a:r>
              <a:rPr lang="en-IN" spc="-10" dirty="0" smtClean="0">
                <a:solidFill>
                  <a:schemeClr val="tx1"/>
                </a:solidFill>
              </a:rPr>
              <a:t> STRING </a:t>
            </a:r>
            <a:r>
              <a:rPr lang="en-IN" spc="-10" dirty="0">
                <a:solidFill>
                  <a:schemeClr val="tx1"/>
                </a:solidFill>
              </a:rPr>
              <a:t>PROGRAM2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77925" y="1641475"/>
            <a:ext cx="4714875" cy="3105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Calibri" panose="020F0502020204030204"/>
                <a:cs typeface="Calibri" panose="020F0502020204030204"/>
                <a:sym typeface="+mn-ea"/>
              </a:rPr>
              <a:t>main( )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20" dirty="0">
                <a:latin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  <a:sym typeface="+mn-ea"/>
              </a:rPr>
              <a:t>{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926465" marR="40894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Calibri" panose="020F0502020204030204"/>
                <a:cs typeface="Calibri" panose="020F0502020204030204"/>
                <a:sym typeface="+mn-ea"/>
              </a:rPr>
              <a:t>char </a:t>
            </a:r>
            <a:r>
              <a:rPr sz="2000" spc="-5" dirty="0">
                <a:latin typeface="Calibri" panose="020F0502020204030204"/>
                <a:cs typeface="Calibri" panose="020F0502020204030204"/>
                <a:sym typeface="+mn-ea"/>
              </a:rPr>
              <a:t>name[ </a:t>
            </a:r>
            <a:r>
              <a:rPr sz="2000" dirty="0">
                <a:latin typeface="Calibri" panose="020F0502020204030204"/>
                <a:cs typeface="Calibri" panose="020F0502020204030204"/>
                <a:sym typeface="+mn-ea"/>
              </a:rPr>
              <a:t>] = "</a:t>
            </a:r>
            <a:r>
              <a:rPr lang="en-IN" sz="2000" dirty="0">
                <a:latin typeface="Calibri" panose="020F0502020204030204"/>
                <a:cs typeface="Calibri" panose="020F0502020204030204"/>
                <a:sym typeface="+mn-ea"/>
              </a:rPr>
              <a:t>Babbage</a:t>
            </a:r>
            <a:r>
              <a:rPr sz="2000" dirty="0">
                <a:latin typeface="Calibri" panose="020F0502020204030204"/>
                <a:cs typeface="Calibri" panose="020F0502020204030204"/>
                <a:sym typeface="+mn-ea"/>
              </a:rPr>
              <a:t>"</a:t>
            </a:r>
            <a:r>
              <a:rPr sz="2000" spc="-135" dirty="0">
                <a:latin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  <a:sym typeface="+mn-ea"/>
              </a:rPr>
              <a:t>; </a:t>
            </a:r>
          </a:p>
          <a:p>
            <a:pPr marL="926465" marR="408940">
              <a:lnSpc>
                <a:spcPct val="100000"/>
              </a:lnSpc>
              <a:spcBef>
                <a:spcPts val="5"/>
              </a:spcBef>
            </a:pPr>
            <a:r>
              <a:rPr sz="2000" spc="-10" dirty="0">
                <a:latin typeface="Calibri" panose="020F0502020204030204"/>
                <a:cs typeface="Calibri" panose="020F0502020204030204"/>
                <a:sym typeface="+mn-ea"/>
              </a:rPr>
              <a:t>int </a:t>
            </a:r>
            <a:r>
              <a:rPr sz="2000" dirty="0">
                <a:latin typeface="Calibri" panose="020F0502020204030204"/>
                <a:cs typeface="Calibri" panose="020F0502020204030204"/>
                <a:sym typeface="+mn-ea"/>
              </a:rPr>
              <a:t>i = 0</a:t>
            </a:r>
            <a:r>
              <a:rPr sz="2000" spc="-10" dirty="0">
                <a:latin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  <a:sym typeface="+mn-ea"/>
              </a:rPr>
              <a:t>;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926465">
              <a:lnSpc>
                <a:spcPct val="100000"/>
              </a:lnSpc>
            </a:pPr>
            <a:r>
              <a:rPr sz="2000" dirty="0">
                <a:latin typeface="Calibri" panose="020F0502020204030204"/>
                <a:cs typeface="Calibri" panose="020F0502020204030204"/>
                <a:sym typeface="+mn-ea"/>
              </a:rPr>
              <a:t>while ( </a:t>
            </a:r>
            <a:r>
              <a:rPr sz="2000" spc="-5" dirty="0">
                <a:latin typeface="Calibri" panose="020F0502020204030204"/>
                <a:cs typeface="Calibri" panose="020F0502020204030204"/>
                <a:sym typeface="+mn-ea"/>
              </a:rPr>
              <a:t>name[i]!=‘\0’ </a:t>
            </a:r>
            <a:r>
              <a:rPr sz="2000" dirty="0">
                <a:latin typeface="Calibri" panose="020F0502020204030204"/>
                <a:cs typeface="Calibri" panose="020F0502020204030204"/>
                <a:sym typeface="+mn-ea"/>
              </a:rPr>
              <a:t>)</a:t>
            </a:r>
            <a:r>
              <a:rPr sz="2000" spc="-50" dirty="0">
                <a:latin typeface="Calibri" panose="020F0502020204030204"/>
                <a:cs typeface="Calibri" panose="020F0502020204030204"/>
                <a:sym typeface="+mn-ea"/>
              </a:rPr>
              <a:t> </a:t>
            </a:r>
          </a:p>
          <a:p>
            <a:pPr marL="926465">
              <a:lnSpc>
                <a:spcPct val="100000"/>
              </a:lnSpc>
            </a:pPr>
            <a:r>
              <a:rPr sz="2000" dirty="0">
                <a:latin typeface="Calibri" panose="020F0502020204030204"/>
                <a:cs typeface="Calibri" panose="020F0502020204030204"/>
                <a:sym typeface="+mn-ea"/>
              </a:rPr>
              <a:t>{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1841500" marR="5080">
              <a:lnSpc>
                <a:spcPct val="100000"/>
              </a:lnSpc>
            </a:pPr>
            <a:r>
              <a:rPr sz="2000" spc="-10" dirty="0">
                <a:latin typeface="Calibri" panose="020F0502020204030204"/>
                <a:cs typeface="Calibri" panose="020F0502020204030204"/>
                <a:sym typeface="+mn-ea"/>
              </a:rPr>
              <a:t>printf </a:t>
            </a:r>
            <a:r>
              <a:rPr sz="2000" dirty="0">
                <a:latin typeface="Calibri" panose="020F0502020204030204"/>
                <a:cs typeface="Calibri" panose="020F0502020204030204"/>
                <a:sym typeface="+mn-ea"/>
              </a:rPr>
              <a:t>( </a:t>
            </a:r>
            <a:r>
              <a:rPr sz="2000" spc="-5" dirty="0">
                <a:latin typeface="Calibri" panose="020F0502020204030204"/>
                <a:cs typeface="Calibri" panose="020F0502020204030204"/>
                <a:sym typeface="+mn-ea"/>
              </a:rPr>
              <a:t>"%c", name[i] </a:t>
            </a:r>
            <a:r>
              <a:rPr sz="2000" dirty="0">
                <a:latin typeface="Calibri" panose="020F0502020204030204"/>
                <a:cs typeface="Calibri" panose="020F0502020204030204"/>
                <a:sym typeface="+mn-ea"/>
              </a:rPr>
              <a:t>)</a:t>
            </a:r>
            <a:r>
              <a:rPr sz="2000" spc="-55" dirty="0">
                <a:latin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000">
                <a:latin typeface="Calibri" panose="020F0502020204030204"/>
                <a:cs typeface="Calibri" panose="020F0502020204030204"/>
                <a:sym typeface="+mn-ea"/>
              </a:rPr>
              <a:t>; </a:t>
            </a:r>
            <a:endParaRPr lang="en-US" sz="2000" dirty="0" smtClean="0">
              <a:latin typeface="Calibri" panose="020F0502020204030204"/>
              <a:cs typeface="Calibri" panose="020F0502020204030204"/>
              <a:sym typeface="+mn-ea"/>
            </a:endParaRPr>
          </a:p>
          <a:p>
            <a:pPr marL="1841500" marR="5080">
              <a:lnSpc>
                <a:spcPct val="100000"/>
              </a:lnSpc>
            </a:pPr>
            <a:r>
              <a:rPr sz="2000" smtClean="0">
                <a:latin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000" spc="5" dirty="0">
                <a:latin typeface="Calibri" panose="020F0502020204030204"/>
                <a:cs typeface="Calibri" panose="020F0502020204030204"/>
                <a:sym typeface="+mn-ea"/>
              </a:rPr>
              <a:t>i++ </a:t>
            </a:r>
            <a:r>
              <a:rPr sz="2000" dirty="0">
                <a:latin typeface="Calibri" panose="020F0502020204030204"/>
                <a:cs typeface="Calibri" panose="020F0502020204030204"/>
                <a:sym typeface="+mn-ea"/>
              </a:rPr>
              <a:t>;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926465">
              <a:lnSpc>
                <a:spcPct val="100000"/>
              </a:lnSpc>
            </a:pPr>
            <a:r>
              <a:rPr sz="2000" dirty="0">
                <a:latin typeface="Calibri" panose="020F0502020204030204"/>
                <a:cs typeface="Calibri" panose="020F0502020204030204"/>
                <a:sym typeface="+mn-ea"/>
              </a:rPr>
              <a:t>}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alibri" panose="020F0502020204030204"/>
                <a:cs typeface="Calibri" panose="020F0502020204030204"/>
                <a:sym typeface="+mn-ea"/>
              </a:rPr>
              <a:t>}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object 3"/>
          <p:cNvSpPr txBox="1"/>
          <p:nvPr/>
        </p:nvSpPr>
        <p:spPr>
          <a:xfrm>
            <a:off x="6871335" y="2001520"/>
            <a:ext cx="3543300" cy="9632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 sz="2000" b="1" u="sng" dirty="0">
                <a:latin typeface="Arial" panose="020B0604020202020204"/>
                <a:cs typeface="Arial" panose="020B0604020202020204"/>
              </a:rPr>
              <a:t>OUTPUT:</a:t>
            </a: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endParaRPr lang="en-IN" sz="2000" b="1" u="sng" dirty="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 sz="2000" dirty="0">
                <a:latin typeface="Arial" panose="020B0604020202020204"/>
                <a:cs typeface="Arial" panose="020B0604020202020204"/>
              </a:rPr>
              <a:t>Babbage</a:t>
            </a:r>
            <a:endParaRPr lang="en-IN" sz="200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54605" y="281940"/>
            <a:ext cx="6014085" cy="6889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lang="en-IN" spc="-10" dirty="0">
                <a:solidFill>
                  <a:schemeClr val="tx1"/>
                </a:solidFill>
              </a:rPr>
              <a:t>EXAMPLE </a:t>
            </a:r>
            <a:r>
              <a:rPr spc="-10" dirty="0">
                <a:solidFill>
                  <a:schemeClr val="tx1"/>
                </a:solidFill>
              </a:rPr>
              <a:t>PROGRAM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18260" y="1200150"/>
            <a:ext cx="3543300" cy="52870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Arial" panose="020B0604020202020204"/>
                <a:cs typeface="Arial" panose="020B0604020202020204"/>
              </a:rPr>
              <a:t>#include</a:t>
            </a:r>
            <a:r>
              <a:rPr sz="2000" spc="-20" dirty="0"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latin typeface="Arial" panose="020B0604020202020204"/>
                <a:cs typeface="Arial" panose="020B0604020202020204"/>
              </a:rPr>
              <a:t>&lt;stdio.h&gt;</a:t>
            </a:r>
            <a:endParaRPr sz="20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2000" dirty="0">
                <a:latin typeface="Arial" panose="020B0604020202020204"/>
                <a:cs typeface="Arial" panose="020B0604020202020204"/>
              </a:rPr>
              <a:t>main()</a:t>
            </a:r>
            <a:endParaRPr sz="20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2000" dirty="0">
                <a:latin typeface="Arial" panose="020B0604020202020204"/>
                <a:cs typeface="Arial" panose="020B0604020202020204"/>
              </a:rPr>
              <a:t>{</a:t>
            </a:r>
            <a:endParaRPr sz="2000">
              <a:latin typeface="Arial" panose="020B0604020202020204"/>
              <a:cs typeface="Arial" panose="020B0604020202020204"/>
            </a:endParaRPr>
          </a:p>
          <a:p>
            <a:pPr marL="355600" marR="213995">
              <a:lnSpc>
                <a:spcPct val="101000"/>
              </a:lnSpc>
            </a:pPr>
            <a:r>
              <a:rPr sz="2000" dirty="0">
                <a:latin typeface="Arial" panose="020B0604020202020204"/>
                <a:cs typeface="Arial" panose="020B0604020202020204"/>
              </a:rPr>
              <a:t>char line[100]</a:t>
            </a:r>
            <a:r>
              <a:rPr sz="2000" spc="-5" dirty="0">
                <a:latin typeface="Arial" panose="020B0604020202020204"/>
                <a:cs typeface="Arial" panose="020B0604020202020204"/>
              </a:rPr>
              <a:t>;</a:t>
            </a:r>
          </a:p>
          <a:p>
            <a:pPr marL="355600" marR="213995">
              <a:lnSpc>
                <a:spcPct val="101000"/>
              </a:lnSpc>
            </a:pPr>
            <a:r>
              <a:rPr sz="2000" dirty="0">
                <a:latin typeface="Arial" panose="020B0604020202020204"/>
                <a:cs typeface="Arial" panose="020B0604020202020204"/>
              </a:rPr>
              <a:t>int</a:t>
            </a:r>
            <a:r>
              <a:rPr sz="2000" spc="-15" dirty="0">
                <a:latin typeface="Arial" panose="020B0604020202020204"/>
                <a:cs typeface="Arial" panose="020B0604020202020204"/>
              </a:rPr>
              <a:t> </a:t>
            </a:r>
            <a:r>
              <a:rPr lang="en-IN" sz="2000" dirty="0">
                <a:latin typeface="Arial" panose="020B0604020202020204"/>
                <a:cs typeface="Arial" panose="020B0604020202020204"/>
              </a:rPr>
              <a:t>i=0</a:t>
            </a:r>
            <a:r>
              <a:rPr sz="2000" dirty="0">
                <a:latin typeface="Arial" panose="020B0604020202020204"/>
                <a:cs typeface="Arial" panose="020B0604020202020204"/>
              </a:rPr>
              <a:t>;</a:t>
            </a:r>
            <a:endParaRPr sz="2000">
              <a:latin typeface="Arial" panose="020B0604020202020204"/>
              <a:cs typeface="Arial" panose="020B0604020202020204"/>
            </a:endParaRPr>
          </a:p>
          <a:p>
            <a:pPr marL="355600">
              <a:lnSpc>
                <a:spcPct val="100000"/>
              </a:lnSpc>
              <a:spcBef>
                <a:spcPts val="10"/>
              </a:spcBef>
            </a:pPr>
            <a:endParaRPr sz="2000">
              <a:latin typeface="Arial" panose="020B0604020202020204"/>
              <a:cs typeface="Arial" panose="020B0604020202020204"/>
            </a:endParaRPr>
          </a:p>
          <a:p>
            <a:pPr marL="355600" marR="572135">
              <a:lnSpc>
                <a:spcPct val="101000"/>
              </a:lnSpc>
            </a:pPr>
            <a:r>
              <a:rPr sz="2000" dirty="0">
                <a:latin typeface="Arial" panose="020B0604020202020204"/>
                <a:cs typeface="Arial" panose="020B0604020202020204"/>
              </a:rPr>
              <a:t>printf("Enter</a:t>
            </a:r>
            <a:r>
              <a:rPr sz="2000" spc="-90" dirty="0">
                <a:latin typeface="Arial" panose="020B0604020202020204"/>
                <a:cs typeface="Arial" panose="020B0604020202020204"/>
              </a:rPr>
              <a:t> </a:t>
            </a:r>
            <a:r>
              <a:rPr sz="2000" spc="-5" dirty="0">
                <a:latin typeface="Arial" panose="020B0604020202020204"/>
                <a:cs typeface="Arial" panose="020B0604020202020204"/>
              </a:rPr>
              <a:t>Text:\n");  </a:t>
            </a:r>
          </a:p>
          <a:p>
            <a:pPr marL="355600" marR="572135">
              <a:lnSpc>
                <a:spcPct val="101000"/>
              </a:lnSpc>
            </a:pPr>
            <a:endParaRPr sz="2000" dirty="0">
              <a:latin typeface="Arial" panose="020B0604020202020204"/>
              <a:cs typeface="Arial" panose="020B0604020202020204"/>
            </a:endParaRPr>
          </a:p>
          <a:p>
            <a:pPr marL="355600" marR="572135">
              <a:lnSpc>
                <a:spcPct val="101000"/>
              </a:lnSpc>
            </a:pPr>
            <a:r>
              <a:rPr sz="2000" dirty="0">
                <a:latin typeface="Arial" panose="020B0604020202020204"/>
                <a:cs typeface="Arial" panose="020B0604020202020204"/>
              </a:rPr>
              <a:t>do</a:t>
            </a:r>
            <a:endParaRPr sz="2000">
              <a:latin typeface="Arial" panose="020B0604020202020204"/>
              <a:cs typeface="Arial" panose="020B0604020202020204"/>
            </a:endParaRPr>
          </a:p>
          <a:p>
            <a:pPr marL="495300">
              <a:lnSpc>
                <a:spcPct val="100000"/>
              </a:lnSpc>
              <a:spcBef>
                <a:spcPts val="15"/>
              </a:spcBef>
            </a:pPr>
            <a:r>
              <a:rPr sz="2000" dirty="0">
                <a:latin typeface="Arial" panose="020B0604020202020204"/>
                <a:cs typeface="Arial" panose="020B0604020202020204"/>
              </a:rPr>
              <a:t>{</a:t>
            </a:r>
            <a:endParaRPr sz="2000">
              <a:latin typeface="Arial" panose="020B0604020202020204"/>
              <a:cs typeface="Arial" panose="020B0604020202020204"/>
            </a:endParaRPr>
          </a:p>
          <a:p>
            <a:pPr marL="925195" marR="5080">
              <a:lnSpc>
                <a:spcPct val="101000"/>
              </a:lnSpc>
              <a:spcBef>
                <a:spcPts val="5"/>
              </a:spcBef>
            </a:pPr>
            <a:r>
              <a:rPr sz="2000" dirty="0">
                <a:latin typeface="Arial" panose="020B0604020202020204"/>
                <a:cs typeface="Arial" panose="020B0604020202020204"/>
                <a:sym typeface="+mn-ea"/>
              </a:rPr>
              <a:t>line[</a:t>
            </a:r>
            <a:r>
              <a:rPr lang="en-IN" sz="2000" dirty="0">
                <a:latin typeface="Arial" panose="020B0604020202020204"/>
                <a:cs typeface="Arial" panose="020B0604020202020204"/>
                <a:sym typeface="+mn-ea"/>
              </a:rPr>
              <a:t>i</a:t>
            </a:r>
            <a:r>
              <a:rPr sz="2000" dirty="0">
                <a:latin typeface="Arial" panose="020B0604020202020204"/>
                <a:cs typeface="Arial" panose="020B0604020202020204"/>
                <a:sym typeface="+mn-ea"/>
              </a:rPr>
              <a:t>]</a:t>
            </a:r>
            <a:r>
              <a:rPr lang="en-IN" sz="2000" dirty="0">
                <a:latin typeface="Arial" panose="020B0604020202020204"/>
                <a:cs typeface="Arial" panose="020B0604020202020204"/>
                <a:sym typeface="+mn-ea"/>
              </a:rPr>
              <a:t>=</a:t>
            </a:r>
            <a:r>
              <a:rPr sz="2000" dirty="0">
                <a:latin typeface="Arial" panose="020B0604020202020204"/>
                <a:cs typeface="Arial" panose="020B0604020202020204"/>
              </a:rPr>
              <a:t>getchar();     </a:t>
            </a:r>
          </a:p>
          <a:p>
            <a:pPr marL="925195" marR="5080">
              <a:lnSpc>
                <a:spcPct val="101000"/>
              </a:lnSpc>
              <a:spcBef>
                <a:spcPts val="5"/>
              </a:spcBef>
            </a:pPr>
            <a:r>
              <a:rPr lang="en-IN" sz="2000" dirty="0">
                <a:latin typeface="Arial" panose="020B0604020202020204"/>
                <a:cs typeface="Arial" panose="020B0604020202020204"/>
              </a:rPr>
              <a:t>i</a:t>
            </a:r>
            <a:r>
              <a:rPr sz="2000" spc="5" dirty="0">
                <a:latin typeface="Arial" panose="020B0604020202020204"/>
                <a:cs typeface="Arial" panose="020B0604020202020204"/>
              </a:rPr>
              <a:t>++;</a:t>
            </a:r>
            <a:endParaRPr sz="2000">
              <a:latin typeface="Arial" panose="020B0604020202020204"/>
              <a:cs typeface="Arial" panose="020B0604020202020204"/>
            </a:endParaRPr>
          </a:p>
          <a:p>
            <a:pPr marL="425450" marR="169545" indent="69850">
              <a:lnSpc>
                <a:spcPct val="101000"/>
              </a:lnSpc>
            </a:pPr>
            <a:r>
              <a:rPr sz="2000" dirty="0">
                <a:latin typeface="Arial" panose="020B0604020202020204"/>
                <a:cs typeface="Arial" panose="020B0604020202020204"/>
              </a:rPr>
              <a:t>} while(</a:t>
            </a:r>
            <a:r>
              <a:rPr lang="en-IN" sz="2000" dirty="0">
                <a:latin typeface="Arial" panose="020B0604020202020204"/>
                <a:cs typeface="Arial" panose="020B0604020202020204"/>
              </a:rPr>
              <a:t>line[i-1]</a:t>
            </a:r>
            <a:r>
              <a:rPr sz="2000" dirty="0">
                <a:latin typeface="Arial" panose="020B0604020202020204"/>
                <a:cs typeface="Arial" panose="020B0604020202020204"/>
              </a:rPr>
              <a:t> !=</a:t>
            </a:r>
            <a:r>
              <a:rPr sz="2000" spc="-150" dirty="0"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latin typeface="Arial" panose="020B0604020202020204"/>
                <a:cs typeface="Arial" panose="020B0604020202020204"/>
              </a:rPr>
              <a:t>'\n');  </a:t>
            </a:r>
          </a:p>
          <a:p>
            <a:pPr marL="425450" marR="169545" indent="69850">
              <a:lnSpc>
                <a:spcPct val="101000"/>
              </a:lnSpc>
            </a:pPr>
            <a:endParaRPr sz="2000" dirty="0">
              <a:latin typeface="Arial" panose="020B0604020202020204"/>
              <a:cs typeface="Arial" panose="020B0604020202020204"/>
            </a:endParaRPr>
          </a:p>
          <a:p>
            <a:pPr marL="425450" marR="169545" indent="69850">
              <a:lnSpc>
                <a:spcPct val="101000"/>
              </a:lnSpc>
            </a:pPr>
            <a:r>
              <a:rPr sz="2000" dirty="0">
                <a:latin typeface="Arial" panose="020B0604020202020204"/>
                <a:cs typeface="Arial" panose="020B0604020202020204"/>
              </a:rPr>
              <a:t>line[</a:t>
            </a:r>
            <a:r>
              <a:rPr lang="en-IN" sz="2000" dirty="0">
                <a:latin typeface="Arial" panose="020B0604020202020204"/>
                <a:cs typeface="Arial" panose="020B0604020202020204"/>
              </a:rPr>
              <a:t>i</a:t>
            </a:r>
            <a:r>
              <a:rPr sz="2000" dirty="0">
                <a:latin typeface="Arial" panose="020B0604020202020204"/>
                <a:cs typeface="Arial" panose="020B0604020202020204"/>
              </a:rPr>
              <a:t>] =</a:t>
            </a:r>
            <a:r>
              <a:rPr sz="2000" spc="-40" dirty="0">
                <a:latin typeface="Arial" panose="020B0604020202020204"/>
                <a:cs typeface="Arial" panose="020B0604020202020204"/>
              </a:rPr>
              <a:t> </a:t>
            </a:r>
            <a:r>
              <a:rPr sz="2000" spc="-5" dirty="0">
                <a:latin typeface="Arial" panose="020B0604020202020204"/>
                <a:cs typeface="Arial" panose="020B0604020202020204"/>
              </a:rPr>
              <a:t>'\0';</a:t>
            </a:r>
            <a:endParaRPr sz="2000">
              <a:latin typeface="Arial" panose="020B0604020202020204"/>
              <a:cs typeface="Arial" panose="020B0604020202020204"/>
            </a:endParaRPr>
          </a:p>
          <a:p>
            <a:pPr marL="355600">
              <a:lnSpc>
                <a:spcPct val="100000"/>
              </a:lnSpc>
              <a:spcBef>
                <a:spcPts val="25"/>
              </a:spcBef>
            </a:pPr>
            <a:r>
              <a:rPr sz="2000" dirty="0">
                <a:latin typeface="Arial" panose="020B0604020202020204"/>
                <a:cs typeface="Arial" panose="020B0604020202020204"/>
              </a:rPr>
              <a:t>printf("\n%s\n",line);</a:t>
            </a:r>
            <a:endParaRPr sz="20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2000" dirty="0">
                <a:latin typeface="Arial" panose="020B0604020202020204"/>
                <a:cs typeface="Arial" panose="020B0604020202020204"/>
              </a:rPr>
              <a:t>}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object 3"/>
          <p:cNvSpPr txBox="1"/>
          <p:nvPr/>
        </p:nvSpPr>
        <p:spPr>
          <a:xfrm>
            <a:off x="6871335" y="2001520"/>
            <a:ext cx="3543300" cy="16059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 sz="2000" b="1" u="sng" dirty="0">
                <a:latin typeface="Arial" panose="020B0604020202020204"/>
                <a:cs typeface="Arial" panose="020B0604020202020204"/>
              </a:rPr>
              <a:t>OUTPUT:</a:t>
            </a: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endParaRPr lang="en-IN" sz="2000" b="1" u="sng" dirty="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 sz="2000" dirty="0">
                <a:latin typeface="Arial" panose="020B0604020202020204"/>
                <a:cs typeface="Arial" panose="020B0604020202020204"/>
              </a:rPr>
              <a:t>Enter Text</a:t>
            </a: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 sz="2000" dirty="0">
                <a:latin typeface="Arial" panose="020B0604020202020204"/>
                <a:cs typeface="Arial" panose="020B0604020202020204"/>
              </a:rPr>
              <a:t>String Programs</a:t>
            </a: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 sz="2000" dirty="0">
                <a:latin typeface="Arial" panose="020B0604020202020204"/>
                <a:cs typeface="Arial" panose="020B0604020202020204"/>
                <a:sym typeface="+mn-ea"/>
              </a:rPr>
              <a:t>String Programs</a:t>
            </a:r>
            <a:endParaRPr lang="en-IN" sz="200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09697" y="488251"/>
            <a:ext cx="6372225" cy="6889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>
                <a:solidFill>
                  <a:schemeClr val="tx1"/>
                </a:solidFill>
              </a:rPr>
              <a:t>READING A LINE OF</a:t>
            </a:r>
            <a:r>
              <a:rPr spc="-45" dirty="0">
                <a:solidFill>
                  <a:schemeClr val="tx1"/>
                </a:solidFill>
              </a:rPr>
              <a:t> </a:t>
            </a:r>
            <a:r>
              <a:rPr spc="-5" dirty="0">
                <a:solidFill>
                  <a:schemeClr val="tx1"/>
                </a:solidFill>
              </a:rPr>
              <a:t>TEXT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19860" y="1651000"/>
            <a:ext cx="9625965" cy="39096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3695" marR="5080" indent="-341630">
              <a:lnSpc>
                <a:spcPct val="100000"/>
              </a:lnSpc>
              <a:spcBef>
                <a:spcPts val="95"/>
              </a:spcBef>
              <a:buChar char="•"/>
              <a:tabLst>
                <a:tab pos="353695" algn="l"/>
                <a:tab pos="354330" algn="l"/>
              </a:tabLst>
            </a:pPr>
            <a:r>
              <a:rPr sz="2200" b="1" spc="-5" dirty="0">
                <a:latin typeface="Times New Roman" panose="02020603050405020304" charset="0"/>
                <a:cs typeface="Times New Roman" panose="02020603050405020304" charset="0"/>
              </a:rPr>
              <a:t>For reading </a:t>
            </a:r>
            <a:r>
              <a:rPr sz="2200" b="1" dirty="0">
                <a:latin typeface="Times New Roman" panose="02020603050405020304" charset="0"/>
                <a:cs typeface="Times New Roman" panose="02020603050405020304" charset="0"/>
              </a:rPr>
              <a:t>string </a:t>
            </a:r>
            <a:r>
              <a:rPr sz="2200" b="1" spc="-5" dirty="0">
                <a:latin typeface="Times New Roman" panose="02020603050405020304" charset="0"/>
                <a:cs typeface="Times New Roman" panose="02020603050405020304" charset="0"/>
              </a:rPr>
              <a:t>of </a:t>
            </a:r>
            <a:r>
              <a:rPr sz="2200" b="1" dirty="0">
                <a:latin typeface="Times New Roman" panose="02020603050405020304" charset="0"/>
                <a:cs typeface="Times New Roman" panose="02020603050405020304" charset="0"/>
              </a:rPr>
              <a:t>text </a:t>
            </a:r>
            <a:r>
              <a:rPr sz="2200" b="1" spc="-5" dirty="0">
                <a:latin typeface="Times New Roman" panose="02020603050405020304" charset="0"/>
                <a:cs typeface="Times New Roman" panose="02020603050405020304" charset="0"/>
              </a:rPr>
              <a:t>containing </a:t>
            </a:r>
            <a:r>
              <a:rPr sz="2200" b="1" dirty="0">
                <a:latin typeface="Times New Roman" panose="02020603050405020304" charset="0"/>
                <a:cs typeface="Times New Roman" panose="02020603050405020304" charset="0"/>
              </a:rPr>
              <a:t>whitespaces  </a:t>
            </a: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is to use the 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library function </a:t>
            </a:r>
            <a:r>
              <a:rPr sz="2200" b="1" spc="-5" dirty="0">
                <a:latin typeface="Times New Roman" panose="02020603050405020304" charset="0"/>
                <a:cs typeface="Times New Roman" panose="02020603050405020304" charset="0"/>
              </a:rPr>
              <a:t>gets</a:t>
            </a: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available in</a:t>
            </a: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 the &lt;stdio.h&gt;</a:t>
            </a:r>
            <a:endParaRPr sz="2200">
              <a:latin typeface="Times New Roman" panose="02020603050405020304" charset="0"/>
              <a:cs typeface="Times New Roman" panose="02020603050405020304" charset="0"/>
            </a:endParaRPr>
          </a:p>
          <a:p>
            <a:pPr marL="1383665">
              <a:lnSpc>
                <a:spcPct val="100000"/>
              </a:lnSpc>
              <a:spcBef>
                <a:spcPts val="510"/>
              </a:spcBef>
            </a:pPr>
            <a:r>
              <a:rPr sz="2200" b="1" dirty="0">
                <a:latin typeface="Times New Roman" panose="02020603050405020304" charset="0"/>
                <a:cs typeface="Times New Roman" panose="02020603050405020304" charset="0"/>
              </a:rPr>
              <a:t>gets(str)</a:t>
            </a:r>
            <a:endParaRPr sz="22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353695" marR="553720" indent="-341630" algn="just">
              <a:lnSpc>
                <a:spcPct val="100000"/>
              </a:lnSpc>
              <a:spcBef>
                <a:spcPts val="790"/>
              </a:spcBef>
              <a:buChar char="•"/>
              <a:tabLst>
                <a:tab pos="354330" algn="l"/>
              </a:tabLst>
            </a:pP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It reads 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characters </a:t>
            </a: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into 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str </a:t>
            </a: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from the 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keyboard  </a:t>
            </a: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until a 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new-line </a:t>
            </a: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character is 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encountered </a:t>
            </a: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and  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then appends </a:t>
            </a: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a 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null character </a:t>
            </a: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to the</a:t>
            </a:r>
            <a:r>
              <a:rPr sz="2200" spc="-1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string.</a:t>
            </a:r>
            <a:endParaRPr sz="2200">
              <a:latin typeface="Times New Roman" panose="02020603050405020304" charset="0"/>
              <a:cs typeface="Times New Roman" panose="02020603050405020304" charset="0"/>
            </a:endParaRPr>
          </a:p>
          <a:p>
            <a:pPr marL="1383665" marR="4458970">
              <a:lnSpc>
                <a:spcPct val="117000"/>
              </a:lnSpc>
              <a:spcBef>
                <a:spcPts val="20"/>
              </a:spcBef>
            </a:pP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char line[80];  </a:t>
            </a:r>
          </a:p>
          <a:p>
            <a:pPr marL="1383665" marR="4458970">
              <a:lnSpc>
                <a:spcPct val="117000"/>
              </a:lnSpc>
              <a:spcBef>
                <a:spcPts val="20"/>
              </a:spcBef>
            </a:pP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gets(line)</a:t>
            </a:r>
            <a:r>
              <a:rPr lang="en-IN" sz="2200" spc="-5" dirty="0">
                <a:latin typeface="Times New Roman" panose="02020603050405020304" charset="0"/>
                <a:cs typeface="Times New Roman" panose="02020603050405020304" charset="0"/>
              </a:rPr>
              <a:t>;</a:t>
            </a:r>
          </a:p>
          <a:p>
            <a:pPr marL="1383665" marR="4458970">
              <a:lnSpc>
                <a:spcPct val="117000"/>
              </a:lnSpc>
              <a:spcBef>
                <a:spcPts val="20"/>
              </a:spcBef>
            </a:pP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printf</a:t>
            </a:r>
            <a:r>
              <a:rPr sz="2200" spc="5" dirty="0">
                <a:latin typeface="Times New Roman" panose="02020603050405020304" charset="0"/>
                <a:cs typeface="Times New Roman" panose="02020603050405020304" charset="0"/>
              </a:rPr>
              <a:t>(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“%s</a:t>
            </a:r>
            <a:r>
              <a:rPr sz="2200" spc="5" dirty="0">
                <a:latin typeface="Times New Roman" panose="02020603050405020304" charset="0"/>
                <a:cs typeface="Times New Roman" panose="02020603050405020304" charset="0"/>
              </a:rPr>
              <a:t>”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,li</a:t>
            </a:r>
            <a:r>
              <a:rPr sz="2200" spc="-10" dirty="0">
                <a:latin typeface="Times New Roman" panose="02020603050405020304" charset="0"/>
                <a:cs typeface="Times New Roman" panose="02020603050405020304" charset="0"/>
              </a:rPr>
              <a:t>n</a:t>
            </a: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e);</a:t>
            </a:r>
            <a:endParaRPr sz="2200">
              <a:latin typeface="Times New Roman" panose="02020603050405020304" charset="0"/>
              <a:cs typeface="Times New Roman" panose="02020603050405020304" charset="0"/>
            </a:endParaRPr>
          </a:p>
          <a:p>
            <a:pPr marL="353695" indent="-341630">
              <a:lnSpc>
                <a:spcPct val="100000"/>
              </a:lnSpc>
              <a:spcBef>
                <a:spcPts val="795"/>
              </a:spcBef>
              <a:buChar char="•"/>
              <a:tabLst>
                <a:tab pos="353695" algn="l"/>
                <a:tab pos="354330" algn="l"/>
              </a:tabLst>
            </a:pP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The last two 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statements </a:t>
            </a: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may be combined</a:t>
            </a:r>
            <a:r>
              <a:rPr sz="2200" spc="6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as:</a:t>
            </a:r>
            <a:endParaRPr sz="2200">
              <a:latin typeface="Times New Roman" panose="02020603050405020304" charset="0"/>
              <a:cs typeface="Times New Roman" panose="02020603050405020304" charset="0"/>
            </a:endParaRPr>
          </a:p>
          <a:p>
            <a:pPr marL="1383665">
              <a:lnSpc>
                <a:spcPct val="100000"/>
              </a:lnSpc>
              <a:spcBef>
                <a:spcPts val="505"/>
              </a:spcBef>
            </a:pP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printf(“%s”,gets(line));</a:t>
            </a:r>
            <a:endParaRPr sz="22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09697" y="488251"/>
            <a:ext cx="6372225" cy="6889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>
                <a:solidFill>
                  <a:schemeClr val="tx1"/>
                </a:solidFill>
              </a:rPr>
              <a:t>READING A LINE OF</a:t>
            </a:r>
            <a:r>
              <a:rPr spc="-45" dirty="0">
                <a:solidFill>
                  <a:schemeClr val="tx1"/>
                </a:solidFill>
              </a:rPr>
              <a:t> </a:t>
            </a:r>
            <a:r>
              <a:rPr spc="-5" dirty="0">
                <a:solidFill>
                  <a:schemeClr val="tx1"/>
                </a:solidFill>
              </a:rPr>
              <a:t>TEXT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10665" y="1858645"/>
            <a:ext cx="9170035" cy="36245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3695" marR="356235" indent="-341630">
              <a:lnSpc>
                <a:spcPct val="100000"/>
              </a:lnSpc>
              <a:spcBef>
                <a:spcPts val="95"/>
              </a:spcBef>
              <a:buChar char="•"/>
              <a:tabLst>
                <a:tab pos="353695" algn="l"/>
                <a:tab pos="354330" algn="l"/>
              </a:tabLst>
            </a:pP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Does 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not </a:t>
            </a: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check 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array-bounds, so do not input  </a:t>
            </a: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more 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characters, </a:t>
            </a: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it may cause</a:t>
            </a:r>
            <a:r>
              <a:rPr sz="2200" spc="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problems</a:t>
            </a:r>
            <a:r>
              <a:rPr lang="en-IN" sz="2200" dirty="0">
                <a:latin typeface="Times New Roman" panose="02020603050405020304" charset="0"/>
                <a:cs typeface="Times New Roman" panose="02020603050405020304" charset="0"/>
              </a:rPr>
              <a:t>.</a:t>
            </a:r>
            <a:endParaRPr sz="2200">
              <a:latin typeface="Times New Roman" panose="02020603050405020304" charset="0"/>
              <a:cs typeface="Times New Roman" panose="02020603050405020304" charset="0"/>
            </a:endParaRPr>
          </a:p>
          <a:p>
            <a:pPr marL="353695" marR="911860" indent="-341630">
              <a:lnSpc>
                <a:spcPct val="100000"/>
              </a:lnSpc>
              <a:spcBef>
                <a:spcPts val="805"/>
              </a:spcBef>
              <a:buChar char="•"/>
              <a:tabLst>
                <a:tab pos="353695" algn="l"/>
                <a:tab pos="354330" algn="l"/>
              </a:tabLst>
            </a:pP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C 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does not provide operators that </a:t>
            </a: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work on  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strings</a:t>
            </a:r>
            <a:r>
              <a:rPr sz="2200" spc="-1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directly.</a:t>
            </a:r>
            <a:endParaRPr sz="2200">
              <a:latin typeface="Times New Roman" panose="02020603050405020304" charset="0"/>
              <a:cs typeface="Times New Roman" panose="02020603050405020304" charset="0"/>
            </a:endParaRPr>
          </a:p>
          <a:p>
            <a:pPr marL="353695" indent="-341630">
              <a:lnSpc>
                <a:spcPct val="100000"/>
              </a:lnSpc>
              <a:spcBef>
                <a:spcPts val="795"/>
              </a:spcBef>
              <a:buClr>
                <a:srgbClr val="000000"/>
              </a:buClr>
              <a:buChar char="•"/>
              <a:tabLst>
                <a:tab pos="353695" algn="l"/>
                <a:tab pos="354330" algn="l"/>
              </a:tabLst>
            </a:pPr>
            <a:r>
              <a:rPr sz="2200" spc="-5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We cannot assign </a:t>
            </a:r>
            <a:r>
              <a:rPr sz="2200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one string </a:t>
            </a:r>
            <a:r>
              <a:rPr sz="2200" spc="-5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to </a:t>
            </a:r>
            <a:r>
              <a:rPr sz="2200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another directly.</a:t>
            </a:r>
            <a:endParaRPr sz="2200">
              <a:latin typeface="Times New Roman" panose="02020603050405020304" charset="0"/>
              <a:cs typeface="Times New Roman" panose="02020603050405020304" charset="0"/>
            </a:endParaRPr>
          </a:p>
          <a:p>
            <a:pPr marL="926465">
              <a:lnSpc>
                <a:spcPct val="100000"/>
              </a:lnSpc>
              <a:spcBef>
                <a:spcPts val="615"/>
              </a:spcBef>
            </a:pPr>
            <a:r>
              <a:rPr sz="2200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string2 =</a:t>
            </a:r>
            <a:r>
              <a:rPr sz="2200" spc="-15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200" spc="-5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“ABC”</a:t>
            </a:r>
            <a:endParaRPr sz="2200">
              <a:latin typeface="Times New Roman" panose="02020603050405020304" charset="0"/>
              <a:cs typeface="Times New Roman" panose="02020603050405020304" charset="0"/>
            </a:endParaRPr>
          </a:p>
          <a:p>
            <a:pPr marL="926465">
              <a:lnSpc>
                <a:spcPct val="100000"/>
              </a:lnSpc>
              <a:spcBef>
                <a:spcPts val="600"/>
              </a:spcBef>
            </a:pPr>
            <a:r>
              <a:rPr sz="2200" spc="-5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string1 </a:t>
            </a:r>
            <a:r>
              <a:rPr sz="2200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= string2;</a:t>
            </a:r>
            <a:endParaRPr sz="2200">
              <a:latin typeface="Times New Roman" panose="02020603050405020304" charset="0"/>
              <a:cs typeface="Times New Roman" panose="02020603050405020304" charset="0"/>
            </a:endParaRPr>
          </a:p>
          <a:p>
            <a:pPr marL="353695" indent="-341630">
              <a:lnSpc>
                <a:spcPct val="100000"/>
              </a:lnSpc>
              <a:spcBef>
                <a:spcPts val="790"/>
              </a:spcBef>
              <a:buClr>
                <a:srgbClr val="000000"/>
              </a:buClr>
              <a:buChar char="•"/>
              <a:tabLst>
                <a:tab pos="353695" algn="l"/>
                <a:tab pos="354330" algn="l"/>
              </a:tabLst>
            </a:pPr>
            <a:r>
              <a:rPr sz="2200" spc="-5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Are </a:t>
            </a:r>
            <a:r>
              <a:rPr sz="2200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not </a:t>
            </a:r>
            <a:r>
              <a:rPr sz="2200" spc="-5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valid.</a:t>
            </a:r>
            <a:endParaRPr sz="2200">
              <a:latin typeface="Times New Roman" panose="02020603050405020304" charset="0"/>
              <a:cs typeface="Times New Roman" panose="02020603050405020304" charset="0"/>
            </a:endParaRPr>
          </a:p>
          <a:p>
            <a:pPr marL="353695" marR="5080" indent="-341630">
              <a:lnSpc>
                <a:spcPct val="100000"/>
              </a:lnSpc>
              <a:spcBef>
                <a:spcPts val="805"/>
              </a:spcBef>
              <a:buChar char="•"/>
              <a:tabLst>
                <a:tab pos="353695" algn="l"/>
                <a:tab pos="354330" algn="l"/>
              </a:tabLst>
            </a:pP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To 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copy </a:t>
            </a: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the 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characters </a:t>
            </a: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in 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string2 </a:t>
            </a: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into 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sting1, </a:t>
            </a: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we  may do 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so on </a:t>
            </a: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a 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character-by-character</a:t>
            </a:r>
            <a:r>
              <a:rPr sz="2200" spc="2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basis.</a:t>
            </a:r>
            <a:endParaRPr sz="22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16325" y="150495"/>
            <a:ext cx="6136005" cy="6889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IN" spc="-10" dirty="0">
                <a:solidFill>
                  <a:schemeClr val="tx1"/>
                </a:solidFill>
              </a:rPr>
              <a:t>EXAMPLE </a:t>
            </a:r>
            <a:r>
              <a:rPr spc="-10" dirty="0">
                <a:solidFill>
                  <a:schemeClr val="tx1"/>
                </a:solidFill>
              </a:rPr>
              <a:t>PROGRAM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37945" y="839470"/>
            <a:ext cx="5360035" cy="57613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2767330">
              <a:lnSpc>
                <a:spcPct val="134000"/>
              </a:lnSpc>
              <a:spcBef>
                <a:spcPts val="95"/>
              </a:spcBef>
            </a:pPr>
            <a:r>
              <a:rPr sz="2000" dirty="0">
                <a:latin typeface="Arial" panose="020B0604020202020204"/>
                <a:cs typeface="Arial" panose="020B0604020202020204"/>
              </a:rPr>
              <a:t>#in</a:t>
            </a:r>
            <a:r>
              <a:rPr sz="2000" spc="5" dirty="0">
                <a:latin typeface="Arial" panose="020B0604020202020204"/>
                <a:cs typeface="Arial" panose="020B0604020202020204"/>
              </a:rPr>
              <a:t>c</a:t>
            </a:r>
            <a:r>
              <a:rPr sz="2000" dirty="0">
                <a:latin typeface="Arial" panose="020B0604020202020204"/>
                <a:cs typeface="Arial" panose="020B0604020202020204"/>
              </a:rPr>
              <a:t>lude</a:t>
            </a:r>
            <a:r>
              <a:rPr sz="2000" spc="5" dirty="0">
                <a:latin typeface="Arial" panose="020B0604020202020204"/>
                <a:cs typeface="Arial" panose="020B0604020202020204"/>
              </a:rPr>
              <a:t>&lt;</a:t>
            </a:r>
            <a:r>
              <a:rPr sz="2000" dirty="0">
                <a:latin typeface="Arial" panose="020B0604020202020204"/>
                <a:cs typeface="Arial" panose="020B0604020202020204"/>
              </a:rPr>
              <a:t>stdio.</a:t>
            </a:r>
            <a:r>
              <a:rPr sz="2000" spc="-15" dirty="0">
                <a:latin typeface="Arial" panose="020B0604020202020204"/>
                <a:cs typeface="Arial" panose="020B0604020202020204"/>
              </a:rPr>
              <a:t>h</a:t>
            </a:r>
            <a:r>
              <a:rPr sz="2000" dirty="0">
                <a:latin typeface="Arial" panose="020B0604020202020204"/>
                <a:cs typeface="Arial" panose="020B0604020202020204"/>
              </a:rPr>
              <a:t>&gt;  main()</a:t>
            </a:r>
            <a:endParaRPr sz="2000">
              <a:latin typeface="Arial" panose="020B0604020202020204"/>
              <a:cs typeface="Arial" panose="020B0604020202020204"/>
            </a:endParaRPr>
          </a:p>
          <a:p>
            <a:pPr marL="353695">
              <a:lnSpc>
                <a:spcPct val="100000"/>
              </a:lnSpc>
              <a:spcBef>
                <a:spcPts val="795"/>
              </a:spcBef>
            </a:pPr>
            <a:r>
              <a:rPr sz="2000" dirty="0">
                <a:latin typeface="Arial" panose="020B0604020202020204"/>
                <a:cs typeface="Arial" panose="020B0604020202020204"/>
              </a:rPr>
              <a:t>{</a:t>
            </a:r>
            <a:endParaRPr sz="2000">
              <a:latin typeface="Arial" panose="020B0604020202020204"/>
              <a:cs typeface="Arial" panose="020B0604020202020204"/>
            </a:endParaRPr>
          </a:p>
          <a:p>
            <a:pPr marL="353695">
              <a:lnSpc>
                <a:spcPct val="100000"/>
              </a:lnSpc>
              <a:spcBef>
                <a:spcPts val="805"/>
              </a:spcBef>
            </a:pPr>
            <a:r>
              <a:rPr sz="2000" dirty="0">
                <a:latin typeface="Arial" panose="020B0604020202020204"/>
                <a:cs typeface="Arial" panose="020B0604020202020204"/>
              </a:rPr>
              <a:t>char string1[30],</a:t>
            </a:r>
            <a:r>
              <a:rPr sz="2000" spc="-80" dirty="0"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latin typeface="Arial" panose="020B0604020202020204"/>
                <a:cs typeface="Arial" panose="020B0604020202020204"/>
              </a:rPr>
              <a:t>string2[30];</a:t>
            </a:r>
            <a:endParaRPr sz="2000">
              <a:latin typeface="Arial" panose="020B0604020202020204"/>
              <a:cs typeface="Arial" panose="020B0604020202020204"/>
            </a:endParaRPr>
          </a:p>
          <a:p>
            <a:pPr marL="353695">
              <a:lnSpc>
                <a:spcPct val="100000"/>
              </a:lnSpc>
              <a:spcBef>
                <a:spcPts val="800"/>
              </a:spcBef>
            </a:pPr>
            <a:r>
              <a:rPr sz="2000" dirty="0">
                <a:latin typeface="Arial" panose="020B0604020202020204"/>
                <a:cs typeface="Arial" panose="020B0604020202020204"/>
              </a:rPr>
              <a:t>int</a:t>
            </a:r>
            <a:r>
              <a:rPr sz="2000" spc="-10" dirty="0">
                <a:latin typeface="Arial" panose="020B0604020202020204"/>
                <a:cs typeface="Arial" panose="020B0604020202020204"/>
              </a:rPr>
              <a:t> </a:t>
            </a:r>
            <a:r>
              <a:rPr sz="2000" spc="-5" dirty="0">
                <a:latin typeface="Arial" panose="020B0604020202020204"/>
                <a:cs typeface="Arial" panose="020B0604020202020204"/>
              </a:rPr>
              <a:t>i;</a:t>
            </a:r>
            <a:endParaRPr sz="2000">
              <a:latin typeface="Arial" panose="020B0604020202020204"/>
              <a:cs typeface="Arial" panose="020B0604020202020204"/>
            </a:endParaRPr>
          </a:p>
          <a:p>
            <a:pPr marL="353695" marR="1627505">
              <a:lnSpc>
                <a:spcPts val="3200"/>
              </a:lnSpc>
              <a:spcBef>
                <a:spcPts val="235"/>
              </a:spcBef>
            </a:pPr>
            <a:r>
              <a:rPr sz="2000" dirty="0">
                <a:latin typeface="Arial" panose="020B0604020202020204"/>
                <a:cs typeface="Arial" panose="020B0604020202020204"/>
              </a:rPr>
              <a:t>printf("Enter a string </a:t>
            </a:r>
            <a:r>
              <a:rPr lang="en-IN" sz="2000" dirty="0">
                <a:latin typeface="Arial" panose="020B0604020202020204"/>
                <a:cs typeface="Arial" panose="020B0604020202020204"/>
              </a:rPr>
              <a:t>Str2:</a:t>
            </a:r>
            <a:r>
              <a:rPr sz="2000" dirty="0">
                <a:latin typeface="Arial" panose="020B0604020202020204"/>
                <a:cs typeface="Arial" panose="020B0604020202020204"/>
              </a:rPr>
              <a:t>");  scanf("%s",string2);  </a:t>
            </a:r>
            <a:r>
              <a:rPr sz="2000" spc="-5" dirty="0">
                <a:latin typeface="Arial" panose="020B0604020202020204"/>
                <a:cs typeface="Arial" panose="020B0604020202020204"/>
              </a:rPr>
              <a:t>for(i=0;string2[i]!='\0';i++)</a:t>
            </a:r>
            <a:endParaRPr sz="2000">
              <a:latin typeface="Arial" panose="020B0604020202020204"/>
              <a:cs typeface="Arial" panose="020B0604020202020204"/>
            </a:endParaRPr>
          </a:p>
          <a:p>
            <a:pPr marL="923925">
              <a:lnSpc>
                <a:spcPct val="100000"/>
              </a:lnSpc>
              <a:spcBef>
                <a:spcPts val="560"/>
              </a:spcBef>
            </a:pPr>
            <a:r>
              <a:rPr sz="2000" dirty="0">
                <a:latin typeface="Arial" panose="020B0604020202020204"/>
                <a:cs typeface="Arial" panose="020B0604020202020204"/>
              </a:rPr>
              <a:t>string1[i]=string2[i];</a:t>
            </a:r>
            <a:endParaRPr sz="2000">
              <a:latin typeface="Arial" panose="020B0604020202020204"/>
              <a:cs typeface="Arial" panose="020B0604020202020204"/>
            </a:endParaRPr>
          </a:p>
          <a:p>
            <a:pPr marL="353695">
              <a:lnSpc>
                <a:spcPct val="100000"/>
              </a:lnSpc>
              <a:spcBef>
                <a:spcPts val="810"/>
              </a:spcBef>
            </a:pPr>
            <a:r>
              <a:rPr sz="2000" dirty="0">
                <a:latin typeface="Arial" panose="020B0604020202020204"/>
                <a:cs typeface="Arial" panose="020B0604020202020204"/>
              </a:rPr>
              <a:t>string1[i] =</a:t>
            </a:r>
            <a:r>
              <a:rPr sz="2000" spc="-60" dirty="0"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latin typeface="Arial" panose="020B0604020202020204"/>
                <a:cs typeface="Arial" panose="020B0604020202020204"/>
              </a:rPr>
              <a:t>'\0';</a:t>
            </a:r>
            <a:endParaRPr sz="2000">
              <a:latin typeface="Arial" panose="020B0604020202020204"/>
              <a:cs typeface="Arial" panose="020B0604020202020204"/>
            </a:endParaRPr>
          </a:p>
          <a:p>
            <a:pPr marL="353695" marR="2037080">
              <a:lnSpc>
                <a:spcPct val="133000"/>
              </a:lnSpc>
              <a:spcBef>
                <a:spcPts val="10"/>
              </a:spcBef>
            </a:pPr>
            <a:r>
              <a:rPr sz="2000" spc="-5" dirty="0">
                <a:latin typeface="Arial" panose="020B0604020202020204"/>
                <a:cs typeface="Arial" panose="020B0604020202020204"/>
              </a:rPr>
              <a:t>printf("\n");  printf("</a:t>
            </a:r>
            <a:r>
              <a:rPr lang="en-IN" sz="2000" spc="-5" dirty="0">
                <a:latin typeface="Arial" panose="020B0604020202020204"/>
                <a:cs typeface="Arial" panose="020B0604020202020204"/>
              </a:rPr>
              <a:t>Str1:</a:t>
            </a:r>
            <a:r>
              <a:rPr sz="2000" spc="-5" dirty="0">
                <a:latin typeface="Arial" panose="020B0604020202020204"/>
                <a:cs typeface="Arial" panose="020B0604020202020204"/>
              </a:rPr>
              <a:t>%s\n",string1);</a:t>
            </a:r>
            <a:endParaRPr sz="2000">
              <a:latin typeface="Arial" panose="020B0604020202020204"/>
              <a:cs typeface="Arial" panose="020B0604020202020204"/>
            </a:endParaRPr>
          </a:p>
          <a:p>
            <a:pPr marL="353695">
              <a:lnSpc>
                <a:spcPct val="100000"/>
              </a:lnSpc>
              <a:spcBef>
                <a:spcPts val="805"/>
              </a:spcBef>
            </a:pPr>
            <a:r>
              <a:rPr sz="2000" dirty="0">
                <a:latin typeface="Arial" panose="020B0604020202020204"/>
                <a:cs typeface="Arial" panose="020B0604020202020204"/>
              </a:rPr>
              <a:t>printf("Number of characters =</a:t>
            </a:r>
            <a:r>
              <a:rPr sz="2000" spc="-175" dirty="0"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latin typeface="Arial" panose="020B0604020202020204"/>
                <a:cs typeface="Arial" panose="020B0604020202020204"/>
              </a:rPr>
              <a:t>%d\n",i);</a:t>
            </a:r>
            <a:endParaRPr sz="20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805"/>
              </a:spcBef>
            </a:pPr>
            <a:r>
              <a:rPr sz="2000" dirty="0">
                <a:latin typeface="Arial" panose="020B0604020202020204"/>
                <a:cs typeface="Arial" panose="020B0604020202020204"/>
              </a:rPr>
              <a:t>}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object 3"/>
          <p:cNvSpPr txBox="1"/>
          <p:nvPr/>
        </p:nvSpPr>
        <p:spPr>
          <a:xfrm>
            <a:off x="6697980" y="1975485"/>
            <a:ext cx="7189470" cy="21221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2767330">
              <a:lnSpc>
                <a:spcPct val="134000"/>
              </a:lnSpc>
              <a:spcBef>
                <a:spcPts val="95"/>
              </a:spcBef>
            </a:pPr>
            <a:r>
              <a:rPr lang="en-IN" sz="2000" dirty="0">
                <a:latin typeface="Arial" panose="020B0604020202020204"/>
                <a:cs typeface="Arial" panose="020B0604020202020204"/>
              </a:rPr>
              <a:t>OUTPUT</a:t>
            </a:r>
          </a:p>
          <a:p>
            <a:pPr marL="12700" marR="2767330">
              <a:lnSpc>
                <a:spcPct val="134000"/>
              </a:lnSpc>
              <a:spcBef>
                <a:spcPts val="95"/>
              </a:spcBef>
            </a:pPr>
            <a:r>
              <a:rPr sz="2000" dirty="0">
                <a:latin typeface="Arial" panose="020B0604020202020204"/>
                <a:cs typeface="Arial" panose="020B0604020202020204"/>
                <a:sym typeface="+mn-ea"/>
              </a:rPr>
              <a:t>Enter a string </a:t>
            </a:r>
            <a:r>
              <a:rPr lang="en-IN" sz="2000" dirty="0">
                <a:latin typeface="Arial" panose="020B0604020202020204"/>
                <a:cs typeface="Arial" panose="020B0604020202020204"/>
                <a:sym typeface="+mn-ea"/>
              </a:rPr>
              <a:t>Str2:Europe</a:t>
            </a:r>
          </a:p>
          <a:p>
            <a:pPr marL="12700" marR="2767330">
              <a:lnSpc>
                <a:spcPct val="134000"/>
              </a:lnSpc>
              <a:spcBef>
                <a:spcPts val="95"/>
              </a:spcBef>
            </a:pPr>
            <a:r>
              <a:rPr lang="en-IN" sz="2000" dirty="0">
                <a:latin typeface="Arial" panose="020B0604020202020204"/>
                <a:cs typeface="Arial" panose="020B0604020202020204"/>
                <a:sym typeface="+mn-ea"/>
              </a:rPr>
              <a:t>Str1: Europe</a:t>
            </a:r>
          </a:p>
          <a:p>
            <a:pPr marL="12700" marR="2767330">
              <a:lnSpc>
                <a:spcPct val="134000"/>
              </a:lnSpc>
              <a:spcBef>
                <a:spcPts val="95"/>
              </a:spcBef>
            </a:pPr>
            <a:r>
              <a:rPr sz="2000" dirty="0">
                <a:latin typeface="Arial" panose="020B0604020202020204"/>
                <a:cs typeface="Arial" panose="020B0604020202020204"/>
                <a:sym typeface="+mn-ea"/>
              </a:rPr>
              <a:t>Number of characters =</a:t>
            </a:r>
            <a:r>
              <a:rPr lang="en-IN" sz="2000" dirty="0">
                <a:latin typeface="Arial" panose="020B0604020202020204"/>
                <a:cs typeface="Arial" panose="020B0604020202020204"/>
                <a:sym typeface="+mn-ea"/>
              </a:rPr>
              <a:t>6</a:t>
            </a:r>
          </a:p>
          <a:p>
            <a:pPr marL="12700" marR="2767330">
              <a:lnSpc>
                <a:spcPct val="134000"/>
              </a:lnSpc>
              <a:spcBef>
                <a:spcPts val="95"/>
              </a:spcBef>
            </a:pPr>
            <a:endParaRPr lang="en-IN" sz="2000" dirty="0">
              <a:latin typeface="Arial" panose="020B0604020202020204"/>
              <a:cs typeface="Arial" panose="020B0604020202020204"/>
              <a:sym typeface="+mn-e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34285" y="488251"/>
            <a:ext cx="7724140" cy="6889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>
                <a:solidFill>
                  <a:schemeClr val="tx1"/>
                </a:solidFill>
              </a:rPr>
              <a:t>WRITING STRINGS TO</a:t>
            </a:r>
            <a:r>
              <a:rPr spc="-15" dirty="0">
                <a:solidFill>
                  <a:schemeClr val="tx1"/>
                </a:solidFill>
              </a:rPr>
              <a:t> </a:t>
            </a:r>
            <a:r>
              <a:rPr spc="-10" dirty="0">
                <a:solidFill>
                  <a:schemeClr val="tx1"/>
                </a:solidFill>
              </a:rPr>
              <a:t>SCREEN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754505" y="1939925"/>
            <a:ext cx="8687435" cy="20745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3695" marR="5080" indent="-341630">
              <a:lnSpc>
                <a:spcPct val="100000"/>
              </a:lnSpc>
              <a:spcBef>
                <a:spcPts val="95"/>
              </a:spcBef>
              <a:buChar char="•"/>
              <a:tabLst>
                <a:tab pos="353695" algn="l"/>
                <a:tab pos="354330" algn="l"/>
              </a:tabLst>
            </a:pP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The 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printf function </a:t>
            </a: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with %s format 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is </a:t>
            </a: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used to 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print  strings </a:t>
            </a: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to the 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screen</a:t>
            </a:r>
            <a:r>
              <a:rPr lang="en-IN" sz="2200" dirty="0">
                <a:latin typeface="Times New Roman" panose="02020603050405020304" charset="0"/>
                <a:cs typeface="Times New Roman" panose="02020603050405020304" charset="0"/>
              </a:rPr>
              <a:t>.</a:t>
            </a:r>
            <a:endParaRPr sz="2200">
              <a:latin typeface="Times New Roman" panose="02020603050405020304" charset="0"/>
              <a:cs typeface="Times New Roman" panose="02020603050405020304" charset="0"/>
            </a:endParaRPr>
          </a:p>
          <a:p>
            <a:pPr marL="353695" marR="337820" indent="-341630">
              <a:lnSpc>
                <a:spcPct val="100000"/>
              </a:lnSpc>
              <a:spcBef>
                <a:spcPts val="805"/>
              </a:spcBef>
              <a:buChar char="•"/>
              <a:tabLst>
                <a:tab pos="353695" algn="l"/>
                <a:tab pos="354330" algn="l"/>
              </a:tabLst>
            </a:pP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The 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format </a:t>
            </a: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%s can be 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used </a:t>
            </a: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to display an 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array  </a:t>
            </a: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of 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characters that </a:t>
            </a: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is terminated by the 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null  </a:t>
            </a: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character</a:t>
            </a:r>
            <a:r>
              <a:rPr lang="en-IN" sz="2200" spc="-5" dirty="0">
                <a:latin typeface="Times New Roman" panose="02020603050405020304" charset="0"/>
                <a:cs typeface="Times New Roman" panose="02020603050405020304" charset="0"/>
              </a:rPr>
              <a:t>.</a:t>
            </a:r>
            <a:endParaRPr sz="2200">
              <a:latin typeface="Times New Roman" panose="02020603050405020304" charset="0"/>
              <a:cs typeface="Times New Roman" panose="02020603050405020304" charset="0"/>
            </a:endParaRPr>
          </a:p>
          <a:p>
            <a:pPr marL="1838325">
              <a:lnSpc>
                <a:spcPct val="100000"/>
              </a:lnSpc>
              <a:spcBef>
                <a:spcPts val="1195"/>
              </a:spcBef>
            </a:pPr>
            <a:r>
              <a:rPr sz="2200" b="1" spc="-5" dirty="0">
                <a:latin typeface="Times New Roman" panose="02020603050405020304" charset="0"/>
                <a:cs typeface="Times New Roman" panose="02020603050405020304" charset="0"/>
              </a:rPr>
              <a:t>printf(“%s”,</a:t>
            </a:r>
            <a:r>
              <a:rPr sz="2200" b="1" spc="-3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200" b="1" spc="-5" dirty="0">
                <a:latin typeface="Times New Roman" panose="02020603050405020304" charset="0"/>
                <a:cs typeface="Times New Roman" panose="02020603050405020304" charset="0"/>
              </a:rPr>
              <a:t>name);</a:t>
            </a:r>
            <a:endParaRPr sz="22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353695" indent="-341630">
              <a:lnSpc>
                <a:spcPct val="100000"/>
              </a:lnSpc>
              <a:spcBef>
                <a:spcPts val="885"/>
              </a:spcBef>
              <a:buChar char="•"/>
              <a:tabLst>
                <a:tab pos="353695" algn="l"/>
                <a:tab pos="354330" algn="l"/>
              </a:tabLst>
            </a:pP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This 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display </a:t>
            </a: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the 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entire content </a:t>
            </a: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of the 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array </a:t>
            </a: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name</a:t>
            </a:r>
            <a:r>
              <a:rPr lang="en-IN" sz="2200" spc="-5" dirty="0">
                <a:latin typeface="Times New Roman" panose="02020603050405020304" charset="0"/>
                <a:cs typeface="Times New Roman" panose="02020603050405020304" charset="0"/>
              </a:rPr>
              <a:t>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42717" y="488251"/>
            <a:ext cx="6910070" cy="6889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>
                <a:solidFill>
                  <a:schemeClr val="tx1"/>
                </a:solidFill>
              </a:rPr>
              <a:t>USING PUTCHAR AN</a:t>
            </a:r>
            <a:r>
              <a:rPr lang="en-IN" spc="-5" dirty="0">
                <a:solidFill>
                  <a:schemeClr val="tx1"/>
                </a:solidFill>
              </a:rPr>
              <a:t>D</a:t>
            </a:r>
            <a:r>
              <a:rPr spc="-25" dirty="0">
                <a:solidFill>
                  <a:schemeClr val="tx1"/>
                </a:solidFill>
              </a:rPr>
              <a:t> </a:t>
            </a:r>
            <a:r>
              <a:rPr spc="-5" dirty="0">
                <a:solidFill>
                  <a:schemeClr val="tx1"/>
                </a:solidFill>
              </a:rPr>
              <a:t>PUTS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91285" y="1214846"/>
            <a:ext cx="9495155" cy="48118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3695" marR="935355" indent="-341630">
              <a:lnSpc>
                <a:spcPct val="100000"/>
              </a:lnSpc>
              <a:spcBef>
                <a:spcPts val="95"/>
              </a:spcBef>
              <a:buChar char="•"/>
              <a:tabLst>
                <a:tab pos="353695" algn="l"/>
                <a:tab pos="354330" algn="l"/>
              </a:tabLst>
            </a:pPr>
            <a:r>
              <a:rPr sz="2400" spc="-5" dirty="0">
                <a:latin typeface="Times New Roman" panose="02020603050405020304" charset="0"/>
                <a:cs typeface="Times New Roman" panose="02020603050405020304" charset="0"/>
              </a:rPr>
              <a:t>C supports </a:t>
            </a:r>
            <a:r>
              <a:rPr sz="2400" b="1" dirty="0">
                <a:latin typeface="Times New Roman" panose="02020603050405020304" charset="0"/>
                <a:cs typeface="Times New Roman" panose="02020603050405020304" charset="0"/>
              </a:rPr>
              <a:t>putchar to </a:t>
            </a:r>
            <a:r>
              <a:rPr sz="2400" b="1" spc="-5" dirty="0">
                <a:latin typeface="Times New Roman" panose="02020603050405020304" charset="0"/>
                <a:cs typeface="Times New Roman" panose="02020603050405020304" charset="0"/>
              </a:rPr>
              <a:t>output </a:t>
            </a:r>
            <a:r>
              <a:rPr sz="2400" b="1" dirty="0">
                <a:latin typeface="Times New Roman" panose="02020603050405020304" charset="0"/>
                <a:cs typeface="Times New Roman" panose="02020603050405020304" charset="0"/>
              </a:rPr>
              <a:t>the </a:t>
            </a:r>
            <a:r>
              <a:rPr sz="2400" b="1" spc="-5" dirty="0">
                <a:latin typeface="Times New Roman" panose="02020603050405020304" charset="0"/>
                <a:cs typeface="Times New Roman" panose="02020603050405020304" charset="0"/>
              </a:rPr>
              <a:t>values of  character</a:t>
            </a:r>
            <a:r>
              <a:rPr sz="2400" b="1" spc="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400" b="1" dirty="0">
                <a:latin typeface="Times New Roman" panose="02020603050405020304" charset="0"/>
                <a:cs typeface="Times New Roman" panose="02020603050405020304" charset="0"/>
              </a:rPr>
              <a:t>variables</a:t>
            </a:r>
            <a:r>
              <a:rPr sz="2400" dirty="0">
                <a:latin typeface="Times New Roman" panose="02020603050405020304" charset="0"/>
                <a:cs typeface="Times New Roman" panose="02020603050405020304" charset="0"/>
              </a:rPr>
              <a:t>.</a:t>
            </a:r>
            <a:endParaRPr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926465" marR="5220335">
              <a:lnSpc>
                <a:spcPct val="121000"/>
              </a:lnSpc>
              <a:spcBef>
                <a:spcPts val="15"/>
              </a:spcBef>
            </a:pPr>
            <a:r>
              <a:rPr sz="2400" spc="-5" dirty="0">
                <a:latin typeface="Times New Roman" panose="02020603050405020304" charset="0"/>
                <a:cs typeface="Times New Roman" panose="02020603050405020304" charset="0"/>
              </a:rPr>
              <a:t>char ch </a:t>
            </a:r>
            <a:r>
              <a:rPr sz="2400" dirty="0">
                <a:latin typeface="Times New Roman" panose="02020603050405020304" charset="0"/>
                <a:cs typeface="Times New Roman" panose="02020603050405020304" charset="0"/>
              </a:rPr>
              <a:t>=</a:t>
            </a:r>
            <a:r>
              <a:rPr sz="2400" spc="-6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400" spc="-5" dirty="0">
                <a:latin typeface="Times New Roman" panose="02020603050405020304" charset="0"/>
                <a:cs typeface="Times New Roman" panose="02020603050405020304" charset="0"/>
              </a:rPr>
              <a:t>'A';  </a:t>
            </a:r>
          </a:p>
          <a:p>
            <a:pPr marL="926465" marR="5220335">
              <a:lnSpc>
                <a:spcPct val="121000"/>
              </a:lnSpc>
              <a:spcBef>
                <a:spcPts val="15"/>
              </a:spcBef>
            </a:pPr>
            <a:r>
              <a:rPr sz="2400" b="1" spc="-5" dirty="0">
                <a:latin typeface="Times New Roman" panose="02020603050405020304" charset="0"/>
                <a:cs typeface="Times New Roman" panose="02020603050405020304" charset="0"/>
              </a:rPr>
              <a:t>putchar(ch);</a:t>
            </a:r>
            <a:endParaRPr sz="24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353695" indent="-341630">
              <a:lnSpc>
                <a:spcPct val="100000"/>
              </a:lnSpc>
              <a:spcBef>
                <a:spcPts val="785"/>
              </a:spcBef>
              <a:buChar char="•"/>
              <a:tabLst>
                <a:tab pos="353695" algn="l"/>
                <a:tab pos="354330" algn="l"/>
              </a:tabLst>
            </a:pPr>
            <a:r>
              <a:rPr sz="2400" spc="-5" dirty="0">
                <a:latin typeface="Times New Roman" panose="02020603050405020304" charset="0"/>
                <a:cs typeface="Times New Roman" panose="02020603050405020304" charset="0"/>
              </a:rPr>
              <a:t>This statement is equivalent</a:t>
            </a:r>
            <a:r>
              <a:rPr sz="2400" spc="2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400" spc="-5" dirty="0">
                <a:latin typeface="Times New Roman" panose="02020603050405020304" charset="0"/>
                <a:cs typeface="Times New Roman" panose="02020603050405020304" charset="0"/>
              </a:rPr>
              <a:t>to</a:t>
            </a:r>
            <a:endParaRPr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926465">
              <a:lnSpc>
                <a:spcPct val="100000"/>
              </a:lnSpc>
              <a:spcBef>
                <a:spcPts val="605"/>
              </a:spcBef>
            </a:pPr>
            <a:r>
              <a:rPr sz="2400" b="1" spc="-5" dirty="0">
                <a:latin typeface="Times New Roman" panose="02020603050405020304" charset="0"/>
                <a:cs typeface="Times New Roman" panose="02020603050405020304" charset="0"/>
              </a:rPr>
              <a:t>printf(“%c”,ch);</a:t>
            </a:r>
            <a:endParaRPr sz="24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353695" marR="5080" indent="-341630">
              <a:lnSpc>
                <a:spcPct val="100000"/>
              </a:lnSpc>
              <a:spcBef>
                <a:spcPts val="790"/>
              </a:spcBef>
              <a:buChar char="•"/>
              <a:tabLst>
                <a:tab pos="353695" algn="l"/>
                <a:tab pos="354330" algn="l"/>
              </a:tabLst>
            </a:pPr>
            <a:r>
              <a:rPr sz="2400" spc="-5" dirty="0">
                <a:latin typeface="Times New Roman" panose="02020603050405020304" charset="0"/>
                <a:cs typeface="Times New Roman" panose="02020603050405020304" charset="0"/>
              </a:rPr>
              <a:t>Can use this </a:t>
            </a:r>
            <a:r>
              <a:rPr sz="2400" dirty="0">
                <a:latin typeface="Times New Roman" panose="02020603050405020304" charset="0"/>
                <a:cs typeface="Times New Roman" panose="02020603050405020304" charset="0"/>
              </a:rPr>
              <a:t>function </a:t>
            </a:r>
            <a:r>
              <a:rPr sz="2400" spc="-5" dirty="0">
                <a:latin typeface="Times New Roman" panose="02020603050405020304" charset="0"/>
                <a:cs typeface="Times New Roman" panose="02020603050405020304" charset="0"/>
              </a:rPr>
              <a:t>repeatedly to </a:t>
            </a:r>
            <a:r>
              <a:rPr sz="2400" dirty="0">
                <a:latin typeface="Times New Roman" panose="02020603050405020304" charset="0"/>
                <a:cs typeface="Times New Roman" panose="02020603050405020304" charset="0"/>
              </a:rPr>
              <a:t>output </a:t>
            </a:r>
            <a:r>
              <a:rPr sz="2400" spc="-5" dirty="0">
                <a:latin typeface="Times New Roman" panose="02020603050405020304" charset="0"/>
                <a:cs typeface="Times New Roman" panose="02020603050405020304" charset="0"/>
              </a:rPr>
              <a:t>string  of </a:t>
            </a:r>
            <a:r>
              <a:rPr sz="2400" dirty="0">
                <a:latin typeface="Times New Roman" panose="02020603050405020304" charset="0"/>
                <a:cs typeface="Times New Roman" panose="02020603050405020304" charset="0"/>
              </a:rPr>
              <a:t>characters </a:t>
            </a:r>
            <a:r>
              <a:rPr sz="2400" spc="-5" dirty="0">
                <a:latin typeface="Times New Roman" panose="02020603050405020304" charset="0"/>
                <a:cs typeface="Times New Roman" panose="02020603050405020304" charset="0"/>
              </a:rPr>
              <a:t>stored in an </a:t>
            </a:r>
            <a:r>
              <a:rPr sz="2400" dirty="0">
                <a:latin typeface="Times New Roman" panose="02020603050405020304" charset="0"/>
                <a:cs typeface="Times New Roman" panose="02020603050405020304" charset="0"/>
              </a:rPr>
              <a:t>array </a:t>
            </a:r>
            <a:r>
              <a:rPr sz="2400" spc="-5" dirty="0">
                <a:latin typeface="Times New Roman" panose="02020603050405020304" charset="0"/>
                <a:cs typeface="Times New Roman" panose="02020603050405020304" charset="0"/>
              </a:rPr>
              <a:t>using a</a:t>
            </a:r>
            <a:r>
              <a:rPr sz="2400" spc="3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400" dirty="0">
                <a:latin typeface="Times New Roman" panose="02020603050405020304" charset="0"/>
                <a:cs typeface="Times New Roman" panose="02020603050405020304" charset="0"/>
              </a:rPr>
              <a:t>loop.</a:t>
            </a:r>
            <a:endParaRPr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926465" marR="3642360">
              <a:lnSpc>
                <a:spcPct val="121000"/>
              </a:lnSpc>
              <a:spcBef>
                <a:spcPts val="20"/>
              </a:spcBef>
            </a:pPr>
            <a:r>
              <a:rPr sz="2400" dirty="0">
                <a:latin typeface="Times New Roman" panose="02020603050405020304" charset="0"/>
                <a:cs typeface="Times New Roman" panose="02020603050405020304" charset="0"/>
              </a:rPr>
              <a:t>char </a:t>
            </a:r>
            <a:r>
              <a:rPr sz="2400" spc="-5" dirty="0">
                <a:latin typeface="Times New Roman" panose="02020603050405020304" charset="0"/>
                <a:cs typeface="Times New Roman" panose="02020603050405020304" charset="0"/>
              </a:rPr>
              <a:t>name[6] </a:t>
            </a:r>
            <a:r>
              <a:rPr sz="2400" dirty="0">
                <a:latin typeface="Times New Roman" panose="02020603050405020304" charset="0"/>
                <a:cs typeface="Times New Roman" panose="02020603050405020304" charset="0"/>
              </a:rPr>
              <a:t>=</a:t>
            </a:r>
            <a:r>
              <a:rPr sz="2400" spc="-7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400" spc="-5" dirty="0">
                <a:latin typeface="Times New Roman" panose="02020603050405020304" charset="0"/>
                <a:cs typeface="Times New Roman" panose="02020603050405020304" charset="0"/>
              </a:rPr>
              <a:t>“PARIS”;  </a:t>
            </a:r>
          </a:p>
          <a:p>
            <a:pPr marL="926465" marR="3642360">
              <a:lnSpc>
                <a:spcPct val="121000"/>
              </a:lnSpc>
              <a:spcBef>
                <a:spcPts val="20"/>
              </a:spcBef>
            </a:pPr>
            <a:r>
              <a:rPr sz="2400" dirty="0">
                <a:latin typeface="Times New Roman" panose="02020603050405020304" charset="0"/>
                <a:cs typeface="Times New Roman" panose="02020603050405020304" charset="0"/>
              </a:rPr>
              <a:t>for(i=0;i&lt;5;i++)</a:t>
            </a:r>
            <a:endParaRPr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926465" marR="4208145" indent="457200">
              <a:lnSpc>
                <a:spcPts val="3480"/>
              </a:lnSpc>
              <a:spcBef>
                <a:spcPts val="120"/>
              </a:spcBef>
            </a:pPr>
            <a:r>
              <a:rPr sz="2400" b="1" spc="-5" dirty="0">
                <a:latin typeface="Times New Roman" panose="02020603050405020304" charset="0"/>
                <a:cs typeface="Times New Roman" panose="02020603050405020304" charset="0"/>
              </a:rPr>
              <a:t>putchar(name[</a:t>
            </a:r>
            <a:r>
              <a:rPr sz="2400" b="1" dirty="0">
                <a:latin typeface="Times New Roman" panose="02020603050405020304" charset="0"/>
                <a:cs typeface="Times New Roman" panose="02020603050405020304" charset="0"/>
              </a:rPr>
              <a:t>i]);  </a:t>
            </a:r>
          </a:p>
          <a:p>
            <a:pPr marL="926465" marR="4208145" indent="457200">
              <a:lnSpc>
                <a:spcPts val="3480"/>
              </a:lnSpc>
              <a:spcBef>
                <a:spcPts val="120"/>
              </a:spcBef>
            </a:pPr>
            <a:r>
              <a:rPr sz="2400" b="1" spc="-5" dirty="0">
                <a:latin typeface="Times New Roman" panose="02020603050405020304" charset="0"/>
                <a:cs typeface="Times New Roman" panose="02020603050405020304" charset="0"/>
              </a:rPr>
              <a:t>putchar(“\n”);</a:t>
            </a:r>
            <a:endParaRPr sz="2400" b="1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42717" y="488251"/>
            <a:ext cx="6910070" cy="6889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>
                <a:solidFill>
                  <a:schemeClr val="tx1"/>
                </a:solidFill>
              </a:rPr>
              <a:t>USING PUTCHAR AN</a:t>
            </a:r>
            <a:r>
              <a:rPr lang="en-IN" spc="-5" dirty="0">
                <a:solidFill>
                  <a:schemeClr val="tx1"/>
                </a:solidFill>
              </a:rPr>
              <a:t>D</a:t>
            </a:r>
            <a:r>
              <a:rPr spc="-25" dirty="0">
                <a:solidFill>
                  <a:schemeClr val="tx1"/>
                </a:solidFill>
              </a:rPr>
              <a:t> </a:t>
            </a:r>
            <a:r>
              <a:rPr spc="-5" dirty="0">
                <a:solidFill>
                  <a:schemeClr val="tx1"/>
                </a:solidFill>
              </a:rPr>
              <a:t>PUTS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53540" y="1652905"/>
            <a:ext cx="8884920" cy="39535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3695" marR="341630" indent="-341630">
              <a:lnSpc>
                <a:spcPct val="100000"/>
              </a:lnSpc>
              <a:spcBef>
                <a:spcPts val="95"/>
              </a:spcBef>
              <a:buChar char="•"/>
              <a:tabLst>
                <a:tab pos="353695" algn="l"/>
                <a:tab pos="354330" algn="l"/>
              </a:tabLst>
            </a:pP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To 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print the string </a:t>
            </a: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values is to use the 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function  </a:t>
            </a:r>
            <a:r>
              <a:rPr sz="2200" b="1" spc="-5" dirty="0">
                <a:latin typeface="Times New Roman" panose="02020603050405020304" charset="0"/>
                <a:cs typeface="Times New Roman" panose="02020603050405020304" charset="0"/>
              </a:rPr>
              <a:t>puts declared in the header file</a:t>
            </a:r>
            <a:r>
              <a:rPr sz="2200" b="1" spc="5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200" b="1" dirty="0">
                <a:latin typeface="Times New Roman" panose="02020603050405020304" charset="0"/>
                <a:cs typeface="Times New Roman" panose="02020603050405020304" charset="0"/>
              </a:rPr>
              <a:t>&lt;stdio.h&gt;</a:t>
            </a:r>
            <a:endParaRPr sz="22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1383665">
              <a:lnSpc>
                <a:spcPct val="100000"/>
              </a:lnSpc>
              <a:spcBef>
                <a:spcPts val="505"/>
              </a:spcBef>
            </a:pPr>
            <a:r>
              <a:rPr sz="2200" b="1" dirty="0">
                <a:latin typeface="Times New Roman" panose="02020603050405020304" charset="0"/>
                <a:cs typeface="Times New Roman" panose="02020603050405020304" charset="0"/>
              </a:rPr>
              <a:t>puts(str);</a:t>
            </a:r>
            <a:endParaRPr sz="22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353695" indent="-341630">
              <a:lnSpc>
                <a:spcPct val="100000"/>
              </a:lnSpc>
              <a:spcBef>
                <a:spcPts val="795"/>
              </a:spcBef>
              <a:buChar char="•"/>
              <a:tabLst>
                <a:tab pos="353695" algn="l"/>
                <a:tab pos="354330" algn="l"/>
              </a:tabLst>
            </a:pP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str </a:t>
            </a: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is a string 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variable containing </a:t>
            </a: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a 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string</a:t>
            </a: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 value.</a:t>
            </a:r>
            <a:endParaRPr sz="2200">
              <a:latin typeface="Times New Roman" panose="02020603050405020304" charset="0"/>
              <a:cs typeface="Times New Roman" panose="02020603050405020304" charset="0"/>
            </a:endParaRPr>
          </a:p>
          <a:p>
            <a:pPr marL="353695" marR="5080" indent="-341630">
              <a:lnSpc>
                <a:spcPct val="100000"/>
              </a:lnSpc>
              <a:spcBef>
                <a:spcPts val="800"/>
              </a:spcBef>
              <a:buChar char="•"/>
              <a:tabLst>
                <a:tab pos="353695" algn="l"/>
                <a:tab pos="354330" algn="l"/>
              </a:tabLst>
            </a:pP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This 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printf </a:t>
            </a: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the value 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of the </a:t>
            </a: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string 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variable str </a:t>
            </a: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and  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then </a:t>
            </a: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moves the 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cursor </a:t>
            </a: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to the beginning of the  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next </a:t>
            </a: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line 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on the</a:t>
            </a: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screen.</a:t>
            </a:r>
            <a:endParaRPr sz="2200">
              <a:latin typeface="Times New Roman" panose="02020603050405020304" charset="0"/>
              <a:cs typeface="Times New Roman" panose="02020603050405020304" charset="0"/>
            </a:endParaRPr>
          </a:p>
          <a:p>
            <a:pPr marL="1383665" marR="4825365">
              <a:lnSpc>
                <a:spcPct val="118000"/>
              </a:lnSpc>
              <a:spcBef>
                <a:spcPts val="10"/>
              </a:spcBef>
            </a:pPr>
            <a:r>
              <a:rPr sz="2200" b="1" spc="-5" dirty="0">
                <a:latin typeface="Times New Roman" panose="02020603050405020304" charset="0"/>
                <a:cs typeface="Times New Roman" panose="02020603050405020304" charset="0"/>
              </a:rPr>
              <a:t>char</a:t>
            </a:r>
            <a:r>
              <a:rPr sz="2200" b="1" spc="-5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200" b="1" spc="-5" dirty="0">
                <a:latin typeface="Times New Roman" panose="02020603050405020304" charset="0"/>
                <a:cs typeface="Times New Roman" panose="02020603050405020304" charset="0"/>
              </a:rPr>
              <a:t>line[80];  gets(line);  </a:t>
            </a:r>
          </a:p>
          <a:p>
            <a:pPr marL="1383665" marR="4825365">
              <a:lnSpc>
                <a:spcPct val="118000"/>
              </a:lnSpc>
              <a:spcBef>
                <a:spcPts val="10"/>
              </a:spcBef>
            </a:pPr>
            <a:r>
              <a:rPr sz="2200" b="1" spc="-5" dirty="0">
                <a:latin typeface="Times New Roman" panose="02020603050405020304" charset="0"/>
                <a:cs typeface="Times New Roman" panose="02020603050405020304" charset="0"/>
              </a:rPr>
              <a:t>puts(line);</a:t>
            </a:r>
            <a:endParaRPr sz="22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353695" marR="893445" indent="-341630">
              <a:lnSpc>
                <a:spcPct val="100000"/>
              </a:lnSpc>
              <a:spcBef>
                <a:spcPts val="790"/>
              </a:spcBef>
              <a:buChar char="•"/>
              <a:tabLst>
                <a:tab pos="353695" algn="l"/>
                <a:tab pos="354330" algn="l"/>
              </a:tabLst>
            </a:pP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Reads a line of 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text </a:t>
            </a: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from the keyboard and  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display </a:t>
            </a: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it on the</a:t>
            </a:r>
            <a:r>
              <a:rPr sz="2200" spc="1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screen.</a:t>
            </a:r>
            <a:endParaRPr sz="22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92197" y="488251"/>
            <a:ext cx="7607934" cy="6889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>
                <a:solidFill>
                  <a:schemeClr val="tx1"/>
                </a:solidFill>
              </a:rPr>
              <a:t>PUTTING STRINGS</a:t>
            </a:r>
            <a:r>
              <a:rPr spc="-35" dirty="0">
                <a:solidFill>
                  <a:schemeClr val="tx1"/>
                </a:solidFill>
              </a:rPr>
              <a:t> </a:t>
            </a:r>
            <a:r>
              <a:rPr spc="-10" dirty="0">
                <a:solidFill>
                  <a:schemeClr val="tx1"/>
                </a:solidFill>
              </a:rPr>
              <a:t>TOGETHER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24890" y="1938655"/>
            <a:ext cx="10508615" cy="2578270"/>
          </a:xfrm>
          <a:prstGeom prst="rect">
            <a:avLst/>
          </a:prstGeom>
        </p:spPr>
        <p:txBody>
          <a:bodyPr vert="horz" wrap="square" lIns="0" tIns="114935" rIns="0" bIns="0" rtlCol="0">
            <a:spAutoFit/>
          </a:bodyPr>
          <a:lstStyle/>
          <a:p>
            <a:pPr marL="353695" indent="-341630">
              <a:lnSpc>
                <a:spcPct val="100000"/>
              </a:lnSpc>
              <a:spcBef>
                <a:spcPts val="905"/>
              </a:spcBef>
              <a:buChar char="•"/>
              <a:tabLst>
                <a:tab pos="353695" algn="l"/>
                <a:tab pos="354330" algn="l"/>
              </a:tabLst>
            </a:pPr>
            <a:r>
              <a:rPr sz="2800" spc="-5" dirty="0">
                <a:latin typeface="Times New Roman" panose="02020603050405020304" charset="0"/>
                <a:cs typeface="Times New Roman" panose="02020603050405020304" charset="0"/>
              </a:rPr>
              <a:t>We cannot assign the string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to another</a:t>
            </a:r>
            <a:r>
              <a:rPr sz="2800" spc="3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directly</a:t>
            </a:r>
            <a:r>
              <a:rPr lang="en-IN" sz="2800" dirty="0">
                <a:latin typeface="Times New Roman" panose="02020603050405020304" charset="0"/>
                <a:cs typeface="Times New Roman" panose="02020603050405020304" charset="0"/>
              </a:rPr>
              <a:t>.</a:t>
            </a:r>
            <a:endParaRPr sz="2800">
              <a:latin typeface="Times New Roman" panose="02020603050405020304" charset="0"/>
              <a:cs typeface="Times New Roman" panose="02020603050405020304" charset="0"/>
            </a:endParaRPr>
          </a:p>
          <a:p>
            <a:pPr marL="353695" marR="1016635" indent="-341630">
              <a:lnSpc>
                <a:spcPct val="100000"/>
              </a:lnSpc>
              <a:spcBef>
                <a:spcPts val="800"/>
              </a:spcBef>
              <a:buChar char="•"/>
              <a:tabLst>
                <a:tab pos="353695" algn="l"/>
                <a:tab pos="354330" algn="l"/>
              </a:tabLst>
            </a:pPr>
            <a:r>
              <a:rPr sz="2800" spc="-5" dirty="0">
                <a:latin typeface="Times New Roman" panose="02020603050405020304" charset="0"/>
                <a:cs typeface="Times New Roman" panose="02020603050405020304" charset="0"/>
              </a:rPr>
              <a:t>We cannot join two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strings together </a:t>
            </a:r>
            <a:r>
              <a:rPr sz="2800" spc="-5" dirty="0">
                <a:latin typeface="Times New Roman" panose="02020603050405020304" charset="0"/>
                <a:cs typeface="Times New Roman" panose="02020603050405020304" charset="0"/>
              </a:rPr>
              <a:t>by the  simple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arithmetic</a:t>
            </a:r>
            <a:r>
              <a:rPr sz="2800" spc="2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addition</a:t>
            </a:r>
          </a:p>
          <a:p>
            <a:pPr marL="926465" marR="1016635" lvl="2" indent="0">
              <a:lnSpc>
                <a:spcPct val="100000"/>
              </a:lnSpc>
              <a:spcBef>
                <a:spcPts val="800"/>
              </a:spcBef>
              <a:buNone/>
              <a:tabLst>
                <a:tab pos="353695" algn="l"/>
                <a:tab pos="354330" algn="l"/>
              </a:tabLst>
            </a:pPr>
            <a:r>
              <a:rPr sz="2800" spc="-5" dirty="0">
                <a:latin typeface="Times New Roman" panose="02020603050405020304" charset="0"/>
                <a:cs typeface="Times New Roman" panose="02020603050405020304" charset="0"/>
              </a:rPr>
              <a:t>string3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= </a:t>
            </a:r>
            <a:r>
              <a:rPr sz="2800" spc="-5" dirty="0">
                <a:latin typeface="Times New Roman" panose="02020603050405020304" charset="0"/>
                <a:cs typeface="Times New Roman" panose="02020603050405020304" charset="0"/>
              </a:rPr>
              <a:t>strin</a:t>
            </a:r>
            <a:r>
              <a:rPr lang="en-IN" sz="2800" spc="-5" dirty="0">
                <a:latin typeface="Times New Roman" panose="02020603050405020304" charset="0"/>
                <a:cs typeface="Times New Roman" panose="02020603050405020304" charset="0"/>
              </a:rPr>
              <a:t>g</a:t>
            </a:r>
            <a:r>
              <a:rPr sz="2800" spc="-5" dirty="0">
                <a:latin typeface="Times New Roman" panose="02020603050405020304" charset="0"/>
                <a:cs typeface="Times New Roman" panose="02020603050405020304" charset="0"/>
              </a:rPr>
              <a:t>1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+ string2;  string2 = string1 +</a:t>
            </a:r>
            <a:r>
              <a:rPr sz="2800" spc="-8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spc="-5" dirty="0">
                <a:latin typeface="Times New Roman" panose="02020603050405020304" charset="0"/>
                <a:cs typeface="Times New Roman" panose="02020603050405020304" charset="0"/>
              </a:rPr>
              <a:t>“hello”;</a:t>
            </a:r>
            <a:endParaRPr sz="2800">
              <a:latin typeface="Times New Roman" panose="02020603050405020304" charset="0"/>
              <a:cs typeface="Times New Roman" panose="02020603050405020304" charset="0"/>
            </a:endParaRPr>
          </a:p>
          <a:p>
            <a:pPr marL="353695" marR="5080" indent="-341630">
              <a:lnSpc>
                <a:spcPct val="100000"/>
              </a:lnSpc>
              <a:spcBef>
                <a:spcPts val="790"/>
              </a:spcBef>
              <a:buClr>
                <a:srgbClr val="000000"/>
              </a:buClr>
              <a:buChar char="•"/>
              <a:tabLst>
                <a:tab pos="353695" algn="l"/>
                <a:tab pos="354330" algn="l"/>
              </a:tabLst>
            </a:pPr>
            <a:r>
              <a:rPr sz="2800" spc="-5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The </a:t>
            </a:r>
            <a:r>
              <a:rPr sz="2800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process </a:t>
            </a:r>
            <a:r>
              <a:rPr sz="2800" spc="-5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of combining two </a:t>
            </a:r>
            <a:r>
              <a:rPr sz="2800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strings together </a:t>
            </a:r>
            <a:r>
              <a:rPr sz="2800" spc="-5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is called</a:t>
            </a:r>
            <a:r>
              <a:rPr sz="2800" spc="-10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b="1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concatenation</a:t>
            </a:r>
            <a:endParaRPr sz="2800" b="1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63597" y="488251"/>
            <a:ext cx="8062595" cy="6889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>
                <a:solidFill>
                  <a:schemeClr val="tx1"/>
                </a:solidFill>
              </a:rPr>
              <a:t>COMPARISON OF TWO</a:t>
            </a:r>
            <a:r>
              <a:rPr spc="-50" dirty="0">
                <a:solidFill>
                  <a:schemeClr val="tx1"/>
                </a:solidFill>
              </a:rPr>
              <a:t> </a:t>
            </a:r>
            <a:r>
              <a:rPr spc="-5" dirty="0">
                <a:solidFill>
                  <a:schemeClr val="tx1"/>
                </a:solidFill>
              </a:rPr>
              <a:t>STRINGS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27225" y="1795780"/>
            <a:ext cx="8582660" cy="340360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353695" marR="45085" indent="-341630" algn="just">
              <a:lnSpc>
                <a:spcPts val="3020"/>
              </a:lnSpc>
              <a:spcBef>
                <a:spcPts val="480"/>
              </a:spcBef>
              <a:buChar char="•"/>
              <a:tabLst>
                <a:tab pos="353695" algn="l"/>
                <a:tab pos="354330" algn="l"/>
              </a:tabLst>
            </a:pP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C does 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not </a:t>
            </a: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permit the comparison of two 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strings  directly</a:t>
            </a:r>
            <a:endParaRPr sz="2200">
              <a:latin typeface="Times New Roman" panose="02020603050405020304" charset="0"/>
              <a:cs typeface="Times New Roman" panose="02020603050405020304" charset="0"/>
            </a:endParaRPr>
          </a:p>
          <a:p>
            <a:pPr marL="1838325" algn="just">
              <a:lnSpc>
                <a:spcPct val="100000"/>
              </a:lnSpc>
              <a:spcBef>
                <a:spcPts val="720"/>
              </a:spcBef>
            </a:pP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if(name1 ==</a:t>
            </a: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name2)</a:t>
            </a:r>
            <a:endParaRPr sz="2200">
              <a:latin typeface="Times New Roman" panose="02020603050405020304" charset="0"/>
              <a:cs typeface="Times New Roman" panose="02020603050405020304" charset="0"/>
            </a:endParaRPr>
          </a:p>
          <a:p>
            <a:pPr marL="1838325" algn="just">
              <a:lnSpc>
                <a:spcPct val="100000"/>
              </a:lnSpc>
              <a:spcBef>
                <a:spcPts val="505"/>
              </a:spcBef>
            </a:pP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if(name 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==</a:t>
            </a:r>
            <a:r>
              <a:rPr sz="2200" spc="-2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“ABC”)</a:t>
            </a:r>
            <a:endParaRPr sz="2200">
              <a:latin typeface="Times New Roman" panose="02020603050405020304" charset="0"/>
              <a:cs typeface="Times New Roman" panose="02020603050405020304" charset="0"/>
            </a:endParaRPr>
          </a:p>
          <a:p>
            <a:pPr marL="12065" indent="0" algn="just">
              <a:lnSpc>
                <a:spcPct val="100000"/>
              </a:lnSpc>
              <a:spcBef>
                <a:spcPts val="355"/>
              </a:spcBef>
              <a:buNone/>
              <a:tabLst>
                <a:tab pos="353695" algn="l"/>
                <a:tab pos="354330" algn="l"/>
              </a:tabLst>
            </a:pPr>
            <a:r>
              <a:rPr lang="en-IN" sz="2200" spc="-5" dirty="0">
                <a:latin typeface="Times New Roman" panose="02020603050405020304" charset="0"/>
                <a:cs typeface="Times New Roman" panose="02020603050405020304" charset="0"/>
              </a:rPr>
              <a:t>			</a:t>
            </a: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are 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not </a:t>
            </a: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permitted</a:t>
            </a:r>
            <a:endParaRPr sz="2200">
              <a:latin typeface="Times New Roman" panose="02020603050405020304" charset="0"/>
              <a:cs typeface="Times New Roman" panose="02020603050405020304" charset="0"/>
            </a:endParaRPr>
          </a:p>
          <a:p>
            <a:pPr marL="353695" marR="660400" indent="-341630" algn="just">
              <a:lnSpc>
                <a:spcPts val="3030"/>
              </a:lnSpc>
              <a:spcBef>
                <a:spcPts val="735"/>
              </a:spcBef>
              <a:buChar char="•"/>
              <a:tabLst>
                <a:tab pos="353695" algn="l"/>
                <a:tab pos="354330" algn="l"/>
              </a:tabLst>
            </a:pP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It is 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therefore necessary </a:t>
            </a: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to compare the two  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strings </a:t>
            </a: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to be 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tested, </a:t>
            </a: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character by</a:t>
            </a:r>
            <a:r>
              <a:rPr sz="2200" spc="1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character</a:t>
            </a:r>
            <a:r>
              <a:rPr lang="en-IN" sz="2200" spc="-5" dirty="0">
                <a:latin typeface="Times New Roman" panose="02020603050405020304" charset="0"/>
                <a:cs typeface="Times New Roman" panose="02020603050405020304" charset="0"/>
              </a:rPr>
              <a:t>.</a:t>
            </a:r>
            <a:endParaRPr sz="2200">
              <a:latin typeface="Times New Roman" panose="02020603050405020304" charset="0"/>
              <a:cs typeface="Times New Roman" panose="02020603050405020304" charset="0"/>
            </a:endParaRPr>
          </a:p>
          <a:p>
            <a:pPr marL="353695" marR="5080" indent="-341630" algn="just">
              <a:lnSpc>
                <a:spcPts val="3020"/>
              </a:lnSpc>
              <a:spcBef>
                <a:spcPts val="710"/>
              </a:spcBef>
              <a:buChar char="•"/>
              <a:tabLst>
                <a:tab pos="353695" algn="l"/>
                <a:tab pos="354330" algn="l"/>
              </a:tabLst>
            </a:pP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The comparison is done 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until </a:t>
            </a: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a mismatch or one  of the 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strings </a:t>
            </a: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terminates into a 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null character,  </a:t>
            </a: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whichever occur</a:t>
            </a:r>
            <a:r>
              <a:rPr sz="2200" spc="1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first</a:t>
            </a:r>
            <a:r>
              <a:rPr lang="en-IN" sz="2200" spc="-5" dirty="0">
                <a:latin typeface="Times New Roman" panose="02020603050405020304" charset="0"/>
                <a:cs typeface="Times New Roman" panose="02020603050405020304" charset="0"/>
              </a:rPr>
              <a:t>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77897" y="488251"/>
            <a:ext cx="7836534" cy="6889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>
                <a:solidFill>
                  <a:schemeClr val="tx1"/>
                </a:solidFill>
              </a:rPr>
              <a:t>STRING-HANDLING</a:t>
            </a:r>
            <a:r>
              <a:rPr spc="-45" dirty="0">
                <a:solidFill>
                  <a:schemeClr val="tx1"/>
                </a:solidFill>
              </a:rPr>
              <a:t> </a:t>
            </a:r>
            <a:r>
              <a:rPr spc="-5" dirty="0">
                <a:solidFill>
                  <a:schemeClr val="tx1"/>
                </a:solidFill>
              </a:rPr>
              <a:t>FUNCTIONS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58670" y="1625600"/>
            <a:ext cx="7956550" cy="12338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3695" marR="5080" indent="-341630">
              <a:lnSpc>
                <a:spcPct val="100000"/>
              </a:lnSpc>
              <a:spcBef>
                <a:spcPts val="95"/>
              </a:spcBef>
              <a:buChar char="•"/>
              <a:tabLst>
                <a:tab pos="353695" algn="l"/>
                <a:tab pos="354330" algn="l"/>
              </a:tabLst>
            </a:pP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C library supports large 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number </a:t>
            </a: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of </a:t>
            </a:r>
            <a:r>
              <a:rPr sz="2200" spc="5" dirty="0">
                <a:latin typeface="Times New Roman" panose="02020603050405020304" charset="0"/>
                <a:cs typeface="Times New Roman" panose="02020603050405020304" charset="0"/>
              </a:rPr>
              <a:t>string-  </a:t>
            </a: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handling</a:t>
            </a:r>
            <a:r>
              <a:rPr sz="2200" spc="1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functions</a:t>
            </a:r>
            <a:endParaRPr sz="2200">
              <a:latin typeface="Times New Roman" panose="02020603050405020304" charset="0"/>
              <a:cs typeface="Times New Roman" panose="02020603050405020304" charset="0"/>
            </a:endParaRPr>
          </a:p>
          <a:p>
            <a:pPr marL="353695" indent="-341630">
              <a:lnSpc>
                <a:spcPct val="100000"/>
              </a:lnSpc>
              <a:spcBef>
                <a:spcPts val="805"/>
              </a:spcBef>
              <a:buChar char="•"/>
              <a:tabLst>
                <a:tab pos="353695" algn="l"/>
                <a:tab pos="354330" algn="l"/>
              </a:tabLst>
            </a:pP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Some</a:t>
            </a:r>
            <a:r>
              <a:rPr sz="2200" spc="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are</a:t>
            </a:r>
          </a:p>
          <a:p>
            <a:pPr marL="353695" indent="-341630">
              <a:lnSpc>
                <a:spcPct val="100000"/>
              </a:lnSpc>
              <a:spcBef>
                <a:spcPts val="805"/>
              </a:spcBef>
              <a:buChar char="•"/>
              <a:tabLst>
                <a:tab pos="353695" algn="l"/>
                <a:tab pos="354330" algn="l"/>
              </a:tabLst>
            </a:pPr>
            <a:endParaRPr sz="2200">
              <a:latin typeface="Times New Roman" panose="02020603050405020304" charset="0"/>
              <a:cs typeface="Times New Roman" panose="02020603050405020304" charset="0"/>
            </a:endParaRPr>
          </a:p>
        </p:txBody>
      </p:sp>
      <p:graphicFrame>
        <p:nvGraphicFramePr>
          <p:cNvPr id="5" name="Table 4"/>
          <p:cNvGraphicFramePr/>
          <p:nvPr/>
        </p:nvGraphicFramePr>
        <p:xfrm>
          <a:off x="2630170" y="2707005"/>
          <a:ext cx="7306310" cy="340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806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00824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4254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altLang="en-US" sz="2000">
                          <a:latin typeface="Times New Roman" panose="02020603050405020304" charset="0"/>
                          <a:cs typeface="Times New Roman" panose="02020603050405020304" charset="0"/>
                        </a:rPr>
                        <a:t>FUNCTION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altLang="en-US" sz="2000">
                          <a:latin typeface="Times New Roman" panose="02020603050405020304" charset="0"/>
                          <a:cs typeface="Times New Roman" panose="02020603050405020304" charset="0"/>
                        </a:rPr>
                        <a:t>ACTION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254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altLang="en-US" sz="2000">
                          <a:latin typeface="Times New Roman" panose="02020603050405020304" charset="0"/>
                          <a:cs typeface="Times New Roman" panose="02020603050405020304" charset="0"/>
                        </a:rPr>
                        <a:t>strlen(s1)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altLang="en-US" sz="2000">
                          <a:latin typeface="Times New Roman" panose="02020603050405020304" charset="0"/>
                          <a:cs typeface="Times New Roman" panose="02020603050405020304" charset="0"/>
                        </a:rPr>
                        <a:t>Finds the length of the string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254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altLang="en-US" sz="2000">
                          <a:latin typeface="Times New Roman" panose="02020603050405020304" charset="0"/>
                          <a:cs typeface="Times New Roman" panose="02020603050405020304" charset="0"/>
                        </a:rPr>
                        <a:t>strcpy(s1,s2)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altLang="en-US" sz="2000">
                          <a:latin typeface="Times New Roman" panose="02020603050405020304" charset="0"/>
                          <a:cs typeface="Times New Roman" panose="02020603050405020304" charset="0"/>
                        </a:rPr>
                        <a:t>Copies one string over another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254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altLang="en-US" sz="2000">
                          <a:latin typeface="Times New Roman" panose="02020603050405020304" charset="0"/>
                          <a:cs typeface="Times New Roman" panose="02020603050405020304" charset="0"/>
                        </a:rPr>
                        <a:t>strcat(s1,s2)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altLang="en-US" sz="2000">
                          <a:latin typeface="Times New Roman" panose="02020603050405020304" charset="0"/>
                          <a:cs typeface="Times New Roman" panose="02020603050405020304" charset="0"/>
                        </a:rPr>
                        <a:t>Concatenates two strings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254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altLang="en-US" sz="2000">
                          <a:latin typeface="Times New Roman" panose="02020603050405020304" charset="0"/>
                          <a:cs typeface="Times New Roman" panose="02020603050405020304" charset="0"/>
                        </a:rPr>
                        <a:t>strcmp(s1,s2)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altLang="en-US" sz="2000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Compares two strings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4254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altLang="en-US" sz="2000">
                          <a:latin typeface="Times New Roman" panose="02020603050405020304" charset="0"/>
                          <a:cs typeface="Times New Roman" panose="02020603050405020304" charset="0"/>
                        </a:rPr>
                        <a:t>strchr(s1,ch)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altLang="en-US" sz="2000">
                          <a:latin typeface="Times New Roman" panose="02020603050405020304" charset="0"/>
                          <a:cs typeface="Times New Roman" panose="02020603050405020304" charset="0"/>
                        </a:rPr>
                        <a:t>Finds a character in string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4254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altLang="en-US" sz="2000">
                          <a:latin typeface="Times New Roman" panose="02020603050405020304" charset="0"/>
                          <a:cs typeface="Times New Roman" panose="02020603050405020304" charset="0"/>
                        </a:rPr>
                        <a:t>strstr(s1,s2)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altLang="en-US" sz="2000">
                          <a:latin typeface="Times New Roman" panose="02020603050405020304" charset="0"/>
                          <a:cs typeface="Times New Roman" panose="02020603050405020304" charset="0"/>
                        </a:rPr>
                        <a:t>Finds the substring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4254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altLang="en-US" sz="2000">
                          <a:latin typeface="Times New Roman" panose="02020603050405020304" charset="0"/>
                          <a:cs typeface="Times New Roman" panose="02020603050405020304" charset="0"/>
                        </a:rPr>
                        <a:t>strrev(s1)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altLang="en-US" sz="2000">
                          <a:latin typeface="Times New Roman" panose="02020603050405020304" charset="0"/>
                          <a:cs typeface="Times New Roman" panose="02020603050405020304" charset="0"/>
                        </a:rPr>
                        <a:t>Reverse the string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211317" y="234887"/>
            <a:ext cx="1766570" cy="6896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>
                <a:solidFill>
                  <a:schemeClr val="tx1"/>
                </a:solidFill>
              </a:rPr>
              <a:t>Strings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58670" y="1068705"/>
            <a:ext cx="7795260" cy="873316"/>
          </a:xfrm>
          <a:prstGeom prst="rect">
            <a:avLst/>
          </a:prstGeom>
        </p:spPr>
        <p:txBody>
          <a:bodyPr vert="horz" wrap="square" lIns="0" tIns="87630" rIns="0" bIns="0" rtlCol="0">
            <a:spAutoFit/>
          </a:bodyPr>
          <a:lstStyle/>
          <a:p>
            <a:pPr marL="424815" indent="-285750">
              <a:lnSpc>
                <a:spcPct val="100000"/>
              </a:lnSpc>
              <a:spcBef>
                <a:spcPts val="690"/>
              </a:spcBef>
              <a:buFont typeface="Arial" panose="020B0604020202020204" pitchFamily="34" charset="0"/>
              <a:buChar char="•"/>
            </a:pPr>
            <a:r>
              <a:rPr sz="1800" spc="-5" dirty="0">
                <a:latin typeface="Arial" panose="020B0604020202020204"/>
                <a:cs typeface="Arial" panose="020B0604020202020204"/>
              </a:rPr>
              <a:t>There </a:t>
            </a:r>
            <a:r>
              <a:rPr sz="1800" dirty="0">
                <a:latin typeface="Arial" panose="020B0604020202020204"/>
                <a:cs typeface="Arial" panose="020B0604020202020204"/>
              </a:rPr>
              <a:t>are 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several standard routines that </a:t>
            </a:r>
            <a:r>
              <a:rPr sz="1800" spc="-15" dirty="0">
                <a:latin typeface="Arial" panose="020B0604020202020204"/>
                <a:cs typeface="Arial" panose="020B0604020202020204"/>
              </a:rPr>
              <a:t>work 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on string</a:t>
            </a:r>
            <a:r>
              <a:rPr sz="1800" spc="95" dirty="0">
                <a:latin typeface="Arial" panose="020B0604020202020204"/>
                <a:cs typeface="Arial" panose="020B0604020202020204"/>
              </a:rPr>
              <a:t> 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variables.</a:t>
            </a:r>
            <a:endParaRPr sz="1800">
              <a:latin typeface="Arial" panose="020B0604020202020204"/>
              <a:cs typeface="Arial" panose="020B0604020202020204"/>
            </a:endParaRPr>
          </a:p>
          <a:p>
            <a:pPr marL="298450" indent="-285750">
              <a:lnSpc>
                <a:spcPct val="100000"/>
              </a:lnSpc>
              <a:spcBef>
                <a:spcPts val="590"/>
              </a:spcBef>
              <a:buFont typeface="Arial" panose="020B0604020202020204" pitchFamily="34" charset="0"/>
              <a:buChar char="•"/>
            </a:pPr>
            <a:r>
              <a:rPr sz="1800" spc="-5" dirty="0">
                <a:latin typeface="Arial" panose="020B0604020202020204"/>
                <a:cs typeface="Arial" panose="020B0604020202020204"/>
              </a:rPr>
              <a:t>Some of </a:t>
            </a:r>
            <a:r>
              <a:rPr sz="1800" dirty="0">
                <a:latin typeface="Arial" panose="020B0604020202020204"/>
                <a:cs typeface="Arial" panose="020B0604020202020204"/>
              </a:rPr>
              <a:t>the </a:t>
            </a:r>
            <a:r>
              <a:rPr sz="2800" spc="-5" dirty="0">
                <a:latin typeface="Arial" panose="020B0604020202020204"/>
                <a:cs typeface="Arial" panose="020B0604020202020204"/>
              </a:rPr>
              <a:t>string manipulation functions</a:t>
            </a:r>
            <a:r>
              <a:rPr sz="2800" spc="45" dirty="0">
                <a:latin typeface="Arial" panose="020B0604020202020204"/>
                <a:cs typeface="Arial" panose="020B0604020202020204"/>
              </a:rPr>
              <a:t> 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are,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401620" y="2114803"/>
            <a:ext cx="2566670" cy="10674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127000"/>
              </a:lnSpc>
              <a:spcBef>
                <a:spcPts val="105"/>
              </a:spcBef>
            </a:pPr>
            <a:r>
              <a:rPr sz="1800" spc="-5" dirty="0">
                <a:latin typeface="Arial" panose="020B0604020202020204"/>
                <a:cs typeface="Arial" panose="020B0604020202020204"/>
              </a:rPr>
              <a:t>strcpy(string1, string2); </a:t>
            </a:r>
            <a:r>
              <a:rPr sz="1800" dirty="0">
                <a:latin typeface="Arial" panose="020B0604020202020204"/>
                <a:cs typeface="Arial" panose="020B0604020202020204"/>
              </a:rPr>
              <a:t>-  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strcat(string1, string2); </a:t>
            </a:r>
            <a:r>
              <a:rPr sz="1800" dirty="0">
                <a:latin typeface="Arial" panose="020B0604020202020204"/>
                <a:cs typeface="Arial" panose="020B0604020202020204"/>
              </a:rPr>
              <a:t>-  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strcmp(string1,string2);</a:t>
            </a:r>
            <a:r>
              <a:rPr sz="1800" spc="20" dirty="0">
                <a:latin typeface="Arial" panose="020B0604020202020204"/>
                <a:cs typeface="Arial" panose="020B0604020202020204"/>
              </a:rPr>
              <a:t> 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-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01620" y="3831082"/>
            <a:ext cx="1356995" cy="289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" panose="020B0604020202020204"/>
                <a:cs typeface="Arial" panose="020B0604020202020204"/>
              </a:rPr>
              <a:t>strlen(string);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866259" y="3831082"/>
            <a:ext cx="101600" cy="289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 panose="020B0604020202020204"/>
                <a:cs typeface="Arial" panose="020B0604020202020204"/>
              </a:rPr>
              <a:t>-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716651" y="2114803"/>
            <a:ext cx="4356100" cy="2019935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sz="1800" spc="-5" dirty="0">
                <a:latin typeface="Arial" panose="020B0604020202020204"/>
                <a:cs typeface="Arial" panose="020B0604020202020204"/>
              </a:rPr>
              <a:t>copy string2 into</a:t>
            </a:r>
            <a:r>
              <a:rPr sz="1800" spc="10" dirty="0">
                <a:latin typeface="Arial" panose="020B0604020202020204"/>
                <a:cs typeface="Arial" panose="020B0604020202020204"/>
              </a:rPr>
              <a:t> 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string1</a:t>
            </a:r>
            <a:endParaRPr sz="1800">
              <a:latin typeface="Arial" panose="020B0604020202020204"/>
              <a:cs typeface="Arial" panose="020B0604020202020204"/>
            </a:endParaRPr>
          </a:p>
          <a:p>
            <a:pPr marL="12700" marR="5080">
              <a:lnSpc>
                <a:spcPct val="127000"/>
              </a:lnSpc>
              <a:spcBef>
                <a:spcPts val="10"/>
              </a:spcBef>
            </a:pPr>
            <a:r>
              <a:rPr sz="1800" spc="-5" dirty="0">
                <a:latin typeface="Arial" panose="020B0604020202020204"/>
                <a:cs typeface="Arial" panose="020B0604020202020204"/>
              </a:rPr>
              <a:t>concatenate string2 onto the end </a:t>
            </a:r>
            <a:r>
              <a:rPr sz="1800" dirty="0">
                <a:latin typeface="Arial" panose="020B0604020202020204"/>
                <a:cs typeface="Arial" panose="020B0604020202020204"/>
              </a:rPr>
              <a:t>of 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string1  0 </a:t>
            </a:r>
            <a:r>
              <a:rPr sz="1800" dirty="0">
                <a:latin typeface="Arial" panose="020B0604020202020204"/>
                <a:cs typeface="Arial" panose="020B0604020202020204"/>
              </a:rPr>
              <a:t>if 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string1 is equals </a:t>
            </a:r>
            <a:r>
              <a:rPr sz="1800" dirty="0">
                <a:latin typeface="Arial" panose="020B0604020202020204"/>
                <a:cs typeface="Arial" panose="020B0604020202020204"/>
              </a:rPr>
              <a:t>to</a:t>
            </a:r>
            <a:r>
              <a:rPr sz="1800" spc="10" dirty="0">
                <a:latin typeface="Arial" panose="020B0604020202020204"/>
                <a:cs typeface="Arial" panose="020B0604020202020204"/>
              </a:rPr>
              <a:t> 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string2,</a:t>
            </a:r>
            <a:endParaRPr sz="18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ts val="1945"/>
              </a:lnSpc>
            </a:pPr>
            <a:r>
              <a:rPr sz="1800" dirty="0">
                <a:latin typeface="Arial" panose="020B0604020202020204"/>
                <a:cs typeface="Arial" panose="020B0604020202020204"/>
              </a:rPr>
              <a:t>&lt; 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0 </a:t>
            </a:r>
            <a:r>
              <a:rPr sz="1800" dirty="0">
                <a:latin typeface="Arial" panose="020B0604020202020204"/>
                <a:cs typeface="Arial" panose="020B0604020202020204"/>
              </a:rPr>
              <a:t>if 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string1 is less than</a:t>
            </a:r>
            <a:r>
              <a:rPr sz="1800" spc="15" dirty="0">
                <a:latin typeface="Arial" panose="020B0604020202020204"/>
                <a:cs typeface="Arial" panose="020B0604020202020204"/>
              </a:rPr>
              <a:t> 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string2</a:t>
            </a:r>
            <a:endParaRPr sz="1800">
              <a:latin typeface="Arial" panose="020B0604020202020204"/>
              <a:cs typeface="Arial" panose="020B0604020202020204"/>
            </a:endParaRPr>
          </a:p>
          <a:p>
            <a:pPr marL="12700" marR="811530" indent="63500">
              <a:lnSpc>
                <a:spcPct val="127000"/>
              </a:lnSpc>
            </a:pPr>
            <a:r>
              <a:rPr sz="1800" spc="-5" dirty="0">
                <a:latin typeface="Arial" panose="020B0604020202020204"/>
                <a:cs typeface="Arial" panose="020B0604020202020204"/>
              </a:rPr>
              <a:t>&gt;0 </a:t>
            </a:r>
            <a:r>
              <a:rPr sz="1800" dirty="0">
                <a:latin typeface="Arial" panose="020B0604020202020204"/>
                <a:cs typeface="Arial" panose="020B0604020202020204"/>
              </a:rPr>
              <a:t>if 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string1 is greater than string2  get </a:t>
            </a:r>
            <a:r>
              <a:rPr sz="1800" dirty="0">
                <a:latin typeface="Arial" panose="020B0604020202020204"/>
                <a:cs typeface="Arial" panose="020B0604020202020204"/>
              </a:rPr>
              <a:t>the 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length </a:t>
            </a:r>
            <a:r>
              <a:rPr sz="1800" dirty="0">
                <a:latin typeface="Arial" panose="020B0604020202020204"/>
                <a:cs typeface="Arial" panose="020B0604020202020204"/>
              </a:rPr>
              <a:t>of 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a string.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401620" y="4527930"/>
            <a:ext cx="1370965" cy="289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" panose="020B0604020202020204"/>
                <a:cs typeface="Arial" panose="020B0604020202020204"/>
              </a:rPr>
              <a:t>strrev(string);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866259" y="4527930"/>
            <a:ext cx="101600" cy="289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 panose="020B0604020202020204"/>
                <a:cs typeface="Arial" panose="020B0604020202020204"/>
              </a:rPr>
              <a:t>-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716651" y="4453254"/>
            <a:ext cx="4025265" cy="7150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7000"/>
              </a:lnSpc>
              <a:spcBef>
                <a:spcPts val="100"/>
              </a:spcBef>
            </a:pPr>
            <a:r>
              <a:rPr sz="1800" spc="-5" dirty="0">
                <a:latin typeface="Arial" panose="020B0604020202020204"/>
                <a:cs typeface="Arial" panose="020B0604020202020204"/>
              </a:rPr>
              <a:t>reverse </a:t>
            </a:r>
            <a:r>
              <a:rPr sz="1800" dirty="0">
                <a:latin typeface="Arial" panose="020B0604020202020204"/>
                <a:cs typeface="Arial" panose="020B0604020202020204"/>
              </a:rPr>
              <a:t>the 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string and result is stored in  same</a:t>
            </a:r>
            <a:r>
              <a:rPr sz="180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string.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76980" y="335915"/>
            <a:ext cx="5908675" cy="6889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>
                <a:solidFill>
                  <a:schemeClr val="tx1"/>
                </a:solidFill>
              </a:rPr>
              <a:t>strlen()</a:t>
            </a:r>
            <a:r>
              <a:rPr spc="-20" dirty="0">
                <a:solidFill>
                  <a:schemeClr val="tx1"/>
                </a:solidFill>
              </a:rPr>
              <a:t> </a:t>
            </a:r>
            <a:r>
              <a:rPr spc="-10" dirty="0">
                <a:solidFill>
                  <a:schemeClr val="tx1"/>
                </a:solidFill>
              </a:rPr>
              <a:t>F</a:t>
            </a:r>
            <a:r>
              <a:rPr lang="en-IN" spc="-10" dirty="0">
                <a:solidFill>
                  <a:schemeClr val="tx1"/>
                </a:solidFill>
              </a:rPr>
              <a:t>unction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02740" y="1550670"/>
            <a:ext cx="9735820" cy="4745915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353695" marR="82550" indent="-341630">
              <a:lnSpc>
                <a:spcPts val="2690"/>
              </a:lnSpc>
              <a:spcBef>
                <a:spcPts val="740"/>
              </a:spcBef>
              <a:buChar char="•"/>
              <a:tabLst>
                <a:tab pos="353695" algn="l"/>
                <a:tab pos="354330" algn="l"/>
              </a:tabLst>
            </a:pPr>
            <a:r>
              <a:rPr sz="2400" spc="-5" dirty="0">
                <a:latin typeface="Times New Roman" panose="02020603050405020304" charset="0"/>
                <a:cs typeface="Times New Roman" panose="02020603050405020304" charset="0"/>
              </a:rPr>
              <a:t>This </a:t>
            </a:r>
            <a:r>
              <a:rPr sz="2400" dirty="0">
                <a:latin typeface="Times New Roman" panose="02020603050405020304" charset="0"/>
                <a:cs typeface="Times New Roman" panose="02020603050405020304" charset="0"/>
              </a:rPr>
              <a:t>function counts </a:t>
            </a:r>
            <a:r>
              <a:rPr sz="2400" spc="-5" dirty="0">
                <a:latin typeface="Times New Roman" panose="02020603050405020304" charset="0"/>
                <a:cs typeface="Times New Roman" panose="02020603050405020304" charset="0"/>
              </a:rPr>
              <a:t>and </a:t>
            </a:r>
            <a:r>
              <a:rPr sz="2400" dirty="0">
                <a:latin typeface="Times New Roman" panose="02020603050405020304" charset="0"/>
                <a:cs typeface="Times New Roman" panose="02020603050405020304" charset="0"/>
              </a:rPr>
              <a:t>return </a:t>
            </a:r>
            <a:r>
              <a:rPr sz="2400" spc="-5" dirty="0">
                <a:latin typeface="Times New Roman" panose="02020603050405020304" charset="0"/>
                <a:cs typeface="Times New Roman" panose="02020603050405020304" charset="0"/>
              </a:rPr>
              <a:t>the </a:t>
            </a:r>
            <a:r>
              <a:rPr sz="2400" dirty="0">
                <a:latin typeface="Times New Roman" panose="02020603050405020304" charset="0"/>
                <a:cs typeface="Times New Roman" panose="02020603050405020304" charset="0"/>
              </a:rPr>
              <a:t>number </a:t>
            </a:r>
            <a:r>
              <a:rPr sz="2400" spc="-5" dirty="0">
                <a:latin typeface="Times New Roman" panose="02020603050405020304" charset="0"/>
                <a:cs typeface="Times New Roman" panose="02020603050405020304" charset="0"/>
              </a:rPr>
              <a:t>of  </a:t>
            </a:r>
            <a:r>
              <a:rPr sz="2400" dirty="0">
                <a:latin typeface="Times New Roman" panose="02020603050405020304" charset="0"/>
                <a:cs typeface="Times New Roman" panose="02020603050405020304" charset="0"/>
              </a:rPr>
              <a:t>characters </a:t>
            </a:r>
            <a:r>
              <a:rPr sz="2400" spc="-5" dirty="0">
                <a:latin typeface="Times New Roman" panose="02020603050405020304" charset="0"/>
                <a:cs typeface="Times New Roman" panose="02020603050405020304" charset="0"/>
              </a:rPr>
              <a:t>in a</a:t>
            </a:r>
            <a:r>
              <a:rPr sz="240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400" spc="-5" dirty="0">
                <a:latin typeface="Times New Roman" panose="02020603050405020304" charset="0"/>
                <a:cs typeface="Times New Roman" panose="02020603050405020304" charset="0"/>
              </a:rPr>
              <a:t>string</a:t>
            </a:r>
            <a:endParaRPr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754380" lvl="1" indent="-285115">
              <a:lnSpc>
                <a:spcPct val="100000"/>
              </a:lnSpc>
              <a:spcBef>
                <a:spcPts val="735"/>
              </a:spcBef>
              <a:buChar char="–"/>
              <a:tabLst>
                <a:tab pos="755015" algn="l"/>
              </a:tabLst>
            </a:pPr>
            <a:r>
              <a:rPr sz="2400" spc="-5" dirty="0">
                <a:latin typeface="Times New Roman" panose="02020603050405020304" charset="0"/>
                <a:cs typeface="Times New Roman" panose="02020603050405020304" charset="0"/>
              </a:rPr>
              <a:t>SYNTAX:</a:t>
            </a:r>
            <a:endParaRPr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1838325">
              <a:lnSpc>
                <a:spcPts val="2835"/>
              </a:lnSpc>
              <a:spcBef>
                <a:spcPts val="25"/>
              </a:spcBef>
            </a:pPr>
            <a:r>
              <a:rPr sz="2400" b="1" spc="-5" dirty="0">
                <a:latin typeface="Times New Roman" panose="02020603050405020304" charset="0"/>
                <a:cs typeface="Times New Roman" panose="02020603050405020304" charset="0"/>
              </a:rPr>
              <a:t>n </a:t>
            </a:r>
            <a:r>
              <a:rPr sz="2400" b="1" dirty="0">
                <a:latin typeface="Times New Roman" panose="02020603050405020304" charset="0"/>
                <a:cs typeface="Times New Roman" panose="02020603050405020304" charset="0"/>
              </a:rPr>
              <a:t>=</a:t>
            </a:r>
            <a:r>
              <a:rPr sz="2400" b="1" spc="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400" b="1" dirty="0">
                <a:latin typeface="Times New Roman" panose="02020603050405020304" charset="0"/>
                <a:cs typeface="Times New Roman" panose="02020603050405020304" charset="0"/>
              </a:rPr>
              <a:t>strlen(string);</a:t>
            </a:r>
            <a:endParaRPr sz="24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353695" marR="5080" indent="-341630">
              <a:lnSpc>
                <a:spcPct val="80000"/>
              </a:lnSpc>
              <a:spcBef>
                <a:spcPts val="630"/>
              </a:spcBef>
              <a:buChar char="•"/>
              <a:tabLst>
                <a:tab pos="353695" algn="l"/>
                <a:tab pos="354330" algn="l"/>
              </a:tabLst>
            </a:pPr>
            <a:r>
              <a:rPr sz="2400" spc="-5" dirty="0">
                <a:latin typeface="Times New Roman" panose="02020603050405020304" charset="0"/>
                <a:cs typeface="Times New Roman" panose="02020603050405020304" charset="0"/>
              </a:rPr>
              <a:t>Where n is the </a:t>
            </a:r>
            <a:r>
              <a:rPr sz="2400" dirty="0">
                <a:latin typeface="Times New Roman" panose="02020603050405020304" charset="0"/>
                <a:cs typeface="Times New Roman" panose="02020603050405020304" charset="0"/>
              </a:rPr>
              <a:t>integer variable </a:t>
            </a:r>
            <a:r>
              <a:rPr sz="2400" spc="-5" dirty="0">
                <a:latin typeface="Times New Roman" panose="02020603050405020304" charset="0"/>
                <a:cs typeface="Times New Roman" panose="02020603050405020304" charset="0"/>
              </a:rPr>
              <a:t>which receives  the value of the length of the</a:t>
            </a:r>
            <a:r>
              <a:rPr sz="2400" spc="6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400" spc="-5" dirty="0">
                <a:latin typeface="Times New Roman" panose="02020603050405020304" charset="0"/>
                <a:cs typeface="Times New Roman" panose="02020603050405020304" charset="0"/>
              </a:rPr>
              <a:t>string</a:t>
            </a:r>
            <a:endParaRPr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353695" indent="-341630">
              <a:lnSpc>
                <a:spcPts val="3290"/>
              </a:lnSpc>
              <a:buChar char="•"/>
              <a:tabLst>
                <a:tab pos="353695" algn="l"/>
                <a:tab pos="354330" algn="l"/>
              </a:tabLst>
            </a:pPr>
            <a:r>
              <a:rPr sz="2400" spc="-5" dirty="0">
                <a:latin typeface="Times New Roman" panose="02020603050405020304" charset="0"/>
                <a:cs typeface="Times New Roman" panose="02020603050405020304" charset="0"/>
              </a:rPr>
              <a:t>The counting </a:t>
            </a:r>
            <a:r>
              <a:rPr sz="2400" dirty="0">
                <a:latin typeface="Times New Roman" panose="02020603050405020304" charset="0"/>
                <a:cs typeface="Times New Roman" panose="02020603050405020304" charset="0"/>
              </a:rPr>
              <a:t>ends </a:t>
            </a:r>
            <a:r>
              <a:rPr sz="2400" spc="-5" dirty="0">
                <a:latin typeface="Times New Roman" panose="02020603050405020304" charset="0"/>
                <a:cs typeface="Times New Roman" panose="02020603050405020304" charset="0"/>
              </a:rPr>
              <a:t>at the </a:t>
            </a:r>
            <a:r>
              <a:rPr sz="2400" dirty="0">
                <a:latin typeface="Times New Roman" panose="02020603050405020304" charset="0"/>
                <a:cs typeface="Times New Roman" panose="02020603050405020304" charset="0"/>
              </a:rPr>
              <a:t>first </a:t>
            </a:r>
            <a:r>
              <a:rPr sz="2400" spc="-5" dirty="0">
                <a:latin typeface="Times New Roman" panose="02020603050405020304" charset="0"/>
                <a:cs typeface="Times New Roman" panose="02020603050405020304" charset="0"/>
              </a:rPr>
              <a:t>null</a:t>
            </a:r>
            <a:r>
              <a:rPr sz="2400" spc="3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400" spc="-5" dirty="0">
                <a:latin typeface="Times New Roman" panose="02020603050405020304" charset="0"/>
                <a:cs typeface="Times New Roman" panose="02020603050405020304" charset="0"/>
              </a:rPr>
              <a:t>character</a:t>
            </a:r>
            <a:endParaRPr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754380" lvl="1" indent="-285115">
              <a:lnSpc>
                <a:spcPct val="100000"/>
              </a:lnSpc>
              <a:spcBef>
                <a:spcPts val="715"/>
              </a:spcBef>
              <a:buChar char="–"/>
              <a:tabLst>
                <a:tab pos="755015" algn="l"/>
              </a:tabLst>
            </a:pPr>
            <a:r>
              <a:rPr sz="2400" spc="-5" dirty="0">
                <a:latin typeface="Times New Roman" panose="02020603050405020304" charset="0"/>
                <a:cs typeface="Times New Roman" panose="02020603050405020304" charset="0"/>
              </a:rPr>
              <a:t>EXAMPLE:</a:t>
            </a:r>
            <a:endParaRPr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1838325">
              <a:lnSpc>
                <a:spcPct val="100000"/>
              </a:lnSpc>
              <a:spcBef>
                <a:spcPts val="25"/>
              </a:spcBef>
            </a:pPr>
            <a:r>
              <a:rPr sz="2400" spc="-5" dirty="0">
                <a:latin typeface="Times New Roman" panose="02020603050405020304" charset="0"/>
                <a:cs typeface="Times New Roman" panose="02020603050405020304" charset="0"/>
              </a:rPr>
              <a:t>Ch </a:t>
            </a:r>
            <a:r>
              <a:rPr sz="2400" dirty="0">
                <a:latin typeface="Times New Roman" panose="02020603050405020304" charset="0"/>
                <a:cs typeface="Times New Roman" panose="02020603050405020304" charset="0"/>
              </a:rPr>
              <a:t>= “NEW</a:t>
            </a:r>
            <a:r>
              <a:rPr sz="2400" spc="-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400" dirty="0">
                <a:latin typeface="Times New Roman" panose="02020603050405020304" charset="0"/>
                <a:cs typeface="Times New Roman" panose="02020603050405020304" charset="0"/>
              </a:rPr>
              <a:t>YORK”;</a:t>
            </a:r>
            <a:endParaRPr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1838325">
              <a:lnSpc>
                <a:spcPct val="100000"/>
              </a:lnSpc>
              <a:spcBef>
                <a:spcPts val="20"/>
              </a:spcBef>
            </a:pPr>
            <a:r>
              <a:rPr sz="2400" spc="-5" dirty="0">
                <a:latin typeface="Times New Roman" panose="02020603050405020304" charset="0"/>
                <a:cs typeface="Times New Roman" panose="02020603050405020304" charset="0"/>
              </a:rPr>
              <a:t>n </a:t>
            </a:r>
            <a:r>
              <a:rPr sz="2400" dirty="0">
                <a:latin typeface="Times New Roman" panose="02020603050405020304" charset="0"/>
                <a:cs typeface="Times New Roman" panose="02020603050405020304" charset="0"/>
              </a:rPr>
              <a:t>=</a:t>
            </a:r>
            <a:r>
              <a:rPr sz="2400" spc="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400" dirty="0">
                <a:latin typeface="Times New Roman" panose="02020603050405020304" charset="0"/>
                <a:cs typeface="Times New Roman" panose="02020603050405020304" charset="0"/>
              </a:rPr>
              <a:t>strlen(ch);</a:t>
            </a:r>
            <a:endParaRPr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1838325">
              <a:lnSpc>
                <a:spcPct val="100000"/>
              </a:lnSpc>
              <a:spcBef>
                <a:spcPts val="25"/>
              </a:spcBef>
            </a:pPr>
            <a:r>
              <a:rPr sz="2400" dirty="0">
                <a:latin typeface="Times New Roman" panose="02020603050405020304" charset="0"/>
                <a:cs typeface="Times New Roman" panose="02020603050405020304" charset="0"/>
              </a:rPr>
              <a:t>printf(String Length = </a:t>
            </a:r>
            <a:r>
              <a:rPr sz="2400" spc="-5" dirty="0">
                <a:latin typeface="Times New Roman" panose="02020603050405020304" charset="0"/>
                <a:cs typeface="Times New Roman" panose="02020603050405020304" charset="0"/>
              </a:rPr>
              <a:t>%d\n”,</a:t>
            </a:r>
            <a:r>
              <a:rPr sz="2400" spc="-1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400" spc="-5" dirty="0">
                <a:latin typeface="Times New Roman" panose="02020603050405020304" charset="0"/>
                <a:cs typeface="Times New Roman" panose="02020603050405020304" charset="0"/>
              </a:rPr>
              <a:t>n);</a:t>
            </a:r>
            <a:endParaRPr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754380" lvl="1" indent="-285115">
              <a:lnSpc>
                <a:spcPct val="100000"/>
              </a:lnSpc>
              <a:spcBef>
                <a:spcPts val="710"/>
              </a:spcBef>
              <a:buChar char="–"/>
              <a:tabLst>
                <a:tab pos="755015" algn="l"/>
              </a:tabLst>
            </a:pPr>
            <a:r>
              <a:rPr sz="2400" spc="-5" dirty="0">
                <a:latin typeface="Times New Roman" panose="02020603050405020304" charset="0"/>
                <a:cs typeface="Times New Roman" panose="02020603050405020304" charset="0"/>
              </a:rPr>
              <a:t>OUTPUT:</a:t>
            </a:r>
            <a:endParaRPr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1838325">
              <a:lnSpc>
                <a:spcPct val="100000"/>
              </a:lnSpc>
              <a:spcBef>
                <a:spcPts val="25"/>
              </a:spcBef>
            </a:pPr>
            <a:r>
              <a:rPr sz="2400" spc="-5" dirty="0">
                <a:latin typeface="Times New Roman" panose="02020603050405020304" charset="0"/>
                <a:cs typeface="Times New Roman" panose="02020603050405020304" charset="0"/>
              </a:rPr>
              <a:t>String Length </a:t>
            </a:r>
            <a:r>
              <a:rPr sz="2400" dirty="0">
                <a:latin typeface="Times New Roman" panose="02020603050405020304" charset="0"/>
                <a:cs typeface="Times New Roman" panose="02020603050405020304" charset="0"/>
              </a:rPr>
              <a:t>=</a:t>
            </a:r>
            <a:r>
              <a:rPr sz="2400" spc="2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400" spc="-5" dirty="0">
                <a:latin typeface="Times New Roman" panose="02020603050405020304" charset="0"/>
                <a:cs typeface="Times New Roman" panose="02020603050405020304" charset="0"/>
              </a:rPr>
              <a:t>8</a:t>
            </a:r>
            <a:endParaRPr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15995" y="339789"/>
            <a:ext cx="7340600" cy="381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400" b="1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Finding length of the</a:t>
            </a:r>
            <a:r>
              <a:rPr sz="2400" b="1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String </a:t>
            </a:r>
            <a:r>
              <a:rPr sz="240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without </a:t>
            </a:r>
            <a:r>
              <a:rPr sz="2400" b="1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using</a:t>
            </a:r>
            <a:r>
              <a:rPr sz="2400" b="1" spc="-4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400" b="1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str</a:t>
            </a:r>
            <a:r>
              <a:rPr lang="en-IN" sz="2400" b="1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len</a:t>
            </a:r>
            <a:r>
              <a:rPr sz="2400" b="1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()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09930" y="996315"/>
            <a:ext cx="6947535" cy="49593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1415415" indent="-342900">
              <a:lnSpc>
                <a:spcPct val="100000"/>
              </a:lnSpc>
              <a:spcBef>
                <a:spcPts val="95"/>
              </a:spcBef>
            </a:pPr>
            <a:r>
              <a:rPr sz="2400" dirty="0">
                <a:latin typeface="Times New Roman" panose="02020603050405020304" charset="0"/>
                <a:cs typeface="Times New Roman" panose="02020603050405020304" charset="0"/>
              </a:rPr>
              <a:t>#include &lt;stdio.h&gt;</a:t>
            </a:r>
          </a:p>
          <a:p>
            <a:pPr marL="355600" marR="1415415" indent="-342900">
              <a:lnSpc>
                <a:spcPct val="100000"/>
              </a:lnSpc>
              <a:spcBef>
                <a:spcPts val="95"/>
              </a:spcBef>
            </a:pPr>
            <a:r>
              <a:rPr sz="2400" dirty="0">
                <a:latin typeface="Times New Roman" panose="02020603050405020304" charset="0"/>
                <a:cs typeface="Times New Roman" panose="02020603050405020304" charset="0"/>
              </a:rPr>
              <a:t>int main()</a:t>
            </a:r>
          </a:p>
          <a:p>
            <a:pPr marL="355600" marR="1415415" indent="-342900">
              <a:lnSpc>
                <a:spcPct val="100000"/>
              </a:lnSpc>
              <a:spcBef>
                <a:spcPts val="95"/>
              </a:spcBef>
            </a:pPr>
            <a:r>
              <a:rPr sz="2400" dirty="0">
                <a:latin typeface="Times New Roman" panose="02020603050405020304" charset="0"/>
                <a:cs typeface="Times New Roman" panose="02020603050405020304" charset="0"/>
              </a:rPr>
              <a:t>{</a:t>
            </a:r>
          </a:p>
          <a:p>
            <a:pPr marL="355600" marR="1415415" indent="-342900">
              <a:lnSpc>
                <a:spcPct val="100000"/>
              </a:lnSpc>
              <a:spcBef>
                <a:spcPts val="95"/>
              </a:spcBef>
            </a:pPr>
            <a:r>
              <a:rPr sz="2400" dirty="0">
                <a:latin typeface="Times New Roman" panose="02020603050405020304" charset="0"/>
                <a:cs typeface="Times New Roman" panose="02020603050405020304" charset="0"/>
              </a:rPr>
              <a:t>    char str[100],i;</a:t>
            </a:r>
          </a:p>
          <a:p>
            <a:pPr marL="355600" marR="1415415" indent="-342900">
              <a:lnSpc>
                <a:spcPct val="100000"/>
              </a:lnSpc>
              <a:spcBef>
                <a:spcPts val="95"/>
              </a:spcBef>
            </a:pPr>
            <a:r>
              <a:rPr sz="2400" dirty="0">
                <a:latin typeface="Times New Roman" panose="02020603050405020304" charset="0"/>
                <a:cs typeface="Times New Roman" panose="02020603050405020304" charset="0"/>
              </a:rPr>
              <a:t>    printf("Enter a string: \n");</a:t>
            </a:r>
          </a:p>
          <a:p>
            <a:pPr marL="355600" marR="1415415" indent="-342900">
              <a:lnSpc>
                <a:spcPct val="100000"/>
              </a:lnSpc>
              <a:spcBef>
                <a:spcPts val="95"/>
              </a:spcBef>
            </a:pPr>
            <a:r>
              <a:rPr sz="2400" dirty="0">
                <a:latin typeface="Times New Roman" panose="02020603050405020304" charset="0"/>
                <a:cs typeface="Times New Roman" panose="02020603050405020304" charset="0"/>
              </a:rPr>
              <a:t>    scanf("%s",str);</a:t>
            </a:r>
          </a:p>
          <a:p>
            <a:pPr marL="355600" marR="1415415" indent="-342900">
              <a:lnSpc>
                <a:spcPct val="100000"/>
              </a:lnSpc>
              <a:spcBef>
                <a:spcPts val="95"/>
              </a:spcBef>
            </a:pPr>
            <a:endParaRPr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55600" marR="1415415" indent="-342900">
              <a:lnSpc>
                <a:spcPct val="100000"/>
              </a:lnSpc>
              <a:spcBef>
                <a:spcPts val="95"/>
              </a:spcBef>
            </a:pPr>
            <a:r>
              <a:rPr sz="2400" dirty="0">
                <a:latin typeface="Times New Roman" panose="02020603050405020304" charset="0"/>
                <a:cs typeface="Times New Roman" panose="02020603050405020304" charset="0"/>
              </a:rPr>
              <a:t>    // '\0' represents end of String</a:t>
            </a:r>
          </a:p>
          <a:p>
            <a:pPr marL="355600" marR="1415415" indent="-342900">
              <a:lnSpc>
                <a:spcPct val="100000"/>
              </a:lnSpc>
              <a:spcBef>
                <a:spcPts val="95"/>
              </a:spcBef>
            </a:pPr>
            <a:r>
              <a:rPr sz="2400" dirty="0">
                <a:latin typeface="Times New Roman" panose="02020603050405020304" charset="0"/>
                <a:cs typeface="Times New Roman" panose="02020603050405020304" charset="0"/>
              </a:rPr>
              <a:t>    for(i=0; str[i]!='\0'; ++i);</a:t>
            </a:r>
          </a:p>
          <a:p>
            <a:pPr marL="355600" marR="1415415" indent="-342900">
              <a:lnSpc>
                <a:spcPct val="100000"/>
              </a:lnSpc>
              <a:spcBef>
                <a:spcPts val="95"/>
              </a:spcBef>
            </a:pPr>
            <a:r>
              <a:rPr sz="2400" dirty="0">
                <a:latin typeface="Times New Roman" panose="02020603050405020304" charset="0"/>
                <a:cs typeface="Times New Roman" panose="02020603050405020304" charset="0"/>
              </a:rPr>
              <a:t>       printf("\nLength of input string: %d",i);</a:t>
            </a:r>
          </a:p>
          <a:p>
            <a:pPr marL="355600" marR="1415415" indent="-342900">
              <a:lnSpc>
                <a:spcPct val="100000"/>
              </a:lnSpc>
              <a:spcBef>
                <a:spcPts val="95"/>
              </a:spcBef>
            </a:pPr>
            <a:r>
              <a:rPr sz="2400" dirty="0">
                <a:latin typeface="Times New Roman" panose="02020603050405020304" charset="0"/>
                <a:cs typeface="Times New Roman" panose="02020603050405020304" charset="0"/>
              </a:rPr>
              <a:t>    </a:t>
            </a:r>
          </a:p>
          <a:p>
            <a:pPr marL="355600" marR="1415415" indent="-342900">
              <a:lnSpc>
                <a:spcPct val="100000"/>
              </a:lnSpc>
              <a:spcBef>
                <a:spcPts val="95"/>
              </a:spcBef>
            </a:pPr>
            <a:r>
              <a:rPr sz="2400" dirty="0">
                <a:latin typeface="Times New Roman" panose="02020603050405020304" charset="0"/>
                <a:cs typeface="Times New Roman" panose="02020603050405020304" charset="0"/>
              </a:rPr>
              <a:t>    return 0;</a:t>
            </a:r>
          </a:p>
          <a:p>
            <a:pPr marL="355600" marR="1415415" indent="-342900">
              <a:lnSpc>
                <a:spcPct val="100000"/>
              </a:lnSpc>
              <a:spcBef>
                <a:spcPts val="95"/>
              </a:spcBef>
            </a:pPr>
            <a:r>
              <a:rPr sz="2400" dirty="0">
                <a:latin typeface="Times New Roman" panose="02020603050405020304" charset="0"/>
                <a:cs typeface="Times New Roman" panose="02020603050405020304" charset="0"/>
              </a:rPr>
              <a:t>}</a:t>
            </a:r>
          </a:p>
        </p:txBody>
      </p:sp>
      <p:sp>
        <p:nvSpPr>
          <p:cNvPr id="4" name="object 3"/>
          <p:cNvSpPr txBox="1"/>
          <p:nvPr/>
        </p:nvSpPr>
        <p:spPr>
          <a:xfrm>
            <a:off x="7217410" y="2366645"/>
            <a:ext cx="4799330" cy="15875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1415415" indent="-342900">
              <a:lnSpc>
                <a:spcPct val="100000"/>
              </a:lnSpc>
              <a:spcBef>
                <a:spcPts val="95"/>
              </a:spcBef>
            </a:pPr>
            <a:r>
              <a:rPr lang="en-IN" sz="2500" b="1" u="sng" spc="-5" dirty="0">
                <a:latin typeface="Times New Roman" panose="02020603050405020304" charset="0"/>
                <a:cs typeface="Times New Roman" panose="02020603050405020304" charset="0"/>
              </a:rPr>
              <a:t>OUTPUT</a:t>
            </a:r>
          </a:p>
          <a:p>
            <a:pPr marL="355600" marR="1415415" indent="-342900">
              <a:lnSpc>
                <a:spcPct val="100000"/>
              </a:lnSpc>
              <a:spcBef>
                <a:spcPts val="95"/>
              </a:spcBef>
            </a:pPr>
            <a:r>
              <a:rPr sz="2500" spc="-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Enter </a:t>
            </a:r>
            <a:r>
              <a:rPr lang="en-IN" sz="2500" spc="-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a </a:t>
            </a:r>
            <a:r>
              <a:rPr sz="2500" spc="-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string</a:t>
            </a:r>
            <a:r>
              <a:rPr sz="25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:</a:t>
            </a:r>
          </a:p>
          <a:p>
            <a:pPr marL="355600" marR="1415415" indent="-342900">
              <a:lnSpc>
                <a:spcPct val="100000"/>
              </a:lnSpc>
              <a:spcBef>
                <a:spcPts val="95"/>
              </a:spcBef>
            </a:pPr>
            <a:r>
              <a:rPr lang="en-IN" sz="2500">
                <a:latin typeface="Times New Roman" panose="02020603050405020304" charset="0"/>
                <a:cs typeface="Times New Roman" panose="02020603050405020304" charset="0"/>
              </a:rPr>
              <a:t>College</a:t>
            </a:r>
          </a:p>
          <a:p>
            <a:pPr marL="355600" marR="1415415" indent="-342900">
              <a:lnSpc>
                <a:spcPct val="100000"/>
              </a:lnSpc>
              <a:spcBef>
                <a:spcPts val="95"/>
              </a:spcBef>
            </a:pPr>
            <a:r>
              <a:rPr sz="25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Length of input string: </a:t>
            </a:r>
            <a:r>
              <a:rPr lang="en-IN" sz="25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7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77335" y="312420"/>
            <a:ext cx="5230495" cy="6889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>
                <a:solidFill>
                  <a:schemeClr val="tx1"/>
                </a:solidFill>
              </a:rPr>
              <a:t>Lengt</a:t>
            </a:r>
            <a:r>
              <a:rPr lang="en-IN" spc="-5" dirty="0">
                <a:solidFill>
                  <a:schemeClr val="tx1"/>
                </a:solidFill>
              </a:rPr>
              <a:t>h</a:t>
            </a:r>
            <a:r>
              <a:rPr spc="-5" dirty="0">
                <a:solidFill>
                  <a:schemeClr val="tx1"/>
                </a:solidFill>
              </a:rPr>
              <a:t> of</a:t>
            </a:r>
            <a:r>
              <a:rPr spc="-30" dirty="0">
                <a:solidFill>
                  <a:schemeClr val="tx1"/>
                </a:solidFill>
              </a:rPr>
              <a:t> </a:t>
            </a:r>
            <a:r>
              <a:rPr spc="-5" dirty="0">
                <a:solidFill>
                  <a:schemeClr val="tx1"/>
                </a:solidFill>
              </a:rPr>
              <a:t>strings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58720" y="1039825"/>
            <a:ext cx="3505835" cy="257048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 marR="1248410">
              <a:lnSpc>
                <a:spcPct val="103000"/>
              </a:lnSpc>
              <a:spcBef>
                <a:spcPts val="35"/>
              </a:spcBef>
            </a:pPr>
            <a:r>
              <a:rPr sz="1800" b="1" dirty="0">
                <a:latin typeface="Arial" panose="020B0604020202020204"/>
                <a:cs typeface="Arial" panose="020B0604020202020204"/>
              </a:rPr>
              <a:t>/</a:t>
            </a:r>
            <a:r>
              <a:rPr sz="1800" dirty="0">
                <a:latin typeface="Arial" panose="020B0604020202020204"/>
                <a:cs typeface="Arial" panose="020B0604020202020204"/>
              </a:rPr>
              <a:t>* 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Lengths of strings </a:t>
            </a:r>
            <a:r>
              <a:rPr sz="1800" dirty="0">
                <a:latin typeface="Arial" panose="020B0604020202020204"/>
                <a:cs typeface="Arial" panose="020B0604020202020204"/>
              </a:rPr>
              <a:t>*/  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#include &lt;stdio.h&gt;  main()</a:t>
            </a:r>
            <a:endParaRPr sz="18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800" dirty="0">
                <a:latin typeface="Arial" panose="020B0604020202020204"/>
                <a:cs typeface="Arial" panose="020B0604020202020204"/>
              </a:rPr>
              <a:t>{</a:t>
            </a:r>
            <a:endParaRPr sz="1800">
              <a:latin typeface="Arial" panose="020B0604020202020204"/>
              <a:cs typeface="Arial" panose="020B0604020202020204"/>
            </a:endParaRPr>
          </a:p>
          <a:p>
            <a:pPr marL="12700" marR="5080">
              <a:lnSpc>
                <a:spcPct val="103000"/>
              </a:lnSpc>
              <a:spcBef>
                <a:spcPts val="5"/>
              </a:spcBef>
            </a:pPr>
            <a:r>
              <a:rPr sz="1800" spc="-5" dirty="0">
                <a:latin typeface="Arial" panose="020B0604020202020204"/>
                <a:cs typeface="Arial" panose="020B0604020202020204"/>
              </a:rPr>
              <a:t>char </a:t>
            </a:r>
            <a:r>
              <a:rPr sz="1800" dirty="0">
                <a:latin typeface="Arial" panose="020B0604020202020204"/>
                <a:cs typeface="Arial" panose="020B0604020202020204"/>
              </a:rPr>
              <a:t>str1[] = "To 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be or not </a:t>
            </a:r>
            <a:r>
              <a:rPr sz="1800" dirty="0">
                <a:latin typeface="Arial" panose="020B0604020202020204"/>
                <a:cs typeface="Arial" panose="020B0604020202020204"/>
              </a:rPr>
              <a:t>to 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be";  char </a:t>
            </a:r>
            <a:r>
              <a:rPr sz="1800" dirty="0">
                <a:latin typeface="Arial" panose="020B0604020202020204"/>
                <a:cs typeface="Arial" panose="020B0604020202020204"/>
              </a:rPr>
              <a:t>str2[] = 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",that is </a:t>
            </a:r>
            <a:r>
              <a:rPr sz="1800" dirty="0">
                <a:latin typeface="Arial" panose="020B0604020202020204"/>
                <a:cs typeface="Arial" panose="020B0604020202020204"/>
              </a:rPr>
              <a:t>the</a:t>
            </a:r>
            <a:r>
              <a:rPr sz="1800" spc="-45" dirty="0">
                <a:latin typeface="Arial" panose="020B0604020202020204"/>
                <a:cs typeface="Arial" panose="020B0604020202020204"/>
              </a:rPr>
              <a:t> 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question";  int count </a:t>
            </a:r>
            <a:r>
              <a:rPr sz="1800" dirty="0">
                <a:latin typeface="Arial" panose="020B0604020202020204"/>
                <a:cs typeface="Arial" panose="020B0604020202020204"/>
              </a:rPr>
              <a:t>=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 0;</a:t>
            </a:r>
            <a:endParaRPr sz="1800">
              <a:latin typeface="Arial" panose="020B0604020202020204"/>
              <a:cs typeface="Arial" panose="020B0604020202020204"/>
            </a:endParaRPr>
          </a:p>
          <a:p>
            <a:pPr marL="266700" marR="1078230" indent="-254635">
              <a:lnSpc>
                <a:spcPct val="103000"/>
              </a:lnSpc>
              <a:spcBef>
                <a:spcPts val="15"/>
              </a:spcBef>
            </a:pPr>
            <a:r>
              <a:rPr sz="1800" spc="-15" dirty="0">
                <a:latin typeface="Arial" panose="020B0604020202020204"/>
                <a:cs typeface="Arial" panose="020B0604020202020204"/>
              </a:rPr>
              <a:t>while 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(str1[count] </a:t>
            </a:r>
            <a:r>
              <a:rPr sz="1800" spc="-20" dirty="0">
                <a:latin typeface="Arial" panose="020B0604020202020204"/>
                <a:cs typeface="Arial" panose="020B0604020202020204"/>
              </a:rPr>
              <a:t>!= </a:t>
            </a:r>
            <a:r>
              <a:rPr sz="1800" dirty="0">
                <a:latin typeface="Arial" panose="020B0604020202020204"/>
                <a:cs typeface="Arial" panose="020B0604020202020204"/>
              </a:rPr>
              <a:t>'\0')  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count++;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715127" y="2737815"/>
            <a:ext cx="4367530" cy="8604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 panose="020B0604020202020204"/>
                <a:cs typeface="Arial" panose="020B0604020202020204"/>
              </a:rPr>
              <a:t>/* 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Stores </a:t>
            </a:r>
            <a:r>
              <a:rPr sz="1800" dirty="0">
                <a:latin typeface="Arial" panose="020B0604020202020204"/>
                <a:cs typeface="Arial" panose="020B0604020202020204"/>
              </a:rPr>
              <a:t>the 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string length </a:t>
            </a:r>
            <a:r>
              <a:rPr sz="1800" dirty="0">
                <a:latin typeface="Arial" panose="020B0604020202020204"/>
                <a:cs typeface="Arial" panose="020B0604020202020204"/>
              </a:rPr>
              <a:t>*/</a:t>
            </a:r>
            <a:endParaRPr sz="18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800" dirty="0">
                <a:latin typeface="Arial" panose="020B0604020202020204"/>
                <a:cs typeface="Arial" panose="020B0604020202020204"/>
              </a:rPr>
              <a:t>/* 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Increment count till </a:t>
            </a:r>
            <a:r>
              <a:rPr sz="1800" spc="-25" dirty="0">
                <a:latin typeface="Arial" panose="020B0604020202020204"/>
                <a:cs typeface="Arial" panose="020B0604020202020204"/>
              </a:rPr>
              <a:t>we 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reach </a:t>
            </a:r>
            <a:r>
              <a:rPr sz="1800" dirty="0">
                <a:latin typeface="Arial" panose="020B0604020202020204"/>
                <a:cs typeface="Arial" panose="020B0604020202020204"/>
              </a:rPr>
              <a:t>the 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string</a:t>
            </a:r>
            <a:r>
              <a:rPr sz="1800" spc="85" dirty="0">
                <a:latin typeface="Arial" panose="020B0604020202020204"/>
                <a:cs typeface="Arial" panose="020B0604020202020204"/>
              </a:rPr>
              <a:t> 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*/</a:t>
            </a:r>
            <a:endParaRPr sz="18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1800" dirty="0">
                <a:latin typeface="Arial" panose="020B0604020202020204"/>
                <a:cs typeface="Arial" panose="020B0604020202020204"/>
              </a:rPr>
              <a:t>/* 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terminating character.</a:t>
            </a:r>
            <a:r>
              <a:rPr sz="1800" spc="10" dirty="0"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latin typeface="Arial" panose="020B0604020202020204"/>
                <a:cs typeface="Arial" panose="020B0604020202020204"/>
              </a:rPr>
              <a:t>*/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058720" y="3587242"/>
            <a:ext cx="4478655" cy="289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" panose="020B0604020202020204"/>
                <a:cs typeface="Arial" panose="020B0604020202020204"/>
              </a:rPr>
              <a:t>printf("\nThe length </a:t>
            </a:r>
            <a:r>
              <a:rPr sz="1800" dirty="0">
                <a:latin typeface="Arial" panose="020B0604020202020204"/>
                <a:cs typeface="Arial" panose="020B0604020202020204"/>
              </a:rPr>
              <a:t>of 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the string1 is",</a:t>
            </a:r>
            <a:r>
              <a:rPr sz="1800" spc="50" dirty="0">
                <a:latin typeface="Arial" panose="020B0604020202020204"/>
                <a:cs typeface="Arial" panose="020B0604020202020204"/>
              </a:rPr>
              <a:t> 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count);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715127" y="3870705"/>
            <a:ext cx="38614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 panose="020B0604020202020204"/>
                <a:cs typeface="Arial" panose="020B0604020202020204"/>
              </a:rPr>
              <a:t>/* 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Reset </a:t>
            </a:r>
            <a:r>
              <a:rPr sz="1800" dirty="0">
                <a:latin typeface="Arial" panose="020B0604020202020204"/>
                <a:cs typeface="Arial" panose="020B0604020202020204"/>
              </a:rPr>
              <a:t>to 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zero </a:t>
            </a:r>
            <a:r>
              <a:rPr sz="1800" dirty="0">
                <a:latin typeface="Arial" panose="020B0604020202020204"/>
                <a:cs typeface="Arial" panose="020B0604020202020204"/>
              </a:rPr>
              <a:t>for </a:t>
            </a:r>
            <a:r>
              <a:rPr sz="1800" spc="-10" dirty="0">
                <a:latin typeface="Arial" panose="020B0604020202020204"/>
                <a:cs typeface="Arial" panose="020B0604020202020204"/>
              </a:rPr>
              <a:t>next 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string</a:t>
            </a:r>
            <a:r>
              <a:rPr sz="1800" spc="10" dirty="0"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latin typeface="Arial" panose="020B0604020202020204"/>
                <a:cs typeface="Arial" panose="020B0604020202020204"/>
              </a:rPr>
              <a:t>*/</a:t>
            </a:r>
            <a:endParaRPr sz="18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1800" dirty="0">
                <a:latin typeface="Arial" panose="020B0604020202020204"/>
                <a:cs typeface="Arial" panose="020B0604020202020204"/>
              </a:rPr>
              <a:t>/* </a:t>
            </a:r>
            <a:r>
              <a:rPr sz="1800" spc="-10" dirty="0">
                <a:latin typeface="Arial" panose="020B0604020202020204"/>
                <a:cs typeface="Arial" panose="020B0604020202020204"/>
              </a:rPr>
              <a:t>Count 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characters </a:t>
            </a:r>
            <a:r>
              <a:rPr sz="1800" dirty="0">
                <a:latin typeface="Arial" panose="020B0604020202020204"/>
                <a:cs typeface="Arial" panose="020B0604020202020204"/>
              </a:rPr>
              <a:t>in 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second string</a:t>
            </a:r>
            <a:r>
              <a:rPr sz="1800" spc="10" dirty="0"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latin typeface="Arial" panose="020B0604020202020204"/>
                <a:cs typeface="Arial" panose="020B0604020202020204"/>
              </a:rPr>
              <a:t>*/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058720" y="3870705"/>
            <a:ext cx="2432050" cy="8604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32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" panose="020B0604020202020204"/>
                <a:cs typeface="Arial" panose="020B0604020202020204"/>
              </a:rPr>
              <a:t>count </a:t>
            </a:r>
            <a:r>
              <a:rPr sz="1800" dirty="0">
                <a:latin typeface="Arial" panose="020B0604020202020204"/>
                <a:cs typeface="Arial" panose="020B0604020202020204"/>
              </a:rPr>
              <a:t>=</a:t>
            </a:r>
            <a:r>
              <a:rPr sz="1800" spc="-10" dirty="0"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latin typeface="Arial" panose="020B0604020202020204"/>
                <a:cs typeface="Arial" panose="020B0604020202020204"/>
              </a:rPr>
              <a:t>0;</a:t>
            </a:r>
            <a:endParaRPr sz="18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1800" spc="-15" dirty="0">
                <a:latin typeface="Arial" panose="020B0604020202020204"/>
                <a:cs typeface="Arial" panose="020B0604020202020204"/>
              </a:rPr>
              <a:t>while 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(str2[count] </a:t>
            </a:r>
            <a:r>
              <a:rPr sz="1800" spc="-20" dirty="0">
                <a:latin typeface="Arial" panose="020B0604020202020204"/>
                <a:cs typeface="Arial" panose="020B0604020202020204"/>
              </a:rPr>
              <a:t>!=</a:t>
            </a:r>
            <a:r>
              <a:rPr sz="1800" spc="55" dirty="0"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latin typeface="Arial" panose="020B0604020202020204"/>
                <a:cs typeface="Arial" panose="020B0604020202020204"/>
              </a:rPr>
              <a:t>'\0')</a:t>
            </a:r>
            <a:endParaRPr sz="1800">
              <a:latin typeface="Arial" panose="020B0604020202020204"/>
              <a:cs typeface="Arial" panose="020B0604020202020204"/>
            </a:endParaRPr>
          </a:p>
          <a:p>
            <a:pPr marL="266700">
              <a:lnSpc>
                <a:spcPct val="100000"/>
              </a:lnSpc>
              <a:spcBef>
                <a:spcPts val="75"/>
              </a:spcBef>
            </a:pPr>
            <a:r>
              <a:rPr sz="1800" spc="-5" dirty="0">
                <a:latin typeface="Arial" panose="020B0604020202020204"/>
                <a:cs typeface="Arial" panose="020B0604020202020204"/>
              </a:rPr>
              <a:t>count++;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058720" y="4719954"/>
            <a:ext cx="4478655" cy="17303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" panose="020B0604020202020204"/>
                <a:cs typeface="Arial" panose="020B0604020202020204"/>
              </a:rPr>
              <a:t>printf("\nThe length </a:t>
            </a:r>
            <a:r>
              <a:rPr sz="1800" dirty="0">
                <a:latin typeface="Arial" panose="020B0604020202020204"/>
                <a:cs typeface="Arial" panose="020B0604020202020204"/>
              </a:rPr>
              <a:t>of 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the string2 is",</a:t>
            </a:r>
            <a:r>
              <a:rPr sz="1800" spc="50" dirty="0">
                <a:latin typeface="Arial" panose="020B0604020202020204"/>
                <a:cs typeface="Arial" panose="020B0604020202020204"/>
              </a:rPr>
              <a:t> 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count);</a:t>
            </a:r>
            <a:endParaRPr sz="18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1800" dirty="0">
                <a:latin typeface="Arial" panose="020B0604020202020204"/>
                <a:cs typeface="Arial" panose="020B0604020202020204"/>
              </a:rPr>
              <a:t>}</a:t>
            </a:r>
            <a:endParaRPr sz="180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latin typeface="Arial" panose="020B0604020202020204"/>
                <a:cs typeface="Arial" panose="020B0604020202020204"/>
              </a:rPr>
              <a:t>OUTPUT:</a:t>
            </a:r>
            <a:endParaRPr sz="1800" b="1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1800" dirty="0">
                <a:latin typeface="Arial" panose="020B0604020202020204"/>
                <a:cs typeface="Arial" panose="020B0604020202020204"/>
              </a:rPr>
              <a:t>The 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length of </a:t>
            </a:r>
            <a:r>
              <a:rPr sz="1800" dirty="0">
                <a:latin typeface="Arial" panose="020B0604020202020204"/>
                <a:cs typeface="Arial" panose="020B0604020202020204"/>
              </a:rPr>
              <a:t>the 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string1 </a:t>
            </a:r>
            <a:r>
              <a:rPr sz="1800" dirty="0">
                <a:latin typeface="Arial" panose="020B0604020202020204"/>
                <a:cs typeface="Arial" panose="020B0604020202020204"/>
              </a:rPr>
              <a:t>is</a:t>
            </a:r>
            <a:r>
              <a:rPr sz="1800" spc="-75" dirty="0">
                <a:latin typeface="Arial" panose="020B0604020202020204"/>
                <a:cs typeface="Arial" panose="020B0604020202020204"/>
              </a:rPr>
              <a:t> 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18</a:t>
            </a:r>
            <a:endParaRPr sz="18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800" dirty="0">
                <a:latin typeface="Arial" panose="020B0604020202020204"/>
                <a:cs typeface="Arial" panose="020B0604020202020204"/>
              </a:rPr>
              <a:t>The 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length </a:t>
            </a:r>
            <a:r>
              <a:rPr sz="1800" dirty="0">
                <a:latin typeface="Arial" panose="020B0604020202020204"/>
                <a:cs typeface="Arial" panose="020B0604020202020204"/>
              </a:rPr>
              <a:t>of 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the string2 is</a:t>
            </a:r>
            <a:r>
              <a:rPr sz="1800" spc="-35" dirty="0">
                <a:latin typeface="Arial" panose="020B0604020202020204"/>
                <a:cs typeface="Arial" panose="020B0604020202020204"/>
              </a:rPr>
              <a:t> 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21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51071" y="397446"/>
            <a:ext cx="4479925" cy="6889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>
                <a:solidFill>
                  <a:schemeClr val="tx1"/>
                </a:solidFill>
              </a:rPr>
              <a:t>strcpy()</a:t>
            </a:r>
            <a:r>
              <a:rPr spc="-25" dirty="0">
                <a:solidFill>
                  <a:schemeClr val="tx1"/>
                </a:solidFill>
              </a:rPr>
              <a:t> </a:t>
            </a:r>
            <a:r>
              <a:rPr spc="-10" dirty="0">
                <a:solidFill>
                  <a:schemeClr val="tx1"/>
                </a:solidFill>
              </a:rPr>
              <a:t>F</a:t>
            </a:r>
            <a:r>
              <a:rPr lang="en-IN" spc="-10" dirty="0">
                <a:solidFill>
                  <a:schemeClr val="tx1"/>
                </a:solidFill>
              </a:rPr>
              <a:t>unction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754505" y="1483995"/>
            <a:ext cx="9217025" cy="3890010"/>
          </a:xfrm>
          <a:prstGeom prst="rect">
            <a:avLst/>
          </a:prstGeom>
        </p:spPr>
        <p:txBody>
          <a:bodyPr vert="horz" wrap="square" lIns="0" tIns="117475" rIns="0" bIns="0" rtlCol="0">
            <a:spAutoFit/>
          </a:bodyPr>
          <a:lstStyle/>
          <a:p>
            <a:pPr marL="353695" indent="-341630">
              <a:lnSpc>
                <a:spcPct val="100000"/>
              </a:lnSpc>
              <a:spcBef>
                <a:spcPts val="925"/>
              </a:spcBef>
              <a:buChar char="•"/>
              <a:tabLst>
                <a:tab pos="353695" algn="l"/>
                <a:tab pos="354330" algn="l"/>
              </a:tabLst>
            </a:pP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Works almost 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like </a:t>
            </a: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a 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string-assignment</a:t>
            </a:r>
            <a:r>
              <a:rPr sz="2200" spc="2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operator</a:t>
            </a:r>
            <a:endParaRPr sz="2200">
              <a:latin typeface="Times New Roman" panose="02020603050405020304" charset="0"/>
              <a:cs typeface="Times New Roman" panose="02020603050405020304" charset="0"/>
            </a:endParaRPr>
          </a:p>
          <a:p>
            <a:pPr marL="754380" lvl="1" indent="-285115">
              <a:lnSpc>
                <a:spcPct val="100000"/>
              </a:lnSpc>
              <a:spcBef>
                <a:spcPts val="710"/>
              </a:spcBef>
              <a:buChar char="–"/>
              <a:tabLst>
                <a:tab pos="755015" algn="l"/>
              </a:tabLst>
            </a:pP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SYNTAX:</a:t>
            </a:r>
            <a:endParaRPr sz="2200">
              <a:latin typeface="Times New Roman" panose="02020603050405020304" charset="0"/>
              <a:cs typeface="Times New Roman" panose="02020603050405020304" charset="0"/>
            </a:endParaRPr>
          </a:p>
          <a:p>
            <a:pPr marL="1838325">
              <a:lnSpc>
                <a:spcPct val="100000"/>
              </a:lnSpc>
              <a:spcBef>
                <a:spcPts val="410"/>
              </a:spcBef>
            </a:pP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strcpy(string1,</a:t>
            </a:r>
            <a:r>
              <a:rPr sz="2200" spc="-3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string2);</a:t>
            </a:r>
            <a:endParaRPr sz="2200">
              <a:latin typeface="Times New Roman" panose="02020603050405020304" charset="0"/>
              <a:cs typeface="Times New Roman" panose="02020603050405020304" charset="0"/>
            </a:endParaRPr>
          </a:p>
          <a:p>
            <a:pPr marL="353695" indent="-341630">
              <a:lnSpc>
                <a:spcPct val="100000"/>
              </a:lnSpc>
              <a:spcBef>
                <a:spcPts val="360"/>
              </a:spcBef>
              <a:buChar char="•"/>
              <a:tabLst>
                <a:tab pos="353695" algn="l"/>
                <a:tab pos="354330" algn="l"/>
              </a:tabLst>
            </a:pP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Assigns the 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content </a:t>
            </a: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of 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string2 </a:t>
            </a: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to</a:t>
            </a:r>
            <a:r>
              <a:rPr sz="2200" spc="-2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string1</a:t>
            </a:r>
            <a:endParaRPr sz="2200">
              <a:latin typeface="Times New Roman" panose="02020603050405020304" charset="0"/>
              <a:cs typeface="Times New Roman" panose="02020603050405020304" charset="0"/>
            </a:endParaRPr>
          </a:p>
          <a:p>
            <a:pPr marL="754380" lvl="1" indent="-285115">
              <a:lnSpc>
                <a:spcPct val="100000"/>
              </a:lnSpc>
              <a:spcBef>
                <a:spcPts val="710"/>
              </a:spcBef>
              <a:buChar char="–"/>
              <a:tabLst>
                <a:tab pos="755015" algn="l"/>
              </a:tabLst>
            </a:pP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EXAMPLE:</a:t>
            </a:r>
            <a:endParaRPr sz="2200">
              <a:latin typeface="Times New Roman" panose="02020603050405020304" charset="0"/>
              <a:cs typeface="Times New Roman" panose="02020603050405020304" charset="0"/>
            </a:endParaRPr>
          </a:p>
          <a:p>
            <a:pPr marL="1838325">
              <a:lnSpc>
                <a:spcPct val="100000"/>
              </a:lnSpc>
              <a:spcBef>
                <a:spcPts val="410"/>
              </a:spcBef>
            </a:pP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strcpy(city,</a:t>
            </a:r>
            <a:r>
              <a:rPr sz="2200" spc="-3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“DELHI”);</a:t>
            </a:r>
            <a:endParaRPr sz="2200">
              <a:latin typeface="Times New Roman" panose="02020603050405020304" charset="0"/>
              <a:cs typeface="Times New Roman" panose="02020603050405020304" charset="0"/>
            </a:endParaRPr>
          </a:p>
          <a:p>
            <a:pPr marL="353695" marR="108585" indent="-341630">
              <a:lnSpc>
                <a:spcPts val="3020"/>
              </a:lnSpc>
              <a:spcBef>
                <a:spcPts val="740"/>
              </a:spcBef>
              <a:buChar char="•"/>
              <a:tabLst>
                <a:tab pos="353695" algn="l"/>
                <a:tab pos="354330" algn="l"/>
              </a:tabLst>
            </a:pP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Assign the string “DELHI” to the string 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variable  </a:t>
            </a: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city</a:t>
            </a:r>
            <a:endParaRPr sz="2200">
              <a:latin typeface="Times New Roman" panose="02020603050405020304" charset="0"/>
              <a:cs typeface="Times New Roman" panose="02020603050405020304" charset="0"/>
            </a:endParaRPr>
          </a:p>
          <a:p>
            <a:pPr marL="1838325">
              <a:lnSpc>
                <a:spcPct val="100000"/>
              </a:lnSpc>
              <a:spcBef>
                <a:spcPts val="720"/>
              </a:spcBef>
            </a:pP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strcpy(city1,</a:t>
            </a:r>
            <a:r>
              <a:rPr sz="2200" spc="-2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city2);</a:t>
            </a:r>
            <a:endParaRPr sz="2200">
              <a:latin typeface="Times New Roman" panose="02020603050405020304" charset="0"/>
              <a:cs typeface="Times New Roman" panose="02020603050405020304" charset="0"/>
            </a:endParaRPr>
          </a:p>
          <a:p>
            <a:pPr marL="353695" marR="7620" indent="-341630">
              <a:lnSpc>
                <a:spcPts val="3030"/>
              </a:lnSpc>
              <a:spcBef>
                <a:spcPts val="830"/>
              </a:spcBef>
              <a:buChar char="•"/>
              <a:tabLst>
                <a:tab pos="353695" algn="l"/>
                <a:tab pos="354330" algn="l"/>
              </a:tabLst>
            </a:pP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Assigns the 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contents </a:t>
            </a: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of the 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string variable city2  </a:t>
            </a: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to the string 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variable</a:t>
            </a:r>
            <a:r>
              <a:rPr sz="2200" spc="1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city1</a:t>
            </a:r>
            <a:endParaRPr sz="22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34715" y="390589"/>
            <a:ext cx="7340600" cy="381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Copy String Manually </a:t>
            </a:r>
            <a:r>
              <a:rPr sz="240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without </a:t>
            </a:r>
            <a:r>
              <a:rPr sz="2400" b="1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using</a:t>
            </a:r>
            <a:r>
              <a:rPr sz="2400" b="1" spc="-4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400" b="1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strcpy()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60550" y="1124203"/>
            <a:ext cx="4008754" cy="53987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1415415" indent="-342900">
              <a:lnSpc>
                <a:spcPct val="100000"/>
              </a:lnSpc>
              <a:spcBef>
                <a:spcPts val="95"/>
              </a:spcBef>
            </a:pPr>
            <a:r>
              <a:rPr sz="2500" spc="-5" dirty="0">
                <a:latin typeface="Times New Roman" panose="02020603050405020304" charset="0"/>
                <a:cs typeface="Times New Roman" panose="02020603050405020304" charset="0"/>
              </a:rPr>
              <a:t>#include</a:t>
            </a:r>
            <a:r>
              <a:rPr sz="2500" spc="-6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500" spc="-5" dirty="0">
                <a:latin typeface="Times New Roman" panose="02020603050405020304" charset="0"/>
                <a:cs typeface="Times New Roman" panose="02020603050405020304" charset="0"/>
              </a:rPr>
              <a:t>&lt;stdio.h&gt;  int</a:t>
            </a:r>
            <a:r>
              <a:rPr sz="2500" spc="-1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500" spc="-5" dirty="0">
                <a:latin typeface="Times New Roman" panose="02020603050405020304" charset="0"/>
                <a:cs typeface="Times New Roman" panose="02020603050405020304" charset="0"/>
              </a:rPr>
              <a:t>main()</a:t>
            </a:r>
            <a:endParaRPr sz="2500">
              <a:latin typeface="Times New Roman" panose="02020603050405020304" charset="0"/>
              <a:cs typeface="Times New Roman" panose="02020603050405020304" charset="0"/>
            </a:endParaRPr>
          </a:p>
          <a:p>
            <a:pPr marL="355600">
              <a:lnSpc>
                <a:spcPct val="100000"/>
              </a:lnSpc>
            </a:pPr>
            <a:r>
              <a:rPr sz="2500" spc="-5" dirty="0">
                <a:latin typeface="Times New Roman" panose="02020603050405020304" charset="0"/>
                <a:cs typeface="Times New Roman" panose="02020603050405020304" charset="0"/>
              </a:rPr>
              <a:t>{</a:t>
            </a:r>
            <a:endParaRPr sz="2500">
              <a:latin typeface="Times New Roman" panose="02020603050405020304" charset="0"/>
              <a:cs typeface="Times New Roman" panose="02020603050405020304" charset="0"/>
            </a:endParaRPr>
          </a:p>
          <a:p>
            <a:pPr marL="469900" marR="73660">
              <a:lnSpc>
                <a:spcPct val="100000"/>
              </a:lnSpc>
            </a:pPr>
            <a:r>
              <a:rPr sz="2500" spc="-5" dirty="0">
                <a:latin typeface="Times New Roman" panose="02020603050405020304" charset="0"/>
                <a:cs typeface="Times New Roman" panose="02020603050405020304" charset="0"/>
              </a:rPr>
              <a:t>char s1[100], </a:t>
            </a:r>
            <a:r>
              <a:rPr sz="2500" dirty="0">
                <a:latin typeface="Times New Roman" panose="02020603050405020304" charset="0"/>
                <a:cs typeface="Times New Roman" panose="02020603050405020304" charset="0"/>
              </a:rPr>
              <a:t>s2[100]</a:t>
            </a:r>
            <a:r>
              <a:rPr lang="en-IN" sz="2500" dirty="0">
                <a:latin typeface="Times New Roman" panose="02020603050405020304" charset="0"/>
                <a:cs typeface="Times New Roman" panose="02020603050405020304" charset="0"/>
              </a:rPr>
              <a:t>;</a:t>
            </a:r>
          </a:p>
          <a:p>
            <a:pPr marL="469900" marR="73660">
              <a:lnSpc>
                <a:spcPct val="100000"/>
              </a:lnSpc>
            </a:pPr>
            <a:r>
              <a:rPr lang="en-IN" sz="2500" dirty="0">
                <a:latin typeface="Times New Roman" panose="02020603050405020304" charset="0"/>
                <a:cs typeface="Times New Roman" panose="02020603050405020304" charset="0"/>
              </a:rPr>
              <a:t>int</a:t>
            </a:r>
            <a:r>
              <a:rPr sz="250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500" spc="-5" dirty="0">
                <a:latin typeface="Times New Roman" panose="02020603050405020304" charset="0"/>
                <a:cs typeface="Times New Roman" panose="02020603050405020304" charset="0"/>
              </a:rPr>
              <a:t>i;</a:t>
            </a:r>
          </a:p>
          <a:p>
            <a:pPr marL="469900" marR="73660">
              <a:lnSpc>
                <a:spcPct val="100000"/>
              </a:lnSpc>
            </a:pPr>
            <a:r>
              <a:rPr sz="2500" spc="-5" dirty="0">
                <a:latin typeface="Times New Roman" panose="02020603050405020304" charset="0"/>
                <a:cs typeface="Times New Roman" panose="02020603050405020304" charset="0"/>
              </a:rPr>
              <a:t>printf("Enter string </a:t>
            </a:r>
            <a:r>
              <a:rPr sz="2500" dirty="0">
                <a:latin typeface="Times New Roman" panose="02020603050405020304" charset="0"/>
                <a:cs typeface="Times New Roman" panose="02020603050405020304" charset="0"/>
              </a:rPr>
              <a:t>s1: </a:t>
            </a:r>
            <a:r>
              <a:rPr sz="2500" spc="-5" dirty="0">
                <a:latin typeface="Times New Roman" panose="02020603050405020304" charset="0"/>
                <a:cs typeface="Times New Roman" panose="02020603050405020304" charset="0"/>
              </a:rPr>
              <a:t>");  scanf("%s",s1);</a:t>
            </a:r>
            <a:endParaRPr sz="2500">
              <a:latin typeface="Times New Roman" panose="02020603050405020304" charset="0"/>
              <a:cs typeface="Times New Roman" panose="02020603050405020304" charset="0"/>
            </a:endParaRPr>
          </a:p>
          <a:p>
            <a:pPr marL="469900">
              <a:lnSpc>
                <a:spcPct val="100000"/>
              </a:lnSpc>
            </a:pPr>
            <a:r>
              <a:rPr sz="2500" spc="-5" dirty="0">
                <a:latin typeface="Times New Roman" panose="02020603050405020304" charset="0"/>
                <a:cs typeface="Times New Roman" panose="02020603050405020304" charset="0"/>
              </a:rPr>
              <a:t>for(i=0; </a:t>
            </a:r>
            <a:r>
              <a:rPr sz="2500" dirty="0">
                <a:latin typeface="Times New Roman" panose="02020603050405020304" charset="0"/>
                <a:cs typeface="Times New Roman" panose="02020603050405020304" charset="0"/>
              </a:rPr>
              <a:t>s1[i]!='\0';</a:t>
            </a:r>
            <a:r>
              <a:rPr sz="2500" spc="3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500" spc="-10" dirty="0">
                <a:latin typeface="Times New Roman" panose="02020603050405020304" charset="0"/>
                <a:cs typeface="Times New Roman" panose="02020603050405020304" charset="0"/>
              </a:rPr>
              <a:t>++i)</a:t>
            </a:r>
            <a:endParaRPr sz="2500">
              <a:latin typeface="Times New Roman" panose="02020603050405020304" charset="0"/>
              <a:cs typeface="Times New Roman" panose="02020603050405020304" charset="0"/>
            </a:endParaRPr>
          </a:p>
          <a:p>
            <a:pPr marL="1383665">
              <a:lnSpc>
                <a:spcPct val="100000"/>
              </a:lnSpc>
            </a:pPr>
            <a:r>
              <a:rPr sz="2500" spc="-5" dirty="0">
                <a:latin typeface="Times New Roman" panose="02020603050405020304" charset="0"/>
                <a:cs typeface="Times New Roman" panose="02020603050405020304" charset="0"/>
              </a:rPr>
              <a:t>{</a:t>
            </a:r>
            <a:endParaRPr sz="2500">
              <a:latin typeface="Times New Roman" panose="02020603050405020304" charset="0"/>
              <a:cs typeface="Times New Roman" panose="02020603050405020304" charset="0"/>
            </a:endParaRPr>
          </a:p>
          <a:p>
            <a:pPr marL="1840865">
              <a:lnSpc>
                <a:spcPct val="100000"/>
              </a:lnSpc>
              <a:spcBef>
                <a:spcPts val="5"/>
              </a:spcBef>
            </a:pPr>
            <a:r>
              <a:rPr sz="2500" spc="-5" dirty="0">
                <a:latin typeface="Times New Roman" panose="02020603050405020304" charset="0"/>
                <a:cs typeface="Times New Roman" panose="02020603050405020304" charset="0"/>
              </a:rPr>
              <a:t>s2[i]=s1[i];</a:t>
            </a:r>
            <a:endParaRPr sz="2500">
              <a:latin typeface="Times New Roman" panose="02020603050405020304" charset="0"/>
              <a:cs typeface="Times New Roman" panose="02020603050405020304" charset="0"/>
            </a:endParaRPr>
          </a:p>
          <a:p>
            <a:pPr marL="469900" marR="2289175" indent="913765">
              <a:lnSpc>
                <a:spcPct val="100000"/>
              </a:lnSpc>
            </a:pPr>
            <a:r>
              <a:rPr sz="2500" spc="-5" dirty="0">
                <a:latin typeface="Times New Roman" panose="02020603050405020304" charset="0"/>
                <a:cs typeface="Times New Roman" panose="02020603050405020304" charset="0"/>
              </a:rPr>
              <a:t>}  s2[i]='\0</a:t>
            </a:r>
            <a:r>
              <a:rPr sz="2500" dirty="0">
                <a:latin typeface="Times New Roman" panose="02020603050405020304" charset="0"/>
                <a:cs typeface="Times New Roman" panose="02020603050405020304" charset="0"/>
              </a:rPr>
              <a:t>'</a:t>
            </a:r>
            <a:r>
              <a:rPr sz="2500" spc="-5" dirty="0">
                <a:latin typeface="Times New Roman" panose="02020603050405020304" charset="0"/>
                <a:cs typeface="Times New Roman" panose="02020603050405020304" charset="0"/>
              </a:rPr>
              <a:t>;</a:t>
            </a:r>
            <a:endParaRPr sz="2500">
              <a:latin typeface="Times New Roman" panose="02020603050405020304" charset="0"/>
              <a:cs typeface="Times New Roman" panose="02020603050405020304" charset="0"/>
            </a:endParaRPr>
          </a:p>
          <a:p>
            <a:pPr marL="469900">
              <a:lnSpc>
                <a:spcPct val="100000"/>
              </a:lnSpc>
            </a:pPr>
            <a:r>
              <a:rPr sz="2500" spc="-5" dirty="0">
                <a:latin typeface="Times New Roman" panose="02020603050405020304" charset="0"/>
                <a:cs typeface="Times New Roman" panose="02020603050405020304" charset="0"/>
              </a:rPr>
              <a:t>printf("String s2:</a:t>
            </a:r>
            <a:r>
              <a:rPr sz="2500" spc="2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500" spc="-5" dirty="0">
                <a:latin typeface="Times New Roman" panose="02020603050405020304" charset="0"/>
                <a:cs typeface="Times New Roman" panose="02020603050405020304" charset="0"/>
              </a:rPr>
              <a:t>%s",s2);</a:t>
            </a:r>
            <a:endParaRPr sz="2500">
              <a:latin typeface="Times New Roman" panose="02020603050405020304" charset="0"/>
              <a:cs typeface="Times New Roman" panose="02020603050405020304" charset="0"/>
            </a:endParaRPr>
          </a:p>
          <a:p>
            <a:pPr marL="12700">
              <a:lnSpc>
                <a:spcPct val="100000"/>
              </a:lnSpc>
            </a:pPr>
            <a:r>
              <a:rPr sz="2500" spc="-5" dirty="0">
                <a:latin typeface="Times New Roman" panose="02020603050405020304" charset="0"/>
                <a:cs typeface="Times New Roman" panose="02020603050405020304" charset="0"/>
              </a:rPr>
              <a:t>}</a:t>
            </a:r>
            <a:endParaRPr sz="25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object 3"/>
          <p:cNvSpPr txBox="1"/>
          <p:nvPr/>
        </p:nvSpPr>
        <p:spPr>
          <a:xfrm>
            <a:off x="6618655" y="2346578"/>
            <a:ext cx="4008754" cy="15875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1415415" indent="-342900">
              <a:lnSpc>
                <a:spcPct val="100000"/>
              </a:lnSpc>
              <a:spcBef>
                <a:spcPts val="95"/>
              </a:spcBef>
            </a:pPr>
            <a:r>
              <a:rPr lang="en-IN" sz="2500" b="1" u="sng" spc="-5" dirty="0">
                <a:latin typeface="Times New Roman" panose="02020603050405020304" charset="0"/>
                <a:cs typeface="Times New Roman" panose="02020603050405020304" charset="0"/>
              </a:rPr>
              <a:t>OUTPUT</a:t>
            </a:r>
          </a:p>
          <a:p>
            <a:pPr marL="355600" marR="1415415" indent="-342900">
              <a:lnSpc>
                <a:spcPct val="100000"/>
              </a:lnSpc>
              <a:spcBef>
                <a:spcPts val="95"/>
              </a:spcBef>
            </a:pPr>
            <a:r>
              <a:rPr sz="2500" spc="-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Enter string </a:t>
            </a:r>
            <a:r>
              <a:rPr sz="25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s1:</a:t>
            </a:r>
          </a:p>
          <a:p>
            <a:pPr marL="355600" marR="1415415" indent="-342900">
              <a:lnSpc>
                <a:spcPct val="100000"/>
              </a:lnSpc>
              <a:spcBef>
                <a:spcPts val="95"/>
              </a:spcBef>
            </a:pPr>
            <a:r>
              <a:rPr lang="en-IN" sz="2500">
                <a:latin typeface="Times New Roman" panose="02020603050405020304" charset="0"/>
                <a:cs typeface="Times New Roman" panose="02020603050405020304" charset="0"/>
              </a:rPr>
              <a:t>Copycat</a:t>
            </a:r>
          </a:p>
          <a:p>
            <a:pPr marL="355600" marR="1415415" indent="-342900">
              <a:lnSpc>
                <a:spcPct val="100000"/>
              </a:lnSpc>
              <a:spcBef>
                <a:spcPts val="95"/>
              </a:spcBef>
            </a:pPr>
            <a:r>
              <a:rPr sz="2500" spc="-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String s2:</a:t>
            </a:r>
            <a:r>
              <a:rPr sz="2500" spc="2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en-IN" sz="2500">
                <a:latin typeface="Times New Roman" panose="02020603050405020304" charset="0"/>
                <a:cs typeface="Times New Roman" panose="02020603050405020304" charset="0"/>
                <a:sym typeface="+mn-ea"/>
              </a:rPr>
              <a:t>Copycat</a:t>
            </a:r>
            <a:endParaRPr lang="en-IN" sz="25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33750" y="488315"/>
            <a:ext cx="4946015" cy="6889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>
                <a:solidFill>
                  <a:schemeClr val="tx1"/>
                </a:solidFill>
              </a:rPr>
              <a:t>strcat()</a:t>
            </a:r>
            <a:r>
              <a:rPr spc="-20" dirty="0">
                <a:solidFill>
                  <a:schemeClr val="tx1"/>
                </a:solidFill>
              </a:rPr>
              <a:t> </a:t>
            </a:r>
            <a:r>
              <a:rPr lang="en-IN" spc="-20" dirty="0">
                <a:solidFill>
                  <a:schemeClr val="tx1"/>
                </a:solidFill>
              </a:rPr>
              <a:t>Function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76325" y="1550670"/>
            <a:ext cx="10231120" cy="3026410"/>
          </a:xfrm>
          <a:prstGeom prst="rect">
            <a:avLst/>
          </a:prstGeom>
        </p:spPr>
        <p:txBody>
          <a:bodyPr vert="horz" wrap="square" lIns="0" tIns="117475" rIns="0" bIns="0" rtlCol="0">
            <a:spAutoFit/>
          </a:bodyPr>
          <a:lstStyle/>
          <a:p>
            <a:pPr marL="353695" indent="-341630">
              <a:lnSpc>
                <a:spcPct val="100000"/>
              </a:lnSpc>
              <a:spcBef>
                <a:spcPts val="925"/>
              </a:spcBef>
              <a:buChar char="•"/>
              <a:tabLst>
                <a:tab pos="353695" algn="l"/>
                <a:tab pos="354330" algn="l"/>
              </a:tabLst>
            </a:pP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The 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strcat function joins </a:t>
            </a: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two 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strings</a:t>
            </a:r>
            <a:r>
              <a:rPr sz="2200" spc="-5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together</a:t>
            </a:r>
            <a:endParaRPr sz="2200">
              <a:latin typeface="Times New Roman" panose="02020603050405020304" charset="0"/>
              <a:cs typeface="Times New Roman" panose="02020603050405020304" charset="0"/>
            </a:endParaRPr>
          </a:p>
          <a:p>
            <a:pPr marL="469900">
              <a:lnSpc>
                <a:spcPct val="100000"/>
              </a:lnSpc>
              <a:spcBef>
                <a:spcPts val="710"/>
              </a:spcBef>
            </a:pP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–</a:t>
            </a:r>
            <a:r>
              <a:rPr sz="2200" spc="23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SYNTAX:</a:t>
            </a:r>
            <a:endParaRPr sz="2200">
              <a:latin typeface="Times New Roman" panose="02020603050405020304" charset="0"/>
              <a:cs typeface="Times New Roman" panose="02020603050405020304" charset="0"/>
            </a:endParaRPr>
          </a:p>
          <a:p>
            <a:pPr marL="1838325">
              <a:lnSpc>
                <a:spcPct val="100000"/>
              </a:lnSpc>
              <a:spcBef>
                <a:spcPts val="700"/>
              </a:spcBef>
            </a:pP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strcat(string1,</a:t>
            </a:r>
            <a:r>
              <a:rPr sz="2200" spc="-2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string2);</a:t>
            </a:r>
            <a:endParaRPr sz="2200">
              <a:latin typeface="Times New Roman" panose="02020603050405020304" charset="0"/>
              <a:cs typeface="Times New Roman" panose="02020603050405020304" charset="0"/>
            </a:endParaRPr>
          </a:p>
          <a:p>
            <a:pPr marL="353695" indent="-341630">
              <a:lnSpc>
                <a:spcPct val="100000"/>
              </a:lnSpc>
              <a:spcBef>
                <a:spcPts val="690"/>
              </a:spcBef>
              <a:buChar char="•"/>
              <a:tabLst>
                <a:tab pos="353695" algn="l"/>
                <a:tab pos="354330" algn="l"/>
              </a:tabLst>
            </a:pP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string1 and string2 are character</a:t>
            </a:r>
            <a:r>
              <a:rPr sz="2200" spc="-3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array</a:t>
            </a:r>
            <a:endParaRPr sz="2200">
              <a:latin typeface="Times New Roman" panose="02020603050405020304" charset="0"/>
              <a:cs typeface="Times New Roman" panose="02020603050405020304" charset="0"/>
            </a:endParaRPr>
          </a:p>
          <a:p>
            <a:pPr marL="353695" indent="-341630">
              <a:lnSpc>
                <a:spcPct val="100000"/>
              </a:lnSpc>
              <a:spcBef>
                <a:spcPts val="700"/>
              </a:spcBef>
              <a:buChar char="•"/>
              <a:tabLst>
                <a:tab pos="353695" algn="l"/>
                <a:tab pos="354330" algn="l"/>
              </a:tabLst>
            </a:pP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string2 </a:t>
            </a: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is appended to</a:t>
            </a:r>
            <a:r>
              <a:rPr sz="2200" spc="2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string1</a:t>
            </a:r>
            <a:endParaRPr sz="2200">
              <a:latin typeface="Times New Roman" panose="02020603050405020304" charset="0"/>
              <a:cs typeface="Times New Roman" panose="02020603050405020304" charset="0"/>
            </a:endParaRPr>
          </a:p>
          <a:p>
            <a:pPr marL="353695" marR="5080" indent="-341630">
              <a:lnSpc>
                <a:spcPct val="100000"/>
              </a:lnSpc>
              <a:spcBef>
                <a:spcPts val="705"/>
              </a:spcBef>
              <a:buChar char="•"/>
              <a:tabLst>
                <a:tab pos="353695" algn="l"/>
                <a:tab pos="354330" algn="l"/>
              </a:tabLst>
            </a:pP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The 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null character </a:t>
            </a: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at 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the </a:t>
            </a: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end of the 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string1 </a:t>
            </a: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is  removed and 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string2 is </a:t>
            </a: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placed 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from</a:t>
            </a:r>
            <a:r>
              <a:rPr sz="2200" spc="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there</a:t>
            </a:r>
            <a:endParaRPr sz="2200">
              <a:latin typeface="Times New Roman" panose="02020603050405020304" charset="0"/>
              <a:cs typeface="Times New Roman" panose="02020603050405020304" charset="0"/>
            </a:endParaRPr>
          </a:p>
          <a:p>
            <a:pPr marL="353695" indent="-341630">
              <a:lnSpc>
                <a:spcPct val="100000"/>
              </a:lnSpc>
              <a:spcBef>
                <a:spcPts val="700"/>
              </a:spcBef>
              <a:buChar char="•"/>
              <a:tabLst>
                <a:tab pos="353695" algn="l"/>
                <a:tab pos="354330" algn="l"/>
              </a:tabLst>
            </a:pP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The 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string2 </a:t>
            </a: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remains</a:t>
            </a:r>
            <a:r>
              <a:rPr sz="2200" spc="2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unchanged</a:t>
            </a:r>
            <a:endParaRPr sz="22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36515" y="307277"/>
            <a:ext cx="2202815" cy="6896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>
                <a:solidFill>
                  <a:schemeClr val="tx1"/>
                </a:solidFill>
              </a:rPr>
              <a:t>Examp</a:t>
            </a:r>
            <a:r>
              <a:rPr sz="4400" spc="10" dirty="0">
                <a:solidFill>
                  <a:schemeClr val="tx1"/>
                </a:solidFill>
              </a:rPr>
              <a:t>l</a:t>
            </a:r>
            <a:r>
              <a:rPr sz="44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31670" y="996732"/>
            <a:ext cx="6296025" cy="54063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3696970">
              <a:lnSpc>
                <a:spcPct val="128000"/>
              </a:lnSpc>
              <a:spcBef>
                <a:spcPts val="95"/>
              </a:spcBef>
            </a:pP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#include &lt;stdio.h&gt;  #include &lt;string.h&gt;  int main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 ()</a:t>
            </a:r>
            <a:endParaRPr sz="2200">
              <a:latin typeface="Times New Roman" panose="02020603050405020304" charset="0"/>
              <a:cs typeface="Times New Roman" panose="02020603050405020304" charset="0"/>
            </a:endParaRPr>
          </a:p>
          <a:p>
            <a:pPr marL="181610">
              <a:lnSpc>
                <a:spcPct val="100000"/>
              </a:lnSpc>
              <a:spcBef>
                <a:spcPts val="805"/>
              </a:spcBef>
            </a:pP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{</a:t>
            </a:r>
            <a:endParaRPr sz="2200">
              <a:latin typeface="Times New Roman" panose="02020603050405020304" charset="0"/>
              <a:cs typeface="Times New Roman" panose="02020603050405020304" charset="0"/>
            </a:endParaRPr>
          </a:p>
          <a:p>
            <a:pPr marL="469900" marR="2888615">
              <a:lnSpc>
                <a:spcPts val="3680"/>
              </a:lnSpc>
              <a:spcBef>
                <a:spcPts val="250"/>
              </a:spcBef>
            </a:pP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char 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s</a:t>
            </a:r>
            <a:r>
              <a:rPr lang="en-IN" sz="2200" dirty="0">
                <a:latin typeface="Times New Roman" panose="02020603050405020304" charset="0"/>
                <a:cs typeface="Times New Roman" panose="02020603050405020304" charset="0"/>
              </a:rPr>
              <a:t>1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[50],</a:t>
            </a:r>
            <a:r>
              <a:rPr sz="2200" spc="-9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IN" sz="2200" spc="-95" dirty="0">
                <a:latin typeface="Times New Roman" panose="02020603050405020304" charset="0"/>
                <a:cs typeface="Times New Roman" panose="02020603050405020304" charset="0"/>
              </a:rPr>
              <a:t>s2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[50];  </a:t>
            </a: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puts(“Enter</a:t>
            </a:r>
            <a:r>
              <a:rPr sz="2200" spc="-3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text1”);</a:t>
            </a:r>
            <a:endParaRPr sz="2200">
              <a:latin typeface="Times New Roman" panose="02020603050405020304" charset="0"/>
              <a:cs typeface="Times New Roman" panose="02020603050405020304" charset="0"/>
            </a:endParaRPr>
          </a:p>
          <a:p>
            <a:pPr marL="469900" marR="2770505">
              <a:lnSpc>
                <a:spcPts val="3680"/>
              </a:lnSpc>
              <a:spcBef>
                <a:spcPts val="10"/>
              </a:spcBef>
            </a:pP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gets(</a:t>
            </a:r>
            <a:r>
              <a:rPr lang="en-IN" sz="2200" dirty="0">
                <a:latin typeface="Times New Roman" panose="02020603050405020304" charset="0"/>
                <a:cs typeface="Times New Roman" panose="02020603050405020304" charset="0"/>
              </a:rPr>
              <a:t>s1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);  </a:t>
            </a:r>
          </a:p>
          <a:p>
            <a:pPr marL="469900" marR="2770505">
              <a:lnSpc>
                <a:spcPts val="3680"/>
              </a:lnSpc>
              <a:spcBef>
                <a:spcPts val="10"/>
              </a:spcBef>
            </a:pP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puts(“\nEnter</a:t>
            </a:r>
            <a:r>
              <a:rPr sz="2200" spc="-6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text2”);</a:t>
            </a:r>
            <a:endParaRPr sz="2200">
              <a:latin typeface="Times New Roman" panose="02020603050405020304" charset="0"/>
              <a:cs typeface="Times New Roman" panose="02020603050405020304" charset="0"/>
            </a:endParaRPr>
          </a:p>
          <a:p>
            <a:pPr marL="469900">
              <a:lnSpc>
                <a:spcPct val="100000"/>
              </a:lnSpc>
              <a:spcBef>
                <a:spcPts val="540"/>
              </a:spcBef>
            </a:pP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gets(</a:t>
            </a:r>
            <a:r>
              <a:rPr lang="en-IN" sz="2200" dirty="0">
                <a:latin typeface="Times New Roman" panose="02020603050405020304" charset="0"/>
                <a:cs typeface="Times New Roman" panose="02020603050405020304" charset="0"/>
              </a:rPr>
              <a:t>s2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);</a:t>
            </a:r>
            <a:endParaRPr sz="2200">
              <a:latin typeface="Times New Roman" panose="02020603050405020304" charset="0"/>
              <a:cs typeface="Times New Roman" panose="02020603050405020304" charset="0"/>
            </a:endParaRPr>
          </a:p>
          <a:p>
            <a:pPr marL="469900">
              <a:lnSpc>
                <a:spcPct val="100000"/>
              </a:lnSpc>
              <a:spcBef>
                <a:spcPts val="805"/>
              </a:spcBef>
            </a:pPr>
            <a:r>
              <a:rPr sz="2200" b="1" spc="-5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strcat(</a:t>
            </a:r>
            <a:r>
              <a:rPr lang="en-IN" sz="2200" b="1" spc="-5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s1</a:t>
            </a:r>
            <a:r>
              <a:rPr sz="2200" b="1" spc="-5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,</a:t>
            </a:r>
            <a:r>
              <a:rPr sz="2200" b="1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200" b="1" spc="-5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s</a:t>
            </a:r>
            <a:r>
              <a:rPr lang="en-IN" sz="2200" b="1" spc="-5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2</a:t>
            </a:r>
            <a:r>
              <a:rPr sz="2200" b="1" spc="-5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);</a:t>
            </a:r>
            <a:endParaRPr sz="2200">
              <a:latin typeface="Times New Roman" panose="02020603050405020304" charset="0"/>
              <a:cs typeface="Times New Roman" panose="02020603050405020304" charset="0"/>
            </a:endParaRPr>
          </a:p>
          <a:p>
            <a:pPr marL="469900">
              <a:lnSpc>
                <a:spcPct val="100000"/>
              </a:lnSpc>
              <a:spcBef>
                <a:spcPts val="795"/>
              </a:spcBef>
            </a:pP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printf("Final destination 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string: </a:t>
            </a: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|%s|",</a:t>
            </a:r>
            <a:r>
              <a:rPr sz="2200" spc="6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IN" sz="2200" spc="60" dirty="0">
                <a:latin typeface="Times New Roman" panose="02020603050405020304" charset="0"/>
                <a:cs typeface="Times New Roman" panose="02020603050405020304" charset="0"/>
              </a:rPr>
              <a:t>s1</a:t>
            </a: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);</a:t>
            </a:r>
            <a:endParaRPr sz="2200">
              <a:latin typeface="Times New Roman" panose="02020603050405020304" charset="0"/>
              <a:cs typeface="Times New Roman" panose="02020603050405020304" charset="0"/>
            </a:endParaRPr>
          </a:p>
          <a:p>
            <a:pPr marL="12700">
              <a:lnSpc>
                <a:spcPct val="100000"/>
              </a:lnSpc>
              <a:spcBef>
                <a:spcPts val="805"/>
              </a:spcBef>
            </a:pP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}</a:t>
            </a:r>
            <a:endParaRPr sz="22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object 3"/>
          <p:cNvSpPr txBox="1"/>
          <p:nvPr/>
        </p:nvSpPr>
        <p:spPr>
          <a:xfrm>
            <a:off x="7348855" y="1723390"/>
            <a:ext cx="6992620" cy="31146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3696970">
              <a:lnSpc>
                <a:spcPct val="128000"/>
              </a:lnSpc>
              <a:spcBef>
                <a:spcPts val="95"/>
              </a:spcBef>
            </a:pPr>
            <a:r>
              <a:rPr lang="en-IN" sz="2200" b="1" u="sng">
                <a:latin typeface="Times New Roman" panose="02020603050405020304" charset="0"/>
                <a:cs typeface="Times New Roman" panose="02020603050405020304" charset="0"/>
              </a:rPr>
              <a:t>OUTPUT:</a:t>
            </a:r>
          </a:p>
          <a:p>
            <a:pPr marL="12700" marR="3696970">
              <a:lnSpc>
                <a:spcPct val="128000"/>
              </a:lnSpc>
              <a:spcBef>
                <a:spcPts val="95"/>
              </a:spcBef>
            </a:pPr>
            <a:r>
              <a:rPr lang="en-IN" sz="2200">
                <a:latin typeface="Times New Roman" panose="02020603050405020304" charset="0"/>
                <a:cs typeface="Times New Roman" panose="02020603050405020304" charset="0"/>
              </a:rPr>
              <a:t>Enter text1</a:t>
            </a:r>
          </a:p>
          <a:p>
            <a:pPr marL="12700" marR="3696970">
              <a:lnSpc>
                <a:spcPct val="128000"/>
              </a:lnSpc>
              <a:spcBef>
                <a:spcPts val="95"/>
              </a:spcBef>
            </a:pPr>
            <a:r>
              <a:rPr lang="en-IN" sz="2200">
                <a:latin typeface="Times New Roman" panose="02020603050405020304" charset="0"/>
                <a:cs typeface="Times New Roman" panose="02020603050405020304" charset="0"/>
              </a:rPr>
              <a:t>The Earth</a:t>
            </a:r>
          </a:p>
          <a:p>
            <a:pPr marL="12700" marR="3696970">
              <a:lnSpc>
                <a:spcPct val="128000"/>
              </a:lnSpc>
              <a:spcBef>
                <a:spcPts val="95"/>
              </a:spcBef>
            </a:pPr>
            <a:r>
              <a:rPr lang="en-IN" sz="2200">
                <a:latin typeface="Times New Roman" panose="02020603050405020304" charset="0"/>
                <a:cs typeface="Times New Roman" panose="02020603050405020304" charset="0"/>
                <a:sym typeface="+mn-ea"/>
              </a:rPr>
              <a:t>Enter text2</a:t>
            </a:r>
          </a:p>
          <a:p>
            <a:pPr marL="12700" marR="3696970">
              <a:lnSpc>
                <a:spcPct val="128000"/>
              </a:lnSpc>
              <a:spcBef>
                <a:spcPts val="95"/>
              </a:spcBef>
            </a:pPr>
            <a:r>
              <a:rPr lang="en-IN" sz="2200">
                <a:latin typeface="Times New Roman" panose="02020603050405020304" charset="0"/>
                <a:cs typeface="Times New Roman" panose="02020603050405020304" charset="0"/>
                <a:sym typeface="+mn-ea"/>
              </a:rPr>
              <a:t>is Beautiful</a:t>
            </a:r>
          </a:p>
          <a:p>
            <a:pPr marL="12700" marR="3696970">
              <a:lnSpc>
                <a:spcPct val="128000"/>
              </a:lnSpc>
              <a:spcBef>
                <a:spcPts val="95"/>
              </a:spcBef>
            </a:pPr>
            <a:r>
              <a:rPr lang="en-IN" sz="2200">
                <a:latin typeface="Times New Roman" panose="02020603050405020304" charset="0"/>
                <a:cs typeface="Times New Roman" panose="02020603050405020304" charset="0"/>
                <a:sym typeface="+mn-ea"/>
              </a:rPr>
              <a:t>Final destination string: </a:t>
            </a:r>
            <a:endParaRPr lang="en-IN" sz="2200">
              <a:latin typeface="Times New Roman" panose="02020603050405020304" charset="0"/>
              <a:cs typeface="Times New Roman" panose="02020603050405020304" charset="0"/>
            </a:endParaRPr>
          </a:p>
          <a:p>
            <a:pPr marL="12700" marR="3696970">
              <a:lnSpc>
                <a:spcPct val="128000"/>
              </a:lnSpc>
              <a:spcBef>
                <a:spcPts val="95"/>
              </a:spcBef>
            </a:pPr>
            <a:r>
              <a:rPr lang="en-IN" sz="2200">
                <a:latin typeface="Times New Roman" panose="02020603050405020304" charset="0"/>
                <a:cs typeface="Times New Roman" panose="02020603050405020304" charset="0"/>
              </a:rPr>
              <a:t>The </a:t>
            </a:r>
            <a:r>
              <a:rPr lang="en-IN" sz="2200">
                <a:latin typeface="Times New Roman" panose="02020603050405020304" charset="0"/>
                <a:cs typeface="Times New Roman" panose="02020603050405020304" charset="0"/>
                <a:sym typeface="+mn-ea"/>
              </a:rPr>
              <a:t>Earth is Beautiful</a:t>
            </a:r>
            <a:endParaRPr lang="en-IN" sz="22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75740" y="650875"/>
            <a:ext cx="7666990" cy="6022340"/>
          </a:xfrm>
          <a:prstGeom prst="rect">
            <a:avLst/>
          </a:prstGeom>
        </p:spPr>
        <p:txBody>
          <a:bodyPr vert="horz" wrap="square" lIns="0" tIns="173990" rIns="0" bIns="0" rtlCol="0">
            <a:spAutoFit/>
          </a:bodyPr>
          <a:lstStyle/>
          <a:p>
            <a:pPr marL="12700" marR="5651500">
              <a:lnSpc>
                <a:spcPct val="100000"/>
              </a:lnSpc>
              <a:spcBef>
                <a:spcPts val="1270"/>
              </a:spcBef>
            </a:pP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#in</a:t>
            </a:r>
            <a:r>
              <a:rPr sz="2000" spc="5" dirty="0">
                <a:latin typeface="Times New Roman" panose="02020603050405020304" charset="0"/>
                <a:cs typeface="Times New Roman" panose="02020603050405020304" charset="0"/>
              </a:rPr>
              <a:t>c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lude</a:t>
            </a:r>
            <a:r>
              <a:rPr sz="2000" spc="5" dirty="0">
                <a:latin typeface="Times New Roman" panose="02020603050405020304" charset="0"/>
                <a:cs typeface="Times New Roman" panose="02020603050405020304" charset="0"/>
              </a:rPr>
              <a:t>&lt;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stdio.</a:t>
            </a:r>
            <a:r>
              <a:rPr sz="2000" spc="-15" dirty="0">
                <a:latin typeface="Times New Roman" panose="02020603050405020304" charset="0"/>
                <a:cs typeface="Times New Roman" panose="02020603050405020304" charset="0"/>
              </a:rPr>
              <a:t>h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&gt;  void</a:t>
            </a:r>
            <a:r>
              <a:rPr sz="2000" spc="-3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main(void)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82550">
              <a:lnSpc>
                <a:spcPct val="100000"/>
              </a:lnSpc>
            </a:pP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{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425450" marR="4906010" indent="-70485">
              <a:lnSpc>
                <a:spcPct val="100000"/>
              </a:lnSpc>
            </a:pP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char</a:t>
            </a:r>
            <a:r>
              <a:rPr sz="2000" spc="-4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spc="-5" dirty="0">
                <a:latin typeface="Times New Roman" panose="02020603050405020304" charset="0"/>
                <a:cs typeface="Times New Roman" panose="02020603050405020304" charset="0"/>
              </a:rPr>
              <a:t>str1[25],str2[25]; 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int</a:t>
            </a:r>
            <a:r>
              <a:rPr sz="2000" spc="-1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i=0,j=0;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355600" marR="4065270" indent="69850">
              <a:lnSpc>
                <a:spcPct val="100000"/>
              </a:lnSpc>
            </a:pPr>
            <a:r>
              <a:rPr sz="2000" spc="-5" dirty="0">
                <a:latin typeface="Times New Roman" panose="02020603050405020304" charset="0"/>
                <a:cs typeface="Times New Roman" panose="02020603050405020304" charset="0"/>
              </a:rPr>
              <a:t>printf("\nEnter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First</a:t>
            </a:r>
            <a:r>
              <a:rPr sz="2000" spc="-9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String:");  gets(str1);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355600">
              <a:lnSpc>
                <a:spcPct val="100000"/>
              </a:lnSpc>
              <a:tabLst>
                <a:tab pos="2982595" algn="l"/>
              </a:tabLst>
            </a:pPr>
            <a:r>
              <a:rPr sz="2000" spc="-5" dirty="0">
                <a:latin typeface="Times New Roman" panose="02020603050405020304" charset="0"/>
                <a:cs typeface="Times New Roman" panose="02020603050405020304" charset="0"/>
              </a:rPr>
              <a:t>printf("\nEnter</a:t>
            </a:r>
            <a:r>
              <a:rPr sz="2000" spc="-1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Second String:");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425450" marR="5333365" indent="-70485">
              <a:lnSpc>
                <a:spcPct val="100000"/>
              </a:lnSpc>
            </a:pP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gets(str2);  while(</a:t>
            </a:r>
            <a:r>
              <a:rPr sz="2000" spc="5" dirty="0">
                <a:latin typeface="Times New Roman" panose="02020603050405020304" charset="0"/>
                <a:cs typeface="Times New Roman" panose="02020603050405020304" charset="0"/>
              </a:rPr>
              <a:t>s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tr1[i</a:t>
            </a:r>
            <a:r>
              <a:rPr sz="2000" spc="-10" dirty="0">
                <a:latin typeface="Times New Roman" panose="02020603050405020304" charset="0"/>
                <a:cs typeface="Times New Roman" panose="02020603050405020304" charset="0"/>
              </a:rPr>
              <a:t>]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!</a:t>
            </a:r>
            <a:r>
              <a:rPr sz="2000" spc="-15" dirty="0">
                <a:latin typeface="Times New Roman" panose="02020603050405020304" charset="0"/>
                <a:cs typeface="Times New Roman" panose="02020603050405020304" charset="0"/>
              </a:rPr>
              <a:t>=</a:t>
            </a:r>
            <a:r>
              <a:rPr sz="2000" spc="10" dirty="0">
                <a:latin typeface="Times New Roman" panose="02020603050405020304" charset="0"/>
                <a:cs typeface="Times New Roman" panose="02020603050405020304" charset="0"/>
              </a:rPr>
              <a:t>'</a:t>
            </a:r>
            <a:r>
              <a:rPr sz="2000" spc="-10" dirty="0">
                <a:latin typeface="Times New Roman" panose="02020603050405020304" charset="0"/>
                <a:cs typeface="Times New Roman" panose="02020603050405020304" charset="0"/>
              </a:rPr>
              <a:t>\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0')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844550">
              <a:lnSpc>
                <a:spcPct val="100000"/>
              </a:lnSpc>
            </a:pP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i++;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425450">
              <a:lnSpc>
                <a:spcPct val="100000"/>
              </a:lnSpc>
            </a:pP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while(str2[j]!='\0')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926465">
              <a:lnSpc>
                <a:spcPct val="100000"/>
              </a:lnSpc>
            </a:pP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{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1454150" marR="4814570" indent="-70485">
              <a:lnSpc>
                <a:spcPct val="100000"/>
              </a:lnSpc>
              <a:spcBef>
                <a:spcPts val="5"/>
              </a:spcBef>
              <a:tabLst>
                <a:tab pos="2155190" algn="l"/>
              </a:tabLst>
            </a:pP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str</a:t>
            </a:r>
            <a:r>
              <a:rPr sz="2000" spc="5" dirty="0">
                <a:latin typeface="Times New Roman" panose="02020603050405020304" charset="0"/>
                <a:cs typeface="Times New Roman" panose="02020603050405020304" charset="0"/>
              </a:rPr>
              <a:t>1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[i</a:t>
            </a:r>
            <a:r>
              <a:rPr sz="2000" spc="-15" dirty="0">
                <a:latin typeface="Times New Roman" panose="02020603050405020304" charset="0"/>
                <a:cs typeface="Times New Roman" panose="02020603050405020304" charset="0"/>
              </a:rPr>
              <a:t>]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=st</a:t>
            </a:r>
            <a:r>
              <a:rPr sz="2000" spc="-15" dirty="0">
                <a:latin typeface="Times New Roman" panose="02020603050405020304" charset="0"/>
                <a:cs typeface="Times New Roman" panose="02020603050405020304" charset="0"/>
              </a:rPr>
              <a:t>r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2[j</a:t>
            </a:r>
            <a:r>
              <a:rPr sz="2000" spc="-10" dirty="0">
                <a:latin typeface="Times New Roman" panose="02020603050405020304" charset="0"/>
                <a:cs typeface="Times New Roman" panose="02020603050405020304" charset="0"/>
              </a:rPr>
              <a:t>]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;  j++;	i++;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926465">
              <a:lnSpc>
                <a:spcPct val="100000"/>
              </a:lnSpc>
            </a:pP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}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563880">
              <a:lnSpc>
                <a:spcPct val="100000"/>
              </a:lnSpc>
            </a:pP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str1[i]='\0';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355600">
              <a:lnSpc>
                <a:spcPct val="100000"/>
              </a:lnSpc>
            </a:pP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printf("\nConcatenated String is</a:t>
            </a:r>
            <a:r>
              <a:rPr sz="2000" spc="-9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%s",str1);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}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2357755" y="272415"/>
            <a:ext cx="8352790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marL="425450">
              <a:lnSpc>
                <a:spcPct val="100000"/>
              </a:lnSpc>
              <a:spcBef>
                <a:spcPts val="1370"/>
              </a:spcBef>
            </a:pPr>
            <a:r>
              <a:rPr sz="24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C program to concatenate </a:t>
            </a:r>
            <a:r>
              <a:rPr sz="2400" b="1" spc="1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two </a:t>
            </a:r>
            <a:r>
              <a:rPr sz="24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strings without using</a:t>
            </a:r>
            <a:r>
              <a:rPr sz="2400" b="1" spc="-17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sz="24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strcat()</a:t>
            </a:r>
            <a:endParaRPr lang="en-US" sz="2400" b="1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4" name="object 2"/>
          <p:cNvSpPr txBox="1"/>
          <p:nvPr/>
        </p:nvSpPr>
        <p:spPr>
          <a:xfrm>
            <a:off x="6529705" y="1616710"/>
            <a:ext cx="10361930" cy="2364105"/>
          </a:xfrm>
          <a:prstGeom prst="rect">
            <a:avLst/>
          </a:prstGeom>
        </p:spPr>
        <p:txBody>
          <a:bodyPr vert="horz" wrap="square" lIns="0" tIns="173990" rIns="0" bIns="0" rtlCol="0">
            <a:spAutoFit/>
          </a:bodyPr>
          <a:lstStyle/>
          <a:p>
            <a:pPr marL="12700" marR="5651500">
              <a:lnSpc>
                <a:spcPct val="100000"/>
              </a:lnSpc>
              <a:spcBef>
                <a:spcPts val="1270"/>
              </a:spcBef>
            </a:pPr>
            <a:r>
              <a:rPr lang="en-IN" sz="2000" b="1" u="sng">
                <a:latin typeface="Times New Roman" panose="02020603050405020304" charset="0"/>
                <a:cs typeface="Times New Roman" panose="02020603050405020304" charset="0"/>
              </a:rPr>
              <a:t>OUTPUT:</a:t>
            </a:r>
          </a:p>
          <a:p>
            <a:pPr marL="12700" marR="5651500">
              <a:lnSpc>
                <a:spcPct val="100000"/>
              </a:lnSpc>
              <a:spcBef>
                <a:spcPts val="1270"/>
              </a:spcBef>
            </a:pPr>
            <a:r>
              <a:rPr sz="2000" spc="-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Enter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First</a:t>
            </a:r>
            <a:r>
              <a:rPr sz="2000" spc="-9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String: </a:t>
            </a:r>
            <a:r>
              <a:rPr lang="en-IN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The Earth</a:t>
            </a:r>
            <a:endParaRPr lang="en-IN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12700" marR="5651500">
              <a:lnSpc>
                <a:spcPct val="100000"/>
              </a:lnSpc>
              <a:spcBef>
                <a:spcPts val="1270"/>
              </a:spcBef>
            </a:pPr>
            <a:r>
              <a:rPr sz="2000" spc="-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Enter</a:t>
            </a:r>
            <a:r>
              <a:rPr sz="2000" spc="-1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Second String:</a:t>
            </a:r>
            <a:r>
              <a:rPr lang="en-IN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is Beautiful</a:t>
            </a:r>
            <a:endParaRPr lang="en-IN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12700" marR="5651500">
              <a:lnSpc>
                <a:spcPct val="100000"/>
              </a:lnSpc>
              <a:spcBef>
                <a:spcPts val="1270"/>
              </a:spcBef>
            </a:pPr>
            <a:r>
              <a:rPr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Concatenated String is</a:t>
            </a:r>
            <a:r>
              <a:rPr lang="en-IN"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: </a:t>
            </a:r>
            <a:r>
              <a:rPr lang="en-IN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The Earthis Beautiful</a:t>
            </a:r>
            <a:endParaRPr lang="en-IN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12700" marR="5651500">
              <a:lnSpc>
                <a:spcPct val="100000"/>
              </a:lnSpc>
              <a:spcBef>
                <a:spcPts val="1270"/>
              </a:spcBef>
            </a:pPr>
            <a:endParaRPr lang="en-IN" sz="2000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54602" y="269431"/>
            <a:ext cx="4651375" cy="6889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>
                <a:solidFill>
                  <a:schemeClr val="tx1"/>
                </a:solidFill>
              </a:rPr>
              <a:t>strcmp() </a:t>
            </a:r>
            <a:r>
              <a:rPr lang="en-IN" spc="-5" dirty="0">
                <a:solidFill>
                  <a:schemeClr val="tx1"/>
                </a:solidFill>
              </a:rPr>
              <a:t>Function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16330" y="1393825"/>
            <a:ext cx="9959340" cy="4413250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354330" marR="5080" indent="-342265" algn="just">
              <a:lnSpc>
                <a:spcPts val="2690"/>
              </a:lnSpc>
              <a:spcBef>
                <a:spcPts val="740"/>
              </a:spcBef>
              <a:buChar char="•"/>
              <a:tabLst>
                <a:tab pos="353695" algn="l"/>
                <a:tab pos="354965" algn="l"/>
              </a:tabLst>
            </a:pP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Compares two 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strings </a:t>
            </a: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identified 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by </a:t>
            </a: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the arguments and  has a value 0 if they are</a:t>
            </a:r>
            <a:r>
              <a:rPr sz="2200" spc="3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equal</a:t>
            </a:r>
            <a:r>
              <a:rPr lang="en-IN" sz="2200" dirty="0">
                <a:latin typeface="Times New Roman" panose="02020603050405020304" charset="0"/>
                <a:cs typeface="Times New Roman" panose="02020603050405020304" charset="0"/>
              </a:rPr>
              <a:t>.</a:t>
            </a:r>
            <a:endParaRPr sz="2200">
              <a:latin typeface="Times New Roman" panose="02020603050405020304" charset="0"/>
              <a:cs typeface="Times New Roman" panose="02020603050405020304" charset="0"/>
            </a:endParaRPr>
          </a:p>
          <a:p>
            <a:pPr marL="354330" marR="227965" indent="-342265" algn="just">
              <a:lnSpc>
                <a:spcPts val="2690"/>
              </a:lnSpc>
              <a:spcBef>
                <a:spcPts val="600"/>
              </a:spcBef>
              <a:buChar char="•"/>
              <a:tabLst>
                <a:tab pos="353695" algn="l"/>
                <a:tab pos="354965" algn="l"/>
              </a:tabLst>
            </a:pP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If they are 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not, </a:t>
            </a: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it has the numeric 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difference </a:t>
            </a: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between  the 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first non-matching characters </a:t>
            </a: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in 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the</a:t>
            </a:r>
            <a:r>
              <a:rPr sz="2200" spc="1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strings</a:t>
            </a:r>
            <a:endParaRPr sz="2200">
              <a:latin typeface="Times New Roman" panose="02020603050405020304" charset="0"/>
              <a:cs typeface="Times New Roman" panose="02020603050405020304" charset="0"/>
            </a:endParaRPr>
          </a:p>
          <a:p>
            <a:pPr marL="1838325" algn="just">
              <a:lnSpc>
                <a:spcPct val="100000"/>
              </a:lnSpc>
              <a:spcBef>
                <a:spcPts val="60"/>
              </a:spcBef>
            </a:pP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strcmp(string1,</a:t>
            </a:r>
            <a:r>
              <a:rPr sz="2200" spc="-2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string2);</a:t>
            </a:r>
            <a:endParaRPr sz="2200">
              <a:latin typeface="Times New Roman" panose="02020603050405020304" charset="0"/>
              <a:cs typeface="Times New Roman" panose="02020603050405020304" charset="0"/>
            </a:endParaRPr>
          </a:p>
          <a:p>
            <a:pPr marL="469900" algn="just">
              <a:lnSpc>
                <a:spcPct val="100000"/>
              </a:lnSpc>
              <a:spcBef>
                <a:spcPts val="695"/>
              </a:spcBef>
            </a:pP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–</a:t>
            </a:r>
            <a:r>
              <a:rPr sz="2200" spc="23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EXAMPLE:</a:t>
            </a:r>
            <a:endParaRPr sz="2200">
              <a:latin typeface="Times New Roman" panose="02020603050405020304" charset="0"/>
              <a:cs typeface="Times New Roman" panose="02020603050405020304" charset="0"/>
            </a:endParaRPr>
          </a:p>
          <a:p>
            <a:pPr marL="1838325" marR="3860165" algn="just">
              <a:lnSpc>
                <a:spcPct val="101000"/>
              </a:lnSpc>
            </a:pP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strcmp(nam</a:t>
            </a:r>
            <a:r>
              <a:rPr lang="en-IN" sz="2200" dirty="0">
                <a:latin typeface="Times New Roman" panose="02020603050405020304" charset="0"/>
                <a:cs typeface="Times New Roman" panose="02020603050405020304" charset="0"/>
              </a:rPr>
              <a:t>e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1, </a:t>
            </a: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name2);  </a:t>
            </a:r>
          </a:p>
          <a:p>
            <a:pPr marL="1838325" marR="3860165" algn="l">
              <a:lnSpc>
                <a:spcPct val="101000"/>
              </a:lnSpc>
            </a:pP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strcmp(name1, “John”);  strcmp(“Rom”,</a:t>
            </a:r>
            <a:r>
              <a:rPr sz="2200" spc="-5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“Ram”);</a:t>
            </a:r>
            <a:endParaRPr sz="2200">
              <a:latin typeface="Times New Roman" panose="02020603050405020304" charset="0"/>
              <a:cs typeface="Times New Roman" panose="02020603050405020304" charset="0"/>
            </a:endParaRPr>
          </a:p>
          <a:p>
            <a:pPr marL="1838325" algn="just">
              <a:lnSpc>
                <a:spcPts val="2835"/>
              </a:lnSpc>
              <a:spcBef>
                <a:spcPts val="30"/>
              </a:spcBef>
            </a:pP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strcmp(“their”,</a:t>
            </a:r>
            <a:r>
              <a:rPr sz="2200" spc="-3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”there”);</a:t>
            </a:r>
            <a:endParaRPr sz="2200">
              <a:latin typeface="Times New Roman" panose="02020603050405020304" charset="0"/>
              <a:cs typeface="Times New Roman" panose="02020603050405020304" charset="0"/>
            </a:endParaRPr>
          </a:p>
          <a:p>
            <a:pPr marL="354330" marR="170815" indent="-342265" algn="just">
              <a:lnSpc>
                <a:spcPct val="80000"/>
              </a:lnSpc>
              <a:spcBef>
                <a:spcPts val="625"/>
              </a:spcBef>
              <a:buChar char="•"/>
              <a:tabLst>
                <a:tab pos="354965" algn="l"/>
              </a:tabLst>
            </a:pP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The above 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statement </a:t>
            </a: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will 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return </a:t>
            </a: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the value of -9 which  is numeric difference between </a:t>
            </a:r>
            <a:r>
              <a:rPr sz="2200" spc="-10" dirty="0">
                <a:latin typeface="Times New Roman" panose="02020603050405020304" charset="0"/>
                <a:cs typeface="Times New Roman" panose="02020603050405020304" charset="0"/>
              </a:rPr>
              <a:t>ASCII </a:t>
            </a: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“i” and ASCII 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“r”  </a:t>
            </a: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is</a:t>
            </a:r>
            <a:r>
              <a:rPr sz="2200" spc="-1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-9</a:t>
            </a:r>
            <a:r>
              <a:rPr lang="en-IN" sz="2200" spc="-5" dirty="0">
                <a:latin typeface="Times New Roman" panose="02020603050405020304" charset="0"/>
                <a:cs typeface="Times New Roman" panose="02020603050405020304" charset="0"/>
              </a:rPr>
              <a:t>.</a:t>
            </a:r>
            <a:endParaRPr sz="2200">
              <a:latin typeface="Times New Roman" panose="02020603050405020304" charset="0"/>
              <a:cs typeface="Times New Roman" panose="02020603050405020304" charset="0"/>
            </a:endParaRPr>
          </a:p>
          <a:p>
            <a:pPr marL="354330" marR="601980" indent="-342265" algn="just">
              <a:lnSpc>
                <a:spcPts val="2690"/>
              </a:lnSpc>
              <a:spcBef>
                <a:spcPts val="580"/>
              </a:spcBef>
              <a:buChar char="•"/>
              <a:tabLst>
                <a:tab pos="354965" algn="l"/>
              </a:tabLst>
            </a:pP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If the value 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is </a:t>
            </a: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negative the 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string1 </a:t>
            </a: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is alphabetically  above</a:t>
            </a:r>
            <a:r>
              <a:rPr sz="2200" spc="-1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string2</a:t>
            </a:r>
            <a:r>
              <a:rPr lang="en-IN" sz="2200" dirty="0">
                <a:latin typeface="Times New Roman" panose="02020603050405020304" charset="0"/>
                <a:cs typeface="Times New Roman" panose="02020603050405020304" charset="0"/>
              </a:rPr>
              <a:t>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53335" y="309880"/>
            <a:ext cx="7509510" cy="381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Arial" panose="020B0604020202020204"/>
                <a:cs typeface="Arial" panose="020B0604020202020204"/>
              </a:rPr>
              <a:t>C program to compare </a:t>
            </a:r>
            <a:r>
              <a:rPr sz="2400" b="1" spc="5" dirty="0">
                <a:latin typeface="Arial" panose="020B0604020202020204"/>
                <a:cs typeface="Arial" panose="020B0604020202020204"/>
              </a:rPr>
              <a:t>two </a:t>
            </a:r>
            <a:r>
              <a:rPr sz="2400" b="1" dirty="0">
                <a:latin typeface="Arial" panose="020B0604020202020204"/>
                <a:cs typeface="Arial" panose="020B0604020202020204"/>
              </a:rPr>
              <a:t>strings using</a:t>
            </a:r>
            <a:r>
              <a:rPr sz="2400" b="1" spc="-200" dirty="0">
                <a:latin typeface="Arial" panose="020B0604020202020204"/>
                <a:cs typeface="Arial" panose="020B0604020202020204"/>
              </a:rPr>
              <a:t> </a:t>
            </a:r>
            <a:r>
              <a:rPr sz="2400" b="1" dirty="0">
                <a:latin typeface="Arial" panose="020B0604020202020204"/>
                <a:cs typeface="Arial" panose="020B0604020202020204"/>
              </a:rPr>
              <a:t>strcmp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767715" y="939165"/>
            <a:ext cx="7834630" cy="55797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5720" marR="5080" indent="0">
              <a:lnSpc>
                <a:spcPct val="100000"/>
              </a:lnSpc>
              <a:spcBef>
                <a:spcPts val="95"/>
              </a:spcBef>
              <a:buNone/>
            </a:pPr>
            <a:r>
              <a:rPr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#include &lt;stdio.h&gt;  </a:t>
            </a:r>
          </a:p>
          <a:p>
            <a:pPr marL="45720" marR="5080" indent="0">
              <a:lnSpc>
                <a:spcPct val="100000"/>
              </a:lnSpc>
              <a:spcBef>
                <a:spcPts val="95"/>
              </a:spcBef>
              <a:buNone/>
            </a:pPr>
            <a:r>
              <a:rPr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#include</a:t>
            </a:r>
            <a:r>
              <a:rPr spc="-8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&lt;string.h&gt;  </a:t>
            </a:r>
          </a:p>
          <a:p>
            <a:pPr marL="45720" marR="5080" indent="0">
              <a:lnSpc>
                <a:spcPct val="100000"/>
              </a:lnSpc>
              <a:spcBef>
                <a:spcPts val="95"/>
              </a:spcBef>
              <a:buNone/>
            </a:pPr>
            <a:r>
              <a:rPr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int</a:t>
            </a:r>
            <a:r>
              <a:rPr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main()</a:t>
            </a:r>
            <a:endParaRPr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45720" indent="0">
              <a:lnSpc>
                <a:spcPct val="100000"/>
              </a:lnSpc>
              <a:buNone/>
            </a:pPr>
            <a:r>
              <a:rPr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{</a:t>
            </a:r>
            <a:endParaRPr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172720" marR="2446020" indent="0">
              <a:lnSpc>
                <a:spcPct val="100000"/>
              </a:lnSpc>
              <a:spcBef>
                <a:spcPts val="95"/>
              </a:spcBef>
              <a:buNone/>
            </a:pPr>
            <a:r>
              <a:rPr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char a[100], b[100];  </a:t>
            </a:r>
          </a:p>
          <a:p>
            <a:pPr marL="172720" marR="2446020" indent="0">
              <a:lnSpc>
                <a:spcPct val="100000"/>
              </a:lnSpc>
              <a:spcBef>
                <a:spcPts val="95"/>
              </a:spcBef>
              <a:buNone/>
            </a:pPr>
            <a:r>
              <a:rPr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printf("Enter the first string</a:t>
            </a:r>
            <a:r>
              <a:rPr lang="en-IN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\n</a:t>
            </a:r>
            <a:r>
              <a:rPr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");  </a:t>
            </a:r>
          </a:p>
          <a:p>
            <a:pPr marL="172720" marR="2446020" indent="0">
              <a:lnSpc>
                <a:spcPct val="100000"/>
              </a:lnSpc>
              <a:spcBef>
                <a:spcPts val="95"/>
              </a:spcBef>
              <a:buNone/>
            </a:pPr>
            <a:r>
              <a:rPr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gets(a);</a:t>
            </a:r>
          </a:p>
          <a:p>
            <a:pPr marL="172720" marR="2446020" indent="0">
              <a:lnSpc>
                <a:spcPct val="100000"/>
              </a:lnSpc>
              <a:spcBef>
                <a:spcPts val="95"/>
              </a:spcBef>
              <a:buNone/>
            </a:pPr>
            <a:r>
              <a:rPr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printf("Enter the second </a:t>
            </a:r>
            <a:r>
              <a:rPr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string</a:t>
            </a:r>
            <a:r>
              <a:rPr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\</a:t>
            </a:r>
            <a:r>
              <a:rPr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n");  </a:t>
            </a:r>
          </a:p>
          <a:p>
            <a:pPr marL="172720" marR="2446020" indent="0">
              <a:lnSpc>
                <a:spcPct val="100000"/>
              </a:lnSpc>
              <a:spcBef>
                <a:spcPts val="95"/>
              </a:spcBef>
              <a:buNone/>
            </a:pPr>
            <a:r>
              <a:rPr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gets(b);</a:t>
            </a:r>
          </a:p>
          <a:p>
            <a:pPr marL="172720" marR="2446020" indent="0">
              <a:lnSpc>
                <a:spcPct val="100000"/>
              </a:lnSpc>
              <a:spcBef>
                <a:spcPts val="95"/>
              </a:spcBef>
              <a:buNone/>
            </a:pPr>
            <a:r>
              <a:rPr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if( strcmp(a,b) == 0</a:t>
            </a:r>
            <a:r>
              <a:rPr spc="6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)</a:t>
            </a:r>
          </a:p>
          <a:p>
            <a:pPr marL="172720" marR="2446020" indent="0">
              <a:lnSpc>
                <a:spcPct val="100000"/>
              </a:lnSpc>
              <a:spcBef>
                <a:spcPts val="95"/>
              </a:spcBef>
              <a:buNone/>
            </a:pPr>
            <a:r>
              <a:rPr lang="en-IN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	</a:t>
            </a:r>
            <a:r>
              <a:rPr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printf("Entered strings are</a:t>
            </a:r>
            <a:r>
              <a:rPr spc="3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equal.</a:t>
            </a:r>
            <a:r>
              <a:rPr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\</a:t>
            </a:r>
            <a:r>
              <a:rPr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n");</a:t>
            </a:r>
          </a:p>
          <a:p>
            <a:pPr marL="172720" indent="0">
              <a:lnSpc>
                <a:spcPct val="100000"/>
              </a:lnSpc>
              <a:buNone/>
            </a:pPr>
            <a:r>
              <a:rPr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else</a:t>
            </a:r>
          </a:p>
          <a:p>
            <a:pPr marL="172720" indent="0">
              <a:lnSpc>
                <a:spcPct val="100000"/>
              </a:lnSpc>
              <a:buNone/>
            </a:pPr>
            <a:r>
              <a:rPr lang="en-IN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	</a:t>
            </a:r>
            <a:r>
              <a:rPr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printf("Entered strings are </a:t>
            </a:r>
            <a:r>
              <a:rPr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not</a:t>
            </a:r>
            <a:r>
              <a:rPr spc="4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equal.</a:t>
            </a:r>
            <a:r>
              <a:rPr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\</a:t>
            </a:r>
            <a:r>
              <a:rPr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n");</a:t>
            </a:r>
          </a:p>
          <a:p>
            <a:pPr marL="0" indent="0">
              <a:lnSpc>
                <a:spcPct val="100000"/>
              </a:lnSpc>
              <a:buNone/>
            </a:pPr>
            <a:r>
              <a:rPr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}</a:t>
            </a:r>
          </a:p>
        </p:txBody>
      </p:sp>
      <p:sp>
        <p:nvSpPr>
          <p:cNvPr id="5" name="object 4"/>
          <p:cNvSpPr txBox="1">
            <a:spLocks noGrp="1"/>
          </p:cNvSpPr>
          <p:nvPr/>
        </p:nvSpPr>
        <p:spPr>
          <a:xfrm>
            <a:off x="7538085" y="2151380"/>
            <a:ext cx="7834630" cy="21037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 marL="228600" indent="-18288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Clr>
                <a:schemeClr val="accent1"/>
              </a:buClr>
              <a:buSzPct val="80000"/>
              <a:buFont typeface="Corbel" panose="020B0503020204020204" pitchFamily="34" charset="0"/>
              <a:buChar char="•"/>
              <a:defRPr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anose="020B0503020204020204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anose="020B0503020204020204" pitchFamily="34" charset="0"/>
              <a:buChar char="•"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anose="020B0503020204020204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anose="020B0503020204020204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anose="020B0503020204020204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189992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anose="020B0503020204020204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220027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anose="020B0503020204020204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249999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anose="020B0503020204020204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marR="5080" indent="0">
              <a:lnSpc>
                <a:spcPct val="100000"/>
              </a:lnSpc>
              <a:spcBef>
                <a:spcPts val="95"/>
              </a:spcBef>
              <a:buNone/>
            </a:pPr>
            <a:r>
              <a:rPr lang="en-IN" b="1" u="sng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OUTPUT</a:t>
            </a:r>
          </a:p>
          <a:p>
            <a:pPr marL="45720" marR="5080" indent="0">
              <a:lnSpc>
                <a:spcPct val="100000"/>
              </a:lnSpc>
              <a:spcBef>
                <a:spcPts val="95"/>
              </a:spcBef>
              <a:buNone/>
            </a:pPr>
            <a:r>
              <a:rPr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Enter the first string</a:t>
            </a:r>
          </a:p>
          <a:p>
            <a:pPr marL="45720" marR="5080" indent="0">
              <a:lnSpc>
                <a:spcPct val="100000"/>
              </a:lnSpc>
              <a:spcBef>
                <a:spcPts val="95"/>
              </a:spcBef>
              <a:buNone/>
            </a:pPr>
            <a:r>
              <a:rPr lang="en-IN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Hello</a:t>
            </a:r>
            <a:endParaRPr spc="-5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45720" marR="5080" indent="0">
              <a:lnSpc>
                <a:spcPct val="100000"/>
              </a:lnSpc>
              <a:spcBef>
                <a:spcPts val="95"/>
              </a:spcBef>
              <a:buNone/>
            </a:pPr>
            <a:r>
              <a:rPr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Enter the second </a:t>
            </a:r>
            <a:r>
              <a:rPr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string</a:t>
            </a:r>
          </a:p>
          <a:p>
            <a:pPr marL="45720" marR="5080" indent="0">
              <a:lnSpc>
                <a:spcPct val="100000"/>
              </a:lnSpc>
              <a:spcBef>
                <a:spcPts val="95"/>
              </a:spcBef>
              <a:buNone/>
            </a:pPr>
            <a:r>
              <a:rPr lang="en-IN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Hai</a:t>
            </a:r>
            <a:endParaRPr spc="-5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45720" marR="5080" indent="0">
              <a:lnSpc>
                <a:spcPct val="100000"/>
              </a:lnSpc>
              <a:spcBef>
                <a:spcPts val="95"/>
              </a:spcBef>
              <a:buNone/>
            </a:pPr>
            <a:r>
              <a:rPr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Entered strings are </a:t>
            </a:r>
            <a:r>
              <a:rPr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not</a:t>
            </a:r>
            <a:r>
              <a:rPr spc="4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equal</a:t>
            </a:r>
            <a:endParaRPr lang="en-IN" spc="-5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sz="half" idx="2"/>
          </p:nvPr>
        </p:nvSpPr>
        <p:spPr>
          <a:xfrm>
            <a:off x="730250" y="776605"/>
            <a:ext cx="5271770" cy="5808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5720" marR="5080" indent="0">
              <a:lnSpc>
                <a:spcPct val="100000"/>
              </a:lnSpc>
              <a:spcBef>
                <a:spcPts val="100"/>
              </a:spcBef>
              <a:buNone/>
            </a:pPr>
            <a:r>
              <a:rPr sz="18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#include</a:t>
            </a:r>
            <a:r>
              <a:rPr sz="1800" spc="-114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sz="18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&lt;string.h&gt;  </a:t>
            </a:r>
          </a:p>
          <a:p>
            <a:pPr marL="45720" marR="5080" indent="0">
              <a:lnSpc>
                <a:spcPct val="100000"/>
              </a:lnSpc>
              <a:spcBef>
                <a:spcPts val="100"/>
              </a:spcBef>
              <a:buNone/>
            </a:pPr>
            <a:r>
              <a:rPr sz="18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#include&lt;conio.h&gt;  </a:t>
            </a:r>
          </a:p>
          <a:p>
            <a:pPr marL="45720" marR="5080" indent="0">
              <a:lnSpc>
                <a:spcPct val="100000"/>
              </a:lnSpc>
              <a:spcBef>
                <a:spcPts val="100"/>
              </a:spcBef>
              <a:buNone/>
            </a:pPr>
            <a:r>
              <a:rPr sz="1800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void main(void)</a:t>
            </a:r>
            <a:endParaRPr sz="18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45720" indent="0">
              <a:lnSpc>
                <a:spcPct val="100000"/>
              </a:lnSpc>
              <a:buNone/>
            </a:pPr>
            <a:r>
              <a:rPr sz="18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{</a:t>
            </a:r>
            <a:endParaRPr sz="18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130810" marR="1405890" indent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sz="1800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char</a:t>
            </a:r>
            <a:r>
              <a:rPr sz="1800" spc="-8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18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str1[25],str2[25];  </a:t>
            </a:r>
          </a:p>
          <a:p>
            <a:pPr marL="130810" marR="1405890" indent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sz="1800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int dif,i=0;</a:t>
            </a:r>
          </a:p>
          <a:p>
            <a:pPr marL="130810" marR="1405890" indent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sz="18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clrscr();</a:t>
            </a:r>
          </a:p>
          <a:p>
            <a:pPr marL="130810" marR="1405890" indent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sz="1800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printf("\nEnter </a:t>
            </a:r>
            <a:r>
              <a:rPr sz="18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the first </a:t>
            </a:r>
            <a:r>
              <a:rPr sz="1800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String:");  gets(str1);</a:t>
            </a:r>
          </a:p>
          <a:p>
            <a:pPr marL="130810" marR="1405890" indent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sz="1800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printf("\nEnter </a:t>
            </a:r>
            <a:r>
              <a:rPr sz="18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the </a:t>
            </a:r>
            <a:r>
              <a:rPr sz="1800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second String</a:t>
            </a:r>
            <a:r>
              <a:rPr lang="en-IN" sz="1800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:</a:t>
            </a:r>
            <a:r>
              <a:rPr sz="1800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");  gets(str2);  </a:t>
            </a:r>
          </a:p>
          <a:p>
            <a:pPr marL="12065" marR="5080" indent="0">
              <a:lnSpc>
                <a:spcPct val="100000"/>
              </a:lnSpc>
              <a:spcAft>
                <a:spcPts val="0"/>
              </a:spcAft>
              <a:buNone/>
            </a:pPr>
            <a:r>
              <a:rPr sz="1800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 while(str1[i]!='\0'||str2[i]!='\0')</a:t>
            </a:r>
          </a:p>
          <a:p>
            <a:pPr marL="12065" marR="508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IN" sz="18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	</a:t>
            </a:r>
            <a:r>
              <a:rPr sz="18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{</a:t>
            </a:r>
          </a:p>
          <a:p>
            <a:pPr marL="12065" marR="508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IN" sz="18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	</a:t>
            </a:r>
            <a:r>
              <a:rPr sz="18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dif=(st</a:t>
            </a:r>
            <a:r>
              <a:rPr sz="1800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r</a:t>
            </a:r>
            <a:r>
              <a:rPr sz="1800" spc="-1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1</a:t>
            </a:r>
            <a:r>
              <a:rPr sz="18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[i</a:t>
            </a:r>
            <a:r>
              <a:rPr sz="1800" spc="1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]</a:t>
            </a:r>
            <a:r>
              <a:rPr sz="1800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-</a:t>
            </a:r>
            <a:r>
              <a:rPr sz="18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</a:t>
            </a:r>
            <a:r>
              <a:rPr sz="1800" spc="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t</a:t>
            </a:r>
            <a:r>
              <a:rPr sz="1800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r</a:t>
            </a:r>
            <a:r>
              <a:rPr sz="1800" spc="-1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2</a:t>
            </a:r>
            <a:r>
              <a:rPr sz="18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[i</a:t>
            </a:r>
            <a:r>
              <a:rPr sz="1800" spc="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]</a:t>
            </a:r>
            <a:r>
              <a:rPr sz="18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);</a:t>
            </a:r>
          </a:p>
          <a:p>
            <a:pPr marL="851535" marR="1122045" indent="0">
              <a:lnSpc>
                <a:spcPct val="100000"/>
              </a:lnSpc>
              <a:spcBef>
                <a:spcPts val="5"/>
              </a:spcBef>
              <a:buNone/>
            </a:pPr>
            <a:r>
              <a:rPr lang="en-IN" sz="18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	</a:t>
            </a:r>
            <a:r>
              <a:rPr sz="18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if(dif!=0)</a:t>
            </a:r>
          </a:p>
          <a:p>
            <a:pPr marL="851535" marR="1122045" indent="0">
              <a:lnSpc>
                <a:spcPct val="100000"/>
              </a:lnSpc>
              <a:spcBef>
                <a:spcPts val="5"/>
              </a:spcBef>
              <a:buNone/>
            </a:pPr>
            <a:r>
              <a:rPr lang="en-IN" sz="18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	      </a:t>
            </a:r>
            <a:r>
              <a:rPr sz="1800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b</a:t>
            </a:r>
            <a:r>
              <a:rPr sz="1800" spc="-1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r</a:t>
            </a:r>
            <a:r>
              <a:rPr sz="1800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e</a:t>
            </a:r>
            <a:r>
              <a:rPr sz="1800" spc="-1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</a:t>
            </a:r>
            <a:r>
              <a:rPr sz="18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k;  </a:t>
            </a:r>
          </a:p>
          <a:p>
            <a:pPr marL="851535" marR="1122045" indent="0">
              <a:lnSpc>
                <a:spcPct val="100000"/>
              </a:lnSpc>
              <a:spcBef>
                <a:spcPts val="5"/>
              </a:spcBef>
              <a:buNone/>
            </a:pPr>
            <a:r>
              <a:rPr sz="18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i++;</a:t>
            </a:r>
          </a:p>
          <a:p>
            <a:pPr marL="851535" marR="1122045" indent="0">
              <a:lnSpc>
                <a:spcPct val="100000"/>
              </a:lnSpc>
              <a:spcBef>
                <a:spcPts val="5"/>
              </a:spcBef>
              <a:buNone/>
            </a:pPr>
            <a:r>
              <a:rPr sz="18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}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367780" y="900430"/>
            <a:ext cx="5043170" cy="27832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82550">
              <a:lnSpc>
                <a:spcPct val="100000"/>
              </a:lnSpc>
              <a:spcBef>
                <a:spcPts val="105"/>
              </a:spcBef>
            </a:pPr>
            <a:r>
              <a:rPr lang="en-IN" dirty="0">
                <a:latin typeface="Times New Roman" panose="02020603050405020304" charset="0"/>
                <a:cs typeface="Times New Roman" panose="02020603050405020304" charset="0"/>
              </a:rPr>
              <a:t>   </a:t>
            </a:r>
            <a:r>
              <a:rPr dirty="0">
                <a:latin typeface="Times New Roman" panose="02020603050405020304" charset="0"/>
                <a:cs typeface="Times New Roman" panose="02020603050405020304" charset="0"/>
              </a:rPr>
              <a:t>if(dif&gt;0)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marL="291465">
              <a:lnSpc>
                <a:spcPct val="100000"/>
              </a:lnSpc>
            </a:pPr>
            <a:r>
              <a:rPr lang="en-IN" dirty="0">
                <a:latin typeface="Times New Roman" panose="02020603050405020304" charset="0"/>
                <a:cs typeface="Times New Roman" panose="02020603050405020304" charset="0"/>
              </a:rPr>
              <a:t>	</a:t>
            </a:r>
            <a:r>
              <a:rPr dirty="0">
                <a:latin typeface="Times New Roman" panose="02020603050405020304" charset="0"/>
                <a:cs typeface="Times New Roman" panose="02020603050405020304" charset="0"/>
              </a:rPr>
              <a:t>printf("%s comes</a:t>
            </a:r>
            <a:r>
              <a:rPr spc="-7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pc="-5" dirty="0">
                <a:latin typeface="Times New Roman" panose="02020603050405020304" charset="0"/>
                <a:cs typeface="Times New Roman" panose="02020603050405020304" charset="0"/>
              </a:rPr>
              <a:t>after </a:t>
            </a:r>
            <a:r>
              <a:rPr dirty="0">
                <a:latin typeface="Times New Roman" panose="02020603050405020304" charset="0"/>
                <a:cs typeface="Times New Roman" panose="02020603050405020304" charset="0"/>
              </a:rPr>
              <a:t>%s"</a:t>
            </a:r>
            <a:r>
              <a:rPr spc="-10" dirty="0">
                <a:latin typeface="Times New Roman" panose="02020603050405020304" charset="0"/>
                <a:cs typeface="Times New Roman" panose="02020603050405020304" charset="0"/>
              </a:rPr>
              <a:t>,</a:t>
            </a:r>
            <a:r>
              <a:rPr dirty="0">
                <a:latin typeface="Times New Roman" panose="02020603050405020304" charset="0"/>
                <a:cs typeface="Times New Roman" panose="02020603050405020304" charset="0"/>
              </a:rPr>
              <a:t>str</a:t>
            </a:r>
            <a:r>
              <a:rPr spc="5" dirty="0">
                <a:latin typeface="Times New Roman" panose="02020603050405020304" charset="0"/>
                <a:cs typeface="Times New Roman" panose="02020603050405020304" charset="0"/>
              </a:rPr>
              <a:t>1</a:t>
            </a:r>
            <a:r>
              <a:rPr dirty="0">
                <a:latin typeface="Times New Roman" panose="02020603050405020304" charset="0"/>
                <a:cs typeface="Times New Roman" panose="02020603050405020304" charset="0"/>
              </a:rPr>
              <a:t>,st</a:t>
            </a:r>
            <a:r>
              <a:rPr spc="-15" dirty="0">
                <a:latin typeface="Times New Roman" panose="02020603050405020304" charset="0"/>
                <a:cs typeface="Times New Roman" panose="02020603050405020304" charset="0"/>
              </a:rPr>
              <a:t>r</a:t>
            </a:r>
            <a:r>
              <a:rPr spc="-10" dirty="0">
                <a:latin typeface="Times New Roman" panose="02020603050405020304" charset="0"/>
                <a:cs typeface="Times New Roman" panose="02020603050405020304" charset="0"/>
              </a:rPr>
              <a:t>2</a:t>
            </a:r>
            <a:r>
              <a:rPr dirty="0">
                <a:latin typeface="Times New Roman" panose="02020603050405020304" charset="0"/>
                <a:cs typeface="Times New Roman" panose="02020603050405020304" charset="0"/>
              </a:rPr>
              <a:t>);  </a:t>
            </a:r>
          </a:p>
          <a:p>
            <a:pPr marL="291465">
              <a:lnSpc>
                <a:spcPct val="100000"/>
              </a:lnSpc>
            </a:pPr>
            <a:r>
              <a:rPr dirty="0">
                <a:latin typeface="Times New Roman" panose="02020603050405020304" charset="0"/>
                <a:cs typeface="Times New Roman" panose="02020603050405020304" charset="0"/>
              </a:rPr>
              <a:t>else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marL="220980">
              <a:lnSpc>
                <a:spcPct val="100000"/>
              </a:lnSpc>
            </a:pPr>
            <a:r>
              <a:rPr dirty="0">
                <a:latin typeface="Times New Roman" panose="02020603050405020304" charset="0"/>
                <a:cs typeface="Times New Roman" panose="02020603050405020304" charset="0"/>
              </a:rPr>
              <a:t>{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marL="501650">
              <a:lnSpc>
                <a:spcPct val="100000"/>
              </a:lnSpc>
            </a:pPr>
            <a:r>
              <a:rPr dirty="0">
                <a:latin typeface="Times New Roman" panose="02020603050405020304" charset="0"/>
                <a:cs typeface="Times New Roman" panose="02020603050405020304" charset="0"/>
              </a:rPr>
              <a:t>if(dif&lt;0)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marL="220980">
              <a:lnSpc>
                <a:spcPct val="100000"/>
              </a:lnSpc>
            </a:pPr>
            <a:r>
              <a:rPr lang="en-IN" dirty="0">
                <a:latin typeface="Times New Roman" panose="02020603050405020304" charset="0"/>
                <a:cs typeface="Times New Roman" panose="02020603050405020304" charset="0"/>
              </a:rPr>
              <a:t>	       </a:t>
            </a:r>
            <a:r>
              <a:rPr dirty="0">
                <a:latin typeface="Times New Roman" panose="02020603050405020304" charset="0"/>
                <a:cs typeface="Times New Roman" panose="02020603050405020304" charset="0"/>
              </a:rPr>
              <a:t>printf("%s comes</a:t>
            </a:r>
            <a:r>
              <a:rPr spc="-7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pc="-5" dirty="0">
                <a:latin typeface="Times New Roman" panose="02020603050405020304" charset="0"/>
                <a:cs typeface="Times New Roman" panose="02020603050405020304" charset="0"/>
              </a:rPr>
              <a:t>after </a:t>
            </a:r>
            <a:r>
              <a:rPr dirty="0">
                <a:latin typeface="Times New Roman" panose="02020603050405020304" charset="0"/>
                <a:cs typeface="Times New Roman" panose="02020603050405020304" charset="0"/>
              </a:rPr>
              <a:t>%s"</a:t>
            </a:r>
            <a:r>
              <a:rPr spc="-10" dirty="0">
                <a:latin typeface="Times New Roman" panose="02020603050405020304" charset="0"/>
                <a:cs typeface="Times New Roman" panose="02020603050405020304" charset="0"/>
              </a:rPr>
              <a:t>,</a:t>
            </a:r>
            <a:r>
              <a:rPr dirty="0">
                <a:latin typeface="Times New Roman" panose="02020603050405020304" charset="0"/>
                <a:cs typeface="Times New Roman" panose="02020603050405020304" charset="0"/>
              </a:rPr>
              <a:t>str</a:t>
            </a:r>
            <a:r>
              <a:rPr spc="5" dirty="0">
                <a:latin typeface="Times New Roman" panose="02020603050405020304" charset="0"/>
                <a:cs typeface="Times New Roman" panose="02020603050405020304" charset="0"/>
              </a:rPr>
              <a:t>2</a:t>
            </a:r>
            <a:r>
              <a:rPr dirty="0">
                <a:latin typeface="Times New Roman" panose="02020603050405020304" charset="0"/>
                <a:cs typeface="Times New Roman" panose="02020603050405020304" charset="0"/>
              </a:rPr>
              <a:t>,st</a:t>
            </a:r>
            <a:r>
              <a:rPr spc="-15" dirty="0">
                <a:latin typeface="Times New Roman" panose="02020603050405020304" charset="0"/>
                <a:cs typeface="Times New Roman" panose="02020603050405020304" charset="0"/>
              </a:rPr>
              <a:t>r</a:t>
            </a:r>
            <a:r>
              <a:rPr spc="-10" dirty="0">
                <a:latin typeface="Times New Roman" panose="02020603050405020304" charset="0"/>
                <a:cs typeface="Times New Roman" panose="02020603050405020304" charset="0"/>
              </a:rPr>
              <a:t>1</a:t>
            </a:r>
            <a:r>
              <a:rPr dirty="0">
                <a:latin typeface="Times New Roman" panose="02020603050405020304" charset="0"/>
                <a:cs typeface="Times New Roman" panose="02020603050405020304" charset="0"/>
              </a:rPr>
              <a:t>); </a:t>
            </a:r>
          </a:p>
          <a:p>
            <a:pPr marL="220980">
              <a:lnSpc>
                <a:spcPct val="100000"/>
              </a:lnSpc>
            </a:pPr>
            <a:r>
              <a:rPr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IN" dirty="0">
                <a:latin typeface="Times New Roman" panose="02020603050405020304" charset="0"/>
                <a:cs typeface="Times New Roman" panose="02020603050405020304" charset="0"/>
              </a:rPr>
              <a:t>	</a:t>
            </a:r>
            <a:r>
              <a:rPr dirty="0">
                <a:latin typeface="Times New Roman" panose="02020603050405020304" charset="0"/>
                <a:cs typeface="Times New Roman" panose="02020603050405020304" charset="0"/>
              </a:rPr>
              <a:t>else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marL="220980">
              <a:lnSpc>
                <a:spcPct val="100000"/>
              </a:lnSpc>
            </a:pPr>
            <a:r>
              <a:rPr lang="en-IN" dirty="0">
                <a:latin typeface="Times New Roman" panose="02020603050405020304" charset="0"/>
                <a:cs typeface="Times New Roman" panose="02020603050405020304" charset="0"/>
              </a:rPr>
              <a:t>		</a:t>
            </a:r>
            <a:r>
              <a:rPr dirty="0">
                <a:latin typeface="Times New Roman" panose="02020603050405020304" charset="0"/>
                <a:cs typeface="Times New Roman" panose="02020603050405020304" charset="0"/>
              </a:rPr>
              <a:t>printf("</a:t>
            </a:r>
            <a:r>
              <a:rPr lang="en-IN" dirty="0">
                <a:latin typeface="Times New Roman" panose="02020603050405020304" charset="0"/>
                <a:cs typeface="Times New Roman" panose="02020603050405020304" charset="0"/>
              </a:rPr>
              <a:t>B</a:t>
            </a:r>
            <a:r>
              <a:rPr dirty="0">
                <a:latin typeface="Times New Roman" panose="02020603050405020304" charset="0"/>
                <a:cs typeface="Times New Roman" panose="02020603050405020304" charset="0"/>
              </a:rPr>
              <a:t>oth the strings are</a:t>
            </a:r>
            <a:r>
              <a:rPr spc="-15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dirty="0">
                <a:latin typeface="Times New Roman" panose="02020603050405020304" charset="0"/>
                <a:cs typeface="Times New Roman" panose="02020603050405020304" charset="0"/>
              </a:rPr>
              <a:t>same");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marL="220980">
              <a:lnSpc>
                <a:spcPct val="100000"/>
              </a:lnSpc>
            </a:pPr>
            <a:r>
              <a:rPr dirty="0">
                <a:latin typeface="Times New Roman" panose="02020603050405020304" charset="0"/>
                <a:cs typeface="Times New Roman" panose="02020603050405020304" charset="0"/>
              </a:rPr>
              <a:t>}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marL="12700">
              <a:lnSpc>
                <a:spcPct val="100000"/>
              </a:lnSpc>
            </a:pPr>
            <a:r>
              <a:rPr dirty="0">
                <a:latin typeface="Times New Roman" panose="02020603050405020304" charset="0"/>
                <a:cs typeface="Times New Roman" panose="02020603050405020304" charset="0"/>
              </a:rPr>
              <a:t>}</a:t>
            </a:r>
          </a:p>
        </p:txBody>
      </p:sp>
      <p:sp>
        <p:nvSpPr>
          <p:cNvPr id="5" name="object 4"/>
          <p:cNvSpPr txBox="1"/>
          <p:nvPr/>
        </p:nvSpPr>
        <p:spPr>
          <a:xfrm>
            <a:off x="6002020" y="4052570"/>
            <a:ext cx="5043170" cy="12846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82550">
              <a:lnSpc>
                <a:spcPct val="100000"/>
              </a:lnSpc>
              <a:spcBef>
                <a:spcPts val="105"/>
              </a:spcBef>
            </a:pPr>
            <a:r>
              <a:rPr lang="en-IN" sz="2000" b="1" u="sng" dirty="0">
                <a:latin typeface="Times New Roman" panose="02020603050405020304" charset="0"/>
                <a:cs typeface="Times New Roman" panose="02020603050405020304" charset="0"/>
              </a:rPr>
              <a:t>OUTPUT</a:t>
            </a:r>
          </a:p>
          <a:p>
            <a:pPr marL="82550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Enter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the first </a:t>
            </a:r>
            <a:r>
              <a:rPr sz="2000" spc="-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String: </a:t>
            </a:r>
            <a:r>
              <a:rPr lang="en-IN" sz="2000" spc="-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Compare</a:t>
            </a:r>
            <a:endParaRPr lang="en-IN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82550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Enter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the </a:t>
            </a:r>
            <a:r>
              <a:rPr sz="2000" spc="-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second String</a:t>
            </a:r>
            <a:r>
              <a:rPr lang="en-IN" sz="2000" spc="-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:Compare</a:t>
            </a:r>
          </a:p>
          <a:p>
            <a:pPr marL="82550">
              <a:lnSpc>
                <a:spcPct val="100000"/>
              </a:lnSpc>
              <a:spcBef>
                <a:spcPts val="105"/>
              </a:spcBef>
            </a:pPr>
            <a:r>
              <a:rPr lang="en-IN"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B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oth the strings are</a:t>
            </a:r>
            <a:r>
              <a:rPr sz="2000" spc="-15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same</a:t>
            </a:r>
            <a:endParaRPr lang="en-IN" sz="2000" spc="-5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2226310" y="175895"/>
            <a:ext cx="8110220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marL="425450">
              <a:lnSpc>
                <a:spcPct val="100000"/>
              </a:lnSpc>
              <a:spcBef>
                <a:spcPts val="1370"/>
              </a:spcBef>
            </a:pPr>
            <a:r>
              <a:rPr sz="24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C program to co</a:t>
            </a:r>
            <a:r>
              <a:rPr lang="en-IN" sz="24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mpare</a:t>
            </a:r>
            <a:r>
              <a:rPr sz="24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sz="2400" b="1" spc="1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two </a:t>
            </a:r>
            <a:r>
              <a:rPr sz="24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strings without using</a:t>
            </a:r>
            <a:r>
              <a:rPr sz="2400" b="1" spc="-17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sz="24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strc</a:t>
            </a:r>
            <a:r>
              <a:rPr lang="en-IN" sz="24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mp</a:t>
            </a:r>
            <a:r>
              <a:rPr sz="24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()</a:t>
            </a:r>
            <a:endParaRPr lang="en-US" sz="2400" b="1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63597" y="534225"/>
            <a:ext cx="8062595" cy="6889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>
                <a:solidFill>
                  <a:schemeClr val="tx1"/>
                </a:solidFill>
              </a:rPr>
              <a:t>COMPARISON OF TWO</a:t>
            </a:r>
            <a:r>
              <a:rPr spc="-50" dirty="0">
                <a:solidFill>
                  <a:schemeClr val="tx1"/>
                </a:solidFill>
              </a:rPr>
              <a:t> </a:t>
            </a:r>
            <a:r>
              <a:rPr spc="-5" dirty="0">
                <a:solidFill>
                  <a:schemeClr val="tx1"/>
                </a:solidFill>
              </a:rPr>
              <a:t>STRINGS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58720" y="1522882"/>
            <a:ext cx="7907020" cy="2743200"/>
          </a:xfrm>
          <a:prstGeom prst="rect">
            <a:avLst/>
          </a:prstGeom>
        </p:spPr>
        <p:txBody>
          <a:bodyPr vert="horz" wrap="square" lIns="0" tIns="717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65"/>
              </a:spcBef>
            </a:pP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i=0;</a:t>
            </a:r>
            <a:endParaRPr sz="2200">
              <a:latin typeface="Times New Roman" panose="02020603050405020304" charset="0"/>
              <a:cs typeface="Times New Roman" panose="02020603050405020304" charset="0"/>
            </a:endParaRPr>
          </a:p>
          <a:p>
            <a:pPr marL="504825" marR="5080" indent="-492760">
              <a:lnSpc>
                <a:spcPct val="114000"/>
              </a:lnSpc>
              <a:spcBef>
                <a:spcPts val="15"/>
              </a:spcBef>
            </a:pP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while(str1[i]==str2[i] </a:t>
            </a: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&amp;&amp; 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str1[i] </a:t>
            </a: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!= </a:t>
            </a:r>
            <a:r>
              <a:rPr sz="2200" spc="5" dirty="0">
                <a:latin typeface="Times New Roman" panose="02020603050405020304" charset="0"/>
                <a:cs typeface="Times New Roman" panose="02020603050405020304" charset="0"/>
              </a:rPr>
              <a:t>'\0' </a:t>
            </a: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&amp;&amp; str2 != '\0')  </a:t>
            </a:r>
          </a:p>
          <a:p>
            <a:pPr marL="504825" marR="5080" indent="-492760">
              <a:lnSpc>
                <a:spcPct val="114000"/>
              </a:lnSpc>
              <a:spcBef>
                <a:spcPts val="15"/>
              </a:spcBef>
            </a:pPr>
            <a:r>
              <a:rPr lang="en-IN" sz="2200" spc="-5" dirty="0">
                <a:latin typeface="Times New Roman" panose="02020603050405020304" charset="0"/>
                <a:cs typeface="Times New Roman" panose="02020603050405020304" charset="0"/>
              </a:rPr>
              <a:t>	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i =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 i+1;</a:t>
            </a:r>
          </a:p>
          <a:p>
            <a:pPr marL="504825" marR="5080" indent="-492760">
              <a:lnSpc>
                <a:spcPct val="114000"/>
              </a:lnSpc>
              <a:spcBef>
                <a:spcPts val="15"/>
              </a:spcBef>
            </a:pP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if(str1[i] </a:t>
            </a: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== 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'\0' </a:t>
            </a: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&amp;&amp; str2 == '\0')  </a:t>
            </a:r>
          </a:p>
          <a:p>
            <a:pPr marL="504825" marR="5080" indent="-492760">
              <a:lnSpc>
                <a:spcPct val="114000"/>
              </a:lnSpc>
              <a:spcBef>
                <a:spcPts val="15"/>
              </a:spcBef>
            </a:pPr>
            <a:r>
              <a:rPr lang="en-IN" sz="2200" spc="-5" dirty="0">
                <a:latin typeface="Times New Roman" panose="02020603050405020304" charset="0"/>
                <a:cs typeface="Times New Roman" panose="02020603050405020304" charset="0"/>
              </a:rPr>
              <a:t>	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printf("strings </a:t>
            </a: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are</a:t>
            </a:r>
            <a:r>
              <a:rPr sz="2200" spc="-7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equal");</a:t>
            </a:r>
          </a:p>
          <a:p>
            <a:pPr marL="504825" marR="5080" indent="-492760">
              <a:lnSpc>
                <a:spcPct val="114000"/>
              </a:lnSpc>
              <a:spcBef>
                <a:spcPts val="15"/>
              </a:spcBef>
            </a:pP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else</a:t>
            </a:r>
          </a:p>
          <a:p>
            <a:pPr marL="405765">
              <a:lnSpc>
                <a:spcPct val="100000"/>
              </a:lnSpc>
              <a:spcBef>
                <a:spcPts val="455"/>
              </a:spcBef>
            </a:pP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printf("strings </a:t>
            </a: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are 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not</a:t>
            </a:r>
            <a:r>
              <a:rPr sz="2200" spc="-1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equal");</a:t>
            </a:r>
            <a:endParaRPr sz="22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8240" y="335915"/>
            <a:ext cx="9875520" cy="981710"/>
          </a:xfrm>
        </p:spPr>
        <p:txBody>
          <a:bodyPr>
            <a:normAutofit/>
          </a:bodyPr>
          <a:lstStyle/>
          <a:p>
            <a:pPr algn="ctr"/>
            <a:r>
              <a:rPr spc="-5" dirty="0">
                <a:solidFill>
                  <a:schemeClr val="tx1"/>
                </a:solidFill>
                <a:sym typeface="+mn-ea"/>
              </a:rPr>
              <a:t>strl</a:t>
            </a:r>
            <a:r>
              <a:rPr lang="en-IN" spc="-5" dirty="0">
                <a:solidFill>
                  <a:schemeClr val="tx1"/>
                </a:solidFill>
                <a:sym typeface="+mn-ea"/>
              </a:rPr>
              <a:t>wr</a:t>
            </a:r>
            <a:r>
              <a:rPr spc="-5" dirty="0">
                <a:solidFill>
                  <a:schemeClr val="tx1"/>
                </a:solidFill>
                <a:sym typeface="+mn-ea"/>
              </a:rPr>
              <a:t>()</a:t>
            </a:r>
            <a:r>
              <a:rPr spc="-20" dirty="0">
                <a:solidFill>
                  <a:schemeClr val="tx1"/>
                </a:solidFill>
                <a:sym typeface="+mn-ea"/>
              </a:rPr>
              <a:t> </a:t>
            </a:r>
            <a:r>
              <a:rPr spc="-10" dirty="0">
                <a:solidFill>
                  <a:schemeClr val="tx1"/>
                </a:solidFill>
                <a:sym typeface="+mn-ea"/>
              </a:rPr>
              <a:t>F</a:t>
            </a:r>
            <a:r>
              <a:rPr lang="en-IN" spc="-10" dirty="0">
                <a:solidFill>
                  <a:schemeClr val="tx1"/>
                </a:solidFill>
                <a:sym typeface="+mn-ea"/>
              </a:rPr>
              <a:t>unction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8840" y="1184910"/>
            <a:ext cx="9872980" cy="5295900"/>
          </a:xfrm>
        </p:spPr>
        <p:txBody>
          <a:bodyPr>
            <a:noAutofit/>
          </a:bodyPr>
          <a:lstStyle/>
          <a:p>
            <a:pPr marL="342900" marR="5080" indent="-3429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The </a:t>
            </a:r>
            <a:r>
              <a:rPr sz="2000" b="1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strlwr </a:t>
            </a:r>
            <a:r>
              <a:rPr sz="2000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function converts upper  case characters </a:t>
            </a:r>
            <a:r>
              <a:rPr sz="20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of </a:t>
            </a:r>
            <a:r>
              <a:rPr sz="2000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string to lower case characters.</a:t>
            </a:r>
            <a:endParaRPr sz="20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lnSpc>
                <a:spcPct val="100000"/>
              </a:lnSpc>
              <a:spcBef>
                <a:spcPts val="800"/>
              </a:spcBef>
            </a:pPr>
            <a:r>
              <a:rPr sz="20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The </a:t>
            </a:r>
            <a:r>
              <a:rPr sz="2000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syntax is: </a:t>
            </a:r>
            <a:r>
              <a:rPr sz="2000" i="1" spc="-5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strlwr(str1);</a:t>
            </a:r>
          </a:p>
          <a:p>
            <a:pPr marL="12065" marR="684530" indent="0">
              <a:lnSpc>
                <a:spcPts val="2690"/>
              </a:lnSpc>
              <a:spcBef>
                <a:spcPts val="745"/>
              </a:spcBef>
              <a:buNone/>
            </a:pPr>
            <a:r>
              <a:rPr sz="2000" spc="-5" dirty="0">
                <a:solidFill>
                  <a:srgbClr val="FFFFFF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/</a:t>
            </a:r>
            <a:r>
              <a:rPr lang="en-IN" sz="2000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/*</a:t>
            </a:r>
            <a:r>
              <a:rPr sz="2000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sz="2000" spc="-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Program </a:t>
            </a:r>
            <a:r>
              <a:rPr sz="2000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t</a:t>
            </a:r>
            <a:r>
              <a:rPr lang="en-IN" sz="2000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o</a:t>
            </a:r>
            <a:r>
              <a:rPr sz="2000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sz="2000" spc="-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converts input string </a:t>
            </a:r>
            <a:r>
              <a:rPr sz="2000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to </a:t>
            </a:r>
            <a:r>
              <a:rPr sz="2000" spc="-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lower case characters</a:t>
            </a:r>
            <a:r>
              <a:rPr sz="2000" spc="-2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sz="2000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*/</a:t>
            </a:r>
            <a:endParaRPr sz="20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45720" indent="0">
              <a:lnSpc>
                <a:spcPct val="100000"/>
              </a:lnSpc>
              <a:spcBef>
                <a:spcPts val="5"/>
              </a:spcBef>
              <a:buNone/>
            </a:pPr>
            <a:r>
              <a:rPr sz="2000" spc="-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#include &lt;stdio.h&gt; </a:t>
            </a:r>
          </a:p>
          <a:p>
            <a:pPr marL="0" indent="0">
              <a:lnSpc>
                <a:spcPct val="100000"/>
              </a:lnSpc>
              <a:spcBef>
                <a:spcPts val="800"/>
              </a:spcBef>
              <a:buNone/>
            </a:pPr>
            <a:r>
              <a:rPr sz="2000" spc="-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#include</a:t>
            </a:r>
            <a:r>
              <a:rPr sz="2000" spc="-7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sz="2000" spc="-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&lt;string.h&gt;  </a:t>
            </a:r>
          </a:p>
          <a:p>
            <a:pPr marL="0" indent="0">
              <a:lnSpc>
                <a:spcPct val="100000"/>
              </a:lnSpc>
              <a:spcBef>
                <a:spcPts val="800"/>
              </a:spcBef>
              <a:buNone/>
            </a:pPr>
            <a:r>
              <a:rPr sz="2000" spc="-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main()</a:t>
            </a:r>
            <a:endParaRPr sz="20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lnSpc>
                <a:spcPct val="100000"/>
              </a:lnSpc>
              <a:spcBef>
                <a:spcPts val="20"/>
              </a:spcBef>
              <a:buNone/>
            </a:pPr>
            <a:r>
              <a:rPr sz="20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{</a:t>
            </a:r>
            <a:endParaRPr sz="20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172085" marR="3021330" indent="0">
              <a:lnSpc>
                <a:spcPct val="101000"/>
              </a:lnSpc>
              <a:spcBef>
                <a:spcPts val="10"/>
              </a:spcBef>
              <a:buNone/>
            </a:pPr>
            <a:r>
              <a:rPr sz="2000" spc="-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char first[80];  </a:t>
            </a:r>
          </a:p>
          <a:p>
            <a:pPr marL="172085" marR="3021330" indent="0">
              <a:lnSpc>
                <a:spcPct val="101000"/>
              </a:lnSpc>
              <a:spcBef>
                <a:spcPts val="10"/>
              </a:spcBef>
              <a:buNone/>
            </a:pPr>
            <a:r>
              <a:rPr sz="2000" spc="-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printf("Enter </a:t>
            </a:r>
            <a:r>
              <a:rPr sz="20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a </a:t>
            </a:r>
            <a:r>
              <a:rPr sz="2000" spc="-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string: </a:t>
            </a:r>
            <a:r>
              <a:rPr sz="2000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");  </a:t>
            </a:r>
          </a:p>
          <a:p>
            <a:pPr marL="172085" marR="3021330" indent="0">
              <a:lnSpc>
                <a:spcPct val="101000"/>
              </a:lnSpc>
              <a:spcBef>
                <a:spcPts val="10"/>
              </a:spcBef>
              <a:buNone/>
            </a:pPr>
            <a:r>
              <a:rPr sz="2000" spc="-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gets(first);</a:t>
            </a:r>
            <a:endParaRPr sz="20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172085" indent="0">
              <a:lnSpc>
                <a:spcPts val="3025"/>
              </a:lnSpc>
              <a:spcBef>
                <a:spcPts val="20"/>
              </a:spcBef>
              <a:buNone/>
            </a:pPr>
            <a:r>
              <a:rPr sz="2000" spc="-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printf("Lower </a:t>
            </a:r>
            <a:r>
              <a:rPr sz="2000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case of the </a:t>
            </a:r>
            <a:r>
              <a:rPr sz="2000" spc="-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string is</a:t>
            </a:r>
            <a:r>
              <a:rPr sz="2000" spc="-2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sz="2000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%s”,</a:t>
            </a:r>
            <a:r>
              <a:rPr sz="2000" spc="-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strlwr(first));</a:t>
            </a:r>
            <a:endParaRPr sz="20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lnSpc>
                <a:spcPct val="100000"/>
              </a:lnSpc>
              <a:spcBef>
                <a:spcPts val="20"/>
              </a:spcBef>
              <a:buNone/>
            </a:pPr>
            <a:r>
              <a:rPr sz="20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}</a:t>
            </a:r>
            <a:endParaRPr sz="20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IN" sz="2000" b="1" u="sng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OUTPUT: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sz="2000" spc="-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Enter </a:t>
            </a:r>
            <a:r>
              <a:rPr sz="20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a </a:t>
            </a:r>
            <a:r>
              <a:rPr sz="2000" spc="-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string: </a:t>
            </a:r>
            <a:r>
              <a:rPr lang="en-IN" sz="2000" spc="-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LOWER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sz="2000" spc="-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Lower </a:t>
            </a:r>
            <a:r>
              <a:rPr sz="2000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case of the </a:t>
            </a:r>
            <a:r>
              <a:rPr sz="2000" spc="-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string is</a:t>
            </a:r>
            <a:r>
              <a:rPr sz="2000" spc="-2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en-IN" sz="2000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lower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10534650" cy="1356360"/>
          </a:xfrm>
        </p:spPr>
        <p:txBody>
          <a:bodyPr>
            <a:normAutofit/>
          </a:bodyPr>
          <a:lstStyle/>
          <a:p>
            <a:r>
              <a:rPr lang="en-IN" spc="-5" dirty="0">
                <a:solidFill>
                  <a:schemeClr val="tx1"/>
                </a:solidFill>
                <a:sym typeface="+mn-ea"/>
              </a:rPr>
              <a:t>SOME MORE </a:t>
            </a:r>
            <a:r>
              <a:rPr spc="-5" dirty="0">
                <a:solidFill>
                  <a:schemeClr val="tx1"/>
                </a:solidFill>
                <a:sym typeface="+mn-ea"/>
              </a:rPr>
              <a:t>STRING-HANDLING</a:t>
            </a:r>
            <a:r>
              <a:rPr spc="-45" dirty="0">
                <a:solidFill>
                  <a:schemeClr val="tx1"/>
                </a:solidFill>
                <a:sym typeface="+mn-ea"/>
              </a:rPr>
              <a:t> </a:t>
            </a:r>
            <a:r>
              <a:rPr spc="-5" dirty="0">
                <a:solidFill>
                  <a:schemeClr val="tx1"/>
                </a:solidFill>
                <a:sym typeface="+mn-ea"/>
              </a:rPr>
              <a:t>FUNCTIONS</a:t>
            </a:r>
            <a:endParaRPr lang="en-US"/>
          </a:p>
        </p:txBody>
      </p:sp>
      <p:graphicFrame>
        <p:nvGraphicFramePr>
          <p:cNvPr id="5" name="Table 4"/>
          <p:cNvGraphicFramePr/>
          <p:nvPr/>
        </p:nvGraphicFramePr>
        <p:xfrm>
          <a:off x="2426335" y="2374900"/>
          <a:ext cx="7306310" cy="28625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806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00824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4254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altLang="en-US" sz="2000">
                          <a:latin typeface="Times New Roman" panose="02020603050405020304" charset="0"/>
                          <a:cs typeface="Times New Roman" panose="02020603050405020304" charset="0"/>
                        </a:rPr>
                        <a:t>FUNCTION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altLang="en-US" sz="2000">
                          <a:latin typeface="Times New Roman" panose="02020603050405020304" charset="0"/>
                          <a:cs typeface="Times New Roman" panose="02020603050405020304" charset="0"/>
                        </a:rPr>
                        <a:t>ACTION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254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altLang="en-US" sz="2000">
                          <a:latin typeface="Times New Roman" panose="02020603050405020304" charset="0"/>
                          <a:cs typeface="Times New Roman" panose="02020603050405020304" charset="0"/>
                        </a:rPr>
                        <a:t>strncpy(s1,s2,n)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altLang="en-US" sz="2000">
                          <a:latin typeface="Times New Roman" panose="02020603050405020304" charset="0"/>
                          <a:cs typeface="Times New Roman" panose="02020603050405020304" charset="0"/>
                        </a:rPr>
                        <a:t>Copies up to n characters from the string s1, to s2. In a case where the length of s2 is less than that of n, the remainder of s1 will be padded with null bytes.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254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altLang="en-US" sz="2000">
                          <a:latin typeface="Times New Roman" panose="02020603050405020304" charset="0"/>
                          <a:cs typeface="Times New Roman" panose="02020603050405020304" charset="0"/>
                        </a:rPr>
                        <a:t>strncat(s1,s2,n)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altLang="en-US" sz="2000">
                          <a:latin typeface="Times New Roman" panose="02020603050405020304" charset="0"/>
                          <a:cs typeface="Times New Roman" panose="02020603050405020304" charset="0"/>
                        </a:rPr>
                        <a:t>Appends the string s2 to the end of the string s1 up to n characters long.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254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altLang="en-US" sz="2000">
                          <a:latin typeface="Times New Roman" panose="02020603050405020304" charset="0"/>
                          <a:cs typeface="Times New Roman" panose="02020603050405020304" charset="0"/>
                        </a:rPr>
                        <a:t>strncmp(s1,s2,n)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altLang="en-US" sz="2000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Compares at most the first n bytes of s1 and s2.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84320" y="380429"/>
            <a:ext cx="7340600" cy="381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40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Program</a:t>
            </a:r>
            <a:r>
              <a:rPr sz="240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400" b="1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using</a:t>
            </a:r>
            <a:r>
              <a:rPr sz="2400" b="1" spc="-4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400" b="1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str</a:t>
            </a:r>
            <a:r>
              <a:rPr lang="en-IN" sz="2400" b="1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ncpy</a:t>
            </a:r>
            <a:r>
              <a:rPr sz="2400" b="1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()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40410" y="894715"/>
            <a:ext cx="7566025" cy="61042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1415415" indent="-342900">
              <a:lnSpc>
                <a:spcPct val="100000"/>
              </a:lnSpc>
              <a:spcBef>
                <a:spcPts val="95"/>
              </a:spcBef>
            </a:pPr>
            <a:r>
              <a:rPr sz="2400" dirty="0">
                <a:latin typeface="Times New Roman" panose="02020603050405020304" charset="0"/>
                <a:cs typeface="Times New Roman" panose="02020603050405020304" charset="0"/>
              </a:rPr>
              <a:t>#include &lt;stdio.h&gt;</a:t>
            </a:r>
          </a:p>
          <a:p>
            <a:pPr marL="355600" marR="1415415" indent="-342900">
              <a:lnSpc>
                <a:spcPct val="100000"/>
              </a:lnSpc>
              <a:spcBef>
                <a:spcPts val="95"/>
              </a:spcBef>
            </a:pPr>
            <a:r>
              <a:rPr sz="2400" dirty="0">
                <a:latin typeface="Times New Roman" panose="02020603050405020304" charset="0"/>
                <a:cs typeface="Times New Roman" panose="02020603050405020304" charset="0"/>
              </a:rPr>
              <a:t>#include &lt;string.h&gt;</a:t>
            </a:r>
          </a:p>
          <a:p>
            <a:pPr marL="355600" marR="1415415" indent="-342900">
              <a:lnSpc>
                <a:spcPct val="100000"/>
              </a:lnSpc>
              <a:spcBef>
                <a:spcPts val="95"/>
              </a:spcBef>
            </a:pPr>
            <a:endParaRPr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55600" marR="1415415" indent="-342900">
              <a:lnSpc>
                <a:spcPct val="100000"/>
              </a:lnSpc>
              <a:spcBef>
                <a:spcPts val="95"/>
              </a:spcBef>
            </a:pPr>
            <a:r>
              <a:rPr sz="2400" dirty="0">
                <a:latin typeface="Times New Roman" panose="02020603050405020304" charset="0"/>
                <a:cs typeface="Times New Roman" panose="02020603050405020304" charset="0"/>
              </a:rPr>
              <a:t>int main () </a:t>
            </a:r>
          </a:p>
          <a:p>
            <a:pPr marL="355600" marR="1415415" indent="-342900">
              <a:lnSpc>
                <a:spcPct val="100000"/>
              </a:lnSpc>
              <a:spcBef>
                <a:spcPts val="95"/>
              </a:spcBef>
            </a:pPr>
            <a:r>
              <a:rPr sz="2400" dirty="0">
                <a:latin typeface="Times New Roman" panose="02020603050405020304" charset="0"/>
                <a:cs typeface="Times New Roman" panose="02020603050405020304" charset="0"/>
              </a:rPr>
              <a:t>{</a:t>
            </a:r>
          </a:p>
          <a:p>
            <a:pPr marL="355600" marR="1415415" indent="-342900">
              <a:lnSpc>
                <a:spcPct val="100000"/>
              </a:lnSpc>
              <a:spcBef>
                <a:spcPts val="95"/>
              </a:spcBef>
            </a:pPr>
            <a:r>
              <a:rPr sz="2400" dirty="0">
                <a:latin typeface="Times New Roman" panose="02020603050405020304" charset="0"/>
                <a:cs typeface="Times New Roman" panose="02020603050405020304" charset="0"/>
              </a:rPr>
              <a:t>   char src[40];</a:t>
            </a:r>
          </a:p>
          <a:p>
            <a:pPr marL="355600" marR="1415415" indent="-342900">
              <a:lnSpc>
                <a:spcPct val="100000"/>
              </a:lnSpc>
              <a:spcBef>
                <a:spcPts val="95"/>
              </a:spcBef>
            </a:pPr>
            <a:r>
              <a:rPr sz="2400" dirty="0">
                <a:latin typeface="Times New Roman" panose="02020603050405020304" charset="0"/>
                <a:cs typeface="Times New Roman" panose="02020603050405020304" charset="0"/>
              </a:rPr>
              <a:t>   char dest[12];</a:t>
            </a:r>
          </a:p>
          <a:p>
            <a:pPr marL="355600" marR="1415415" indent="-342900">
              <a:lnSpc>
                <a:spcPct val="100000"/>
              </a:lnSpc>
              <a:spcBef>
                <a:spcPts val="95"/>
              </a:spcBef>
            </a:pPr>
            <a:r>
              <a:rPr sz="2400" dirty="0">
                <a:latin typeface="Times New Roman" panose="02020603050405020304" charset="0"/>
                <a:cs typeface="Times New Roman" panose="02020603050405020304" charset="0"/>
              </a:rPr>
              <a:t>  </a:t>
            </a:r>
          </a:p>
          <a:p>
            <a:pPr marL="355600" marR="1415415" indent="-342900">
              <a:lnSpc>
                <a:spcPct val="100000"/>
              </a:lnSpc>
              <a:spcBef>
                <a:spcPts val="95"/>
              </a:spcBef>
            </a:pPr>
            <a:r>
              <a:rPr sz="2400" dirty="0">
                <a:latin typeface="Times New Roman" panose="02020603050405020304" charset="0"/>
                <a:cs typeface="Times New Roman" panose="02020603050405020304" charset="0"/>
              </a:rPr>
              <a:t>   memset(dest, '\0', sizeof(dest));</a:t>
            </a:r>
          </a:p>
          <a:p>
            <a:pPr marL="355600" marR="1415415" indent="-342900">
              <a:lnSpc>
                <a:spcPct val="100000"/>
              </a:lnSpc>
              <a:spcBef>
                <a:spcPts val="95"/>
              </a:spcBef>
            </a:pPr>
            <a:r>
              <a:rPr sz="2400" dirty="0">
                <a:latin typeface="Times New Roman" panose="02020603050405020304" charset="0"/>
                <a:cs typeface="Times New Roman" panose="02020603050405020304" charset="0"/>
              </a:rPr>
              <a:t>   strcpy(src, "This is </a:t>
            </a:r>
            <a:r>
              <a:rPr lang="en-IN" sz="2400" dirty="0">
                <a:latin typeface="Times New Roman" panose="02020603050405020304" charset="0"/>
                <a:cs typeface="Times New Roman" panose="02020603050405020304" charset="0"/>
              </a:rPr>
              <a:t>an example of strncpy</a:t>
            </a:r>
            <a:r>
              <a:rPr sz="2400" dirty="0">
                <a:latin typeface="Times New Roman" panose="02020603050405020304" charset="0"/>
                <a:cs typeface="Times New Roman" panose="02020603050405020304" charset="0"/>
              </a:rPr>
              <a:t>");</a:t>
            </a:r>
          </a:p>
          <a:p>
            <a:pPr marL="355600" marR="1415415" indent="-342900">
              <a:lnSpc>
                <a:spcPct val="100000"/>
              </a:lnSpc>
              <a:spcBef>
                <a:spcPts val="95"/>
              </a:spcBef>
            </a:pPr>
            <a:r>
              <a:rPr sz="2400" dirty="0">
                <a:latin typeface="Times New Roman" panose="02020603050405020304" charset="0"/>
                <a:cs typeface="Times New Roman" panose="02020603050405020304" charset="0"/>
              </a:rPr>
              <a:t>   strncpy(dest, src, 10);</a:t>
            </a:r>
          </a:p>
          <a:p>
            <a:pPr marL="355600" marR="1415415" indent="-342900">
              <a:lnSpc>
                <a:spcPct val="100000"/>
              </a:lnSpc>
              <a:spcBef>
                <a:spcPts val="95"/>
              </a:spcBef>
            </a:pPr>
            <a:endParaRPr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55600" marR="1415415" indent="-342900">
              <a:lnSpc>
                <a:spcPct val="100000"/>
              </a:lnSpc>
              <a:spcBef>
                <a:spcPts val="95"/>
              </a:spcBef>
            </a:pPr>
            <a:r>
              <a:rPr sz="2400" dirty="0">
                <a:latin typeface="Times New Roman" panose="02020603050405020304" charset="0"/>
                <a:cs typeface="Times New Roman" panose="02020603050405020304" charset="0"/>
              </a:rPr>
              <a:t>   printf("Final copied string : %s\n", dest);</a:t>
            </a:r>
          </a:p>
          <a:p>
            <a:pPr marL="355600" marR="1415415" indent="-342900">
              <a:lnSpc>
                <a:spcPct val="100000"/>
              </a:lnSpc>
              <a:spcBef>
                <a:spcPts val="95"/>
              </a:spcBef>
            </a:pPr>
            <a:r>
              <a:rPr sz="2400" dirty="0">
                <a:latin typeface="Times New Roman" panose="02020603050405020304" charset="0"/>
                <a:cs typeface="Times New Roman" panose="02020603050405020304" charset="0"/>
              </a:rPr>
              <a:t>   return(0);</a:t>
            </a:r>
          </a:p>
          <a:p>
            <a:pPr marL="355600" marR="1415415" indent="-342900">
              <a:lnSpc>
                <a:spcPct val="100000"/>
              </a:lnSpc>
              <a:spcBef>
                <a:spcPts val="95"/>
              </a:spcBef>
            </a:pPr>
            <a:r>
              <a:rPr sz="2400" dirty="0">
                <a:latin typeface="Times New Roman" panose="02020603050405020304" charset="0"/>
                <a:cs typeface="Times New Roman" panose="02020603050405020304" charset="0"/>
              </a:rPr>
              <a:t>}</a:t>
            </a:r>
          </a:p>
          <a:p>
            <a:pPr marL="355600" marR="1415415" indent="-342900">
              <a:lnSpc>
                <a:spcPct val="100000"/>
              </a:lnSpc>
              <a:spcBef>
                <a:spcPts val="95"/>
              </a:spcBef>
            </a:pPr>
            <a:endParaRPr sz="24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object 3"/>
          <p:cNvSpPr txBox="1"/>
          <p:nvPr/>
        </p:nvSpPr>
        <p:spPr>
          <a:xfrm>
            <a:off x="7460615" y="2376805"/>
            <a:ext cx="5327015" cy="7931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1415415" indent="-342900">
              <a:lnSpc>
                <a:spcPct val="100000"/>
              </a:lnSpc>
              <a:spcBef>
                <a:spcPts val="95"/>
              </a:spcBef>
            </a:pPr>
            <a:r>
              <a:rPr lang="en-IN" sz="2500" b="1" u="sng" spc="-5" dirty="0">
                <a:latin typeface="Times New Roman" panose="02020603050405020304" charset="0"/>
                <a:cs typeface="Times New Roman" panose="02020603050405020304" charset="0"/>
              </a:rPr>
              <a:t>OUTPUT</a:t>
            </a:r>
          </a:p>
          <a:p>
            <a:pPr marL="355600" marR="1415415" indent="-342900">
              <a:lnSpc>
                <a:spcPct val="100000"/>
              </a:lnSpc>
              <a:spcBef>
                <a:spcPts val="95"/>
              </a:spcBef>
            </a:pPr>
            <a:r>
              <a:rPr sz="25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Final copied string : This is </a:t>
            </a:r>
            <a:r>
              <a:rPr lang="en-IN" sz="25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an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84320" y="380429"/>
            <a:ext cx="7340600" cy="381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40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Program</a:t>
            </a:r>
            <a:r>
              <a:rPr sz="240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400" b="1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using</a:t>
            </a:r>
            <a:r>
              <a:rPr sz="2400" b="1" spc="-4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400" b="1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str</a:t>
            </a:r>
            <a:r>
              <a:rPr lang="en-IN" sz="2400" b="1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ncat</a:t>
            </a:r>
            <a:r>
              <a:rPr sz="2400" b="1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()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27685" y="904875"/>
            <a:ext cx="7566025" cy="53409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1415415" indent="-342900">
              <a:lnSpc>
                <a:spcPct val="100000"/>
              </a:lnSpc>
              <a:spcBef>
                <a:spcPts val="95"/>
              </a:spcBef>
            </a:pPr>
            <a:r>
              <a:rPr sz="2400" dirty="0">
                <a:latin typeface="Times New Roman" panose="02020603050405020304" charset="0"/>
                <a:cs typeface="Times New Roman" panose="02020603050405020304" charset="0"/>
              </a:rPr>
              <a:t>#include &lt;stdio.h&gt;</a:t>
            </a:r>
          </a:p>
          <a:p>
            <a:pPr marL="355600" marR="1415415" indent="-342900">
              <a:lnSpc>
                <a:spcPct val="100000"/>
              </a:lnSpc>
              <a:spcBef>
                <a:spcPts val="95"/>
              </a:spcBef>
            </a:pPr>
            <a:r>
              <a:rPr sz="2400" dirty="0">
                <a:latin typeface="Times New Roman" panose="02020603050405020304" charset="0"/>
                <a:cs typeface="Times New Roman" panose="02020603050405020304" charset="0"/>
              </a:rPr>
              <a:t>#include &lt;string.h&gt;</a:t>
            </a:r>
          </a:p>
          <a:p>
            <a:pPr marL="355600" marR="1415415" indent="-342900">
              <a:lnSpc>
                <a:spcPct val="100000"/>
              </a:lnSpc>
              <a:spcBef>
                <a:spcPts val="95"/>
              </a:spcBef>
            </a:pPr>
            <a:endParaRPr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55600" marR="1415415" indent="-342900">
              <a:lnSpc>
                <a:spcPct val="100000"/>
              </a:lnSpc>
              <a:spcBef>
                <a:spcPts val="95"/>
              </a:spcBef>
            </a:pPr>
            <a:r>
              <a:rPr sz="2400" dirty="0">
                <a:latin typeface="Times New Roman" panose="02020603050405020304" charset="0"/>
                <a:cs typeface="Times New Roman" panose="02020603050405020304" charset="0"/>
              </a:rPr>
              <a:t>int main () </a:t>
            </a:r>
          </a:p>
          <a:p>
            <a:pPr marL="355600" marR="1415415" indent="-342900">
              <a:lnSpc>
                <a:spcPct val="100000"/>
              </a:lnSpc>
              <a:spcBef>
                <a:spcPts val="95"/>
              </a:spcBef>
            </a:pPr>
            <a:r>
              <a:rPr sz="2400" dirty="0">
                <a:latin typeface="Times New Roman" panose="02020603050405020304" charset="0"/>
                <a:cs typeface="Times New Roman" panose="02020603050405020304" charset="0"/>
              </a:rPr>
              <a:t>{</a:t>
            </a:r>
          </a:p>
          <a:p>
            <a:pPr marL="355600" marR="1415415" indent="-342900">
              <a:lnSpc>
                <a:spcPct val="100000"/>
              </a:lnSpc>
              <a:spcBef>
                <a:spcPts val="95"/>
              </a:spcBef>
            </a:pPr>
            <a:r>
              <a:rPr sz="2400" dirty="0">
                <a:latin typeface="Times New Roman" panose="02020603050405020304" charset="0"/>
                <a:cs typeface="Times New Roman" panose="02020603050405020304" charset="0"/>
              </a:rPr>
              <a:t>   char src[50], dest[50];</a:t>
            </a:r>
          </a:p>
          <a:p>
            <a:pPr marL="355600" marR="1415415" indent="-342900">
              <a:lnSpc>
                <a:spcPct val="100000"/>
              </a:lnSpc>
              <a:spcBef>
                <a:spcPts val="95"/>
              </a:spcBef>
            </a:pPr>
            <a:endParaRPr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55600" marR="1415415" indent="-342900">
              <a:lnSpc>
                <a:spcPct val="100000"/>
              </a:lnSpc>
              <a:spcBef>
                <a:spcPts val="95"/>
              </a:spcBef>
            </a:pPr>
            <a:r>
              <a:rPr sz="2400" dirty="0">
                <a:latin typeface="Times New Roman" panose="02020603050405020304" charset="0"/>
                <a:cs typeface="Times New Roman" panose="02020603050405020304" charset="0"/>
              </a:rPr>
              <a:t>   strcpy(src,  "This is source");</a:t>
            </a:r>
          </a:p>
          <a:p>
            <a:pPr marL="355600" marR="1415415" indent="-342900">
              <a:lnSpc>
                <a:spcPct val="100000"/>
              </a:lnSpc>
              <a:spcBef>
                <a:spcPts val="95"/>
              </a:spcBef>
            </a:pPr>
            <a:r>
              <a:rPr sz="2400" dirty="0">
                <a:latin typeface="Times New Roman" panose="02020603050405020304" charset="0"/>
                <a:cs typeface="Times New Roman" panose="02020603050405020304" charset="0"/>
              </a:rPr>
              <a:t>   strcpy(dest, "This is destination");</a:t>
            </a:r>
          </a:p>
          <a:p>
            <a:pPr marL="355600" marR="1415415" indent="-342900">
              <a:lnSpc>
                <a:spcPct val="100000"/>
              </a:lnSpc>
              <a:spcBef>
                <a:spcPts val="95"/>
              </a:spcBef>
            </a:pPr>
            <a:endParaRPr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55600" marR="1415415" indent="-342900">
              <a:lnSpc>
                <a:spcPct val="100000"/>
              </a:lnSpc>
              <a:spcBef>
                <a:spcPts val="95"/>
              </a:spcBef>
            </a:pPr>
            <a:r>
              <a:rPr sz="2400" dirty="0">
                <a:latin typeface="Times New Roman" panose="02020603050405020304" charset="0"/>
                <a:cs typeface="Times New Roman" panose="02020603050405020304" charset="0"/>
              </a:rPr>
              <a:t>   strncat(dest, src, 1</a:t>
            </a:r>
            <a:r>
              <a:rPr lang="en-IN" sz="2400" dirty="0">
                <a:latin typeface="Times New Roman" panose="02020603050405020304" charset="0"/>
                <a:cs typeface="Times New Roman" panose="02020603050405020304" charset="0"/>
              </a:rPr>
              <a:t>1</a:t>
            </a:r>
            <a:r>
              <a:rPr sz="2400" dirty="0">
                <a:latin typeface="Times New Roman" panose="02020603050405020304" charset="0"/>
                <a:cs typeface="Times New Roman" panose="02020603050405020304" charset="0"/>
              </a:rPr>
              <a:t>);</a:t>
            </a:r>
          </a:p>
          <a:p>
            <a:pPr marL="355600" marR="1415415" indent="-342900">
              <a:lnSpc>
                <a:spcPct val="100000"/>
              </a:lnSpc>
              <a:spcBef>
                <a:spcPts val="95"/>
              </a:spcBef>
            </a:pPr>
            <a:r>
              <a:rPr sz="2400" dirty="0">
                <a:latin typeface="Times New Roman" panose="02020603050405020304" charset="0"/>
                <a:cs typeface="Times New Roman" panose="02020603050405020304" charset="0"/>
              </a:rPr>
              <a:t>   printf("Final destination string : |%s|", dest);</a:t>
            </a:r>
          </a:p>
          <a:p>
            <a:pPr marL="355600" marR="1415415" indent="-342900">
              <a:lnSpc>
                <a:spcPct val="100000"/>
              </a:lnSpc>
              <a:spcBef>
                <a:spcPts val="95"/>
              </a:spcBef>
            </a:pPr>
            <a:r>
              <a:rPr sz="2400" dirty="0">
                <a:latin typeface="Times New Roman" panose="02020603050405020304" charset="0"/>
                <a:cs typeface="Times New Roman" panose="02020603050405020304" charset="0"/>
              </a:rPr>
              <a:t>   return(0);</a:t>
            </a:r>
          </a:p>
          <a:p>
            <a:pPr marL="355600" marR="1415415" indent="-342900">
              <a:lnSpc>
                <a:spcPct val="100000"/>
              </a:lnSpc>
              <a:spcBef>
                <a:spcPts val="95"/>
              </a:spcBef>
            </a:pPr>
            <a:r>
              <a:rPr sz="2400" dirty="0">
                <a:latin typeface="Times New Roman" panose="02020603050405020304" charset="0"/>
                <a:cs typeface="Times New Roman" panose="02020603050405020304" charset="0"/>
              </a:rPr>
              <a:t>}</a:t>
            </a:r>
          </a:p>
        </p:txBody>
      </p:sp>
      <p:sp>
        <p:nvSpPr>
          <p:cNvPr id="4" name="object 3"/>
          <p:cNvSpPr txBox="1"/>
          <p:nvPr/>
        </p:nvSpPr>
        <p:spPr>
          <a:xfrm>
            <a:off x="5796915" y="2011680"/>
            <a:ext cx="7750810" cy="639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1415415" indent="-342900">
              <a:lnSpc>
                <a:spcPct val="100000"/>
              </a:lnSpc>
              <a:spcBef>
                <a:spcPts val="95"/>
              </a:spcBef>
            </a:pPr>
            <a:r>
              <a:rPr lang="en-IN" sz="2000" b="1" u="sng" spc="-5" dirty="0">
                <a:latin typeface="Times New Roman" panose="02020603050405020304" charset="0"/>
                <a:cs typeface="Times New Roman" panose="02020603050405020304" charset="0"/>
              </a:rPr>
              <a:t>OUTPUT</a:t>
            </a:r>
          </a:p>
          <a:p>
            <a:pPr marL="355600" marR="1415415" indent="-342900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Final destination string : |This is destinationThis is sou|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84320" y="380429"/>
            <a:ext cx="7340600" cy="381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40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Program</a:t>
            </a:r>
            <a:r>
              <a:rPr sz="240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400" b="1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using</a:t>
            </a:r>
            <a:r>
              <a:rPr sz="2400" b="1" spc="-4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400" b="1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str</a:t>
            </a:r>
            <a:r>
              <a:rPr lang="en-IN" sz="2400" b="1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ncmp</a:t>
            </a:r>
            <a:r>
              <a:rPr sz="2400" b="1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()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35710" y="1514475"/>
            <a:ext cx="4398645" cy="44792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1415415" indent="-342900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#include &lt;stdio.h&gt;</a:t>
            </a:r>
          </a:p>
          <a:p>
            <a:pPr marL="355600" marR="1415415" indent="-342900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#include &lt;string.h&gt;</a:t>
            </a:r>
          </a:p>
          <a:p>
            <a:pPr marL="355600" marR="1415415" indent="-342900">
              <a:lnSpc>
                <a:spcPct val="100000"/>
              </a:lnSpc>
              <a:spcBef>
                <a:spcPts val="95"/>
              </a:spcBef>
            </a:pPr>
            <a:endParaRPr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55600" marR="1415415" indent="-342900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int main () </a:t>
            </a:r>
          </a:p>
          <a:p>
            <a:pPr marL="355600" marR="1415415" indent="-342900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{</a:t>
            </a:r>
          </a:p>
          <a:p>
            <a:pPr marL="355600" marR="1415415" indent="-342900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   char str1[15]</a:t>
            </a:r>
            <a:r>
              <a:rPr lang="en-IN" sz="2000" dirty="0">
                <a:latin typeface="Times New Roman" panose="02020603050405020304" charset="0"/>
                <a:cs typeface="Times New Roman" panose="02020603050405020304" charset="0"/>
              </a:rPr>
              <a:t>,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str2[15];</a:t>
            </a:r>
          </a:p>
          <a:p>
            <a:pPr marL="355600" marR="1415415" indent="-342900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   int ret;</a:t>
            </a:r>
          </a:p>
          <a:p>
            <a:pPr marL="355600" marR="1415415" indent="-342900">
              <a:lnSpc>
                <a:spcPct val="100000"/>
              </a:lnSpc>
              <a:spcBef>
                <a:spcPts val="95"/>
              </a:spcBef>
            </a:pPr>
            <a:endParaRPr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55600" marR="1415415" indent="-342900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   strcpy(str1, "abcdef");</a:t>
            </a:r>
          </a:p>
          <a:p>
            <a:pPr marL="355600" marR="1415415" indent="-342900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   strcpy(str2, "ABCDEF");</a:t>
            </a:r>
          </a:p>
          <a:p>
            <a:pPr marL="355600" marR="1415415" indent="-342900">
              <a:lnSpc>
                <a:spcPct val="100000"/>
              </a:lnSpc>
              <a:spcBef>
                <a:spcPts val="95"/>
              </a:spcBef>
            </a:pPr>
            <a:endParaRPr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55600" marR="1415415" indent="-342900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   ret = strncmp(str1, str2, 4);</a:t>
            </a:r>
          </a:p>
          <a:p>
            <a:pPr marL="355600" marR="1415415" indent="-342900">
              <a:lnSpc>
                <a:spcPct val="100000"/>
              </a:lnSpc>
              <a:spcBef>
                <a:spcPts val="95"/>
              </a:spcBef>
            </a:pPr>
            <a:endParaRPr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55600" marR="1415415" indent="-342900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   </a:t>
            </a:r>
          </a:p>
        </p:txBody>
      </p:sp>
      <p:sp>
        <p:nvSpPr>
          <p:cNvPr id="4" name="object 3"/>
          <p:cNvSpPr txBox="1"/>
          <p:nvPr/>
        </p:nvSpPr>
        <p:spPr>
          <a:xfrm>
            <a:off x="5902960" y="5050790"/>
            <a:ext cx="5704840" cy="639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1415415" indent="-342900">
              <a:lnSpc>
                <a:spcPct val="100000"/>
              </a:lnSpc>
              <a:spcBef>
                <a:spcPts val="95"/>
              </a:spcBef>
            </a:pPr>
            <a:r>
              <a:rPr lang="en-IN" sz="2000" b="1" u="sng" spc="-5" dirty="0">
                <a:latin typeface="Times New Roman" panose="02020603050405020304" charset="0"/>
                <a:cs typeface="Times New Roman" panose="02020603050405020304" charset="0"/>
              </a:rPr>
              <a:t>OUTPUT</a:t>
            </a:r>
          </a:p>
          <a:p>
            <a:pPr marL="355600" marR="1415415" indent="-342900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str2 is less than str1</a:t>
            </a:r>
          </a:p>
        </p:txBody>
      </p:sp>
      <p:sp>
        <p:nvSpPr>
          <p:cNvPr id="5" name="object 3"/>
          <p:cNvSpPr txBox="1"/>
          <p:nvPr/>
        </p:nvSpPr>
        <p:spPr>
          <a:xfrm>
            <a:off x="6076950" y="1514475"/>
            <a:ext cx="5944870" cy="28790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1415415" indent="-342900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if(ret &lt; 0) </a:t>
            </a:r>
          </a:p>
          <a:p>
            <a:pPr marL="355600" marR="1415415" indent="-342900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  printf("str1 is less than str2");</a:t>
            </a:r>
            <a:endParaRPr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55600" marR="1415415" indent="-342900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else if(ret &gt; 0) </a:t>
            </a:r>
            <a:endParaRPr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55600" marR="1415415" indent="-342900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  printf("str2 is less than str1");</a:t>
            </a:r>
            <a:endParaRPr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55600" marR="1415415" indent="-342900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else </a:t>
            </a:r>
          </a:p>
          <a:p>
            <a:pPr marL="355600" marR="1415415" indent="-342900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  printf("str1 is equal to str2");</a:t>
            </a:r>
            <a:endParaRPr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55600" marR="1415415" indent="-342900">
              <a:lnSpc>
                <a:spcPct val="100000"/>
              </a:lnSpc>
              <a:spcBef>
                <a:spcPts val="95"/>
              </a:spcBef>
            </a:pPr>
            <a:endParaRPr sz="2000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355600" marR="1415415" indent="-342900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return(0);</a:t>
            </a:r>
            <a:endParaRPr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55600" marR="1415415" indent="-342900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}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String Programs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02920" indent="-457200">
              <a:buAutoNum type="arabicPeriod"/>
            </a:pPr>
            <a:r>
              <a:rPr lang="en-IN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Write a program to Reverse a string.</a:t>
            </a:r>
          </a:p>
          <a:p>
            <a:pPr marL="502920" indent="-457200">
              <a:buAutoNum type="arabicPeriod"/>
            </a:pPr>
            <a:r>
              <a:rPr lang="en-IN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Write a program to print the alphabets from 'a to z' and 'A to Z' in decimal and character form.</a:t>
            </a:r>
          </a:p>
          <a:p>
            <a:pPr marL="502920" indent="-457200">
              <a:buAutoNum type="arabicPeriod"/>
            </a:pPr>
            <a:r>
              <a:rPr lang="en-IN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Write a program to copy one string into another and count the number of characters copied.</a:t>
            </a:r>
          </a:p>
          <a:p>
            <a:pPr marL="502920" indent="-457200">
              <a:buAutoNum type="arabicPeriod"/>
            </a:pPr>
            <a:r>
              <a:rPr lang="en-IN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Write a program to check whether the string entered is Palindrome or not.</a:t>
            </a:r>
          </a:p>
          <a:p>
            <a:pPr marL="502920" indent="-457200">
              <a:buAutoNum type="arabicPeriod"/>
            </a:pPr>
            <a:r>
              <a:rPr lang="en-IN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Write a program to count the number of words in a text.</a:t>
            </a:r>
            <a:endParaRPr lang="en-IN" altLang="en-US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502920" indent="-457200">
              <a:buAutoNum type="arabicPeriod"/>
            </a:pPr>
            <a:endParaRPr lang="en-IN" altLang="en-US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10305" y="236220"/>
            <a:ext cx="4986655" cy="6889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1" spc="-5" dirty="0">
                <a:solidFill>
                  <a:schemeClr val="tx1"/>
                </a:solidFill>
              </a:rPr>
              <a:t>TABLE OF</a:t>
            </a:r>
            <a:r>
              <a:rPr b="1" spc="-80" dirty="0">
                <a:solidFill>
                  <a:schemeClr val="tx1"/>
                </a:solidFill>
              </a:rPr>
              <a:t> </a:t>
            </a:r>
            <a:r>
              <a:rPr b="1" spc="-5" dirty="0">
                <a:solidFill>
                  <a:schemeClr val="tx1"/>
                </a:solidFill>
              </a:rPr>
              <a:t>STRINGS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30350" y="1446530"/>
            <a:ext cx="9457055" cy="4467860"/>
          </a:xfrm>
          <a:prstGeom prst="rect">
            <a:avLst/>
          </a:prstGeom>
        </p:spPr>
        <p:txBody>
          <a:bodyPr vert="horz" wrap="square" lIns="0" tIns="117475" rIns="0" bIns="0" rtlCol="0">
            <a:spAutoFit/>
          </a:bodyPr>
          <a:lstStyle/>
          <a:p>
            <a:pPr marL="353695" indent="-341630">
              <a:lnSpc>
                <a:spcPct val="100000"/>
              </a:lnSpc>
              <a:spcBef>
                <a:spcPts val="925"/>
              </a:spcBef>
              <a:buChar char="•"/>
              <a:tabLst>
                <a:tab pos="353695" algn="l"/>
                <a:tab pos="354330" algn="l"/>
              </a:tabLst>
            </a:pP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We use lists of character 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strings, </a:t>
            </a: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such</a:t>
            </a:r>
            <a:r>
              <a:rPr sz="2200" spc="1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as</a:t>
            </a:r>
            <a:endParaRPr sz="2200">
              <a:latin typeface="Times New Roman" panose="02020603050405020304" charset="0"/>
              <a:cs typeface="Times New Roman" panose="02020603050405020304" charset="0"/>
            </a:endParaRPr>
          </a:p>
          <a:p>
            <a:pPr marL="754380" lvl="1" indent="-285115">
              <a:lnSpc>
                <a:spcPct val="100000"/>
              </a:lnSpc>
              <a:spcBef>
                <a:spcPts val="710"/>
              </a:spcBef>
              <a:buChar char="–"/>
              <a:tabLst>
                <a:tab pos="755015" algn="l"/>
              </a:tabLst>
            </a:pP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List 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of </a:t>
            </a: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name 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of </a:t>
            </a: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students </a:t>
            </a:r>
            <a:r>
              <a:rPr sz="2200" spc="-10" dirty="0">
                <a:latin typeface="Times New Roman" panose="02020603050405020304" charset="0"/>
                <a:cs typeface="Times New Roman" panose="02020603050405020304" charset="0"/>
              </a:rPr>
              <a:t>in </a:t>
            </a: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a</a:t>
            </a:r>
            <a:r>
              <a:rPr sz="2200" spc="3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class</a:t>
            </a:r>
            <a:endParaRPr sz="2200">
              <a:latin typeface="Times New Roman" panose="02020603050405020304" charset="0"/>
              <a:cs typeface="Times New Roman" panose="02020603050405020304" charset="0"/>
            </a:endParaRPr>
          </a:p>
          <a:p>
            <a:pPr marL="754380" lvl="1" indent="-285115">
              <a:lnSpc>
                <a:spcPct val="100000"/>
              </a:lnSpc>
              <a:spcBef>
                <a:spcPts val="700"/>
              </a:spcBef>
              <a:buChar char="–"/>
              <a:tabLst>
                <a:tab pos="755015" algn="l"/>
              </a:tabLst>
            </a:pP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List 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of </a:t>
            </a: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name 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of </a:t>
            </a: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employees in an</a:t>
            </a:r>
            <a:r>
              <a:rPr sz="2200" spc="4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organization</a:t>
            </a:r>
            <a:endParaRPr sz="2200">
              <a:latin typeface="Times New Roman" panose="02020603050405020304" charset="0"/>
              <a:cs typeface="Times New Roman" panose="02020603050405020304" charset="0"/>
            </a:endParaRPr>
          </a:p>
          <a:p>
            <a:pPr marL="754380" lvl="1" indent="-285115">
              <a:lnSpc>
                <a:spcPct val="100000"/>
              </a:lnSpc>
              <a:spcBef>
                <a:spcPts val="705"/>
              </a:spcBef>
              <a:buChar char="–"/>
              <a:tabLst>
                <a:tab pos="755015" algn="l"/>
              </a:tabLst>
            </a:pP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List 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of </a:t>
            </a: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places, 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etc</a:t>
            </a:r>
            <a:endParaRPr sz="2200">
              <a:latin typeface="Times New Roman" panose="02020603050405020304" charset="0"/>
              <a:cs typeface="Times New Roman" panose="02020603050405020304" charset="0"/>
            </a:endParaRPr>
          </a:p>
          <a:p>
            <a:pPr marL="353695" marR="5080" indent="-341630" algn="just">
              <a:lnSpc>
                <a:spcPts val="3020"/>
              </a:lnSpc>
              <a:spcBef>
                <a:spcPts val="635"/>
              </a:spcBef>
              <a:buChar char="•"/>
              <a:tabLst>
                <a:tab pos="354330" algn="l"/>
              </a:tabLst>
            </a:pP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These list can be treated as a 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table </a:t>
            </a: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of 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strings and  </a:t>
            </a: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a two dimensional 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array </a:t>
            </a: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can 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be used to </a:t>
            </a: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store the entire</a:t>
            </a:r>
            <a:r>
              <a:rPr sz="2200" spc="-1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list</a:t>
            </a:r>
            <a:r>
              <a:rPr lang="en-IN" sz="2200" dirty="0">
                <a:latin typeface="Times New Roman" panose="02020603050405020304" charset="0"/>
                <a:cs typeface="Times New Roman" panose="02020603050405020304" charset="0"/>
              </a:rPr>
              <a:t>.</a:t>
            </a:r>
            <a:endParaRPr sz="2200">
              <a:latin typeface="Times New Roman" panose="02020603050405020304" charset="0"/>
              <a:cs typeface="Times New Roman" panose="02020603050405020304" charset="0"/>
            </a:endParaRPr>
          </a:p>
          <a:p>
            <a:pPr marL="754380" lvl="1" indent="-285115">
              <a:lnSpc>
                <a:spcPct val="100000"/>
              </a:lnSpc>
              <a:spcBef>
                <a:spcPts val="680"/>
              </a:spcBef>
              <a:buChar char="–"/>
              <a:tabLst>
                <a:tab pos="755015" algn="l"/>
              </a:tabLst>
            </a:pP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EXAMPLE:</a:t>
            </a:r>
            <a:endParaRPr sz="2200">
              <a:latin typeface="Times New Roman" panose="02020603050405020304" charset="0"/>
              <a:cs typeface="Times New Roman" panose="02020603050405020304" charset="0"/>
            </a:endParaRPr>
          </a:p>
          <a:p>
            <a:pPr marL="1838325">
              <a:lnSpc>
                <a:spcPct val="100000"/>
              </a:lnSpc>
              <a:spcBef>
                <a:spcPts val="310"/>
              </a:spcBef>
            </a:pP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student[30][15];</a:t>
            </a:r>
            <a:endParaRPr sz="2200">
              <a:latin typeface="Times New Roman" panose="02020603050405020304" charset="0"/>
              <a:cs typeface="Times New Roman" panose="02020603050405020304" charset="0"/>
            </a:endParaRPr>
          </a:p>
          <a:p>
            <a:pPr marL="12065" marR="243205" indent="0">
              <a:lnSpc>
                <a:spcPct val="90000"/>
              </a:lnSpc>
              <a:spcBef>
                <a:spcPts val="585"/>
              </a:spcBef>
              <a:buNone/>
              <a:tabLst>
                <a:tab pos="353695" algn="l"/>
                <a:tab pos="354330" algn="l"/>
              </a:tabLst>
            </a:pPr>
            <a:r>
              <a:rPr lang="en-IN" sz="2200" spc="-5" dirty="0">
                <a:latin typeface="Times New Roman" panose="02020603050405020304" charset="0"/>
                <a:cs typeface="Times New Roman" panose="02020603050405020304" charset="0"/>
              </a:rPr>
              <a:t>	</a:t>
            </a: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is a 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character array </a:t>
            </a: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which 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can store </a:t>
            </a: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a list of 30  names, 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each of </a:t>
            </a: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length 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not </a:t>
            </a: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more 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than 15  characters</a:t>
            </a:r>
            <a:endParaRPr sz="2200">
              <a:latin typeface="Times New Roman" panose="02020603050405020304" charset="0"/>
              <a:cs typeface="Times New Roman" panose="02020603050405020304" charset="0"/>
            </a:endParaRPr>
          </a:p>
          <a:p>
            <a:pPr marL="923925">
              <a:lnSpc>
                <a:spcPct val="100000"/>
              </a:lnSpc>
              <a:spcBef>
                <a:spcPts val="330"/>
              </a:spcBef>
            </a:pP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char city[ ][ ] = { </a:t>
            </a: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“</a:t>
            </a:r>
            <a:r>
              <a:rPr lang="en-IN" sz="2200" spc="-5" dirty="0">
                <a:latin typeface="Times New Roman" panose="02020603050405020304" charset="0"/>
                <a:cs typeface="Times New Roman" panose="02020603050405020304" charset="0"/>
              </a:rPr>
              <a:t>C</a:t>
            </a: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handigarh”, “Madra</a:t>
            </a:r>
            <a:r>
              <a:rPr lang="en-IN" sz="2200" spc="-5" dirty="0">
                <a:latin typeface="Times New Roman" panose="02020603050405020304" charset="0"/>
                <a:cs typeface="Times New Roman" panose="02020603050405020304" charset="0"/>
              </a:rPr>
              <a:t>s</a:t>
            </a: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”, Ahmedab</a:t>
            </a:r>
            <a:r>
              <a:rPr lang="en-IN" sz="2200" spc="-5" dirty="0">
                <a:latin typeface="Times New Roman" panose="02020603050405020304" charset="0"/>
                <a:cs typeface="Times New Roman" panose="02020603050405020304" charset="0"/>
              </a:rPr>
              <a:t>ad</a:t>
            </a: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”</a:t>
            </a:r>
            <a:r>
              <a:rPr sz="2200" spc="-3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};</a:t>
            </a:r>
            <a:endParaRPr sz="22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16961" y="349187"/>
            <a:ext cx="5956300" cy="6896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1" dirty="0">
                <a:solidFill>
                  <a:schemeClr val="tx1"/>
                </a:solidFill>
                <a:latin typeface="Arial" panose="020B0604020202020204"/>
                <a:cs typeface="Arial" panose="020B0604020202020204"/>
              </a:rPr>
              <a:t>ARRAY OF</a:t>
            </a:r>
            <a:r>
              <a:rPr sz="4400" b="1" spc="-70" dirty="0">
                <a:solidFill>
                  <a:schemeClr val="tx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400" b="1" spc="-5" dirty="0">
                <a:solidFill>
                  <a:schemeClr val="tx1"/>
                </a:solidFill>
                <a:latin typeface="Arial" panose="020B0604020202020204"/>
                <a:cs typeface="Arial" panose="020B0604020202020204"/>
              </a:rPr>
              <a:t>STRINGS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40790" y="1885315"/>
            <a:ext cx="9709150" cy="32029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3535" algn="just">
              <a:lnSpc>
                <a:spcPct val="100000"/>
              </a:lnSpc>
              <a:spcBef>
                <a:spcPts val="105"/>
              </a:spcBef>
              <a:buFont typeface="Times New Roman" panose="02020603050405020304"/>
              <a:buChar char="•"/>
              <a:tabLst>
                <a:tab pos="356235" algn="l"/>
              </a:tabLst>
            </a:pP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A string is a 1-D array of characters, so an array of strings is a 2-D array of characters. </a:t>
            </a:r>
          </a:p>
          <a:p>
            <a:pPr marL="355600" marR="5080" indent="-343535" algn="just">
              <a:lnSpc>
                <a:spcPct val="100000"/>
              </a:lnSpc>
              <a:spcBef>
                <a:spcPts val="105"/>
              </a:spcBef>
              <a:buFont typeface="Times New Roman" panose="02020603050405020304"/>
              <a:buChar char="•"/>
              <a:tabLst>
                <a:tab pos="356235" algn="l"/>
              </a:tabLst>
            </a:pP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The </a:t>
            </a: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row index refers </a:t>
            </a:r>
            <a:r>
              <a:rPr sz="2200" spc="-10" dirty="0">
                <a:latin typeface="Times New Roman" panose="02020603050405020304" charset="0"/>
                <a:cs typeface="Times New Roman" panose="02020603050405020304" charset="0"/>
              </a:rPr>
              <a:t>to 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a </a:t>
            </a: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particular  string, while the column index 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refers to a  </a:t>
            </a: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particular 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character within a</a:t>
            </a:r>
            <a:r>
              <a:rPr sz="2200" spc="-8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string.</a:t>
            </a:r>
          </a:p>
          <a:p>
            <a:pPr marL="355600" marR="5080" indent="-343535" algn="just">
              <a:lnSpc>
                <a:spcPct val="100000"/>
              </a:lnSpc>
              <a:spcBef>
                <a:spcPts val="105"/>
              </a:spcBef>
              <a:buFont typeface="Times New Roman" panose="02020603050405020304"/>
              <a:buChar char="•"/>
              <a:tabLst>
                <a:tab pos="356235" algn="l"/>
              </a:tabLst>
            </a:pP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Definition</a:t>
            </a:r>
          </a:p>
          <a:p>
            <a:pPr marL="469900">
              <a:lnSpc>
                <a:spcPct val="100000"/>
              </a:lnSpc>
              <a:spcBef>
                <a:spcPts val="100"/>
              </a:spcBef>
            </a:pPr>
            <a:r>
              <a:rPr sz="2200" spc="-5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char</a:t>
            </a:r>
            <a:r>
              <a:rPr sz="2200" spc="80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en-IN" sz="2200" spc="80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i</a:t>
            </a:r>
            <a:r>
              <a:rPr sz="2200" spc="-5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dentifier[NO_OF_STRINGS][MAX_NO_OF_BYTES_PER_STRING];</a:t>
            </a:r>
            <a:endParaRPr sz="2200">
              <a:solidFill>
                <a:srgbClr val="FF000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sz="22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Example</a:t>
            </a:r>
          </a:p>
          <a:p>
            <a:pPr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IN" sz="22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	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char</a:t>
            </a:r>
            <a:r>
              <a:rPr sz="2200" spc="-2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name[5][31];</a:t>
            </a:r>
            <a:endParaRPr sz="2200">
              <a:latin typeface="Times New Roman" panose="02020603050405020304" charset="0"/>
              <a:cs typeface="Times New Roman" panose="02020603050405020304" charset="0"/>
            </a:endParaRPr>
          </a:p>
          <a:p>
            <a:pPr marL="12700">
              <a:lnSpc>
                <a:spcPct val="100000"/>
              </a:lnSpc>
              <a:spcBef>
                <a:spcPts val="805"/>
              </a:spcBef>
            </a:pPr>
            <a:endParaRPr sz="22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72025" y="285687"/>
            <a:ext cx="3257550" cy="6896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1" dirty="0">
                <a:solidFill>
                  <a:schemeClr val="tx1"/>
                </a:solidFill>
                <a:latin typeface="Arial" panose="020B0604020202020204"/>
                <a:cs typeface="Arial" panose="020B0604020202020204"/>
              </a:rPr>
              <a:t>Initialization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62025" y="1081405"/>
            <a:ext cx="10370820" cy="5446395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sz="2000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char </a:t>
            </a:r>
            <a:r>
              <a:rPr sz="2000" spc="-5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identifier[NO_OF_STRINGS][MAX_NO_OF_BYTES_PER_STRING]</a:t>
            </a:r>
            <a:r>
              <a:rPr sz="2000" spc="60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=</a:t>
            </a:r>
            <a:endParaRPr sz="2000">
              <a:solidFill>
                <a:srgbClr val="FF000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4127500">
              <a:lnSpc>
                <a:spcPct val="100000"/>
              </a:lnSpc>
              <a:spcBef>
                <a:spcPts val="790"/>
              </a:spcBef>
            </a:pPr>
            <a:r>
              <a:rPr sz="2000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{ </a:t>
            </a:r>
            <a:r>
              <a:rPr sz="2000" spc="-5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"initializer </a:t>
            </a:r>
            <a:r>
              <a:rPr sz="2000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1", </a:t>
            </a:r>
            <a:r>
              <a:rPr sz="2000" spc="-5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"initializer </a:t>
            </a:r>
            <a:r>
              <a:rPr sz="2000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2", </a:t>
            </a:r>
            <a:r>
              <a:rPr sz="2000" spc="-5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...</a:t>
            </a:r>
            <a:r>
              <a:rPr sz="2000" spc="-110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};</a:t>
            </a:r>
            <a:endParaRPr sz="2000">
              <a:solidFill>
                <a:srgbClr val="FF000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00000"/>
              </a:lnSpc>
            </a:pP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For</a:t>
            </a:r>
            <a:r>
              <a:rPr sz="2000" spc="-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example,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00000"/>
              </a:lnSpc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char ch_arr[3][10] = {</a:t>
            </a:r>
          </a:p>
          <a:p>
            <a:pPr>
              <a:lnSpc>
                <a:spcPct val="100000"/>
              </a:lnSpc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                         {'s', 'p', 'i', 'k', 'e', '\0'},</a:t>
            </a:r>
          </a:p>
          <a:p>
            <a:pPr>
              <a:lnSpc>
                <a:spcPct val="100000"/>
              </a:lnSpc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                         {'t', 'o', 'm','\0'},</a:t>
            </a:r>
          </a:p>
          <a:p>
            <a:pPr>
              <a:lnSpc>
                <a:spcPct val="100000"/>
              </a:lnSpc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                         {'j', 'e', 'r', 'r', 'y','\0'}</a:t>
            </a:r>
          </a:p>
          <a:p>
            <a:pPr>
              <a:lnSpc>
                <a:spcPct val="100000"/>
              </a:lnSpc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                     };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It is important to end each 1-D array by the null character, otherwise, it will be just an array of characters. We can't use them as strings.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This above initialization is equivalent to:</a:t>
            </a:r>
          </a:p>
          <a:p>
            <a:pPr indent="0">
              <a:lnSpc>
                <a:spcPct val="100000"/>
              </a:lnSpc>
              <a:buNone/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char ch_arr[3][10] = {</a:t>
            </a:r>
          </a:p>
          <a:p>
            <a:pPr>
              <a:lnSpc>
                <a:spcPct val="100000"/>
              </a:lnSpc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                         "spike",</a:t>
            </a:r>
          </a:p>
          <a:p>
            <a:pPr>
              <a:lnSpc>
                <a:spcPct val="100000"/>
              </a:lnSpc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                         "tom",</a:t>
            </a:r>
          </a:p>
          <a:p>
            <a:pPr>
              <a:lnSpc>
                <a:spcPct val="100000"/>
              </a:lnSpc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                         "jerry"</a:t>
            </a:r>
          </a:p>
          <a:p>
            <a:pPr>
              <a:lnSpc>
                <a:spcPct val="100000"/>
              </a:lnSpc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                     };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53185" y="991870"/>
            <a:ext cx="8981440" cy="5052695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72025" y="285687"/>
            <a:ext cx="3257550" cy="6896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1" dirty="0">
                <a:solidFill>
                  <a:schemeClr val="tx1"/>
                </a:solidFill>
                <a:latin typeface="Arial" panose="020B0604020202020204"/>
                <a:cs typeface="Arial" panose="020B0604020202020204"/>
              </a:rPr>
              <a:t>Initialization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872490" y="1391920"/>
            <a:ext cx="10256520" cy="44926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>
                <a:latin typeface="Times New Roman" panose="02020603050405020304" charset="0"/>
                <a:cs typeface="Times New Roman" panose="02020603050405020304" charset="0"/>
              </a:rPr>
              <a:t>The first subscript of the array i.e 3 denotes the number of strings in the array and the second subscript denotes the maximum length of the string.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altLang="en-US" sz="2200">
                <a:latin typeface="Times New Roman" panose="02020603050405020304" charset="0"/>
                <a:cs typeface="Times New Roman" panose="02020603050405020304" charset="0"/>
              </a:rPr>
              <a:t>E</a:t>
            </a:r>
            <a:r>
              <a:rPr lang="en-US" sz="2200">
                <a:latin typeface="Times New Roman" panose="02020603050405020304" charset="0"/>
                <a:cs typeface="Times New Roman" panose="02020603050405020304" charset="0"/>
              </a:rPr>
              <a:t>ach character occupies 1 byte of data, so compiler 30 bytes (3*10) of memory </a:t>
            </a:r>
            <a:r>
              <a:rPr lang="en-IN" altLang="en-US" sz="2200">
                <a:latin typeface="Times New Roman" panose="02020603050405020304" charset="0"/>
                <a:cs typeface="Times New Roman" panose="02020603050405020304" charset="0"/>
              </a:rPr>
              <a:t>for the above example</a:t>
            </a:r>
            <a:r>
              <a:rPr lang="en-US" sz="2200">
                <a:latin typeface="Times New Roman" panose="02020603050405020304" charset="0"/>
                <a:cs typeface="Times New Roman" panose="0202060305040502030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altLang="en-US" sz="2200">
                <a:latin typeface="Times New Roman" panose="02020603050405020304" charset="0"/>
                <a:cs typeface="Times New Roman" panose="02020603050405020304" charset="0"/>
              </a:rPr>
              <a:t>T</a:t>
            </a:r>
            <a:r>
              <a:rPr lang="en-US" sz="2200">
                <a:latin typeface="Times New Roman" panose="02020603050405020304" charset="0"/>
                <a:cs typeface="Times New Roman" panose="02020603050405020304" charset="0"/>
              </a:rPr>
              <a:t>he name of an array is a pointer to the 0th element of the array.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>
                <a:latin typeface="Times New Roman" panose="02020603050405020304" charset="0"/>
                <a:cs typeface="Times New Roman" panose="02020603050405020304" charset="0"/>
              </a:rPr>
              <a:t>Therefore, if ch_arr points to address 1000 then ch_arr + 1 will point to address 1010.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2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>
                <a:latin typeface="Times New Roman" panose="02020603050405020304" charset="0"/>
                <a:cs typeface="Times New Roman" panose="02020603050405020304" charset="0"/>
              </a:rPr>
              <a:t>ch_arr + 0 points to the 0th string or 0th 1-D array.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>
                <a:latin typeface="Times New Roman" panose="02020603050405020304" charset="0"/>
                <a:cs typeface="Times New Roman" panose="02020603050405020304" charset="0"/>
              </a:rPr>
              <a:t>ch_arr + 1 points to the 1st string or 1st 1-D array.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>
                <a:latin typeface="Times New Roman" panose="02020603050405020304" charset="0"/>
                <a:cs typeface="Times New Roman" panose="02020603050405020304" charset="0"/>
              </a:rPr>
              <a:t>ch_arr + 2 points to the 2nd string or 2nd 1-D array.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2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>
                <a:latin typeface="Times New Roman" panose="02020603050405020304" charset="0"/>
                <a:cs typeface="Times New Roman" panose="02020603050405020304" charset="0"/>
              </a:rPr>
              <a:t>In general, ch_arr + i points to the ith string or ith 1-D array.</a:t>
            </a:r>
          </a:p>
          <a:p>
            <a:pPr marL="285750" indent="-285750"/>
            <a:endParaRPr lang="en-US" sz="22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1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5" name="Content Placeholder 14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624965" y="437515"/>
            <a:ext cx="8314690" cy="5258435"/>
          </a:xfrm>
          <a:prstGeom prst="rect">
            <a:avLst/>
          </a:prstGeom>
        </p:spPr>
      </p:pic>
      <p:sp>
        <p:nvSpPr>
          <p:cNvPr id="17" name="Text Box 16"/>
          <p:cNvSpPr txBox="1"/>
          <p:nvPr/>
        </p:nvSpPr>
        <p:spPr>
          <a:xfrm>
            <a:off x="930910" y="5912485"/>
            <a:ext cx="1030732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char </a:t>
            </a:r>
            <a:r>
              <a:rPr lang="en-IN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planets</a:t>
            </a:r>
            <a:r>
              <a:rPr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[</a:t>
            </a:r>
            <a:r>
              <a:rPr lang="en-IN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8</a:t>
            </a:r>
            <a:r>
              <a:rPr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][] = {"</a:t>
            </a:r>
            <a:r>
              <a:rPr lang="en-IN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Mercury</a:t>
            </a:r>
            <a:r>
              <a:rPr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", "</a:t>
            </a:r>
            <a:r>
              <a:rPr lang="en-IN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Venus</a:t>
            </a:r>
            <a:r>
              <a:rPr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", "</a:t>
            </a:r>
            <a:r>
              <a:rPr lang="en-IN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Earth</a:t>
            </a:r>
            <a:r>
              <a:rPr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", "</a:t>
            </a:r>
            <a:r>
              <a:rPr lang="en-IN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Mars</a:t>
            </a:r>
            <a:r>
              <a:rPr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",</a:t>
            </a:r>
            <a:r>
              <a:rPr spc="-22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"</a:t>
            </a:r>
            <a:r>
              <a:rPr lang="en-IN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Jupiter</a:t>
            </a:r>
            <a:r>
              <a:rPr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"</a:t>
            </a:r>
            <a:r>
              <a:rPr lang="en-IN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, ”Saturn”, ”Uranus”, ”Neptune”, “Pluto”</a:t>
            </a:r>
            <a:r>
              <a:rPr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}</a:t>
            </a:r>
            <a:r>
              <a:rPr lang="en-IN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;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06798" y="533336"/>
            <a:ext cx="3097530" cy="4743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dirty="0">
                <a:solidFill>
                  <a:schemeClr val="tx1"/>
                </a:solidFill>
                <a:latin typeface="Arial" panose="020B0604020202020204"/>
                <a:cs typeface="Arial" panose="020B0604020202020204"/>
              </a:rPr>
              <a:t>Input and</a:t>
            </a:r>
            <a:r>
              <a:rPr sz="3000" b="1" spc="-75" dirty="0">
                <a:solidFill>
                  <a:schemeClr val="tx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000" b="1" dirty="0">
                <a:solidFill>
                  <a:schemeClr val="tx1"/>
                </a:solidFill>
                <a:latin typeface="Arial" panose="020B0604020202020204"/>
                <a:cs typeface="Arial" panose="020B0604020202020204"/>
              </a:rPr>
              <a:t>Output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29385" y="1473835"/>
            <a:ext cx="9086850" cy="4937125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2000" b="1" dirty="0">
                <a:latin typeface="Times New Roman" panose="02020603050405020304" charset="0"/>
                <a:cs typeface="Times New Roman" panose="02020603050405020304" charset="0"/>
              </a:rPr>
              <a:t>Input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355600" marR="1941830">
              <a:lnSpc>
                <a:spcPct val="133000"/>
              </a:lnSpc>
              <a:spcBef>
                <a:spcPts val="15"/>
              </a:spcBef>
            </a:pP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To accept input for a list of 5 names, we</a:t>
            </a:r>
            <a:r>
              <a:rPr sz="2000" spc="-19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write  </a:t>
            </a:r>
          </a:p>
          <a:p>
            <a:pPr marL="355600" marR="1941830">
              <a:lnSpc>
                <a:spcPct val="133000"/>
              </a:lnSpc>
              <a:spcBef>
                <a:spcPts val="15"/>
              </a:spcBef>
            </a:pP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char</a:t>
            </a:r>
            <a:r>
              <a:rPr sz="2000" spc="-3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name[5][31];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425450">
              <a:lnSpc>
                <a:spcPct val="100000"/>
              </a:lnSpc>
              <a:spcBef>
                <a:spcPts val="805"/>
              </a:spcBef>
            </a:pPr>
            <a:r>
              <a:rPr sz="2000" b="1" dirty="0">
                <a:latin typeface="Times New Roman" panose="02020603050405020304" charset="0"/>
                <a:cs typeface="Times New Roman" panose="02020603050405020304" charset="0"/>
              </a:rPr>
              <a:t>for (i = 0; i &lt; 5;</a:t>
            </a:r>
            <a:r>
              <a:rPr sz="2000" b="1" spc="-13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b="1" dirty="0">
                <a:latin typeface="Times New Roman" panose="02020603050405020304" charset="0"/>
                <a:cs typeface="Times New Roman" panose="02020603050405020304" charset="0"/>
              </a:rPr>
              <a:t>i++)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926465">
              <a:lnSpc>
                <a:spcPct val="100000"/>
              </a:lnSpc>
              <a:spcBef>
                <a:spcPts val="805"/>
              </a:spcBef>
            </a:pPr>
            <a:r>
              <a:rPr sz="2000" b="1" dirty="0">
                <a:latin typeface="Times New Roman" panose="02020603050405020304" charset="0"/>
                <a:cs typeface="Times New Roman" panose="02020603050405020304" charset="0"/>
              </a:rPr>
              <a:t>scanf(" </a:t>
            </a:r>
            <a:r>
              <a:rPr sz="2000" b="1" spc="-5" dirty="0">
                <a:latin typeface="Times New Roman" panose="02020603050405020304" charset="0"/>
                <a:cs typeface="Times New Roman" panose="02020603050405020304" charset="0"/>
              </a:rPr>
              <a:t>%[^\n]s",</a:t>
            </a:r>
            <a:r>
              <a:rPr sz="2000" b="1" spc="-5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b="1" dirty="0">
                <a:latin typeface="Times New Roman" panose="02020603050405020304" charset="0"/>
                <a:cs typeface="Times New Roman" panose="02020603050405020304" charset="0"/>
              </a:rPr>
              <a:t>name[i]);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355600" marR="5080">
              <a:lnSpc>
                <a:spcPct val="100000"/>
              </a:lnSpc>
              <a:spcBef>
                <a:spcPts val="790"/>
              </a:spcBef>
            </a:pP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The space in </a:t>
            </a:r>
            <a:r>
              <a:rPr sz="2000" spc="-5" dirty="0">
                <a:latin typeface="Times New Roman" panose="02020603050405020304" charset="0"/>
                <a:cs typeface="Times New Roman" panose="02020603050405020304" charset="0"/>
              </a:rPr>
              <a:t>the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format string skips leading whitespace</a:t>
            </a:r>
            <a:r>
              <a:rPr sz="2000" spc="-16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before  accepting the</a:t>
            </a:r>
            <a:r>
              <a:rPr sz="2000" spc="-7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string.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355600" marR="146050">
              <a:lnSpc>
                <a:spcPct val="100000"/>
              </a:lnSpc>
              <a:spcBef>
                <a:spcPts val="800"/>
              </a:spcBef>
            </a:pPr>
            <a:endParaRPr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55600" marR="146050">
              <a:lnSpc>
                <a:spcPct val="100000"/>
              </a:lnSpc>
              <a:spcBef>
                <a:spcPts val="800"/>
              </a:spcBef>
            </a:pP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char name[5][31] = {"Harry", "Jean", "Jessica", "Irene",</a:t>
            </a:r>
            <a:r>
              <a:rPr sz="2000" spc="-22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"Jim"}; </a:t>
            </a:r>
          </a:p>
          <a:p>
            <a:pPr marL="355600" marR="146050">
              <a:lnSpc>
                <a:spcPct val="100000"/>
              </a:lnSpc>
              <a:spcBef>
                <a:spcPts val="800"/>
              </a:spcBef>
            </a:pP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printf("%s",</a:t>
            </a:r>
            <a:r>
              <a:rPr sz="2000" spc="-4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name[2]);</a:t>
            </a:r>
          </a:p>
          <a:p>
            <a:pPr marL="355600" marR="146050">
              <a:lnSpc>
                <a:spcPct val="100000"/>
              </a:lnSpc>
              <a:spcBef>
                <a:spcPts val="800"/>
              </a:spcBef>
            </a:pPr>
            <a:endParaRPr sz="2000" b="1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355600" marR="146050">
              <a:lnSpc>
                <a:spcPct val="100000"/>
              </a:lnSpc>
              <a:spcBef>
                <a:spcPts val="800"/>
              </a:spcBef>
            </a:pPr>
            <a:r>
              <a:rPr sz="20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Output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355600" marR="146050">
              <a:lnSpc>
                <a:spcPct val="100000"/>
              </a:lnSpc>
              <a:spcBef>
                <a:spcPts val="800"/>
              </a:spcBef>
            </a:pPr>
            <a:endParaRPr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5455" y="457200"/>
            <a:ext cx="11414125" cy="808990"/>
          </a:xfrm>
        </p:spPr>
        <p:txBody>
          <a:bodyPr>
            <a:noAutofit/>
          </a:bodyPr>
          <a:lstStyle/>
          <a:p>
            <a:r>
              <a:rPr sz="2400" b="1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Program </a:t>
            </a:r>
            <a:r>
              <a:rPr sz="2400" b="1" spc="-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that </a:t>
            </a:r>
            <a:r>
              <a:rPr sz="2400" b="1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initializes </a:t>
            </a:r>
            <a:r>
              <a:rPr sz="240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3 </a:t>
            </a:r>
            <a:r>
              <a:rPr sz="2400" b="1" spc="-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names </a:t>
            </a:r>
            <a:r>
              <a:rPr sz="2400" b="1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in an array of  </a:t>
            </a:r>
            <a:r>
              <a:rPr sz="2400" b="1" spc="-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strings and </a:t>
            </a:r>
            <a:r>
              <a:rPr sz="2400" b="1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display them on </a:t>
            </a:r>
            <a:r>
              <a:rPr sz="2400" b="1" spc="-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to</a:t>
            </a:r>
            <a:r>
              <a:rPr sz="2400" b="1" spc="2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sz="2400" b="1" spc="-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monitor</a:t>
            </a:r>
            <a:r>
              <a:rPr sz="24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/>
            </a:r>
            <a:br>
              <a:rPr sz="24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</a:br>
            <a:endParaRPr lang="en-US" sz="2400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7555" y="1409700"/>
            <a:ext cx="7530465" cy="4038600"/>
          </a:xfrm>
        </p:spPr>
        <p:txBody>
          <a:bodyPr>
            <a:normAutofit/>
          </a:bodyPr>
          <a:lstStyle/>
          <a:p>
            <a:pPr marL="45720" indent="0">
              <a:lnSpc>
                <a:spcPct val="100000"/>
              </a:lnSpc>
              <a:spcBef>
                <a:spcPts val="35"/>
              </a:spcBef>
              <a:buNone/>
            </a:pPr>
            <a:endParaRPr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marR="4718685" indent="0">
              <a:lnSpc>
                <a:spcPct val="111000"/>
              </a:lnSpc>
              <a:spcBef>
                <a:spcPts val="5"/>
              </a:spcBef>
              <a:buNone/>
            </a:pPr>
            <a:r>
              <a:rPr spc="-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#include&lt;stdio.h&gt;  #include&lt;string.h&gt;  </a:t>
            </a:r>
          </a:p>
          <a:p>
            <a:pPr marL="0" marR="4718685" indent="0">
              <a:lnSpc>
                <a:spcPct val="111000"/>
              </a:lnSpc>
              <a:spcBef>
                <a:spcPts val="5"/>
              </a:spcBef>
              <a:buNone/>
            </a:pPr>
            <a:r>
              <a:rPr spc="-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main()</a:t>
            </a:r>
            <a:endParaRPr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lnSpc>
                <a:spcPct val="100000"/>
              </a:lnSpc>
              <a:spcBef>
                <a:spcPts val="280"/>
              </a:spcBef>
              <a:buNone/>
            </a:pPr>
            <a:r>
              <a:rPr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{</a:t>
            </a:r>
            <a:endParaRPr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lnSpc>
                <a:spcPct val="100000"/>
              </a:lnSpc>
              <a:spcBef>
                <a:spcPts val="290"/>
              </a:spcBef>
              <a:buNone/>
              <a:tabLst>
                <a:tab pos="720090" algn="l"/>
              </a:tabLst>
            </a:pPr>
            <a:r>
              <a:rPr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int </a:t>
            </a:r>
            <a:r>
              <a:rPr lang="en-IN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i</a:t>
            </a:r>
            <a:r>
              <a:rPr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;</a:t>
            </a:r>
            <a:endParaRPr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lnSpc>
                <a:spcPts val="2505"/>
              </a:lnSpc>
              <a:spcBef>
                <a:spcPts val="280"/>
              </a:spcBef>
              <a:buNone/>
            </a:pPr>
            <a:r>
              <a:rPr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char </a:t>
            </a:r>
            <a:r>
              <a:rPr spc="-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names[3][10] </a:t>
            </a:r>
            <a:r>
              <a:rPr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= </a:t>
            </a:r>
            <a:r>
              <a:rPr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{“Alex”,</a:t>
            </a:r>
            <a:r>
              <a:rPr spc="-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“Phillip”,“Collins”</a:t>
            </a:r>
            <a:r>
              <a:rPr spc="-1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};</a:t>
            </a:r>
            <a:endParaRPr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marR="3639185" indent="0">
              <a:lnSpc>
                <a:spcPts val="2930"/>
              </a:lnSpc>
              <a:spcBef>
                <a:spcPts val="135"/>
              </a:spcBef>
              <a:buNone/>
            </a:pPr>
            <a:r>
              <a:rPr spc="-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for(</a:t>
            </a:r>
            <a:r>
              <a:rPr lang="en-IN" spc="-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i</a:t>
            </a:r>
            <a:r>
              <a:rPr spc="-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=0; </a:t>
            </a:r>
            <a:r>
              <a:rPr lang="en-IN" spc="-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i</a:t>
            </a:r>
            <a:r>
              <a:rPr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&lt;3; </a:t>
            </a:r>
            <a:r>
              <a:rPr lang="en-IN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i</a:t>
            </a:r>
            <a:r>
              <a:rPr spc="-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++)  </a:t>
            </a:r>
            <a:r>
              <a:rPr lang="en-IN" spc="-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	</a:t>
            </a:r>
            <a:r>
              <a:rPr spc="-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printf(“%s\n”,names[</a:t>
            </a:r>
            <a:r>
              <a:rPr lang="en-IN" spc="-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i</a:t>
            </a:r>
            <a:r>
              <a:rPr spc="-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]);</a:t>
            </a:r>
            <a:endParaRPr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lnSpc>
                <a:spcPct val="100000"/>
              </a:lnSpc>
              <a:spcBef>
                <a:spcPts val="135"/>
              </a:spcBef>
              <a:buNone/>
            </a:pPr>
            <a:r>
              <a:rPr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}</a:t>
            </a:r>
            <a:endParaRPr lang="en-US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4" name="Content Placeholder 2"/>
          <p:cNvSpPr>
            <a:spLocks noGrp="1"/>
          </p:cNvSpPr>
          <p:nvPr/>
        </p:nvSpPr>
        <p:spPr>
          <a:xfrm>
            <a:off x="7954010" y="1820545"/>
            <a:ext cx="7530465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18288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Clr>
                <a:schemeClr val="accent1"/>
              </a:buClr>
              <a:buSzPct val="80000"/>
              <a:buFont typeface="Corbel" panose="020B0503020204020204" pitchFamily="34" charset="0"/>
              <a:buChar char="•"/>
              <a:defRPr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anose="020B0503020204020204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anose="020B0503020204020204" pitchFamily="34" charset="0"/>
              <a:buChar char="•"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anose="020B0503020204020204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anose="020B0503020204020204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anose="020B0503020204020204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189992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anose="020B0503020204020204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220027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anose="020B0503020204020204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249999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anose="020B0503020204020204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>
              <a:lnSpc>
                <a:spcPct val="100000"/>
              </a:lnSpc>
              <a:spcBef>
                <a:spcPts val="35"/>
              </a:spcBef>
              <a:buNone/>
            </a:pPr>
            <a:endParaRPr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marR="4718685" indent="0">
              <a:lnSpc>
                <a:spcPct val="111000"/>
              </a:lnSpc>
              <a:spcBef>
                <a:spcPts val="5"/>
              </a:spcBef>
              <a:buNone/>
            </a:pPr>
            <a:r>
              <a:rPr lang="en-IN" b="1" u="sng" spc="-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OUTPUT</a:t>
            </a:r>
          </a:p>
          <a:p>
            <a:pPr marL="0" marR="4718685" indent="0">
              <a:lnSpc>
                <a:spcPct val="111000"/>
              </a:lnSpc>
              <a:spcBef>
                <a:spcPts val="5"/>
              </a:spcBef>
              <a:buNone/>
            </a:pPr>
            <a:r>
              <a:rPr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Alex</a:t>
            </a:r>
          </a:p>
          <a:p>
            <a:pPr marL="0" marR="4718685" indent="0">
              <a:lnSpc>
                <a:spcPct val="111000"/>
              </a:lnSpc>
              <a:spcBef>
                <a:spcPts val="5"/>
              </a:spcBef>
              <a:buNone/>
            </a:pPr>
            <a:r>
              <a:rPr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Phillip</a:t>
            </a:r>
          </a:p>
          <a:p>
            <a:pPr marL="0" marR="4718685" indent="0">
              <a:lnSpc>
                <a:spcPct val="111000"/>
              </a:lnSpc>
              <a:spcBef>
                <a:spcPts val="5"/>
              </a:spcBef>
              <a:buNone/>
            </a:pPr>
            <a:r>
              <a:rPr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Collins</a:t>
            </a:r>
            <a:endParaRPr lang="en-IN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36925" y="413068"/>
            <a:ext cx="4608195" cy="4425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Search a name in a </a:t>
            </a:r>
            <a:r>
              <a:rPr sz="280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give</a:t>
            </a:r>
            <a:r>
              <a:rPr lang="en-IN" sz="280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n</a:t>
            </a:r>
            <a:r>
              <a:rPr sz="2800" b="1" spc="-1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b="1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list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22020" y="1015365"/>
            <a:ext cx="6393815" cy="525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#include&lt;stdio.h&gt;</a:t>
            </a:r>
            <a:r>
              <a:rPr sz="2000" spc="434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#include&lt;string.h&gt;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74930">
              <a:lnSpc>
                <a:spcPct val="100000"/>
              </a:lnSpc>
            </a:pP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int</a:t>
            </a:r>
            <a:r>
              <a:rPr sz="2000" spc="-1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spc="-5" dirty="0">
                <a:latin typeface="Times New Roman" panose="02020603050405020304" charset="0"/>
                <a:cs typeface="Times New Roman" panose="02020603050405020304" charset="0"/>
              </a:rPr>
              <a:t>main()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291465">
              <a:lnSpc>
                <a:spcPct val="100000"/>
              </a:lnSpc>
            </a:pPr>
            <a:r>
              <a:rPr sz="2000" spc="-5" dirty="0">
                <a:latin typeface="Times New Roman" panose="02020603050405020304" charset="0"/>
                <a:cs typeface="Times New Roman" panose="02020603050405020304" charset="0"/>
              </a:rPr>
              <a:t>{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405765" marR="1024255">
              <a:lnSpc>
                <a:spcPct val="100000"/>
              </a:lnSpc>
            </a:pPr>
            <a:r>
              <a:rPr sz="2000" spc="-5" dirty="0">
                <a:latin typeface="Times New Roman" panose="02020603050405020304" charset="0"/>
                <a:cs typeface="Times New Roman" panose="02020603050405020304" charset="0"/>
              </a:rPr>
              <a:t>char name[5][10],found[10]; </a:t>
            </a:r>
          </a:p>
          <a:p>
            <a:pPr marL="405765" marR="1024255">
              <a:lnSpc>
                <a:spcPct val="100000"/>
              </a:lnSpc>
            </a:pP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int</a:t>
            </a:r>
            <a:r>
              <a:rPr sz="2000" spc="-1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j,i,flag=0;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405765" marR="1428750">
              <a:lnSpc>
                <a:spcPct val="100000"/>
              </a:lnSpc>
            </a:pP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printf("Enter </a:t>
            </a:r>
            <a:r>
              <a:rPr lang="en-IN" sz="2000" dirty="0">
                <a:latin typeface="Times New Roman" panose="02020603050405020304" charset="0"/>
                <a:cs typeface="Times New Roman" panose="02020603050405020304" charset="0"/>
              </a:rPr>
              <a:t>the</a:t>
            </a:r>
            <a:r>
              <a:rPr sz="2000" spc="-5" dirty="0">
                <a:latin typeface="Times New Roman" panose="02020603050405020304" charset="0"/>
                <a:cs typeface="Times New Roman" panose="02020603050405020304" charset="0"/>
              </a:rPr>
              <a:t> name</a:t>
            </a:r>
            <a:r>
              <a:rPr lang="en-IN" sz="2000" spc="-5" dirty="0">
                <a:latin typeface="Times New Roman" panose="02020603050405020304" charset="0"/>
                <a:cs typeface="Times New Roman" panose="02020603050405020304" charset="0"/>
              </a:rPr>
              <a:t>s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:</a:t>
            </a:r>
            <a:r>
              <a:rPr lang="en-IN" sz="2000" dirty="0">
                <a:latin typeface="Times New Roman" panose="02020603050405020304" charset="0"/>
                <a:cs typeface="Times New Roman" panose="02020603050405020304" charset="0"/>
              </a:rPr>
              <a:t>\n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"); </a:t>
            </a:r>
          </a:p>
          <a:p>
            <a:pPr marL="405765" marR="1428750">
              <a:lnSpc>
                <a:spcPct val="100000"/>
              </a:lnSpc>
            </a:pP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for(i=0;i&lt;5;i++)</a:t>
            </a:r>
          </a:p>
          <a:p>
            <a:pPr marL="405765" marR="1428750">
              <a:lnSpc>
                <a:spcPct val="100000"/>
              </a:lnSpc>
            </a:pPr>
            <a:r>
              <a:rPr lang="en-IN" sz="2000" spc="-5" dirty="0">
                <a:latin typeface="Times New Roman" panose="02020603050405020304" charset="0"/>
                <a:cs typeface="Times New Roman" panose="02020603050405020304" charset="0"/>
              </a:rPr>
              <a:t>		</a:t>
            </a:r>
            <a:r>
              <a:rPr sz="2000" spc="-5" dirty="0">
                <a:latin typeface="Times New Roman" panose="02020603050405020304" charset="0"/>
                <a:cs typeface="Times New Roman" panose="02020603050405020304" charset="0"/>
              </a:rPr>
              <a:t>scanf("%s",name[i]); </a:t>
            </a:r>
          </a:p>
          <a:p>
            <a:pPr marL="405765" marR="1428750">
              <a:lnSpc>
                <a:spcPct val="100000"/>
              </a:lnSpc>
            </a:pP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printf("</a:t>
            </a:r>
            <a:r>
              <a:rPr lang="en-IN" sz="2000" dirty="0">
                <a:latin typeface="Times New Roman" panose="02020603050405020304" charset="0"/>
                <a:cs typeface="Times New Roman" panose="02020603050405020304" charset="0"/>
              </a:rPr>
              <a:t>E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nter </a:t>
            </a:r>
            <a:r>
              <a:rPr lang="en-IN" sz="2000" spc="-5" dirty="0">
                <a:latin typeface="Times New Roman" panose="02020603050405020304" charset="0"/>
                <a:cs typeface="Times New Roman" panose="02020603050405020304" charset="0"/>
              </a:rPr>
              <a:t>the</a:t>
            </a:r>
            <a:r>
              <a:rPr sz="2000" spc="-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IN" sz="2000" spc="-5" dirty="0">
                <a:latin typeface="Times New Roman" panose="02020603050405020304" charset="0"/>
                <a:cs typeface="Times New Roman" panose="02020603050405020304" charset="0"/>
              </a:rPr>
              <a:t>name to be s</a:t>
            </a:r>
            <a:r>
              <a:rPr sz="2000" spc="-5" dirty="0">
                <a:latin typeface="Times New Roman" panose="02020603050405020304" charset="0"/>
                <a:cs typeface="Times New Roman" panose="02020603050405020304" charset="0"/>
              </a:rPr>
              <a:t>earch</a:t>
            </a:r>
            <a:r>
              <a:rPr lang="en-IN" sz="2000" spc="-5" dirty="0">
                <a:latin typeface="Times New Roman" panose="02020603050405020304" charset="0"/>
                <a:cs typeface="Times New Roman" panose="02020603050405020304" charset="0"/>
              </a:rPr>
              <a:t>ed: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");  </a:t>
            </a:r>
          </a:p>
          <a:p>
            <a:pPr marL="405765" marR="1428750">
              <a:lnSpc>
                <a:spcPct val="100000"/>
              </a:lnSpc>
            </a:pPr>
            <a:r>
              <a:rPr sz="2000" spc="-5" dirty="0">
                <a:latin typeface="Times New Roman" panose="02020603050405020304" charset="0"/>
                <a:cs typeface="Times New Roman" panose="02020603050405020304" charset="0"/>
              </a:rPr>
              <a:t>scanf("%s",found);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405765">
              <a:lnSpc>
                <a:spcPct val="100000"/>
              </a:lnSpc>
            </a:pP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for(i=0;i&lt;5;i++)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862965">
              <a:lnSpc>
                <a:spcPct val="100000"/>
              </a:lnSpc>
            </a:pPr>
            <a:r>
              <a:rPr sz="2000" spc="-5" dirty="0">
                <a:latin typeface="Times New Roman" panose="02020603050405020304" charset="0"/>
                <a:cs typeface="Times New Roman" panose="02020603050405020304" charset="0"/>
              </a:rPr>
              <a:t>{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1320165">
              <a:lnSpc>
                <a:spcPct val="100000"/>
              </a:lnSpc>
            </a:pPr>
            <a:r>
              <a:rPr sz="2000" spc="-5" dirty="0">
                <a:latin typeface="Times New Roman" panose="02020603050405020304" charset="0"/>
                <a:cs typeface="Times New Roman" panose="02020603050405020304" charset="0"/>
              </a:rPr>
              <a:t>if(strcmp(name[i],found)==0)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2234565">
              <a:lnSpc>
                <a:spcPct val="100000"/>
              </a:lnSpc>
              <a:spcBef>
                <a:spcPts val="5"/>
              </a:spcBef>
              <a:tabLst>
                <a:tab pos="2450465" algn="l"/>
              </a:tabLst>
            </a:pPr>
            <a:r>
              <a:rPr sz="2000" spc="-5" dirty="0">
                <a:latin typeface="Times New Roman" panose="02020603050405020304" charset="0"/>
                <a:cs typeface="Times New Roman" panose="02020603050405020304" charset="0"/>
              </a:rPr>
              <a:t>{	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flag=1; </a:t>
            </a:r>
            <a:r>
              <a:rPr sz="2000" spc="-5" dirty="0">
                <a:latin typeface="Times New Roman" panose="02020603050405020304" charset="0"/>
                <a:cs typeface="Times New Roman" panose="02020603050405020304" charset="0"/>
              </a:rPr>
              <a:t>break;</a:t>
            </a:r>
            <a:r>
              <a:rPr sz="2000" spc="41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spc="-5" dirty="0">
                <a:latin typeface="Times New Roman" panose="02020603050405020304" charset="0"/>
                <a:cs typeface="Times New Roman" panose="02020603050405020304" charset="0"/>
              </a:rPr>
              <a:t>}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862965">
              <a:lnSpc>
                <a:spcPct val="100000"/>
              </a:lnSpc>
            </a:pPr>
            <a:r>
              <a:rPr sz="2000" spc="-5" dirty="0">
                <a:latin typeface="Times New Roman" panose="02020603050405020304" charset="0"/>
                <a:cs typeface="Times New Roman" panose="02020603050405020304" charset="0"/>
              </a:rPr>
              <a:t>}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862965">
              <a:lnSpc>
                <a:spcPct val="100000"/>
              </a:lnSpc>
            </a:pPr>
            <a:endParaRPr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6868795" y="1380490"/>
            <a:ext cx="4578350" cy="17576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862965">
              <a:lnSpc>
                <a:spcPct val="100000"/>
              </a:lnSpc>
            </a:pPr>
            <a:r>
              <a:rPr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if(flag==1)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marL="1320165">
              <a:lnSpc>
                <a:spcPct val="100000"/>
              </a:lnSpc>
            </a:pPr>
            <a:r>
              <a:rPr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printf("String</a:t>
            </a:r>
            <a:r>
              <a:rPr spc="-2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found\n");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marL="862965">
              <a:lnSpc>
                <a:spcPct val="100000"/>
              </a:lnSpc>
            </a:pPr>
            <a:r>
              <a:rPr spc="-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else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marL="1320165">
              <a:lnSpc>
                <a:spcPct val="100000"/>
              </a:lnSpc>
            </a:pPr>
            <a:r>
              <a:rPr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printf("\nString not</a:t>
            </a:r>
            <a:r>
              <a:rPr spc="-6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found");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marL="291465">
              <a:lnSpc>
                <a:spcPct val="100000"/>
              </a:lnSpc>
            </a:pPr>
            <a:r>
              <a:rPr spc="-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}</a:t>
            </a:r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6354445" y="3324860"/>
            <a:ext cx="4578350" cy="31692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862965">
              <a:lnSpc>
                <a:spcPct val="100000"/>
              </a:lnSpc>
            </a:pPr>
            <a:r>
              <a:rPr lang="en-IN" sz="2000" b="1" u="sng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OUTPUT</a:t>
            </a:r>
          </a:p>
          <a:p>
            <a:pPr marL="862965">
              <a:lnSpc>
                <a:spcPct val="100000"/>
              </a:lnSpc>
            </a:pPr>
            <a:r>
              <a:rPr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Enter </a:t>
            </a:r>
            <a:r>
              <a:rPr lang="en-IN"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the</a:t>
            </a:r>
            <a:r>
              <a:rPr sz="2000" spc="-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name</a:t>
            </a:r>
            <a:r>
              <a:rPr lang="en-IN" sz="2000" spc="-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s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:</a:t>
            </a:r>
          </a:p>
          <a:p>
            <a:pPr marL="926465" algn="l">
              <a:lnSpc>
                <a:spcPct val="100000"/>
              </a:lnSpc>
            </a:pPr>
            <a:r>
              <a:rPr lang="en-IN" sz="2000" spc="-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Alice </a:t>
            </a:r>
          </a:p>
          <a:p>
            <a:pPr marL="926465" algn="l">
              <a:lnSpc>
                <a:spcPct val="100000"/>
              </a:lnSpc>
            </a:pPr>
            <a:r>
              <a:rPr lang="en-IN" sz="2000" spc="-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Ziya</a:t>
            </a:r>
          </a:p>
          <a:p>
            <a:pPr marL="926465" algn="l">
              <a:lnSpc>
                <a:spcPct val="100000"/>
              </a:lnSpc>
            </a:pPr>
            <a:r>
              <a:rPr lang="en-IN" sz="2000" spc="-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Celene</a:t>
            </a:r>
          </a:p>
          <a:p>
            <a:pPr marL="926465" algn="l">
              <a:lnSpc>
                <a:spcPct val="100000"/>
              </a:lnSpc>
            </a:pPr>
            <a:r>
              <a:rPr lang="en-IN" sz="2000" spc="-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Ronald</a:t>
            </a:r>
          </a:p>
          <a:p>
            <a:pPr marL="926465" algn="l">
              <a:lnSpc>
                <a:spcPct val="100000"/>
              </a:lnSpc>
            </a:pPr>
            <a:r>
              <a:rPr lang="en-IN" sz="2000" spc="-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Bob</a:t>
            </a:r>
          </a:p>
          <a:p>
            <a:pPr marL="926465" algn="l">
              <a:lnSpc>
                <a:spcPct val="100000"/>
              </a:lnSpc>
            </a:pPr>
            <a:r>
              <a:rPr lang="en-IN"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E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nter </a:t>
            </a:r>
            <a:r>
              <a:rPr lang="en-IN" sz="2000" spc="-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the</a:t>
            </a:r>
            <a:r>
              <a:rPr sz="2000" spc="-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en-IN" sz="2000" spc="-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name to be s</a:t>
            </a:r>
            <a:r>
              <a:rPr sz="2000" spc="-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earch</a:t>
            </a:r>
            <a:r>
              <a:rPr lang="en-IN" sz="2000" spc="-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ed: Ram</a:t>
            </a:r>
          </a:p>
          <a:p>
            <a:pPr marL="926465" algn="l">
              <a:lnSpc>
                <a:spcPct val="100000"/>
              </a:lnSpc>
            </a:pPr>
            <a:r>
              <a:rPr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String not</a:t>
            </a:r>
            <a:r>
              <a:rPr sz="2000" spc="-6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found</a:t>
            </a:r>
            <a:endParaRPr lang="en-IN" sz="2000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49800" y="257493"/>
            <a:ext cx="3400425" cy="4743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Sorting </a:t>
            </a:r>
            <a:r>
              <a:rPr sz="300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of</a:t>
            </a:r>
            <a:r>
              <a:rPr sz="3000" b="1" spc="-5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3000" b="1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string</a:t>
            </a:r>
            <a:r>
              <a:rPr lang="en-IN" sz="3000" b="1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11530" y="970280"/>
            <a:ext cx="5159375" cy="5887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794000" indent="63500" algn="l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latin typeface="Times New Roman" panose="02020603050405020304" charset="0"/>
                <a:cs typeface="Times New Roman" panose="02020603050405020304" charset="0"/>
              </a:rPr>
              <a:t>#include&lt;std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io</a:t>
            </a:r>
            <a:r>
              <a:rPr sz="2000" spc="5" dirty="0">
                <a:latin typeface="Times New Roman" panose="02020603050405020304" charset="0"/>
                <a:cs typeface="Times New Roman" panose="02020603050405020304" charset="0"/>
              </a:rPr>
              <a:t>.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h&gt;  </a:t>
            </a:r>
          </a:p>
          <a:p>
            <a:pPr marL="12700" marR="2794000" indent="63500" algn="l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int</a:t>
            </a:r>
            <a:r>
              <a:rPr sz="2000" spc="-1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spc="-5" dirty="0">
                <a:latin typeface="Times New Roman" panose="02020603050405020304" charset="0"/>
                <a:cs typeface="Times New Roman" panose="02020603050405020304" charset="0"/>
              </a:rPr>
              <a:t>main()</a:t>
            </a:r>
          </a:p>
          <a:p>
            <a:pPr marL="12700" marR="2794000" indent="63500" algn="l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latin typeface="Times New Roman" panose="02020603050405020304" charset="0"/>
                <a:cs typeface="Times New Roman" panose="02020603050405020304" charset="0"/>
              </a:rPr>
              <a:t>{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139065" algn="l">
              <a:lnSpc>
                <a:spcPct val="100000"/>
              </a:lnSpc>
            </a:pP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int</a:t>
            </a:r>
            <a:r>
              <a:rPr sz="2000" spc="-1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i,j,n;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139065" algn="l">
              <a:lnSpc>
                <a:spcPct val="100000"/>
              </a:lnSpc>
            </a:pPr>
            <a:r>
              <a:rPr sz="2000" spc="-5" dirty="0">
                <a:latin typeface="Times New Roman" panose="02020603050405020304" charset="0"/>
                <a:cs typeface="Times New Roman" panose="02020603050405020304" charset="0"/>
              </a:rPr>
              <a:t>char</a:t>
            </a:r>
            <a:r>
              <a:rPr sz="2000" spc="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spc="-5" dirty="0">
                <a:latin typeface="Times New Roman" panose="02020603050405020304" charset="0"/>
                <a:cs typeface="Times New Roman" panose="02020603050405020304" charset="0"/>
              </a:rPr>
              <a:t>str[20][20],temp[20];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139065" marR="5080" algn="l">
              <a:lnSpc>
                <a:spcPct val="100000"/>
              </a:lnSpc>
            </a:pPr>
            <a:r>
              <a:rPr sz="2000" spc="-5" dirty="0">
                <a:latin typeface="Times New Roman" panose="02020603050405020304" charset="0"/>
                <a:cs typeface="Times New Roman" panose="02020603050405020304" charset="0"/>
              </a:rPr>
              <a:t>puts("Enter the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no. of </a:t>
            </a:r>
            <a:r>
              <a:rPr sz="2000" spc="-5" dirty="0">
                <a:latin typeface="Times New Roman" panose="02020603050405020304" charset="0"/>
                <a:cs typeface="Times New Roman" panose="02020603050405020304" charset="0"/>
              </a:rPr>
              <a:t>string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to </a:t>
            </a:r>
            <a:r>
              <a:rPr sz="2000" spc="-5" dirty="0">
                <a:latin typeface="Times New Roman" panose="02020603050405020304" charset="0"/>
                <a:cs typeface="Times New Roman" panose="02020603050405020304" charset="0"/>
              </a:rPr>
              <a:t>be sorted</a:t>
            </a:r>
            <a:r>
              <a:rPr lang="en-IN" sz="2000" spc="-5" dirty="0">
                <a:latin typeface="Times New Roman" panose="02020603050405020304" charset="0"/>
                <a:cs typeface="Times New Roman" panose="02020603050405020304" charset="0"/>
              </a:rPr>
              <a:t>:</a:t>
            </a:r>
            <a:r>
              <a:rPr sz="2000" spc="-5" dirty="0">
                <a:latin typeface="Times New Roman" panose="02020603050405020304" charset="0"/>
                <a:cs typeface="Times New Roman" panose="02020603050405020304" charset="0"/>
              </a:rPr>
              <a:t>");  scanf("%d",&amp;n);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139065" marR="2939415" algn="l">
              <a:lnSpc>
                <a:spcPct val="100000"/>
              </a:lnSpc>
            </a:pP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for(i=</a:t>
            </a:r>
            <a:r>
              <a:rPr sz="2000" spc="-5" dirty="0">
                <a:latin typeface="Times New Roman" panose="02020603050405020304" charset="0"/>
                <a:cs typeface="Times New Roman" panose="02020603050405020304" charset="0"/>
              </a:rPr>
              <a:t>0;i&lt;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=</a:t>
            </a:r>
            <a:r>
              <a:rPr sz="2000" spc="-5" dirty="0">
                <a:latin typeface="Times New Roman" panose="02020603050405020304" charset="0"/>
                <a:cs typeface="Times New Roman" panose="02020603050405020304" charset="0"/>
              </a:rPr>
              <a:t>n;</a:t>
            </a:r>
            <a:r>
              <a:rPr sz="2000" spc="5" dirty="0">
                <a:latin typeface="Times New Roman" panose="02020603050405020304" charset="0"/>
                <a:cs typeface="Times New Roman" panose="02020603050405020304" charset="0"/>
              </a:rPr>
              <a:t>i</a:t>
            </a:r>
            <a:r>
              <a:rPr sz="2000" spc="-5" dirty="0">
                <a:latin typeface="Times New Roman" panose="02020603050405020304" charset="0"/>
                <a:cs typeface="Times New Roman" panose="02020603050405020304" charset="0"/>
              </a:rPr>
              <a:t>+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+)  </a:t>
            </a:r>
            <a:r>
              <a:rPr lang="en-IN" sz="2000" dirty="0">
                <a:latin typeface="Times New Roman" panose="02020603050405020304" charset="0"/>
                <a:cs typeface="Times New Roman" panose="02020603050405020304" charset="0"/>
              </a:rPr>
              <a:t>	</a:t>
            </a:r>
            <a:r>
              <a:rPr sz="2000" spc="-5" dirty="0">
                <a:latin typeface="Times New Roman" panose="02020603050405020304" charset="0"/>
                <a:cs typeface="Times New Roman" panose="02020603050405020304" charset="0"/>
              </a:rPr>
              <a:t>gets(str[i]); 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for(i=</a:t>
            </a:r>
            <a:r>
              <a:rPr sz="2000" spc="-5" dirty="0">
                <a:latin typeface="Times New Roman" panose="02020603050405020304" charset="0"/>
                <a:cs typeface="Times New Roman" panose="02020603050405020304" charset="0"/>
              </a:rPr>
              <a:t>0;i&lt;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=</a:t>
            </a:r>
            <a:r>
              <a:rPr sz="2000" spc="-5" dirty="0">
                <a:latin typeface="Times New Roman" panose="02020603050405020304" charset="0"/>
                <a:cs typeface="Times New Roman" panose="02020603050405020304" charset="0"/>
              </a:rPr>
              <a:t>n;</a:t>
            </a:r>
            <a:r>
              <a:rPr sz="2000" spc="5" dirty="0">
                <a:latin typeface="Times New Roman" panose="02020603050405020304" charset="0"/>
                <a:cs typeface="Times New Roman" panose="02020603050405020304" charset="0"/>
              </a:rPr>
              <a:t>i</a:t>
            </a:r>
            <a:r>
              <a:rPr sz="2000" spc="-5" dirty="0">
                <a:latin typeface="Times New Roman" panose="02020603050405020304" charset="0"/>
                <a:cs typeface="Times New Roman" panose="02020603050405020304" charset="0"/>
              </a:rPr>
              <a:t>+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+)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R="1981200" algn="l">
              <a:lnSpc>
                <a:spcPct val="100000"/>
              </a:lnSpc>
              <a:spcBef>
                <a:spcPts val="5"/>
              </a:spcBef>
            </a:pPr>
            <a:r>
              <a:rPr sz="2000" spc="-5" dirty="0">
                <a:latin typeface="Times New Roman" panose="02020603050405020304" charset="0"/>
                <a:cs typeface="Times New Roman" panose="02020603050405020304" charset="0"/>
              </a:rPr>
              <a:t>    {</a:t>
            </a:r>
            <a:r>
              <a:rPr sz="2000" spc="-2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</a:p>
          <a:p>
            <a:pPr marR="1981200" algn="l">
              <a:lnSpc>
                <a:spcPct val="100000"/>
              </a:lnSpc>
              <a:spcBef>
                <a:spcPts val="5"/>
              </a:spcBef>
            </a:pPr>
            <a:r>
              <a:rPr lang="en-IN" sz="2000" dirty="0">
                <a:latin typeface="Times New Roman" panose="02020603050405020304" charset="0"/>
                <a:cs typeface="Times New Roman" panose="02020603050405020304" charset="0"/>
              </a:rPr>
              <a:t>	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for(j=i+1;j&lt;=n;j++)</a:t>
            </a:r>
          </a:p>
          <a:p>
            <a:pPr marR="1981200" algn="l">
              <a:lnSpc>
                <a:spcPct val="100000"/>
              </a:lnSpc>
              <a:spcBef>
                <a:spcPts val="5"/>
              </a:spcBef>
            </a:pPr>
            <a:r>
              <a:rPr lang="en-IN" sz="2000" dirty="0">
                <a:latin typeface="Times New Roman" panose="02020603050405020304" charset="0"/>
                <a:cs typeface="Times New Roman" panose="02020603050405020304" charset="0"/>
              </a:rPr>
              <a:t>	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{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R="822960" algn="l">
              <a:lnSpc>
                <a:spcPct val="100000"/>
              </a:lnSpc>
            </a:pPr>
            <a:r>
              <a:rPr lang="en-IN" sz="2000" spc="-5" dirty="0">
                <a:latin typeface="Times New Roman" panose="02020603050405020304" charset="0"/>
                <a:cs typeface="Times New Roman" panose="02020603050405020304" charset="0"/>
              </a:rPr>
              <a:t>	  </a:t>
            </a:r>
            <a:r>
              <a:rPr sz="2000" spc="-5" dirty="0">
                <a:latin typeface="Times New Roman" panose="02020603050405020304" charset="0"/>
                <a:cs typeface="Times New Roman" panose="02020603050405020304" charset="0"/>
              </a:rPr>
              <a:t> if(strcmp(str[i],str[j])&gt;0)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R="2873375" algn="l">
              <a:lnSpc>
                <a:spcPct val="100000"/>
              </a:lnSpc>
            </a:pPr>
            <a:r>
              <a:rPr lang="en-IN" sz="2000" spc="-5" dirty="0">
                <a:latin typeface="Times New Roman" panose="02020603050405020304" charset="0"/>
                <a:cs typeface="Times New Roman" panose="02020603050405020304" charset="0"/>
              </a:rPr>
              <a:t>		</a:t>
            </a:r>
            <a:r>
              <a:rPr sz="2000" spc="-5" dirty="0">
                <a:latin typeface="Times New Roman" panose="02020603050405020304" charset="0"/>
                <a:cs typeface="Times New Roman" panose="02020603050405020304" charset="0"/>
              </a:rPr>
              <a:t>{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964565" marR="1823720" algn="l">
              <a:lnSpc>
                <a:spcPct val="100000"/>
              </a:lnSpc>
            </a:pPr>
            <a:r>
              <a:rPr sz="2000" spc="-5" dirty="0">
                <a:latin typeface="Times New Roman" panose="02020603050405020304" charset="0"/>
                <a:cs typeface="Times New Roman" panose="02020603050405020304" charset="0"/>
              </a:rPr>
              <a:t>st</a:t>
            </a:r>
            <a:r>
              <a:rPr sz="2000" spc="-15" dirty="0">
                <a:latin typeface="Times New Roman" panose="02020603050405020304" charset="0"/>
                <a:cs typeface="Times New Roman" panose="02020603050405020304" charset="0"/>
              </a:rPr>
              <a:t>r</a:t>
            </a:r>
            <a:r>
              <a:rPr sz="2000" spc="-5" dirty="0">
                <a:latin typeface="Times New Roman" panose="02020603050405020304" charset="0"/>
                <a:cs typeface="Times New Roman" panose="02020603050405020304" charset="0"/>
              </a:rPr>
              <a:t>cp</a:t>
            </a:r>
            <a:r>
              <a:rPr sz="2000" spc="-25" dirty="0">
                <a:latin typeface="Times New Roman" panose="02020603050405020304" charset="0"/>
                <a:cs typeface="Times New Roman" panose="02020603050405020304" charset="0"/>
              </a:rPr>
              <a:t>y</a:t>
            </a:r>
            <a:r>
              <a:rPr sz="2000" spc="-5" dirty="0">
                <a:latin typeface="Times New Roman" panose="02020603050405020304" charset="0"/>
                <a:cs typeface="Times New Roman" panose="02020603050405020304" charset="0"/>
              </a:rPr>
              <a:t>(te</a:t>
            </a:r>
            <a:r>
              <a:rPr sz="2000" spc="-15" dirty="0">
                <a:latin typeface="Times New Roman" panose="02020603050405020304" charset="0"/>
                <a:cs typeface="Times New Roman" panose="02020603050405020304" charset="0"/>
              </a:rPr>
              <a:t>m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p</a:t>
            </a:r>
            <a:r>
              <a:rPr sz="2000" spc="5" dirty="0">
                <a:latin typeface="Times New Roman" panose="02020603050405020304" charset="0"/>
                <a:cs typeface="Times New Roman" panose="02020603050405020304" charset="0"/>
              </a:rPr>
              <a:t>,</a:t>
            </a:r>
            <a:r>
              <a:rPr sz="2000" spc="-5" dirty="0">
                <a:latin typeface="Times New Roman" panose="02020603050405020304" charset="0"/>
                <a:cs typeface="Times New Roman" panose="02020603050405020304" charset="0"/>
              </a:rPr>
              <a:t>st</a:t>
            </a:r>
            <a:r>
              <a:rPr sz="2000" spc="-15" dirty="0">
                <a:latin typeface="Times New Roman" panose="02020603050405020304" charset="0"/>
                <a:cs typeface="Times New Roman" panose="02020603050405020304" charset="0"/>
              </a:rPr>
              <a:t>r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[i]);  </a:t>
            </a:r>
            <a:r>
              <a:rPr sz="2000" spc="-5" dirty="0">
                <a:latin typeface="Times New Roman" panose="02020603050405020304" charset="0"/>
                <a:cs typeface="Times New Roman" panose="02020603050405020304" charset="0"/>
              </a:rPr>
              <a:t>strcpy(str[i],str[j]);  st</a:t>
            </a:r>
            <a:r>
              <a:rPr sz="2000" spc="-15" dirty="0">
                <a:latin typeface="Times New Roman" panose="02020603050405020304" charset="0"/>
                <a:cs typeface="Times New Roman" panose="02020603050405020304" charset="0"/>
              </a:rPr>
              <a:t>r</a:t>
            </a:r>
            <a:r>
              <a:rPr sz="2000" spc="-5" dirty="0">
                <a:latin typeface="Times New Roman" panose="02020603050405020304" charset="0"/>
                <a:cs typeface="Times New Roman" panose="02020603050405020304" charset="0"/>
              </a:rPr>
              <a:t>cp</a:t>
            </a:r>
            <a:r>
              <a:rPr sz="2000" spc="-25" dirty="0">
                <a:latin typeface="Times New Roman" panose="02020603050405020304" charset="0"/>
                <a:cs typeface="Times New Roman" panose="02020603050405020304" charset="0"/>
              </a:rPr>
              <a:t>y</a:t>
            </a:r>
            <a:r>
              <a:rPr sz="2000" spc="-5" dirty="0">
                <a:latin typeface="Times New Roman" panose="02020603050405020304" charset="0"/>
                <a:cs typeface="Times New Roman" panose="02020603050405020304" charset="0"/>
              </a:rPr>
              <a:t>(st</a:t>
            </a:r>
            <a:r>
              <a:rPr sz="2000" spc="-15" dirty="0">
                <a:latin typeface="Times New Roman" panose="02020603050405020304" charset="0"/>
                <a:cs typeface="Times New Roman" panose="02020603050405020304" charset="0"/>
              </a:rPr>
              <a:t>r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[j]</a:t>
            </a:r>
            <a:r>
              <a:rPr sz="2000" spc="5" dirty="0">
                <a:latin typeface="Times New Roman" panose="02020603050405020304" charset="0"/>
                <a:cs typeface="Times New Roman" panose="02020603050405020304" charset="0"/>
              </a:rPr>
              <a:t>,</a:t>
            </a:r>
            <a:r>
              <a:rPr sz="2000" spc="-5" dirty="0">
                <a:latin typeface="Times New Roman" panose="02020603050405020304" charset="0"/>
                <a:cs typeface="Times New Roman" panose="02020603050405020304" charset="0"/>
              </a:rPr>
              <a:t>te</a:t>
            </a:r>
            <a:r>
              <a:rPr sz="2000" spc="-15" dirty="0">
                <a:latin typeface="Times New Roman" panose="02020603050405020304" charset="0"/>
                <a:cs typeface="Times New Roman" panose="02020603050405020304" charset="0"/>
              </a:rPr>
              <a:t>m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p);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926465" algn="l">
              <a:lnSpc>
                <a:spcPct val="100000"/>
              </a:lnSpc>
            </a:pPr>
            <a:endParaRPr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6632575" y="1134110"/>
            <a:ext cx="3777615" cy="2030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926465" algn="l">
              <a:lnSpc>
                <a:spcPct val="100000"/>
              </a:lnSpc>
            </a:pPr>
            <a:r>
              <a:rPr spc="-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}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marL="660400" algn="l">
              <a:lnSpc>
                <a:spcPct val="100000"/>
              </a:lnSpc>
            </a:pPr>
            <a:r>
              <a:rPr spc="-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}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marL="393700" algn="l">
              <a:lnSpc>
                <a:spcPct val="100000"/>
              </a:lnSpc>
            </a:pPr>
            <a:r>
              <a:rPr spc="-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}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marL="139065" algn="l">
              <a:lnSpc>
                <a:spcPct val="100000"/>
              </a:lnSpc>
            </a:pPr>
            <a:r>
              <a:rPr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printf("The </a:t>
            </a:r>
            <a:r>
              <a:rPr spc="-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sorted</a:t>
            </a:r>
            <a:r>
              <a:rPr spc="-1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string</a:t>
            </a:r>
            <a:r>
              <a:rPr lang="en-IN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s are:</a:t>
            </a:r>
            <a:r>
              <a:rPr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\n");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marL="139065" algn="l">
              <a:lnSpc>
                <a:spcPct val="100000"/>
              </a:lnSpc>
            </a:pPr>
            <a:r>
              <a:rPr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for(i=0;i&lt;n;i++)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marL="393700">
              <a:lnSpc>
                <a:spcPct val="100000"/>
              </a:lnSpc>
              <a:spcBef>
                <a:spcPts val="5"/>
              </a:spcBef>
            </a:pPr>
            <a:r>
              <a:rPr spc="-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puts(str[i]);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marL="12700">
              <a:lnSpc>
                <a:spcPct val="100000"/>
              </a:lnSpc>
            </a:pPr>
            <a:r>
              <a:rPr spc="-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}</a:t>
            </a:r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5508625" y="3703320"/>
            <a:ext cx="4799965" cy="28613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926465" algn="l">
              <a:lnSpc>
                <a:spcPct val="100000"/>
              </a:lnSpc>
            </a:pPr>
            <a:r>
              <a:rPr lang="en-IN" b="1" u="sng" spc="-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OUTPUT</a:t>
            </a:r>
          </a:p>
          <a:p>
            <a:pPr marL="926465" algn="l">
              <a:lnSpc>
                <a:spcPct val="100000"/>
              </a:lnSpc>
            </a:pPr>
            <a:r>
              <a:rPr spc="-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Enter the </a:t>
            </a:r>
            <a:r>
              <a:rPr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no. of </a:t>
            </a:r>
            <a:r>
              <a:rPr spc="-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string </a:t>
            </a:r>
            <a:r>
              <a:rPr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to </a:t>
            </a:r>
            <a:r>
              <a:rPr spc="-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be sorted</a:t>
            </a:r>
            <a:r>
              <a:rPr lang="en-IN" spc="-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:3</a:t>
            </a:r>
          </a:p>
          <a:p>
            <a:pPr marL="926465" algn="l">
              <a:lnSpc>
                <a:spcPct val="100000"/>
              </a:lnSpc>
            </a:pPr>
            <a:r>
              <a:rPr lang="en-IN" spc="-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Ziya</a:t>
            </a:r>
          </a:p>
          <a:p>
            <a:pPr marL="926465" algn="l">
              <a:lnSpc>
                <a:spcPct val="100000"/>
              </a:lnSpc>
            </a:pPr>
            <a:r>
              <a:rPr lang="en-IN" spc="-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Ronald</a:t>
            </a:r>
          </a:p>
          <a:p>
            <a:pPr marL="926465" algn="l">
              <a:lnSpc>
                <a:spcPct val="100000"/>
              </a:lnSpc>
            </a:pPr>
            <a:r>
              <a:rPr lang="en-IN" spc="-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Bob</a:t>
            </a:r>
          </a:p>
          <a:p>
            <a:pPr marL="926465" algn="l">
              <a:lnSpc>
                <a:spcPct val="100000"/>
              </a:lnSpc>
            </a:pPr>
            <a:r>
              <a:rPr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The </a:t>
            </a:r>
            <a:r>
              <a:rPr spc="-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sorted</a:t>
            </a:r>
            <a:r>
              <a:rPr spc="-1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string</a:t>
            </a:r>
            <a:r>
              <a:rPr lang="en-IN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s are:</a:t>
            </a:r>
          </a:p>
          <a:p>
            <a:pPr marL="926465" algn="l">
              <a:lnSpc>
                <a:spcPct val="100000"/>
              </a:lnSpc>
            </a:pPr>
            <a:r>
              <a:rPr lang="en-IN" spc="-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Bob</a:t>
            </a:r>
          </a:p>
          <a:p>
            <a:pPr marL="926465" algn="l">
              <a:lnSpc>
                <a:spcPct val="100000"/>
              </a:lnSpc>
            </a:pPr>
            <a:r>
              <a:rPr lang="en-IN" spc="-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Ronald</a:t>
            </a:r>
          </a:p>
          <a:p>
            <a:pPr marL="926465" algn="l">
              <a:lnSpc>
                <a:spcPct val="100000"/>
              </a:lnSpc>
            </a:pPr>
            <a:r>
              <a:rPr lang="en-IN" spc="-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Ziya</a:t>
            </a:r>
          </a:p>
          <a:p>
            <a:pPr marL="926465" algn="l">
              <a:lnSpc>
                <a:spcPct val="100000"/>
              </a:lnSpc>
            </a:pPr>
            <a:endParaRPr lang="en-IN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 b="1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https://www.tutorialspoint.com/c_standard_library/c_function_</a:t>
            </a:r>
          </a:p>
          <a:p>
            <a:r>
              <a:rPr lang="en-IN" altLang="en-US"/>
              <a:t>slideshare.com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48765" y="2891790"/>
            <a:ext cx="9875520" cy="1356360"/>
          </a:xfrm>
        </p:spPr>
        <p:txBody>
          <a:bodyPr/>
          <a:lstStyle/>
          <a:p>
            <a:pPr algn="ctr"/>
            <a:r>
              <a:rPr lang="en-IN" altLang="en-US" b="1"/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asis">
  <a:themeElements>
    <a:clrScheme name="Basis">
      <a:dk1>
        <a:srgbClr val="000000"/>
      </a:dk1>
      <a:lt1>
        <a:srgbClr val="FFFFFF"/>
      </a:lt1>
      <a:dk2>
        <a:srgbClr val="565349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7D447"/>
      </a:accent5>
      <a:accent6>
        <a:srgbClr val="818183"/>
      </a:accent6>
      <a:hlink>
        <a:srgbClr val="F59E00"/>
      </a:hlink>
      <a:folHlink>
        <a:srgbClr val="B2B2B2"/>
      </a:folHlink>
    </a:clrScheme>
    <a:fontScheme name="Basis">
      <a:majorFont>
        <a:latin typeface="Corbel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TM03457444[[fn=Basis]]</Template>
  <TotalTime>130</TotalTime>
  <Words>3811</Words>
  <Application>Microsoft Office PowerPoint</Application>
  <PresentationFormat>Custom</PresentationFormat>
  <Paragraphs>689</Paragraphs>
  <Slides>57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58" baseType="lpstr">
      <vt:lpstr>Basis</vt:lpstr>
      <vt:lpstr>STRINGS</vt:lpstr>
      <vt:lpstr>Agenda</vt:lpstr>
      <vt:lpstr>Introduction</vt:lpstr>
      <vt:lpstr>Slide 4</vt:lpstr>
      <vt:lpstr>Introduction</vt:lpstr>
      <vt:lpstr>Introduction</vt:lpstr>
      <vt:lpstr>Declaration</vt:lpstr>
      <vt:lpstr>DECLARING AND INITIALIZING  STRING VARAIBLES</vt:lpstr>
      <vt:lpstr>DECLARING AND INITIALIZING  STRING VARAIBLES</vt:lpstr>
      <vt:lpstr>DECLARING AND INITIALIZING  STRING VARAIBLES</vt:lpstr>
      <vt:lpstr>Slide 11</vt:lpstr>
      <vt:lpstr>Slide 12</vt:lpstr>
      <vt:lpstr>EXAMPLE PROGRAM</vt:lpstr>
      <vt:lpstr>READING STRING FROM TERMINAL</vt:lpstr>
      <vt:lpstr>PRINTING STRING PROGRAM1</vt:lpstr>
      <vt:lpstr>PRINTING  STRING PROGRAM2</vt:lpstr>
      <vt:lpstr>EXAMPLE PROGRAM</vt:lpstr>
      <vt:lpstr>READING A LINE OF TEXT</vt:lpstr>
      <vt:lpstr>READING A LINE OF TEXT</vt:lpstr>
      <vt:lpstr>EXAMPLE PROGRAM</vt:lpstr>
      <vt:lpstr>WRITING STRINGS TO SCREEN</vt:lpstr>
      <vt:lpstr>USING PUTCHAR AND PUTS</vt:lpstr>
      <vt:lpstr>USING PUTCHAR AND PUTS</vt:lpstr>
      <vt:lpstr>PUTTING STRINGS TOGETHER</vt:lpstr>
      <vt:lpstr>COMPARISON OF TWO STRINGS</vt:lpstr>
      <vt:lpstr>STRING-HANDLING FUNCTIONS</vt:lpstr>
      <vt:lpstr>Strings</vt:lpstr>
      <vt:lpstr>strlen() Function</vt:lpstr>
      <vt:lpstr>Finding length of the String without using strlen()</vt:lpstr>
      <vt:lpstr>Length of strings</vt:lpstr>
      <vt:lpstr>strcpy() Function</vt:lpstr>
      <vt:lpstr>Copy String Manually without using strcpy()</vt:lpstr>
      <vt:lpstr>strcat() Function</vt:lpstr>
      <vt:lpstr>Example</vt:lpstr>
      <vt:lpstr>Slide 35</vt:lpstr>
      <vt:lpstr>strcmp() Function</vt:lpstr>
      <vt:lpstr>Slide 37</vt:lpstr>
      <vt:lpstr>Slide 38</vt:lpstr>
      <vt:lpstr>COMPARISON OF TWO STRINGS</vt:lpstr>
      <vt:lpstr>strlwr() Function</vt:lpstr>
      <vt:lpstr>SOME MORE STRING-HANDLING FUNCTIONS</vt:lpstr>
      <vt:lpstr>Program using strncpy()</vt:lpstr>
      <vt:lpstr>Program using strncat()</vt:lpstr>
      <vt:lpstr>Program using strncmp()</vt:lpstr>
      <vt:lpstr>String Programs</vt:lpstr>
      <vt:lpstr>TABLE OF STRINGS</vt:lpstr>
      <vt:lpstr>ARRAY OF STRINGS</vt:lpstr>
      <vt:lpstr>Initialization</vt:lpstr>
      <vt:lpstr>Slide 49</vt:lpstr>
      <vt:lpstr>Initialization</vt:lpstr>
      <vt:lpstr>Slide 51</vt:lpstr>
      <vt:lpstr>Input and Output</vt:lpstr>
      <vt:lpstr>Program that initializes 3 names in an array of  strings and display them on to monitor </vt:lpstr>
      <vt:lpstr>Search a name in a given list</vt:lpstr>
      <vt:lpstr>Sorting of strings</vt:lpstr>
      <vt:lpstr>References</vt:lpstr>
      <vt:lpstr>THANK YOU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facultycs</cp:lastModifiedBy>
  <cp:revision>77</cp:revision>
  <dcterms:created xsi:type="dcterms:W3CDTF">2020-08-23T11:58:00Z</dcterms:created>
  <dcterms:modified xsi:type="dcterms:W3CDTF">2023-01-24T07:33:01Z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1033-11.2.0.9747</vt:lpwstr>
  </property>
</Properties>
</file>