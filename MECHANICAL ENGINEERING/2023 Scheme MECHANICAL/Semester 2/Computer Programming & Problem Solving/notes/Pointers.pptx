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303" r:id="rId3"/>
    <p:sldId id="349" r:id="rId4"/>
    <p:sldId id="374" r:id="rId5"/>
    <p:sldId id="375" r:id="rId6"/>
    <p:sldId id="376" r:id="rId7"/>
    <p:sldId id="353" r:id="rId8"/>
    <p:sldId id="351" r:id="rId9"/>
    <p:sldId id="390" r:id="rId10"/>
    <p:sldId id="411" r:id="rId11"/>
    <p:sldId id="414" r:id="rId12"/>
    <p:sldId id="412" r:id="rId13"/>
    <p:sldId id="413" r:id="rId14"/>
    <p:sldId id="407" r:id="rId15"/>
    <p:sldId id="408" r:id="rId16"/>
    <p:sldId id="409" r:id="rId17"/>
    <p:sldId id="382" r:id="rId18"/>
    <p:sldId id="393" r:id="rId19"/>
    <p:sldId id="394" r:id="rId20"/>
    <p:sldId id="396" r:id="rId21"/>
    <p:sldId id="405" r:id="rId22"/>
    <p:sldId id="417" r:id="rId23"/>
    <p:sldId id="416" r:id="rId24"/>
    <p:sldId id="410" r:id="rId25"/>
    <p:sldId id="422" r:id="rId26"/>
    <p:sldId id="425" r:id="rId27"/>
    <p:sldId id="427" r:id="rId28"/>
    <p:sldId id="428" r:id="rId29"/>
    <p:sldId id="430" r:id="rId30"/>
    <p:sldId id="431" r:id="rId31"/>
    <p:sldId id="432" r:id="rId32"/>
    <p:sldId id="433" r:id="rId33"/>
    <p:sldId id="437" r:id="rId34"/>
    <p:sldId id="436" r:id="rId35"/>
    <p:sldId id="435" r:id="rId36"/>
    <p:sldId id="335" r:id="rId37"/>
    <p:sldId id="336" r:id="rId3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9980" y="882376"/>
            <a:ext cx="9966960" cy="2926080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sz="7200" b="1" cap="all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09530" y="3869634"/>
            <a:ext cx="8767860" cy="1388165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rgbClr val="FFFFFF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96DFF08F-DC6B-4601-B491-B0F83F6DD2DA}" type="datetimeFigureOut">
              <a:rPr lang="en-US" dirty="0"/>
              <a:t>9/2/2022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1978660" y="3733800"/>
            <a:ext cx="822960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9/2/2022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6424" y="1173575"/>
            <a:ext cx="9966960" cy="2926080"/>
          </a:xfrm>
        </p:spPr>
        <p:txBody>
          <a:bodyPr anchor="b">
            <a:noAutofit/>
          </a:bodyPr>
          <a:lstStyle>
            <a:lvl1pPr algn="ctr">
              <a:lnSpc>
                <a:spcPct val="85000"/>
              </a:lnSpc>
              <a:defRPr sz="7200" b="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09928" y="4154520"/>
            <a:ext cx="8769096" cy="1363806"/>
          </a:xfrm>
        </p:spPr>
        <p:txBody>
          <a:bodyPr anchor="t">
            <a:normAutofit/>
          </a:bodyPr>
          <a:lstStyle>
            <a:lvl1pPr marL="0" indent="0" algn="ctr">
              <a:buNone/>
              <a:defRPr sz="2200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9/2/2022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1981200" y="4020408"/>
            <a:ext cx="822960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3000" y="2057399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67612" y="2057400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9/2/2022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01511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3000" y="2721483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69173" y="1999032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69173" y="2719322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9/2/2022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9/2/2022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9/2/2022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52159" y="1097280"/>
            <a:ext cx="5212080" cy="46634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301752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9/2/2022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13248" y="1069847"/>
            <a:ext cx="6099048" cy="4800600"/>
          </a:xfrm>
        </p:spPr>
        <p:txBody>
          <a:bodyPr lIns="274320" tIns="182880" anchor="t"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288036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9/2/2022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9/2/2022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762000"/>
            <a:ext cx="2324100" cy="5410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762000"/>
            <a:ext cx="74295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9/2/2022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57400"/>
            <a:ext cx="9872871" cy="4038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42996" y="6223828"/>
            <a:ext cx="23290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fld id="{96DFF08F-DC6B-4601-B491-B0F83F6DD2DA}" type="datetimeFigureOut">
              <a:rPr lang="en-US" dirty="0"/>
              <a:t>9/2/2022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49148" y="6223828"/>
            <a:ext cx="47177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29530" y="6223828"/>
            <a:ext cx="17062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182880" algn="l" defTabSz="914400" rtl="0" eaLnBrk="1" latinLnBrk="0" hangingPunct="1">
        <a:lnSpc>
          <a:spcPct val="90000"/>
        </a:lnSpc>
        <a:spcBef>
          <a:spcPts val="1400"/>
        </a:spcBef>
        <a:buClr>
          <a:schemeClr val="accent1"/>
        </a:buClr>
        <a:buSzPct val="80000"/>
        <a:buFont typeface="Corbel" panose="020B0503020204020204" pitchFamily="34" charset="0"/>
        <a:buChar char="•"/>
        <a:defRPr sz="22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anose="020B0503020204020204" pitchFamily="34" charset="0"/>
        <a:buChar char="•"/>
        <a:defRPr sz="20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anose="020B0503020204020204" pitchFamily="34" charset="0"/>
        <a:buChar char="•"/>
        <a:defRPr sz="18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anose="020B0503020204020204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anose="020B0503020204020204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16002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anose="020B0503020204020204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6pPr>
      <a:lvl7pPr marL="189992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anose="020B0503020204020204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7pPr>
      <a:lvl8pPr marL="2200275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anose="020B0503020204020204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8pPr>
      <a:lvl9pPr marL="2499995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anose="020B0503020204020204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hyperlink" Target="https://dyclassroom.com/c/c-pointers-and-strings" TargetMode="External"/><Relationship Id="rId2" Type="http://schemas.openxmlformats.org/officeDocument/2006/relationships/hyperlink" Target="https://www.tutorialspoint.com/cprogramming/c_pointers.htm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studytonight.com/c/pointer-with-function-in-c.php" TargetMode="Externa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pointers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C951778F-42C5-4DD0-9F20-1C030A19E58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273170"/>
            <a:ext cx="9875520" cy="580845"/>
          </a:xfrm>
        </p:spPr>
        <p:txBody>
          <a:bodyPr>
            <a:normAutofit fontScale="90000"/>
          </a:bodyPr>
          <a:lstStyle/>
          <a:p>
            <a:pPr algn="ctr"/>
            <a:r>
              <a:rPr lang="en-IN" altLang="en-US" b="1" dirty="0"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5649" y="854015"/>
            <a:ext cx="9872871" cy="5676181"/>
          </a:xfrm>
        </p:spPr>
        <p:txBody>
          <a:bodyPr>
            <a:normAutofit fontScale="62500" lnSpcReduction="20000"/>
          </a:bodyPr>
          <a:lstStyle/>
          <a:p>
            <a:r>
              <a:rPr lang="en-IN" altLang="en-US" sz="24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Pointers</a:t>
            </a:r>
          </a:p>
          <a:p>
            <a:r>
              <a:rPr lang="en-IN" altLang="en-US" sz="24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Pointer Declaration and Initialization</a:t>
            </a:r>
          </a:p>
          <a:p>
            <a:r>
              <a:rPr lang="en-IN" altLang="en-US" sz="24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Pointer Arithmetic</a:t>
            </a:r>
          </a:p>
          <a:p>
            <a:r>
              <a:rPr lang="en-IN" altLang="en-US" sz="24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Pointer Comparison</a:t>
            </a:r>
          </a:p>
          <a:p>
            <a:r>
              <a:rPr lang="en-IN" altLang="en-US" sz="24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Pointer expressions</a:t>
            </a:r>
          </a:p>
          <a:p>
            <a:r>
              <a:rPr lang="en-IN" altLang="en-US" sz="24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Example Programs</a:t>
            </a:r>
          </a:p>
          <a:p>
            <a:r>
              <a:rPr lang="en-IN" altLang="en-US" sz="24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Benefits of Pointers</a:t>
            </a:r>
          </a:p>
          <a:p>
            <a:r>
              <a:rPr lang="en-IN" altLang="en-US" sz="24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Pointers to Pointers</a:t>
            </a:r>
          </a:p>
          <a:p>
            <a:r>
              <a:rPr lang="en-IN" altLang="en-US" sz="24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Pointers and Arrays</a:t>
            </a:r>
          </a:p>
          <a:p>
            <a:r>
              <a:rPr lang="en-IN" altLang="en-US" sz="24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Pointers and character strings</a:t>
            </a:r>
          </a:p>
          <a:p>
            <a:r>
              <a:rPr lang="en-IN" altLang="en-US" sz="24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Array of Pointers</a:t>
            </a:r>
          </a:p>
          <a:p>
            <a:r>
              <a:rPr lang="en-IN" altLang="en-US" sz="24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Pointers as Function Arguments</a:t>
            </a:r>
          </a:p>
          <a:p>
            <a:r>
              <a:rPr lang="en-IN" altLang="en-US" sz="24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Functions returning Pointers</a:t>
            </a:r>
          </a:p>
          <a:p>
            <a:r>
              <a:rPr lang="en-IN" altLang="en-US" sz="24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Pointers to Functions</a:t>
            </a:r>
          </a:p>
          <a:p>
            <a:r>
              <a:rPr lang="en-IN" altLang="en-US" sz="24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Pointers and Structures</a:t>
            </a:r>
          </a:p>
          <a:p>
            <a:r>
              <a:rPr lang="en-IN" altLang="en-US" sz="24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Trouble with Pointers</a:t>
            </a:r>
          </a:p>
          <a:p>
            <a:r>
              <a:rPr lang="en-IN" altLang="en-US" sz="24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References</a:t>
            </a:r>
          </a:p>
          <a:p>
            <a:endParaRPr lang="en-IN" altLang="en-US" sz="2400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IN" altLang="en-US" sz="2400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IN" altLang="en-US" sz="2400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260085" y="464911"/>
            <a:ext cx="1917092" cy="690574"/>
          </a:xfrm>
          <a:prstGeom prst="rect">
            <a:avLst/>
          </a:prstGeom>
        </p:spPr>
        <p:txBody>
          <a:bodyPr vert="horz" wrap="square" lIns="0" tIns="13335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5" dirty="0"/>
              <a:t>Pointer</a:t>
            </a:r>
            <a:r>
              <a:rPr lang="en-IN" spc="-25" dirty="0"/>
              <a:t>s</a:t>
            </a:r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2059939" y="1509942"/>
            <a:ext cx="8015713" cy="4728216"/>
          </a:xfrm>
          <a:prstGeom prst="rect">
            <a:avLst/>
          </a:prstGeom>
        </p:spPr>
        <p:txBody>
          <a:bodyPr vert="horz" wrap="square" lIns="0" tIns="110489" rIns="0" bIns="0" rtlCol="0">
            <a:spAutoFit/>
          </a:bodyPr>
          <a:lstStyle/>
          <a:p>
            <a:pPr marL="355600" indent="-343535" algn="just">
              <a:spcBef>
                <a:spcPts val="869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variable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holds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memory</a:t>
            </a:r>
            <a:r>
              <a:rPr sz="24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address.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marR="5080" indent="-343535" algn="just">
              <a:spcBef>
                <a:spcPts val="770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address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the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location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another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 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memory.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marR="29845" indent="-343535" algn="just">
              <a:spcBef>
                <a:spcPts val="770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Pointer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an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address </a:t>
            </a:r>
            <a:r>
              <a:rPr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indicates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</a:t>
            </a:r>
            <a:r>
              <a:rPr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 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object.</a:t>
            </a:r>
            <a:endParaRPr lang="en-IN" sz="2400" spc="-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marR="29845" indent="-343535" algn="just">
              <a:spcBef>
                <a:spcPts val="770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lang="en-IN"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most useful, powerful </a:t>
            </a:r>
            <a:r>
              <a:rPr lang="en-IN" sz="2400" spc="-9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IN"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tricky concept in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  </a:t>
            </a:r>
            <a:r>
              <a:rPr lang="en-IN" sz="2400" spc="-9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language.</a:t>
            </a:r>
          </a:p>
          <a:p>
            <a:pPr marL="355600" marR="29845" indent="-343535" algn="just">
              <a:spcBef>
                <a:spcPts val="770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Makes C very</a:t>
            </a:r>
            <a:r>
              <a:rPr lang="en-IN" sz="2400" spc="-9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fast.</a:t>
            </a:r>
          </a:p>
          <a:p>
            <a:pPr marL="355600" marR="29845" indent="-343535" algn="just">
              <a:spcBef>
                <a:spcPts val="770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lang="en-IN"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Direct interaction with</a:t>
            </a:r>
            <a:r>
              <a:rPr lang="en-IN" sz="2400" spc="32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hardware.</a:t>
            </a:r>
          </a:p>
          <a:p>
            <a:pPr marL="355600" marR="29845" indent="-343535" algn="just">
              <a:spcBef>
                <a:spcPts val="770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lang="en-IN"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Solves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very complicated </a:t>
            </a:r>
            <a:r>
              <a:rPr lang="en-IN"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programming  problems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4965" marR="307340" indent="-342900" algn="just">
              <a:spcBef>
                <a:spcPts val="770"/>
              </a:spcBef>
              <a:buFont typeface="Arial" panose="020B0604020202020204" pitchFamily="34" charset="0"/>
              <a:buChar char="•"/>
              <a:tabLst>
                <a:tab pos="356235" algn="l"/>
              </a:tabLst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</a:t>
            </a:r>
            <a:r>
              <a:rPr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pointers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actually </a:t>
            </a:r>
            <a:r>
              <a:rPr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contain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address</a:t>
            </a:r>
            <a:r>
              <a:rPr lang="en-IN"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12065" marR="307340" algn="just">
              <a:spcBef>
                <a:spcPts val="770"/>
              </a:spcBef>
              <a:tabLst>
                <a:tab pos="356235" algn="l"/>
              </a:tabLst>
            </a:pPr>
            <a:r>
              <a:rPr lang="en-IN"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	E</a:t>
            </a:r>
            <a:r>
              <a:rPr sz="2400" spc="-15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xample</a:t>
            </a:r>
            <a:r>
              <a:rPr lang="en-IN"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NULL</a:t>
            </a:r>
            <a:r>
              <a:rPr sz="2400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pointer.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4965" indent="-342900" algn="just">
              <a:spcBef>
                <a:spcPts val="770"/>
              </a:spcBef>
              <a:buFont typeface="Arial" panose="020B0604020202020204" pitchFamily="34" charset="0"/>
              <a:buChar char="•"/>
              <a:tabLst>
                <a:tab pos="356235" algn="l"/>
              </a:tabLst>
            </a:pPr>
            <a:r>
              <a:rPr sz="24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Value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NULL </a:t>
            </a:r>
            <a:r>
              <a:rPr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pointer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sz="2400" spc="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</a:t>
            </a:r>
          </a:p>
        </p:txBody>
      </p:sp>
    </p:spTree>
    <p:extLst>
      <p:ext uri="{BB962C8B-B14F-4D97-AF65-F5344CB8AC3E}">
        <p14:creationId xmlns:p14="http://schemas.microsoft.com/office/powerpoint/2010/main" val="33389222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2281327" y="1976527"/>
          <a:ext cx="1752600" cy="3810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52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FF3300"/>
                      </a:solidFill>
                      <a:prstDash val="solid"/>
                    </a:lnL>
                    <a:lnR w="9525">
                      <a:solidFill>
                        <a:srgbClr val="FF3300"/>
                      </a:solidFill>
                      <a:prstDash val="solid"/>
                    </a:lnR>
                    <a:lnT w="9525">
                      <a:solidFill>
                        <a:srgbClr val="FF33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ADF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FF3300"/>
                      </a:solidFill>
                      <a:prstDash val="solid"/>
                    </a:lnL>
                    <a:lnR w="9525">
                      <a:solidFill>
                        <a:srgbClr val="FF33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ADF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FF3300"/>
                      </a:solidFill>
                      <a:prstDash val="solid"/>
                    </a:lnL>
                    <a:lnR w="9525">
                      <a:solidFill>
                        <a:srgbClr val="FF33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ADF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FF3300"/>
                      </a:solidFill>
                      <a:prstDash val="solid"/>
                    </a:lnL>
                    <a:lnR w="9525">
                      <a:solidFill>
                        <a:srgbClr val="FF33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FF3300"/>
                      </a:solidFill>
                      <a:prstDash val="solid"/>
                    </a:lnB>
                    <a:solidFill>
                      <a:srgbClr val="BADF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FF3300"/>
                      </a:solidFill>
                      <a:prstDash val="solid"/>
                    </a:lnL>
                    <a:lnR w="9525">
                      <a:solidFill>
                        <a:srgbClr val="FF3300"/>
                      </a:solidFill>
                      <a:prstDash val="solid"/>
                    </a:lnR>
                    <a:lnT w="9525">
                      <a:solidFill>
                        <a:srgbClr val="FF33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ADF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FF3300"/>
                      </a:solidFill>
                      <a:prstDash val="solid"/>
                    </a:lnL>
                    <a:lnR w="9525">
                      <a:solidFill>
                        <a:srgbClr val="FF33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ADF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FF3300"/>
                      </a:solidFill>
                      <a:prstDash val="solid"/>
                    </a:lnL>
                    <a:lnR w="9525">
                      <a:solidFill>
                        <a:srgbClr val="FF33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ADF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FF3300"/>
                      </a:solidFill>
                      <a:prstDash val="solid"/>
                    </a:lnL>
                    <a:lnR w="9525">
                      <a:solidFill>
                        <a:srgbClr val="FF33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FF3300"/>
                      </a:solidFill>
                      <a:prstDash val="solid"/>
                    </a:lnB>
                    <a:solidFill>
                      <a:srgbClr val="BADF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FF3300"/>
                      </a:solidFill>
                      <a:prstDash val="solid"/>
                    </a:lnL>
                    <a:lnR w="9525">
                      <a:solidFill>
                        <a:srgbClr val="FF3300"/>
                      </a:solidFill>
                      <a:prstDash val="solid"/>
                    </a:lnR>
                    <a:lnT w="9525">
                      <a:solidFill>
                        <a:srgbClr val="FF33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ADF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FF3300"/>
                      </a:solidFill>
                      <a:prstDash val="solid"/>
                    </a:lnL>
                    <a:lnR w="9525">
                      <a:solidFill>
                        <a:srgbClr val="FF33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ADF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FF3300"/>
                      </a:solidFill>
                      <a:prstDash val="solid"/>
                    </a:lnL>
                    <a:lnR w="9525">
                      <a:solidFill>
                        <a:srgbClr val="FF33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ADF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FF3300"/>
                      </a:solidFill>
                      <a:prstDash val="solid"/>
                    </a:lnL>
                    <a:lnR w="9525">
                      <a:solidFill>
                        <a:srgbClr val="FF33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FF3300"/>
                      </a:solidFill>
                      <a:prstDash val="solid"/>
                    </a:lnB>
                    <a:solidFill>
                      <a:srgbClr val="BADF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FF3300"/>
                      </a:solidFill>
                      <a:prstDash val="solid"/>
                    </a:lnL>
                    <a:lnR w="9525">
                      <a:solidFill>
                        <a:srgbClr val="FF3300"/>
                      </a:solidFill>
                      <a:prstDash val="solid"/>
                    </a:lnR>
                    <a:lnT w="9525">
                      <a:solidFill>
                        <a:srgbClr val="FF33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ADF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FF3300"/>
                      </a:solidFill>
                      <a:prstDash val="solid"/>
                    </a:lnL>
                    <a:lnR w="9525">
                      <a:solidFill>
                        <a:srgbClr val="FF33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ADF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FF3300"/>
                      </a:solidFill>
                      <a:prstDash val="solid"/>
                    </a:lnL>
                    <a:lnR w="9525">
                      <a:solidFill>
                        <a:srgbClr val="FF33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ADF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FF3300"/>
                      </a:solidFill>
                      <a:prstDash val="solid"/>
                    </a:lnL>
                    <a:lnR w="9525">
                      <a:solidFill>
                        <a:srgbClr val="FF33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FF3300"/>
                      </a:solidFill>
                      <a:prstDash val="solid"/>
                    </a:lnB>
                    <a:solidFill>
                      <a:srgbClr val="BADF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FF3300"/>
                      </a:solidFill>
                      <a:prstDash val="solid"/>
                    </a:lnL>
                    <a:lnR w="9525">
                      <a:solidFill>
                        <a:srgbClr val="FF3300"/>
                      </a:solidFill>
                      <a:prstDash val="solid"/>
                    </a:lnR>
                    <a:lnT w="9525">
                      <a:solidFill>
                        <a:srgbClr val="FF33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ADF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FF3300"/>
                      </a:solidFill>
                      <a:prstDash val="solid"/>
                    </a:lnL>
                    <a:lnR w="9525">
                      <a:solidFill>
                        <a:srgbClr val="FF33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ADF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FF3300"/>
                      </a:solidFill>
                      <a:prstDash val="solid"/>
                    </a:lnL>
                    <a:lnR w="9525">
                      <a:solidFill>
                        <a:srgbClr val="FF33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ADF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FF3300"/>
                      </a:solidFill>
                      <a:prstDash val="solid"/>
                    </a:lnL>
                    <a:lnR w="9525">
                      <a:solidFill>
                        <a:srgbClr val="FF33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FF3300"/>
                      </a:solidFill>
                      <a:prstDash val="solid"/>
                    </a:lnB>
                    <a:solidFill>
                      <a:srgbClr val="BADF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</a:tbl>
          </a:graphicData>
        </a:graphic>
      </p:graphicFrame>
      <p:sp>
        <p:nvSpPr>
          <p:cNvPr id="3" name="object 3"/>
          <p:cNvSpPr/>
          <p:nvPr/>
        </p:nvSpPr>
        <p:spPr>
          <a:xfrm>
            <a:off x="5407659" y="2545079"/>
            <a:ext cx="78740" cy="74930"/>
          </a:xfrm>
          <a:custGeom>
            <a:avLst/>
            <a:gdLst/>
            <a:ahLst/>
            <a:cxnLst/>
            <a:rect l="l" t="t" r="r" b="b"/>
            <a:pathLst>
              <a:path w="78739" h="74930">
                <a:moveTo>
                  <a:pt x="7619" y="0"/>
                </a:moveTo>
                <a:lnTo>
                  <a:pt x="0" y="74930"/>
                </a:lnTo>
                <a:lnTo>
                  <a:pt x="78739" y="45720"/>
                </a:lnTo>
                <a:lnTo>
                  <a:pt x="761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114800" y="2433320"/>
            <a:ext cx="1311910" cy="154940"/>
          </a:xfrm>
          <a:custGeom>
            <a:avLst/>
            <a:gdLst/>
            <a:ahLst/>
            <a:cxnLst/>
            <a:rect l="l" t="t" r="r" b="b"/>
            <a:pathLst>
              <a:path w="1311910" h="154939">
                <a:moveTo>
                  <a:pt x="0" y="0"/>
                </a:moveTo>
                <a:lnTo>
                  <a:pt x="0" y="10159"/>
                </a:lnTo>
                <a:lnTo>
                  <a:pt x="1310639" y="154939"/>
                </a:lnTo>
                <a:lnTo>
                  <a:pt x="1311910" y="1460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5786527" y="2128927"/>
          <a:ext cx="4114800" cy="2743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marL="928369">
                        <a:lnSpc>
                          <a:spcPct val="100000"/>
                        </a:lnSpc>
                        <a:spcBef>
                          <a:spcPts val="1900"/>
                        </a:spcBef>
                      </a:pPr>
                      <a:r>
                        <a:rPr sz="2800" spc="-5" dirty="0">
                          <a:latin typeface="Arial"/>
                          <a:cs typeface="Arial"/>
                        </a:rPr>
                        <a:t>X1000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24130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ADF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928369">
                        <a:lnSpc>
                          <a:spcPct val="100000"/>
                        </a:lnSpc>
                        <a:spcBef>
                          <a:spcPts val="1370"/>
                        </a:spcBef>
                      </a:pPr>
                      <a:r>
                        <a:rPr sz="2800" spc="-5" dirty="0">
                          <a:latin typeface="Arial"/>
                          <a:cs typeface="Arial"/>
                        </a:rPr>
                        <a:t>X1001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173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ADF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928369">
                        <a:lnSpc>
                          <a:spcPct val="100000"/>
                        </a:lnSpc>
                        <a:spcBef>
                          <a:spcPts val="840"/>
                        </a:spcBef>
                      </a:pPr>
                      <a:r>
                        <a:rPr sz="2800" spc="-5" dirty="0">
                          <a:latin typeface="Arial"/>
                          <a:cs typeface="Arial"/>
                        </a:rPr>
                        <a:t>X1002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10668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ADF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928369">
                        <a:lnSpc>
                          <a:spcPts val="3040"/>
                        </a:lnSpc>
                      </a:pPr>
                      <a:r>
                        <a:rPr sz="2800" spc="-5" dirty="0">
                          <a:latin typeface="Arial"/>
                          <a:cs typeface="Arial"/>
                        </a:rPr>
                        <a:t>X1003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ADF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922252" y="511810"/>
            <a:ext cx="8382000" cy="695960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b="1" spc="-5" dirty="0">
                <a:latin typeface="Arial"/>
                <a:cs typeface="Arial"/>
              </a:rPr>
              <a:t>H</a:t>
            </a:r>
            <a:r>
              <a:rPr b="1" spc="-5" dirty="0">
                <a:latin typeface="Arial"/>
                <a:cs typeface="Arial"/>
              </a:rPr>
              <a:t>o</a:t>
            </a:r>
            <a:r>
              <a:rPr lang="en-IN" b="1" spc="-5" dirty="0">
                <a:latin typeface="Arial"/>
                <a:cs typeface="Arial"/>
              </a:rPr>
              <a:t>w</a:t>
            </a:r>
            <a:r>
              <a:rPr b="1" spc="-5" dirty="0">
                <a:latin typeface="Arial"/>
                <a:cs typeface="Arial"/>
              </a:rPr>
              <a:t> does </a:t>
            </a:r>
            <a:r>
              <a:rPr b="1" dirty="0">
                <a:latin typeface="Arial"/>
                <a:cs typeface="Arial"/>
              </a:rPr>
              <a:t>a </a:t>
            </a:r>
            <a:r>
              <a:rPr b="1" spc="-5" dirty="0">
                <a:latin typeface="Arial"/>
                <a:cs typeface="Arial"/>
              </a:rPr>
              <a:t>memory look like</a:t>
            </a:r>
            <a:r>
              <a:rPr b="1" spc="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?</a:t>
            </a:r>
            <a:endParaRPr dirty="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7461657" y="5023257"/>
            <a:ext cx="163014" cy="16301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7461657" y="5251857"/>
            <a:ext cx="163014" cy="16301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461657" y="5480457"/>
            <a:ext cx="163014" cy="16301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4116071" y="1384300"/>
            <a:ext cx="1106805" cy="4098290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12700" marR="5080">
              <a:lnSpc>
                <a:spcPts val="2020"/>
              </a:lnSpc>
              <a:spcBef>
                <a:spcPts val="280"/>
              </a:spcBef>
            </a:pPr>
            <a:r>
              <a:rPr b="1" spc="-5" dirty="0">
                <a:solidFill>
                  <a:srgbClr val="FF3300"/>
                </a:solidFill>
                <a:latin typeface="Arial"/>
                <a:cs typeface="Arial"/>
              </a:rPr>
              <a:t>Address  </a:t>
            </a:r>
            <a:r>
              <a:rPr b="1" dirty="0">
                <a:solidFill>
                  <a:srgbClr val="FF3300"/>
                </a:solidFill>
                <a:latin typeface="Arial"/>
                <a:cs typeface="Arial"/>
              </a:rPr>
              <a:t>L</a:t>
            </a:r>
            <a:r>
              <a:rPr b="1" spc="10" dirty="0">
                <a:solidFill>
                  <a:srgbClr val="FF3300"/>
                </a:solidFill>
                <a:latin typeface="Arial"/>
                <a:cs typeface="Arial"/>
              </a:rPr>
              <a:t>o</a:t>
            </a:r>
            <a:r>
              <a:rPr b="1" spc="-15" dirty="0">
                <a:solidFill>
                  <a:srgbClr val="FF3300"/>
                </a:solidFill>
                <a:latin typeface="Arial"/>
                <a:cs typeface="Arial"/>
              </a:rPr>
              <a:t>c</a:t>
            </a:r>
            <a:r>
              <a:rPr b="1" spc="-5" dirty="0">
                <a:solidFill>
                  <a:srgbClr val="FF3300"/>
                </a:solidFill>
                <a:latin typeface="Arial"/>
                <a:cs typeface="Arial"/>
              </a:rPr>
              <a:t>a</a:t>
            </a:r>
            <a:r>
              <a:rPr b="1" dirty="0">
                <a:solidFill>
                  <a:srgbClr val="FF3300"/>
                </a:solidFill>
                <a:latin typeface="Arial"/>
                <a:cs typeface="Arial"/>
              </a:rPr>
              <a:t>t</a:t>
            </a:r>
            <a:r>
              <a:rPr b="1" spc="-5" dirty="0">
                <a:solidFill>
                  <a:srgbClr val="FF3300"/>
                </a:solidFill>
                <a:latin typeface="Arial"/>
                <a:cs typeface="Arial"/>
              </a:rPr>
              <a:t>i</a:t>
            </a:r>
            <a:r>
              <a:rPr b="1" spc="10" dirty="0">
                <a:solidFill>
                  <a:srgbClr val="FF3300"/>
                </a:solidFill>
                <a:latin typeface="Arial"/>
                <a:cs typeface="Arial"/>
              </a:rPr>
              <a:t>o</a:t>
            </a:r>
            <a:r>
              <a:rPr b="1" dirty="0">
                <a:solidFill>
                  <a:srgbClr val="FF3300"/>
                </a:solidFill>
                <a:latin typeface="Arial"/>
                <a:cs typeface="Arial"/>
              </a:rPr>
              <a:t>ns</a:t>
            </a:r>
            <a:endParaRPr>
              <a:latin typeface="Arial"/>
              <a:cs typeface="Arial"/>
            </a:endParaRPr>
          </a:p>
          <a:p>
            <a:pPr marL="88900">
              <a:spcBef>
                <a:spcPts val="580"/>
              </a:spcBef>
            </a:pPr>
            <a:r>
              <a:rPr spc="-10" dirty="0">
                <a:latin typeface="Arial"/>
                <a:cs typeface="Arial"/>
              </a:rPr>
              <a:t>X1000</a:t>
            </a:r>
            <a:endParaRPr>
              <a:latin typeface="Arial"/>
              <a:cs typeface="Arial"/>
            </a:endParaRPr>
          </a:p>
          <a:p>
            <a:pPr marL="88900" marR="350520" algn="just">
              <a:lnSpc>
                <a:spcPct val="290600"/>
              </a:lnSpc>
            </a:pPr>
            <a:r>
              <a:rPr spc="-5" dirty="0">
                <a:latin typeface="Arial"/>
                <a:cs typeface="Arial"/>
              </a:rPr>
              <a:t>X1</a:t>
            </a:r>
            <a:r>
              <a:rPr spc="-15" dirty="0">
                <a:latin typeface="Arial"/>
                <a:cs typeface="Arial"/>
              </a:rPr>
              <a:t>0</a:t>
            </a:r>
            <a:r>
              <a:rPr spc="-5" dirty="0">
                <a:latin typeface="Arial"/>
                <a:cs typeface="Arial"/>
              </a:rPr>
              <a:t>0</a:t>
            </a:r>
            <a:r>
              <a:rPr dirty="0">
                <a:latin typeface="Arial"/>
                <a:cs typeface="Arial"/>
              </a:rPr>
              <a:t>4  </a:t>
            </a:r>
            <a:r>
              <a:rPr spc="-5" dirty="0">
                <a:latin typeface="Arial"/>
                <a:cs typeface="Arial"/>
              </a:rPr>
              <a:t>X1</a:t>
            </a:r>
            <a:r>
              <a:rPr spc="-15" dirty="0">
                <a:latin typeface="Arial"/>
                <a:cs typeface="Arial"/>
              </a:rPr>
              <a:t>0</a:t>
            </a:r>
            <a:r>
              <a:rPr spc="-5" dirty="0">
                <a:latin typeface="Arial"/>
                <a:cs typeface="Arial"/>
              </a:rPr>
              <a:t>0</a:t>
            </a:r>
            <a:r>
              <a:rPr dirty="0">
                <a:latin typeface="Arial"/>
                <a:cs typeface="Arial"/>
              </a:rPr>
              <a:t>8  </a:t>
            </a:r>
            <a:r>
              <a:rPr spc="-10" dirty="0">
                <a:latin typeface="Arial"/>
                <a:cs typeface="Arial"/>
              </a:rPr>
              <a:t>X100c  </a:t>
            </a:r>
            <a:r>
              <a:rPr spc="-5" dirty="0">
                <a:latin typeface="Arial"/>
                <a:cs typeface="Arial"/>
              </a:rPr>
              <a:t>x1010</a:t>
            </a:r>
            <a:endParaRPr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75644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416810" y="360679"/>
            <a:ext cx="720217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4400" b="1" spc="-5" dirty="0">
                <a:latin typeface="Arial"/>
                <a:cs typeface="Arial"/>
              </a:rPr>
              <a:t>Operators used in</a:t>
            </a:r>
            <a:r>
              <a:rPr sz="4400" b="1" spc="-10" dirty="0">
                <a:latin typeface="Arial"/>
                <a:cs typeface="Arial"/>
              </a:rPr>
              <a:t> </a:t>
            </a:r>
            <a:r>
              <a:rPr sz="4400" b="1" spc="-5" dirty="0">
                <a:latin typeface="Arial"/>
                <a:cs typeface="Arial"/>
              </a:rPr>
              <a:t>Pointers</a:t>
            </a:r>
            <a:endParaRPr sz="44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316470" y="1626870"/>
            <a:ext cx="8623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5" dirty="0">
                <a:latin typeface="Arial"/>
                <a:cs typeface="Arial"/>
              </a:rPr>
              <a:t>Ad</a:t>
            </a:r>
            <a:r>
              <a:rPr spc="-15" dirty="0">
                <a:latin typeface="Arial"/>
                <a:cs typeface="Arial"/>
              </a:rPr>
              <a:t>d</a:t>
            </a:r>
            <a:r>
              <a:rPr dirty="0">
                <a:latin typeface="Arial"/>
                <a:cs typeface="Arial"/>
              </a:rPr>
              <a:t>r</a:t>
            </a:r>
            <a:r>
              <a:rPr spc="-5" dirty="0">
                <a:latin typeface="Arial"/>
                <a:cs typeface="Arial"/>
              </a:rPr>
              <a:t>e</a:t>
            </a:r>
            <a:r>
              <a:rPr dirty="0">
                <a:latin typeface="Arial"/>
                <a:cs typeface="Arial"/>
              </a:rPr>
              <a:t>ss</a:t>
            </a:r>
            <a:endParaRPr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310890" y="1612900"/>
            <a:ext cx="14573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dirty="0">
                <a:latin typeface="Arial"/>
                <a:cs typeface="Arial"/>
              </a:rPr>
              <a:t>D</a:t>
            </a:r>
            <a:r>
              <a:rPr spc="-15" dirty="0">
                <a:latin typeface="Arial"/>
                <a:cs typeface="Arial"/>
              </a:rPr>
              <a:t>e</a:t>
            </a:r>
            <a:r>
              <a:rPr dirty="0">
                <a:latin typeface="Arial"/>
                <a:cs typeface="Arial"/>
              </a:rPr>
              <a:t>r</a:t>
            </a:r>
            <a:r>
              <a:rPr spc="-5" dirty="0">
                <a:latin typeface="Arial"/>
                <a:cs typeface="Arial"/>
              </a:rPr>
              <a:t>efe</a:t>
            </a:r>
            <a:r>
              <a:rPr dirty="0">
                <a:latin typeface="Arial"/>
                <a:cs typeface="Arial"/>
              </a:rPr>
              <a:t>r</a:t>
            </a:r>
            <a:r>
              <a:rPr spc="-15" dirty="0">
                <a:latin typeface="Arial"/>
                <a:cs typeface="Arial"/>
              </a:rPr>
              <a:t>e</a:t>
            </a:r>
            <a:r>
              <a:rPr spc="-5" dirty="0">
                <a:latin typeface="Arial"/>
                <a:cs typeface="Arial"/>
              </a:rPr>
              <a:t>n</a:t>
            </a:r>
            <a:r>
              <a:rPr dirty="0">
                <a:latin typeface="Arial"/>
                <a:cs typeface="Arial"/>
              </a:rPr>
              <a:t>ci</a:t>
            </a:r>
            <a:r>
              <a:rPr spc="-15" dirty="0">
                <a:latin typeface="Arial"/>
                <a:cs typeface="Arial"/>
              </a:rPr>
              <a:t>n</a:t>
            </a:r>
            <a:r>
              <a:rPr dirty="0">
                <a:latin typeface="Arial"/>
                <a:cs typeface="Arial"/>
              </a:rPr>
              <a:t>g</a:t>
            </a:r>
            <a:endParaRPr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952723" y="465827"/>
            <a:ext cx="1758950" cy="4845050"/>
          </a:xfrm>
          <a:prstGeom prst="rect">
            <a:avLst/>
          </a:prstGeom>
        </p:spPr>
        <p:txBody>
          <a:bodyPr vert="horz" wrap="square" lIns="0" tIns="1532890" rIns="0" bIns="0" rtlCol="0">
            <a:spAutoFit/>
          </a:bodyPr>
          <a:lstStyle/>
          <a:p>
            <a:pPr marL="12700">
              <a:spcBef>
                <a:spcPts val="12070"/>
              </a:spcBef>
            </a:pPr>
            <a:r>
              <a:rPr sz="18900" b="1" dirty="0">
                <a:latin typeface="Arial"/>
                <a:cs typeface="Arial"/>
              </a:rPr>
              <a:t>&amp;</a:t>
            </a:r>
            <a:endParaRPr sz="18900" dirty="0">
              <a:latin typeface="Arial"/>
              <a:cs typeface="Arial"/>
            </a:endParaRPr>
          </a:p>
          <a:p>
            <a:pPr marL="292100">
              <a:spcBef>
                <a:spcPts val="1140"/>
              </a:spcBef>
            </a:pPr>
            <a:r>
              <a:rPr spc="-5" dirty="0">
                <a:latin typeface="Arial"/>
                <a:cs typeface="Arial"/>
              </a:rPr>
              <a:t>(Address</a:t>
            </a:r>
            <a:r>
              <a:rPr spc="-20" dirty="0">
                <a:latin typeface="Arial"/>
                <a:cs typeface="Arial"/>
              </a:rPr>
              <a:t> </a:t>
            </a:r>
            <a:r>
              <a:rPr spc="-5" dirty="0">
                <a:latin typeface="Arial"/>
                <a:cs typeface="Arial"/>
              </a:rPr>
              <a:t>of)</a:t>
            </a:r>
            <a:endParaRPr dirty="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144586" y="-1040667"/>
            <a:ext cx="2715883" cy="804579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50400" b="1" spc="-5834" baseline="-7936" dirty="0">
                <a:solidFill>
                  <a:schemeClr val="tx1"/>
                </a:solidFill>
                <a:latin typeface="Arial"/>
                <a:cs typeface="Arial"/>
              </a:rPr>
              <a:t>*</a:t>
            </a:r>
            <a:br>
              <a:rPr lang="en-IN" sz="1800" dirty="0">
                <a:solidFill>
                  <a:schemeClr val="tx1"/>
                </a:solidFill>
                <a:latin typeface="Arial"/>
                <a:cs typeface="Arial"/>
              </a:rPr>
            </a:br>
            <a:endParaRPr sz="1800" dirty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851732" y="4941545"/>
            <a:ext cx="145636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92100">
              <a:spcBef>
                <a:spcPts val="1140"/>
              </a:spcBef>
            </a:pPr>
            <a:r>
              <a:rPr lang="en-IN" spc="-5" dirty="0">
                <a:latin typeface="Arial"/>
                <a:cs typeface="Arial"/>
              </a:rPr>
              <a:t>(Value at)</a:t>
            </a:r>
            <a:endParaRPr lang="en-IN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123200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267324" y="272624"/>
            <a:ext cx="1972310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4000" b="1" spc="-35" dirty="0">
                <a:latin typeface="Arial"/>
                <a:cs typeface="Arial"/>
              </a:rPr>
              <a:t>Int</a:t>
            </a:r>
            <a:r>
              <a:rPr sz="4000" b="1" spc="-135" dirty="0">
                <a:latin typeface="Arial"/>
                <a:cs typeface="Arial"/>
              </a:rPr>
              <a:t> </a:t>
            </a:r>
            <a:r>
              <a:rPr sz="4000" b="1" spc="-35" dirty="0">
                <a:latin typeface="Arial"/>
                <a:cs typeface="Arial"/>
              </a:rPr>
              <a:t>i=3;</a:t>
            </a:r>
            <a:endParaRPr sz="4000" dirty="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124200" y="1295400"/>
            <a:ext cx="5791200" cy="0"/>
          </a:xfrm>
          <a:custGeom>
            <a:avLst/>
            <a:gdLst/>
            <a:ahLst/>
            <a:cxnLst/>
            <a:rect l="l" t="t" r="r" b="b"/>
            <a:pathLst>
              <a:path w="5791200">
                <a:moveTo>
                  <a:pt x="0" y="0"/>
                </a:moveTo>
                <a:lnTo>
                  <a:pt x="5791200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019800" y="838200"/>
            <a:ext cx="0" cy="457200"/>
          </a:xfrm>
          <a:custGeom>
            <a:avLst/>
            <a:gdLst/>
            <a:ahLst/>
            <a:cxnLst/>
            <a:rect l="l" t="t" r="r" b="b"/>
            <a:pathLst>
              <a:path h="457200">
                <a:moveTo>
                  <a:pt x="0" y="0"/>
                </a:moveTo>
                <a:lnTo>
                  <a:pt x="0" y="45720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086100" y="16764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76200" y="0"/>
                </a:moveTo>
                <a:lnTo>
                  <a:pt x="0" y="0"/>
                </a:lnTo>
                <a:lnTo>
                  <a:pt x="38100" y="76200"/>
                </a:lnTo>
                <a:lnTo>
                  <a:pt x="762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124200" y="1295400"/>
            <a:ext cx="0" cy="396240"/>
          </a:xfrm>
          <a:custGeom>
            <a:avLst/>
            <a:gdLst/>
            <a:ahLst/>
            <a:cxnLst/>
            <a:rect l="l" t="t" r="r" b="b"/>
            <a:pathLst>
              <a:path h="396239">
                <a:moveTo>
                  <a:pt x="0" y="0"/>
                </a:moveTo>
                <a:lnTo>
                  <a:pt x="0" y="396239"/>
                </a:lnTo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8877300" y="16764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76200" y="0"/>
                </a:moveTo>
                <a:lnTo>
                  <a:pt x="0" y="0"/>
                </a:lnTo>
                <a:lnTo>
                  <a:pt x="38100" y="76200"/>
                </a:lnTo>
                <a:lnTo>
                  <a:pt x="762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8915400" y="1295400"/>
            <a:ext cx="0" cy="396240"/>
          </a:xfrm>
          <a:custGeom>
            <a:avLst/>
            <a:gdLst/>
            <a:ahLst/>
            <a:cxnLst/>
            <a:rect l="l" t="t" r="r" b="b"/>
            <a:pathLst>
              <a:path h="396239">
                <a:moveTo>
                  <a:pt x="0" y="0"/>
                </a:moveTo>
                <a:lnTo>
                  <a:pt x="0" y="396239"/>
                </a:lnTo>
              </a:path>
            </a:pathLst>
          </a:custGeom>
          <a:ln w="101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2211069" y="1905000"/>
            <a:ext cx="227838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800" b="1" spc="-5" dirty="0">
                <a:latin typeface="Arial"/>
                <a:cs typeface="Arial"/>
              </a:rPr>
              <a:t>Address </a:t>
            </a:r>
            <a:r>
              <a:rPr sz="2800" b="1" spc="-10" dirty="0">
                <a:latin typeface="Arial"/>
                <a:cs typeface="Arial"/>
              </a:rPr>
              <a:t>of</a:t>
            </a:r>
            <a:r>
              <a:rPr sz="2800" b="1" spc="-70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‘i’</a:t>
            </a:r>
            <a:endParaRPr sz="28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656830" y="1824990"/>
            <a:ext cx="205930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3200" b="1" dirty="0">
                <a:latin typeface="Arial"/>
                <a:cs typeface="Arial"/>
              </a:rPr>
              <a:t>Value </a:t>
            </a:r>
            <a:r>
              <a:rPr sz="3200" b="1" spc="-5" dirty="0">
                <a:latin typeface="Arial"/>
                <a:cs typeface="Arial"/>
              </a:rPr>
              <a:t>of</a:t>
            </a:r>
            <a:r>
              <a:rPr sz="3200" b="1" spc="-90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‘i’</a:t>
            </a:r>
            <a:endParaRPr sz="3200">
              <a:latin typeface="Arial"/>
              <a:cs typeface="Arial"/>
            </a:endParaRPr>
          </a:p>
        </p:txBody>
      </p:sp>
      <p:graphicFrame>
        <p:nvGraphicFramePr>
          <p:cNvPr id="11" name="object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6471922"/>
              </p:ext>
            </p:extLst>
          </p:nvPr>
        </p:nvGraphicFramePr>
        <p:xfrm>
          <a:off x="2058670" y="3608069"/>
          <a:ext cx="8229600" cy="1295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2954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ADFE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ADFE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ADFE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2250" dirty="0">
                        <a:latin typeface="Times New Roman"/>
                        <a:cs typeface="Times New Roman"/>
                      </a:endParaRPr>
                    </a:p>
                    <a:p>
                      <a:pPr marR="141605" algn="ctr">
                        <a:lnSpc>
                          <a:spcPct val="100000"/>
                        </a:lnSpc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3</a:t>
                      </a:r>
                    </a:p>
                    <a:p>
                      <a:pPr marR="80010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(Value </a:t>
                      </a:r>
                      <a:r>
                        <a:rPr sz="1800" spc="-10" dirty="0">
                          <a:latin typeface="Arial"/>
                          <a:cs typeface="Arial"/>
                        </a:rPr>
                        <a:t>of</a:t>
                      </a:r>
                      <a:r>
                        <a:rPr sz="1800" spc="-5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i)</a:t>
                      </a:r>
                    </a:p>
                  </a:txBody>
                  <a:tcPr marL="0" marR="0" marT="127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ADFE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ADFE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ADF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2" name="object 12"/>
          <p:cNvSpPr txBox="1"/>
          <p:nvPr/>
        </p:nvSpPr>
        <p:spPr>
          <a:xfrm>
            <a:off x="2334715" y="5099721"/>
            <a:ext cx="6851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n-IN" spc="-10" dirty="0">
                <a:latin typeface="Arial"/>
                <a:cs typeface="Arial"/>
              </a:rPr>
              <a:t>x</a:t>
            </a:r>
            <a:r>
              <a:rPr spc="-10" dirty="0">
                <a:latin typeface="Arial"/>
                <a:cs typeface="Arial"/>
              </a:rPr>
              <a:t>1000</a:t>
            </a:r>
            <a:endParaRPr dirty="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281568" y="5075834"/>
            <a:ext cx="6470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dirty="0">
                <a:latin typeface="Arial"/>
                <a:cs typeface="Arial"/>
              </a:rPr>
              <a:t>x</a:t>
            </a:r>
            <a:r>
              <a:rPr spc="-5" dirty="0">
                <a:latin typeface="Arial"/>
                <a:cs typeface="Arial"/>
              </a:rPr>
              <a:t>1</a:t>
            </a:r>
            <a:r>
              <a:rPr spc="-15" dirty="0">
                <a:latin typeface="Arial"/>
                <a:cs typeface="Arial"/>
              </a:rPr>
              <a:t>0</a:t>
            </a:r>
            <a:r>
              <a:rPr spc="-5" dirty="0">
                <a:latin typeface="Arial"/>
                <a:cs typeface="Arial"/>
              </a:rPr>
              <a:t>1</a:t>
            </a:r>
            <a:r>
              <a:rPr dirty="0">
                <a:latin typeface="Arial"/>
                <a:cs typeface="Arial"/>
              </a:rPr>
              <a:t>4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6416040" y="2953792"/>
            <a:ext cx="823594" cy="6680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930"/>
              </a:lnSpc>
              <a:spcBef>
                <a:spcPts val="100"/>
              </a:spcBef>
            </a:pPr>
            <a:r>
              <a:rPr dirty="0">
                <a:latin typeface="Arial"/>
                <a:cs typeface="Arial"/>
              </a:rPr>
              <a:t>v</a:t>
            </a:r>
            <a:r>
              <a:rPr spc="-5" dirty="0">
                <a:latin typeface="Arial"/>
                <a:cs typeface="Arial"/>
              </a:rPr>
              <a:t>a</a:t>
            </a:r>
            <a:r>
              <a:rPr dirty="0">
                <a:latin typeface="Arial"/>
                <a:cs typeface="Arial"/>
              </a:rPr>
              <a:t>r</a:t>
            </a:r>
            <a:r>
              <a:rPr spc="-5" dirty="0">
                <a:latin typeface="Arial"/>
                <a:cs typeface="Arial"/>
              </a:rPr>
              <a:t>i</a:t>
            </a:r>
            <a:r>
              <a:rPr spc="-15" dirty="0">
                <a:latin typeface="Arial"/>
                <a:cs typeface="Arial"/>
              </a:rPr>
              <a:t>ab</a:t>
            </a:r>
            <a:r>
              <a:rPr dirty="0">
                <a:latin typeface="Arial"/>
                <a:cs typeface="Arial"/>
              </a:rPr>
              <a:t>le</a:t>
            </a:r>
          </a:p>
          <a:p>
            <a:pPr marR="128905" algn="ctr">
              <a:lnSpc>
                <a:spcPts val="3130"/>
              </a:lnSpc>
            </a:pPr>
            <a:r>
              <a:rPr sz="2800" dirty="0">
                <a:latin typeface="Arial"/>
                <a:cs typeface="Arial"/>
              </a:rPr>
              <a:t>i</a:t>
            </a:r>
          </a:p>
        </p:txBody>
      </p:sp>
      <p:sp>
        <p:nvSpPr>
          <p:cNvPr id="15" name="object 15"/>
          <p:cNvSpPr/>
          <p:nvPr/>
        </p:nvSpPr>
        <p:spPr>
          <a:xfrm>
            <a:off x="6777991" y="5637530"/>
            <a:ext cx="91439" cy="22986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2492602" y="2222743"/>
            <a:ext cx="1761489" cy="936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6000" b="1" spc="5" dirty="0">
                <a:latin typeface="Arial"/>
                <a:cs typeface="Arial"/>
              </a:rPr>
              <a:t>‘</a:t>
            </a:r>
            <a:r>
              <a:rPr sz="6000" b="1" spc="-20" dirty="0">
                <a:latin typeface="Arial"/>
                <a:cs typeface="Arial"/>
              </a:rPr>
              <a:t>&amp;</a:t>
            </a:r>
            <a:r>
              <a:rPr sz="6000" b="1" spc="-10" dirty="0">
                <a:latin typeface="Arial"/>
                <a:cs typeface="Arial"/>
              </a:rPr>
              <a:t>i’</a:t>
            </a:r>
            <a:endParaRPr sz="6000" dirty="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8011045" y="2251349"/>
            <a:ext cx="1499870" cy="936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6000" b="1" spc="-10" dirty="0">
                <a:latin typeface="Arial"/>
                <a:cs typeface="Arial"/>
              </a:rPr>
              <a:t>‘</a:t>
            </a:r>
            <a:r>
              <a:rPr sz="6000" b="1" spc="-5" dirty="0">
                <a:latin typeface="Arial"/>
                <a:cs typeface="Arial"/>
              </a:rPr>
              <a:t>*</a:t>
            </a:r>
            <a:r>
              <a:rPr sz="6000" b="1" spc="-125" dirty="0">
                <a:latin typeface="Arial"/>
                <a:cs typeface="Arial"/>
              </a:rPr>
              <a:t>i</a:t>
            </a:r>
            <a:r>
              <a:rPr sz="6000" b="1" dirty="0">
                <a:latin typeface="Arial"/>
                <a:cs typeface="Arial"/>
              </a:rPr>
              <a:t>’</a:t>
            </a:r>
            <a:endParaRPr sz="6000" dirty="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425352" y="5099721"/>
            <a:ext cx="5350510" cy="130548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6065">
              <a:spcBef>
                <a:spcPts val="100"/>
              </a:spcBef>
              <a:tabLst>
                <a:tab pos="1654175" algn="l"/>
                <a:tab pos="2978785" algn="l"/>
                <a:tab pos="4355465" algn="l"/>
              </a:tabLst>
            </a:pPr>
            <a:r>
              <a:rPr spc="-5" dirty="0">
                <a:latin typeface="Arial"/>
                <a:cs typeface="Arial"/>
              </a:rPr>
              <a:t>x1004	x1008	x100c	</a:t>
            </a:r>
            <a:r>
              <a:rPr spc="-10" dirty="0">
                <a:latin typeface="Arial"/>
                <a:cs typeface="Arial"/>
              </a:rPr>
              <a:t>x1010</a:t>
            </a:r>
            <a:endParaRPr dirty="0">
              <a:latin typeface="Arial"/>
              <a:cs typeface="Arial"/>
            </a:endParaRPr>
          </a:p>
          <a:p>
            <a:pPr>
              <a:spcBef>
                <a:spcPts val="50"/>
              </a:spcBef>
            </a:pPr>
            <a:endParaRPr sz="2250" dirty="0">
              <a:latin typeface="Times New Roman"/>
              <a:cs typeface="Times New Roman"/>
            </a:endParaRPr>
          </a:p>
          <a:p>
            <a:pPr marL="3260090"/>
            <a:r>
              <a:rPr spc="-5" dirty="0">
                <a:latin typeface="Arial"/>
                <a:cs typeface="Arial"/>
              </a:rPr>
              <a:t>Address of</a:t>
            </a:r>
            <a:r>
              <a:rPr spc="-1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i</a:t>
            </a:r>
          </a:p>
          <a:p>
            <a:pPr marL="12700">
              <a:spcBef>
                <a:spcPts val="840"/>
              </a:spcBef>
            </a:pPr>
            <a:r>
              <a:rPr spc="-5" dirty="0">
                <a:latin typeface="Arial"/>
                <a:cs typeface="Arial"/>
              </a:rPr>
              <a:t>The value ‘3’ is saved </a:t>
            </a:r>
            <a:r>
              <a:rPr dirty="0">
                <a:latin typeface="Arial"/>
                <a:cs typeface="Arial"/>
              </a:rPr>
              <a:t>in </a:t>
            </a:r>
            <a:r>
              <a:rPr spc="-5" dirty="0">
                <a:latin typeface="Arial"/>
                <a:cs typeface="Arial"/>
              </a:rPr>
              <a:t>the memory location</a:t>
            </a:r>
            <a:r>
              <a:rPr spc="-55" dirty="0">
                <a:latin typeface="Arial"/>
                <a:cs typeface="Arial"/>
              </a:rPr>
              <a:t> </a:t>
            </a:r>
            <a:r>
              <a:rPr spc="-5" dirty="0">
                <a:latin typeface="Arial"/>
                <a:cs typeface="Arial"/>
              </a:rPr>
              <a:t>‘x100c’</a:t>
            </a:r>
            <a:endParaRPr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483820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48723" y="990696"/>
            <a:ext cx="10715783" cy="5515997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355600" indent="-343535">
              <a:spcBef>
                <a:spcPts val="865"/>
              </a:spcBef>
              <a:buFont typeface="Wingdings"/>
              <a:buChar char=""/>
              <a:tabLst>
                <a:tab pos="356235" algn="l"/>
              </a:tabLst>
            </a:pP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</a:t>
            </a:r>
            <a:r>
              <a:rPr sz="22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 </a:t>
            </a:r>
            <a:r>
              <a:rPr sz="2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write </a:t>
            </a:r>
            <a:r>
              <a:rPr sz="2200" spc="-15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sz="2200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*,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compiler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assumes </a:t>
            </a:r>
            <a:r>
              <a:rPr sz="2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</a:t>
            </a:r>
            <a:r>
              <a:rPr sz="22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any </a:t>
            </a:r>
            <a:r>
              <a:rPr sz="2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address that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 </a:t>
            </a:r>
            <a:r>
              <a:rPr sz="2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holds </a:t>
            </a:r>
            <a:r>
              <a:rPr sz="2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points </a:t>
            </a:r>
            <a:r>
              <a:rPr sz="22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sz="22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</a:t>
            </a:r>
            <a:r>
              <a:rPr sz="22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integer</a:t>
            </a:r>
            <a:r>
              <a:rPr sz="2200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type.</a:t>
            </a:r>
            <a:endParaRPr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47040" indent="-434975">
              <a:spcBef>
                <a:spcPts val="770"/>
              </a:spcBef>
              <a:buFont typeface="Wingdings"/>
              <a:buChar char=""/>
              <a:tabLst>
                <a:tab pos="447675" algn="l"/>
              </a:tabLst>
            </a:pP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Eg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:- </a:t>
            </a:r>
            <a:r>
              <a:rPr lang="en-IN" sz="2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IN" sz="2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count, *m;</a:t>
            </a:r>
          </a:p>
          <a:p>
            <a:pPr marL="12065">
              <a:spcBef>
                <a:spcPts val="770"/>
              </a:spcBef>
              <a:tabLst>
                <a:tab pos="447675" algn="l"/>
              </a:tabLst>
            </a:pPr>
            <a:r>
              <a:rPr lang="en-IN" sz="2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	 </a:t>
            </a:r>
            <a:r>
              <a:rPr sz="2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m=</a:t>
            </a:r>
            <a:r>
              <a:rPr sz="2200" spc="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1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&amp;count;</a:t>
            </a:r>
            <a:endParaRPr sz="22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69900" marR="173990" lvl="1" indent="91440">
              <a:spcBef>
                <a:spcPts val="765"/>
              </a:spcBef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 means memory </a:t>
            </a:r>
            <a:r>
              <a:rPr sz="2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address </a:t>
            </a:r>
            <a:r>
              <a:rPr sz="22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sz="2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count </a:t>
            </a:r>
            <a:r>
              <a:rPr sz="2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variable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</a:t>
            </a:r>
            <a:r>
              <a:rPr sz="22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stored </a:t>
            </a:r>
            <a:r>
              <a:rPr sz="22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into</a:t>
            </a:r>
            <a:r>
              <a:rPr sz="2200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m.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 is unary </a:t>
            </a:r>
            <a:r>
              <a:rPr sz="22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operator </a:t>
            </a:r>
            <a:r>
              <a:rPr sz="2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returns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memory </a:t>
            </a:r>
            <a:r>
              <a:rPr sz="2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address.</a:t>
            </a:r>
            <a:r>
              <a:rPr lang="en-IN" sz="2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i.e. &amp; </a:t>
            </a:r>
            <a:r>
              <a:rPr sz="2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(ampersand)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</a:t>
            </a:r>
            <a:r>
              <a:rPr sz="2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returning 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address.</a:t>
            </a:r>
            <a:endParaRPr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47040" indent="-434975">
              <a:spcBef>
                <a:spcPts val="765"/>
              </a:spcBef>
              <a:buFont typeface="Wingdings"/>
              <a:buChar char=""/>
              <a:tabLst>
                <a:tab pos="447675" algn="l"/>
              </a:tabLst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 means </a:t>
            </a:r>
            <a:r>
              <a:rPr sz="22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 </a:t>
            </a:r>
            <a:r>
              <a:rPr sz="2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receives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2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address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2200" spc="-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count.</a:t>
            </a:r>
            <a:endParaRPr lang="en-IN" sz="2200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47040" indent="-434975">
              <a:spcBef>
                <a:spcPts val="765"/>
              </a:spcBef>
              <a:buFont typeface="Wingdings"/>
              <a:buChar char=""/>
              <a:tabLst>
                <a:tab pos="447675" algn="l"/>
              </a:tabLst>
            </a:pPr>
            <a:r>
              <a:rPr lang="en-IN" sz="2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Suppose, </a:t>
            </a:r>
            <a:r>
              <a:rPr lang="en-IN" sz="2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count </a:t>
            </a:r>
            <a:r>
              <a:rPr lang="en-IN" sz="2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  a</a:t>
            </a:r>
            <a:r>
              <a:rPr lang="en-IN" sz="2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ddress 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2000 </a:t>
            </a:r>
            <a:r>
              <a:rPr lang="en-IN" sz="22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IN" sz="22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 </a:t>
            </a:r>
            <a:r>
              <a:rPr lang="en-IN" sz="2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its </a:t>
            </a:r>
            <a:r>
              <a:rPr lang="en-IN" sz="2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value </a:t>
            </a:r>
            <a:r>
              <a:rPr lang="en-IN" sz="2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100.  </a:t>
            </a:r>
          </a:p>
          <a:p>
            <a:pPr marL="447040" indent="-434975">
              <a:spcBef>
                <a:spcPts val="765"/>
              </a:spcBef>
              <a:buFont typeface="Wingdings"/>
              <a:buChar char=""/>
              <a:tabLst>
                <a:tab pos="447675" algn="l"/>
              </a:tabLst>
            </a:pPr>
            <a:r>
              <a:rPr lang="en-IN" sz="2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IN" sz="22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o, </a:t>
            </a:r>
            <a:r>
              <a:rPr lang="en-IN" sz="2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m=&amp;count 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means m </a:t>
            </a:r>
            <a:r>
              <a:rPr lang="en-IN" sz="2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has</a:t>
            </a:r>
            <a:r>
              <a:rPr lang="en-IN" sz="2200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</a:t>
            </a:r>
            <a:r>
              <a:rPr lang="en-IN" sz="22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ess 2000.</a:t>
            </a:r>
          </a:p>
          <a:p>
            <a:pPr marL="447040" indent="-434975">
              <a:spcBef>
                <a:spcPts val="765"/>
              </a:spcBef>
              <a:buFont typeface="Wingdings"/>
              <a:buChar char=""/>
              <a:tabLst>
                <a:tab pos="447675" algn="l"/>
              </a:tabLst>
            </a:pPr>
            <a:r>
              <a:rPr lang="en-IN" sz="2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q=</a:t>
            </a:r>
            <a:r>
              <a:rPr lang="en-IN" sz="2200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*m</a:t>
            </a:r>
          </a:p>
          <a:p>
            <a:pPr marL="654050" marR="536575" lvl="1">
              <a:lnSpc>
                <a:spcPct val="120000"/>
              </a:lnSpc>
              <a:spcBef>
                <a:spcPts val="95"/>
              </a:spcBef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</a:t>
            </a:r>
            <a:r>
              <a:rPr lang="en-IN" sz="2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returns 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IN" sz="2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value at </a:t>
            </a:r>
            <a:r>
              <a:rPr lang="en-IN" sz="2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address 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m.  </a:t>
            </a:r>
            <a:r>
              <a:rPr lang="en-IN" sz="2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value at </a:t>
            </a:r>
            <a:r>
              <a:rPr lang="en-IN" sz="2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address 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2000 is</a:t>
            </a:r>
            <a:r>
              <a:rPr lang="en-IN" sz="2200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100.</a:t>
            </a:r>
          </a:p>
          <a:p>
            <a:pPr marL="560705" lvl="1">
              <a:spcBef>
                <a:spcPts val="770"/>
              </a:spcBef>
            </a:pPr>
            <a:r>
              <a:rPr lang="en-IN" sz="22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so, 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 will </a:t>
            </a:r>
            <a:r>
              <a:rPr lang="en-IN" sz="2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return value</a:t>
            </a:r>
            <a:r>
              <a:rPr lang="en-IN" sz="2200" spc="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100.</a:t>
            </a:r>
          </a:p>
          <a:p>
            <a:pPr marL="469900" lvl="1">
              <a:spcBef>
                <a:spcPts val="770"/>
              </a:spcBef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i.e. q </a:t>
            </a:r>
            <a:r>
              <a:rPr lang="en-IN" sz="2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receives 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IN" sz="2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value at </a:t>
            </a:r>
            <a:r>
              <a:rPr lang="en-IN" sz="2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address</a:t>
            </a:r>
            <a:r>
              <a:rPr lang="en-IN" sz="22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m.</a:t>
            </a:r>
            <a:endParaRPr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631721" y="320827"/>
            <a:ext cx="58971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Pointer Declaration &amp; Initialization</a:t>
            </a:r>
          </a:p>
        </p:txBody>
      </p:sp>
      <p:graphicFrame>
        <p:nvGraphicFramePr>
          <p:cNvPr id="7" name="object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9048741"/>
              </p:ext>
            </p:extLst>
          </p:nvPr>
        </p:nvGraphicFramePr>
        <p:xfrm>
          <a:off x="9555120" y="4002224"/>
          <a:ext cx="1680845" cy="225856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808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232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F79546"/>
                      </a:solidFill>
                      <a:prstDash val="solid"/>
                    </a:lnL>
                    <a:lnR w="28575">
                      <a:solidFill>
                        <a:srgbClr val="F79546"/>
                      </a:solidFill>
                      <a:prstDash val="solid"/>
                    </a:lnR>
                    <a:lnT w="28575">
                      <a:solidFill>
                        <a:srgbClr val="F79546"/>
                      </a:solidFill>
                      <a:prstDash val="solid"/>
                    </a:lnT>
                    <a:lnB w="9525">
                      <a:solidFill>
                        <a:srgbClr val="497DBA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813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F79546"/>
                      </a:solidFill>
                      <a:prstDash val="solid"/>
                    </a:lnL>
                    <a:lnR w="28575">
                      <a:solidFill>
                        <a:srgbClr val="F79546"/>
                      </a:solidFill>
                      <a:prstDash val="solid"/>
                    </a:lnR>
                    <a:lnT w="9525">
                      <a:solidFill>
                        <a:srgbClr val="497DBA"/>
                      </a:solidFill>
                      <a:prstDash val="solid"/>
                    </a:lnT>
                    <a:lnB w="9525">
                      <a:solidFill>
                        <a:srgbClr val="497DBA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442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F79546"/>
                      </a:solidFill>
                      <a:prstDash val="solid"/>
                    </a:lnL>
                    <a:lnR w="28575">
                      <a:solidFill>
                        <a:srgbClr val="F79546"/>
                      </a:solidFill>
                      <a:prstDash val="solid"/>
                    </a:lnR>
                    <a:lnT w="9525">
                      <a:solidFill>
                        <a:srgbClr val="497DBA"/>
                      </a:solidFill>
                      <a:prstDash val="solid"/>
                    </a:lnT>
                    <a:lnB w="9525">
                      <a:solidFill>
                        <a:srgbClr val="497DBA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223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F79546"/>
                      </a:solidFill>
                      <a:prstDash val="solid"/>
                    </a:lnL>
                    <a:lnR w="28575">
                      <a:solidFill>
                        <a:srgbClr val="F79546"/>
                      </a:solidFill>
                      <a:prstDash val="solid"/>
                    </a:lnR>
                    <a:lnT w="9525">
                      <a:solidFill>
                        <a:srgbClr val="497DBA"/>
                      </a:solidFill>
                      <a:prstDash val="solid"/>
                    </a:lnT>
                    <a:lnB w="9525">
                      <a:solidFill>
                        <a:srgbClr val="497DBA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F79546"/>
                      </a:solidFill>
                      <a:prstDash val="solid"/>
                    </a:lnL>
                    <a:lnR w="28575">
                      <a:solidFill>
                        <a:srgbClr val="F79546"/>
                      </a:solidFill>
                      <a:prstDash val="solid"/>
                    </a:lnR>
                    <a:lnT w="9525">
                      <a:solidFill>
                        <a:srgbClr val="497DBA"/>
                      </a:solidFill>
                      <a:prstDash val="solid"/>
                    </a:lnT>
                    <a:lnB w="9525">
                      <a:solidFill>
                        <a:srgbClr val="497DBA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0446">
                <a:tc>
                  <a:txBody>
                    <a:bodyPr/>
                    <a:lstStyle/>
                    <a:p>
                      <a:pPr marL="180340">
                        <a:lnSpc>
                          <a:spcPct val="100000"/>
                        </a:lnSpc>
                        <a:spcBef>
                          <a:spcPts val="805"/>
                        </a:spcBef>
                      </a:pPr>
                      <a:r>
                        <a:rPr sz="20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count=100</a:t>
                      </a:r>
                      <a:endParaRPr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102235" marB="0">
                    <a:lnL w="28575">
                      <a:solidFill>
                        <a:srgbClr val="F79546"/>
                      </a:solidFill>
                      <a:prstDash val="solid"/>
                    </a:lnL>
                    <a:lnR w="28575">
                      <a:solidFill>
                        <a:srgbClr val="F79546"/>
                      </a:solidFill>
                      <a:prstDash val="solid"/>
                    </a:lnR>
                    <a:lnT w="9525">
                      <a:solidFill>
                        <a:srgbClr val="497DBA"/>
                      </a:solidFill>
                      <a:prstDash val="solid"/>
                    </a:lnT>
                    <a:lnB w="28575">
                      <a:solidFill>
                        <a:srgbClr val="F79546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object 6"/>
          <p:cNvSpPr txBox="1"/>
          <p:nvPr/>
        </p:nvSpPr>
        <p:spPr>
          <a:xfrm>
            <a:off x="8893831" y="5834834"/>
            <a:ext cx="635000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000" dirty="0">
                <a:latin typeface="Times New Roman"/>
                <a:cs typeface="Times New Roman"/>
              </a:rPr>
              <a:t>2000</a:t>
            </a:r>
          </a:p>
        </p:txBody>
      </p:sp>
    </p:spTree>
    <p:extLst>
      <p:ext uri="{BB962C8B-B14F-4D97-AF65-F5344CB8AC3E}">
        <p14:creationId xmlns:p14="http://schemas.microsoft.com/office/powerpoint/2010/main" val="7675321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844278" y="1713963"/>
            <a:ext cx="8679947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3535" algn="just">
              <a:spcBef>
                <a:spcPts val="100"/>
              </a:spcBef>
              <a:buFont typeface="Wingdings"/>
              <a:buChar char=""/>
              <a:tabLst>
                <a:tab pos="356235" algn="l"/>
              </a:tabLst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possible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</a:t>
            </a:r>
            <a:r>
              <a:rPr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environments </a:t>
            </a:r>
            <a:r>
              <a:rPr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have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</a:t>
            </a:r>
            <a:r>
              <a:rPr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pointer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values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</a:t>
            </a:r>
            <a:r>
              <a:rPr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 </a:t>
            </a:r>
            <a:r>
              <a:rPr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representations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point </a:t>
            </a:r>
            <a:r>
              <a:rPr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same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location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sz="24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memory.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106912" y="3971868"/>
            <a:ext cx="6289890" cy="171299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972812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1A5D0D2-2AAD-4F09-A515-4706AA07E3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0BE9664-3F66-4034-B239-2B1C8250D0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1853214"/>
            <a:ext cx="4130336" cy="4191000"/>
          </a:xfrm>
        </p:spPr>
        <p:txBody>
          <a:bodyPr>
            <a:normAutofit lnSpcReduction="10000"/>
          </a:bodyPr>
          <a:lstStyle/>
          <a:p>
            <a:pPr marL="45720" indent="0">
              <a:buNone/>
            </a:pPr>
            <a:r>
              <a:rPr lang="en-US" dirty="0">
                <a:solidFill>
                  <a:schemeClr val="tx1"/>
                </a:solidFill>
                <a:latin typeface="Bahnschrift Light" panose="020B0502040204020203" pitchFamily="34" charset="0"/>
              </a:rPr>
              <a:t>main()</a:t>
            </a:r>
          </a:p>
          <a:p>
            <a:pPr marL="45720" indent="0">
              <a:buNone/>
            </a:pPr>
            <a:r>
              <a:rPr lang="en-US" dirty="0">
                <a:solidFill>
                  <a:schemeClr val="tx1"/>
                </a:solidFill>
                <a:latin typeface="Bahnschrift Light" panose="020B0502040204020203" pitchFamily="34" charset="0"/>
              </a:rPr>
              <a:t>{</a:t>
            </a:r>
          </a:p>
          <a:p>
            <a:pPr marL="45720" indent="0">
              <a:buNone/>
            </a:pPr>
            <a:r>
              <a:rPr lang="en-US" dirty="0">
                <a:solidFill>
                  <a:schemeClr val="tx1"/>
                </a:solidFill>
                <a:latin typeface="Bahnschrift Light" panose="020B0502040204020203" pitchFamily="34" charset="0"/>
              </a:rPr>
              <a:t>int j=3;</a:t>
            </a:r>
          </a:p>
          <a:p>
            <a:pPr marL="45720" indent="0">
              <a:buNone/>
            </a:pPr>
            <a:r>
              <a:rPr lang="en-US" dirty="0" err="1">
                <a:solidFill>
                  <a:schemeClr val="tx1"/>
                </a:solidFill>
                <a:latin typeface="Bahnschrift Light" panose="020B0502040204020203" pitchFamily="34" charset="0"/>
              </a:rPr>
              <a:t>printf</a:t>
            </a:r>
            <a:r>
              <a:rPr lang="en-US" dirty="0">
                <a:solidFill>
                  <a:schemeClr val="tx1"/>
                </a:solidFill>
                <a:latin typeface="Bahnschrift Light" panose="020B0502040204020203" pitchFamily="34" charset="0"/>
              </a:rPr>
              <a:t>(“address of j =%</a:t>
            </a:r>
            <a:r>
              <a:rPr lang="en-US" dirty="0" err="1">
                <a:solidFill>
                  <a:schemeClr val="tx1"/>
                </a:solidFill>
                <a:latin typeface="Bahnschrift Light" panose="020B0502040204020203" pitchFamily="34" charset="0"/>
              </a:rPr>
              <a:t>u”,&amp;j</a:t>
            </a:r>
            <a:r>
              <a:rPr lang="en-US" dirty="0">
                <a:solidFill>
                  <a:schemeClr val="tx1"/>
                </a:solidFill>
                <a:latin typeface="Bahnschrift Light" panose="020B0502040204020203" pitchFamily="34" charset="0"/>
              </a:rPr>
              <a:t>);</a:t>
            </a:r>
          </a:p>
          <a:p>
            <a:pPr marL="45720" indent="0">
              <a:buNone/>
            </a:pPr>
            <a:r>
              <a:rPr lang="en-US" dirty="0" err="1">
                <a:solidFill>
                  <a:schemeClr val="tx1"/>
                </a:solidFill>
                <a:latin typeface="Bahnschrift Light" panose="020B0502040204020203" pitchFamily="34" charset="0"/>
              </a:rPr>
              <a:t>printf</a:t>
            </a:r>
            <a:r>
              <a:rPr lang="en-US" dirty="0">
                <a:solidFill>
                  <a:schemeClr val="tx1"/>
                </a:solidFill>
                <a:latin typeface="Bahnschrift Light" panose="020B0502040204020203" pitchFamily="34" charset="0"/>
              </a:rPr>
              <a:t>(“value of j =%</a:t>
            </a:r>
            <a:r>
              <a:rPr lang="en-US" dirty="0" err="1">
                <a:solidFill>
                  <a:schemeClr val="tx1"/>
                </a:solidFill>
                <a:latin typeface="Bahnschrift Light" panose="020B0502040204020203" pitchFamily="34" charset="0"/>
              </a:rPr>
              <a:t>d”,j</a:t>
            </a:r>
            <a:r>
              <a:rPr lang="en-US" dirty="0">
                <a:solidFill>
                  <a:schemeClr val="tx1"/>
                </a:solidFill>
                <a:latin typeface="Bahnschrift Light" panose="020B0502040204020203" pitchFamily="34" charset="0"/>
              </a:rPr>
              <a:t>);</a:t>
            </a:r>
          </a:p>
          <a:p>
            <a:pPr marL="45720" indent="0">
              <a:buNone/>
            </a:pPr>
            <a:r>
              <a:rPr lang="en-US" dirty="0">
                <a:solidFill>
                  <a:schemeClr val="tx1"/>
                </a:solidFill>
                <a:latin typeface="Bahnschrift Light" panose="020B0502040204020203" pitchFamily="34" charset="0"/>
              </a:rPr>
              <a:t>}</a:t>
            </a:r>
          </a:p>
          <a:p>
            <a:pPr marL="45720" indent="0">
              <a:buNone/>
            </a:pPr>
            <a:r>
              <a:rPr lang="en-US" u="sng" dirty="0">
                <a:solidFill>
                  <a:schemeClr val="tx1"/>
                </a:solidFill>
                <a:latin typeface="Bahnschrift Light" panose="020B0502040204020203" pitchFamily="34" charset="0"/>
              </a:rPr>
              <a:t>Output:</a:t>
            </a:r>
          </a:p>
          <a:p>
            <a:pPr marL="45720" indent="0">
              <a:buNone/>
            </a:pPr>
            <a:r>
              <a:rPr lang="en-US" dirty="0">
                <a:solidFill>
                  <a:schemeClr val="tx1"/>
                </a:solidFill>
                <a:latin typeface="Bahnschrift Light" panose="020B0502040204020203" pitchFamily="34" charset="0"/>
              </a:rPr>
              <a:t>address of j=65524</a:t>
            </a:r>
          </a:p>
          <a:p>
            <a:pPr marL="45720" indent="0">
              <a:buNone/>
            </a:pPr>
            <a:r>
              <a:rPr lang="en-US" dirty="0">
                <a:solidFill>
                  <a:schemeClr val="tx1"/>
                </a:solidFill>
                <a:latin typeface="Bahnschrift Light" panose="020B0502040204020203" pitchFamily="34" charset="0"/>
              </a:rPr>
              <a:t>value of j =3</a:t>
            </a:r>
          </a:p>
          <a:p>
            <a:pPr marL="45720" indent="0">
              <a:buNone/>
            </a:pPr>
            <a:endParaRPr lang="en-US" dirty="0">
              <a:solidFill>
                <a:schemeClr val="tx1"/>
              </a:solidFill>
              <a:latin typeface="Bahnschrift Light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09FC1EA-0559-4075-8B5B-CB39ADF9F3BC}"/>
              </a:ext>
            </a:extLst>
          </p:cNvPr>
          <p:cNvSpPr txBox="1"/>
          <p:nvPr/>
        </p:nvSpPr>
        <p:spPr>
          <a:xfrm>
            <a:off x="6205491" y="1091953"/>
            <a:ext cx="4813029" cy="57236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" lvl="0" defTabSz="914400">
              <a:lnSpc>
                <a:spcPct val="90000"/>
              </a:lnSpc>
              <a:spcBef>
                <a:spcPts val="1400"/>
              </a:spcBef>
              <a:buClr>
                <a:srgbClr val="A6B727"/>
              </a:buClr>
              <a:buSzPct val="80000"/>
            </a:pPr>
            <a:r>
              <a:rPr lang="en-US" sz="2200" dirty="0">
                <a:solidFill>
                  <a:srgbClr val="000000"/>
                </a:solidFill>
                <a:latin typeface="Bahnschrift Light" panose="020B0502040204020203" pitchFamily="34" charset="0"/>
              </a:rPr>
              <a:t>main()</a:t>
            </a:r>
          </a:p>
          <a:p>
            <a:pPr marL="45720" lvl="0" defTabSz="914400">
              <a:lnSpc>
                <a:spcPct val="90000"/>
              </a:lnSpc>
              <a:spcBef>
                <a:spcPts val="1400"/>
              </a:spcBef>
              <a:buClr>
                <a:srgbClr val="A6B727"/>
              </a:buClr>
              <a:buSzPct val="80000"/>
            </a:pPr>
            <a:r>
              <a:rPr lang="en-US" sz="2200" dirty="0">
                <a:solidFill>
                  <a:srgbClr val="000000"/>
                </a:solidFill>
                <a:latin typeface="Bahnschrift Light" panose="020B0502040204020203" pitchFamily="34" charset="0"/>
              </a:rPr>
              <a:t>{</a:t>
            </a:r>
          </a:p>
          <a:p>
            <a:pPr marL="45720" lvl="0" defTabSz="914400">
              <a:lnSpc>
                <a:spcPct val="90000"/>
              </a:lnSpc>
              <a:spcBef>
                <a:spcPts val="1400"/>
              </a:spcBef>
              <a:buClr>
                <a:srgbClr val="A6B727"/>
              </a:buClr>
              <a:buSzPct val="80000"/>
            </a:pPr>
            <a:r>
              <a:rPr lang="en-US" sz="2200" dirty="0">
                <a:solidFill>
                  <a:srgbClr val="000000"/>
                </a:solidFill>
                <a:latin typeface="Bahnschrift Light" panose="020B0502040204020203" pitchFamily="34" charset="0"/>
              </a:rPr>
              <a:t>int j=3;</a:t>
            </a:r>
          </a:p>
          <a:p>
            <a:pPr marL="45720" lvl="0" defTabSz="914400">
              <a:lnSpc>
                <a:spcPct val="90000"/>
              </a:lnSpc>
              <a:spcBef>
                <a:spcPts val="1400"/>
              </a:spcBef>
              <a:buClr>
                <a:srgbClr val="A6B727"/>
              </a:buClr>
              <a:buSzPct val="80000"/>
            </a:pPr>
            <a:r>
              <a:rPr lang="en-US" sz="2200" dirty="0" err="1">
                <a:solidFill>
                  <a:srgbClr val="000000"/>
                </a:solidFill>
                <a:latin typeface="Bahnschrift Light" panose="020B0502040204020203" pitchFamily="34" charset="0"/>
              </a:rPr>
              <a:t>printf</a:t>
            </a:r>
            <a:r>
              <a:rPr lang="en-US" sz="2200" dirty="0">
                <a:solidFill>
                  <a:srgbClr val="000000"/>
                </a:solidFill>
                <a:latin typeface="Bahnschrift Light" panose="020B0502040204020203" pitchFamily="34" charset="0"/>
              </a:rPr>
              <a:t>(“address of j =%</a:t>
            </a:r>
            <a:r>
              <a:rPr lang="en-US" sz="2200" dirty="0" err="1">
                <a:solidFill>
                  <a:srgbClr val="000000"/>
                </a:solidFill>
                <a:latin typeface="Bahnschrift Light" panose="020B0502040204020203" pitchFamily="34" charset="0"/>
              </a:rPr>
              <a:t>u”,&amp;j</a:t>
            </a:r>
            <a:r>
              <a:rPr lang="en-US" sz="2200" dirty="0">
                <a:solidFill>
                  <a:srgbClr val="000000"/>
                </a:solidFill>
                <a:latin typeface="Bahnschrift Light" panose="020B0502040204020203" pitchFamily="34" charset="0"/>
              </a:rPr>
              <a:t>);</a:t>
            </a:r>
          </a:p>
          <a:p>
            <a:pPr marL="45720" lvl="0" defTabSz="914400">
              <a:lnSpc>
                <a:spcPct val="90000"/>
              </a:lnSpc>
              <a:spcBef>
                <a:spcPts val="1400"/>
              </a:spcBef>
              <a:buClr>
                <a:srgbClr val="A6B727"/>
              </a:buClr>
              <a:buSzPct val="80000"/>
            </a:pPr>
            <a:r>
              <a:rPr lang="en-US" sz="2200" dirty="0" err="1">
                <a:solidFill>
                  <a:srgbClr val="000000"/>
                </a:solidFill>
                <a:latin typeface="Bahnschrift Light" panose="020B0502040204020203" pitchFamily="34" charset="0"/>
              </a:rPr>
              <a:t>printf</a:t>
            </a:r>
            <a:r>
              <a:rPr lang="en-US" sz="2200" dirty="0">
                <a:solidFill>
                  <a:srgbClr val="000000"/>
                </a:solidFill>
                <a:latin typeface="Bahnschrift Light" panose="020B0502040204020203" pitchFamily="34" charset="0"/>
              </a:rPr>
              <a:t>(“value of j =%</a:t>
            </a:r>
            <a:r>
              <a:rPr lang="en-US" sz="2200" dirty="0" err="1">
                <a:solidFill>
                  <a:srgbClr val="000000"/>
                </a:solidFill>
                <a:latin typeface="Bahnschrift Light" panose="020B0502040204020203" pitchFamily="34" charset="0"/>
              </a:rPr>
              <a:t>d”,j</a:t>
            </a:r>
            <a:r>
              <a:rPr lang="en-US" sz="2200" dirty="0">
                <a:solidFill>
                  <a:srgbClr val="000000"/>
                </a:solidFill>
                <a:latin typeface="Bahnschrift Light" panose="020B0502040204020203" pitchFamily="34" charset="0"/>
              </a:rPr>
              <a:t>);</a:t>
            </a:r>
          </a:p>
          <a:p>
            <a:pPr marL="45720" defTabSz="914400">
              <a:lnSpc>
                <a:spcPct val="90000"/>
              </a:lnSpc>
              <a:spcBef>
                <a:spcPts val="1400"/>
              </a:spcBef>
              <a:buClr>
                <a:srgbClr val="A6B727"/>
              </a:buClr>
              <a:buSzPct val="80000"/>
            </a:pPr>
            <a:r>
              <a:rPr lang="en-US" sz="2200" dirty="0" err="1">
                <a:solidFill>
                  <a:srgbClr val="000000"/>
                </a:solidFill>
                <a:latin typeface="Bahnschrift Light" panose="020B0502040204020203" pitchFamily="34" charset="0"/>
              </a:rPr>
              <a:t>printf</a:t>
            </a:r>
            <a:r>
              <a:rPr lang="en-US" sz="2200" dirty="0">
                <a:solidFill>
                  <a:srgbClr val="000000"/>
                </a:solidFill>
                <a:latin typeface="Bahnschrift Light" panose="020B0502040204020203" pitchFamily="34" charset="0"/>
              </a:rPr>
              <a:t>(“value of j =%d”,*(&amp;j));</a:t>
            </a:r>
          </a:p>
          <a:p>
            <a:pPr marL="45720" lvl="0" defTabSz="914400">
              <a:lnSpc>
                <a:spcPct val="90000"/>
              </a:lnSpc>
              <a:spcBef>
                <a:spcPts val="1400"/>
              </a:spcBef>
              <a:buClr>
                <a:srgbClr val="A6B727"/>
              </a:buClr>
              <a:buSzPct val="80000"/>
            </a:pPr>
            <a:r>
              <a:rPr lang="en-US" sz="2200" dirty="0">
                <a:solidFill>
                  <a:srgbClr val="000000"/>
                </a:solidFill>
                <a:latin typeface="Bahnschrift Light" panose="020B0502040204020203" pitchFamily="34" charset="0"/>
              </a:rPr>
              <a:t>}</a:t>
            </a:r>
          </a:p>
          <a:p>
            <a:pPr marL="45720" lvl="0" defTabSz="914400">
              <a:lnSpc>
                <a:spcPct val="90000"/>
              </a:lnSpc>
              <a:spcBef>
                <a:spcPts val="1400"/>
              </a:spcBef>
              <a:buClr>
                <a:srgbClr val="A6B727"/>
              </a:buClr>
              <a:buSzPct val="80000"/>
            </a:pPr>
            <a:r>
              <a:rPr lang="en-US" sz="2200" u="sng" dirty="0">
                <a:solidFill>
                  <a:srgbClr val="000000"/>
                </a:solidFill>
                <a:latin typeface="Bahnschrift Light" panose="020B0502040204020203" pitchFamily="34" charset="0"/>
              </a:rPr>
              <a:t>Output:</a:t>
            </a:r>
          </a:p>
          <a:p>
            <a:pPr marL="45720" lvl="0" defTabSz="914400">
              <a:lnSpc>
                <a:spcPct val="90000"/>
              </a:lnSpc>
              <a:spcBef>
                <a:spcPts val="1400"/>
              </a:spcBef>
              <a:buClr>
                <a:srgbClr val="A6B727"/>
              </a:buClr>
              <a:buSzPct val="80000"/>
            </a:pPr>
            <a:r>
              <a:rPr lang="en-US" sz="2200" dirty="0">
                <a:solidFill>
                  <a:srgbClr val="000000"/>
                </a:solidFill>
                <a:latin typeface="Bahnschrift Light" panose="020B0502040204020203" pitchFamily="34" charset="0"/>
              </a:rPr>
              <a:t>address of j=65524</a:t>
            </a:r>
          </a:p>
          <a:p>
            <a:pPr marL="45720" lvl="0" defTabSz="914400">
              <a:lnSpc>
                <a:spcPct val="90000"/>
              </a:lnSpc>
              <a:spcBef>
                <a:spcPts val="1400"/>
              </a:spcBef>
              <a:buClr>
                <a:srgbClr val="A6B727"/>
              </a:buClr>
              <a:buSzPct val="80000"/>
            </a:pPr>
            <a:r>
              <a:rPr lang="en-US" sz="2200" dirty="0">
                <a:solidFill>
                  <a:srgbClr val="000000"/>
                </a:solidFill>
                <a:latin typeface="Bahnschrift Light" panose="020B0502040204020203" pitchFamily="34" charset="0"/>
              </a:rPr>
              <a:t>value of j =3</a:t>
            </a:r>
          </a:p>
          <a:p>
            <a:pPr marL="45720" defTabSz="914400">
              <a:lnSpc>
                <a:spcPct val="90000"/>
              </a:lnSpc>
              <a:spcBef>
                <a:spcPts val="1400"/>
              </a:spcBef>
              <a:buClr>
                <a:srgbClr val="A6B727"/>
              </a:buClr>
              <a:buSzPct val="80000"/>
            </a:pPr>
            <a:r>
              <a:rPr lang="en-US" sz="2200" dirty="0">
                <a:solidFill>
                  <a:srgbClr val="000000"/>
                </a:solidFill>
                <a:latin typeface="Bahnschrift Light" panose="020B0502040204020203" pitchFamily="34" charset="0"/>
              </a:rPr>
              <a:t>value of j =3</a:t>
            </a:r>
          </a:p>
          <a:p>
            <a:pPr marL="45720" lvl="0" defTabSz="914400">
              <a:lnSpc>
                <a:spcPct val="90000"/>
              </a:lnSpc>
              <a:spcBef>
                <a:spcPts val="1400"/>
              </a:spcBef>
              <a:buClr>
                <a:srgbClr val="A6B727"/>
              </a:buClr>
              <a:buSzPct val="80000"/>
            </a:pPr>
            <a:endParaRPr lang="en-US" sz="2200" dirty="0">
              <a:solidFill>
                <a:srgbClr val="000000"/>
              </a:solidFill>
              <a:latin typeface="Bahnschrift 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59382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44931" y="137106"/>
            <a:ext cx="4707364" cy="690574"/>
          </a:xfrm>
          <a:prstGeom prst="rect">
            <a:avLst/>
          </a:prstGeom>
        </p:spPr>
        <p:txBody>
          <a:bodyPr vert="horz" wrap="square" lIns="0" tIns="13335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5" dirty="0"/>
              <a:t>Pointer</a:t>
            </a:r>
            <a:r>
              <a:rPr spc="-65" dirty="0"/>
              <a:t> </a:t>
            </a:r>
            <a:r>
              <a:rPr spc="-5" dirty="0"/>
              <a:t>Arithmetic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54169" y="827680"/>
            <a:ext cx="9853137" cy="5784276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3535">
              <a:spcBef>
                <a:spcPts val="10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</a:t>
            </a:r>
            <a:r>
              <a:rPr sz="20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only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arithmetic </a:t>
            </a:r>
            <a:r>
              <a:rPr sz="20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operations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 can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 used on</a:t>
            </a:r>
            <a:r>
              <a:rPr sz="20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pointers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56285" lvl="1" indent="-287020">
              <a:spcBef>
                <a:spcPts val="690"/>
              </a:spcBef>
              <a:buFont typeface="Arial"/>
              <a:buChar char="–"/>
              <a:tabLst>
                <a:tab pos="756920" algn="l"/>
              </a:tabLst>
            </a:pP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Addition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56285" lvl="1" indent="-287020">
              <a:spcBef>
                <a:spcPts val="675"/>
              </a:spcBef>
              <a:buFont typeface="Arial"/>
              <a:buChar char="–"/>
              <a:tabLst>
                <a:tab pos="756920" algn="l"/>
              </a:tabLst>
            </a:pPr>
            <a:r>
              <a:rPr sz="20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Subtraction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marR="775970" indent="-343535">
              <a:spcBef>
                <a:spcPts val="750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000" spc="-1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sz="20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concept, lets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p1 be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 </a:t>
            </a:r>
            <a:r>
              <a:rPr sz="20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integer pointer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value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2000</a:t>
            </a:r>
            <a:r>
              <a:rPr sz="2000" spc="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address.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56285" lvl="1" indent="-287020">
              <a:spcBef>
                <a:spcPts val="695"/>
              </a:spcBef>
              <a:buFont typeface="Arial"/>
              <a:buChar char="–"/>
              <a:tabLst>
                <a:tab pos="756920" algn="l"/>
              </a:tabLst>
            </a:pPr>
            <a:r>
              <a:rPr sz="20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4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bytes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56285" lvl="1" indent="-287020">
              <a:spcBef>
                <a:spcPts val="670"/>
              </a:spcBef>
              <a:buFont typeface="Arial"/>
              <a:buChar char="–"/>
              <a:tabLst>
                <a:tab pos="756920" algn="l"/>
              </a:tabLst>
            </a:pP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</a:t>
            </a:r>
            <a:r>
              <a:rPr sz="20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expression</a:t>
            </a:r>
            <a:r>
              <a:rPr sz="2000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p1++;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56285" lvl="1" indent="-287020">
              <a:spcBef>
                <a:spcPts val="670"/>
              </a:spcBef>
              <a:buFont typeface="Arial"/>
              <a:buChar char="–"/>
              <a:tabLst>
                <a:tab pos="756920" algn="l"/>
              </a:tabLst>
            </a:pP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P1 </a:t>
            </a:r>
            <a:r>
              <a:rPr sz="20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contains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address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200</a:t>
            </a:r>
            <a:r>
              <a:rPr lang="en-US"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not</a:t>
            </a:r>
            <a:r>
              <a:rPr sz="2000" spc="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2001.</a:t>
            </a:r>
            <a:endParaRPr lang="en-IN" sz="2000" spc="-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81000" marR="548640" indent="-343535">
              <a:spcBef>
                <a:spcPts val="100"/>
              </a:spcBef>
              <a:buFont typeface="Arial"/>
              <a:buChar char="•"/>
              <a:tabLst>
                <a:tab pos="381000" algn="l"/>
                <a:tab pos="381635" algn="l"/>
              </a:tabLst>
            </a:pPr>
            <a:r>
              <a:rPr lang="en-IN" sz="20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</a:t>
            </a:r>
            <a:r>
              <a:rPr lang="en-IN"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p1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</a:t>
            </a:r>
            <a:r>
              <a:rPr lang="en-IN"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incremented,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will </a:t>
            </a:r>
            <a:r>
              <a:rPr lang="en-IN"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point </a:t>
            </a:r>
            <a:r>
              <a:rPr lang="en-IN" sz="20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 </a:t>
            </a:r>
            <a:r>
              <a:rPr lang="en-IN" sz="20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next</a:t>
            </a:r>
            <a:r>
              <a:rPr lang="en-IN"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integer.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81000" indent="-343535">
              <a:spcBef>
                <a:spcPts val="775"/>
              </a:spcBef>
              <a:buFont typeface="Arial"/>
              <a:buChar char="•"/>
              <a:tabLst>
                <a:tab pos="381000" algn="l"/>
                <a:tab pos="381635" algn="l"/>
              </a:tabLst>
            </a:pPr>
            <a:r>
              <a:rPr lang="en-IN"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same is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true </a:t>
            </a:r>
            <a:r>
              <a:rPr lang="en-IN" sz="20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decrement.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81685" lvl="1" indent="-287020">
              <a:spcBef>
                <a:spcPts val="685"/>
              </a:spcBef>
              <a:buFont typeface="Arial"/>
              <a:buChar char="–"/>
              <a:tabLst>
                <a:tab pos="782320" algn="l"/>
              </a:tabLst>
            </a:pPr>
            <a:r>
              <a:rPr lang="en-IN" sz="20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en-IN"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p1--;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81685" lvl="1" indent="-287020">
              <a:spcBef>
                <a:spcPts val="675"/>
              </a:spcBef>
              <a:buFont typeface="Arial"/>
              <a:buChar char="–"/>
              <a:tabLst>
                <a:tab pos="782320" algn="l"/>
              </a:tabLst>
            </a:pPr>
            <a:r>
              <a:rPr lang="en-IN"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Causes value </a:t>
            </a:r>
            <a:r>
              <a:rPr lang="en-IN"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p1 </a:t>
            </a:r>
            <a:r>
              <a:rPr lang="en-IN" sz="20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IN"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</a:t>
            </a:r>
            <a:r>
              <a:rPr lang="en-IN" sz="2000" spc="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1996.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81000" marR="30480" indent="-343535">
              <a:spcBef>
                <a:spcPts val="750"/>
              </a:spcBef>
              <a:buFont typeface="Arial"/>
              <a:buChar char="•"/>
              <a:tabLst>
                <a:tab pos="381000" algn="l"/>
                <a:tab pos="381635" algn="l"/>
              </a:tabLst>
            </a:pPr>
            <a:r>
              <a:rPr lang="en-IN" sz="20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</a:t>
            </a:r>
            <a:r>
              <a:rPr lang="en-IN"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IN" sz="20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pointer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</a:t>
            </a:r>
            <a:r>
              <a:rPr lang="en-IN"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incremented,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</a:t>
            </a:r>
            <a:r>
              <a:rPr lang="en-IN"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points  </a:t>
            </a:r>
            <a:r>
              <a:rPr lang="en-IN" sz="20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memory </a:t>
            </a:r>
            <a:r>
              <a:rPr lang="en-IN"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location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lang="en-IN"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IN"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next </a:t>
            </a:r>
            <a:r>
              <a:rPr lang="en-IN"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element of  its base</a:t>
            </a:r>
            <a:r>
              <a:rPr lang="en-IN" sz="20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81000" marR="829944" indent="-343535">
              <a:spcBef>
                <a:spcPts val="775"/>
              </a:spcBef>
              <a:buFont typeface="Arial"/>
              <a:buChar char="•"/>
              <a:tabLst>
                <a:tab pos="381000" algn="l"/>
                <a:tab pos="381635" algn="l"/>
              </a:tabLs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</a:t>
            </a:r>
            <a:r>
              <a:rPr lang="en-IN"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decremented,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then it </a:t>
            </a:r>
            <a:r>
              <a:rPr lang="en-IN"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points </a:t>
            </a:r>
            <a:r>
              <a:rPr lang="en-IN" sz="20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IN"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previous  </a:t>
            </a:r>
            <a:r>
              <a:rPr lang="en-IN"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element</a:t>
            </a:r>
            <a:r>
              <a:rPr lang="en-IN" sz="20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location.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81000" marR="95250" indent="-343535">
              <a:spcBef>
                <a:spcPts val="770"/>
              </a:spcBef>
              <a:buFont typeface="Arial"/>
              <a:buChar char="•"/>
              <a:tabLst>
                <a:tab pos="381000" algn="l"/>
                <a:tab pos="381635" algn="l"/>
              </a:tabLst>
            </a:pPr>
            <a:r>
              <a:rPr lang="en-IN"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p1=p1+12; </a:t>
            </a:r>
            <a:r>
              <a:rPr lang="en-IN" sz="20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makes </a:t>
            </a:r>
            <a:r>
              <a:rPr lang="en-IN"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p1 </a:t>
            </a:r>
            <a:r>
              <a:rPr lang="en-IN"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points </a:t>
            </a:r>
            <a:r>
              <a:rPr lang="en-IN" sz="20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IN" sz="20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  <a:r>
              <a:rPr lang="en-IN" sz="2000" spc="15" baseline="25132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 </a:t>
            </a:r>
            <a:r>
              <a:rPr lang="en-IN"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element of  p1</a:t>
            </a:r>
            <a:r>
              <a:rPr lang="en-IN"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type.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12032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633276" y="381408"/>
            <a:ext cx="3918585" cy="382156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3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Pointer</a:t>
            </a:r>
            <a:r>
              <a:rPr sz="2400" b="1" spc="-9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spc="-3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Arithmetic</a:t>
            </a:r>
            <a:r>
              <a:rPr lang="en-IN" sz="2400" b="1" spc="-3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Example 2</a:t>
            </a:r>
            <a:endParaRPr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08355" y="817017"/>
            <a:ext cx="5363210" cy="35137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Lets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take </a:t>
            </a:r>
            <a:r>
              <a:rPr sz="2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example</a:t>
            </a:r>
            <a:r>
              <a:rPr sz="22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</a:t>
            </a:r>
            <a:endParaRPr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08355" y="1311220"/>
            <a:ext cx="3046730" cy="152554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44900"/>
              </a:lnSpc>
              <a:spcBef>
                <a:spcPts val="100"/>
              </a:spcBef>
            </a:pP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#i</a:t>
            </a:r>
            <a:r>
              <a:rPr sz="22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</a:t>
            </a:r>
            <a:r>
              <a:rPr sz="2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sz="22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2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sz="22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z="22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sz="2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sz="22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  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marR="5080">
              <a:lnSpc>
                <a:spcPct val="144900"/>
              </a:lnSpc>
              <a:spcBef>
                <a:spcPts val="100"/>
              </a:spcBef>
            </a:pPr>
            <a:r>
              <a:rPr lang="en-IN" sz="2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sz="2200" spc="-1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oid</a:t>
            </a:r>
            <a:r>
              <a:rPr sz="2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main()</a:t>
            </a:r>
            <a:endParaRPr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spcBef>
                <a:spcPts val="1510"/>
              </a:spcBef>
            </a:pP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822326" y="3037404"/>
            <a:ext cx="4665345" cy="35137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n-IN" sz="2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sz="2200" spc="-5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nt</a:t>
            </a:r>
            <a:r>
              <a:rPr sz="2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sz="2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[5]={1,2,3,4,5}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 , </a:t>
            </a:r>
            <a:r>
              <a:rPr sz="2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*pt</a:t>
            </a:r>
            <a:r>
              <a:rPr sz="22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822326" y="3473668"/>
            <a:ext cx="4511675" cy="303672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44900"/>
              </a:lnSpc>
              <a:spcBef>
                <a:spcPts val="100"/>
              </a:spcBef>
            </a:pPr>
            <a:r>
              <a:rPr sz="2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pt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sz="2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&amp;a[0];  </a:t>
            </a:r>
            <a:endParaRPr lang="en-IN" sz="2200" spc="-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marR="5080">
              <a:lnSpc>
                <a:spcPct val="144900"/>
              </a:lnSpc>
              <a:spcBef>
                <a:spcPts val="100"/>
              </a:spcBef>
            </a:pPr>
            <a:r>
              <a:rPr sz="2200" spc="-1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pt</a:t>
            </a:r>
            <a:r>
              <a:rPr sz="2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sz="2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pt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+ 4</a:t>
            </a:r>
            <a:r>
              <a:rPr sz="2200" spc="-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pt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incremented by 4 consecutive memory locations</a:t>
            </a:r>
          </a:p>
          <a:p>
            <a:pPr marL="12700" marR="5080">
              <a:lnSpc>
                <a:spcPct val="144900"/>
              </a:lnSpc>
              <a:spcBef>
                <a:spcPts val="100"/>
              </a:spcBef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b=a[0]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 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marR="5080">
              <a:lnSpc>
                <a:spcPct val="144900"/>
              </a:lnSpc>
              <a:spcBef>
                <a:spcPts val="100"/>
              </a:spcBef>
            </a:pPr>
            <a:r>
              <a:rPr sz="2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b+=4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12700">
              <a:spcBef>
                <a:spcPts val="1510"/>
              </a:spcBef>
            </a:pP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465226" y="4331931"/>
            <a:ext cx="537708" cy="2436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5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x100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7422673" y="4331931"/>
            <a:ext cx="537708" cy="2436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5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x100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8338387" y="4317008"/>
            <a:ext cx="526766" cy="2436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5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x100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9192170" y="4297309"/>
            <a:ext cx="535363" cy="2436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5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sz="15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sz="15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01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5617940" y="6156789"/>
            <a:ext cx="661480" cy="2436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n-IN" sz="15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sz="15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100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6560973" y="6156789"/>
            <a:ext cx="626858" cy="2436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5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x100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7464051" y="6158873"/>
            <a:ext cx="626858" cy="2436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5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x100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8367129" y="6156789"/>
            <a:ext cx="614103" cy="2436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5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x100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9257452" y="6156789"/>
            <a:ext cx="624125" cy="2436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5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sz="15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sz="15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01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6" name="object 16"/>
          <p:cNvSpPr/>
          <p:nvPr/>
        </p:nvSpPr>
        <p:spPr>
          <a:xfrm>
            <a:off x="5372100" y="4724400"/>
            <a:ext cx="76200" cy="74930"/>
          </a:xfrm>
          <a:custGeom>
            <a:avLst/>
            <a:gdLst/>
            <a:ahLst/>
            <a:cxnLst/>
            <a:rect l="l" t="t" r="r" b="b"/>
            <a:pathLst>
              <a:path w="76200" h="74929">
                <a:moveTo>
                  <a:pt x="38100" y="0"/>
                </a:moveTo>
                <a:lnTo>
                  <a:pt x="0" y="74930"/>
                </a:lnTo>
                <a:lnTo>
                  <a:pt x="76200" y="74930"/>
                </a:lnTo>
                <a:lnTo>
                  <a:pt x="381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5410200" y="4784090"/>
            <a:ext cx="0" cy="168910"/>
          </a:xfrm>
          <a:custGeom>
            <a:avLst/>
            <a:gdLst/>
            <a:ahLst/>
            <a:cxnLst/>
            <a:rect l="l" t="t" r="r" b="b"/>
            <a:pathLst>
              <a:path h="168910">
                <a:moveTo>
                  <a:pt x="0" y="0"/>
                </a:moveTo>
                <a:lnTo>
                  <a:pt x="0" y="168910"/>
                </a:lnTo>
              </a:path>
            </a:pathLst>
          </a:custGeom>
          <a:ln w="101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394172" y="4317008"/>
            <a:ext cx="754979" cy="48731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5100">
              <a:spcBef>
                <a:spcPts val="100"/>
              </a:spcBef>
            </a:pPr>
            <a:r>
              <a:rPr lang="en-IN" sz="15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sz="15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100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  <a:p>
            <a:pPr marL="12700">
              <a:spcBef>
                <a:spcPts val="70"/>
              </a:spcBef>
            </a:pPr>
            <a:r>
              <a:rPr sz="15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pt</a:t>
            </a:r>
            <a:endParaRPr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0" name="object 20"/>
          <p:cNvGraphicFramePr>
            <a:graphicFrameLocks noGrp="1"/>
          </p:cNvGraphicFramePr>
          <p:nvPr/>
        </p:nvGraphicFramePr>
        <p:xfrm>
          <a:off x="5459967" y="3327220"/>
          <a:ext cx="4572000" cy="914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9144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2250" dirty="0">
                        <a:latin typeface="Times New Roman"/>
                        <a:cs typeface="Times New Roman"/>
                      </a:endParaRPr>
                    </a:p>
                    <a:p>
                      <a:pPr marL="241300">
                        <a:lnSpc>
                          <a:spcPct val="100000"/>
                        </a:lnSpc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a[0]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127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ADFE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2250" dirty="0">
                        <a:latin typeface="Times New Roman"/>
                        <a:cs typeface="Times New Roman"/>
                      </a:endParaRPr>
                    </a:p>
                    <a:p>
                      <a:pPr marL="166370">
                        <a:lnSpc>
                          <a:spcPct val="100000"/>
                        </a:lnSpc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a[1]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127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ADFE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2250">
                        <a:latin typeface="Times New Roman"/>
                        <a:cs typeface="Times New Roman"/>
                      </a:endParaRPr>
                    </a:p>
                    <a:p>
                      <a:pPr marL="166370">
                        <a:lnSpc>
                          <a:spcPct val="100000"/>
                        </a:lnSpc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a[2]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127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ADFE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2250">
                        <a:latin typeface="Times New Roman"/>
                        <a:cs typeface="Times New Roman"/>
                      </a:endParaRPr>
                    </a:p>
                    <a:p>
                      <a:pPr marL="166370">
                        <a:lnSpc>
                          <a:spcPct val="100000"/>
                        </a:lnSpc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a[3]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127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ADFE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2250" dirty="0">
                        <a:latin typeface="Times New Roman"/>
                        <a:cs typeface="Times New Roman"/>
                      </a:endParaRPr>
                    </a:p>
                    <a:p>
                      <a:pPr marL="166370">
                        <a:lnSpc>
                          <a:spcPct val="100000"/>
                        </a:lnSpc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a[4]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127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ADF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1" name="object 21"/>
          <p:cNvGraphicFramePr>
            <a:graphicFrameLocks noGrp="1"/>
          </p:cNvGraphicFramePr>
          <p:nvPr/>
        </p:nvGraphicFramePr>
        <p:xfrm>
          <a:off x="5491480" y="5107735"/>
          <a:ext cx="4572000" cy="914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9144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endParaRPr sz="1800" dirty="0">
                        <a:latin typeface="Times New Roman"/>
                        <a:cs typeface="Times New Roman"/>
                      </a:endParaRPr>
                    </a:p>
                    <a:p>
                      <a:pPr marR="42545" algn="ctr">
                        <a:lnSpc>
                          <a:spcPct val="100000"/>
                        </a:lnSpc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a[0]</a:t>
                      </a:r>
                      <a:endParaRPr sz="1800" dirty="0">
                        <a:latin typeface="Arial"/>
                        <a:cs typeface="Arial"/>
                      </a:endParaRPr>
                    </a:p>
                    <a:p>
                      <a:pPr marL="14604" algn="ctr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1800" b="1" dirty="0">
                          <a:solidFill>
                            <a:srgbClr val="FF3300"/>
                          </a:solidFill>
                          <a:latin typeface="Arial"/>
                          <a:cs typeface="Arial"/>
                        </a:rPr>
                        <a:t>b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ADFE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endParaRPr sz="1800" dirty="0">
                        <a:latin typeface="Times New Roman"/>
                        <a:cs typeface="Times New Roman"/>
                      </a:endParaRPr>
                    </a:p>
                    <a:p>
                      <a:pPr marL="166370">
                        <a:lnSpc>
                          <a:spcPct val="100000"/>
                        </a:lnSpc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a[1]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ADFE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endParaRPr sz="1800" dirty="0">
                        <a:latin typeface="Times New Roman"/>
                        <a:cs typeface="Times New Roman"/>
                      </a:endParaRPr>
                    </a:p>
                    <a:p>
                      <a:pPr marL="166370">
                        <a:lnSpc>
                          <a:spcPct val="100000"/>
                        </a:lnSpc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a[2]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ADFE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166370">
                        <a:lnSpc>
                          <a:spcPct val="100000"/>
                        </a:lnSpc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a[3]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ADFE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endParaRPr sz="1800" dirty="0">
                        <a:latin typeface="Times New Roman"/>
                        <a:cs typeface="Times New Roman"/>
                      </a:endParaRPr>
                    </a:p>
                    <a:p>
                      <a:pPr marL="166370">
                        <a:lnSpc>
                          <a:spcPct val="100000"/>
                        </a:lnSpc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a[4]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ADF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2" name="object 22"/>
          <p:cNvSpPr txBox="1"/>
          <p:nvPr/>
        </p:nvSpPr>
        <p:spPr>
          <a:xfrm>
            <a:off x="5948680" y="1286139"/>
            <a:ext cx="3657600" cy="1490152"/>
          </a:xfrm>
          <a:prstGeom prst="rect">
            <a:avLst/>
          </a:prstGeom>
          <a:ln w="9344">
            <a:solidFill>
              <a:srgbClr val="000000"/>
            </a:solidFill>
          </a:ln>
        </p:spPr>
        <p:txBody>
          <a:bodyPr vert="horz" wrap="square" lIns="0" tIns="88900" rIns="0" bIns="0" rtlCol="0">
            <a:spAutoFit/>
          </a:bodyPr>
          <a:lstStyle/>
          <a:p>
            <a:pPr marL="623570">
              <a:spcBef>
                <a:spcPts val="700"/>
              </a:spcBef>
            </a:pP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 =</a:t>
            </a:r>
            <a:r>
              <a:rPr sz="22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  <a:p>
            <a:pPr marL="623570">
              <a:spcBef>
                <a:spcPts val="1510"/>
              </a:spcBef>
            </a:pPr>
            <a:r>
              <a:rPr sz="2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b=1+4</a:t>
            </a:r>
            <a:endParaRPr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23570">
              <a:spcBef>
                <a:spcPts val="1510"/>
              </a:spcBef>
            </a:pPr>
            <a:r>
              <a:rPr sz="2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b=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5</a:t>
            </a:r>
          </a:p>
        </p:txBody>
      </p:sp>
    </p:spTree>
    <p:extLst>
      <p:ext uri="{BB962C8B-B14F-4D97-AF65-F5344CB8AC3E}">
        <p14:creationId xmlns:p14="http://schemas.microsoft.com/office/powerpoint/2010/main" val="37627696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702171" y="338644"/>
            <a:ext cx="4147867" cy="690574"/>
          </a:xfrm>
          <a:prstGeom prst="rect">
            <a:avLst/>
          </a:prstGeom>
        </p:spPr>
        <p:txBody>
          <a:bodyPr vert="horz" wrap="square" lIns="0" tIns="13335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Arithmetic</a:t>
            </a:r>
            <a:r>
              <a:rPr spc="-50" dirty="0"/>
              <a:t> </a:t>
            </a:r>
            <a:r>
              <a:rPr dirty="0"/>
              <a:t>Rules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835655" y="1449557"/>
            <a:ext cx="8766210" cy="1773561"/>
          </a:xfrm>
          <a:prstGeom prst="rect">
            <a:avLst/>
          </a:prstGeom>
        </p:spPr>
        <p:txBody>
          <a:bodyPr vert="horz" wrap="square" lIns="0" tIns="110489" rIns="0" bIns="0" rtlCol="0">
            <a:spAutoFit/>
          </a:bodyPr>
          <a:lstStyle/>
          <a:p>
            <a:pPr marL="355600" indent="-343535">
              <a:spcBef>
                <a:spcPts val="869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200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 </a:t>
            </a:r>
            <a:r>
              <a:rPr sz="2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cannot multiply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 </a:t>
            </a:r>
            <a:r>
              <a:rPr sz="2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divide</a:t>
            </a:r>
            <a:r>
              <a:rPr sz="2200" spc="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pointers.</a:t>
            </a:r>
            <a:endParaRPr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indent="-343535">
              <a:spcBef>
                <a:spcPts val="770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200" spc="-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 </a:t>
            </a:r>
            <a:r>
              <a:rPr sz="2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cannot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</a:t>
            </a:r>
            <a:r>
              <a:rPr sz="2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 </a:t>
            </a:r>
            <a:r>
              <a:rPr sz="22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subtract </a:t>
            </a:r>
            <a:r>
              <a:rPr sz="2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</a:t>
            </a:r>
            <a:r>
              <a:rPr sz="2200" spc="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pointers.</a:t>
            </a:r>
            <a:endParaRPr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indent="-343535">
              <a:spcBef>
                <a:spcPts val="770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200" spc="-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 </a:t>
            </a:r>
            <a:r>
              <a:rPr sz="2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cannot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 </a:t>
            </a:r>
            <a:r>
              <a:rPr sz="2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bitwise </a:t>
            </a:r>
            <a:r>
              <a:rPr sz="22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operators </a:t>
            </a:r>
            <a:r>
              <a:rPr sz="22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2200" spc="1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them.</a:t>
            </a:r>
            <a:endParaRPr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marR="734060" indent="-343535">
              <a:spcBef>
                <a:spcPts val="770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200" spc="-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 </a:t>
            </a:r>
            <a:r>
              <a:rPr sz="2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cannot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</a:t>
            </a:r>
            <a:r>
              <a:rPr sz="2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 </a:t>
            </a:r>
            <a:r>
              <a:rPr sz="22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subtract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 </a:t>
            </a:r>
            <a:r>
              <a:rPr sz="2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float </a:t>
            </a:r>
            <a:r>
              <a:rPr sz="2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  double </a:t>
            </a:r>
            <a:r>
              <a:rPr sz="22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sz="2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 </a:t>
            </a:r>
            <a:r>
              <a:rPr sz="22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sz="22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pointers.</a:t>
            </a:r>
            <a:endParaRPr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28384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30574" y="464910"/>
            <a:ext cx="4907984" cy="690574"/>
          </a:xfrm>
          <a:prstGeom prst="rect">
            <a:avLst/>
          </a:prstGeom>
        </p:spPr>
        <p:txBody>
          <a:bodyPr vert="horz" wrap="square" lIns="0" tIns="13335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5" dirty="0"/>
              <a:t>Pointer</a:t>
            </a:r>
            <a:r>
              <a:rPr spc="-95" dirty="0"/>
              <a:t> </a:t>
            </a:r>
            <a:r>
              <a:rPr dirty="0"/>
              <a:t>Comparison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059941" y="1607261"/>
            <a:ext cx="7921625" cy="236539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213995" indent="-343535">
              <a:spcBef>
                <a:spcPts val="10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200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 </a:t>
            </a:r>
            <a:r>
              <a:rPr sz="2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</a:t>
            </a:r>
            <a:r>
              <a:rPr sz="22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 two </a:t>
            </a:r>
            <a:r>
              <a:rPr sz="22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pointers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a </a:t>
            </a:r>
            <a:r>
              <a:rPr sz="2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relational expression,</a:t>
            </a:r>
            <a:r>
              <a:rPr sz="22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N" sz="2200" spc="-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065" marR="213995">
              <a:spcBef>
                <a:spcPts val="105"/>
              </a:spcBef>
              <a:tabLst>
                <a:tab pos="355600" algn="l"/>
                <a:tab pos="356235" algn="l"/>
              </a:tabLst>
            </a:pPr>
            <a:r>
              <a:rPr lang="en-IN" sz="22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IN" sz="22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2200" spc="-15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xample</a:t>
            </a:r>
            <a:r>
              <a:rPr sz="22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38835" lvl="1">
              <a:spcBef>
                <a:spcPts val="770"/>
              </a:spcBef>
            </a:pPr>
            <a:r>
              <a:rPr sz="2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if(p&lt;q)</a:t>
            </a:r>
            <a:endParaRPr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38835" lvl="1">
              <a:spcBef>
                <a:spcPts val="770"/>
              </a:spcBef>
            </a:pPr>
            <a:r>
              <a:rPr lang="en-IN" sz="2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sz="2200" spc="-1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sz="2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(“p points </a:t>
            </a:r>
            <a:r>
              <a:rPr sz="22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sz="2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lower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 than q</a:t>
            </a:r>
            <a:r>
              <a:rPr sz="2200" spc="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\n”);</a:t>
            </a:r>
            <a:endParaRPr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marR="35560" indent="-343535" algn="just">
              <a:spcBef>
                <a:spcPts val="770"/>
              </a:spcBef>
              <a:buFont typeface="Arial"/>
              <a:buChar char="•"/>
              <a:tabLst>
                <a:tab pos="356235" algn="l"/>
              </a:tabLst>
            </a:pPr>
            <a:r>
              <a:rPr sz="22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Pointer </a:t>
            </a:r>
            <a:r>
              <a:rPr sz="2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comparison are useful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only when </a:t>
            </a:r>
            <a:r>
              <a:rPr sz="2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  </a:t>
            </a:r>
            <a:r>
              <a:rPr sz="22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pointers </a:t>
            </a:r>
            <a:r>
              <a:rPr sz="2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point </a:t>
            </a:r>
            <a:r>
              <a:rPr sz="22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sz="2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common object such 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an  </a:t>
            </a:r>
            <a:r>
              <a:rPr sz="22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array.</a:t>
            </a:r>
            <a:endParaRPr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86368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3000" y="1682150"/>
            <a:ext cx="9872871" cy="4796287"/>
          </a:xfrm>
        </p:spPr>
        <p:txBody>
          <a:bodyPr>
            <a:normAutofit fontScale="85000" lnSpcReduction="20000"/>
          </a:bodyPr>
          <a:lstStyle/>
          <a:p>
            <a:pPr marL="45720" indent="0">
              <a:lnSpc>
                <a:spcPct val="110000"/>
              </a:lnSpc>
              <a:spcBef>
                <a:spcPts val="300"/>
              </a:spcBef>
              <a:buNone/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If p1 and p2 are properly declared and initialized pointers then, ‘C’ allows adding integers to a pointer variable.</a:t>
            </a:r>
            <a:b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EX:</a:t>
            </a:r>
            <a:b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a=5, b=10;</a:t>
            </a:r>
            <a:b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*p1,*p2;</a:t>
            </a:r>
            <a:b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p1=&amp;a;</a:t>
            </a:r>
            <a:b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p2=&amp;b;</a:t>
            </a:r>
          </a:p>
          <a:p>
            <a:pPr marL="45720" indent="0">
              <a:lnSpc>
                <a:spcPct val="110000"/>
              </a:lnSpc>
              <a:spcBef>
                <a:spcPts val="300"/>
              </a:spcBef>
              <a:buNone/>
            </a:pP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" indent="0">
              <a:lnSpc>
                <a:spcPct val="110000"/>
              </a:lnSpc>
              <a:spcBef>
                <a:spcPts val="300"/>
              </a:spcBef>
              <a:buNone/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Now,</a:t>
            </a:r>
            <a:b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p1=p1+1=1000+2=1002;</a:t>
            </a:r>
            <a:b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p1=p1+2=1000+ (2*2) =1004;</a:t>
            </a:r>
            <a:b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p1=p1+4=1000+ (2*4) =1008;</a:t>
            </a:r>
            <a:b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p2=p2+2=3000+ (2*2) =3004;</a:t>
            </a:r>
            <a:b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p2=p2+6=3000+ (2*6) =3012;</a:t>
            </a:r>
            <a:b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1143000" y="549215"/>
            <a:ext cx="9875520" cy="882770"/>
          </a:xfrm>
        </p:spPr>
        <p:txBody>
          <a:bodyPr/>
          <a:lstStyle/>
          <a:p>
            <a:pPr algn="ctr"/>
            <a:r>
              <a:rPr lang="en-IN" dirty="0"/>
              <a:t>Pointer Expressions</a:t>
            </a:r>
          </a:p>
        </p:txBody>
      </p:sp>
    </p:spTree>
    <p:extLst>
      <p:ext uri="{BB962C8B-B14F-4D97-AF65-F5344CB8AC3E}">
        <p14:creationId xmlns:p14="http://schemas.microsoft.com/office/powerpoint/2010/main" val="26262489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0351" y="1682152"/>
            <a:ext cx="9872871" cy="4776158"/>
          </a:xfrm>
        </p:spPr>
        <p:txBody>
          <a:bodyPr>
            <a:normAutofit/>
          </a:bodyPr>
          <a:lstStyle/>
          <a:p>
            <a:pPr marL="45720" indent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p1 &amp; p2 are properly declared and initialized, pointers then ‘C’ allows to subtract integers from pointers. From the above example,</a:t>
            </a:r>
            <a:b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p1=p1-1=1000-2=998;</a:t>
            </a:r>
            <a:b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p1=p1-2=1000-4=996;</a:t>
            </a:r>
            <a:b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p1=p1-4=1000-8=992;</a:t>
            </a:r>
            <a:b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p2=p2-2=3000-4=2996;</a:t>
            </a:r>
            <a:b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p2=p2-6=3000-12=2988;</a:t>
            </a:r>
            <a:b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1140351" y="454325"/>
            <a:ext cx="9875520" cy="805132"/>
          </a:xfrm>
        </p:spPr>
        <p:txBody>
          <a:bodyPr/>
          <a:lstStyle/>
          <a:p>
            <a:pPr algn="ctr"/>
            <a:r>
              <a:rPr lang="en-IN" dirty="0"/>
              <a:t>Pointer Expressions</a:t>
            </a:r>
          </a:p>
        </p:txBody>
      </p:sp>
    </p:spTree>
    <p:extLst>
      <p:ext uri="{BB962C8B-B14F-4D97-AF65-F5344CB8AC3E}">
        <p14:creationId xmlns:p14="http://schemas.microsoft.com/office/powerpoint/2010/main" val="14785356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3000" y="1362974"/>
            <a:ext cx="9872871" cy="5029200"/>
          </a:xfrm>
        </p:spPr>
        <p:txBody>
          <a:bodyPr>
            <a:normAutofit/>
          </a:bodyPr>
          <a:lstStyle/>
          <a:p>
            <a:pPr marL="45720" indent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-&gt; If p1 &amp; p2 are properly declared and initialized pointers, and both points to the elements of same type. “Subtraction of one pointer from another pointer is also possible".</a:t>
            </a:r>
            <a:b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NOTE:</a:t>
            </a: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this operation is done when the both pointer variable points to the elements of the same array.</a:t>
            </a:r>
            <a:b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EX:</a:t>
            </a:r>
            <a:b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p2- p1 (It gives the number of elements between p1 and p2)</a:t>
            </a:r>
            <a:b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-&gt; Pointer can also be used with increment and decrement operators.</a:t>
            </a:r>
          </a:p>
          <a:p>
            <a:pPr marL="45720" indent="0">
              <a:lnSpc>
                <a:spcPct val="100000"/>
              </a:lnSpc>
              <a:spcBef>
                <a:spcPts val="300"/>
              </a:spcBef>
              <a:buNone/>
            </a:pPr>
            <a:b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</a:t>
            </a: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5; // Suppose address of </a:t>
            </a:r>
            <a:r>
              <a:rPr lang="en-IN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</a:t>
            </a: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1000 </a:t>
            </a:r>
          </a:p>
          <a:p>
            <a:pPr marL="45720" indent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IN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*</a:t>
            </a:r>
            <a:r>
              <a:rPr lang="en-IN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ptr</a:t>
            </a: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 // Pointer variable </a:t>
            </a:r>
          </a:p>
          <a:p>
            <a:pPr marL="45720" indent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IN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ptr</a:t>
            </a: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&amp;</a:t>
            </a:r>
            <a:r>
              <a:rPr lang="en-IN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</a:t>
            </a: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 // </a:t>
            </a:r>
            <a:r>
              <a:rPr lang="en-IN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ptr</a:t>
            </a: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points to 1000 or </a:t>
            </a:r>
            <a:r>
              <a:rPr lang="en-IN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ptr</a:t>
            </a: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points to </a:t>
            </a:r>
            <a:r>
              <a:rPr lang="en-IN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</a:t>
            </a:r>
            <a:endParaRPr lang="en-IN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" indent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IN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ptr</a:t>
            </a: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++; // </a:t>
            </a:r>
            <a:r>
              <a:rPr lang="en-IN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ptr</a:t>
            </a: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now points to 1002, since integer size is 2 bytes </a:t>
            </a:r>
          </a:p>
          <a:p>
            <a:pPr marL="45720" indent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IN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ptr</a:t>
            </a: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--; // </a:t>
            </a:r>
            <a:r>
              <a:rPr lang="en-IN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ptr</a:t>
            </a: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now points to 1000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1140351" y="419818"/>
            <a:ext cx="9875520" cy="839638"/>
          </a:xfrm>
        </p:spPr>
        <p:txBody>
          <a:bodyPr/>
          <a:lstStyle/>
          <a:p>
            <a:pPr algn="ctr"/>
            <a:r>
              <a:rPr lang="en-IN" dirty="0"/>
              <a:t>Pointer Expressions</a:t>
            </a:r>
          </a:p>
        </p:txBody>
      </p:sp>
    </p:spTree>
    <p:extLst>
      <p:ext uri="{BB962C8B-B14F-4D97-AF65-F5344CB8AC3E}">
        <p14:creationId xmlns:p14="http://schemas.microsoft.com/office/powerpoint/2010/main" val="13926069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body" idx="1"/>
          </p:nvPr>
        </p:nvSpPr>
        <p:spPr>
          <a:xfrm>
            <a:off x="596469" y="1188995"/>
            <a:ext cx="11494918" cy="523778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0" indent="0">
              <a:lnSpc>
                <a:spcPts val="3715"/>
              </a:lnSpc>
              <a:spcBef>
                <a:spcPts val="100"/>
              </a:spcBef>
              <a:buNone/>
            </a:pPr>
            <a:r>
              <a:rPr lang="en-IN" sz="2000" spc="-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sz="2000" spc="-5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oid</a:t>
            </a:r>
            <a:r>
              <a:rPr sz="2000" spc="-1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main()</a:t>
            </a:r>
          </a:p>
          <a:p>
            <a:pPr marL="0" indent="0">
              <a:lnSpc>
                <a:spcPts val="3590"/>
              </a:lnSpc>
              <a:buNone/>
            </a:pPr>
            <a:r>
              <a:rPr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 marL="0" indent="0">
              <a:lnSpc>
                <a:spcPts val="3590"/>
              </a:lnSpc>
              <a:buNone/>
            </a:pPr>
            <a:r>
              <a:rPr sz="2000" spc="-1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sz="2000" spc="-1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num=10;</a:t>
            </a:r>
          </a:p>
          <a:p>
            <a:pPr marL="0" marR="4481195" indent="0">
              <a:lnSpc>
                <a:spcPts val="3590"/>
              </a:lnSpc>
              <a:spcBef>
                <a:spcPts val="200"/>
              </a:spcBef>
              <a:buNone/>
            </a:pPr>
            <a:r>
              <a:rPr lang="en-US" sz="2000" spc="-1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sz="2000" spc="-1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nt</a:t>
            </a:r>
            <a:r>
              <a:rPr lang="en-US" sz="2000" spc="-1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1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pnum</a:t>
            </a:r>
            <a:r>
              <a:rPr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=NULL;  </a:t>
            </a:r>
            <a:endParaRPr lang="en-IN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4481195" indent="0">
              <a:lnSpc>
                <a:spcPts val="3590"/>
              </a:lnSpc>
              <a:spcBef>
                <a:spcPts val="200"/>
              </a:spcBef>
              <a:buNone/>
            </a:pPr>
            <a:r>
              <a:rPr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pnum</a:t>
            </a:r>
            <a:r>
              <a:rPr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</a:t>
            </a:r>
            <a:r>
              <a:rPr sz="2000" spc="-5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&amp;num;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pnum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=address of num</a:t>
            </a:r>
            <a:endParaRPr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1927225" indent="0">
              <a:lnSpc>
                <a:spcPts val="3590"/>
              </a:lnSpc>
              <a:buNone/>
            </a:pPr>
            <a:r>
              <a:rPr sz="2000" spc="-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*pnum += </a:t>
            </a:r>
            <a:r>
              <a:rPr sz="2000" spc="1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20;  </a:t>
            </a:r>
            <a:r>
              <a:rPr lang="en-US" sz="2000" spc="1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</a:t>
            </a:r>
            <a:r>
              <a:rPr lang="en-US" sz="2000" spc="15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pnum</a:t>
            </a:r>
            <a:r>
              <a:rPr lang="en-US" sz="2000" spc="1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=pnum+20</a:t>
            </a:r>
            <a:endParaRPr lang="en-IN" sz="2000" spc="15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1927225" indent="0">
              <a:lnSpc>
                <a:spcPts val="3590"/>
              </a:lnSpc>
              <a:buNone/>
            </a:pPr>
            <a:r>
              <a:rPr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("\nNumber = %d",</a:t>
            </a:r>
            <a:r>
              <a:rPr sz="2000" spc="-8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num);</a:t>
            </a:r>
          </a:p>
          <a:p>
            <a:pPr marL="0" indent="0">
              <a:lnSpc>
                <a:spcPts val="3375"/>
              </a:lnSpc>
              <a:buNone/>
            </a:pPr>
            <a:r>
              <a:rPr sz="2000" spc="-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printf("\nPointer </a:t>
            </a:r>
            <a:r>
              <a:rPr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Number = %d",</a:t>
            </a:r>
            <a:r>
              <a:rPr sz="2000" spc="-1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*pnum);</a:t>
            </a:r>
          </a:p>
          <a:p>
            <a:pPr marL="0" indent="0">
              <a:lnSpc>
                <a:spcPts val="3715"/>
              </a:lnSpc>
              <a:buNone/>
            </a:pPr>
            <a:r>
              <a:rPr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875428" y="431224"/>
            <a:ext cx="6515734" cy="574040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3600" b="1" spc="-35" dirty="0">
                <a:latin typeface="Arial"/>
                <a:cs typeface="Arial"/>
              </a:rPr>
              <a:t>Example Program 3</a:t>
            </a:r>
            <a:endParaRPr sz="3600" dirty="0">
              <a:latin typeface="Arial"/>
              <a:cs typeface="Arial"/>
            </a:endParaRPr>
          </a:p>
        </p:txBody>
      </p:sp>
      <p:sp>
        <p:nvSpPr>
          <p:cNvPr id="4" name="object 3"/>
          <p:cNvSpPr txBox="1">
            <a:spLocks/>
          </p:cNvSpPr>
          <p:nvPr/>
        </p:nvSpPr>
        <p:spPr>
          <a:xfrm>
            <a:off x="8253793" y="1971055"/>
            <a:ext cx="2313565" cy="1364476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marR="5080">
              <a:lnSpc>
                <a:spcPct val="145400"/>
              </a:lnSpc>
              <a:spcBef>
                <a:spcPts val="100"/>
              </a:spcBef>
            </a:pPr>
            <a:r>
              <a:rPr lang="en-IN" sz="2000" b="1" u="sng" spc="-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</a:p>
          <a:p>
            <a:pPr marL="12700" marR="5080">
              <a:lnSpc>
                <a:spcPct val="145400"/>
              </a:lnSpc>
              <a:spcBef>
                <a:spcPts val="100"/>
              </a:spcBef>
            </a:pPr>
            <a:r>
              <a:rPr lang="en-IN" sz="2000" b="1" spc="-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Number </a:t>
            </a:r>
            <a:r>
              <a:rPr lang="en-IN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IN" sz="2000" b="1" spc="-1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  </a:t>
            </a:r>
            <a:r>
              <a:rPr lang="en-IN" sz="2000" b="1" spc="-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Pointer Number </a:t>
            </a:r>
            <a:r>
              <a:rPr lang="en-IN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IN" sz="2000" b="1" spc="-5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b="1" spc="-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30</a:t>
            </a:r>
          </a:p>
        </p:txBody>
      </p:sp>
    </p:spTree>
    <p:extLst>
      <p:ext uri="{BB962C8B-B14F-4D97-AF65-F5344CB8AC3E}">
        <p14:creationId xmlns:p14="http://schemas.microsoft.com/office/powerpoint/2010/main" val="42943185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body" idx="1"/>
          </p:nvPr>
        </p:nvSpPr>
        <p:spPr>
          <a:xfrm>
            <a:off x="925193" y="644099"/>
            <a:ext cx="11352624" cy="6048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0" indent="0">
              <a:lnSpc>
                <a:spcPct val="150000"/>
              </a:lnSpc>
              <a:spcBef>
                <a:spcPts val="100"/>
              </a:spcBef>
              <a:buNone/>
            </a:pPr>
            <a:r>
              <a:rPr lang="en-IN" sz="2000" spc="-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sz="2000" spc="-5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oid</a:t>
            </a:r>
            <a:r>
              <a:rPr sz="2000" spc="-1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main()</a:t>
            </a:r>
            <a:endParaRPr lang="en-IN" sz="2000" spc="-5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100"/>
              </a:spcBef>
              <a:buNone/>
            </a:pPr>
            <a:r>
              <a:rPr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 marL="0" indent="0">
              <a:lnSpc>
                <a:spcPct val="150000"/>
              </a:lnSpc>
              <a:spcBef>
                <a:spcPts val="100"/>
              </a:spcBef>
              <a:buNone/>
            </a:pPr>
            <a:r>
              <a:rPr lang="en-IN" sz="2000" spc="-25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IN" sz="2000" spc="-2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spc="-3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a[10] </a:t>
            </a: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IN" sz="2000" spc="-3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{1,2,3,4,5,6,7,8,9,12} </a:t>
            </a:r>
            <a:r>
              <a:rPr lang="en-IN" sz="2000" spc="-2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,*p, *q </a:t>
            </a: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IN" sz="2000" spc="-204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spc="-15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sz="2000" spc="-1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0" indent="0">
              <a:lnSpc>
                <a:spcPct val="150000"/>
              </a:lnSpc>
              <a:spcBef>
                <a:spcPts val="100"/>
              </a:spcBef>
              <a:buNone/>
            </a:pP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 =</a:t>
            </a:r>
            <a:r>
              <a:rPr lang="en-IN" sz="2000" spc="-21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spc="-3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&amp;a[2];// address of the element 3</a:t>
            </a:r>
            <a:endParaRPr lang="en-IN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6424295" indent="0">
              <a:lnSpc>
                <a:spcPct val="150000"/>
              </a:lnSpc>
              <a:spcBef>
                <a:spcPts val="229"/>
              </a:spcBef>
              <a:buNone/>
            </a:pP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 =</a:t>
            </a:r>
            <a:r>
              <a:rPr lang="en-IN" sz="2000" spc="-204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spc="-3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&amp;a[5]; //address of the element 6</a:t>
            </a:r>
          </a:p>
          <a:p>
            <a:pPr marL="0" marR="6424295" indent="0">
              <a:lnSpc>
                <a:spcPct val="150000"/>
              </a:lnSpc>
              <a:spcBef>
                <a:spcPts val="229"/>
              </a:spcBef>
              <a:buNone/>
            </a:pPr>
            <a:r>
              <a:rPr lang="en-IN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IN" sz="2000" spc="-2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*q </a:t>
            </a: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IN" sz="2000" spc="-25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spc="-2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*p;//6-3</a:t>
            </a:r>
            <a:endParaRPr lang="en-IN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1887855" indent="0">
              <a:lnSpc>
                <a:spcPct val="150000"/>
              </a:lnSpc>
              <a:spcBef>
                <a:spcPts val="10"/>
              </a:spcBef>
              <a:buNone/>
            </a:pPr>
            <a:r>
              <a:rPr lang="en-IN" sz="2000" spc="-3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IN" sz="2000" spc="-3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(“The value </a:t>
            </a:r>
            <a:r>
              <a:rPr lang="en-IN" sz="2000" spc="-2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lang="en-IN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spc="-1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 </a:t>
            </a:r>
            <a:r>
              <a:rPr lang="en-IN" sz="2000" spc="-4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%d” </a:t>
            </a:r>
            <a:r>
              <a:rPr lang="en-IN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sz="2000" spc="-22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spc="-1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); </a:t>
            </a:r>
          </a:p>
          <a:p>
            <a:pPr marL="0" marR="1887855" indent="0">
              <a:lnSpc>
                <a:spcPct val="150000"/>
              </a:lnSpc>
              <a:spcBef>
                <a:spcPts val="10"/>
              </a:spcBef>
              <a:buNone/>
            </a:pPr>
            <a:r>
              <a:rPr lang="en-IN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IN" sz="2000" spc="-2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*p </a:t>
            </a: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IN" sz="2000" spc="-16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spc="-2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*q;//3-6</a:t>
            </a:r>
          </a:p>
          <a:p>
            <a:pPr marL="0" marR="1887855" indent="0">
              <a:lnSpc>
                <a:spcPct val="150000"/>
              </a:lnSpc>
              <a:spcBef>
                <a:spcPts val="10"/>
              </a:spcBef>
              <a:buNone/>
            </a:pPr>
            <a:r>
              <a:rPr lang="en-IN" sz="2000" spc="-3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IN" sz="2000" spc="-3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(“The value </a:t>
            </a:r>
            <a:r>
              <a:rPr lang="en-IN" sz="2000" spc="-2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lang="en-IN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spc="-1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 </a:t>
            </a:r>
            <a:r>
              <a:rPr lang="en-IN" sz="2000" spc="-4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%d” </a:t>
            </a:r>
            <a:r>
              <a:rPr lang="en-IN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sz="2000" spc="-22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spc="-1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);  </a:t>
            </a:r>
          </a:p>
          <a:p>
            <a:pPr marL="0" marR="1887855" indent="0">
              <a:lnSpc>
                <a:spcPct val="150000"/>
              </a:lnSpc>
              <a:spcBef>
                <a:spcPts val="10"/>
              </a:spcBef>
              <a:buNone/>
            </a:pPr>
            <a:r>
              <a:rPr lang="en-IN" sz="2000" spc="-2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a[2] </a:t>
            </a: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IN" sz="2000" spc="-2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a[5] </a:t>
            </a: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IN" sz="2000" spc="-15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spc="-2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0;</a:t>
            </a:r>
          </a:p>
          <a:p>
            <a:pPr marL="0" marR="1887855" indent="0">
              <a:lnSpc>
                <a:spcPct val="150000"/>
              </a:lnSpc>
              <a:spcBef>
                <a:spcPts val="10"/>
              </a:spcBef>
              <a:buNone/>
            </a:pPr>
            <a:r>
              <a:rPr lang="en-IN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IN" sz="2000" spc="-2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*p </a:t>
            </a: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IN" sz="2000" spc="-16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spc="-2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*q;</a:t>
            </a:r>
          </a:p>
          <a:p>
            <a:pPr marL="0" marR="1887855" indent="0">
              <a:lnSpc>
                <a:spcPct val="150000"/>
              </a:lnSpc>
              <a:spcBef>
                <a:spcPts val="10"/>
              </a:spcBef>
              <a:buNone/>
            </a:pPr>
            <a:r>
              <a:rPr lang="en-IN" sz="2000" spc="-3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IN" sz="2000" spc="-3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(“The value </a:t>
            </a:r>
            <a:r>
              <a:rPr lang="en-IN" sz="2000" spc="-2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lang="en-IN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spc="-1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 </a:t>
            </a:r>
            <a:r>
              <a:rPr lang="en-IN" sz="2000" spc="-4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%d” </a:t>
            </a:r>
            <a:r>
              <a:rPr lang="en-IN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sz="2000" spc="-19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spc="-1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pPr marL="0" marR="1887855" indent="0">
              <a:lnSpc>
                <a:spcPct val="150000"/>
              </a:lnSpc>
              <a:spcBef>
                <a:spcPts val="10"/>
              </a:spcBef>
              <a:buNone/>
            </a:pPr>
            <a:r>
              <a:rPr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961693" y="193358"/>
            <a:ext cx="6515734" cy="574040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3600" b="1" spc="-35" dirty="0">
                <a:latin typeface="Arial"/>
                <a:cs typeface="Arial"/>
              </a:rPr>
              <a:t>Example Program 4</a:t>
            </a:r>
            <a:endParaRPr sz="3600" dirty="0">
              <a:latin typeface="Arial"/>
              <a:cs typeface="Arial"/>
            </a:endParaRPr>
          </a:p>
        </p:txBody>
      </p:sp>
      <p:sp>
        <p:nvSpPr>
          <p:cNvPr id="4" name="object 3"/>
          <p:cNvSpPr txBox="1">
            <a:spLocks/>
          </p:cNvSpPr>
          <p:nvPr/>
        </p:nvSpPr>
        <p:spPr>
          <a:xfrm>
            <a:off x="8253793" y="1747917"/>
            <a:ext cx="2313565" cy="181075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marR="5080">
              <a:lnSpc>
                <a:spcPct val="145400"/>
              </a:lnSpc>
              <a:spcBef>
                <a:spcPts val="100"/>
              </a:spcBef>
            </a:pPr>
            <a:r>
              <a:rPr lang="en-IN" sz="2000" b="1" u="sng" spc="-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</a:p>
          <a:p>
            <a:pPr marL="12700" marR="5080">
              <a:lnSpc>
                <a:spcPct val="145400"/>
              </a:lnSpc>
              <a:spcBef>
                <a:spcPts val="100"/>
              </a:spcBef>
            </a:pPr>
            <a:r>
              <a:rPr lang="en-IN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IN" sz="2000" b="1" spc="-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value </a:t>
            </a:r>
            <a:r>
              <a:rPr lang="en-IN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lang="en-IN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is 3  The </a:t>
            </a:r>
            <a:r>
              <a:rPr lang="en-IN" sz="2000" b="1" spc="-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value </a:t>
            </a:r>
            <a:r>
              <a:rPr lang="en-IN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lang="en-IN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is</a:t>
            </a:r>
            <a:r>
              <a:rPr lang="en-IN" sz="2000" b="1" spc="-8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-3  The </a:t>
            </a:r>
            <a:r>
              <a:rPr lang="en-IN" sz="2000" b="1" spc="-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value </a:t>
            </a:r>
            <a:r>
              <a:rPr lang="en-IN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lang="en-IN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is</a:t>
            </a:r>
            <a:r>
              <a:rPr lang="en-IN" sz="2000" b="1" spc="-6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IN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47985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body" idx="1"/>
          </p:nvPr>
        </p:nvSpPr>
        <p:spPr>
          <a:xfrm>
            <a:off x="933819" y="902891"/>
            <a:ext cx="12255969" cy="425757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0" indent="0">
              <a:lnSpc>
                <a:spcPct val="150000"/>
              </a:lnSpc>
              <a:spcBef>
                <a:spcPts val="100"/>
              </a:spcBef>
              <a:buNone/>
            </a:pPr>
            <a:r>
              <a:rPr lang="en-IN" sz="2000" spc="-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sz="2000" spc="-5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oid</a:t>
            </a:r>
            <a:r>
              <a:rPr sz="2000" spc="-1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main()</a:t>
            </a:r>
            <a:endParaRPr lang="en-IN" sz="2000" spc="-5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100"/>
              </a:spcBef>
              <a:buNone/>
            </a:pPr>
            <a:r>
              <a:rPr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 marL="228600" lvl="1" indent="0" algn="just">
              <a:lnSpc>
                <a:spcPts val="3240"/>
              </a:lnSpc>
              <a:spcBef>
                <a:spcPts val="100"/>
              </a:spcBef>
              <a:buNone/>
            </a:pPr>
            <a:r>
              <a:rPr lang="en-IN" spc="-5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IN" spc="-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a[10] = { </a:t>
            </a:r>
            <a:r>
              <a:rPr lang="en-IN" spc="-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2,3,4,5,6,7,8,9,1,0 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}, </a:t>
            </a:r>
            <a:r>
              <a:rPr lang="en-IN" spc="-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*p,</a:t>
            </a:r>
            <a:r>
              <a:rPr lang="en-IN" spc="2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pc="-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*q;</a:t>
            </a: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6671309" lvl="1" indent="0" algn="just">
              <a:lnSpc>
                <a:spcPts val="3120"/>
              </a:lnSpc>
              <a:spcBef>
                <a:spcPts val="185"/>
              </a:spcBef>
              <a:buNone/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 =</a:t>
            </a:r>
            <a:r>
              <a:rPr lang="en-IN" spc="-9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pc="-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&amp;a[2]; // address of 4 </a:t>
            </a:r>
          </a:p>
          <a:p>
            <a:pPr marL="228600" marR="6671309" lvl="1" indent="0" algn="just">
              <a:lnSpc>
                <a:spcPts val="3120"/>
              </a:lnSpc>
              <a:spcBef>
                <a:spcPts val="185"/>
              </a:spcBef>
              <a:buNone/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 = p + 3; // address of 7 </a:t>
            </a:r>
          </a:p>
          <a:p>
            <a:pPr marL="228600" marR="6671309" lvl="1" indent="0" algn="just">
              <a:lnSpc>
                <a:spcPts val="3120"/>
              </a:lnSpc>
              <a:spcBef>
                <a:spcPts val="185"/>
              </a:spcBef>
              <a:buNone/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 = q – 1;  // address of 6</a:t>
            </a:r>
          </a:p>
          <a:p>
            <a:pPr marL="228600" marR="6671309" lvl="1" indent="0" algn="just">
              <a:lnSpc>
                <a:spcPts val="3120"/>
              </a:lnSpc>
              <a:spcBef>
                <a:spcPts val="185"/>
              </a:spcBef>
              <a:buNone/>
            </a:pPr>
            <a:r>
              <a:rPr lang="en-IN" spc="-1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p+ 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IN" spc="-1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;//address of 7</a:t>
            </a:r>
          </a:p>
          <a:p>
            <a:pPr marL="228600" marR="6671309" lvl="1" indent="0" algn="just">
              <a:lnSpc>
                <a:spcPts val="3120"/>
              </a:lnSpc>
              <a:spcBef>
                <a:spcPts val="185"/>
              </a:spcBef>
              <a:buNone/>
            </a:pPr>
            <a:r>
              <a:rPr lang="en-IN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IN" spc="-5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rintf</a:t>
            </a:r>
            <a:r>
              <a:rPr lang="en-IN" spc="-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(“The value </a:t>
            </a:r>
            <a:r>
              <a:rPr lang="en-IN" spc="-1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 </a:t>
            </a:r>
            <a:r>
              <a:rPr lang="en-IN" spc="-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 are : %d , </a:t>
            </a:r>
            <a:r>
              <a:rPr lang="en-IN" spc="-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%d”</a:t>
            </a:r>
            <a:r>
              <a:rPr lang="en-IN" spc="-3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pc="-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*p,*q);</a:t>
            </a: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1887855" indent="0">
              <a:lnSpc>
                <a:spcPct val="150000"/>
              </a:lnSpc>
              <a:spcBef>
                <a:spcPts val="10"/>
              </a:spcBef>
              <a:buNone/>
            </a:pPr>
            <a:r>
              <a:rPr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875428" y="328851"/>
            <a:ext cx="6515734" cy="574040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3600" b="1" spc="-35" dirty="0">
                <a:latin typeface="Arial"/>
                <a:cs typeface="Arial"/>
              </a:rPr>
              <a:t>Example Program 5</a:t>
            </a:r>
            <a:endParaRPr sz="3600" dirty="0">
              <a:latin typeface="Arial"/>
              <a:cs typeface="Arial"/>
            </a:endParaRPr>
          </a:p>
        </p:txBody>
      </p:sp>
      <p:sp>
        <p:nvSpPr>
          <p:cNvPr id="4" name="object 3"/>
          <p:cNvSpPr txBox="1">
            <a:spLocks/>
          </p:cNvSpPr>
          <p:nvPr/>
        </p:nvSpPr>
        <p:spPr>
          <a:xfrm>
            <a:off x="7934616" y="2330589"/>
            <a:ext cx="3409120" cy="748923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marR="5080">
              <a:lnSpc>
                <a:spcPct val="145400"/>
              </a:lnSpc>
              <a:spcBef>
                <a:spcPts val="100"/>
              </a:spcBef>
            </a:pPr>
            <a:r>
              <a:rPr lang="en-IN" sz="2000" b="1" u="sng" spc="-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</a:p>
          <a:p>
            <a:pPr marL="12700">
              <a:spcBef>
                <a:spcPts val="100"/>
              </a:spcBef>
            </a:pPr>
            <a:r>
              <a:rPr lang="en-IN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IN" sz="2000" b="1" spc="-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value </a:t>
            </a:r>
            <a:r>
              <a:rPr lang="en-IN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 p </a:t>
            </a:r>
            <a:r>
              <a:rPr lang="en-IN" sz="2000" b="1" spc="-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IN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 </a:t>
            </a:r>
            <a:r>
              <a:rPr lang="en-IN" sz="2000" b="1" spc="-1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are </a:t>
            </a:r>
            <a:r>
              <a:rPr lang="en-IN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7 ,</a:t>
            </a:r>
            <a:r>
              <a:rPr lang="en-IN" sz="2000" b="1" spc="-2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endParaRPr lang="en-IN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29178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3245" y="2057400"/>
            <a:ext cx="10550105" cy="4038600"/>
          </a:xfrm>
        </p:spPr>
        <p:txBody>
          <a:bodyPr>
            <a:noAutofit/>
          </a:bodyPr>
          <a:lstStyle/>
          <a:p>
            <a:pPr marL="866140" marR="5080" indent="-342900">
              <a:lnSpc>
                <a:spcPct val="100000"/>
              </a:lnSpc>
              <a:spcBef>
                <a:spcPts val="100"/>
              </a:spcBef>
              <a:tabLst>
                <a:tab pos="865505" algn="l"/>
                <a:tab pos="866140" algn="l"/>
                <a:tab pos="2032000" algn="l"/>
                <a:tab pos="2568575" algn="l"/>
                <a:tab pos="3294379" algn="l"/>
                <a:tab pos="3698240" algn="l"/>
                <a:tab pos="5030470" algn="l"/>
                <a:tab pos="5855970" algn="l"/>
                <a:tab pos="6935470" algn="l"/>
                <a:tab pos="7828280" algn="l"/>
                <a:tab pos="8770620" algn="l"/>
              </a:tabLst>
            </a:pPr>
            <a:r>
              <a:rPr lang="en-IN" spc="-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</a:t>
            </a:r>
            <a:r>
              <a:rPr lang="en-IN" spc="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IN" spc="-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 </a:t>
            </a:r>
            <a:r>
              <a:rPr lang="en-IN" spc="-1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 </a:t>
            </a:r>
            <a:r>
              <a:rPr lang="en-IN" spc="-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ed </a:t>
            </a:r>
            <a:r>
              <a:rPr lang="en-IN" spc="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 </a:t>
            </a:r>
            <a:r>
              <a:rPr lang="en-IN" spc="-1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itu</a:t>
            </a:r>
            <a:r>
              <a:rPr lang="en-IN" spc="-1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tions when </a:t>
            </a:r>
            <a:r>
              <a:rPr lang="en-IN" spc="-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passing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a</a:t>
            </a:r>
            <a:r>
              <a:rPr lang="en-IN" spc="-1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tual </a:t>
            </a:r>
            <a:r>
              <a:rPr lang="en-IN" spc="-1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IN" spc="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IN" spc="-1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ue</a:t>
            </a:r>
            <a:r>
              <a:rPr lang="en-IN" spc="-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 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 </a:t>
            </a:r>
            <a:r>
              <a:rPr lang="en-IN" spc="-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difficult 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 not</a:t>
            </a:r>
            <a:r>
              <a:rPr lang="en-IN" spc="-3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desired.</a:t>
            </a:r>
          </a:p>
          <a:p>
            <a:pPr marL="866140" marR="5080" indent="-342900">
              <a:lnSpc>
                <a:spcPct val="100000"/>
              </a:lnSpc>
              <a:spcBef>
                <a:spcPts val="100"/>
              </a:spcBef>
              <a:tabLst>
                <a:tab pos="865505" algn="l"/>
                <a:tab pos="866140" algn="l"/>
                <a:tab pos="2032000" algn="l"/>
                <a:tab pos="2568575" algn="l"/>
                <a:tab pos="3294379" algn="l"/>
                <a:tab pos="3698240" algn="l"/>
                <a:tab pos="5030470" algn="l"/>
                <a:tab pos="5855970" algn="l"/>
                <a:tab pos="6935470" algn="l"/>
                <a:tab pos="7828280" algn="l"/>
                <a:tab pos="8770620" algn="l"/>
              </a:tabLst>
            </a:pPr>
            <a:r>
              <a:rPr lang="en-IN" spc="-8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return </a:t>
            </a:r>
            <a:r>
              <a:rPr lang="en-IN" spc="-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more 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 one value from a</a:t>
            </a:r>
            <a:r>
              <a:rPr lang="en-IN" spc="3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function.</a:t>
            </a:r>
          </a:p>
          <a:p>
            <a:pPr marL="866140" marR="5080" indent="-342900">
              <a:lnSpc>
                <a:spcPct val="100000"/>
              </a:lnSpc>
              <a:spcBef>
                <a:spcPts val="100"/>
              </a:spcBef>
              <a:tabLst>
                <a:tab pos="865505" algn="l"/>
                <a:tab pos="866140" algn="l"/>
                <a:tab pos="2032000" algn="l"/>
                <a:tab pos="2568575" algn="l"/>
                <a:tab pos="3294379" algn="l"/>
                <a:tab pos="3698240" algn="l"/>
                <a:tab pos="5030470" algn="l"/>
                <a:tab pos="5855970" algn="l"/>
                <a:tab pos="6935470" algn="l"/>
                <a:tab pos="7828280" algn="l"/>
                <a:tab pos="8770620" algn="l"/>
              </a:tabLst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They</a:t>
            </a:r>
            <a:r>
              <a:rPr lang="en-IN" spc="-1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increase the execution</a:t>
            </a:r>
            <a:r>
              <a:rPr lang="en-IN" spc="-6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speed.</a:t>
            </a:r>
          </a:p>
          <a:p>
            <a:pPr marL="866140" marR="5080" indent="-342900">
              <a:lnSpc>
                <a:spcPct val="100000"/>
              </a:lnSpc>
              <a:spcBef>
                <a:spcPts val="100"/>
              </a:spcBef>
              <a:tabLst>
                <a:tab pos="865505" algn="l"/>
                <a:tab pos="866140" algn="l"/>
                <a:tab pos="2032000" algn="l"/>
                <a:tab pos="2568575" algn="l"/>
                <a:tab pos="3294379" algn="l"/>
                <a:tab pos="3698240" algn="l"/>
                <a:tab pos="5030470" algn="l"/>
                <a:tab pos="5855970" algn="l"/>
                <a:tab pos="6935470" algn="l"/>
                <a:tab pos="7828280" algn="l"/>
                <a:tab pos="8770620" algn="l"/>
              </a:tabLst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Pointers are </a:t>
            </a:r>
            <a:r>
              <a:rPr lang="en-IN" spc="-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more </a:t>
            </a:r>
            <a:r>
              <a:rPr lang="en-IN" spc="-1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efficient 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handling the data types</a:t>
            </a:r>
            <a:r>
              <a:rPr lang="en-IN" spc="-10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66140" marR="5080" indent="-342900">
              <a:lnSpc>
                <a:spcPct val="100000"/>
              </a:lnSpc>
              <a:spcBef>
                <a:spcPts val="100"/>
              </a:spcBef>
              <a:tabLst>
                <a:tab pos="865505" algn="l"/>
                <a:tab pos="866140" algn="l"/>
                <a:tab pos="2032000" algn="l"/>
                <a:tab pos="2568575" algn="l"/>
                <a:tab pos="3294379" algn="l"/>
                <a:tab pos="3698240" algn="l"/>
                <a:tab pos="5030470" algn="l"/>
                <a:tab pos="5855970" algn="l"/>
                <a:tab pos="6935470" algn="l"/>
                <a:tab pos="7828280" algn="l"/>
                <a:tab pos="8770620" algn="l"/>
              </a:tabLst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Pointers reduce the length and </a:t>
            </a:r>
            <a:r>
              <a:rPr lang="en-IN" spc="-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complexity 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 a</a:t>
            </a:r>
            <a:r>
              <a:rPr lang="en-IN" spc="-11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pc="-5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program.</a:t>
            </a: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66140" marR="5080" indent="-342900">
              <a:lnSpc>
                <a:spcPct val="100000"/>
              </a:lnSpc>
              <a:spcBef>
                <a:spcPts val="100"/>
              </a:spcBef>
              <a:tabLst>
                <a:tab pos="865505" algn="l"/>
                <a:tab pos="866140" algn="l"/>
                <a:tab pos="2032000" algn="l"/>
                <a:tab pos="2568575" algn="l"/>
                <a:tab pos="3294379" algn="l"/>
                <a:tab pos="3698240" algn="l"/>
                <a:tab pos="5030470" algn="l"/>
                <a:tab pos="5855970" algn="l"/>
                <a:tab pos="6935470" algn="l"/>
                <a:tab pos="7828280" algn="l"/>
                <a:tab pos="8770620" algn="l"/>
              </a:tabLst>
            </a:pPr>
            <a:r>
              <a:rPr lang="en-IN" spc="-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Implementing 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linked lists, trees, graphs and </a:t>
            </a:r>
            <a:r>
              <a:rPr lang="en-IN" spc="-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many 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other</a:t>
            </a:r>
            <a:r>
              <a:rPr lang="en-IN" spc="-9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pc="-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structure.</a:t>
            </a:r>
          </a:p>
        </p:txBody>
      </p:sp>
      <p:sp>
        <p:nvSpPr>
          <p:cNvPr id="4" name="object 3"/>
          <p:cNvSpPr txBox="1">
            <a:spLocks noGrp="1"/>
          </p:cNvSpPr>
          <p:nvPr>
            <p:ph type="title"/>
          </p:nvPr>
        </p:nvSpPr>
        <p:spPr>
          <a:xfrm>
            <a:off x="1140351" y="732372"/>
            <a:ext cx="9875520" cy="627736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95"/>
              </a:spcBef>
            </a:pPr>
            <a:r>
              <a:rPr sz="4000" dirty="0">
                <a:latin typeface="Times New Roman"/>
                <a:cs typeface="Times New Roman"/>
              </a:rPr>
              <a:t>Benefits </a:t>
            </a:r>
            <a:r>
              <a:rPr sz="4000" spc="-5" dirty="0">
                <a:latin typeface="Times New Roman"/>
                <a:cs typeface="Times New Roman"/>
              </a:rPr>
              <a:t>of</a:t>
            </a:r>
            <a:r>
              <a:rPr sz="4000" spc="-60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pointer</a:t>
            </a:r>
          </a:p>
        </p:txBody>
      </p:sp>
    </p:spTree>
    <p:extLst>
      <p:ext uri="{BB962C8B-B14F-4D97-AF65-F5344CB8AC3E}">
        <p14:creationId xmlns:p14="http://schemas.microsoft.com/office/powerpoint/2010/main" val="27990085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284285"/>
            <a:ext cx="9875520" cy="791186"/>
          </a:xfrm>
        </p:spPr>
        <p:txBody>
          <a:bodyPr/>
          <a:lstStyle/>
          <a:p>
            <a:pPr algn="ctr"/>
            <a:r>
              <a:rPr lang="en-IN" dirty="0"/>
              <a:t>Pointers to Pointers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3000" y="1415561"/>
            <a:ext cx="9872871" cy="4882662"/>
          </a:xfrm>
        </p:spPr>
        <p:txBody>
          <a:bodyPr>
            <a:normAutofit/>
          </a:bodyPr>
          <a:lstStyle/>
          <a:p>
            <a:pPr algn="just"/>
            <a:r>
              <a:rPr lang="en-IN" sz="2000" spc="-9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Pointer </a:t>
            </a:r>
            <a:r>
              <a:rPr lang="en-IN" sz="2000" spc="-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variable is just </a:t>
            </a: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IN" sz="2000" spc="-9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place-holder </a:t>
            </a:r>
            <a:r>
              <a:rPr lang="en-IN" sz="2000" spc="-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 an  </a:t>
            </a:r>
            <a:r>
              <a:rPr lang="en-IN" sz="2000" spc="-9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address value, and </a:t>
            </a:r>
            <a:r>
              <a:rPr lang="en-IN" sz="2000" spc="-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itself is </a:t>
            </a: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IN" sz="2000" spc="32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spc="-9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variable.</a:t>
            </a:r>
          </a:p>
          <a:p>
            <a:pPr algn="just"/>
            <a:r>
              <a:rPr lang="en-IN" sz="2000" spc="-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Hence </a:t>
            </a: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pointer can </a:t>
            </a:r>
            <a:r>
              <a:rPr lang="en-IN" sz="2000" spc="-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hold </a:t>
            </a: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address of (point to) another  pointer variable. I</a:t>
            </a:r>
            <a:r>
              <a:rPr lang="en-IN" sz="2000" spc="-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 </a:t>
            </a: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 called a  “double</a:t>
            </a:r>
            <a:r>
              <a:rPr lang="en-IN" sz="2000" spc="-9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pointer” or a chain of pointers or a pointer to pointer.</a:t>
            </a:r>
          </a:p>
          <a:p>
            <a:pPr algn="just"/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When we define a pointer to a pointer, the first pointer contains the address of the second pointer, which points to the location that contains the actual value.</a:t>
            </a:r>
          </a:p>
          <a:p>
            <a:pPr algn="just"/>
            <a:endParaRPr lang="en-IN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alt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Declaration:</a:t>
            </a:r>
          </a:p>
          <a:p>
            <a:pPr marL="45720" indent="0" algn="just">
              <a:buNone/>
            </a:pPr>
            <a:r>
              <a:rPr lang="en-US" alt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en-US" sz="20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alt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**</a:t>
            </a:r>
            <a:r>
              <a:rPr lang="en-US" altLang="en-US" sz="20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var</a:t>
            </a:r>
            <a:r>
              <a:rPr lang="en-US" alt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</a:p>
          <a:p>
            <a:pPr algn="just"/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When a target value is indirectly pointed to by a pointer to a pointer, accessing that value requires that the asterisk operator be applied twice.</a:t>
            </a:r>
          </a:p>
        </p:txBody>
      </p:sp>
      <p:pic>
        <p:nvPicPr>
          <p:cNvPr id="1026" name="Picture 2" descr="Pointer to Pointer in C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18583" y="3413489"/>
            <a:ext cx="6594799" cy="10354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713262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altLang="en-US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Pointers and Arrays</a:t>
            </a:r>
            <a:endParaRPr lang="en-IN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2097513" y="2164822"/>
            <a:ext cx="7966494" cy="3046988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400" dirty="0" err="1">
                <a:solidFill>
                  <a:srgbClr val="0000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8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8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8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val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8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[5]={10,20,30,40,50};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400" dirty="0" err="1">
                <a:solidFill>
                  <a:srgbClr val="0000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altLang="en-US" sz="2400" dirty="0">
                <a:solidFill>
                  <a:srgbClr val="0000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*p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rgbClr val="00008B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8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 = &amp;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val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8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] which means *p ==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val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8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If (p+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8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 == &amp;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val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8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]  and *(p+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8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 ==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val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8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If (p+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8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 == &amp;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val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8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]  and *(p+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8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 ==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val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8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p+n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 == &amp;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val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[n+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8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and *(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p+n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 ==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val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[n+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8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74069173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 descr="Array using Pointer | Understanding Arrays in C Programming - YouTub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1906" y="398341"/>
            <a:ext cx="10272305" cy="57781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8675985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2282" y="1095552"/>
            <a:ext cx="9872871" cy="5909095"/>
          </a:xfrm>
        </p:spPr>
        <p:txBody>
          <a:bodyPr>
            <a:normAutofit fontScale="25000" lnSpcReduction="20000"/>
          </a:bodyPr>
          <a:lstStyle/>
          <a:p>
            <a:pPr marL="45720" indent="0" fontAlgn="t">
              <a:lnSpc>
                <a:spcPct val="120000"/>
              </a:lnSpc>
              <a:spcBef>
                <a:spcPts val="300"/>
              </a:spcBef>
              <a:buNone/>
            </a:pPr>
            <a:r>
              <a:rPr lang="en-IN" sz="6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/*program to compute sum of all elements stored in an array using pointers*/</a:t>
            </a:r>
          </a:p>
          <a:p>
            <a:pPr marL="45720" indent="0" fontAlgn="t">
              <a:lnSpc>
                <a:spcPct val="120000"/>
              </a:lnSpc>
              <a:spcBef>
                <a:spcPts val="300"/>
              </a:spcBef>
              <a:buNone/>
            </a:pPr>
            <a:endParaRPr lang="en-IN" sz="64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" indent="0" fontAlgn="t">
              <a:lnSpc>
                <a:spcPct val="120000"/>
              </a:lnSpc>
              <a:spcBef>
                <a:spcPts val="300"/>
              </a:spcBef>
              <a:buNone/>
            </a:pPr>
            <a:r>
              <a:rPr lang="en-IN" sz="6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#include&lt;</a:t>
            </a:r>
            <a:r>
              <a:rPr lang="en-IN" sz="6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stdio.h</a:t>
            </a:r>
            <a:r>
              <a:rPr lang="en-IN" sz="6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pPr marL="45720" indent="0" fontAlgn="t">
              <a:lnSpc>
                <a:spcPct val="120000"/>
              </a:lnSpc>
              <a:spcBef>
                <a:spcPts val="300"/>
              </a:spcBef>
              <a:buNone/>
            </a:pPr>
            <a:r>
              <a:rPr lang="en-IN" sz="6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#include&lt;</a:t>
            </a:r>
            <a:r>
              <a:rPr lang="en-IN" sz="6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conio.h</a:t>
            </a:r>
            <a:r>
              <a:rPr lang="en-IN" sz="6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pPr marL="45720" indent="0" fontAlgn="t">
              <a:lnSpc>
                <a:spcPct val="120000"/>
              </a:lnSpc>
              <a:spcBef>
                <a:spcPts val="300"/>
              </a:spcBef>
              <a:buNone/>
            </a:pPr>
            <a:r>
              <a:rPr lang="en-IN" sz="6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main ()</a:t>
            </a:r>
          </a:p>
          <a:p>
            <a:pPr marL="45720" indent="0" fontAlgn="t">
              <a:lnSpc>
                <a:spcPct val="120000"/>
              </a:lnSpc>
              <a:spcBef>
                <a:spcPts val="300"/>
              </a:spcBef>
              <a:buNone/>
            </a:pPr>
            <a:r>
              <a:rPr lang="en-IN" sz="6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 marL="274320" lvl="1" indent="0" fontAlgn="t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IN" sz="6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IN" sz="6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a [10], I, sum=0,*p;</a:t>
            </a:r>
          </a:p>
          <a:p>
            <a:pPr marL="274320" lvl="1" indent="0" fontAlgn="t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pt-BR" sz="6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printf (“enter 10 elements \n”);</a:t>
            </a:r>
          </a:p>
          <a:p>
            <a:pPr marL="274320" lvl="1" indent="0" fontAlgn="t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IN" sz="6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 (</a:t>
            </a:r>
            <a:r>
              <a:rPr lang="en-IN" sz="6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sz="6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=0; </a:t>
            </a:r>
            <a:r>
              <a:rPr lang="en-IN" sz="6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sz="6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&lt;10; </a:t>
            </a:r>
            <a:r>
              <a:rPr lang="en-IN" sz="6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sz="6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++)</a:t>
            </a:r>
          </a:p>
          <a:p>
            <a:pPr marL="274320" lvl="1" indent="0" fontAlgn="t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IN" sz="6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scanf</a:t>
            </a:r>
            <a:r>
              <a:rPr lang="en-IN" sz="6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(“%d”, &amp; a[</a:t>
            </a:r>
            <a:r>
              <a:rPr lang="en-IN" sz="6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sz="6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]);</a:t>
            </a:r>
          </a:p>
          <a:p>
            <a:pPr marL="274320" lvl="1" indent="0" fontAlgn="t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IN" sz="6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p=a;</a:t>
            </a:r>
          </a:p>
          <a:p>
            <a:pPr marL="274320" lvl="1" indent="0" fontAlgn="t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nn-NO" sz="6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 (i = 0; i&lt;10; i++)</a:t>
            </a:r>
          </a:p>
          <a:p>
            <a:pPr marL="274320" lvl="1" indent="0" fontAlgn="t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nn-NO" sz="6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 marL="548640" lvl="2" indent="0" fontAlgn="t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IN" sz="7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sum = sum+ *p;</a:t>
            </a:r>
          </a:p>
          <a:p>
            <a:pPr marL="548640" lvl="2" indent="0" fontAlgn="t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IN" sz="7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p++;</a:t>
            </a:r>
            <a:endParaRPr lang="en-IN" sz="6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74320" lvl="1" indent="0" fontAlgn="t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IN" sz="6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marL="274320" lvl="1" indent="0" fontAlgn="t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IN" sz="6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IN" sz="6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(“the sum is % d”, sum);</a:t>
            </a:r>
          </a:p>
          <a:p>
            <a:pPr marL="274320" lvl="1" indent="0" fontAlgn="t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IN" sz="6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getch</a:t>
            </a:r>
            <a:r>
              <a:rPr lang="en-IN" sz="6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();</a:t>
            </a:r>
          </a:p>
          <a:p>
            <a:pPr marL="45720" indent="0" fontAlgn="t">
              <a:lnSpc>
                <a:spcPct val="120000"/>
              </a:lnSpc>
              <a:spcBef>
                <a:spcPts val="300"/>
              </a:spcBef>
              <a:buNone/>
            </a:pPr>
            <a:r>
              <a:rPr lang="en-IN" sz="6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marL="45720" indent="0">
              <a:buNone/>
            </a:pPr>
            <a:endParaRPr lang="en-IN" dirty="0"/>
          </a:p>
        </p:txBody>
      </p:sp>
      <p:sp>
        <p:nvSpPr>
          <p:cNvPr id="4" name="object 3"/>
          <p:cNvSpPr txBox="1">
            <a:spLocks noGrp="1"/>
          </p:cNvSpPr>
          <p:nvPr>
            <p:ph type="title"/>
          </p:nvPr>
        </p:nvSpPr>
        <p:spPr>
          <a:xfrm>
            <a:off x="3875428" y="208081"/>
            <a:ext cx="6515734" cy="574040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3600" b="1" spc="-35" dirty="0">
                <a:latin typeface="Arial"/>
                <a:cs typeface="Arial"/>
              </a:rPr>
              <a:t>Example Program 7</a:t>
            </a:r>
            <a:endParaRPr sz="36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3823121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433754"/>
            <a:ext cx="9875520" cy="946638"/>
          </a:xfrm>
        </p:spPr>
        <p:txBody>
          <a:bodyPr/>
          <a:lstStyle/>
          <a:p>
            <a:pPr algn="ctr"/>
            <a:r>
              <a:rPr lang="en-IN" dirty="0"/>
              <a:t>Example Program 9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800100" y="1380392"/>
            <a:ext cx="5424853" cy="496538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126960" rIns="0" bIns="12696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#include &lt;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stdio.h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main(void)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{ </a:t>
            </a:r>
          </a:p>
          <a:p>
            <a:pPr marL="2286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char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[6] = "HELLO"; </a:t>
            </a:r>
            <a:r>
              <a:rPr lang="en-US" altLang="en-US" sz="18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 string variable </a:t>
            </a:r>
          </a:p>
          <a:p>
            <a:pPr marL="2286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char *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ptr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en-US" altLang="en-US" sz="18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 pointer variable </a:t>
            </a:r>
          </a:p>
          <a:p>
            <a:pPr marL="2286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dirty="0" err="1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altLang="en-US" sz="18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len</a:t>
            </a:r>
            <a:r>
              <a:rPr lang="en-US" altLang="en-US" sz="18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2286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dirty="0" err="1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US" altLang="en-US" sz="18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(“%s\n”, </a:t>
            </a:r>
            <a:r>
              <a:rPr lang="en-US" altLang="en-US" sz="1800" dirty="0" err="1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</a:t>
            </a:r>
            <a:r>
              <a:rPr lang="en-US" altLang="en-US" sz="18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while(*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ptr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!= '\0') </a:t>
            </a:r>
            <a:r>
              <a:rPr lang="en-US" altLang="en-US" sz="18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 print the string </a:t>
            </a:r>
          </a:p>
          <a:p>
            <a:pPr marL="2286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{ </a:t>
            </a:r>
          </a:p>
          <a:p>
            <a:pPr marL="502920" lvl="2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("%c is</a:t>
            </a:r>
            <a:r>
              <a:rPr kumimoji="0" lang="en-US" altLang="en-US" b="0" i="0" u="none" strike="noStrike" cap="none" normalizeH="0" dirty="0">
                <a:ln>
                  <a:noFill/>
                </a:ln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stored at %u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", *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ptr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ptr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); </a:t>
            </a:r>
          </a:p>
          <a:p>
            <a:pPr marL="502920" lvl="2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// move the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ptr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pointer to the next memory location </a:t>
            </a:r>
          </a:p>
          <a:p>
            <a:pPr marL="502920" lvl="2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ptr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++; </a:t>
            </a:r>
          </a:p>
          <a:p>
            <a:pPr marL="2286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marL="2286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dirty="0" err="1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len</a:t>
            </a:r>
            <a:r>
              <a:rPr lang="en-US" altLang="en-US" sz="18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en-US" sz="1800" dirty="0" err="1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ptr-str</a:t>
            </a:r>
            <a:r>
              <a:rPr lang="en-US" altLang="en-US" sz="18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2286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(“The length of the string is= %d\n”,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5" name="Rectangle 1"/>
          <p:cNvSpPr txBox="1">
            <a:spLocks noChangeArrowheads="1"/>
          </p:cNvSpPr>
          <p:nvPr/>
        </p:nvSpPr>
        <p:spPr bwMode="auto">
          <a:xfrm>
            <a:off x="6453553" y="1773955"/>
            <a:ext cx="5424853" cy="358038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126960" rIns="0" bIns="126960" numCol="1" rtlCol="0" anchor="ctr" anchorCtr="0" compatLnSpc="1">
            <a:prstTxWarp prst="textNoShape">
              <a:avLst/>
            </a:prstTxWarp>
            <a:spAutoFit/>
          </a:bodyPr>
          <a:lstStyle>
            <a:lvl1pPr marL="228600" indent="-182880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Clr>
                <a:schemeClr val="accent1"/>
              </a:buClr>
              <a:buSzPct val="80000"/>
              <a:buFont typeface="Corbel" panose="020B0503020204020204" pitchFamily="34" charset="0"/>
              <a:buChar char="•"/>
              <a:defRPr sz="2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anose="020B0503020204020204" pitchFamily="34" charset="0"/>
              <a:buChar char="•"/>
              <a:defRPr sz="20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anose="020B0503020204020204" pitchFamily="34" charset="0"/>
              <a:buChar char="•"/>
              <a:defRPr sz="18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anose="020B0503020204020204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anose="020B0503020204020204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16002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anose="020B0503020204020204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189992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anose="020B0503020204020204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2200275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anose="020B0503020204020204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2499995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anose="020B0503020204020204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="1" u="sng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800" b="1" u="sng" dirty="0">
              <a:solidFill>
                <a:srgbClr val="33333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HELLO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800" dirty="0">
              <a:solidFill>
                <a:srgbClr val="33333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 is stored at 62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 is stored at 63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 is stored at 64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 is stored at 65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 is stored at 66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800" dirty="0">
              <a:solidFill>
                <a:srgbClr val="33333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length of the string is= 5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667889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Pointers as Function Arguments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Pointer as a function parameter is used to hold addresses of arguments passed during function call. </a:t>
            </a:r>
          </a:p>
          <a:p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is also known as </a:t>
            </a:r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call by reference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When a function is called by reference any change made to the reference variable will effect the original variable.</a:t>
            </a:r>
          </a:p>
        </p:txBody>
      </p:sp>
    </p:spTree>
    <p:extLst>
      <p:ext uri="{BB962C8B-B14F-4D97-AF65-F5344CB8AC3E}">
        <p14:creationId xmlns:p14="http://schemas.microsoft.com/office/powerpoint/2010/main" val="191388459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1143000" y="267056"/>
            <a:ext cx="9875520" cy="494581"/>
          </a:xfrm>
        </p:spPr>
        <p:txBody>
          <a:bodyPr>
            <a:normAutofit fontScale="90000"/>
          </a:bodyPr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Program 11</a:t>
            </a:r>
          </a:p>
        </p:txBody>
      </p:sp>
      <p:sp>
        <p:nvSpPr>
          <p:cNvPr id="5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612917" y="1479355"/>
            <a:ext cx="4292842" cy="4378061"/>
          </a:xfrm>
          <a:prstGeom prst="rect">
            <a:avLst/>
          </a:prstGeom>
          <a:solidFill>
            <a:srgbClr val="1E2A3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95220" rIns="0" bIns="952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F8F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#include &lt;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F8F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stdio.h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F8F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F8F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void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E6DB7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swap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F8F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F8F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F8F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*a,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F8F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F8F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*b);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F8F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F8F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F8F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E6DB7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main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F8F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F8F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{ </a:t>
            </a:r>
          </a:p>
          <a:p>
            <a:pPr marL="2286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F8F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F8F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 =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AE81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F8F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n =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AE81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F8F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</a:p>
          <a:p>
            <a:pPr marL="2286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E6DB7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F8F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A6E22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"m = %d\n"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F8F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m); </a:t>
            </a:r>
          </a:p>
          <a:p>
            <a:pPr marL="2286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E6DB7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F8F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A6E22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"n = %d\n\n"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F8F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n); </a:t>
            </a:r>
          </a:p>
          <a:p>
            <a:pPr marL="2286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600" dirty="0">
                <a:solidFill>
                  <a:srgbClr val="70809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//passing address of m and n to the swap function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rgbClr val="E6DB74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E6DB7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swap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F8F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(&amp;m, &amp;n); </a:t>
            </a:r>
          </a:p>
          <a:p>
            <a:pPr marL="2286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rgbClr val="F8F8F2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E6DB7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F8F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A6E22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"After Swapping:\n\n"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F8F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); </a:t>
            </a:r>
          </a:p>
          <a:p>
            <a:pPr marL="2286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E6DB7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F8F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A6E22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"m = %d\n"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F8F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m); </a:t>
            </a:r>
          </a:p>
          <a:p>
            <a:pPr marL="2286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E6DB7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F8F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A6E22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"n = %d"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F8F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n); </a:t>
            </a:r>
          </a:p>
          <a:p>
            <a:pPr marL="2286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66D9E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return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F8F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AE81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F8F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F8F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}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600" dirty="0">
              <a:solidFill>
                <a:srgbClr val="F8F8F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773948" y="4396547"/>
            <a:ext cx="3395931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b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</a:p>
          <a:p>
            <a:endParaRPr lang="en-IN" sz="16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 = 10 </a:t>
            </a:r>
          </a:p>
          <a:p>
            <a:r>
              <a:rPr lang="en-IN" sz="16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 = 20 </a:t>
            </a:r>
          </a:p>
          <a:p>
            <a:r>
              <a:rPr lang="en-IN" sz="16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After Swapping: </a:t>
            </a:r>
          </a:p>
          <a:p>
            <a:r>
              <a:rPr lang="en-IN" sz="16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 = 20 </a:t>
            </a:r>
          </a:p>
          <a:p>
            <a:r>
              <a:rPr lang="en-IN" sz="16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 = 10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1143000" y="761637"/>
            <a:ext cx="9875520" cy="4945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/* Program to swap 2 numbers using pointer*/</a:t>
            </a:r>
          </a:p>
        </p:txBody>
      </p:sp>
      <p:sp>
        <p:nvSpPr>
          <p:cNvPr id="8" name="Rectangle 1"/>
          <p:cNvSpPr txBox="1">
            <a:spLocks noChangeArrowheads="1"/>
          </p:cNvSpPr>
          <p:nvPr/>
        </p:nvSpPr>
        <p:spPr bwMode="auto">
          <a:xfrm>
            <a:off x="6350480" y="1750799"/>
            <a:ext cx="5515934" cy="2408291"/>
          </a:xfrm>
          <a:prstGeom prst="rect">
            <a:avLst/>
          </a:prstGeom>
          <a:solidFill>
            <a:srgbClr val="1E2A3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95220" rIns="0" bIns="95220" numCol="1" rtlCol="0" anchor="ctr" anchorCtr="0" compatLnSpc="1">
            <a:prstTxWarp prst="textNoShape">
              <a:avLst/>
            </a:prstTxWarp>
            <a:spAutoFit/>
          </a:bodyPr>
          <a:lstStyle>
            <a:lvl1pPr marL="228600" indent="-182880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Clr>
                <a:schemeClr val="accent1"/>
              </a:buClr>
              <a:buSzPct val="80000"/>
              <a:buFont typeface="Corbel" panose="020B0503020204020204" pitchFamily="34" charset="0"/>
              <a:buChar char="•"/>
              <a:defRPr sz="2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anose="020B0503020204020204" pitchFamily="34" charset="0"/>
              <a:buChar char="•"/>
              <a:defRPr sz="20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anose="020B0503020204020204" pitchFamily="34" charset="0"/>
              <a:buChar char="•"/>
              <a:defRPr sz="18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anose="020B0503020204020204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anose="020B0503020204020204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16002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anose="020B0503020204020204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189992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anose="020B0503020204020204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2200275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anose="020B0503020204020204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2499995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anose="020B0503020204020204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600" dirty="0">
              <a:solidFill>
                <a:srgbClr val="F8F8F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600" dirty="0">
                <a:solidFill>
                  <a:srgbClr val="70809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/* pointer 'a' and 'b' holds and points to the address of 'm' and 'n' */</a:t>
            </a:r>
            <a:r>
              <a:rPr lang="en-US" altLang="en-US" sz="1600" dirty="0">
                <a:solidFill>
                  <a:srgbClr val="F8F8F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600" dirty="0">
                <a:solidFill>
                  <a:srgbClr val="F8F8F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void </a:t>
            </a:r>
            <a:r>
              <a:rPr lang="en-US" altLang="en-US" sz="1600" dirty="0">
                <a:solidFill>
                  <a:srgbClr val="E6DB7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swap</a:t>
            </a:r>
            <a:r>
              <a:rPr lang="en-US" altLang="en-US" sz="1600" dirty="0">
                <a:solidFill>
                  <a:srgbClr val="F8F8F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US" sz="1600" dirty="0" err="1">
                <a:solidFill>
                  <a:srgbClr val="F8F8F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altLang="en-US" sz="1600" dirty="0">
                <a:solidFill>
                  <a:srgbClr val="F8F8F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*a, </a:t>
            </a:r>
            <a:r>
              <a:rPr lang="en-US" altLang="en-US" sz="1600" dirty="0" err="1">
                <a:solidFill>
                  <a:srgbClr val="F8F8F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altLang="en-US" sz="1600" dirty="0">
                <a:solidFill>
                  <a:srgbClr val="F8F8F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*b)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600" dirty="0">
                <a:solidFill>
                  <a:srgbClr val="F8F8F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 marL="2286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600" dirty="0" err="1">
                <a:solidFill>
                  <a:srgbClr val="F8F8F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altLang="en-US" sz="1600" dirty="0">
                <a:solidFill>
                  <a:srgbClr val="F8F8F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temp; </a:t>
            </a:r>
          </a:p>
          <a:p>
            <a:pPr marL="2286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600" dirty="0">
                <a:solidFill>
                  <a:srgbClr val="F8F8F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temp = *a; </a:t>
            </a:r>
          </a:p>
          <a:p>
            <a:pPr marL="2286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600" dirty="0">
                <a:solidFill>
                  <a:srgbClr val="F8F8F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*a = *b; </a:t>
            </a:r>
          </a:p>
          <a:p>
            <a:pPr marL="2286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600" dirty="0">
                <a:solidFill>
                  <a:srgbClr val="F8F8F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*b = temp; 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600" dirty="0">
                <a:solidFill>
                  <a:srgbClr val="F8F8F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en-US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0667721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Functions returning Pointer variables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348274" y="2427624"/>
            <a:ext cx="9875520" cy="2246769"/>
          </a:xfrm>
          <a:prstGeom prst="rect">
            <a:avLst/>
          </a:prstGeom>
          <a:solidFill>
            <a:srgbClr val="F9F2F4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342900" indent="-342900">
              <a:lnSpc>
                <a:spcPct val="100000"/>
              </a:lnSpc>
              <a:buClrTx/>
              <a:buSzTx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function can also 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C7254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return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a pointer to the calling function. </a:t>
            </a:r>
          </a:p>
          <a:p>
            <a:pPr marL="342900" indent="-342900">
              <a:lnSpc>
                <a:spcPct val="100000"/>
              </a:lnSpc>
              <a:buClrTx/>
              <a:buSzTx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</a:t>
            </a:r>
            <a:r>
              <a:rPr kumimoji="0" lang="en-US" altLang="en-US" sz="2000" b="0" i="0" u="none" strike="noStrike" cap="none" normalizeH="0" dirty="0">
                <a:ln>
                  <a:noFill/>
                </a:ln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is to be noted that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local variables of function doesn't live outside the function. </a:t>
            </a:r>
          </a:p>
          <a:p>
            <a:pPr marL="342900" indent="-342900">
              <a:lnSpc>
                <a:spcPct val="100000"/>
              </a:lnSpc>
              <a:buClrTx/>
              <a:buSzTx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They have scope only inside the function. </a:t>
            </a:r>
          </a:p>
          <a:p>
            <a:pPr marL="342900" indent="-342900">
              <a:lnSpc>
                <a:spcPct val="100000"/>
              </a:lnSpc>
              <a:buClrTx/>
              <a:buSzTx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Hence if you return a pointer connected to a local variable, that pointer will be pointing to nothing when the function ends.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indent="-342900">
              <a:lnSpc>
                <a:spcPct val="100000"/>
              </a:lnSpc>
              <a:buClrTx/>
              <a:buSzTx/>
            </a:pPr>
            <a:r>
              <a:rPr lang="en-US" altLang="en-US" sz="20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 argument with functions. Because argument passed to the functions are declared inside the calling function, hence they will live outside the function as well.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317237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Pointer to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2999" y="2057400"/>
            <a:ext cx="10226615" cy="4038600"/>
          </a:xfrm>
        </p:spPr>
        <p:txBody>
          <a:bodyPr/>
          <a:lstStyle/>
          <a:p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is possible to declare a pointer pointing to a function which can then be used as an argument in another function. </a:t>
            </a:r>
          </a:p>
          <a:p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pointer to a function is declared as follows,</a:t>
            </a:r>
          </a:p>
          <a:p>
            <a:pPr marL="45720" indent="0">
              <a:buNone/>
            </a:pPr>
            <a:r>
              <a:rPr lang="en-US" alt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type (*pointer-name)(parameter); </a:t>
            </a:r>
          </a:p>
          <a:p>
            <a:r>
              <a:rPr lang="en-US" alt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Eg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45720" indent="0">
              <a:buNone/>
            </a:pPr>
            <a:r>
              <a:rPr lang="en-US" alt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en-US" sz="20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alt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sum(</a:t>
            </a:r>
            <a:r>
              <a:rPr lang="en-US" altLang="en-US" sz="20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alt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20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alt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); //function declaration</a:t>
            </a:r>
          </a:p>
          <a:p>
            <a:pPr marL="45720" indent="0">
              <a:buNone/>
            </a:pPr>
            <a:r>
              <a:rPr lang="en-US" alt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en-US" sz="20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alt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(*s)(); //legal declaration of pointer to function </a:t>
            </a:r>
          </a:p>
          <a:p>
            <a:pPr marL="45720" indent="0">
              <a:buNone/>
            </a:pPr>
            <a:r>
              <a:rPr lang="en-US" alt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en-US" sz="20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alt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*s(); //This is not a declaration of pointer to function. It returns pointer of type int.</a:t>
            </a:r>
          </a:p>
          <a:p>
            <a:endParaRPr lang="en-IN" dirty="0"/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-6049"/>
            <a:ext cx="65" cy="469299"/>
          </a:xfrm>
          <a:prstGeom prst="rect">
            <a:avLst/>
          </a:prstGeom>
          <a:solidFill>
            <a:srgbClr val="1E2A3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95220" rIns="0" bIns="952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-111967" y="228601"/>
            <a:ext cx="65" cy="469299"/>
          </a:xfrm>
          <a:prstGeom prst="rect">
            <a:avLst/>
          </a:prstGeom>
          <a:solidFill>
            <a:srgbClr val="1E2A3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95220" rIns="0" bIns="952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64130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function pointer can point to a specific function when it is assigned the name of that function.</a:t>
            </a:r>
          </a:p>
          <a:p>
            <a:pPr marL="548640" lvl="2" indent="0">
              <a:buNone/>
            </a:pPr>
            <a:r>
              <a:rPr lang="en-US" altLang="en-US" sz="2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altLang="en-US" sz="2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sum(</a:t>
            </a:r>
            <a:r>
              <a:rPr lang="en-US" altLang="en-US" sz="2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altLang="en-US" sz="2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2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altLang="en-US" sz="2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); </a:t>
            </a:r>
          </a:p>
          <a:p>
            <a:pPr marL="548640" lvl="2" indent="0">
              <a:buNone/>
            </a:pPr>
            <a:r>
              <a:rPr lang="en-US" altLang="en-US" sz="2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altLang="en-US" sz="2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(*s)(</a:t>
            </a:r>
            <a:r>
              <a:rPr lang="en-US" altLang="en-US" sz="2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altLang="en-US" sz="2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2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altLang="en-US" sz="2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); </a:t>
            </a:r>
          </a:p>
          <a:p>
            <a:pPr marL="548640" lvl="2" indent="0">
              <a:buNone/>
            </a:pPr>
            <a:r>
              <a:rPr lang="en-US" altLang="en-US" sz="2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 = sum; </a:t>
            </a:r>
          </a:p>
          <a:p>
            <a:r>
              <a:rPr lang="en-US" altLang="en-US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Here, s is a pointer to a function sum. Now sum can be called using function pointer s along with providing the required argument values.</a:t>
            </a:r>
          </a:p>
          <a:p>
            <a:pPr marL="548640" lvl="2" indent="0">
              <a:buNone/>
            </a:pPr>
            <a:r>
              <a:rPr lang="en-US" altLang="en-US" sz="2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 (10, 20) ; =&gt; sum(10,20);</a:t>
            </a:r>
          </a:p>
          <a:p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-6049"/>
            <a:ext cx="65" cy="469299"/>
          </a:xfrm>
          <a:prstGeom prst="rect">
            <a:avLst/>
          </a:prstGeom>
          <a:solidFill>
            <a:srgbClr val="1E2A3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95220" rIns="0" bIns="952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-138499"/>
            <a:ext cx="256802" cy="276999"/>
          </a:xfrm>
          <a:prstGeom prst="rect">
            <a:avLst/>
          </a:prstGeom>
          <a:solidFill>
            <a:srgbClr val="F9F2F4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noto sans"/>
              </a:rPr>
              <a:t>.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0" y="-6049"/>
            <a:ext cx="65" cy="469299"/>
          </a:xfrm>
          <a:prstGeom prst="rect">
            <a:avLst/>
          </a:prstGeom>
          <a:solidFill>
            <a:srgbClr val="1E2A3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95220" rIns="0" bIns="952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Pointer to functions</a:t>
            </a:r>
          </a:p>
        </p:txBody>
      </p:sp>
    </p:spTree>
    <p:extLst>
      <p:ext uri="{BB962C8B-B14F-4D97-AF65-F5344CB8AC3E}">
        <p14:creationId xmlns:p14="http://schemas.microsoft.com/office/powerpoint/2010/main" val="105186478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031735" y="1275250"/>
            <a:ext cx="4007499" cy="5178280"/>
          </a:xfrm>
          <a:prstGeom prst="rect">
            <a:avLst/>
          </a:prstGeom>
          <a:solidFill>
            <a:srgbClr val="1E2A3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95220" rIns="0" bIns="952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8F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#include &lt;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F8F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stdio.h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8F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&gt;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800" dirty="0">
              <a:solidFill>
                <a:srgbClr val="F8F8F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F8F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8F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E6DB7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main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8F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 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8F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{ </a:t>
            </a:r>
          </a:p>
          <a:p>
            <a:pPr marL="2286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dirty="0" err="1">
                <a:solidFill>
                  <a:srgbClr val="F8F8F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altLang="en-US" sz="1800" dirty="0">
                <a:solidFill>
                  <a:srgbClr val="F8F8F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s;</a:t>
            </a:r>
          </a:p>
          <a:p>
            <a:pPr marL="2286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dirty="0" err="1">
                <a:solidFill>
                  <a:srgbClr val="F8F8F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altLang="en-US" sz="1800" dirty="0">
                <a:solidFill>
                  <a:srgbClr val="F8F8F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>
                <a:solidFill>
                  <a:srgbClr val="E6DB7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sum</a:t>
            </a:r>
            <a:r>
              <a:rPr lang="en-US" altLang="en-US" sz="1800" dirty="0">
                <a:solidFill>
                  <a:srgbClr val="F8F8F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US" sz="1800" dirty="0" err="1">
                <a:solidFill>
                  <a:srgbClr val="F8F8F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altLang="en-US" sz="1800" dirty="0">
                <a:solidFill>
                  <a:srgbClr val="F8F8F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x, </a:t>
            </a:r>
            <a:r>
              <a:rPr lang="en-US" altLang="en-US" sz="1800" dirty="0" err="1">
                <a:solidFill>
                  <a:srgbClr val="F8F8F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altLang="en-US" sz="1800" dirty="0">
                <a:solidFill>
                  <a:srgbClr val="F8F8F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y);</a:t>
            </a:r>
          </a:p>
          <a:p>
            <a:pPr marL="2286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E6DB7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8F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(*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F8F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fp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8F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)(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F8F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8F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F8F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8F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); </a:t>
            </a:r>
          </a:p>
          <a:p>
            <a:pPr marL="2286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F8F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fp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8F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= sum; </a:t>
            </a:r>
          </a:p>
          <a:p>
            <a:pPr marL="2286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8F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 =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E6DB7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fp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8F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AE81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8F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AE81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8F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); </a:t>
            </a:r>
          </a:p>
          <a:p>
            <a:pPr marL="2286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E6DB7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8F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A6E22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"Sum is %d"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8F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s); </a:t>
            </a:r>
          </a:p>
          <a:p>
            <a:pPr marL="2286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66D9E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return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8F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AE81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8F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8F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800" dirty="0" err="1">
                <a:solidFill>
                  <a:srgbClr val="F8F8F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altLang="en-US" sz="1800" dirty="0">
                <a:solidFill>
                  <a:srgbClr val="F8F8F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>
                <a:solidFill>
                  <a:srgbClr val="E6DB7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sum</a:t>
            </a:r>
            <a:r>
              <a:rPr lang="en-US" altLang="en-US" sz="1800" dirty="0">
                <a:solidFill>
                  <a:srgbClr val="F8F8F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US" sz="1800" dirty="0" err="1">
                <a:solidFill>
                  <a:srgbClr val="F8F8F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altLang="en-US" sz="1800" dirty="0">
                <a:solidFill>
                  <a:srgbClr val="F8F8F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x, </a:t>
            </a:r>
            <a:r>
              <a:rPr lang="en-US" altLang="en-US" sz="1800" dirty="0" err="1">
                <a:solidFill>
                  <a:srgbClr val="F8F8F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altLang="en-US" sz="1800" dirty="0">
                <a:solidFill>
                  <a:srgbClr val="F8F8F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y)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800" dirty="0">
                <a:solidFill>
                  <a:srgbClr val="F8F8F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 </a:t>
            </a:r>
          </a:p>
          <a:p>
            <a:pPr marL="2286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dirty="0">
                <a:solidFill>
                  <a:srgbClr val="66D9E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return</a:t>
            </a:r>
            <a:r>
              <a:rPr lang="en-US" altLang="en-US" sz="1800" dirty="0">
                <a:solidFill>
                  <a:srgbClr val="F8F8F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solidFill>
                  <a:srgbClr val="F8F8F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x+y</a:t>
            </a:r>
            <a:r>
              <a:rPr lang="en-US" altLang="en-US" sz="1800" dirty="0">
                <a:solidFill>
                  <a:srgbClr val="F8F8F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800" dirty="0">
                <a:solidFill>
                  <a:srgbClr val="F8F8F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360619" y="2777803"/>
            <a:ext cx="1206292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u="sng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</a:p>
          <a:p>
            <a:endParaRPr lang="en-IN" b="1" u="sng" dirty="0">
              <a:solidFill>
                <a:srgbClr val="33333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25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203385" y="264543"/>
            <a:ext cx="9875520" cy="799322"/>
          </a:xfrm>
        </p:spPr>
        <p:txBody>
          <a:bodyPr>
            <a:normAutofit/>
          </a:bodyPr>
          <a:lstStyle/>
          <a:p>
            <a:pPr algn="ctr"/>
            <a:r>
              <a:rPr lang="en-IN" dirty="0"/>
              <a:t>Example Program 13</a:t>
            </a:r>
          </a:p>
        </p:txBody>
      </p:sp>
    </p:spTree>
    <p:extLst>
      <p:ext uri="{BB962C8B-B14F-4D97-AF65-F5344CB8AC3E}">
        <p14:creationId xmlns:p14="http://schemas.microsoft.com/office/powerpoint/2010/main" val="354025087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0351" y="368061"/>
            <a:ext cx="9875520" cy="598098"/>
          </a:xfrm>
        </p:spPr>
        <p:txBody>
          <a:bodyPr>
            <a:normAutofit fontScale="90000"/>
          </a:bodyPr>
          <a:lstStyle/>
          <a:p>
            <a:pPr algn="ctr"/>
            <a:r>
              <a:rPr lang="en-IN" altLang="en-US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Pointers and Structures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0351" y="1388853"/>
            <a:ext cx="9872871" cy="4888302"/>
          </a:xfrm>
        </p:spPr>
        <p:txBody>
          <a:bodyPr>
            <a:normAutofit/>
          </a:bodyPr>
          <a:lstStyle/>
          <a:p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 of an array stands for the address of its zeroth element.</a:t>
            </a:r>
          </a:p>
          <a:p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Same applies for the names of arrays of structure variables.</a:t>
            </a:r>
          </a:p>
          <a:p>
            <a:r>
              <a:rPr lang="en-IN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Eg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45720" indent="0">
              <a:buNone/>
            </a:pP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IN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struct</a:t>
            </a: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inventory</a:t>
            </a:r>
          </a:p>
          <a:p>
            <a:pPr marL="45720" indent="0">
              <a:buNone/>
            </a:pP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{</a:t>
            </a:r>
          </a:p>
          <a:p>
            <a:pPr marL="548640" lvl="2" indent="0">
              <a:buNone/>
            </a:pPr>
            <a:r>
              <a:rPr lang="en-IN" sz="2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char name[30];</a:t>
            </a:r>
          </a:p>
          <a:p>
            <a:pPr marL="548640" lvl="2" indent="0">
              <a:buNone/>
            </a:pPr>
            <a:r>
              <a:rPr lang="en-IN" sz="2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IN" sz="2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number;</a:t>
            </a:r>
          </a:p>
          <a:p>
            <a:pPr marL="548640" lvl="2" indent="0">
              <a:buNone/>
            </a:pPr>
            <a:r>
              <a:rPr lang="en-IN" sz="2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float price;</a:t>
            </a:r>
          </a:p>
          <a:p>
            <a:pPr marL="45720" indent="0">
              <a:buNone/>
            </a:pP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}product[2], *</a:t>
            </a:r>
            <a:r>
              <a:rPr lang="en-IN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ptr</a:t>
            </a: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Here, product is an array of 2 elements, each of type </a:t>
            </a:r>
            <a:r>
              <a:rPr lang="en-IN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struct</a:t>
            </a: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inventory 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IN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ptr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as a pointer to data objects of type </a:t>
            </a:r>
            <a:r>
              <a:rPr lang="en-IN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struct</a:t>
            </a: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inventory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5040000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0351" y="342181"/>
            <a:ext cx="9875520" cy="598098"/>
          </a:xfrm>
        </p:spPr>
        <p:txBody>
          <a:bodyPr>
            <a:normAutofit fontScale="90000"/>
          </a:bodyPr>
          <a:lstStyle/>
          <a:p>
            <a:pPr algn="ctr"/>
            <a:r>
              <a:rPr lang="en-IN" altLang="en-US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Pointers and Structures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3000" y="1147313"/>
            <a:ext cx="9872871" cy="5305244"/>
          </a:xfrm>
        </p:spPr>
        <p:txBody>
          <a:bodyPr>
            <a:noAutofit/>
          </a:bodyPr>
          <a:lstStyle/>
          <a:p>
            <a:pPr marL="45720" indent="0">
              <a:buNone/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IN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ptr</a:t>
            </a: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=product</a:t>
            </a:r>
          </a:p>
          <a:p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Would assign the address of the zeroth element of product to </a:t>
            </a:r>
            <a:r>
              <a:rPr lang="en-IN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ptr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i.e., </a:t>
            </a:r>
            <a:r>
              <a:rPr lang="en-IN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ptr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points to product[0].</a:t>
            </a:r>
          </a:p>
          <a:p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Its members can be accessed using:</a:t>
            </a:r>
          </a:p>
          <a:p>
            <a:pPr marL="822960" lvl="3" indent="0">
              <a:buNone/>
            </a:pPr>
            <a:r>
              <a:rPr lang="en-IN" sz="2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ptr</a:t>
            </a:r>
            <a:r>
              <a:rPr lang="en-IN" sz="2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-&gt;name</a:t>
            </a:r>
          </a:p>
          <a:p>
            <a:pPr marL="822960" lvl="3" indent="0">
              <a:buNone/>
            </a:pPr>
            <a:r>
              <a:rPr lang="en-IN" sz="2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ptr</a:t>
            </a:r>
            <a:r>
              <a:rPr lang="en-IN" sz="2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-&gt;number</a:t>
            </a:r>
          </a:p>
          <a:p>
            <a:pPr marL="822960" lvl="3" indent="0">
              <a:buNone/>
            </a:pPr>
            <a:r>
              <a:rPr lang="en-IN" sz="2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ptr</a:t>
            </a:r>
            <a:r>
              <a:rPr lang="en-IN" sz="2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-&gt;price</a:t>
            </a:r>
          </a:p>
          <a:p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When </a:t>
            </a:r>
            <a:r>
              <a:rPr lang="en-IN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ptr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is incremented by one, it points to the next record. i.e., product[1].</a:t>
            </a:r>
          </a:p>
          <a:p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following for statement will print the values of members of all the elements of product array.</a:t>
            </a:r>
          </a:p>
          <a:p>
            <a:pPr marL="822960" lvl="3" indent="0">
              <a:buNone/>
            </a:pPr>
            <a:r>
              <a:rPr lang="en-IN" sz="2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for(</a:t>
            </a:r>
            <a:r>
              <a:rPr lang="en-IN" sz="2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ptr</a:t>
            </a:r>
            <a:r>
              <a:rPr lang="en-IN" sz="2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=product; </a:t>
            </a:r>
            <a:r>
              <a:rPr lang="en-IN" sz="2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ptr</a:t>
            </a:r>
            <a:r>
              <a:rPr lang="en-IN" sz="2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&lt;product+2; </a:t>
            </a:r>
            <a:r>
              <a:rPr lang="en-IN" sz="2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ptr</a:t>
            </a:r>
            <a:r>
              <a:rPr lang="en-IN" sz="2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++)</a:t>
            </a:r>
          </a:p>
          <a:p>
            <a:pPr marL="822960" lvl="3" indent="0">
              <a:buNone/>
            </a:pPr>
            <a:r>
              <a:rPr lang="en-IN" sz="2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    </a:t>
            </a:r>
            <a:r>
              <a:rPr lang="en-IN" sz="2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IN" sz="2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(“%s %d %f\n”, </a:t>
            </a:r>
            <a:r>
              <a:rPr lang="en-IN" sz="2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ptr</a:t>
            </a:r>
            <a:r>
              <a:rPr lang="en-IN" sz="2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-&gt;name, </a:t>
            </a:r>
            <a:r>
              <a:rPr lang="en-IN" sz="2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ptr</a:t>
            </a:r>
            <a:r>
              <a:rPr lang="en-IN" sz="2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-&gt;number, </a:t>
            </a:r>
            <a:r>
              <a:rPr lang="en-IN" sz="2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ptr</a:t>
            </a:r>
            <a:r>
              <a:rPr lang="en-IN" sz="2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-&gt;price);</a:t>
            </a:r>
          </a:p>
          <a:p>
            <a:pPr marL="822960" lvl="3" indent="0">
              <a:buNone/>
            </a:pPr>
            <a:endParaRPr lang="en-IN" sz="22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045514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396813" y="1055639"/>
            <a:ext cx="4996545" cy="5415268"/>
          </a:xfrm>
          <a:prstGeom prst="rect">
            <a:avLst/>
          </a:prstGeom>
          <a:solidFill>
            <a:srgbClr val="1E2A3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95220" rIns="0" bIns="952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F8F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#include &lt;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F8F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stdio.h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F8F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rgbClr val="F8F8F2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F8F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F8F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struct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F8F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Book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F8F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{ </a:t>
            </a:r>
          </a:p>
          <a:p>
            <a:pPr marL="2286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F8F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char name[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AE81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F8F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]; </a:t>
            </a:r>
          </a:p>
          <a:p>
            <a:pPr marL="2286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F8F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F8F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price;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F8F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}b[10], *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F8F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ptr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F8F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rgbClr val="F8F8F2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E6DB7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main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F8F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F8F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{ </a:t>
            </a:r>
          </a:p>
          <a:p>
            <a:pPr marL="2286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IN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//reading the members of array of structures using pointer</a:t>
            </a:r>
          </a:p>
          <a:p>
            <a:pPr marL="2286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IN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for(</a:t>
            </a:r>
            <a:r>
              <a:rPr lang="en-IN" sz="16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ptr</a:t>
            </a:r>
            <a:r>
              <a:rPr lang="en-IN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=b; </a:t>
            </a:r>
            <a:r>
              <a:rPr lang="en-IN" sz="16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ptr</a:t>
            </a:r>
            <a:r>
              <a:rPr lang="en-IN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&lt;b+10; </a:t>
            </a:r>
            <a:r>
              <a:rPr lang="en-IN" sz="16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ptr</a:t>
            </a:r>
            <a:r>
              <a:rPr lang="en-IN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++)</a:t>
            </a:r>
          </a:p>
          <a:p>
            <a:pPr marL="2286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IN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IN" sz="16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scanf</a:t>
            </a:r>
            <a:r>
              <a:rPr lang="en-IN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(“%s %d \n”, </a:t>
            </a:r>
            <a:r>
              <a:rPr lang="en-IN" sz="16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ptr</a:t>
            </a:r>
            <a:r>
              <a:rPr lang="en-IN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-&gt;name, &amp;</a:t>
            </a:r>
            <a:r>
              <a:rPr lang="en-IN" sz="16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ptr</a:t>
            </a:r>
            <a:r>
              <a:rPr lang="en-IN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-&gt;price);</a:t>
            </a:r>
          </a:p>
          <a:p>
            <a:pPr marL="2286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F8F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ptr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F8F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= b; </a:t>
            </a:r>
          </a:p>
          <a:p>
            <a:pPr marL="2286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IN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//displaying the array of structures using pointer</a:t>
            </a:r>
          </a:p>
          <a:p>
            <a:pPr marL="2286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600" dirty="0">
                <a:solidFill>
                  <a:srgbClr val="F8F8F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while(</a:t>
            </a:r>
            <a:r>
              <a:rPr lang="en-US" altLang="en-US" sz="1600" dirty="0" err="1">
                <a:solidFill>
                  <a:srgbClr val="F8F8F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ptr</a:t>
            </a:r>
            <a:r>
              <a:rPr lang="en-US" altLang="en-US" sz="1600" dirty="0">
                <a:solidFill>
                  <a:srgbClr val="F8F8F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&lt;b+10)</a:t>
            </a:r>
          </a:p>
          <a:p>
            <a:pPr marL="2286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F8F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 marL="822960" lvl="3" indent="0">
              <a:buNone/>
            </a:pP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(“%s %d \n”, </a:t>
            </a:r>
            <a:r>
              <a:rPr lang="en-IN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ptr</a:t>
            </a: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-&gt;name, </a:t>
            </a:r>
            <a:r>
              <a:rPr lang="en-IN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ptr</a:t>
            </a: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-&gt;price);</a:t>
            </a:r>
          </a:p>
          <a:p>
            <a:pPr marL="2286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F8F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F8F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ptr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F8F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++;</a:t>
            </a:r>
          </a:p>
          <a:p>
            <a:pPr marL="2286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600" dirty="0">
                <a:solidFill>
                  <a:srgbClr val="F8F8F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rgbClr val="F8F8F2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F8F8F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143000" y="264543"/>
            <a:ext cx="9875520" cy="563592"/>
          </a:xfrm>
        </p:spPr>
        <p:txBody>
          <a:bodyPr>
            <a:normAutofit fontScale="90000"/>
          </a:bodyPr>
          <a:lstStyle/>
          <a:p>
            <a:pPr algn="ctr"/>
            <a:r>
              <a:rPr lang="en-IN" dirty="0"/>
              <a:t>Example Program 14</a:t>
            </a:r>
          </a:p>
        </p:txBody>
      </p:sp>
      <p:pic>
        <p:nvPicPr>
          <p:cNvPr id="6147" name="Picture 3" descr="Pointer to Structure array in C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62371" y="2419709"/>
            <a:ext cx="6449107" cy="26871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4380358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altLang="en-US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Trouble with Pointers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3000" y="2057400"/>
            <a:ext cx="9432985" cy="4038600"/>
          </a:xfrm>
        </p:spPr>
        <p:txBody>
          <a:bodyPr>
            <a:normAutofit/>
          </a:bodyPr>
          <a:lstStyle/>
          <a:p>
            <a:pPr marL="11527" marR="46682" algn="just">
              <a:lnSpc>
                <a:spcPts val="3240"/>
              </a:lnSpc>
              <a:spcBef>
                <a:spcPts val="399"/>
              </a:spcBef>
            </a:pPr>
            <a:r>
              <a:rPr lang="en-IN" spc="-9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Since pointer holds address </a:t>
            </a:r>
            <a:r>
              <a:rPr lang="en-IN" spc="-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 memory </a:t>
            </a:r>
            <a:r>
              <a:rPr lang="en-IN" spc="-9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location, </a:t>
            </a:r>
            <a:r>
              <a:rPr lang="en-IN" spc="-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must never </a:t>
            </a:r>
            <a:r>
              <a:rPr lang="en-IN" spc="-9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 </a:t>
            </a:r>
            <a:r>
              <a:rPr lang="en-IN" spc="-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used without </a:t>
            </a:r>
            <a:r>
              <a:rPr lang="en-IN" spc="-9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proper initialization.</a:t>
            </a: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527" marR="107773" algn="just">
              <a:lnSpc>
                <a:spcPts val="3240"/>
              </a:lnSpc>
              <a:spcBef>
                <a:spcPts val="1289"/>
              </a:spcBef>
            </a:pPr>
            <a:r>
              <a:rPr lang="en-IN" spc="-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 </a:t>
            </a:r>
            <a:r>
              <a:rPr lang="en-IN" spc="-9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de- </a:t>
            </a:r>
            <a:r>
              <a:rPr lang="en-IN" spc="-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referencing 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IN" spc="-9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pointer when required.</a:t>
            </a:r>
          </a:p>
          <a:p>
            <a:pPr marL="11527" marR="107773" algn="just">
              <a:lnSpc>
                <a:spcPts val="3240"/>
              </a:lnSpc>
              <a:spcBef>
                <a:spcPts val="1289"/>
              </a:spcBef>
            </a:pPr>
            <a:r>
              <a:rPr lang="en-IN" spc="-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 uninitialized </a:t>
            </a:r>
            <a:r>
              <a:rPr lang="en-IN" spc="-9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pointer does </a:t>
            </a:r>
            <a:r>
              <a:rPr lang="en-IN" spc="-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 know </a:t>
            </a:r>
            <a:r>
              <a:rPr lang="en-IN" spc="-9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memory location </a:t>
            </a:r>
            <a:r>
              <a:rPr lang="en-IN" spc="-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</a:t>
            </a:r>
            <a:r>
              <a:rPr lang="en-IN" spc="-9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 pointing 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to.</a:t>
            </a:r>
          </a:p>
          <a:p>
            <a:pPr marL="11527" algn="just">
              <a:spcBef>
                <a:spcPts val="976"/>
              </a:spcBef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IN" spc="-9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pointer </a:t>
            </a:r>
            <a:r>
              <a:rPr lang="en-IN" spc="-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cannot track </a:t>
            </a:r>
            <a:r>
              <a:rPr lang="en-IN" spc="-9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boundaries </a:t>
            </a:r>
            <a:r>
              <a:rPr lang="en-IN" spc="-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 an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pc="-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array.</a:t>
            </a:r>
          </a:p>
          <a:p>
            <a:pPr marL="11527" algn="just">
              <a:spcBef>
                <a:spcPts val="976"/>
              </a:spcBef>
            </a:pPr>
            <a:r>
              <a:rPr lang="en-IN" spc="-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Comparing pointers that point to different objects.</a:t>
            </a: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121708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 b="1"/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Slideshare</a:t>
            </a:r>
            <a:endParaRPr lang="en-US" dirty="0"/>
          </a:p>
          <a:p>
            <a:r>
              <a:rPr lang="en-US" dirty="0">
                <a:hlinkClick r:id="rId2"/>
              </a:rPr>
              <a:t>https://www.tutorialspoint.com/cprogramming/c_pointers.htm</a:t>
            </a:r>
            <a:endParaRPr lang="en-US" dirty="0"/>
          </a:p>
          <a:p>
            <a:r>
              <a:rPr lang="en-US" dirty="0">
                <a:hlinkClick r:id="rId3"/>
              </a:rPr>
              <a:t>https://dyclassroom.com/c/c-pointers-and-strings</a:t>
            </a:r>
            <a:endParaRPr lang="en-US" dirty="0"/>
          </a:p>
          <a:p>
            <a:r>
              <a:rPr lang="en-US" dirty="0">
                <a:hlinkClick r:id="rId4"/>
              </a:rPr>
              <a:t>https://www.studytonight.com/c/pointer-with-function-in-c.php</a:t>
            </a:r>
            <a:endParaRPr lang="en-US" dirty="0"/>
          </a:p>
          <a:p>
            <a:r>
              <a:rPr lang="en-US" dirty="0"/>
              <a:t>https://www.studytonight.com/c/pointers-to-structure-in-c.php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48765" y="2891790"/>
            <a:ext cx="9875520" cy="1356360"/>
          </a:xfrm>
        </p:spPr>
        <p:txBody>
          <a:bodyPr/>
          <a:lstStyle/>
          <a:p>
            <a:pPr algn="ctr"/>
            <a:r>
              <a:rPr lang="en-IN" altLang="en-US" b="1"/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asis">
  <a:themeElements>
    <a:clrScheme name="Basis">
      <a:dk1>
        <a:srgbClr val="000000"/>
      </a:dk1>
      <a:lt1>
        <a:srgbClr val="FFFFFF"/>
      </a:lt1>
      <a:dk2>
        <a:srgbClr val="565349"/>
      </a:dk2>
      <a:lt2>
        <a:srgbClr val="DDDDDD"/>
      </a:lt2>
      <a:accent1>
        <a:srgbClr val="A6B727"/>
      </a:accent1>
      <a:accent2>
        <a:srgbClr val="DF5327"/>
      </a:accent2>
      <a:accent3>
        <a:srgbClr val="FE9E00"/>
      </a:accent3>
      <a:accent4>
        <a:srgbClr val="418AB3"/>
      </a:accent4>
      <a:accent5>
        <a:srgbClr val="D7D447"/>
      </a:accent5>
      <a:accent6>
        <a:srgbClr val="818183"/>
      </a:accent6>
      <a:hlink>
        <a:srgbClr val="F59E00"/>
      </a:hlink>
      <a:folHlink>
        <a:srgbClr val="B2B2B2"/>
      </a:folHlink>
    </a:clrScheme>
    <a:fontScheme name="Basis">
      <a:majorFont>
        <a:latin typeface="Corbel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sis">
      <a:fillStyleLst>
        <a:solidFill>
          <a:schemeClr val="phClr"/>
        </a:solidFill>
        <a:solidFill>
          <a:schemeClr val="phClr">
            <a:tint val="55000"/>
            <a:satMod val="13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  <a:satMod val="105000"/>
              </a:schemeClr>
            </a:gs>
            <a:gs pos="100000">
              <a:schemeClr val="phClr"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27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95000"/>
            <a:satMod val="140000"/>
          </a:schemeClr>
        </a:solidFill>
        <a:solidFill>
          <a:schemeClr val="phClr">
            <a:tint val="90000"/>
            <a:shade val="85000"/>
            <a:satMod val="160000"/>
            <a:lumMod val="11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TM03457444[[fn=Basis]]</Template>
  <TotalTime>11642</TotalTime>
  <Words>3042</Words>
  <Application>Microsoft Office PowerPoint</Application>
  <PresentationFormat>Widescreen</PresentationFormat>
  <Paragraphs>437</Paragraphs>
  <Slides>37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4" baseType="lpstr">
      <vt:lpstr>Arial</vt:lpstr>
      <vt:lpstr>Bahnschrift Light</vt:lpstr>
      <vt:lpstr>Corbel</vt:lpstr>
      <vt:lpstr>noto sans</vt:lpstr>
      <vt:lpstr>Times New Roman</vt:lpstr>
      <vt:lpstr>Wingdings</vt:lpstr>
      <vt:lpstr>Basis</vt:lpstr>
      <vt:lpstr>pointers</vt:lpstr>
      <vt:lpstr>Agenda</vt:lpstr>
      <vt:lpstr>Pointers</vt:lpstr>
      <vt:lpstr>How does a memory look like ?</vt:lpstr>
      <vt:lpstr>* </vt:lpstr>
      <vt:lpstr>PowerPoint Presentation</vt:lpstr>
      <vt:lpstr>PowerPoint Presentation</vt:lpstr>
      <vt:lpstr>PowerPoint Presentation</vt:lpstr>
      <vt:lpstr>Example</vt:lpstr>
      <vt:lpstr>Pointer Arithmetic</vt:lpstr>
      <vt:lpstr>Pointer Arithmetic Example 2</vt:lpstr>
      <vt:lpstr>Arithmetic Rules</vt:lpstr>
      <vt:lpstr>Pointer Comparison</vt:lpstr>
      <vt:lpstr>Pointer Expressions</vt:lpstr>
      <vt:lpstr>Pointer Expressions</vt:lpstr>
      <vt:lpstr>Pointer Expressions</vt:lpstr>
      <vt:lpstr>Example Program 3</vt:lpstr>
      <vt:lpstr>Example Program 4</vt:lpstr>
      <vt:lpstr>Example Program 5</vt:lpstr>
      <vt:lpstr>Benefits of pointer</vt:lpstr>
      <vt:lpstr>Pointers to Pointers</vt:lpstr>
      <vt:lpstr>Pointers and Arrays</vt:lpstr>
      <vt:lpstr>PowerPoint Presentation</vt:lpstr>
      <vt:lpstr>Example Program 7</vt:lpstr>
      <vt:lpstr>Example Program 9</vt:lpstr>
      <vt:lpstr>Pointers as Function Arguments</vt:lpstr>
      <vt:lpstr>Example Program 11</vt:lpstr>
      <vt:lpstr>Functions returning Pointer variables</vt:lpstr>
      <vt:lpstr>Pointer to functions</vt:lpstr>
      <vt:lpstr>Pointer to functions</vt:lpstr>
      <vt:lpstr>Example Program 13</vt:lpstr>
      <vt:lpstr>Pointers and Structures</vt:lpstr>
      <vt:lpstr>Pointers and Structures</vt:lpstr>
      <vt:lpstr>Example Program 14</vt:lpstr>
      <vt:lpstr>Trouble with Pointers</vt:lpstr>
      <vt:lpstr>References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Rishika</cp:lastModifiedBy>
  <cp:revision>132</cp:revision>
  <dcterms:created xsi:type="dcterms:W3CDTF">2020-08-23T11:58:00Z</dcterms:created>
  <dcterms:modified xsi:type="dcterms:W3CDTF">2022-09-02T05:02:57Z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1033-11.2.0.9747</vt:lpwstr>
  </property>
</Properties>
</file>