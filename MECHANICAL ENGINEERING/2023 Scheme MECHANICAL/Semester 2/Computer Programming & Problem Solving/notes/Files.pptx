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22" r:id="rId16"/>
    <p:sldId id="323" r:id="rId17"/>
    <p:sldId id="324" r:id="rId18"/>
    <p:sldId id="316" r:id="rId19"/>
    <p:sldId id="317" r:id="rId20"/>
    <p:sldId id="318" r:id="rId21"/>
    <p:sldId id="319" r:id="rId22"/>
    <p:sldId id="320" r:id="rId23"/>
    <p:sldId id="321"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3" d="100"/>
          <a:sy n="73" d="100"/>
        </p:scale>
        <p:origin x="-11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pPr/>
              <a:t>8/11/2023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8/11/2023</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anose="020B0503020204020204"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5pPr>
      <a:lvl6pPr marL="1600200"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6pPr>
      <a:lvl7pPr marL="1899920"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7pPr>
      <a:lvl8pPr marL="2200275"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8pPr>
      <a:lvl9pPr marL="2499995" indent="-228600" algn="l" defTabSz="914400" rtl="0" eaLnBrk="1" latinLnBrk="0" hangingPunct="1">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fseek-in-c-with-exampl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t>Files</a:t>
            </a:r>
            <a:endParaRPr lang="en-I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a:t>Agenda</a:t>
            </a:r>
          </a:p>
        </p:txBody>
      </p:sp>
      <p:sp>
        <p:nvSpPr>
          <p:cNvPr id="3" name="Content Placeholder 2"/>
          <p:cNvSpPr>
            <a:spLocks noGrp="1"/>
          </p:cNvSpPr>
          <p:nvPr>
            <p:ph idx="1"/>
          </p:nvPr>
        </p:nvSpPr>
        <p:spPr>
          <a:xfrm>
            <a:off x="1143000" y="1632857"/>
            <a:ext cx="9872871" cy="5473337"/>
          </a:xfrm>
        </p:spPr>
        <p:txBody>
          <a:bodyPr/>
          <a:lstStyle/>
          <a:p>
            <a:pPr>
              <a:buNone/>
            </a:pPr>
            <a:endParaRPr lang="en-IN" altLang="en-US" sz="2800" dirty="0">
              <a:solidFill>
                <a:schemeClr val="tx1"/>
              </a:solidFill>
              <a:latin typeface="Times New Roman" panose="02020603050405020304" charset="0"/>
              <a:cs typeface="Times New Roman" panose="02020603050405020304" charset="0"/>
              <a:sym typeface="+mn-ea"/>
            </a:endParaRPr>
          </a:p>
          <a:p>
            <a:r>
              <a:rPr lang="en-US" sz="2800" dirty="0" smtClean="0">
                <a:solidFill>
                  <a:schemeClr val="tx1"/>
                </a:solidFill>
              </a:rPr>
              <a:t>File concept </a:t>
            </a:r>
          </a:p>
          <a:p>
            <a:r>
              <a:rPr lang="en-US" sz="2800" dirty="0" smtClean="0">
                <a:solidFill>
                  <a:schemeClr val="tx1"/>
                </a:solidFill>
              </a:rPr>
              <a:t>File pointer </a:t>
            </a:r>
          </a:p>
          <a:p>
            <a:r>
              <a:rPr lang="en-US" sz="2800" dirty="0" smtClean="0">
                <a:solidFill>
                  <a:schemeClr val="tx1"/>
                </a:solidFill>
              </a:rPr>
              <a:t>File handling operations (open, close, read, write etc) on sequential and random access files. </a:t>
            </a:r>
          </a:p>
          <a:p>
            <a:r>
              <a:rPr lang="en-US" sz="2800" dirty="0" smtClean="0">
                <a:solidFill>
                  <a:schemeClr val="tx1"/>
                </a:solidFill>
              </a:rPr>
              <a:t>Programs on file manipulations using </a:t>
            </a:r>
            <a:r>
              <a:rPr lang="en-US" sz="2800" dirty="0" err="1" smtClean="0">
                <a:solidFill>
                  <a:schemeClr val="tx1"/>
                </a:solidFill>
              </a:rPr>
              <a:t>fgetc</a:t>
            </a:r>
            <a:r>
              <a:rPr lang="en-US" sz="2800" dirty="0" smtClean="0">
                <a:solidFill>
                  <a:schemeClr val="tx1"/>
                </a:solidFill>
              </a:rPr>
              <a:t>(), </a:t>
            </a:r>
            <a:r>
              <a:rPr lang="en-US" sz="2800" dirty="0" err="1" smtClean="0">
                <a:solidFill>
                  <a:schemeClr val="tx1"/>
                </a:solidFill>
              </a:rPr>
              <a:t>fgets</a:t>
            </a:r>
            <a:r>
              <a:rPr lang="en-US" sz="2800" dirty="0" smtClean="0">
                <a:solidFill>
                  <a:schemeClr val="tx1"/>
                </a:solidFill>
              </a:rPr>
              <a:t>(),</a:t>
            </a:r>
            <a:r>
              <a:rPr lang="en-US" sz="2800" dirty="0" err="1" smtClean="0">
                <a:solidFill>
                  <a:schemeClr val="tx1"/>
                </a:solidFill>
              </a:rPr>
              <a:t>fseek</a:t>
            </a:r>
            <a:r>
              <a:rPr lang="en-US" sz="2800" dirty="0" smtClean="0">
                <a:solidFill>
                  <a:schemeClr val="tx1"/>
                </a:solidFill>
              </a:rPr>
              <a:t>()</a:t>
            </a:r>
            <a:endParaRPr lang="en-IN" altLang="en-US" sz="2800" dirty="0">
              <a:solidFill>
                <a:schemeClr val="tx1"/>
              </a:solidFill>
              <a:latin typeface="Times New Roman" panose="02020603050405020304" charset="0"/>
              <a:cs typeface="Times New Roman" panose="02020603050405020304" charset="0"/>
            </a:endParaRPr>
          </a:p>
          <a:p>
            <a:endParaRPr lang="en-IN" altLang="en-US" sz="2400" dirty="0">
              <a:solidFill>
                <a:schemeClr val="tx1"/>
              </a:solidFill>
              <a:latin typeface="Times New Roman" panose="02020603050405020304" charset="0"/>
              <a:cs typeface="Times New Roman" panose="02020603050405020304" charset="0"/>
            </a:endParaRPr>
          </a:p>
          <a:p>
            <a:endParaRPr lang="en-IN" altLang="en-US" sz="2400"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tx1"/>
                </a:solidFill>
              </a:rPr>
              <a:t>File concept </a:t>
            </a:r>
            <a:br>
              <a:rPr lang="en-US" dirty="0" smtClean="0">
                <a:solidFill>
                  <a:schemeClr val="tx1"/>
                </a:solidFill>
              </a:rPr>
            </a:br>
            <a:r>
              <a:rPr lang="en-US" b="1" dirty="0" smtClean="0"/>
              <a:t>Why do we need File Handling in C?</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sz="2400" dirty="0" smtClean="0">
                <a:solidFill>
                  <a:schemeClr val="tx1"/>
                </a:solidFill>
              </a:rPr>
              <a:t>The output of a C program is generally deleted when the program is closed. Sometimes, we need to store that output for different purposes.</a:t>
            </a:r>
          </a:p>
          <a:p>
            <a:pPr>
              <a:buNone/>
            </a:pPr>
            <a:r>
              <a:rPr lang="en-US" sz="2400" dirty="0" smtClean="0">
                <a:solidFill>
                  <a:schemeClr val="tx1"/>
                </a:solidFill>
              </a:rPr>
              <a:t>Some uses of file handling</a:t>
            </a:r>
          </a:p>
          <a:p>
            <a:r>
              <a:rPr lang="en-US" sz="2400" b="1" dirty="0" smtClean="0">
                <a:solidFill>
                  <a:schemeClr val="tx1"/>
                </a:solidFill>
              </a:rPr>
              <a:t>Reusability: </a:t>
            </a:r>
            <a:r>
              <a:rPr lang="en-US" sz="2400" dirty="0" smtClean="0">
                <a:solidFill>
                  <a:schemeClr val="tx1"/>
                </a:solidFill>
              </a:rPr>
              <a:t>The file-handling process keeps track of the information created after the program has been run.</a:t>
            </a:r>
          </a:p>
          <a:p>
            <a:r>
              <a:rPr lang="en-US" sz="2400" b="1" dirty="0" smtClean="0">
                <a:solidFill>
                  <a:schemeClr val="tx1"/>
                </a:solidFill>
              </a:rPr>
              <a:t>Portability: </a:t>
            </a:r>
            <a:r>
              <a:rPr lang="en-US" sz="2400" dirty="0" smtClean="0">
                <a:solidFill>
                  <a:schemeClr val="tx1"/>
                </a:solidFill>
              </a:rPr>
              <a:t>Without losing any data files can be transferred to another</a:t>
            </a:r>
            <a:r>
              <a:rPr lang="en-US" sz="2400" b="1" dirty="0" smtClean="0">
                <a:solidFill>
                  <a:schemeClr val="tx1"/>
                </a:solidFill>
              </a:rPr>
              <a:t> </a:t>
            </a:r>
            <a:r>
              <a:rPr lang="en-US" sz="2400" dirty="0" smtClean="0">
                <a:solidFill>
                  <a:schemeClr val="tx1"/>
                </a:solidFill>
              </a:rPr>
              <a:t>in the computer system. The risk of flawed coding is minimized with this feature.</a:t>
            </a:r>
          </a:p>
          <a:p>
            <a:r>
              <a:rPr lang="en-US" sz="2400" b="1" dirty="0" smtClean="0">
                <a:solidFill>
                  <a:schemeClr val="tx1"/>
                </a:solidFill>
              </a:rPr>
              <a:t>Efficient: </a:t>
            </a:r>
            <a:r>
              <a:rPr lang="en-US" sz="2400" dirty="0" smtClean="0">
                <a:solidFill>
                  <a:schemeClr val="tx1"/>
                </a:solidFill>
              </a:rPr>
              <a:t>A large amount of input may be required for some programs. File handling allows you to easily access a part of a code using individual commands which saves a lot of time and reduces the chance of errors.</a:t>
            </a:r>
          </a:p>
          <a:p>
            <a:r>
              <a:rPr lang="en-US" sz="2400" b="1" dirty="0" smtClean="0">
                <a:solidFill>
                  <a:schemeClr val="tx1"/>
                </a:solidFill>
              </a:rPr>
              <a:t>Storage Capacity: </a:t>
            </a:r>
            <a:r>
              <a:rPr lang="en-US" sz="2400" dirty="0" smtClean="0">
                <a:solidFill>
                  <a:schemeClr val="tx1"/>
                </a:solidFill>
              </a:rPr>
              <a:t>Files allow you to store data without having to worry about storing everything simultaneously in a program.</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Types of Files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buNone/>
            </a:pPr>
            <a:r>
              <a:rPr lang="en-US" sz="2800" dirty="0" smtClean="0"/>
              <a:t>There are two types of files</a:t>
            </a:r>
          </a:p>
          <a:p>
            <a:r>
              <a:rPr lang="en-US" sz="2800" dirty="0" smtClean="0">
                <a:solidFill>
                  <a:schemeClr val="tx1"/>
                </a:solidFill>
              </a:rPr>
              <a:t>Text files</a:t>
            </a:r>
          </a:p>
          <a:p>
            <a:r>
              <a:rPr lang="en-US" sz="2800" dirty="0" smtClean="0">
                <a:solidFill>
                  <a:schemeClr val="tx1"/>
                </a:solidFill>
              </a:rPr>
              <a:t>Binary files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809897"/>
            <a:ext cx="9872871" cy="5286103"/>
          </a:xfrm>
        </p:spPr>
        <p:txBody>
          <a:bodyPr/>
          <a:lstStyle/>
          <a:p>
            <a:pPr>
              <a:buNone/>
            </a:pPr>
            <a:r>
              <a:rPr lang="en-US" sz="2800" b="1" dirty="0" smtClean="0">
                <a:solidFill>
                  <a:schemeClr val="tx1"/>
                </a:solidFill>
              </a:rPr>
              <a:t>1. Text files</a:t>
            </a:r>
          </a:p>
          <a:p>
            <a:pPr lvl="1"/>
            <a:r>
              <a:rPr lang="en-US" sz="2400" dirty="0" smtClean="0">
                <a:solidFill>
                  <a:schemeClr val="tx1"/>
                </a:solidFill>
                <a:latin typeface="Times New Roman" pitchFamily="18" charset="0"/>
                <a:cs typeface="Times New Roman" pitchFamily="18" charset="0"/>
              </a:rPr>
              <a:t>Text files are the normal </a:t>
            </a:r>
            <a:r>
              <a:rPr lang="en-US" sz="2400" b="1" dirty="0" smtClean="0">
                <a:solidFill>
                  <a:schemeClr val="tx1"/>
                </a:solidFill>
                <a:latin typeface="Times New Roman" pitchFamily="18" charset="0"/>
                <a:cs typeface="Times New Roman" pitchFamily="18" charset="0"/>
              </a:rPr>
              <a:t>.txt </a:t>
            </a:r>
            <a:r>
              <a:rPr lang="en-US" sz="2400" dirty="0" smtClean="0">
                <a:solidFill>
                  <a:schemeClr val="tx1"/>
                </a:solidFill>
                <a:latin typeface="Times New Roman" pitchFamily="18" charset="0"/>
                <a:cs typeface="Times New Roman" pitchFamily="18" charset="0"/>
              </a:rPr>
              <a:t>files. </a:t>
            </a:r>
          </a:p>
          <a:p>
            <a:r>
              <a:rPr lang="en-US" sz="2400" dirty="0" smtClean="0">
                <a:solidFill>
                  <a:schemeClr val="tx1"/>
                </a:solidFill>
                <a:latin typeface="Times New Roman" pitchFamily="18" charset="0"/>
                <a:cs typeface="Times New Roman" pitchFamily="18" charset="0"/>
              </a:rPr>
              <a:t>You can easily create text files using any simple text editors such as Notepad.</a:t>
            </a:r>
          </a:p>
          <a:p>
            <a:r>
              <a:rPr lang="en-US" sz="2400" dirty="0" smtClean="0">
                <a:solidFill>
                  <a:schemeClr val="tx1"/>
                </a:solidFill>
                <a:latin typeface="Times New Roman" pitchFamily="18" charset="0"/>
                <a:cs typeface="Times New Roman" pitchFamily="18" charset="0"/>
              </a:rPr>
              <a:t>All the contents within the file are plain text.</a:t>
            </a:r>
          </a:p>
          <a:p>
            <a:pPr>
              <a:buNone/>
            </a:pPr>
            <a:r>
              <a:rPr lang="en-US" sz="2800" b="1" dirty="0" smtClean="0">
                <a:solidFill>
                  <a:schemeClr val="tx1"/>
                </a:solidFill>
              </a:rPr>
              <a:t>2. Binary files</a:t>
            </a:r>
          </a:p>
          <a:p>
            <a:r>
              <a:rPr lang="en-US" sz="2400" dirty="0" smtClean="0">
                <a:solidFill>
                  <a:schemeClr val="tx1"/>
                </a:solidFill>
                <a:latin typeface="Times New Roman" pitchFamily="18" charset="0"/>
                <a:cs typeface="Times New Roman" pitchFamily="18" charset="0"/>
              </a:rPr>
              <a:t>Binary files are mostly the </a:t>
            </a:r>
            <a:r>
              <a:rPr lang="en-US" sz="2400" b="1" dirty="0" smtClean="0">
                <a:solidFill>
                  <a:schemeClr val="tx1"/>
                </a:solidFill>
                <a:latin typeface="Times New Roman" pitchFamily="18" charset="0"/>
                <a:cs typeface="Times New Roman" pitchFamily="18" charset="0"/>
              </a:rPr>
              <a:t>.bin </a:t>
            </a:r>
            <a:r>
              <a:rPr lang="en-US" sz="2400" dirty="0" smtClean="0">
                <a:solidFill>
                  <a:schemeClr val="tx1"/>
                </a:solidFill>
                <a:latin typeface="Times New Roman" pitchFamily="18" charset="0"/>
                <a:cs typeface="Times New Roman" pitchFamily="18" charset="0"/>
              </a:rPr>
              <a:t>files in your computer.</a:t>
            </a:r>
          </a:p>
          <a:p>
            <a:r>
              <a:rPr lang="en-US" sz="2400" dirty="0" smtClean="0">
                <a:solidFill>
                  <a:schemeClr val="tx1"/>
                </a:solidFill>
                <a:latin typeface="Times New Roman" pitchFamily="18" charset="0"/>
                <a:cs typeface="Times New Roman" pitchFamily="18" charset="0"/>
              </a:rPr>
              <a:t>Instead of storing data in plain text, they store it in the binary form (0's and 1's).</a:t>
            </a:r>
          </a:p>
          <a:p>
            <a:r>
              <a:rPr lang="en-US" sz="2400" dirty="0" smtClean="0">
                <a:solidFill>
                  <a:schemeClr val="tx1"/>
                </a:solidFill>
                <a:latin typeface="Times New Roman" pitchFamily="18" charset="0"/>
                <a:cs typeface="Times New Roman" pitchFamily="18" charset="0"/>
              </a:rPr>
              <a:t>They can hold a higher amount of data, are not readable easily, and provides better security than text files.</a:t>
            </a:r>
          </a:p>
          <a:p>
            <a:pPr>
              <a:buNone/>
            </a:pPr>
            <a:endParaRPr lang="en-US" sz="2400" dirty="0">
              <a:solidFill>
                <a:schemeClr val="tx1"/>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10443754" cy="1356360"/>
          </a:xfrm>
        </p:spPr>
        <p:txBody>
          <a:bodyPr>
            <a:normAutofit/>
          </a:bodyPr>
          <a:lstStyle/>
          <a:p>
            <a:r>
              <a:rPr lang="en-US" sz="3600" dirty="0" smtClean="0"/>
              <a:t>The following operations can be performed on a file.</a:t>
            </a:r>
            <a:endParaRPr lang="en-US" sz="3600" dirty="0"/>
          </a:p>
        </p:txBody>
      </p:sp>
      <p:sp>
        <p:nvSpPr>
          <p:cNvPr id="3" name="Content Placeholder 2"/>
          <p:cNvSpPr>
            <a:spLocks noGrp="1"/>
          </p:cNvSpPr>
          <p:nvPr>
            <p:ph idx="1"/>
          </p:nvPr>
        </p:nvSpPr>
        <p:spPr/>
        <p:txBody>
          <a:bodyPr/>
          <a:lstStyle/>
          <a:p>
            <a:r>
              <a:rPr lang="en-US" sz="2800" dirty="0" smtClean="0">
                <a:solidFill>
                  <a:schemeClr val="tx1"/>
                </a:solidFill>
                <a:latin typeface="Times New Roman" pitchFamily="18" charset="0"/>
                <a:cs typeface="Times New Roman" pitchFamily="18" charset="0"/>
              </a:rPr>
              <a:t>Creation of a new file (</a:t>
            </a:r>
            <a:r>
              <a:rPr lang="en-US" sz="2800" b="1" dirty="0" err="1" smtClean="0">
                <a:solidFill>
                  <a:schemeClr val="tx1"/>
                </a:solidFill>
                <a:latin typeface="Times New Roman" pitchFamily="18" charset="0"/>
                <a:cs typeface="Times New Roman" pitchFamily="18" charset="0"/>
              </a:rPr>
              <a:t>fopen</a:t>
            </a:r>
            <a:r>
              <a:rPr lang="en-US" sz="2800" b="1" dirty="0" smtClean="0">
                <a:solidFill>
                  <a:schemeClr val="tx1"/>
                </a:solidFill>
                <a:latin typeface="Times New Roman" pitchFamily="18" charset="0"/>
                <a:cs typeface="Times New Roman" pitchFamily="18" charset="0"/>
              </a:rPr>
              <a:t>())</a:t>
            </a:r>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Opening an existing file (</a:t>
            </a:r>
            <a:r>
              <a:rPr lang="en-US" sz="2800" b="1" dirty="0" err="1" smtClean="0">
                <a:solidFill>
                  <a:schemeClr val="tx1"/>
                </a:solidFill>
                <a:latin typeface="Times New Roman" pitchFamily="18" charset="0"/>
                <a:cs typeface="Times New Roman" pitchFamily="18" charset="0"/>
              </a:rPr>
              <a:t>fopen</a:t>
            </a:r>
            <a:r>
              <a:rPr lang="en-US" sz="2800" b="1" dirty="0" smtClean="0">
                <a:solidFill>
                  <a:schemeClr val="tx1"/>
                </a:solidFill>
                <a:latin typeface="Times New Roman" pitchFamily="18" charset="0"/>
                <a:cs typeface="Times New Roman" pitchFamily="18" charset="0"/>
              </a:rPr>
              <a:t>()</a:t>
            </a:r>
            <a:r>
              <a:rPr lang="en-US" sz="2800" dirty="0" smtClean="0">
                <a:solidFill>
                  <a:schemeClr val="tx1"/>
                </a:solidFill>
                <a:latin typeface="Times New Roman" pitchFamily="18" charset="0"/>
                <a:cs typeface="Times New Roman" pitchFamily="18" charset="0"/>
              </a:rPr>
              <a:t>)</a:t>
            </a:r>
          </a:p>
          <a:p>
            <a:r>
              <a:rPr lang="en-US" sz="2800" dirty="0" smtClean="0">
                <a:solidFill>
                  <a:schemeClr val="tx1"/>
                </a:solidFill>
                <a:latin typeface="Times New Roman" pitchFamily="18" charset="0"/>
                <a:cs typeface="Times New Roman" pitchFamily="18" charset="0"/>
              </a:rPr>
              <a:t>Reading from file (</a:t>
            </a:r>
            <a:r>
              <a:rPr lang="en-US" sz="2800" b="1" dirty="0" err="1" smtClean="0">
                <a:solidFill>
                  <a:schemeClr val="tx1"/>
                </a:solidFill>
                <a:latin typeface="Times New Roman" pitchFamily="18" charset="0"/>
                <a:cs typeface="Times New Roman" pitchFamily="18" charset="0"/>
              </a:rPr>
              <a:t>fscanf</a:t>
            </a:r>
            <a:r>
              <a:rPr lang="en-US" sz="2800" b="1" dirty="0" smtClean="0">
                <a:solidFill>
                  <a:schemeClr val="tx1"/>
                </a:solidFill>
                <a:latin typeface="Times New Roman" pitchFamily="18" charset="0"/>
                <a:cs typeface="Times New Roman" pitchFamily="18" charset="0"/>
              </a:rPr>
              <a:t>() or </a:t>
            </a:r>
            <a:r>
              <a:rPr lang="en-US" sz="2800" b="1" dirty="0" err="1" smtClean="0">
                <a:solidFill>
                  <a:schemeClr val="tx1"/>
                </a:solidFill>
                <a:latin typeface="Times New Roman" pitchFamily="18" charset="0"/>
                <a:cs typeface="Times New Roman" pitchFamily="18" charset="0"/>
              </a:rPr>
              <a:t>fgets</a:t>
            </a:r>
            <a:r>
              <a:rPr lang="en-US" sz="2800" b="1" dirty="0" smtClean="0">
                <a:solidFill>
                  <a:schemeClr val="tx1"/>
                </a:solidFill>
                <a:latin typeface="Times New Roman" pitchFamily="18" charset="0"/>
                <a:cs typeface="Times New Roman" pitchFamily="18" charset="0"/>
              </a:rPr>
              <a:t>()</a:t>
            </a:r>
            <a:r>
              <a:rPr lang="en-US" sz="2800" dirty="0" smtClean="0">
                <a:solidFill>
                  <a:schemeClr val="tx1"/>
                </a:solidFill>
                <a:latin typeface="Times New Roman" pitchFamily="18" charset="0"/>
                <a:cs typeface="Times New Roman" pitchFamily="18" charset="0"/>
              </a:rPr>
              <a:t>)</a:t>
            </a:r>
          </a:p>
          <a:p>
            <a:r>
              <a:rPr lang="en-US" sz="2800" dirty="0" smtClean="0">
                <a:solidFill>
                  <a:schemeClr val="tx1"/>
                </a:solidFill>
                <a:latin typeface="Times New Roman" pitchFamily="18" charset="0"/>
                <a:cs typeface="Times New Roman" pitchFamily="18" charset="0"/>
              </a:rPr>
              <a:t>Writing to a file (</a:t>
            </a:r>
            <a:r>
              <a:rPr lang="en-US" sz="2800" b="1" dirty="0" err="1" smtClean="0">
                <a:solidFill>
                  <a:schemeClr val="tx1"/>
                </a:solidFill>
                <a:latin typeface="Times New Roman" pitchFamily="18" charset="0"/>
                <a:cs typeface="Times New Roman" pitchFamily="18" charset="0"/>
              </a:rPr>
              <a:t>fprintf</a:t>
            </a:r>
            <a:r>
              <a:rPr lang="en-US" sz="2800" b="1" dirty="0" smtClean="0">
                <a:solidFill>
                  <a:schemeClr val="tx1"/>
                </a:solidFill>
                <a:latin typeface="Times New Roman" pitchFamily="18" charset="0"/>
                <a:cs typeface="Times New Roman" pitchFamily="18" charset="0"/>
              </a:rPr>
              <a:t>() or </a:t>
            </a:r>
            <a:r>
              <a:rPr lang="en-US" sz="2800" b="1" dirty="0" err="1" smtClean="0">
                <a:solidFill>
                  <a:schemeClr val="tx1"/>
                </a:solidFill>
                <a:latin typeface="Times New Roman" pitchFamily="18" charset="0"/>
                <a:cs typeface="Times New Roman" pitchFamily="18" charset="0"/>
              </a:rPr>
              <a:t>fputs</a:t>
            </a:r>
            <a:r>
              <a:rPr lang="en-US" sz="2800" b="1" dirty="0" smtClean="0">
                <a:solidFill>
                  <a:schemeClr val="tx1"/>
                </a:solidFill>
                <a:latin typeface="Times New Roman" pitchFamily="18" charset="0"/>
                <a:cs typeface="Times New Roman" pitchFamily="18" charset="0"/>
              </a:rPr>
              <a:t>()</a:t>
            </a:r>
            <a:r>
              <a:rPr lang="en-US" sz="2800" dirty="0" smtClean="0">
                <a:solidFill>
                  <a:schemeClr val="tx1"/>
                </a:solidFill>
                <a:latin typeface="Times New Roman" pitchFamily="18" charset="0"/>
                <a:cs typeface="Times New Roman" pitchFamily="18" charset="0"/>
              </a:rPr>
              <a:t>)</a:t>
            </a:r>
          </a:p>
          <a:p>
            <a:r>
              <a:rPr lang="en-US" sz="2800" dirty="0" smtClean="0">
                <a:solidFill>
                  <a:schemeClr val="tx1"/>
                </a:solidFill>
                <a:latin typeface="Times New Roman" pitchFamily="18" charset="0"/>
                <a:cs typeface="Times New Roman" pitchFamily="18" charset="0"/>
              </a:rPr>
              <a:t>Moving to a specific location in a file (</a:t>
            </a:r>
            <a:r>
              <a:rPr lang="en-US" sz="2800" b="1" dirty="0" err="1" smtClean="0">
                <a:solidFill>
                  <a:schemeClr val="tx1"/>
                </a:solidFill>
                <a:latin typeface="Times New Roman" pitchFamily="18" charset="0"/>
                <a:cs typeface="Times New Roman" pitchFamily="18" charset="0"/>
                <a:hlinkClick r:id="rId2"/>
              </a:rPr>
              <a:t>fseek</a:t>
            </a:r>
            <a:r>
              <a:rPr lang="en-US" sz="2800" b="1" dirty="0" smtClean="0">
                <a:solidFill>
                  <a:schemeClr val="tx1"/>
                </a:solidFill>
                <a:latin typeface="Times New Roman" pitchFamily="18" charset="0"/>
                <a:cs typeface="Times New Roman" pitchFamily="18" charset="0"/>
                <a:hlinkClick r:id="rId2"/>
              </a:rPr>
              <a:t>()</a:t>
            </a:r>
            <a:r>
              <a:rPr lang="en-US" sz="2800" b="1" dirty="0" smtClean="0">
                <a:solidFill>
                  <a:schemeClr val="tx1"/>
                </a:solidFill>
                <a:latin typeface="Times New Roman" pitchFamily="18" charset="0"/>
                <a:cs typeface="Times New Roman" pitchFamily="18" charset="0"/>
              </a:rPr>
              <a:t>, rewind()</a:t>
            </a:r>
            <a:r>
              <a:rPr lang="en-US" sz="2800" dirty="0" smtClean="0">
                <a:solidFill>
                  <a:schemeClr val="tx1"/>
                </a:solidFill>
                <a:latin typeface="Times New Roman" pitchFamily="18" charset="0"/>
                <a:cs typeface="Times New Roman" pitchFamily="18" charset="0"/>
              </a:rPr>
              <a:t>)</a:t>
            </a:r>
          </a:p>
          <a:p>
            <a:r>
              <a:rPr lang="en-US" sz="2800" dirty="0" smtClean="0">
                <a:solidFill>
                  <a:schemeClr val="tx1"/>
                </a:solidFill>
                <a:latin typeface="Times New Roman" pitchFamily="18" charset="0"/>
                <a:cs typeface="Times New Roman" pitchFamily="18" charset="0"/>
              </a:rPr>
              <a:t>Closing a file (</a:t>
            </a:r>
            <a:r>
              <a:rPr lang="en-US" sz="2800" b="1" dirty="0" err="1" smtClean="0">
                <a:solidFill>
                  <a:schemeClr val="tx1"/>
                </a:solidFill>
                <a:latin typeface="Times New Roman" pitchFamily="18" charset="0"/>
                <a:cs typeface="Times New Roman" pitchFamily="18" charset="0"/>
              </a:rPr>
              <a:t>fclose</a:t>
            </a:r>
            <a:r>
              <a:rPr lang="en-US" sz="2800" b="1" dirty="0" smtClean="0">
                <a:solidFill>
                  <a:schemeClr val="tx1"/>
                </a:solidFill>
                <a:latin typeface="Times New Roman" pitchFamily="18" charset="0"/>
                <a:cs typeface="Times New Roman" pitchFamily="18" charset="0"/>
              </a:rPr>
              <a:t>()</a:t>
            </a:r>
            <a:r>
              <a:rPr lang="en-US" sz="2800" dirty="0" smtClean="0">
                <a:solidFill>
                  <a:schemeClr val="tx1"/>
                </a:solidFill>
                <a:latin typeface="Times New Roman" pitchFamily="18" charset="0"/>
                <a:cs typeface="Times New Roman" pitchFamily="18" charset="0"/>
              </a:rPr>
              <a: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9937" y="439783"/>
            <a:ext cx="9875520" cy="683623"/>
          </a:xfrm>
        </p:spPr>
        <p:txBody>
          <a:bodyPr>
            <a:normAutofit fontScale="90000"/>
          </a:bodyPr>
          <a:lstStyle/>
          <a:p>
            <a:r>
              <a:rPr lang="en-US" b="1" dirty="0" smtClean="0"/>
              <a:t>Functions for file handling</a:t>
            </a:r>
            <a:br>
              <a:rPr lang="en-US" b="1" dirty="0" smtClean="0"/>
            </a:br>
            <a:endParaRPr lang="en-US" dirty="0"/>
          </a:p>
        </p:txBody>
      </p:sp>
      <p:sp>
        <p:nvSpPr>
          <p:cNvPr id="3" name="Content Placeholder 2"/>
          <p:cNvSpPr>
            <a:spLocks noGrp="1"/>
          </p:cNvSpPr>
          <p:nvPr>
            <p:ph idx="1"/>
          </p:nvPr>
        </p:nvSpPr>
        <p:spPr/>
        <p:txBody>
          <a:bodyPr/>
          <a:lstStyle/>
          <a:p>
            <a:endParaRPr lang="en-US" dirty="0"/>
          </a:p>
        </p:txBody>
      </p:sp>
      <p:pic>
        <p:nvPicPr>
          <p:cNvPr id="1027" name="Picture 3"/>
          <p:cNvPicPr>
            <a:picLocks noChangeAspect="1" noChangeArrowheads="1"/>
          </p:cNvPicPr>
          <p:nvPr/>
        </p:nvPicPr>
        <p:blipFill>
          <a:blip r:embed="rId2"/>
          <a:srcRect/>
          <a:stretch>
            <a:fillRect/>
          </a:stretch>
        </p:blipFill>
        <p:spPr bwMode="auto">
          <a:xfrm>
            <a:off x="2194560" y="796834"/>
            <a:ext cx="6844937" cy="5808209"/>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with files</a:t>
            </a:r>
            <a:br>
              <a:rPr lang="en-US" b="1" dirty="0" smtClean="0"/>
            </a:br>
            <a:endParaRPr lang="en-US" dirty="0"/>
          </a:p>
        </p:txBody>
      </p:sp>
      <p:sp>
        <p:nvSpPr>
          <p:cNvPr id="3" name="Content Placeholder 2"/>
          <p:cNvSpPr>
            <a:spLocks noGrp="1"/>
          </p:cNvSpPr>
          <p:nvPr>
            <p:ph idx="1"/>
          </p:nvPr>
        </p:nvSpPr>
        <p:spPr/>
        <p:txBody>
          <a:bodyPr/>
          <a:lstStyle/>
          <a:p>
            <a:r>
              <a:rPr lang="en-US" dirty="0" smtClean="0">
                <a:solidFill>
                  <a:schemeClr val="tx1"/>
                </a:solidFill>
              </a:rPr>
              <a:t>you need to declare a pointer of type file. </a:t>
            </a:r>
          </a:p>
          <a:p>
            <a:r>
              <a:rPr lang="en-US" dirty="0" smtClean="0">
                <a:solidFill>
                  <a:schemeClr val="tx1"/>
                </a:solidFill>
              </a:rPr>
              <a:t>This declaration is needed for communication between the file and the program.</a:t>
            </a:r>
          </a:p>
          <a:p>
            <a:pPr>
              <a:buNone/>
            </a:pPr>
            <a:endParaRPr lang="en-US" dirty="0" smtClean="0">
              <a:solidFill>
                <a:schemeClr val="tx1"/>
              </a:solidFill>
            </a:endParaRPr>
          </a:p>
          <a:p>
            <a:pPr>
              <a:buNone/>
            </a:pPr>
            <a:endParaRPr lang="en-US" dirty="0" smtClean="0">
              <a:solidFill>
                <a:schemeClr val="tx1"/>
              </a:solidFill>
            </a:endParaRPr>
          </a:p>
          <a:p>
            <a:pPr>
              <a:buNone/>
            </a:pPr>
            <a:r>
              <a:rPr lang="en-US" dirty="0" smtClean="0">
                <a:solidFill>
                  <a:schemeClr val="tx1"/>
                </a:solidFill>
              </a:rPr>
              <a:t>				FILE *</a:t>
            </a:r>
            <a:r>
              <a:rPr lang="en-US" dirty="0" err="1" smtClean="0">
                <a:solidFill>
                  <a:schemeClr val="tx1"/>
                </a:solidFill>
              </a:rPr>
              <a:t>fptr</a:t>
            </a:r>
            <a:r>
              <a:rPr lang="en-US" dirty="0" smtClean="0">
                <a:solidFill>
                  <a:schemeClr val="tx1"/>
                </a:solidFill>
              </a:rPr>
              <a:t>;</a:t>
            </a:r>
            <a:endParaRPr lang="en-US"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Opening a file - for creation and edit</a:t>
            </a:r>
            <a:br>
              <a:rPr lang="en-US" b="1"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p:txBody>
          <a:bodyPr>
            <a:normAutofit/>
          </a:bodyPr>
          <a:lstStyle/>
          <a:p>
            <a:pPr>
              <a:buNone/>
            </a:pPr>
            <a:r>
              <a:rPr lang="en-US" sz="3200" dirty="0" smtClean="0">
                <a:solidFill>
                  <a:schemeClr val="tx1"/>
                </a:solidFill>
                <a:latin typeface="Times New Roman" pitchFamily="18" charset="0"/>
                <a:cs typeface="Times New Roman" pitchFamily="18" charset="0"/>
              </a:rPr>
              <a:t>The syntax for opening a file in standard I/O is:</a:t>
            </a:r>
          </a:p>
          <a:p>
            <a:pPr>
              <a:buNone/>
            </a:pPr>
            <a:r>
              <a:rPr lang="en-US" sz="3200" dirty="0" err="1" smtClean="0">
                <a:solidFill>
                  <a:schemeClr val="tx1"/>
                </a:solidFill>
                <a:latin typeface="Times New Roman" pitchFamily="18" charset="0"/>
                <a:cs typeface="Times New Roman" pitchFamily="18" charset="0"/>
              </a:rPr>
              <a:t>ptr</a:t>
            </a:r>
            <a:r>
              <a:rPr lang="en-US" sz="3200" dirty="0" smtClean="0">
                <a:solidFill>
                  <a:schemeClr val="tx1"/>
                </a:solidFill>
                <a:latin typeface="Times New Roman" pitchFamily="18" charset="0"/>
                <a:cs typeface="Times New Roman" pitchFamily="18" charset="0"/>
              </a:rPr>
              <a:t> = </a:t>
            </a:r>
            <a:r>
              <a:rPr lang="en-US" sz="3200" dirty="0" err="1" smtClean="0">
                <a:solidFill>
                  <a:schemeClr val="tx1"/>
                </a:solidFill>
                <a:latin typeface="Times New Roman" pitchFamily="18" charset="0"/>
                <a:cs typeface="Times New Roman" pitchFamily="18" charset="0"/>
              </a:rPr>
              <a:t>fopen</a:t>
            </a:r>
            <a:r>
              <a:rPr lang="en-US" sz="3200" dirty="0" smtClean="0">
                <a:solidFill>
                  <a:schemeClr val="tx1"/>
                </a:solidFill>
                <a:latin typeface="Times New Roman" pitchFamily="18" charset="0"/>
                <a:cs typeface="Times New Roman" pitchFamily="18" charset="0"/>
              </a:rPr>
              <a:t>("</a:t>
            </a:r>
            <a:r>
              <a:rPr lang="en-US" sz="3200" dirty="0" err="1" smtClean="0">
                <a:solidFill>
                  <a:schemeClr val="tx1"/>
                </a:solidFill>
                <a:latin typeface="Times New Roman" pitchFamily="18" charset="0"/>
                <a:cs typeface="Times New Roman" pitchFamily="18" charset="0"/>
              </a:rPr>
              <a:t>fileopen","mode</a:t>
            </a:r>
            <a:r>
              <a:rPr lang="en-US" sz="3200" dirty="0" smtClean="0">
                <a:solidFill>
                  <a:schemeClr val="tx1"/>
                </a:solidFill>
                <a:latin typeface="Times New Roman" pitchFamily="18" charset="0"/>
                <a:cs typeface="Times New Roman" pitchFamily="18" charset="0"/>
              </a:rPr>
              <a:t>"); </a:t>
            </a:r>
          </a:p>
          <a:p>
            <a:pPr>
              <a:buNone/>
            </a:pPr>
            <a:r>
              <a:rPr lang="en-US" sz="3200" dirty="0" err="1" smtClean="0">
                <a:solidFill>
                  <a:schemeClr val="tx1"/>
                </a:solidFill>
                <a:latin typeface="Times New Roman" pitchFamily="18" charset="0"/>
                <a:cs typeface="Times New Roman" pitchFamily="18" charset="0"/>
              </a:rPr>
              <a:t>Eg</a:t>
            </a:r>
            <a:r>
              <a:rPr lang="en-US" sz="3200" dirty="0" smtClean="0">
                <a:solidFill>
                  <a:schemeClr val="tx1"/>
                </a:solidFill>
                <a:latin typeface="Times New Roman" pitchFamily="18" charset="0"/>
                <a:cs typeface="Times New Roman" pitchFamily="18" charset="0"/>
              </a:rPr>
              <a:t>:</a:t>
            </a:r>
          </a:p>
          <a:p>
            <a:pPr>
              <a:buNone/>
            </a:pPr>
            <a:r>
              <a:rPr lang="en-US" sz="3200" dirty="0" smtClean="0"/>
              <a:t>  </a:t>
            </a:r>
            <a:r>
              <a:rPr lang="en-US" sz="3200" dirty="0" err="1" smtClean="0">
                <a:solidFill>
                  <a:schemeClr val="tx1"/>
                </a:solidFill>
              </a:rPr>
              <a:t>fopen</a:t>
            </a:r>
            <a:r>
              <a:rPr lang="en-US" sz="3200" dirty="0" smtClean="0">
                <a:solidFill>
                  <a:schemeClr val="tx1"/>
                </a:solidFill>
              </a:rPr>
              <a:t>("E:\\</a:t>
            </a:r>
            <a:r>
              <a:rPr lang="en-US" sz="3200" dirty="0" err="1" smtClean="0">
                <a:solidFill>
                  <a:schemeClr val="tx1"/>
                </a:solidFill>
              </a:rPr>
              <a:t>cprogram</a:t>
            </a:r>
            <a:r>
              <a:rPr lang="en-US" sz="3200" dirty="0" smtClean="0">
                <a:solidFill>
                  <a:schemeClr val="tx1"/>
                </a:solidFill>
              </a:rPr>
              <a:t>\\</a:t>
            </a:r>
            <a:r>
              <a:rPr lang="en-US" sz="3200" dirty="0" err="1" smtClean="0">
                <a:solidFill>
                  <a:schemeClr val="tx1"/>
                </a:solidFill>
              </a:rPr>
              <a:t>newprogram.txt","w</a:t>
            </a:r>
            <a:r>
              <a:rPr lang="en-US" sz="3200" dirty="0" smtClean="0">
                <a:solidFill>
                  <a:schemeClr val="tx1"/>
                </a:solidFill>
              </a:rPr>
              <a:t>"); </a:t>
            </a:r>
            <a:r>
              <a:rPr lang="en-US" sz="3200" dirty="0" err="1" smtClean="0">
                <a:solidFill>
                  <a:schemeClr val="tx1"/>
                </a:solidFill>
              </a:rPr>
              <a:t>fopen</a:t>
            </a:r>
            <a:r>
              <a:rPr lang="en-US" sz="3200" dirty="0" smtClean="0">
                <a:solidFill>
                  <a:schemeClr val="tx1"/>
                </a:solidFill>
              </a:rPr>
              <a:t>("E:\\</a:t>
            </a:r>
            <a:r>
              <a:rPr lang="en-US" sz="3200" dirty="0" err="1" smtClean="0">
                <a:solidFill>
                  <a:schemeClr val="tx1"/>
                </a:solidFill>
              </a:rPr>
              <a:t>cprogram</a:t>
            </a:r>
            <a:r>
              <a:rPr lang="en-US" sz="3200" dirty="0" smtClean="0">
                <a:solidFill>
                  <a:schemeClr val="tx1"/>
                </a:solidFill>
              </a:rPr>
              <a:t>\\</a:t>
            </a:r>
            <a:r>
              <a:rPr lang="en-US" sz="3200" dirty="0" err="1" smtClean="0">
                <a:solidFill>
                  <a:schemeClr val="tx1"/>
                </a:solidFill>
              </a:rPr>
              <a:t>oldprogram.bin","rb</a:t>
            </a:r>
            <a:r>
              <a:rPr lang="en-US" sz="3200" dirty="0" smtClean="0">
                <a:solidFill>
                  <a:schemeClr val="tx1"/>
                </a:solidFill>
              </a:rPr>
              <a:t>");</a:t>
            </a:r>
            <a:endParaRPr lang="en-US" sz="3200" dirty="0" smtClean="0">
              <a:solidFill>
                <a:schemeClr val="tx1"/>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1449978" y="326572"/>
            <a:ext cx="10162902" cy="612648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1972491" y="522514"/>
            <a:ext cx="8516983" cy="572153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1789611" y="1254035"/>
            <a:ext cx="9222378" cy="445443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Closing a File</a:t>
            </a:r>
            <a:endParaRPr lang="en-US" b="1" dirty="0"/>
          </a:p>
        </p:txBody>
      </p:sp>
      <p:sp>
        <p:nvSpPr>
          <p:cNvPr id="3" name="Content Placeholder 2"/>
          <p:cNvSpPr>
            <a:spLocks noGrp="1"/>
          </p:cNvSpPr>
          <p:nvPr>
            <p:ph idx="1"/>
          </p:nvPr>
        </p:nvSpPr>
        <p:spPr/>
        <p:txBody>
          <a:bodyPr>
            <a:normAutofit/>
          </a:bodyPr>
          <a:lstStyle/>
          <a:p>
            <a:r>
              <a:rPr lang="en-US" sz="2800" dirty="0" smtClean="0">
                <a:solidFill>
                  <a:schemeClr val="tx1"/>
                </a:solidFill>
                <a:latin typeface="Times New Roman" pitchFamily="18" charset="0"/>
                <a:cs typeface="Times New Roman" pitchFamily="18" charset="0"/>
              </a:rPr>
              <a:t>The file (both text and binary) should be closed after reading/writing.</a:t>
            </a:r>
          </a:p>
          <a:p>
            <a:r>
              <a:rPr lang="en-US" sz="2800" dirty="0" smtClean="0">
                <a:solidFill>
                  <a:schemeClr val="tx1"/>
                </a:solidFill>
                <a:latin typeface="Times New Roman" pitchFamily="18" charset="0"/>
                <a:cs typeface="Times New Roman" pitchFamily="18" charset="0"/>
              </a:rPr>
              <a:t>Closing a file is performed using the </a:t>
            </a:r>
            <a:r>
              <a:rPr lang="en-US" sz="2800" dirty="0" err="1" smtClean="0">
                <a:solidFill>
                  <a:schemeClr val="tx1"/>
                </a:solidFill>
                <a:latin typeface="Times New Roman" pitchFamily="18" charset="0"/>
                <a:cs typeface="Times New Roman" pitchFamily="18" charset="0"/>
              </a:rPr>
              <a:t>fclose</a:t>
            </a:r>
            <a:r>
              <a:rPr lang="en-US" sz="2800" dirty="0" smtClean="0">
                <a:solidFill>
                  <a:schemeClr val="tx1"/>
                </a:solidFill>
                <a:latin typeface="Times New Roman" pitchFamily="18" charset="0"/>
                <a:cs typeface="Times New Roman" pitchFamily="18" charset="0"/>
              </a:rPr>
              <a:t>() function.</a:t>
            </a:r>
          </a:p>
          <a:p>
            <a:endParaRPr lang="en-US" sz="2800" dirty="0" smtClean="0">
              <a:solidFill>
                <a:schemeClr val="tx1"/>
              </a:solidFill>
              <a:latin typeface="Times New Roman" pitchFamily="18" charset="0"/>
              <a:cs typeface="Times New Roman" pitchFamily="18" charset="0"/>
            </a:endParaRPr>
          </a:p>
          <a:p>
            <a:pPr>
              <a:buNone/>
            </a:pP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fclose</a:t>
            </a:r>
            <a:r>
              <a:rPr lang="en-US" sz="2800" dirty="0" smtClean="0">
                <a:solidFill>
                  <a:schemeClr val="tx1"/>
                </a:solidFill>
                <a:latin typeface="Times New Roman" pitchFamily="18" charset="0"/>
                <a:cs typeface="Times New Roman" pitchFamily="18" charset="0"/>
              </a:rPr>
              <a:t>(</a:t>
            </a:r>
            <a:r>
              <a:rPr lang="en-US" sz="2800" dirty="0" err="1" smtClean="0">
                <a:solidFill>
                  <a:schemeClr val="tx1"/>
                </a:solidFill>
                <a:latin typeface="Times New Roman" pitchFamily="18" charset="0"/>
                <a:cs typeface="Times New Roman" pitchFamily="18" charset="0"/>
              </a:rPr>
              <a:t>fptr</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Reading and writing to a text file</a:t>
            </a:r>
            <a:br>
              <a:rPr lang="en-US" b="1" dirty="0" smtClean="0"/>
            </a:br>
            <a:endParaRPr lang="en-US" dirty="0"/>
          </a:p>
        </p:txBody>
      </p:sp>
      <p:sp>
        <p:nvSpPr>
          <p:cNvPr id="3" name="Content Placeholder 2"/>
          <p:cNvSpPr>
            <a:spLocks noGrp="1"/>
          </p:cNvSpPr>
          <p:nvPr>
            <p:ph idx="1"/>
          </p:nvPr>
        </p:nvSpPr>
        <p:spPr/>
        <p:txBody>
          <a:bodyPr/>
          <a:lstStyle/>
          <a:p>
            <a:r>
              <a:rPr lang="en-US" dirty="0" smtClean="0">
                <a:solidFill>
                  <a:schemeClr val="tx1"/>
                </a:solidFill>
              </a:rPr>
              <a:t>For reading and writing to a text file, we use the functions </a:t>
            </a:r>
            <a:r>
              <a:rPr lang="en-US" dirty="0" err="1" smtClean="0">
                <a:solidFill>
                  <a:schemeClr val="tx1"/>
                </a:solidFill>
              </a:rPr>
              <a:t>fprintf</a:t>
            </a:r>
            <a:r>
              <a:rPr lang="en-US" dirty="0" smtClean="0">
                <a:solidFill>
                  <a:schemeClr val="tx1"/>
                </a:solidFill>
              </a:rPr>
              <a:t>() and </a:t>
            </a:r>
            <a:r>
              <a:rPr lang="en-US" dirty="0" err="1" smtClean="0">
                <a:solidFill>
                  <a:schemeClr val="tx1"/>
                </a:solidFill>
              </a:rPr>
              <a:t>fscanf</a:t>
            </a:r>
            <a:r>
              <a:rPr lang="en-US" dirty="0" smtClean="0">
                <a:solidFill>
                  <a:schemeClr val="tx1"/>
                </a:solidFill>
              </a:rPr>
              <a:t>().</a:t>
            </a:r>
            <a:endParaRPr 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10169434" cy="1356360"/>
          </a:xfrm>
        </p:spPr>
        <p:txBody>
          <a:bodyPr>
            <a:normAutofit fontScale="90000"/>
          </a:bodyPr>
          <a:lstStyle/>
          <a:p>
            <a:r>
              <a:rPr lang="en-US" sz="3100" dirty="0" smtClean="0">
                <a:solidFill>
                  <a:schemeClr val="tx1"/>
                </a:solidFill>
                <a:latin typeface="Times New Roman" pitchFamily="18" charset="0"/>
                <a:cs typeface="Times New Roman" pitchFamily="18" charset="0"/>
              </a:rPr>
              <a:t>In the given syntax, the filename and the mode are specified as strings hence they must always be enclosed within double quotes</a:t>
            </a:r>
            <a:r>
              <a:rPr lang="en-US" dirty="0" smtClean="0"/>
              <a: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763487" y="1959429"/>
            <a:ext cx="7053942" cy="4349931"/>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1724297" y="1123407"/>
            <a:ext cx="8386354" cy="453281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to Close a file</a:t>
            </a:r>
            <a:br>
              <a:rPr lang="en-US" b="1" dirty="0" smtClean="0"/>
            </a:b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2808513" y="1854926"/>
            <a:ext cx="6021977" cy="296472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1560" y="374468"/>
            <a:ext cx="9875520" cy="775063"/>
          </a:xfrm>
        </p:spPr>
        <p:txBody>
          <a:bodyPr/>
          <a:lstStyle/>
          <a:p>
            <a:r>
              <a:rPr lang="en-US" dirty="0" smtClean="0"/>
              <a:t>Write to a text file</a:t>
            </a:r>
            <a:endParaRPr lang="en-US" dirty="0"/>
          </a:p>
        </p:txBody>
      </p:sp>
      <p:sp>
        <p:nvSpPr>
          <p:cNvPr id="3" name="Content Placeholder 2"/>
          <p:cNvSpPr>
            <a:spLocks noGrp="1"/>
          </p:cNvSpPr>
          <p:nvPr>
            <p:ph idx="1"/>
          </p:nvPr>
        </p:nvSpPr>
        <p:spPr/>
        <p:txBody>
          <a:bodyPr/>
          <a:lstStyle/>
          <a:p>
            <a:endParaRPr lang="en-US" dirty="0"/>
          </a:p>
        </p:txBody>
      </p:sp>
      <p:pic>
        <p:nvPicPr>
          <p:cNvPr id="4" name="Picture 2"/>
          <p:cNvPicPr>
            <a:picLocks noChangeAspect="1" noChangeArrowheads="1"/>
          </p:cNvPicPr>
          <p:nvPr/>
        </p:nvPicPr>
        <p:blipFill>
          <a:blip r:embed="rId2"/>
          <a:srcRect/>
          <a:stretch>
            <a:fillRect/>
          </a:stretch>
        </p:blipFill>
        <p:spPr bwMode="auto">
          <a:xfrm>
            <a:off x="927463" y="1071154"/>
            <a:ext cx="9313817" cy="5512526"/>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749" y="348342"/>
            <a:ext cx="9875520" cy="957944"/>
          </a:xfrm>
        </p:spPr>
        <p:txBody>
          <a:bodyPr/>
          <a:lstStyle/>
          <a:p>
            <a:r>
              <a:rPr lang="en-US" dirty="0" smtClean="0"/>
              <a:t>Read from a text file</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1854926" y="1345475"/>
            <a:ext cx="7916091" cy="5159828"/>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err="1" smtClean="0">
                <a:solidFill>
                  <a:schemeClr val="tx1"/>
                </a:solidFill>
              </a:rPr>
              <a:t>Input/Output</a:t>
            </a:r>
            <a:r>
              <a:rPr lang="en-US" b="1" dirty="0" smtClean="0">
                <a:solidFill>
                  <a:schemeClr val="tx1"/>
                </a:solidFill>
              </a:rPr>
              <a:t> Operations on File </a:t>
            </a:r>
            <a:br>
              <a:rPr lang="en-US" b="1" dirty="0" smtClean="0">
                <a:solidFill>
                  <a:schemeClr val="tx1"/>
                </a:solidFill>
              </a:rPr>
            </a:br>
            <a:r>
              <a:rPr lang="en-US" b="1" dirty="0" err="1" smtClean="0">
                <a:solidFill>
                  <a:schemeClr val="tx1"/>
                </a:solidFill>
              </a:rPr>
              <a:t>getc</a:t>
            </a:r>
            <a:r>
              <a:rPr lang="en-US" b="1" dirty="0" smtClean="0">
                <a:solidFill>
                  <a:schemeClr val="tx1"/>
                </a:solidFill>
              </a:rPr>
              <a:t> and </a:t>
            </a:r>
            <a:r>
              <a:rPr lang="en-US" b="1" dirty="0" err="1" smtClean="0">
                <a:solidFill>
                  <a:schemeClr val="tx1"/>
                </a:solidFill>
              </a:rPr>
              <a:t>putc</a:t>
            </a:r>
            <a:r>
              <a:rPr lang="en-US" b="1" dirty="0" smtClean="0">
                <a:solidFill>
                  <a:schemeClr val="tx1"/>
                </a:solidFill>
              </a:rPr>
              <a:t> Functions </a:t>
            </a:r>
            <a:br>
              <a:rPr lang="en-US" b="1" dirty="0" smtClean="0">
                <a:solidFill>
                  <a:schemeClr val="tx1"/>
                </a:solidFill>
              </a:rPr>
            </a:br>
            <a:endParaRPr lang="en-US" b="1" dirty="0">
              <a:solidFill>
                <a:schemeClr val="tx1"/>
              </a:solidFill>
            </a:endParaRPr>
          </a:p>
        </p:txBody>
      </p:sp>
      <p:sp>
        <p:nvSpPr>
          <p:cNvPr id="3" name="Content Placeholder 2"/>
          <p:cNvSpPr>
            <a:spLocks noGrp="1"/>
          </p:cNvSpPr>
          <p:nvPr>
            <p:ph idx="1"/>
          </p:nvPr>
        </p:nvSpPr>
        <p:spPr/>
        <p:txBody>
          <a:bodyPr>
            <a:noAutofit/>
          </a:bodyPr>
          <a:lstStyle/>
          <a:p>
            <a:pPr>
              <a:buNone/>
            </a:pPr>
            <a:r>
              <a:rPr lang="en-US" sz="2800" dirty="0" smtClean="0">
                <a:solidFill>
                  <a:schemeClr val="tx1"/>
                </a:solidFill>
                <a:latin typeface="Times New Roman" pitchFamily="18" charset="0"/>
                <a:cs typeface="Times New Roman" pitchFamily="18" charset="0"/>
              </a:rPr>
              <a:t>Simplest I/O functions are </a:t>
            </a:r>
            <a:r>
              <a:rPr lang="en-US" sz="2800" dirty="0" err="1" smtClean="0">
                <a:solidFill>
                  <a:schemeClr val="tx1"/>
                </a:solidFill>
                <a:latin typeface="Times New Roman" pitchFamily="18" charset="0"/>
                <a:cs typeface="Times New Roman" pitchFamily="18" charset="0"/>
              </a:rPr>
              <a:t>getc</a:t>
            </a:r>
            <a:r>
              <a:rPr lang="en-US" sz="2800" dirty="0" smtClean="0">
                <a:solidFill>
                  <a:schemeClr val="tx1"/>
                </a:solidFill>
                <a:latin typeface="Times New Roman" pitchFamily="18" charset="0"/>
                <a:cs typeface="Times New Roman" pitchFamily="18" charset="0"/>
              </a:rPr>
              <a:t> and </a:t>
            </a:r>
            <a:r>
              <a:rPr lang="en-US" sz="2800" dirty="0" err="1" smtClean="0">
                <a:solidFill>
                  <a:schemeClr val="tx1"/>
                </a:solidFill>
                <a:latin typeface="Times New Roman" pitchFamily="18" charset="0"/>
                <a:cs typeface="Times New Roman" pitchFamily="18" charset="0"/>
              </a:rPr>
              <a:t>putc</a:t>
            </a:r>
            <a:r>
              <a:rPr lang="en-US" sz="2800" dirty="0" smtClean="0">
                <a:solidFill>
                  <a:schemeClr val="tx1"/>
                </a:solidFill>
                <a:latin typeface="Times New Roman" pitchFamily="18" charset="0"/>
                <a:cs typeface="Times New Roman" pitchFamily="18" charset="0"/>
              </a:rPr>
              <a:t>. </a:t>
            </a:r>
          </a:p>
          <a:p>
            <a:pPr>
              <a:buNone/>
            </a:pPr>
            <a:r>
              <a:rPr lang="en-US" sz="2800" dirty="0" smtClean="0">
                <a:solidFill>
                  <a:schemeClr val="tx1"/>
                </a:solidFill>
                <a:latin typeface="Times New Roman" pitchFamily="18" charset="0"/>
                <a:cs typeface="Times New Roman" pitchFamily="18" charset="0"/>
              </a:rPr>
              <a:t>• Handles one character at a time. </a:t>
            </a:r>
          </a:p>
          <a:p>
            <a:pPr>
              <a:buNone/>
            </a:pPr>
            <a:r>
              <a:rPr lang="en-US" sz="2800" dirty="0" smtClean="0">
                <a:solidFill>
                  <a:schemeClr val="tx1"/>
                </a:solidFill>
                <a:latin typeface="Times New Roman" pitchFamily="18" charset="0"/>
                <a:cs typeface="Times New Roman" pitchFamily="18" charset="0"/>
              </a:rPr>
              <a:t>• Syntax: </a:t>
            </a:r>
          </a:p>
          <a:p>
            <a:pPr>
              <a:buNone/>
            </a:pP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putc</a:t>
            </a:r>
            <a:r>
              <a:rPr lang="en-US" sz="2800" dirty="0" smtClean="0">
                <a:solidFill>
                  <a:schemeClr val="tx1"/>
                </a:solidFill>
                <a:latin typeface="Times New Roman" pitchFamily="18" charset="0"/>
                <a:cs typeface="Times New Roman" pitchFamily="18" charset="0"/>
              </a:rPr>
              <a:t>(char, FILE *</a:t>
            </a:r>
            <a:r>
              <a:rPr lang="en-US" sz="2800" dirty="0" err="1" smtClean="0">
                <a:solidFill>
                  <a:schemeClr val="tx1"/>
                </a:solidFill>
                <a:latin typeface="Times New Roman" pitchFamily="18" charset="0"/>
                <a:cs typeface="Times New Roman" pitchFamily="18" charset="0"/>
              </a:rPr>
              <a:t>fp</a:t>
            </a:r>
            <a:r>
              <a:rPr lang="en-US" sz="2800" dirty="0" smtClean="0">
                <a:solidFill>
                  <a:schemeClr val="tx1"/>
                </a:solidFill>
                <a:latin typeface="Times New Roman" pitchFamily="18" charset="0"/>
                <a:cs typeface="Times New Roman" pitchFamily="18" charset="0"/>
              </a:rPr>
              <a:t>); </a:t>
            </a:r>
          </a:p>
          <a:p>
            <a:pPr>
              <a:buNone/>
            </a:pP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getc</a:t>
            </a:r>
            <a:r>
              <a:rPr lang="en-US" sz="2800" dirty="0" smtClean="0">
                <a:solidFill>
                  <a:schemeClr val="tx1"/>
                </a:solidFill>
                <a:latin typeface="Times New Roman" pitchFamily="18" charset="0"/>
                <a:cs typeface="Times New Roman" pitchFamily="18" charset="0"/>
              </a:rPr>
              <a:t>(FILE *</a:t>
            </a:r>
            <a:r>
              <a:rPr lang="en-US" sz="2800" dirty="0" err="1" smtClean="0">
                <a:solidFill>
                  <a:schemeClr val="tx1"/>
                </a:solidFill>
                <a:latin typeface="Times New Roman" pitchFamily="18" charset="0"/>
                <a:cs typeface="Times New Roman" pitchFamily="18" charset="0"/>
              </a:rPr>
              <a:t>fp</a:t>
            </a:r>
            <a:r>
              <a:rPr lang="en-US" sz="2800" dirty="0" smtClean="0">
                <a:solidFill>
                  <a:schemeClr val="tx1"/>
                </a:solidFill>
                <a:latin typeface="Times New Roman" pitchFamily="18" charset="0"/>
                <a:cs typeface="Times New Roman" pitchFamily="18" charset="0"/>
              </a:rPr>
              <a:t>); </a:t>
            </a:r>
          </a:p>
          <a:p>
            <a:pPr>
              <a:buNone/>
            </a:pP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Eg</a:t>
            </a:r>
            <a:r>
              <a:rPr lang="en-US" sz="2800" dirty="0" smtClean="0">
                <a:solidFill>
                  <a:schemeClr val="tx1"/>
                </a:solidFill>
                <a:latin typeface="Times New Roman" pitchFamily="18" charset="0"/>
                <a:cs typeface="Times New Roman" pitchFamily="18" charset="0"/>
              </a:rPr>
              <a:t>: </a:t>
            </a:r>
          </a:p>
          <a:p>
            <a:pPr>
              <a:buNone/>
            </a:pPr>
            <a:r>
              <a:rPr lang="en-US" sz="2800" dirty="0" err="1" smtClean="0">
                <a:solidFill>
                  <a:schemeClr val="tx1"/>
                </a:solidFill>
                <a:latin typeface="Times New Roman" pitchFamily="18" charset="0"/>
                <a:cs typeface="Times New Roman" pitchFamily="18" charset="0"/>
              </a:rPr>
              <a:t>putc</a:t>
            </a:r>
            <a:r>
              <a:rPr lang="en-US" sz="2800" dirty="0" smtClean="0">
                <a:solidFill>
                  <a:schemeClr val="tx1"/>
                </a:solidFill>
                <a:latin typeface="Times New Roman" pitchFamily="18" charset="0"/>
                <a:cs typeface="Times New Roman" pitchFamily="18" charset="0"/>
              </a:rPr>
              <a:t>(c, fp1); </a:t>
            </a:r>
          </a:p>
          <a:p>
            <a:pPr>
              <a:buNone/>
            </a:pPr>
            <a:r>
              <a:rPr lang="en-US" sz="2800" dirty="0" smtClean="0">
                <a:solidFill>
                  <a:schemeClr val="tx1"/>
                </a:solidFill>
                <a:latin typeface="Times New Roman" pitchFamily="18" charset="0"/>
                <a:cs typeface="Times New Roman" pitchFamily="18" charset="0"/>
              </a:rPr>
              <a:t>c=</a:t>
            </a:r>
            <a:r>
              <a:rPr lang="en-US" sz="2800" dirty="0" err="1" smtClean="0">
                <a:solidFill>
                  <a:schemeClr val="tx1"/>
                </a:solidFill>
                <a:latin typeface="Times New Roman" pitchFamily="18" charset="0"/>
                <a:cs typeface="Times New Roman" pitchFamily="18" charset="0"/>
              </a:rPr>
              <a:t>getc</a:t>
            </a:r>
            <a:r>
              <a:rPr lang="en-US" sz="2800" dirty="0" smtClean="0">
                <a:solidFill>
                  <a:schemeClr val="tx1"/>
                </a:solidFill>
                <a:latin typeface="Times New Roman" pitchFamily="18" charset="0"/>
                <a:cs typeface="Times New Roman" pitchFamily="18" charset="0"/>
              </a:rPr>
              <a:t>(fp2);</a:t>
            </a:r>
          </a:p>
          <a:p>
            <a:endParaRPr lang="en-US" sz="2800" dirty="0">
              <a:solidFill>
                <a:schemeClr val="tx1"/>
              </a:solidFill>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26571"/>
            <a:ext cx="9875520" cy="1639389"/>
          </a:xfrm>
        </p:spPr>
        <p:txBody>
          <a:bodyPr>
            <a:normAutofit fontScale="90000"/>
          </a:bodyPr>
          <a:lstStyle/>
          <a:p>
            <a:pPr algn="ctr"/>
            <a:r>
              <a:rPr lang="en-US" sz="3100" dirty="0" smtClean="0"/>
              <a:t/>
            </a:r>
            <a:br>
              <a:rPr lang="en-US" sz="3100" dirty="0" smtClean="0"/>
            </a:br>
            <a:r>
              <a:rPr lang="en-US" sz="3100" dirty="0" smtClean="0"/>
              <a:t/>
            </a:r>
            <a:br>
              <a:rPr lang="en-US" sz="3100" dirty="0" smtClean="0"/>
            </a:br>
            <a:r>
              <a:rPr lang="en-US" sz="3100" dirty="0" smtClean="0"/>
              <a:t/>
            </a:r>
            <a:br>
              <a:rPr lang="en-US" sz="3100" dirty="0" smtClean="0"/>
            </a:br>
            <a:r>
              <a:rPr lang="en-US" sz="3100" dirty="0" smtClean="0">
                <a:solidFill>
                  <a:schemeClr val="tx1"/>
                </a:solidFill>
              </a:rPr>
              <a:t>Example Program 2 </a:t>
            </a:r>
            <a:br>
              <a:rPr lang="en-US" sz="3100" dirty="0" smtClean="0">
                <a:solidFill>
                  <a:schemeClr val="tx1"/>
                </a:solidFill>
              </a:rPr>
            </a:br>
            <a:r>
              <a:rPr lang="en-US" sz="3100" dirty="0" smtClean="0">
                <a:solidFill>
                  <a:schemeClr val="tx1"/>
                </a:solidFill>
              </a:rPr>
              <a:t>/* Program to read data from the keyboard, write it to a file called INPUT, again read the same  data from the INPUT file and display it on the screen */ </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1071154" y="1985553"/>
            <a:ext cx="10267406" cy="458506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1567542" y="195943"/>
            <a:ext cx="9222377" cy="585216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1240971" y="600891"/>
            <a:ext cx="9836332" cy="5878286"/>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Times New Roman" pitchFamily="18" charset="0"/>
                <a:cs typeface="Times New Roman" pitchFamily="18" charset="0"/>
              </a:rPr>
              <a:t>Enumerated data type (module 3)</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800" dirty="0" smtClean="0">
                <a:solidFill>
                  <a:schemeClr val="tx1"/>
                </a:solidFill>
                <a:latin typeface="Times New Roman" pitchFamily="18" charset="0"/>
                <a:cs typeface="Times New Roman" pitchFamily="18" charset="0"/>
              </a:rPr>
              <a:t>In computer programming </a:t>
            </a:r>
            <a:r>
              <a:rPr lang="en-US" sz="2800" b="1" dirty="0" smtClean="0">
                <a:solidFill>
                  <a:schemeClr val="tx1"/>
                </a:solidFill>
                <a:latin typeface="Times New Roman" pitchFamily="18" charset="0"/>
                <a:cs typeface="Times New Roman" pitchFamily="18" charset="0"/>
              </a:rPr>
              <a:t>enumerated data type (</a:t>
            </a:r>
            <a:r>
              <a:rPr lang="en-US" sz="2800" b="1" dirty="0" err="1" smtClean="0">
                <a:solidFill>
                  <a:schemeClr val="tx1"/>
                </a:solidFill>
                <a:latin typeface="Times New Roman" pitchFamily="18" charset="0"/>
                <a:cs typeface="Times New Roman" pitchFamily="18" charset="0"/>
              </a:rPr>
              <a:t>enum</a:t>
            </a:r>
            <a:r>
              <a:rPr lang="en-US" sz="2800" b="1" dirty="0" smtClean="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is used to create the group of constants.</a:t>
            </a:r>
          </a:p>
          <a:p>
            <a:pPr>
              <a:buNone/>
            </a:pPr>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It is a </a:t>
            </a:r>
            <a:r>
              <a:rPr lang="en-US" sz="2800" b="1" dirty="0" smtClean="0">
                <a:solidFill>
                  <a:schemeClr val="tx1"/>
                </a:solidFill>
                <a:latin typeface="Times New Roman" pitchFamily="18" charset="0"/>
                <a:cs typeface="Times New Roman" pitchFamily="18" charset="0"/>
              </a:rPr>
              <a:t>user-defined data type </a:t>
            </a:r>
            <a:r>
              <a:rPr lang="en-US" sz="2800" dirty="0" smtClean="0">
                <a:solidFill>
                  <a:schemeClr val="tx1"/>
                </a:solidFill>
                <a:latin typeface="Times New Roman" pitchFamily="18" charset="0"/>
                <a:cs typeface="Times New Roman" pitchFamily="18" charset="0"/>
              </a:rPr>
              <a:t>that </a:t>
            </a:r>
            <a:r>
              <a:rPr lang="en-US" sz="2800" dirty="0" smtClean="0">
                <a:solidFill>
                  <a:schemeClr val="tx1"/>
                </a:solidFill>
                <a:latin typeface="Times New Roman" pitchFamily="18" charset="0"/>
                <a:cs typeface="Times New Roman" pitchFamily="18" charset="0"/>
              </a:rPr>
              <a:t>consists of integer values, and it </a:t>
            </a:r>
            <a:r>
              <a:rPr lang="en-US" sz="2800" dirty="0" smtClean="0">
                <a:solidFill>
                  <a:schemeClr val="tx1"/>
                </a:solidFill>
                <a:latin typeface="Times New Roman" pitchFamily="18" charset="0"/>
                <a:cs typeface="Times New Roman" pitchFamily="18" charset="0"/>
              </a:rPr>
              <a:t>provides </a:t>
            </a:r>
            <a:r>
              <a:rPr lang="en-US" sz="2800" dirty="0" smtClean="0">
                <a:solidFill>
                  <a:schemeClr val="tx1"/>
                </a:solidFill>
                <a:latin typeface="Times New Roman" pitchFamily="18" charset="0"/>
                <a:cs typeface="Times New Roman" pitchFamily="18" charset="0"/>
              </a:rPr>
              <a:t>meaningful names to these values.</a:t>
            </a:r>
          </a:p>
          <a:p>
            <a:endParaRPr lang="en-US" sz="2800" dirty="0" smtClean="0">
              <a:solidFill>
                <a:schemeClr val="tx1"/>
              </a:solidFill>
              <a:latin typeface="Times New Roman" pitchFamily="18" charset="0"/>
              <a:cs typeface="Times New Roman" pitchFamily="18" charset="0"/>
            </a:endParaRPr>
          </a:p>
          <a:p>
            <a:r>
              <a:rPr lang="en-US" sz="2800" dirty="0" smtClean="0">
                <a:solidFill>
                  <a:schemeClr val="tx1"/>
                </a:solidFill>
                <a:latin typeface="Times New Roman" pitchFamily="18" charset="0"/>
                <a:cs typeface="Times New Roman" pitchFamily="18" charset="0"/>
              </a:rPr>
              <a:t>By default, </a:t>
            </a:r>
            <a:r>
              <a:rPr lang="en-US" sz="2800" i="1" dirty="0" smtClean="0">
                <a:solidFill>
                  <a:schemeClr val="tx1"/>
                </a:solidFill>
                <a:latin typeface="Times New Roman" pitchFamily="18" charset="0"/>
                <a:cs typeface="Times New Roman" pitchFamily="18" charset="0"/>
              </a:rPr>
              <a:t>const1</a:t>
            </a:r>
            <a:r>
              <a:rPr lang="en-US" sz="2800" dirty="0" smtClean="0">
                <a:solidFill>
                  <a:schemeClr val="tx1"/>
                </a:solidFill>
                <a:latin typeface="Times New Roman" pitchFamily="18" charset="0"/>
                <a:cs typeface="Times New Roman" pitchFamily="18" charset="0"/>
              </a:rPr>
              <a:t> is 0, </a:t>
            </a:r>
            <a:r>
              <a:rPr lang="en-US" sz="2800" i="1" dirty="0" smtClean="0">
                <a:solidFill>
                  <a:schemeClr val="tx1"/>
                </a:solidFill>
                <a:latin typeface="Times New Roman" pitchFamily="18" charset="0"/>
                <a:cs typeface="Times New Roman" pitchFamily="18" charset="0"/>
              </a:rPr>
              <a:t>const2</a:t>
            </a:r>
            <a:r>
              <a:rPr lang="en-US" sz="2800" dirty="0" smtClean="0">
                <a:solidFill>
                  <a:schemeClr val="tx1"/>
                </a:solidFill>
                <a:latin typeface="Times New Roman" pitchFamily="18" charset="0"/>
                <a:cs typeface="Times New Roman" pitchFamily="18" charset="0"/>
              </a:rPr>
              <a:t> is 1 and so on. You can change default values of </a:t>
            </a:r>
            <a:r>
              <a:rPr lang="en-US" sz="2800" dirty="0" err="1" smtClean="0">
                <a:solidFill>
                  <a:schemeClr val="tx1"/>
                </a:solidFill>
                <a:latin typeface="Times New Roman" pitchFamily="18" charset="0"/>
                <a:cs typeface="Times New Roman" pitchFamily="18" charset="0"/>
              </a:rPr>
              <a:t>enum</a:t>
            </a:r>
            <a:r>
              <a:rPr lang="en-US" sz="2800" dirty="0" smtClean="0">
                <a:solidFill>
                  <a:schemeClr val="tx1"/>
                </a:solidFill>
                <a:latin typeface="Times New Roman" pitchFamily="18" charset="0"/>
                <a:cs typeface="Times New Roman" pitchFamily="18" charset="0"/>
              </a:rPr>
              <a:t> elements during declaration (if necessary).</a:t>
            </a:r>
          </a:p>
          <a:p>
            <a:endParaRPr lang="en-US" sz="2800" dirty="0" smtClean="0">
              <a:solidFill>
                <a:schemeClr val="tx1"/>
              </a:solidFill>
              <a:latin typeface="Times New Roman" pitchFamily="18" charset="0"/>
              <a:cs typeface="Times New Roman" pitchFamily="18" charset="0"/>
            </a:endParaRPr>
          </a:p>
          <a:p>
            <a:endParaRPr lang="en-US"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79120"/>
          </a:xfrm>
        </p:spPr>
        <p:txBody>
          <a:bodyPr>
            <a:normAutofit fontScale="90000"/>
          </a:bodyPr>
          <a:lstStyle/>
          <a:p>
            <a:r>
              <a:rPr lang="en-US" b="1" dirty="0" smtClean="0"/>
              <a:t>For example:</a:t>
            </a:r>
            <a:r>
              <a:rPr lang="en-US" dirty="0" smtClean="0"/>
              <a:t/>
            </a:r>
            <a:br>
              <a:rPr lang="en-US" dirty="0" smtClean="0"/>
            </a:br>
            <a:endParaRPr lang="en-US" dirty="0"/>
          </a:p>
        </p:txBody>
      </p:sp>
      <p:sp>
        <p:nvSpPr>
          <p:cNvPr id="3" name="Content Placeholder 2"/>
          <p:cNvSpPr>
            <a:spLocks noGrp="1"/>
          </p:cNvSpPr>
          <p:nvPr>
            <p:ph idx="1"/>
          </p:nvPr>
        </p:nvSpPr>
        <p:spPr>
          <a:xfrm>
            <a:off x="1143000" y="1058091"/>
            <a:ext cx="9872871" cy="5037909"/>
          </a:xfrm>
        </p:spPr>
        <p:txBody>
          <a:bodyPr>
            <a:normAutofit/>
          </a:bodyPr>
          <a:lstStyle/>
          <a:p>
            <a:pPr>
              <a:buNone/>
            </a:pPr>
            <a:r>
              <a:rPr lang="en-US" sz="3200" dirty="0" err="1" smtClean="0">
                <a:solidFill>
                  <a:schemeClr val="tx1"/>
                </a:solidFill>
                <a:latin typeface="Times New Roman" pitchFamily="18" charset="0"/>
                <a:cs typeface="Times New Roman" pitchFamily="18" charset="0"/>
              </a:rPr>
              <a:t>enum</a:t>
            </a:r>
            <a:r>
              <a:rPr lang="en-US" sz="3200" dirty="0" smtClean="0">
                <a:solidFill>
                  <a:schemeClr val="tx1"/>
                </a:solidFill>
                <a:latin typeface="Times New Roman" pitchFamily="18" charset="0"/>
                <a:cs typeface="Times New Roman" pitchFamily="18" charset="0"/>
              </a:rPr>
              <a:t> fruits{mango, apple, strawberry, papaya};  </a:t>
            </a:r>
          </a:p>
          <a:p>
            <a:pPr>
              <a:buNone/>
            </a:pPr>
            <a:endParaRPr lang="en-US" sz="3200" dirty="0" smtClean="0">
              <a:solidFill>
                <a:schemeClr val="tx1"/>
              </a:solidFill>
              <a:latin typeface="Times New Roman" pitchFamily="18" charset="0"/>
              <a:cs typeface="Times New Roman" pitchFamily="18" charset="0"/>
            </a:endParaRPr>
          </a:p>
          <a:p>
            <a:r>
              <a:rPr lang="en-US" sz="2400" dirty="0" smtClean="0">
                <a:solidFill>
                  <a:schemeClr val="tx1"/>
                </a:solidFill>
                <a:latin typeface="Times New Roman" pitchFamily="18" charset="0"/>
                <a:cs typeface="Times New Roman" pitchFamily="18" charset="0"/>
              </a:rPr>
              <a:t>The default value of mango is 0, apple is 1, strawberry is 2, and papaya is 3. If we want to change these default values, then we can do as given below:</a:t>
            </a:r>
          </a:p>
          <a:p>
            <a:endParaRPr lang="en-US" sz="3200" dirty="0" smtClean="0">
              <a:solidFill>
                <a:schemeClr val="tx1"/>
              </a:solidFill>
              <a:latin typeface="Times New Roman" pitchFamily="18" charset="0"/>
              <a:cs typeface="Times New Roman" pitchFamily="18" charset="0"/>
            </a:endParaRPr>
          </a:p>
          <a:p>
            <a:pPr>
              <a:buNone/>
            </a:pPr>
            <a:endParaRPr lang="en-US" sz="3200" dirty="0" smtClean="0">
              <a:solidFill>
                <a:schemeClr val="tx1"/>
              </a:solidFill>
              <a:latin typeface="Times New Roman" pitchFamily="18" charset="0"/>
              <a:cs typeface="Times New Roman" pitchFamily="18" charset="0"/>
            </a:endParaRPr>
          </a:p>
          <a:p>
            <a:pPr>
              <a:buNone/>
            </a:pPr>
            <a:r>
              <a:rPr lang="en-US" sz="3200" dirty="0" err="1" smtClean="0">
                <a:solidFill>
                  <a:schemeClr val="tx1"/>
                </a:solidFill>
                <a:latin typeface="Times New Roman" pitchFamily="18" charset="0"/>
                <a:cs typeface="Times New Roman" pitchFamily="18" charset="0"/>
              </a:rPr>
              <a:t>enum</a:t>
            </a:r>
            <a:r>
              <a:rPr lang="en-US" sz="3200" dirty="0" smtClean="0">
                <a:solidFill>
                  <a:schemeClr val="tx1"/>
                </a:solidFill>
                <a:latin typeface="Times New Roman" pitchFamily="18" charset="0"/>
                <a:cs typeface="Times New Roman" pitchFamily="18" charset="0"/>
              </a:rPr>
              <a:t> fruits{  mango=2,  apple=1,  strawberry=5,  papaya=7,   };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2188" y="230777"/>
            <a:ext cx="9875520" cy="1356360"/>
          </a:xfrm>
        </p:spPr>
        <p:txBody>
          <a:bodyPr/>
          <a:lstStyle/>
          <a:p>
            <a:r>
              <a:rPr lang="en-US" dirty="0" smtClean="0"/>
              <a:t>Example </a:t>
            </a:r>
            <a:endParaRPr lang="en-US" dirty="0"/>
          </a:p>
        </p:txBody>
      </p:sp>
      <p:sp>
        <p:nvSpPr>
          <p:cNvPr id="3" name="Content Placeholder 2"/>
          <p:cNvSpPr>
            <a:spLocks noGrp="1"/>
          </p:cNvSpPr>
          <p:nvPr>
            <p:ph idx="1"/>
          </p:nvPr>
        </p:nvSpPr>
        <p:spPr>
          <a:xfrm>
            <a:off x="1143000" y="1018903"/>
            <a:ext cx="9872871" cy="5077097"/>
          </a:xfrm>
        </p:spPr>
        <p:txBody>
          <a:bodyPr>
            <a:normAutofit fontScale="92500" lnSpcReduction="20000"/>
          </a:bodyPr>
          <a:lstStyle/>
          <a:p>
            <a:pPr>
              <a:buNone/>
            </a:pPr>
            <a:endParaRPr lang="en-US" dirty="0" smtClean="0">
              <a:solidFill>
                <a:schemeClr val="tx1"/>
              </a:solidFill>
            </a:endParaRPr>
          </a:p>
          <a:p>
            <a:pPr>
              <a:buNone/>
            </a:pPr>
            <a:r>
              <a:rPr lang="en-US" dirty="0" smtClean="0">
                <a:solidFill>
                  <a:schemeClr val="tx1"/>
                </a:solidFill>
              </a:rPr>
              <a:t>    </a:t>
            </a:r>
            <a:r>
              <a:rPr lang="en-US" b="1" dirty="0" smtClean="0">
                <a:solidFill>
                  <a:schemeClr val="tx1"/>
                </a:solidFill>
                <a:latin typeface="Times New Roman" pitchFamily="18" charset="0"/>
                <a:cs typeface="Times New Roman" pitchFamily="18" charset="0"/>
              </a:rPr>
              <a:t>#include &lt;</a:t>
            </a:r>
            <a:r>
              <a:rPr lang="en-US" b="1" dirty="0" err="1" smtClean="0">
                <a:solidFill>
                  <a:schemeClr val="tx1"/>
                </a:solidFill>
                <a:latin typeface="Times New Roman" pitchFamily="18" charset="0"/>
                <a:cs typeface="Times New Roman" pitchFamily="18" charset="0"/>
              </a:rPr>
              <a:t>stdio.h</a:t>
            </a:r>
            <a:r>
              <a:rPr lang="en-US" b="1" dirty="0" smtClean="0">
                <a:solidFill>
                  <a:schemeClr val="tx1"/>
                </a:solidFill>
                <a:latin typeface="Times New Roman" pitchFamily="18" charset="0"/>
                <a:cs typeface="Times New Roman" pitchFamily="18" charset="0"/>
              </a:rPr>
              <a:t>&gt;  </a:t>
            </a:r>
          </a:p>
          <a:p>
            <a:pPr>
              <a:buNone/>
            </a:pPr>
            <a:r>
              <a:rPr lang="en-US" b="1" dirty="0" err="1" smtClean="0">
                <a:solidFill>
                  <a:schemeClr val="tx1"/>
                </a:solidFill>
                <a:latin typeface="Times New Roman" pitchFamily="18" charset="0"/>
                <a:cs typeface="Times New Roman" pitchFamily="18" charset="0"/>
              </a:rPr>
              <a:t>enum</a:t>
            </a:r>
            <a:r>
              <a:rPr lang="en-US" b="1" dirty="0" smtClean="0">
                <a:solidFill>
                  <a:schemeClr val="tx1"/>
                </a:solidFill>
                <a:latin typeface="Times New Roman" pitchFamily="18" charset="0"/>
                <a:cs typeface="Times New Roman" pitchFamily="18" charset="0"/>
              </a:rPr>
              <a:t> weekdays{Sunday=1, Monday, Tuesday, Wednesday, Thursday, Friday, Saturday};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int</a:t>
            </a:r>
            <a:r>
              <a:rPr lang="en-US" b="1" dirty="0" smtClean="0">
                <a:solidFill>
                  <a:schemeClr val="tx1"/>
                </a:solidFill>
                <a:latin typeface="Times New Roman" pitchFamily="18" charset="0"/>
                <a:cs typeface="Times New Roman" pitchFamily="18" charset="0"/>
              </a:rPr>
              <a:t> main()  </a:t>
            </a:r>
          </a:p>
          <a:p>
            <a:pPr>
              <a:buNone/>
            </a:pP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enum</a:t>
            </a:r>
            <a:r>
              <a:rPr lang="en-US" b="1" dirty="0" smtClean="0">
                <a:solidFill>
                  <a:schemeClr val="tx1"/>
                </a:solidFill>
                <a:latin typeface="Times New Roman" pitchFamily="18" charset="0"/>
                <a:cs typeface="Times New Roman" pitchFamily="18" charset="0"/>
              </a:rPr>
              <a:t> weekdays w; 	</a:t>
            </a:r>
            <a:r>
              <a:rPr lang="en-US" dirty="0" smtClean="0">
                <a:solidFill>
                  <a:schemeClr val="tx1"/>
                </a:solidFill>
                <a:latin typeface="Times New Roman" pitchFamily="18" charset="0"/>
                <a:cs typeface="Times New Roman" pitchFamily="18" charset="0"/>
              </a:rPr>
              <a:t>// variable declaration of weekdays type </a:t>
            </a: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w=Monday; 		</a:t>
            </a:r>
            <a:r>
              <a:rPr lang="en-US" dirty="0" smtClean="0">
                <a:solidFill>
                  <a:schemeClr val="tx1"/>
                </a:solidFill>
                <a:latin typeface="Times New Roman" pitchFamily="18" charset="0"/>
                <a:cs typeface="Times New Roman" pitchFamily="18" charset="0"/>
              </a:rPr>
              <a:t>// assigning value of Monday to w.  </a:t>
            </a:r>
          </a:p>
          <a:p>
            <a:pPr>
              <a:buNone/>
            </a:pP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printf</a:t>
            </a:r>
            <a:r>
              <a:rPr lang="en-US" b="1" dirty="0" smtClean="0">
                <a:solidFill>
                  <a:schemeClr val="tx1"/>
                </a:solidFill>
                <a:latin typeface="Times New Roman" pitchFamily="18" charset="0"/>
                <a:cs typeface="Times New Roman" pitchFamily="18" charset="0"/>
              </a:rPr>
              <a:t>("The value of w is %</a:t>
            </a:r>
            <a:r>
              <a:rPr lang="en-US" b="1" dirty="0" err="1" smtClean="0">
                <a:solidFill>
                  <a:schemeClr val="tx1"/>
                </a:solidFill>
                <a:latin typeface="Times New Roman" pitchFamily="18" charset="0"/>
                <a:cs typeface="Times New Roman" pitchFamily="18" charset="0"/>
              </a:rPr>
              <a:t>d",w</a:t>
            </a:r>
            <a:r>
              <a:rPr lang="en-US" b="1" dirty="0" smtClean="0">
                <a:solidFill>
                  <a:schemeClr val="tx1"/>
                </a:solidFill>
                <a:latin typeface="Times New Roman" pitchFamily="18" charset="0"/>
                <a:cs typeface="Times New Roman" pitchFamily="18" charset="0"/>
              </a:rPr>
              <a:t>);  </a:t>
            </a:r>
          </a:p>
          <a:p>
            <a:pPr>
              <a:buNone/>
            </a:pPr>
            <a:r>
              <a:rPr lang="en-US" b="1" dirty="0" smtClean="0">
                <a:solidFill>
                  <a:schemeClr val="tx1"/>
                </a:solidFill>
                <a:latin typeface="Times New Roman" pitchFamily="18" charset="0"/>
                <a:cs typeface="Times New Roman" pitchFamily="18" charset="0"/>
              </a:rPr>
              <a:t>    return 0;  </a:t>
            </a:r>
          </a:p>
          <a:p>
            <a:pPr>
              <a:buNone/>
            </a:pPr>
            <a:r>
              <a:rPr lang="en-US" b="1" dirty="0" smtClean="0">
                <a:solidFill>
                  <a:schemeClr val="tx1"/>
                </a:solidFill>
                <a:latin typeface="Times New Roman" pitchFamily="18" charset="0"/>
                <a:cs typeface="Times New Roman" pitchFamily="18" charset="0"/>
              </a:rPr>
              <a:t>}  </a:t>
            </a:r>
          </a:p>
          <a:p>
            <a:pPr algn="ctr">
              <a:buNone/>
            </a:pPr>
            <a:r>
              <a:rPr lang="en-US" b="1" dirty="0" smtClean="0">
                <a:solidFill>
                  <a:schemeClr val="tx1"/>
                </a:solidFill>
                <a:latin typeface="Times New Roman" pitchFamily="18" charset="0"/>
                <a:cs typeface="Times New Roman" pitchFamily="18" charset="0"/>
              </a:rPr>
              <a:t>Output</a:t>
            </a:r>
          </a:p>
          <a:p>
            <a:pPr algn="ctr">
              <a:buNone/>
            </a:pPr>
            <a:r>
              <a:rPr lang="en-US" b="1" dirty="0" smtClean="0">
                <a:solidFill>
                  <a:schemeClr val="tx1"/>
                </a:solidFill>
                <a:latin typeface="Times New Roman" pitchFamily="18" charset="0"/>
                <a:cs typeface="Times New Roman" pitchFamily="18" charset="0"/>
              </a:rPr>
              <a:t>The value of w is 2</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2371" y="385353"/>
            <a:ext cx="9872871" cy="6119949"/>
          </a:xfrm>
        </p:spPr>
        <p:txBody>
          <a:bodyPr>
            <a:normAutofit fontScale="47500" lnSpcReduction="20000"/>
          </a:bodyPr>
          <a:lstStyle/>
          <a:p>
            <a:pPr>
              <a:buNone/>
            </a:pPr>
            <a:r>
              <a:rPr lang="en-US" sz="5100" dirty="0" smtClean="0">
                <a:solidFill>
                  <a:schemeClr val="tx1"/>
                </a:solidFill>
              </a:rPr>
              <a:t>#include &lt;</a:t>
            </a:r>
            <a:r>
              <a:rPr lang="en-US" sz="5100" dirty="0" err="1" smtClean="0">
                <a:solidFill>
                  <a:schemeClr val="tx1"/>
                </a:solidFill>
              </a:rPr>
              <a:t>stdio.h</a:t>
            </a:r>
            <a:r>
              <a:rPr lang="en-US" sz="5100" dirty="0" smtClean="0">
                <a:solidFill>
                  <a:schemeClr val="tx1"/>
                </a:solidFill>
              </a:rPr>
              <a:t>&gt;  </a:t>
            </a:r>
          </a:p>
          <a:p>
            <a:pPr>
              <a:buNone/>
            </a:pPr>
            <a:r>
              <a:rPr lang="en-US" sz="5100" dirty="0" smtClean="0">
                <a:solidFill>
                  <a:schemeClr val="tx1"/>
                </a:solidFill>
              </a:rPr>
              <a:t> </a:t>
            </a:r>
            <a:r>
              <a:rPr lang="en-US" sz="5100" dirty="0" err="1" smtClean="0">
                <a:solidFill>
                  <a:schemeClr val="tx1"/>
                </a:solidFill>
              </a:rPr>
              <a:t>enum</a:t>
            </a:r>
            <a:r>
              <a:rPr lang="en-US" sz="5100" dirty="0" smtClean="0">
                <a:solidFill>
                  <a:schemeClr val="tx1"/>
                </a:solidFill>
              </a:rPr>
              <a:t> months{</a:t>
            </a:r>
            <a:r>
              <a:rPr lang="en-US" sz="5100" dirty="0" err="1" smtClean="0">
                <a:solidFill>
                  <a:schemeClr val="tx1"/>
                </a:solidFill>
              </a:rPr>
              <a:t>jan</a:t>
            </a:r>
            <a:r>
              <a:rPr lang="en-US" sz="5100" dirty="0" smtClean="0">
                <a:solidFill>
                  <a:schemeClr val="tx1"/>
                </a:solidFill>
              </a:rPr>
              <a:t>=1, </a:t>
            </a:r>
            <a:r>
              <a:rPr lang="en-US" sz="5100" dirty="0" err="1" smtClean="0">
                <a:solidFill>
                  <a:schemeClr val="tx1"/>
                </a:solidFill>
              </a:rPr>
              <a:t>feb</a:t>
            </a:r>
            <a:r>
              <a:rPr lang="en-US" sz="5100" dirty="0" smtClean="0">
                <a:solidFill>
                  <a:schemeClr val="tx1"/>
                </a:solidFill>
              </a:rPr>
              <a:t>, march, </a:t>
            </a:r>
            <a:r>
              <a:rPr lang="en-US" sz="5100" dirty="0" err="1" smtClean="0">
                <a:solidFill>
                  <a:schemeClr val="tx1"/>
                </a:solidFill>
              </a:rPr>
              <a:t>april</a:t>
            </a:r>
            <a:r>
              <a:rPr lang="en-US" sz="5100" dirty="0" smtClean="0">
                <a:solidFill>
                  <a:schemeClr val="tx1"/>
                </a:solidFill>
              </a:rPr>
              <a:t>, may, </a:t>
            </a:r>
            <a:r>
              <a:rPr lang="en-US" sz="5100" dirty="0" err="1" smtClean="0">
                <a:solidFill>
                  <a:schemeClr val="tx1"/>
                </a:solidFill>
              </a:rPr>
              <a:t>june</a:t>
            </a:r>
            <a:r>
              <a:rPr lang="en-US" sz="5100" dirty="0" smtClean="0">
                <a:solidFill>
                  <a:schemeClr val="tx1"/>
                </a:solidFill>
              </a:rPr>
              <a:t>, </a:t>
            </a:r>
            <a:r>
              <a:rPr lang="en-US" sz="5100" dirty="0" err="1" smtClean="0">
                <a:solidFill>
                  <a:schemeClr val="tx1"/>
                </a:solidFill>
              </a:rPr>
              <a:t>july</a:t>
            </a:r>
            <a:r>
              <a:rPr lang="en-US" sz="5100" dirty="0" smtClean="0">
                <a:solidFill>
                  <a:schemeClr val="tx1"/>
                </a:solidFill>
              </a:rPr>
              <a:t>, august, </a:t>
            </a:r>
            <a:r>
              <a:rPr lang="en-US" sz="5100" dirty="0" err="1" smtClean="0">
                <a:solidFill>
                  <a:schemeClr val="tx1"/>
                </a:solidFill>
              </a:rPr>
              <a:t>september</a:t>
            </a:r>
            <a:r>
              <a:rPr lang="en-US" sz="5100" dirty="0" smtClean="0">
                <a:solidFill>
                  <a:schemeClr val="tx1"/>
                </a:solidFill>
              </a:rPr>
              <a:t>, </a:t>
            </a:r>
            <a:r>
              <a:rPr lang="en-US" sz="5100" dirty="0" err="1" smtClean="0">
                <a:solidFill>
                  <a:schemeClr val="tx1"/>
                </a:solidFill>
              </a:rPr>
              <a:t>october</a:t>
            </a:r>
            <a:r>
              <a:rPr lang="en-US" sz="5100" dirty="0" smtClean="0">
                <a:solidFill>
                  <a:schemeClr val="tx1"/>
                </a:solidFill>
              </a:rPr>
              <a:t>, </a:t>
            </a:r>
            <a:r>
              <a:rPr lang="en-US" sz="5100" dirty="0" err="1" smtClean="0">
                <a:solidFill>
                  <a:schemeClr val="tx1"/>
                </a:solidFill>
              </a:rPr>
              <a:t>november</a:t>
            </a:r>
            <a:r>
              <a:rPr lang="en-US" sz="5100" dirty="0" smtClean="0">
                <a:solidFill>
                  <a:schemeClr val="tx1"/>
                </a:solidFill>
              </a:rPr>
              <a:t>, </a:t>
            </a:r>
            <a:r>
              <a:rPr lang="en-US" sz="5100" dirty="0" err="1" smtClean="0">
                <a:solidFill>
                  <a:schemeClr val="tx1"/>
                </a:solidFill>
              </a:rPr>
              <a:t>december</a:t>
            </a:r>
            <a:r>
              <a:rPr lang="en-US" sz="5100" dirty="0" smtClean="0">
                <a:solidFill>
                  <a:schemeClr val="tx1"/>
                </a:solidFill>
              </a:rPr>
              <a:t>};  </a:t>
            </a:r>
          </a:p>
          <a:p>
            <a:pPr>
              <a:buNone/>
            </a:pPr>
            <a:r>
              <a:rPr lang="en-US" sz="5100" dirty="0" err="1" smtClean="0">
                <a:solidFill>
                  <a:schemeClr val="tx1"/>
                </a:solidFill>
              </a:rPr>
              <a:t>int</a:t>
            </a:r>
            <a:r>
              <a:rPr lang="en-US" sz="5100" dirty="0" smtClean="0">
                <a:solidFill>
                  <a:schemeClr val="tx1"/>
                </a:solidFill>
              </a:rPr>
              <a:t> main()  </a:t>
            </a:r>
          </a:p>
          <a:p>
            <a:pPr>
              <a:buNone/>
            </a:pPr>
            <a:r>
              <a:rPr lang="en-US" sz="5100" dirty="0" smtClean="0">
                <a:solidFill>
                  <a:schemeClr val="tx1"/>
                </a:solidFill>
              </a:rPr>
              <a:t>{  </a:t>
            </a:r>
          </a:p>
          <a:p>
            <a:pPr>
              <a:buNone/>
            </a:pPr>
            <a:r>
              <a:rPr lang="en-US" sz="5100" dirty="0" smtClean="0">
                <a:solidFill>
                  <a:schemeClr val="tx1"/>
                </a:solidFill>
              </a:rPr>
              <a:t>// printing the values of months  </a:t>
            </a:r>
          </a:p>
          <a:p>
            <a:pPr>
              <a:buNone/>
            </a:pPr>
            <a:r>
              <a:rPr lang="en-US" sz="5100" dirty="0" smtClean="0">
                <a:solidFill>
                  <a:schemeClr val="tx1"/>
                </a:solidFill>
              </a:rPr>
              <a:t> for(</a:t>
            </a:r>
            <a:r>
              <a:rPr lang="en-US" sz="5100" dirty="0" err="1" smtClean="0">
                <a:solidFill>
                  <a:schemeClr val="tx1"/>
                </a:solidFill>
              </a:rPr>
              <a:t>int</a:t>
            </a:r>
            <a:r>
              <a:rPr lang="en-US" sz="5100" dirty="0" smtClean="0">
                <a:solidFill>
                  <a:schemeClr val="tx1"/>
                </a:solidFill>
              </a:rPr>
              <a:t> </a:t>
            </a:r>
            <a:r>
              <a:rPr lang="en-US" sz="5100" dirty="0" err="1" smtClean="0">
                <a:solidFill>
                  <a:schemeClr val="tx1"/>
                </a:solidFill>
              </a:rPr>
              <a:t>i</a:t>
            </a:r>
            <a:r>
              <a:rPr lang="en-US" sz="5100" dirty="0" smtClean="0">
                <a:solidFill>
                  <a:schemeClr val="tx1"/>
                </a:solidFill>
              </a:rPr>
              <a:t>=</a:t>
            </a:r>
            <a:r>
              <a:rPr lang="en-US" sz="5100" dirty="0" err="1" smtClean="0">
                <a:solidFill>
                  <a:schemeClr val="tx1"/>
                </a:solidFill>
              </a:rPr>
              <a:t>jan;i</a:t>
            </a:r>
            <a:r>
              <a:rPr lang="en-US" sz="5100" dirty="0" smtClean="0">
                <a:solidFill>
                  <a:schemeClr val="tx1"/>
                </a:solidFill>
              </a:rPr>
              <a:t>&lt;=</a:t>
            </a:r>
            <a:r>
              <a:rPr lang="en-US" sz="5100" dirty="0" err="1" smtClean="0">
                <a:solidFill>
                  <a:schemeClr val="tx1"/>
                </a:solidFill>
              </a:rPr>
              <a:t>december;i</a:t>
            </a:r>
            <a:r>
              <a:rPr lang="en-US" sz="5100" dirty="0" smtClean="0">
                <a:solidFill>
                  <a:schemeClr val="tx1"/>
                </a:solidFill>
              </a:rPr>
              <a:t>++)  </a:t>
            </a:r>
          </a:p>
          <a:p>
            <a:pPr>
              <a:buNone/>
            </a:pPr>
            <a:r>
              <a:rPr lang="en-US" sz="5100" dirty="0" smtClean="0">
                <a:solidFill>
                  <a:schemeClr val="tx1"/>
                </a:solidFill>
              </a:rPr>
              <a:t> {  </a:t>
            </a:r>
          </a:p>
          <a:p>
            <a:pPr>
              <a:buNone/>
            </a:pPr>
            <a:r>
              <a:rPr lang="en-US" sz="5100" dirty="0" smtClean="0">
                <a:solidFill>
                  <a:schemeClr val="tx1"/>
                </a:solidFill>
              </a:rPr>
              <a:t> </a:t>
            </a:r>
            <a:r>
              <a:rPr lang="en-US" sz="5100" dirty="0" err="1" smtClean="0">
                <a:solidFill>
                  <a:schemeClr val="tx1"/>
                </a:solidFill>
              </a:rPr>
              <a:t>printf</a:t>
            </a:r>
            <a:r>
              <a:rPr lang="en-US" sz="5100" dirty="0" smtClean="0">
                <a:solidFill>
                  <a:schemeClr val="tx1"/>
                </a:solidFill>
              </a:rPr>
              <a:t>("%d, ",</a:t>
            </a:r>
            <a:r>
              <a:rPr lang="en-US" sz="5100" dirty="0" err="1" smtClean="0">
                <a:solidFill>
                  <a:schemeClr val="tx1"/>
                </a:solidFill>
              </a:rPr>
              <a:t>i</a:t>
            </a:r>
            <a:r>
              <a:rPr lang="en-US" sz="5100" dirty="0" smtClean="0">
                <a:solidFill>
                  <a:schemeClr val="tx1"/>
                </a:solidFill>
              </a:rPr>
              <a:t>);  </a:t>
            </a:r>
          </a:p>
          <a:p>
            <a:pPr>
              <a:buNone/>
            </a:pPr>
            <a:r>
              <a:rPr lang="en-US" sz="5100" dirty="0" smtClean="0">
                <a:solidFill>
                  <a:schemeClr val="tx1"/>
                </a:solidFill>
              </a:rPr>
              <a:t> }  </a:t>
            </a:r>
          </a:p>
          <a:p>
            <a:pPr>
              <a:buNone/>
            </a:pPr>
            <a:r>
              <a:rPr lang="en-US" sz="5100" dirty="0" smtClean="0">
                <a:solidFill>
                  <a:schemeClr val="tx1"/>
                </a:solidFill>
              </a:rPr>
              <a:t>    return 0;  </a:t>
            </a:r>
          </a:p>
          <a:p>
            <a:pPr>
              <a:buNone/>
            </a:pPr>
            <a:r>
              <a:rPr lang="en-US" sz="5100" dirty="0" smtClean="0">
                <a:solidFill>
                  <a:schemeClr val="tx1"/>
                </a:solidFill>
              </a:rPr>
              <a:t>}  </a:t>
            </a:r>
          </a:p>
          <a:p>
            <a:pPr>
              <a:buNone/>
            </a:pPr>
            <a:r>
              <a:rPr lang="en-US" sz="5100" b="1" dirty="0" smtClean="0"/>
              <a:t>Output</a:t>
            </a:r>
          </a:p>
          <a:p>
            <a:pPr>
              <a:buNone/>
            </a:pPr>
            <a:r>
              <a:rPr lang="en-US" sz="5100" b="1" dirty="0" smtClean="0">
                <a:solidFill>
                  <a:schemeClr val="tx1"/>
                </a:solidFill>
              </a:rPr>
              <a:t>1,2,3,4,5,6,7,8,9,10,11,12</a:t>
            </a:r>
            <a:endParaRPr lang="en-US" sz="5100" dirty="0" smtClean="0">
              <a:solidFill>
                <a:schemeClr val="tx1"/>
              </a:solidFill>
            </a:endParaRP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itchFamily="18" charset="0"/>
                <a:cs typeface="Times New Roman" pitchFamily="18" charset="0"/>
              </a:rPr>
              <a:t>Call by value and call by reference   (mod 3)</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smtClean="0">
                <a:solidFill>
                  <a:schemeClr val="tx1"/>
                </a:solidFill>
                <a:latin typeface="Times New Roman" pitchFamily="18" charset="0"/>
                <a:cs typeface="Times New Roman" pitchFamily="18" charset="0"/>
              </a:rPr>
              <a:t>There are two methods to pass the data into the function in C language, i.e., </a:t>
            </a:r>
            <a:endParaRPr lang="en-US" sz="2800" dirty="0" smtClean="0">
              <a:solidFill>
                <a:schemeClr val="tx1"/>
              </a:solidFill>
              <a:latin typeface="Times New Roman" pitchFamily="18" charset="0"/>
              <a:cs typeface="Times New Roman" pitchFamily="18" charset="0"/>
            </a:endParaRPr>
          </a:p>
          <a:p>
            <a:r>
              <a:rPr lang="en-US" sz="2800" b="1" i="1" dirty="0" smtClean="0">
                <a:solidFill>
                  <a:schemeClr val="tx1"/>
                </a:solidFill>
                <a:latin typeface="Times New Roman" pitchFamily="18" charset="0"/>
                <a:cs typeface="Times New Roman" pitchFamily="18" charset="0"/>
              </a:rPr>
              <a:t>1) call </a:t>
            </a:r>
            <a:r>
              <a:rPr lang="en-US" sz="2800" b="1" i="1" dirty="0" smtClean="0">
                <a:solidFill>
                  <a:schemeClr val="tx1"/>
                </a:solidFill>
                <a:latin typeface="Times New Roman" pitchFamily="18" charset="0"/>
                <a:cs typeface="Times New Roman" pitchFamily="18" charset="0"/>
              </a:rPr>
              <a:t>by value</a:t>
            </a:r>
            <a:r>
              <a:rPr lang="en-US" sz="2800" b="1" dirty="0" smtClean="0">
                <a:solidFill>
                  <a:schemeClr val="tx1"/>
                </a:solidFill>
                <a:latin typeface="Times New Roman" pitchFamily="18" charset="0"/>
                <a:cs typeface="Times New Roman" pitchFamily="18" charset="0"/>
              </a:rPr>
              <a:t> </a:t>
            </a:r>
          </a:p>
          <a:p>
            <a:r>
              <a:rPr lang="en-US" sz="2800" b="1" i="1" dirty="0" smtClean="0">
                <a:solidFill>
                  <a:schemeClr val="tx1"/>
                </a:solidFill>
                <a:latin typeface="Times New Roman" pitchFamily="18" charset="0"/>
                <a:cs typeface="Times New Roman" pitchFamily="18" charset="0"/>
              </a:rPr>
              <a:t>2) call </a:t>
            </a:r>
            <a:r>
              <a:rPr lang="en-US" sz="2800" b="1" i="1" dirty="0" smtClean="0">
                <a:solidFill>
                  <a:schemeClr val="tx1"/>
                </a:solidFill>
                <a:latin typeface="Times New Roman" pitchFamily="18" charset="0"/>
                <a:cs typeface="Times New Roman" pitchFamily="18" charset="0"/>
              </a:rPr>
              <a:t>by reference</a:t>
            </a:r>
            <a:r>
              <a:rPr lang="en-US" sz="2800" b="1" dirty="0" smtClean="0">
                <a:solidFill>
                  <a:schemeClr val="tx1"/>
                </a:solidFill>
                <a:latin typeface="Times New Roman" pitchFamily="18" charset="0"/>
                <a:cs typeface="Times New Roman" pitchFamily="18" charset="0"/>
              </a:rPr>
              <a:t>.</a:t>
            </a:r>
          </a:p>
          <a:p>
            <a:endParaRPr lang="en-US" sz="2800" b="1" dirty="0" smtClean="0">
              <a:solidFill>
                <a:schemeClr val="tx1"/>
              </a:solidFill>
              <a:latin typeface="Times New Roman" pitchFamily="18" charset="0"/>
              <a:cs typeface="Times New Roman" pitchFamily="18" charset="0"/>
            </a:endParaRPr>
          </a:p>
          <a:p>
            <a:pPr>
              <a:buNone/>
            </a:pPr>
            <a:r>
              <a:rPr lang="en-US" sz="2800" dirty="0" smtClean="0"/>
              <a:t>  </a:t>
            </a:r>
            <a:r>
              <a:rPr lang="en-US" sz="2800" dirty="0" smtClean="0">
                <a:solidFill>
                  <a:schemeClr val="tx1"/>
                </a:solidFill>
                <a:latin typeface="Times New Roman" pitchFamily="18" charset="0"/>
                <a:cs typeface="Times New Roman" pitchFamily="18" charset="0"/>
              </a:rPr>
              <a:t>The </a:t>
            </a:r>
            <a:r>
              <a:rPr lang="en-US" sz="2800" dirty="0" smtClean="0">
                <a:solidFill>
                  <a:schemeClr val="tx1"/>
                </a:solidFill>
                <a:latin typeface="Times New Roman" pitchFamily="18" charset="0"/>
                <a:cs typeface="Times New Roman" pitchFamily="18" charset="0"/>
              </a:rPr>
              <a:t>parameters passed to the function are called </a:t>
            </a:r>
            <a:r>
              <a:rPr lang="en-US" sz="2800" b="1" i="1" dirty="0" smtClean="0">
                <a:solidFill>
                  <a:schemeClr val="tx1"/>
                </a:solidFill>
                <a:latin typeface="Times New Roman" pitchFamily="18" charset="0"/>
                <a:cs typeface="Times New Roman" pitchFamily="18" charset="0"/>
              </a:rPr>
              <a:t>actual parameters</a:t>
            </a:r>
            <a:r>
              <a:rPr lang="en-US" sz="2800" dirty="0" smtClean="0">
                <a:solidFill>
                  <a:schemeClr val="tx1"/>
                </a:solidFill>
                <a:latin typeface="Times New Roman" pitchFamily="18" charset="0"/>
                <a:cs typeface="Times New Roman" pitchFamily="18" charset="0"/>
              </a:rPr>
              <a:t> whereas the parameters received by the function are called </a:t>
            </a:r>
            <a:r>
              <a:rPr lang="en-US" sz="2800" b="1" i="1" dirty="0" smtClean="0">
                <a:solidFill>
                  <a:schemeClr val="tx1"/>
                </a:solidFill>
                <a:latin typeface="Times New Roman" pitchFamily="18" charset="0"/>
                <a:cs typeface="Times New Roman" pitchFamily="18" charset="0"/>
              </a:rPr>
              <a:t>formal parameters</a:t>
            </a:r>
            <a:r>
              <a:rPr lang="en-US" sz="28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solidFill>
                  <a:schemeClr val="tx1"/>
                </a:solidFill>
                <a:latin typeface="Times New Roman" pitchFamily="18" charset="0"/>
                <a:cs typeface="Times New Roman" pitchFamily="18" charset="0"/>
              </a:rPr>
              <a:t>1) call by value</a:t>
            </a:r>
            <a:r>
              <a:rPr lang="en-US" b="1" dirty="0" smtClean="0">
                <a:solidFill>
                  <a:schemeClr val="tx1"/>
                </a:solidFill>
                <a:latin typeface="Times New Roman" pitchFamily="18" charset="0"/>
                <a:cs typeface="Times New Roman" pitchFamily="18" charset="0"/>
              </a:rPr>
              <a:t> </a:t>
            </a:r>
            <a:br>
              <a:rPr lang="en-US" b="1" dirty="0" smtClean="0">
                <a:solidFill>
                  <a:schemeClr val="tx1"/>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dirty="0" smtClean="0">
                <a:solidFill>
                  <a:schemeClr val="tx1"/>
                </a:solidFill>
              </a:rPr>
              <a:t>In call by value method, the value of the actual parameters is copied into the formal parameters</a:t>
            </a:r>
            <a:r>
              <a:rPr lang="en-US" dirty="0" smtClean="0">
                <a:solidFill>
                  <a:schemeClr val="tx1"/>
                </a:solidFill>
              </a:rPr>
              <a:t>.</a:t>
            </a:r>
          </a:p>
          <a:p>
            <a:r>
              <a:rPr lang="en-US" dirty="0" smtClean="0">
                <a:solidFill>
                  <a:schemeClr val="tx1"/>
                </a:solidFill>
              </a:rPr>
              <a:t>we can not modify the value of the actual parameter by the formal parameter</a:t>
            </a:r>
            <a:r>
              <a:rPr lang="en-US" dirty="0" smtClean="0">
                <a:solidFill>
                  <a:schemeClr val="tx1"/>
                </a:solidFill>
              </a:rPr>
              <a:t>.</a:t>
            </a:r>
          </a:p>
          <a:p>
            <a:r>
              <a:rPr lang="en-US" dirty="0" smtClean="0">
                <a:solidFill>
                  <a:schemeClr val="tx1"/>
                </a:solidFill>
              </a:rPr>
              <a:t>In call by value, different memory is allocated for actual and formal parameters since the value of the actual parameter is </a:t>
            </a:r>
            <a:r>
              <a:rPr lang="en-US" dirty="0" smtClean="0">
                <a:solidFill>
                  <a:schemeClr val="tx1"/>
                </a:solidFill>
              </a:rPr>
              <a:t>copied </a:t>
            </a:r>
            <a:r>
              <a:rPr lang="en-US" dirty="0" smtClean="0">
                <a:solidFill>
                  <a:schemeClr val="tx1"/>
                </a:solidFill>
              </a:rPr>
              <a:t>into the formal parameter</a:t>
            </a:r>
            <a:r>
              <a:rPr lang="en-US" dirty="0" smtClean="0">
                <a:solidFill>
                  <a:schemeClr val="tx1"/>
                </a:solidFill>
              </a:rPr>
              <a:t>.</a:t>
            </a:r>
          </a:p>
          <a:p>
            <a:endParaRPr lang="en-US"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286000" y="1018903"/>
            <a:ext cx="7014754" cy="485802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985554" y="1476103"/>
            <a:ext cx="6857999" cy="3105422"/>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itchFamily="18" charset="0"/>
                <a:cs typeface="Times New Roman" pitchFamily="18" charset="0"/>
              </a:rPr>
              <a:t>Call </a:t>
            </a:r>
            <a:r>
              <a:rPr lang="en-US" b="1" dirty="0" smtClean="0">
                <a:solidFill>
                  <a:schemeClr val="tx1"/>
                </a:solidFill>
                <a:latin typeface="Times New Roman" pitchFamily="18" charset="0"/>
                <a:cs typeface="Times New Roman" pitchFamily="18" charset="0"/>
              </a:rPr>
              <a:t>by reference</a:t>
            </a:r>
            <a:endParaRPr lang="en-US" dirty="0"/>
          </a:p>
        </p:txBody>
      </p:sp>
      <p:sp>
        <p:nvSpPr>
          <p:cNvPr id="3" name="Content Placeholder 2"/>
          <p:cNvSpPr>
            <a:spLocks noGrp="1"/>
          </p:cNvSpPr>
          <p:nvPr>
            <p:ph idx="1"/>
          </p:nvPr>
        </p:nvSpPr>
        <p:spPr/>
        <p:txBody>
          <a:bodyPr/>
          <a:lstStyle/>
          <a:p>
            <a:r>
              <a:rPr lang="en-US" dirty="0" smtClean="0">
                <a:solidFill>
                  <a:schemeClr val="tx1"/>
                </a:solidFill>
              </a:rPr>
              <a:t>In call by reference, the address of the variable is passed into the function call as the actual parameter</a:t>
            </a:r>
            <a:r>
              <a:rPr lang="en-US" dirty="0" smtClean="0">
                <a:solidFill>
                  <a:schemeClr val="tx1"/>
                </a:solidFill>
              </a:rPr>
              <a:t>.</a:t>
            </a:r>
          </a:p>
          <a:p>
            <a:r>
              <a:rPr lang="en-US" dirty="0" smtClean="0"/>
              <a:t>The value of the actual parameters can be modified by changing the formal parameters since the address of the actual parameters is passed</a:t>
            </a:r>
            <a:r>
              <a:rPr lang="en-US" dirty="0" smtClean="0"/>
              <a:t>.</a:t>
            </a:r>
          </a:p>
          <a:p>
            <a:endParaRPr lang="en-US" dirty="0" smtClean="0"/>
          </a:p>
          <a:p>
            <a:endParaRPr lang="en-US"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098" name="Picture 2"/>
          <p:cNvPicPr>
            <a:picLocks noChangeAspect="1" noChangeArrowheads="1"/>
          </p:cNvPicPr>
          <p:nvPr/>
        </p:nvPicPr>
        <p:blipFill>
          <a:blip r:embed="rId2"/>
          <a:srcRect/>
          <a:stretch>
            <a:fillRect/>
          </a:stretch>
        </p:blipFill>
        <p:spPr bwMode="auto">
          <a:xfrm>
            <a:off x="2272937" y="1018904"/>
            <a:ext cx="7563393" cy="5107576"/>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2651760" y="2037806"/>
            <a:ext cx="6426926" cy="2638969"/>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1097281" y="809897"/>
            <a:ext cx="9705702" cy="5342709"/>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10008</TotalTime>
  <Words>722</Words>
  <Application>Microsoft Office PowerPoint</Application>
  <PresentationFormat>Custom</PresentationFormat>
  <Paragraphs>118</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Basis</vt:lpstr>
      <vt:lpstr>Files</vt:lpstr>
      <vt:lpstr>Agenda</vt:lpstr>
      <vt:lpstr>File concept  Why do we need File Handling in C? </vt:lpstr>
      <vt:lpstr>Types of Files </vt:lpstr>
      <vt:lpstr>Slide 5</vt:lpstr>
      <vt:lpstr>The following operations can be performed on a file.</vt:lpstr>
      <vt:lpstr>Functions for file handling </vt:lpstr>
      <vt:lpstr>Working with files </vt:lpstr>
      <vt:lpstr>Opening a file - for creation and edit </vt:lpstr>
      <vt:lpstr>Slide 10</vt:lpstr>
      <vt:lpstr>Slide 11</vt:lpstr>
      <vt:lpstr>Slide 12</vt:lpstr>
      <vt:lpstr>Closing a File</vt:lpstr>
      <vt:lpstr>Reading and writing to a text file </vt:lpstr>
      <vt:lpstr>In the given syntax, the filename and the mode are specified as strings hence they must always be enclosed within double quotes.</vt:lpstr>
      <vt:lpstr>Slide 16</vt:lpstr>
      <vt:lpstr>How to Close a file </vt:lpstr>
      <vt:lpstr>Write to a text file</vt:lpstr>
      <vt:lpstr>Read from a text file</vt:lpstr>
      <vt:lpstr>Input/Output Operations on File  getc and putc Functions  </vt:lpstr>
      <vt:lpstr>   Example Program 2  /* Program to read data from the keyboard, write it to a file called INPUT, again read the same  data from the INPUT file and display it on the screen */   </vt:lpstr>
      <vt:lpstr>Slide 22</vt:lpstr>
      <vt:lpstr>Slide 23</vt:lpstr>
      <vt:lpstr>Enumerated data type (module 3)</vt:lpstr>
      <vt:lpstr>For example: </vt:lpstr>
      <vt:lpstr>Example </vt:lpstr>
      <vt:lpstr>Slide 27</vt:lpstr>
      <vt:lpstr>Call by value and call by reference   (mod 3)</vt:lpstr>
      <vt:lpstr>1) call by value  </vt:lpstr>
      <vt:lpstr>Slide 30</vt:lpstr>
      <vt:lpstr>Slide 31</vt:lpstr>
      <vt:lpstr>Call by reference</vt:lpstr>
      <vt:lpstr>Slide 33</vt:lpstr>
      <vt:lpstr>Slide 34</vt:lpstr>
      <vt:lpstr>Slide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CUSAT CS</cp:lastModifiedBy>
  <cp:revision>164</cp:revision>
  <dcterms:created xsi:type="dcterms:W3CDTF">2020-08-23T11:58:00Z</dcterms:created>
  <dcterms:modified xsi:type="dcterms:W3CDTF">2023-08-11T12:01:09Z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1033-11.2.0.9747</vt:lpwstr>
  </property>
</Properties>
</file>