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3" r:id="rId3"/>
    <p:sldId id="466" r:id="rId4"/>
    <p:sldId id="424" r:id="rId5"/>
    <p:sldId id="462" r:id="rId6"/>
    <p:sldId id="461" r:id="rId7"/>
    <p:sldId id="463" r:id="rId8"/>
    <p:sldId id="427" r:id="rId9"/>
    <p:sldId id="429" r:id="rId10"/>
    <p:sldId id="472" r:id="rId11"/>
    <p:sldId id="428" r:id="rId12"/>
    <p:sldId id="476" r:id="rId13"/>
    <p:sldId id="477" r:id="rId14"/>
    <p:sldId id="432" r:id="rId15"/>
    <p:sldId id="433" r:id="rId16"/>
    <p:sldId id="479" r:id="rId17"/>
    <p:sldId id="481" r:id="rId18"/>
    <p:sldId id="482" r:id="rId19"/>
    <p:sldId id="435" r:id="rId20"/>
    <p:sldId id="436" r:id="rId21"/>
    <p:sldId id="489" r:id="rId22"/>
    <p:sldId id="438" r:id="rId23"/>
    <p:sldId id="439" r:id="rId24"/>
    <p:sldId id="441" r:id="rId25"/>
    <p:sldId id="487" r:id="rId26"/>
    <p:sldId id="442" r:id="rId27"/>
    <p:sldId id="484" r:id="rId28"/>
    <p:sldId id="443" r:id="rId29"/>
    <p:sldId id="490" r:id="rId30"/>
    <p:sldId id="503" r:id="rId31"/>
    <p:sldId id="504" r:id="rId32"/>
    <p:sldId id="491" r:id="rId33"/>
    <p:sldId id="493" r:id="rId34"/>
    <p:sldId id="495" r:id="rId35"/>
    <p:sldId id="496" r:id="rId36"/>
    <p:sldId id="497" r:id="rId37"/>
    <p:sldId id="498" r:id="rId38"/>
    <p:sldId id="500" r:id="rId39"/>
    <p:sldId id="501" r:id="rId40"/>
    <p:sldId id="445" r:id="rId41"/>
    <p:sldId id="446" r:id="rId42"/>
    <p:sldId id="34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8/10/2022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/>
              <a:t>arrays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Declaration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Initialization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1D Arrays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2D Arrays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3D Arrays</a:t>
            </a:r>
          </a:p>
          <a:p>
            <a:r>
              <a:rPr lang="en-I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8875" y="552450"/>
            <a:ext cx="642810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365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</a:rPr>
              <a:t>y</a:t>
            </a:r>
            <a:r>
              <a:rPr spc="-605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endParaRPr spc="-39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8100" y="1561465"/>
            <a:ext cx="9441815" cy="36252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5910" marR="833755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 a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structure</a:t>
            </a:r>
            <a:r>
              <a:rPr sz="2400" spc="-1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which stores</a:t>
            </a:r>
            <a:r>
              <a:rPr sz="2400" spc="-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homogeneous (similar) dat</a:t>
            </a:r>
            <a:r>
              <a:rPr lang="en-IN"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items.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variable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 used to store 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more than one data item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same</a:t>
            </a:r>
            <a:r>
              <a:rPr sz="2400" spc="-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 at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contiguous memory</a:t>
            </a:r>
            <a:r>
              <a:rPr sz="2400" spc="-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locations.</a:t>
            </a: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4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is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collection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sz="2400" spc="-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similar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kind of data elements stored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adjacent memory locations and</a:t>
            </a:r>
            <a:r>
              <a:rPr sz="2400" spc="-8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are referred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by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single</a:t>
            </a:r>
            <a:r>
              <a:rPr sz="2400" spc="-1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array-name.</a:t>
            </a: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Arrays are defined in much</a:t>
            </a:r>
            <a:r>
              <a:rPr sz="2400" spc="-1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same manner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ordinary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variables,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except that each array name must be accompanied by </a:t>
            </a:r>
            <a:r>
              <a:rPr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4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 </a:t>
            </a:r>
            <a:r>
              <a:rPr sz="24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specification.</a:t>
            </a:r>
            <a:endParaRPr sz="2400" spc="-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0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endParaRPr sz="2400" spc="-5" dirty="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8875" y="552450"/>
            <a:ext cx="642810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365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</a:rPr>
              <a:t>y</a:t>
            </a:r>
            <a:r>
              <a:rPr spc="-605" dirty="0">
                <a:latin typeface="Times New Roman" panose="02020603050405020304" charset="0"/>
                <a:cs typeface="Times New Roman" panose="02020603050405020304" charset="0"/>
              </a:rPr>
              <a:t>s</a:t>
            </a:r>
            <a:endParaRPr spc="-39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8100" y="1561465"/>
            <a:ext cx="9443085" cy="42303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95910" marR="833755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200" spc="-4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Th</a:t>
            </a:r>
            <a:r>
              <a:rPr lang="en-IN" sz="2200" spc="-4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e </a:t>
            </a:r>
            <a:r>
              <a:rPr sz="2200" spc="-6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sz="2200" spc="-5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ze </a:t>
            </a:r>
            <a:r>
              <a:rPr sz="2200" spc="10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</a:t>
            </a:r>
            <a:r>
              <a:rPr sz="2200" spc="-2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sz="2200" spc="-3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y</a:t>
            </a:r>
            <a:r>
              <a:rPr sz="2200" spc="3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pe </a:t>
            </a:r>
            <a:r>
              <a:rPr sz="2200" spc="-5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</a:t>
            </a:r>
            <a:r>
              <a:rPr sz="2200" spc="-4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f  </a:t>
            </a:r>
            <a:r>
              <a:rPr sz="2200" spc="6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arrays </a:t>
            </a:r>
            <a:r>
              <a:rPr sz="2200" spc="8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ca</a:t>
            </a:r>
            <a:r>
              <a:rPr sz="2200" spc="7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r>
              <a:rPr sz="2200" spc="6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no</a:t>
            </a:r>
            <a:r>
              <a:rPr sz="2200" spc="3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be </a:t>
            </a:r>
            <a:r>
              <a:rPr sz="2200" spc="7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changed </a:t>
            </a:r>
            <a:r>
              <a:rPr sz="2200" spc="4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after </a:t>
            </a:r>
            <a:r>
              <a:rPr sz="2200" spc="-2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its</a:t>
            </a:r>
            <a:r>
              <a:rPr sz="2200" spc="-21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3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</a:t>
            </a:r>
            <a:r>
              <a:rPr lang="en-IN" sz="2200" spc="3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IN" sz="2200" spc="30" dirty="0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Consider to store marks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five  students.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They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be stored using five variables as</a:t>
            </a:r>
            <a:r>
              <a:rPr sz="2200" spc="-1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follows:</a:t>
            </a:r>
          </a:p>
          <a:p>
            <a:pPr indent="0" algn="just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None/>
            </a:pPr>
            <a:r>
              <a:rPr lang="en-IN" sz="2200" spc="-1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		</a:t>
            </a:r>
            <a:r>
              <a:rPr sz="2200" spc="-1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int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ml,m2,m3,m4,m5;</a:t>
            </a:r>
          </a:p>
          <a:p>
            <a:pPr indent="0" algn="just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None/>
            </a:pPr>
            <a:endParaRPr sz="2200" spc="-5" dirty="0"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 algn="just">
              <a:lnSpc>
                <a:spcPct val="10000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Now,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if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we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want to </a:t>
            </a:r>
            <a:r>
              <a:rPr sz="2200" spc="-1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do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same thing  for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100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students in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 then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one 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will find it difficult to handle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100 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variables.</a:t>
            </a:r>
          </a:p>
          <a:p>
            <a:pPr marL="342900" indent="-342900" algn="just">
              <a:lnSpc>
                <a:spcPct val="10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such situations it is often  convenient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place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 items into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an array,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where they  will share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same name with</a:t>
            </a:r>
            <a:r>
              <a:rPr sz="2200" spc="-11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subscript.</a:t>
            </a:r>
          </a:p>
          <a:p>
            <a:pPr marL="342900" indent="-342900" algn="just">
              <a:lnSpc>
                <a:spcPct val="100000"/>
              </a:lnSpc>
              <a:spcBef>
                <a:spcPts val="20"/>
              </a:spcBef>
              <a:buFont typeface="Arial" panose="020B0604020202020204" pitchFamily="34" charset="0"/>
              <a:buChar char="•"/>
            </a:pPr>
            <a:r>
              <a:rPr lang="en-IN" sz="2200" spc="-5" dirty="0"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Example:- </a:t>
            </a:r>
            <a:r>
              <a:rPr sz="2200" spc="-8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If </a:t>
            </a:r>
            <a:r>
              <a:rPr sz="2200" spc="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you </a:t>
            </a:r>
            <a:r>
              <a:rPr sz="2200" spc="9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want </a:t>
            </a:r>
            <a:r>
              <a:rPr sz="2200" spc="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spc="2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store </a:t>
            </a:r>
            <a:r>
              <a:rPr sz="2200" spc="5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marks  </a:t>
            </a:r>
            <a:r>
              <a:rPr sz="2200" spc="-5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200" spc="-3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6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100</a:t>
            </a:r>
            <a:r>
              <a:rPr sz="2200" spc="-3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students</a:t>
            </a:r>
            <a:r>
              <a:rPr sz="2200" spc="-2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you</a:t>
            </a:r>
            <a:r>
              <a:rPr sz="2200" spc="-3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8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can</a:t>
            </a:r>
            <a:r>
              <a:rPr sz="2200" spc="-2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5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create</a:t>
            </a:r>
            <a:r>
              <a:rPr sz="2200" spc="-3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2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an</a:t>
            </a:r>
            <a:r>
              <a:rPr sz="2200" spc="-1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9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array</a:t>
            </a:r>
            <a:r>
              <a:rPr sz="2200" spc="-3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200" spc="-30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4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it.</a:t>
            </a:r>
          </a:p>
          <a:p>
            <a:pPr lvl="1" indent="0" algn="just">
              <a:lnSpc>
                <a:spcPct val="100000"/>
              </a:lnSpc>
              <a:spcBef>
                <a:spcPts val="20"/>
              </a:spcBef>
              <a:buNone/>
            </a:pPr>
            <a:r>
              <a:rPr lang="en-IN" sz="2200" spc="-45" dirty="0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	int marks[100];</a:t>
            </a:r>
          </a:p>
        </p:txBody>
      </p:sp>
    </p:spTree>
  </p:cSld>
  <p:clrMapOvr>
    <a:masterClrMapping/>
  </p:clrMapOvr>
  <p:transition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460" y="447040"/>
            <a:ext cx="9875520" cy="961390"/>
          </a:xfrm>
        </p:spPr>
        <p:txBody>
          <a:bodyPr/>
          <a:lstStyle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Advantages &amp; Disadvantages of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99870"/>
            <a:ext cx="9872980" cy="4596130"/>
          </a:xfrm>
        </p:spPr>
        <p:txBody>
          <a:bodyPr>
            <a:normAutofit lnSpcReduction="20000"/>
          </a:bodyPr>
          <a:lstStyle/>
          <a:p>
            <a:pPr marL="12065" marR="596265" lvl="0" indent="0" algn="just">
              <a:lnSpc>
                <a:spcPts val="3460"/>
              </a:lnSpc>
              <a:spcBef>
                <a:spcPts val="535"/>
              </a:spcBef>
              <a:buNone/>
              <a:tabLst>
                <a:tab pos="485140" algn="l"/>
              </a:tabLst>
            </a:pPr>
            <a:r>
              <a:rPr lang="en-IN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Advantages:</a:t>
            </a:r>
            <a:endParaRPr b="1" u="sng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54965" marR="596265" lvl="0" indent="-342900" algn="just">
              <a:lnSpc>
                <a:spcPts val="3460"/>
              </a:lnSpc>
              <a:spcBef>
                <a:spcPts val="535"/>
              </a:spcBef>
              <a:tabLst>
                <a:tab pos="485140" algn="l"/>
              </a:tabLst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Optimization: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Less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</a:t>
            </a:r>
            <a:r>
              <a:rPr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access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pc="-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132080" indent="-342900" algn="just">
              <a:lnSpc>
                <a:spcPts val="3460"/>
              </a:lnSpc>
              <a:spcBef>
                <a:spcPts val="595"/>
              </a:spcBef>
              <a:tabLst>
                <a:tab pos="485140" algn="l"/>
              </a:tabLst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Easy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traverse data: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 using the  for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loop,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 can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retrieve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 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 array</a:t>
            </a:r>
            <a:r>
              <a:rPr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easily.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5080" indent="-342900" algn="just">
              <a:lnSpc>
                <a:spcPts val="3460"/>
              </a:lnSpc>
              <a:spcBef>
                <a:spcPts val="590"/>
              </a:spcBef>
              <a:tabLst>
                <a:tab pos="485140" algn="l"/>
              </a:tabLst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Easy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sort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data: </a:t>
            </a:r>
            <a:r>
              <a:rPr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sort the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array,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need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only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few</a:t>
            </a:r>
            <a:r>
              <a:rPr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lines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</a:t>
            </a:r>
            <a:r>
              <a:rPr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25400" indent="-342900" algn="just">
              <a:lnSpc>
                <a:spcPts val="3460"/>
              </a:lnSpc>
              <a:spcBef>
                <a:spcPts val="590"/>
              </a:spcBef>
              <a:tabLst>
                <a:tab pos="485140" algn="l"/>
              </a:tabLst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Random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Access: </a:t>
            </a:r>
            <a:r>
              <a:rPr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access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any element randomly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using the</a:t>
            </a:r>
            <a:r>
              <a:rPr spc="-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 algn="just">
              <a:buNone/>
            </a:pPr>
            <a:r>
              <a:rPr lang="en-IN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Disadvantages:</a:t>
            </a:r>
          </a:p>
          <a:p>
            <a:pPr algn="just"/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Fixed Size: Whatever size, we</a:t>
            </a:r>
            <a:r>
              <a:rPr spc="-1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define 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at the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time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array,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 can't exceed the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limit.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So, it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doesn't  grow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size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dynamically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like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LinkedList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/>
              <a:t>Array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5910" indent="-283845">
              <a:lnSpc>
                <a:spcPct val="100000"/>
              </a:lnSpc>
              <a:spcBef>
                <a:spcPts val="23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5910" algn="l"/>
                <a:tab pos="296545" algn="l"/>
              </a:tabLst>
            </a:pPr>
            <a:r>
              <a:rPr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Size: </a:t>
            </a:r>
            <a:r>
              <a:rPr lang="en-I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otal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number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 in an</a:t>
            </a:r>
            <a:r>
              <a:rPr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indent="-283845">
              <a:lnSpc>
                <a:spcPct val="100000"/>
              </a:lnSpc>
              <a:spcBef>
                <a:spcPts val="27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5910" algn="l"/>
                <a:tab pos="296545" algn="l"/>
              </a:tabLst>
            </a:pPr>
            <a:r>
              <a:rPr b="1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Type: </a:t>
            </a:r>
            <a:r>
              <a:rPr lang="en-IN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ata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 of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declared</a:t>
            </a:r>
            <a:r>
              <a:rPr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marR="539750" indent="-283845">
              <a:lnSpc>
                <a:spcPts val="2920"/>
              </a:lnSpc>
              <a:spcBef>
                <a:spcPts val="64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5910" algn="l"/>
                <a:tab pos="296545" algn="l"/>
              </a:tabLst>
            </a:pPr>
            <a:r>
              <a:rPr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Base: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ddress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the first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marR="768985" indent="-283845">
              <a:lnSpc>
                <a:spcPts val="2920"/>
              </a:lnSpc>
              <a:spcBef>
                <a:spcPts val="59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5910" algn="l"/>
                <a:tab pos="296545" algn="l"/>
              </a:tabLst>
            </a:pPr>
            <a:r>
              <a:rPr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Index: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Location or index value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element.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marR="452755" indent="-283845">
              <a:lnSpc>
                <a:spcPts val="2920"/>
              </a:lnSpc>
              <a:spcBef>
                <a:spcPts val="59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5910" algn="l"/>
                <a:tab pos="296545" algn="l"/>
              </a:tabLst>
            </a:pPr>
            <a:r>
              <a:rPr b="1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Range: </a:t>
            </a:r>
            <a:r>
              <a:rPr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Value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from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lower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bound to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upper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bound.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marR="318135" indent="-283845">
              <a:lnSpc>
                <a:spcPts val="2920"/>
              </a:lnSpc>
              <a:spcBef>
                <a:spcPts val="59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5910" algn="l"/>
                <a:tab pos="296545" algn="l"/>
              </a:tabLst>
            </a:pPr>
            <a:r>
              <a:rPr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Word: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ndicates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space required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 element.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335915"/>
            <a:ext cx="9875520" cy="840105"/>
          </a:xfrm>
        </p:spPr>
        <p:txBody>
          <a:bodyPr/>
          <a:lstStyle/>
          <a:p>
            <a:pPr algn="ctr"/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4770" y="1307465"/>
            <a:ext cx="9698990" cy="511238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C, you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have to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declare and define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before 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be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used.</a:t>
            </a:r>
          </a:p>
          <a:p>
            <a:pPr algn="just"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 and definition tell the compiler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the array,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 type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the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elements, and the size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or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number of  elements.</a:t>
            </a:r>
          </a:p>
          <a:p>
            <a:pPr marL="0" indent="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None/>
            </a:pPr>
            <a:r>
              <a:rPr lang="en-IN" sz="2400" b="1" u="heavy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</a:t>
            </a:r>
            <a:r>
              <a:rPr sz="2400" b="1" u="heavy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hen array </a:t>
            </a:r>
            <a:r>
              <a:rPr sz="2400" b="1" u="heavy" spc="-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 </a:t>
            </a:r>
            <a:r>
              <a:rPr sz="2400" b="1" u="heavy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</a:t>
            </a:r>
            <a:r>
              <a:rPr sz="2400" b="1" u="heavy" spc="-85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b="1" u="heavy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given: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418465" indent="-342900">
              <a:lnSpc>
                <a:spcPct val="100000"/>
              </a:lnSpc>
              <a:spcBef>
                <a:spcPts val="600"/>
              </a:spcBef>
              <a:buSzPct val="80000"/>
              <a:buFont typeface="Arial" panose="020B0604020202020204" pitchFamily="34" charset="0"/>
              <a:buChar char="•"/>
              <a:tabLst>
                <a:tab pos="296545" algn="l"/>
              </a:tabLst>
            </a:pPr>
            <a:r>
              <a:rPr sz="24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declare an array in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z="2400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language 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following</a:t>
            </a:r>
            <a:r>
              <a:rPr sz="24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way: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6365" marR="93980" indent="0" algn="just">
              <a:lnSpc>
                <a:spcPct val="100000"/>
              </a:lnSpc>
              <a:spcBef>
                <a:spcPts val="805"/>
              </a:spcBef>
              <a:spcAft>
                <a:spcPts val="500"/>
              </a:spcAft>
              <a:buSzPct val="59000"/>
              <a:buFont typeface="Arial" panose="020B0604020202020204" pitchFamily="34" charset="0"/>
              <a:buNone/>
              <a:tabLst>
                <a:tab pos="469265" algn="l"/>
                <a:tab pos="469900" algn="l"/>
              </a:tabLst>
            </a:pPr>
            <a:r>
              <a:rPr lang="en-IN" sz="2400" i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			</a:t>
            </a:r>
            <a:r>
              <a:rPr sz="2400" i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data-type array_name</a:t>
            </a:r>
            <a:r>
              <a:rPr sz="2400" i="1" spc="-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i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[size];</a:t>
            </a:r>
            <a:endParaRPr sz="2400" i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1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Data-type refers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type of</a:t>
            </a:r>
            <a:r>
              <a:rPr sz="240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 you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want to</a:t>
            </a:r>
            <a:r>
              <a:rPr sz="24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store </a:t>
            </a:r>
            <a:r>
              <a:rPr lang="en-IN"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S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ize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lang="en-IN"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pecifies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the</a:t>
            </a:r>
            <a:r>
              <a:rPr sz="24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number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of </a:t>
            </a:r>
            <a:r>
              <a:rPr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</a:t>
            </a:r>
            <a:r>
              <a:rPr lang="en-IN"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sz="24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	Eg:- float mark[5];</a:t>
            </a:r>
          </a:p>
          <a:p>
            <a:pPr marL="3429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Here, float is the data ype, mark is the array name and 5 is the size of the array.</a:t>
            </a:r>
            <a:endParaRPr sz="24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buClr>
                <a:srgbClr val="3891A7"/>
              </a:buClr>
              <a:buNone/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n-US" sz="24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0150" y="100330"/>
            <a:ext cx="9240520" cy="116332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60"/>
              </a:spcBef>
            </a:pPr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</a:t>
            </a:r>
            <a:b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4290" y="1360805"/>
            <a:ext cx="9582785" cy="3859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39090" indent="-342900" algn="just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542155" algn="l"/>
                <a:tab pos="6821170" algn="l"/>
              </a:tabLst>
            </a:pPr>
            <a:r>
              <a:rPr sz="220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You </a:t>
            </a:r>
            <a:r>
              <a:rPr sz="2200" spc="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access 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200" spc="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 </a:t>
            </a:r>
            <a:r>
              <a:rPr sz="22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sz="2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</a:t>
            </a:r>
            <a:r>
              <a:rPr sz="2200" spc="-2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indices.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339090" indent="-342900" algn="just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542155" algn="l"/>
                <a:tab pos="6821170" algn="l"/>
              </a:tabLst>
            </a:pPr>
            <a:r>
              <a:rPr sz="22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Suppose 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you </a:t>
            </a:r>
            <a:r>
              <a:rPr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declared </a:t>
            </a:r>
            <a:r>
              <a:rPr sz="2200" spc="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sz="22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lang="en-IN" sz="22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'</a:t>
            </a:r>
            <a:r>
              <a:rPr sz="220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</a:t>
            </a:r>
            <a:r>
              <a:rPr lang="en-IN" sz="220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'</a:t>
            </a:r>
            <a:r>
              <a:rPr sz="2200" b="1" spc="-3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sz="2200" b="1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float mark[5];</a:t>
            </a:r>
          </a:p>
          <a:p>
            <a:pPr marL="355600" marR="339090" indent="-342900" algn="just">
              <a:lnSpc>
                <a:spcPct val="12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4542155" algn="l"/>
                <a:tab pos="6821170" algn="l"/>
              </a:tabLst>
            </a:pP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200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first 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mark[0],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second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mark[1] </a:t>
            </a:r>
            <a:r>
              <a:rPr sz="2200" spc="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</a:t>
            </a:r>
            <a:r>
              <a:rPr sz="2200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on.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Arrays </a:t>
            </a:r>
            <a:r>
              <a:rPr sz="22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have </a:t>
            </a:r>
            <a:r>
              <a:rPr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first 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index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not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1. </a:t>
            </a:r>
          </a:p>
          <a:p>
            <a:pPr marL="342900" indent="-342900" algn="just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this 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example, 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mark[0] </a:t>
            </a:r>
            <a:r>
              <a:rPr lang="en-IN"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the first element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575"/>
              </a:spcBef>
              <a:buFont typeface="Arial" panose="020B0604020202020204"/>
              <a:buChar char="•"/>
              <a:tabLst>
                <a:tab pos="355600" algn="l"/>
              </a:tabLst>
            </a:pPr>
            <a:r>
              <a:rPr sz="22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If </a:t>
            </a:r>
            <a:r>
              <a:rPr sz="22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n, to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access </a:t>
            </a:r>
            <a:r>
              <a:rPr sz="22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last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element,</a:t>
            </a:r>
            <a:r>
              <a:rPr sz="2200" spc="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sz="2200" b="1" spc="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</a:t>
            </a:r>
            <a:r>
              <a:rPr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n-1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sz="2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index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used. </a:t>
            </a:r>
          </a:p>
          <a:p>
            <a:pPr marL="355600" indent="-342900" algn="just">
              <a:lnSpc>
                <a:spcPct val="100000"/>
              </a:lnSpc>
              <a:spcBef>
                <a:spcPts val="575"/>
              </a:spcBef>
              <a:buFont typeface="Arial" panose="020B0604020202020204"/>
              <a:buChar char="•"/>
              <a:tabLst>
                <a:tab pos="355600" algn="l"/>
              </a:tabLst>
            </a:pP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this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example,</a:t>
            </a:r>
            <a:r>
              <a:rPr sz="220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mark[4] </a:t>
            </a:r>
            <a:r>
              <a:rPr lang="en-IN"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the last element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575"/>
              </a:spcBef>
              <a:buFont typeface="Arial" panose="020B0604020202020204"/>
              <a:buChar char="•"/>
              <a:tabLst>
                <a:tab pos="355600" algn="l"/>
              </a:tabLst>
            </a:pPr>
            <a:r>
              <a:rPr sz="22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Suppose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starting </a:t>
            </a:r>
            <a:r>
              <a:rPr sz="22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address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mark[0]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2120. 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Then,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 next 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address, </a:t>
            </a: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mark[1],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will be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2124, </a:t>
            </a:r>
            <a:r>
              <a:rPr sz="22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address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mark[2]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will  be </a:t>
            </a:r>
            <a:r>
              <a:rPr sz="2200" spc="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2128 </a:t>
            </a:r>
            <a:r>
              <a:rPr sz="2200" spc="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 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on.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Its </a:t>
            </a: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because </a:t>
            </a:r>
            <a:r>
              <a:rPr sz="22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float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sz="2200" spc="-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bytes.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1288" y="896493"/>
            <a:ext cx="76587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0000"/>
              </a:lnSpc>
              <a:spcBef>
                <a:spcPts val="100"/>
              </a:spcBef>
            </a:pPr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</a:t>
            </a:r>
            <a:endParaRPr sz="2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1615" y="2160905"/>
            <a:ext cx="9208770" cy="2049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sz="2200"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Suppose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you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declared </a:t>
            </a:r>
            <a:r>
              <a:rPr sz="2200" spc="9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sz="2200" spc="-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200" spc="1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10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elements. </a:t>
            </a:r>
          </a:p>
          <a:p>
            <a:pPr marL="342900" indent="-342900" algn="just">
              <a:lnSpc>
                <a:spcPct val="10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sz="2200" spc="-1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Lets</a:t>
            </a:r>
            <a:r>
              <a:rPr sz="2200" spc="-3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say, </a:t>
            </a:r>
            <a:r>
              <a:rPr sz="2200" spc="-1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 </a:t>
            </a:r>
            <a:r>
              <a:rPr sz="2200" spc="-1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testArray[10];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200" spc="-85" dirty="0">
                <a:latin typeface="Times New Roman" panose="02020603050405020304" charset="0"/>
                <a:cs typeface="Times New Roman" panose="02020603050405020304" charset="0"/>
              </a:rPr>
              <a:t>You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use 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members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from </a:t>
            </a:r>
            <a:r>
              <a:rPr sz="2200" spc="-170" dirty="0">
                <a:latin typeface="Times New Roman" panose="02020603050405020304" charset="0"/>
                <a:cs typeface="Times New Roman" panose="02020603050405020304" charset="0"/>
              </a:rPr>
              <a:t>testArray[0] </a:t>
            </a:r>
            <a:r>
              <a:rPr sz="2200" spc="-225" dirty="0">
                <a:latin typeface="Times New Roman" panose="02020603050405020304" charset="0"/>
                <a:cs typeface="Times New Roman" panose="02020603050405020304" charset="0"/>
              </a:rPr>
              <a:t>to  </a:t>
            </a:r>
            <a:r>
              <a:rPr sz="2200" spc="-170" dirty="0">
                <a:latin typeface="Times New Roman" panose="02020603050405020304" charset="0"/>
                <a:cs typeface="Times New Roman" panose="02020603050405020304" charset="0"/>
              </a:rPr>
              <a:t>testArray[9].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200" spc="-65" dirty="0">
                <a:latin typeface="Times New Roman" panose="02020603050405020304" charset="0"/>
                <a:cs typeface="Times New Roman" panose="02020603050405020304" charset="0"/>
              </a:rPr>
              <a:t>If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you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try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</a:rPr>
              <a:t>access 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elements outside </a:t>
            </a:r>
            <a:r>
              <a:rPr sz="2200" spc="-3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-15" dirty="0">
                <a:latin typeface="Times New Roman" panose="02020603050405020304" charset="0"/>
                <a:cs typeface="Times New Roman" panose="02020603050405020304" charset="0"/>
              </a:rPr>
              <a:t>its 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bound, 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</a:rPr>
              <a:t>lets  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say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testArray[12],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compiler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may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not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show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any </a:t>
            </a:r>
            <a:r>
              <a:rPr sz="2200" spc="50" dirty="0">
                <a:latin typeface="Times New Roman" panose="02020603050405020304" charset="0"/>
                <a:cs typeface="Times New Roman" panose="02020603050405020304" charset="0"/>
              </a:rPr>
              <a:t>error.  </a:t>
            </a:r>
          </a:p>
          <a:p>
            <a:pPr marL="342900" indent="-342900" algn="just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sz="2200" spc="-15" dirty="0">
                <a:latin typeface="Times New Roman" panose="02020603050405020304" charset="0"/>
                <a:cs typeface="Times New Roman" panose="02020603050405020304" charset="0"/>
              </a:rPr>
              <a:t>However,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this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may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cause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unexpected 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</a:rPr>
              <a:t>output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(undefined 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behavior).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467360"/>
            <a:ext cx="9875520" cy="808990"/>
          </a:xfrm>
        </p:spPr>
        <p:txBody>
          <a:bodyPr/>
          <a:lstStyle/>
          <a:p>
            <a:pPr algn="ctr"/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Initialization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90" y="1276350"/>
            <a:ext cx="11332210" cy="5215255"/>
          </a:xfrm>
        </p:spPr>
        <p:txBody>
          <a:bodyPr/>
          <a:lstStyle/>
          <a:p>
            <a:pPr marL="295910" marR="2717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simple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way to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is</a:t>
            </a:r>
            <a:r>
              <a:rPr sz="2400" spc="-2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index.</a:t>
            </a:r>
          </a:p>
          <a:p>
            <a:pPr marL="295910" marR="2717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rray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index starts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from 0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and</a:t>
            </a:r>
            <a:r>
              <a:rPr sz="240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ends </a:t>
            </a:r>
            <a:r>
              <a:rPr lang="en-IN"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with [size-1]</a:t>
            </a:r>
          </a:p>
          <a:p>
            <a:pPr marL="295910" marR="2717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lang="en-IN" sz="2400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Syntax:- </a:t>
            </a:r>
            <a:r>
              <a:rPr lang="en-IN" sz="2400" b="1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</a:t>
            </a:r>
            <a:r>
              <a:rPr sz="2400" b="1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atatype array-name[ </a:t>
            </a:r>
            <a:r>
              <a:rPr sz="2400" b="1" i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 </a:t>
            </a:r>
            <a:r>
              <a:rPr sz="2400" b="1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 = {val 1, val 2, </a:t>
            </a:r>
            <a:r>
              <a:rPr sz="2400" b="1" i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.......val</a:t>
            </a:r>
            <a:r>
              <a:rPr sz="2400" b="1" i="1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b="1" i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n};</a:t>
            </a:r>
            <a:endParaRPr sz="2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indent="0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000"/>
              <a:buFont typeface="Wingdings 2" panose="05020102010507070707"/>
              <a:buNone/>
              <a:tabLst>
                <a:tab pos="408305" algn="l"/>
                <a:tab pos="408940" algn="l"/>
              </a:tabLst>
            </a:pPr>
            <a:r>
              <a:rPr lang="en-IN" sz="24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Eg:- a[5]= {10,20,30,40,50}</a:t>
            </a:r>
          </a:p>
          <a:p>
            <a:pPr marL="12700" indent="0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000"/>
              <a:buFont typeface="Wingdings 2" panose="05020102010507070707"/>
              <a:buNone/>
              <a:tabLst>
                <a:tab pos="408305" algn="l"/>
                <a:tab pos="408940" algn="l"/>
              </a:tabLst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	marks[5]={80,60,70,85,75}</a:t>
            </a:r>
          </a:p>
          <a:p>
            <a:pPr marL="408940" indent="-396240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408305" algn="l"/>
                <a:tab pos="408940" algn="l"/>
              </a:tabLst>
            </a:pPr>
            <a:endParaRPr lang="en-IN" sz="2000" spc="-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82490" y="2873375"/>
            <a:ext cx="6578600" cy="36969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095" y="314960"/>
            <a:ext cx="660781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Initialization</a:t>
            </a:r>
            <a:endParaRPr spc="-225" dirty="0"/>
          </a:p>
        </p:txBody>
      </p:sp>
      <p:sp>
        <p:nvSpPr>
          <p:cNvPr id="3" name="object 3"/>
          <p:cNvSpPr txBox="1"/>
          <p:nvPr/>
        </p:nvSpPr>
        <p:spPr>
          <a:xfrm>
            <a:off x="1395095" y="1323975"/>
            <a:ext cx="8716645" cy="500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219710" indent="-342900">
              <a:lnSpc>
                <a:spcPct val="11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 </a:t>
            </a:r>
            <a:r>
              <a:rPr lang="en-IN"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 </a:t>
            </a:r>
            <a:r>
              <a:rPr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possible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initialize </a:t>
            </a:r>
            <a:r>
              <a:rPr sz="2200" spc="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during</a:t>
            </a:r>
            <a:r>
              <a:rPr sz="2200" spc="-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declaration. </a:t>
            </a:r>
          </a:p>
          <a:p>
            <a:pPr marL="48895" marR="219710" indent="0">
              <a:lnSpc>
                <a:spcPct val="115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IN" sz="2200" spc="3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	Eg:-   </a:t>
            </a:r>
            <a:r>
              <a:rPr sz="220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 </a:t>
            </a:r>
            <a:r>
              <a:rPr sz="2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mark[5] </a:t>
            </a:r>
            <a:r>
              <a:rPr sz="2200" spc="-3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1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{9,4,6,3,5};</a:t>
            </a:r>
          </a:p>
          <a:p>
            <a:pPr marL="391795" marR="219710" indent="-342900">
              <a:lnSpc>
                <a:spcPct val="11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Another </a:t>
            </a:r>
            <a:r>
              <a:rPr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method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initialize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during</a:t>
            </a:r>
            <a:r>
              <a:rPr sz="2200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declaration </a:t>
            </a:r>
            <a:r>
              <a:rPr lang="en-IN"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48895" marR="219710" indent="0">
              <a:lnSpc>
                <a:spcPct val="115000"/>
              </a:lnSpc>
              <a:spcBef>
                <a:spcPts val="100"/>
              </a:spcBef>
              <a:buFont typeface="Arial" panose="020B0604020202020204" pitchFamily="34" charset="0"/>
              <a:buNone/>
            </a:pPr>
            <a:r>
              <a:rPr lang="en-IN"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	Eg:-   </a:t>
            </a:r>
            <a:r>
              <a:rPr sz="220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 </a:t>
            </a:r>
            <a:r>
              <a:rPr sz="220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 </a:t>
            </a:r>
            <a:r>
              <a:rPr sz="2200" spc="-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sz="2200" spc="-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={9,4,6,3,5};</a:t>
            </a:r>
          </a:p>
          <a:p>
            <a:pPr marL="391795" marR="219710" indent="-342900">
              <a:lnSpc>
                <a:spcPct val="11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200"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Here,</a:t>
            </a:r>
          </a:p>
          <a:p>
            <a:pPr marL="4699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mark[0] </a:t>
            </a:r>
            <a:r>
              <a:rPr lang="en-IN"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9</a:t>
            </a:r>
          </a:p>
          <a:p>
            <a:pPr marL="4699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mark[1] </a:t>
            </a:r>
            <a:r>
              <a:rPr lang="en-IN"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</a:p>
          <a:p>
            <a:pPr marL="4699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mark[2] </a:t>
            </a:r>
            <a:r>
              <a:rPr lang="en-IN"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</a:p>
          <a:p>
            <a:pPr marL="4699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mark[3] </a:t>
            </a:r>
            <a:r>
              <a:rPr lang="en-IN"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</a:p>
          <a:p>
            <a:pPr marL="4699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IN"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mark[4] </a:t>
            </a:r>
            <a:r>
              <a:rPr lang="en-IN"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 panose="020B0604020202020204" pitchFamily="34" charset="0"/>
              <a:buChar char="•"/>
              <a:tabLst>
                <a:tab pos="1804670" algn="l"/>
              </a:tabLst>
            </a:pPr>
            <a:r>
              <a:rPr lang="en-IN"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Other examples</a:t>
            </a:r>
          </a:p>
          <a:p>
            <a:pPr marL="927100" lvl="2" indent="0">
              <a:lnSpc>
                <a:spcPct val="100000"/>
              </a:lnSpc>
              <a:spcBef>
                <a:spcPts val="790"/>
              </a:spcBef>
              <a:buNone/>
              <a:tabLst>
                <a:tab pos="1804670" algn="l"/>
              </a:tabLst>
            </a:pP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digits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[10]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{1,2,3,4,5,6,7,8,9,10};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7100" lvl="2" indent="0">
              <a:lnSpc>
                <a:spcPct val="100000"/>
              </a:lnSpc>
              <a:spcBef>
                <a:spcPts val="690"/>
              </a:spcBef>
              <a:buNone/>
            </a:pP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 digits[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 =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{1,2,3,4,5,6,7,8,9,10};</a:t>
            </a:r>
            <a:endParaRPr sz="2200" spc="125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2095" y="314960"/>
            <a:ext cx="660781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Initialization</a:t>
            </a:r>
            <a:endParaRPr spc="-225" dirty="0"/>
          </a:p>
        </p:txBody>
      </p:sp>
      <p:sp>
        <p:nvSpPr>
          <p:cNvPr id="3" name="object 3"/>
          <p:cNvSpPr txBox="1"/>
          <p:nvPr/>
        </p:nvSpPr>
        <p:spPr>
          <a:xfrm>
            <a:off x="1435735" y="1712595"/>
            <a:ext cx="8716645" cy="3432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marR="825500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200" spc="-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c array at</a:t>
            </a:r>
            <a:r>
              <a:rPr sz="2200" spc="-1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time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declaration.</a:t>
            </a:r>
          </a:p>
          <a:p>
            <a:pPr marL="295910" marR="825500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endParaRPr sz="2200" spc="-5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95910" marR="825500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  <a:spcBef>
                <a:spcPts val="35"/>
              </a:spcBef>
              <a:buClr>
                <a:srgbClr val="3891A7"/>
              </a:buClr>
              <a:buFont typeface="Wingdings 2" panose="05020102010507070707"/>
              <a:buChar char="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 such case, there is no</a:t>
            </a:r>
            <a:r>
              <a:rPr sz="2200" spc="-1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requirement 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define size. So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also be  written as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following</a:t>
            </a:r>
            <a:r>
              <a:rPr sz="2200" spc="-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code.</a:t>
            </a:r>
          </a:p>
          <a:p>
            <a:pPr marL="295910" marR="5080" indent="-283845" algn="just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endParaRPr sz="2200" spc="12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endParaRPr sz="2200" spc="12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endParaRPr sz="2200" spc="12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5"/>
              </a:spcBef>
              <a:buClr>
                <a:srgbClr val="3891A7"/>
              </a:buClr>
              <a:buSzPct val="80000"/>
              <a:buFont typeface="Wingdings 2" panose="05020102010507070707"/>
              <a:buChar char=""/>
              <a:tabLst>
                <a:tab pos="296545" algn="l"/>
              </a:tabLst>
            </a:pPr>
            <a:endParaRPr sz="2200" spc="12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81400" y="3935856"/>
            <a:ext cx="3505200" cy="704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81400" y="2261235"/>
            <a:ext cx="3352800" cy="730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4280" y="785495"/>
            <a:ext cx="598741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9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One-dimensional</a:t>
            </a:r>
            <a:r>
              <a:rPr spc="-17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204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lang="en-IN" spc="-204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(1D)</a:t>
            </a:r>
            <a:endParaRPr spc="-345" dirty="0"/>
          </a:p>
        </p:txBody>
      </p:sp>
      <p:sp>
        <p:nvSpPr>
          <p:cNvPr id="3" name="object 3"/>
          <p:cNvSpPr txBox="1"/>
          <p:nvPr/>
        </p:nvSpPr>
        <p:spPr>
          <a:xfrm>
            <a:off x="1548130" y="1831340"/>
            <a:ext cx="9237345" cy="4525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indent="-342900" algn="just">
              <a:lnSpc>
                <a:spcPct val="100000"/>
              </a:lnSpc>
              <a:spcBef>
                <a:spcPts val="2850"/>
              </a:spcBef>
              <a:buFont typeface="Arial" panose="020B0604020202020204" pitchFamily="34" charset="0"/>
              <a:buChar char="•"/>
            </a:pPr>
            <a:r>
              <a:rPr lang="en-IN" sz="2200" spc="-254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list of item can be given one variable name using only one subscript and such a variable is called a a single subscripted variable or a one dimensional array.</a:t>
            </a:r>
          </a:p>
          <a:p>
            <a:pPr marL="368300" indent="-342900" algn="just">
              <a:lnSpc>
                <a:spcPct val="100000"/>
              </a:lnSpc>
              <a:spcBef>
                <a:spcPts val="2850"/>
              </a:spcBef>
              <a:buFont typeface="Arial" panose="020B0604020202020204" pitchFamily="34" charset="0"/>
              <a:buChar char="•"/>
            </a:pPr>
            <a:r>
              <a:rPr sz="2200" spc="-254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Syntax </a:t>
            </a:r>
            <a:r>
              <a:rPr sz="2200" spc="-1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</a:t>
            </a:r>
            <a:r>
              <a:rPr sz="2200" spc="-204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</a:t>
            </a:r>
            <a:r>
              <a:rPr sz="2200" spc="-1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sz="2200" spc="-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declaration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3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is: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939800" lvl="2" indent="0" algn="just">
              <a:lnSpc>
                <a:spcPct val="100000"/>
              </a:lnSpc>
              <a:spcBef>
                <a:spcPts val="2850"/>
              </a:spcBef>
              <a:buFont typeface="Arial" panose="020B0604020202020204" pitchFamily="34" charset="0"/>
              <a:buNone/>
            </a:pPr>
            <a:r>
              <a:rPr lang="en-IN" sz="2200" spc="-3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 variable-name[size];</a:t>
            </a:r>
            <a:endParaRPr sz="2200" spc="-35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68300" indent="-342900" algn="just">
              <a:lnSpc>
                <a:spcPct val="100000"/>
              </a:lnSpc>
              <a:spcBef>
                <a:spcPts val="2850"/>
              </a:spcBef>
              <a:buFont typeface="Arial" panose="020B0604020202020204" pitchFamily="34" charset="0"/>
              <a:buChar char="•"/>
            </a:pPr>
            <a:r>
              <a:rPr sz="2200" spc="-27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</a:t>
            </a:r>
            <a:r>
              <a:rPr lang="en-IN" sz="2200" spc="-27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float</a:t>
            </a:r>
            <a:r>
              <a:rPr sz="2200" spc="-1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height[50]; 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groupt[10];  </a:t>
            </a:r>
            <a:r>
              <a:rPr sz="2200" spc="7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</a:t>
            </a:r>
            <a:r>
              <a:rPr sz="2200" spc="-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name[10];</a:t>
            </a:r>
          </a:p>
          <a:p>
            <a:pPr marL="368300" indent="-342900" algn="just">
              <a:lnSpc>
                <a:spcPct val="100000"/>
              </a:lnSpc>
              <a:spcBef>
                <a:spcPts val="2850"/>
              </a:spcBef>
              <a:buFont typeface="Arial" panose="020B0604020202020204" pitchFamily="34" charset="0"/>
              <a:buChar char="•"/>
            </a:pPr>
            <a:r>
              <a:rPr sz="2200" spc="-3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 </a:t>
            </a:r>
            <a:r>
              <a:rPr sz="2200" spc="-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specifies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 </a:t>
            </a:r>
            <a:r>
              <a:rPr sz="2200" spc="-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 </a:t>
            </a:r>
            <a:r>
              <a:rPr sz="2200" spc="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will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 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contained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array,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such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 </a:t>
            </a:r>
            <a:r>
              <a:rPr sz="2200" spc="-1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int, </a:t>
            </a:r>
            <a:r>
              <a:rPr sz="2200" spc="-1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float, </a:t>
            </a:r>
            <a:r>
              <a:rPr sz="2200" spc="-1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or </a:t>
            </a:r>
            <a:r>
              <a:rPr sz="2200" spc="-1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-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 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indicates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maximum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number </a:t>
            </a:r>
            <a:r>
              <a:rPr sz="2200" spc="-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 </a:t>
            </a:r>
            <a:r>
              <a:rPr sz="2200" spc="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that can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stored 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inside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array.</a:t>
            </a:r>
            <a:endParaRPr sz="2200" spc="-35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854200" indent="0" algn="just">
              <a:lnSpc>
                <a:spcPct val="100000"/>
              </a:lnSpc>
              <a:spcBef>
                <a:spcPts val="35"/>
              </a:spcBef>
              <a:buFont typeface="Arial" panose="020B0604020202020204" pitchFamily="34" charset="0"/>
              <a:buNone/>
            </a:pPr>
            <a:endParaRPr sz="2200" spc="-3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0840" y="351155"/>
            <a:ext cx="9189085" cy="71882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1485900" algn="ctr">
              <a:lnSpc>
                <a:spcPct val="102000"/>
              </a:lnSpc>
              <a:spcBef>
                <a:spcPts val="225"/>
              </a:spcBef>
            </a:pPr>
            <a:r>
              <a:rPr spc="-19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One-dimensional</a:t>
            </a:r>
            <a:r>
              <a:rPr spc="-17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204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lang="en-IN" spc="-204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(1D)</a:t>
            </a:r>
            <a:endParaRPr spc="-34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30350" y="1344295"/>
            <a:ext cx="8865235" cy="25895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15925" indent="-342900">
              <a:lnSpc>
                <a:spcPct val="100000"/>
              </a:lnSpc>
              <a:spcBef>
                <a:spcPts val="625"/>
              </a:spcBef>
              <a:buFont typeface="Arial" panose="020B0604020202020204" pitchFamily="34" charset="0"/>
              <a:buChar char="•"/>
            </a:pPr>
            <a:r>
              <a:rPr sz="2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Now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 </a:t>
            </a: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we </a:t>
            </a:r>
            <a:r>
              <a:rPr sz="22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declare </a:t>
            </a:r>
            <a:r>
              <a:rPr sz="22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b="1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sz="2200" b="1" spc="-1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number[5];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17830" marR="5080" indent="-342900">
              <a:lnSpc>
                <a:spcPct val="100000"/>
              </a:lnSpc>
              <a:spcBef>
                <a:spcPts val="530"/>
              </a:spcBef>
              <a:buFont typeface="Arial" panose="020B0604020202020204" pitchFamily="34" charset="0"/>
              <a:buChar char="•"/>
              <a:tabLst>
                <a:tab pos="4903470" algn="l"/>
                <a:tab pos="6397625" algn="l"/>
                <a:tab pos="7543800" algn="l"/>
              </a:tabLst>
            </a:pP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Then </a:t>
            </a:r>
            <a:r>
              <a:rPr sz="2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</a:t>
            </a:r>
            <a:r>
              <a:rPr sz="2200" spc="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pu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22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200" spc="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200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200" spc="-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2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ves </a:t>
            </a:r>
            <a:r>
              <a:rPr sz="22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five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1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200"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z="22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orage </a:t>
            </a:r>
            <a:r>
              <a:rPr sz="22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sz="22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cations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 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 o</a:t>
            </a:r>
            <a:r>
              <a:rPr lang="en-IN" sz="2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sz="22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1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show</a:t>
            </a:r>
            <a:r>
              <a:rPr sz="2200" spc="-2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below.</a:t>
            </a:r>
          </a:p>
          <a:p>
            <a:pPr marL="417830" marR="5080" indent="-342900">
              <a:lnSpc>
                <a:spcPct val="100000"/>
              </a:lnSpc>
              <a:spcBef>
                <a:spcPts val="530"/>
              </a:spcBef>
              <a:buFont typeface="Arial" panose="020B0604020202020204" pitchFamily="34" charset="0"/>
              <a:buChar char="•"/>
              <a:tabLst>
                <a:tab pos="4903470" algn="l"/>
                <a:tab pos="6397625" algn="l"/>
                <a:tab pos="7543800" algn="l"/>
              </a:tabLst>
            </a:pPr>
            <a:r>
              <a:rPr lang="en-IN"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statement, </a:t>
            </a:r>
            <a:r>
              <a:rPr lang="en-IN" sz="2200" b="1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number[5]={35,20,40,57,19};</a:t>
            </a:r>
            <a:r>
              <a:rPr lang="en-IN"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initializes and stores values inside the array.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0000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3390265" algn="l"/>
              </a:tabLst>
            </a:pPr>
            <a:r>
              <a:rPr sz="2200" b="1" spc="-2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</a:t>
            </a:r>
            <a:r>
              <a:rPr sz="2200" b="1" spc="-270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Reserved</a:t>
            </a:r>
            <a:r>
              <a:rPr sz="2200" b="1" spc="-155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spc="-290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Space	</a:t>
            </a:r>
            <a:r>
              <a:rPr lang="en-IN" sz="2200" b="1" spc="-290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		</a:t>
            </a:r>
            <a:r>
              <a:rPr sz="2200" b="1" spc="-195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Storing </a:t>
            </a:r>
            <a:r>
              <a:rPr sz="2200" b="1" spc="-220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values </a:t>
            </a:r>
            <a:r>
              <a:rPr sz="2200" b="1" spc="-125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after</a:t>
            </a:r>
            <a:r>
              <a:rPr sz="2200" b="1" spc="-25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b="1" spc="-105" dirty="0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</a:rPr>
              <a:t>Initialization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65095" y="4064279"/>
            <a:ext cx="1104265" cy="176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 algn="just">
              <a:lnSpc>
                <a:spcPct val="120000"/>
              </a:lnSpc>
              <a:spcBef>
                <a:spcPts val="100"/>
              </a:spcBef>
            </a:pPr>
            <a:r>
              <a:rPr sz="1900" spc="35" dirty="0">
                <a:latin typeface="Times New Roman" panose="02020603050405020304"/>
                <a:cs typeface="Times New Roman" panose="02020603050405020304"/>
              </a:rPr>
              <a:t>number[0]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]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70954" y="4052849"/>
            <a:ext cx="1104265" cy="176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 algn="just">
              <a:lnSpc>
                <a:spcPct val="120000"/>
              </a:lnSpc>
              <a:spcBef>
                <a:spcPts val="100"/>
              </a:spcBef>
            </a:pPr>
            <a:r>
              <a:rPr sz="1900" spc="35" dirty="0">
                <a:latin typeface="Times New Roman" panose="02020603050405020304"/>
                <a:cs typeface="Times New Roman" panose="02020603050405020304"/>
              </a:rPr>
              <a:t>number[0]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]  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numbe</a:t>
            </a:r>
            <a:r>
              <a:rPr sz="1900" spc="3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1900" spc="9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]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89273" y="4066921"/>
          <a:ext cx="1090930" cy="184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875651" y="3999991"/>
          <a:ext cx="1090930" cy="1908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35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20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40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57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610"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 panose="020F0502020204030204"/>
                          <a:cs typeface="Calibri" panose="020F0502020204030204"/>
                        </a:rPr>
                        <a:t>19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8545" y="856615"/>
            <a:ext cx="799782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/>
              <a:t>Initialization </a:t>
            </a:r>
            <a:r>
              <a:rPr spc="-225" dirty="0"/>
              <a:t>of </a:t>
            </a:r>
            <a:r>
              <a:rPr spc="-315" dirty="0"/>
              <a:t>one </a:t>
            </a:r>
            <a:r>
              <a:rPr spc="-250" dirty="0"/>
              <a:t>dimensional</a:t>
            </a:r>
            <a:r>
              <a:rPr spc="-5" dirty="0"/>
              <a:t> </a:t>
            </a:r>
            <a:r>
              <a:rPr spc="-210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0425" y="2099945"/>
            <a:ext cx="8002905" cy="199580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55600" marR="5080" indent="-342900" algn="just">
              <a:lnSpc>
                <a:spcPct val="103000"/>
              </a:lnSpc>
              <a:spcBef>
                <a:spcPts val="185"/>
              </a:spcBef>
              <a:buFont typeface="Arial" panose="020B0604020202020204" pitchFamily="34" charset="0"/>
              <a:buChar char="•"/>
            </a:pPr>
            <a:r>
              <a:rPr sz="24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After </a:t>
            </a:r>
            <a:r>
              <a:rPr sz="2400" spc="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sz="24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4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4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declared, </a:t>
            </a:r>
            <a:r>
              <a:rPr sz="24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its </a:t>
            </a:r>
            <a:r>
              <a:rPr sz="24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elements </a:t>
            </a:r>
            <a:r>
              <a:rPr sz="24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must </a:t>
            </a:r>
            <a:r>
              <a:rPr sz="24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 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initialized.</a:t>
            </a:r>
          </a:p>
          <a:p>
            <a:pPr marL="355600" marR="5080" indent="-342900" algn="just">
              <a:lnSpc>
                <a:spcPct val="103000"/>
              </a:lnSpc>
              <a:spcBef>
                <a:spcPts val="185"/>
              </a:spcBef>
              <a:buFont typeface="Arial" panose="020B0604020202020204" pitchFamily="34" charset="0"/>
              <a:buChar char="•"/>
            </a:pPr>
            <a:r>
              <a:rPr sz="24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40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 </a:t>
            </a:r>
            <a:r>
              <a:rPr sz="2400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programming </a:t>
            </a:r>
            <a:r>
              <a:rPr sz="2400" spc="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sz="24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4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4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 </a:t>
            </a:r>
            <a:r>
              <a:rPr sz="24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initialized </a:t>
            </a:r>
            <a:r>
              <a:rPr sz="24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  </a:t>
            </a:r>
            <a:r>
              <a:rPr sz="24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either </a:t>
            </a:r>
            <a:r>
              <a:rPr sz="24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4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following</a:t>
            </a:r>
            <a:r>
              <a:rPr sz="2400" spc="-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stages:</a:t>
            </a:r>
          </a:p>
          <a:p>
            <a:pPr marL="812800" marR="5080" lvl="1" indent="-342900" algn="just">
              <a:lnSpc>
                <a:spcPct val="103000"/>
              </a:lnSpc>
              <a:spcBef>
                <a:spcPts val="185"/>
              </a:spcBef>
              <a:buFont typeface="Wingdings" panose="05000000000000000000" charset="0"/>
              <a:buChar char="ü"/>
            </a:pPr>
            <a:r>
              <a:rPr sz="2400" spc="-2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 </a:t>
            </a:r>
            <a:r>
              <a:rPr sz="2400" spc="-2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compile </a:t>
            </a:r>
            <a:r>
              <a:rPr sz="2400" spc="-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time  </a:t>
            </a:r>
          </a:p>
          <a:p>
            <a:pPr marL="812800" marR="5080" lvl="1" indent="-342900" algn="just">
              <a:lnSpc>
                <a:spcPct val="103000"/>
              </a:lnSpc>
              <a:spcBef>
                <a:spcPts val="185"/>
              </a:spcBef>
              <a:buFont typeface="Wingdings" panose="05000000000000000000" charset="0"/>
              <a:buChar char="ü"/>
            </a:pPr>
            <a:r>
              <a:rPr sz="2400" spc="-2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 </a:t>
            </a:r>
            <a:r>
              <a:rPr sz="2400" spc="-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run</a:t>
            </a:r>
            <a:r>
              <a:rPr sz="24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 spc="-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pc="-229" dirty="0">
                <a:sym typeface="+mn-ea"/>
              </a:rPr>
              <a:t>Compile </a:t>
            </a:r>
            <a:r>
              <a:rPr spc="-225" dirty="0">
                <a:sym typeface="+mn-ea"/>
              </a:rPr>
              <a:t>Time</a:t>
            </a:r>
            <a:r>
              <a:rPr spc="-170" dirty="0">
                <a:sym typeface="+mn-ea"/>
              </a:rPr>
              <a:t> </a:t>
            </a:r>
            <a:r>
              <a:rPr spc="-145" dirty="0">
                <a:sym typeface="+mn-ea"/>
              </a:rPr>
              <a:t>Initialization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62560" algn="just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general </a:t>
            </a:r>
            <a:r>
              <a:rPr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initialization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</a:t>
            </a:r>
            <a:r>
              <a:rPr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is: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06525" algn="just">
              <a:lnSpc>
                <a:spcPct val="100000"/>
              </a:lnSpc>
              <a:spcBef>
                <a:spcPts val="105"/>
              </a:spcBef>
            </a:pPr>
            <a:r>
              <a:rPr b="1" spc="-2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 </a:t>
            </a:r>
            <a:r>
              <a:rPr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array-name[size] </a:t>
            </a:r>
            <a:r>
              <a:rPr b="1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={list </a:t>
            </a:r>
            <a:r>
              <a:rPr b="1" spc="-1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b="1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b="1" spc="-1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values};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algn="just">
              <a:lnSpc>
                <a:spcPts val="2865"/>
              </a:lnSpc>
              <a:spcBef>
                <a:spcPts val="5"/>
              </a:spcBef>
              <a:tabLst>
                <a:tab pos="4551045" algn="l"/>
              </a:tabLst>
            </a:pP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values </a:t>
            </a:r>
            <a:r>
              <a:rPr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list</a:t>
            </a:r>
            <a:r>
              <a:rPr spc="-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are</a:t>
            </a:r>
            <a:r>
              <a:rPr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separated </a:t>
            </a:r>
            <a:r>
              <a:rPr spc="-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by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commas.</a:t>
            </a:r>
          </a:p>
          <a:p>
            <a:pPr marL="1028700" lvl="2" algn="just">
              <a:lnSpc>
                <a:spcPts val="2865"/>
              </a:lnSpc>
              <a:spcBef>
                <a:spcPts val="5"/>
              </a:spcBef>
              <a:tabLst>
                <a:tab pos="4551045" algn="l"/>
              </a:tabLst>
            </a:pPr>
            <a:r>
              <a:rPr sz="2400" spc="-2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</a:t>
            </a:r>
            <a:r>
              <a:rPr sz="2400" spc="-1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25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example:  </a:t>
            </a:r>
            <a:r>
              <a:rPr sz="2400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 </a:t>
            </a:r>
            <a:r>
              <a:rPr sz="2400" spc="-1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number[3] </a:t>
            </a:r>
            <a:r>
              <a:rPr sz="2400" spc="-2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=</a:t>
            </a:r>
            <a:r>
              <a:rPr sz="2400"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4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{0,5,4}</a:t>
            </a:r>
            <a:r>
              <a:rPr lang="en-IN" sz="24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;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algn="just">
              <a:lnSpc>
                <a:spcPts val="2865"/>
              </a:lnSpc>
              <a:spcBef>
                <a:spcPts val="5"/>
              </a:spcBef>
              <a:tabLst>
                <a:tab pos="4551045" algn="l"/>
              </a:tabLst>
            </a:pPr>
            <a:r>
              <a:rPr lang="en-I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This statement will declare the variable 'number' as an array of size 3 and will assign 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values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</a:t>
            </a:r>
            <a:r>
              <a:rPr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each</a:t>
            </a:r>
            <a:r>
              <a:rPr spc="-1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algn="just">
              <a:lnSpc>
                <a:spcPts val="2865"/>
              </a:lnSpc>
              <a:spcBef>
                <a:spcPts val="5"/>
              </a:spcBef>
              <a:tabLst>
                <a:tab pos="4551045" algn="l"/>
              </a:tabLst>
            </a:pPr>
            <a:r>
              <a:rPr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If 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number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values </a:t>
            </a:r>
            <a:r>
              <a:rPr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list </a:t>
            </a:r>
            <a:r>
              <a:rPr spc="-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less </a:t>
            </a:r>
            <a:r>
              <a:rPr spc="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 </a:t>
            </a:r>
            <a:r>
              <a:rPr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lang="en-IN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number of array elements, then, only that many elements will be initialized.</a:t>
            </a:r>
          </a:p>
          <a:p>
            <a:pPr marL="114300" algn="just">
              <a:lnSpc>
                <a:spcPts val="2865"/>
              </a:lnSpc>
              <a:spcBef>
                <a:spcPts val="5"/>
              </a:spcBef>
              <a:tabLst>
                <a:tab pos="4551045" algn="l"/>
              </a:tabLst>
            </a:pPr>
            <a:r>
              <a:rPr lang="en-IN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Remaining elements will be set to '0' automatically.</a:t>
            </a:r>
          </a:p>
          <a:p>
            <a:pPr marL="114300" algn="just">
              <a:lnSpc>
                <a:spcPts val="2865"/>
              </a:lnSpc>
              <a:spcBef>
                <a:spcPts val="5"/>
              </a:spcBef>
              <a:tabLst>
                <a:tab pos="4551045" algn="l"/>
              </a:tabLst>
            </a:pPr>
            <a:r>
              <a:rPr lang="en-IN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 </a:t>
            </a:r>
            <a:r>
              <a:rPr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we have </a:t>
            </a:r>
            <a:r>
              <a:rPr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more </a:t>
            </a:r>
            <a:r>
              <a:rPr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initializers </a:t>
            </a:r>
            <a:r>
              <a:rPr spc="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 </a:t>
            </a:r>
            <a:r>
              <a:rPr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size, </a:t>
            </a:r>
            <a:r>
              <a:rPr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compiler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will </a:t>
            </a:r>
            <a:r>
              <a:rPr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produce </a:t>
            </a:r>
            <a:r>
              <a:rPr spc="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</a:t>
            </a:r>
            <a:r>
              <a:rPr spc="-18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error.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43660" y="914400"/>
            <a:ext cx="6449695" cy="5582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25585" y="2442845"/>
            <a:ext cx="2059305" cy="2336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2609850" y="285750"/>
            <a:ext cx="6607810" cy="68961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 </a:t>
            </a:r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 1</a:t>
            </a:r>
            <a:endParaRPr lang="en-IN" spc="-2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01140" y="711200"/>
            <a:ext cx="6951345" cy="5835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87155" y="2315845"/>
            <a:ext cx="2556510" cy="22269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2640330" y="194945"/>
            <a:ext cx="6607810" cy="68961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 </a:t>
            </a:r>
            <a:r>
              <a:rPr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 2</a:t>
            </a:r>
            <a:endParaRPr lang="en-IN" spc="-2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3120" y="469583"/>
            <a:ext cx="689292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spc="-270" dirty="0"/>
              <a:t>Run </a:t>
            </a:r>
            <a:r>
              <a:rPr sz="4000" spc="-175" dirty="0"/>
              <a:t>time</a:t>
            </a:r>
            <a:r>
              <a:rPr sz="4000" spc="-65" dirty="0"/>
              <a:t> </a:t>
            </a:r>
            <a:r>
              <a:rPr sz="4000" spc="-145" dirty="0"/>
              <a:t>initialization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3065" y="1562735"/>
            <a:ext cx="8809990" cy="3796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9149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555115" algn="l"/>
              </a:tabLst>
            </a:pPr>
            <a:r>
              <a:rPr sz="2200" spc="-204" dirty="0"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sz="2200" spc="-125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195" dirty="0"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200" spc="-229" dirty="0">
                <a:latin typeface="Times New Roman" panose="02020603050405020304" charset="0"/>
                <a:cs typeface="Times New Roman" panose="02020603050405020304" charset="0"/>
              </a:rPr>
              <a:t>also </a:t>
            </a:r>
            <a:r>
              <a:rPr sz="2200" spc="-250" dirty="0">
                <a:latin typeface="Times New Roman" panose="02020603050405020304" charset="0"/>
                <a:cs typeface="Times New Roman" panose="02020603050405020304" charset="0"/>
              </a:rPr>
              <a:t>be  </a:t>
            </a:r>
            <a:r>
              <a:rPr sz="2200" spc="-125" dirty="0">
                <a:latin typeface="Times New Roman" panose="02020603050405020304" charset="0"/>
                <a:cs typeface="Times New Roman" panose="02020603050405020304" charset="0"/>
              </a:rPr>
              <a:t>explicitly </a:t>
            </a:r>
            <a:r>
              <a:rPr sz="2200" spc="-110" dirty="0">
                <a:latin typeface="Times New Roman" panose="02020603050405020304" charset="0"/>
                <a:cs typeface="Times New Roman" panose="02020603050405020304" charset="0"/>
              </a:rPr>
              <a:t>initialized </a:t>
            </a:r>
            <a:r>
              <a:rPr sz="2200" spc="-150" dirty="0">
                <a:latin typeface="Times New Roman" panose="02020603050405020304" charset="0"/>
                <a:cs typeface="Times New Roman" panose="02020603050405020304" charset="0"/>
              </a:rPr>
              <a:t>at </a:t>
            </a:r>
            <a:r>
              <a:rPr sz="2200" spc="-90" dirty="0">
                <a:latin typeface="Times New Roman" panose="02020603050405020304" charset="0"/>
                <a:cs typeface="Times New Roman" panose="02020603050405020304" charset="0"/>
              </a:rPr>
              <a:t>run </a:t>
            </a:r>
            <a:r>
              <a:rPr sz="2200" spc="-155" dirty="0">
                <a:latin typeface="Times New Roman" panose="02020603050405020304" charset="0"/>
                <a:cs typeface="Times New Roman" panose="02020603050405020304" charset="0"/>
              </a:rPr>
              <a:t>time.  </a:t>
            </a:r>
          </a:p>
          <a:p>
            <a:pPr marL="355600" marR="49149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1555115" algn="l"/>
              </a:tabLst>
            </a:pPr>
            <a:r>
              <a:rPr sz="2200" spc="-65" dirty="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example	consider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following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segment </a:t>
            </a:r>
            <a:r>
              <a:rPr sz="2200" spc="-4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50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z="2200" spc="-13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program.</a:t>
            </a:r>
          </a:p>
          <a:p>
            <a:pPr marL="1384300" marR="491490" lvl="3" indent="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None/>
              <a:tabLst>
                <a:tab pos="1555115" algn="l"/>
              </a:tabLst>
            </a:pPr>
            <a:r>
              <a:rPr sz="2200" spc="-10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for(i=0;i&lt;10;i++)</a:t>
            </a:r>
          </a:p>
          <a:p>
            <a:pPr marL="1384300" marR="491490" lvl="3" indent="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None/>
              <a:tabLst>
                <a:tab pos="1555115" algn="l"/>
              </a:tabLst>
            </a:pPr>
            <a:r>
              <a:rPr sz="2200" spc="19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1384300" marR="491490" lvl="3" indent="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None/>
              <a:tabLst>
                <a:tab pos="1555115" algn="l"/>
              </a:tabLst>
            </a:pPr>
            <a:r>
              <a:rPr lang="en-IN" sz="2200" spc="-16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200" spc="-16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scanf(“%d”,</a:t>
            </a:r>
            <a:r>
              <a:rPr sz="2200" spc="-8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100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&amp;x[i]);</a:t>
            </a:r>
          </a:p>
          <a:p>
            <a:pPr marL="1384300" marR="491490" lvl="3" indent="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None/>
              <a:tabLst>
                <a:tab pos="1555115" algn="l"/>
              </a:tabLst>
            </a:pPr>
            <a:r>
              <a:rPr sz="2200" spc="195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81915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120" dirty="0">
                <a:latin typeface="Times New Roman" panose="02020603050405020304" charset="0"/>
                <a:cs typeface="Times New Roman" panose="02020603050405020304" charset="0"/>
              </a:rPr>
              <a:t>run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time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initialization </a:t>
            </a:r>
            <a:r>
              <a:rPr sz="2200" spc="-4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the arrays</a:t>
            </a:r>
            <a:r>
              <a:rPr lang="en-IN" sz="2200" spc="40" dirty="0"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sz="2200" spc="-29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looping statements </a:t>
            </a:r>
            <a:r>
              <a:rPr sz="2200" spc="55" dirty="0">
                <a:latin typeface="Times New Roman" panose="02020603050405020304" charset="0"/>
                <a:cs typeface="Times New Roman" panose="02020603050405020304" charset="0"/>
              </a:rPr>
              <a:t>are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almost</a:t>
            </a:r>
            <a:r>
              <a:rPr sz="2200" spc="-9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compulsory.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2640"/>
              </a:spcBef>
              <a:buFont typeface="Arial" panose="020B0604020202020204" pitchFamily="34" charset="0"/>
              <a:buChar char="•"/>
            </a:pP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Looping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statements </a:t>
            </a:r>
            <a:r>
              <a:rPr sz="2200" spc="55" dirty="0">
                <a:latin typeface="Times New Roman" panose="02020603050405020304" charset="0"/>
                <a:cs typeface="Times New Roman" panose="02020603050405020304" charset="0"/>
              </a:rPr>
              <a:t>are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used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to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initialize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values </a:t>
            </a:r>
            <a:r>
              <a:rPr sz="2200" spc="-35" dirty="0">
                <a:latin typeface="Times New Roman" panose="02020603050405020304" charset="0"/>
                <a:cs typeface="Times New Roman" panose="02020603050405020304" charset="0"/>
              </a:rPr>
              <a:t>of</a:t>
            </a:r>
            <a:r>
              <a:rPr sz="2200" spc="-16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the 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arrays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one 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by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one 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using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assignment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operator </a:t>
            </a:r>
            <a:r>
              <a:rPr sz="2200" spc="55" dirty="0">
                <a:latin typeface="Times New Roman" panose="02020603050405020304" charset="0"/>
                <a:cs typeface="Times New Roman" panose="02020603050405020304" charset="0"/>
              </a:rPr>
              <a:t>or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</a:rPr>
              <a:t>through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the 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keyboard 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</a:rPr>
              <a:t>by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</a:rPr>
              <a:t> user.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6897" y="913587"/>
            <a:ext cx="5712460" cy="527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spc="55" dirty="0">
                <a:latin typeface="Times New Roman" panose="02020603050405020304"/>
                <a:cs typeface="Times New Roman" panose="02020603050405020304"/>
              </a:rPr>
              <a:t>Program: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 b="1" u="sng" spc="5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5" dirty="0">
                <a:latin typeface="Times New Roman" panose="02020603050405020304"/>
                <a:cs typeface="Times New Roman" panose="02020603050405020304"/>
              </a:rPr>
              <a:t>#include&lt;stdio.h&gt;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15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{</a:t>
            </a:r>
          </a:p>
          <a:p>
            <a:pPr marL="355600">
              <a:lnSpc>
                <a:spcPct val="100000"/>
              </a:lnSpc>
            </a:pPr>
            <a:r>
              <a:rPr sz="2000" spc="3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20" dirty="0">
                <a:latin typeface="Times New Roman" panose="02020603050405020304"/>
                <a:cs typeface="Times New Roman" panose="02020603050405020304"/>
              </a:rPr>
              <a:t>array[5];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printf(“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1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elements</a:t>
            </a:r>
            <a:r>
              <a:rPr sz="2000" spc="-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</a:t>
            </a:r>
            <a:r>
              <a:rPr sz="2000"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</a:t>
            </a:r>
            <a:r>
              <a:rPr sz="20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</a:t>
            </a:r>
            <a:r>
              <a:rPr lang="en-IN" sz="2000" spc="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35" dirty="0">
                <a:latin typeface="Times New Roman" panose="02020603050405020304"/>
                <a:cs typeface="Times New Roman" panose="02020603050405020304"/>
              </a:rPr>
              <a:t>\n”);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55600">
              <a:lnSpc>
                <a:spcPct val="100000"/>
              </a:lnSpc>
            </a:pP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for(i=0;i&lt;5;i++)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3589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{</a:t>
            </a:r>
          </a:p>
          <a:p>
            <a:pPr marL="355600">
              <a:lnSpc>
                <a:spcPct val="100000"/>
              </a:lnSpc>
            </a:pPr>
            <a:r>
              <a:rPr lang="en-US" sz="2000" spc="-85" dirty="0" err="1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spc="-85" dirty="0" err="1">
                <a:latin typeface="Times New Roman" panose="02020603050405020304"/>
                <a:cs typeface="Times New Roman" panose="02020603050405020304"/>
              </a:rPr>
              <a:t>canf</a:t>
            </a:r>
            <a:r>
              <a:rPr sz="2000" spc="-85" dirty="0">
                <a:latin typeface="Times New Roman" panose="02020603050405020304"/>
                <a:cs typeface="Times New Roman" panose="02020603050405020304"/>
              </a:rPr>
              <a:t>(“%d”,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&amp;array[i]);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9812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}</a:t>
            </a:r>
          </a:p>
          <a:p>
            <a:pPr marL="355600">
              <a:lnSpc>
                <a:spcPct val="100000"/>
              </a:lnSpc>
            </a:pP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printf(“Element</a:t>
            </a:r>
            <a:r>
              <a:rPr lang="en-IN" sz="2000" spc="-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40" dirty="0">
                <a:latin typeface="Times New Roman" panose="02020603050405020304"/>
                <a:cs typeface="Times New Roman" panose="02020603050405020304"/>
              </a:rPr>
              <a:t>in the </a:t>
            </a:r>
            <a:r>
              <a:rPr sz="2000" spc="55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are:</a:t>
            </a:r>
            <a:r>
              <a:rPr sz="2000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35" dirty="0">
                <a:latin typeface="Times New Roman" panose="02020603050405020304"/>
                <a:cs typeface="Times New Roman" panose="02020603050405020304"/>
              </a:rPr>
              <a:t>\n”);</a:t>
            </a:r>
            <a:endParaRPr lang="en-US" sz="2000" spc="35" dirty="0">
              <a:latin typeface="Times New Roman" panose="02020603050405020304"/>
              <a:cs typeface="Times New Roman" panose="02020603050405020304"/>
            </a:endParaRPr>
          </a:p>
          <a:p>
            <a:pPr marL="355600">
              <a:lnSpc>
                <a:spcPct val="100000"/>
              </a:lnSpc>
            </a:pPr>
            <a:r>
              <a:rPr lang="en-US" sz="2000" spc="-4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or(i=0;i&lt;5;i++)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{</a:t>
            </a:r>
          </a:p>
          <a:p>
            <a:pPr marL="355600">
              <a:lnSpc>
                <a:spcPct val="100000"/>
              </a:lnSpc>
            </a:pP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printf(“Element </a:t>
            </a:r>
            <a:r>
              <a:rPr sz="2000" spc="20" dirty="0">
                <a:latin typeface="Times New Roman" panose="02020603050405020304"/>
                <a:cs typeface="Times New Roman" panose="02020603050405020304"/>
              </a:rPr>
              <a:t>stored </a:t>
            </a:r>
            <a:r>
              <a:rPr sz="2000" spc="35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000" spc="-80" dirty="0">
                <a:latin typeface="Times New Roman" panose="02020603050405020304"/>
                <a:cs typeface="Times New Roman" panose="02020603050405020304"/>
              </a:rPr>
              <a:t>a[%d]=%d </a:t>
            </a:r>
            <a:r>
              <a:rPr sz="2000" spc="50" dirty="0">
                <a:latin typeface="Times New Roman" panose="02020603050405020304"/>
                <a:cs typeface="Times New Roman" panose="02020603050405020304"/>
              </a:rPr>
              <a:t>\n”, 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i,</a:t>
            </a:r>
            <a:r>
              <a:rPr sz="20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array[i]);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19812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}</a:t>
            </a:r>
          </a:p>
          <a:p>
            <a:pPr marL="355600">
              <a:lnSpc>
                <a:spcPct val="100000"/>
              </a:lnSpc>
            </a:pP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2609850" y="347345"/>
            <a:ext cx="6607810" cy="5664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600"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 </a:t>
            </a:r>
            <a:r>
              <a:rPr sz="3600" spc="-3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z="36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rr</a:t>
            </a:r>
            <a:r>
              <a:rPr sz="3600" spc="-2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sz="3600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IN" sz="3600" spc="-30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Program 3</a:t>
            </a:r>
          </a:p>
        </p:txBody>
      </p:sp>
      <p:sp>
        <p:nvSpPr>
          <p:cNvPr id="5" name="object 3"/>
          <p:cNvSpPr txBox="1">
            <a:spLocks noGrp="1"/>
          </p:cNvSpPr>
          <p:nvPr>
            <p:ph type="body" idx="1"/>
          </p:nvPr>
        </p:nvSpPr>
        <p:spPr>
          <a:xfrm>
            <a:off x="7830185" y="2112010"/>
            <a:ext cx="4361815" cy="31845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IN" sz="2000" b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Output:</a:t>
            </a:r>
            <a:endParaRPr sz="2000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Enter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elements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array: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23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45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32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25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45</a:t>
            </a: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0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0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are:  </a:t>
            </a: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stored </a:t>
            </a:r>
            <a:r>
              <a:rPr sz="20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</a:t>
            </a:r>
            <a:r>
              <a:rPr sz="20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a[0]:23  </a:t>
            </a: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stored </a:t>
            </a:r>
            <a:r>
              <a:rPr sz="20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</a:t>
            </a:r>
            <a:r>
              <a:rPr sz="20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a[</a:t>
            </a:r>
            <a:r>
              <a:rPr lang="en-IN"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]:45 </a:t>
            </a: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stored </a:t>
            </a:r>
            <a:r>
              <a:rPr sz="20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</a:t>
            </a:r>
            <a:r>
              <a:rPr sz="20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a[</a:t>
            </a:r>
            <a:r>
              <a:rPr lang="en-IN"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]:32</a:t>
            </a: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-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stored </a:t>
            </a:r>
            <a:r>
              <a:rPr sz="20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</a:t>
            </a:r>
            <a:r>
              <a:rPr sz="2000" spc="-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a[</a:t>
            </a:r>
            <a:r>
              <a:rPr lang="en-IN"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]:25</a:t>
            </a:r>
          </a:p>
          <a:p>
            <a:pPr marL="17272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sz="20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stored </a:t>
            </a:r>
            <a:r>
              <a:rPr sz="20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at</a:t>
            </a:r>
            <a:r>
              <a:rPr sz="2000" spc="-1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a[</a:t>
            </a:r>
            <a:r>
              <a:rPr lang="en-IN"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]:45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6090" y="327978"/>
            <a:ext cx="808926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Example of </a:t>
            </a:r>
            <a:r>
              <a:rPr sz="2800" spc="-10" dirty="0"/>
              <a:t>One Dimensional</a:t>
            </a:r>
            <a:r>
              <a:rPr sz="2800" spc="-110" dirty="0"/>
              <a:t> </a:t>
            </a:r>
            <a:r>
              <a:rPr sz="2800" spc="-5" dirty="0"/>
              <a:t>Array </a:t>
            </a:r>
            <a:r>
              <a:rPr lang="en-IN" sz="2800" spc="-5" dirty="0"/>
              <a:t>Program 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5745" y="1018540"/>
            <a:ext cx="9646920" cy="5020477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0">
              <a:lnSpc>
                <a:spcPts val="1840"/>
              </a:lnSpc>
              <a:spcBef>
                <a:spcPts val="220"/>
              </a:spcBef>
              <a:buClr>
                <a:srgbClr val="9F4DA2"/>
              </a:buClr>
              <a:buNone/>
              <a:tabLst>
                <a:tab pos="268605" algn="l"/>
                <a:tab pos="269240" algn="l"/>
              </a:tabLst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/*Write a program to get n numbers and find out sum and average of numbers*/  </a:t>
            </a:r>
          </a:p>
          <a:p>
            <a:pPr marL="12700" marR="5080" indent="0">
              <a:lnSpc>
                <a:spcPts val="1840"/>
              </a:lnSpc>
              <a:spcBef>
                <a:spcPts val="220"/>
              </a:spcBef>
              <a:buClr>
                <a:srgbClr val="9F4DA2"/>
              </a:buClr>
              <a:buNone/>
              <a:tabLst>
                <a:tab pos="268605" algn="l"/>
                <a:tab pos="269240" algn="l"/>
              </a:tabLst>
            </a:pPr>
            <a:endParaRPr sz="1600" spc="-5" dirty="0">
              <a:latin typeface="Georgia" panose="02040502050405020303"/>
              <a:cs typeface="Georgia" panose="02040502050405020303"/>
            </a:endParaRPr>
          </a:p>
          <a:p>
            <a:pPr marL="12700" marR="5080" indent="0">
              <a:lnSpc>
                <a:spcPts val="1840"/>
              </a:lnSpc>
              <a:spcBef>
                <a:spcPts val="220"/>
              </a:spcBef>
              <a:buClr>
                <a:srgbClr val="9F4DA2"/>
              </a:buClr>
              <a:buNone/>
              <a:tabLst>
                <a:tab pos="268605" algn="l"/>
                <a:tab pos="269240" algn="l"/>
              </a:tabLst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#include&lt;stdio.h&gt;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840"/>
              </a:lnSpc>
            </a:pPr>
            <a:endParaRPr sz="1600" spc="-5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840"/>
              </a:lnSpc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void</a:t>
            </a:r>
            <a:r>
              <a:rPr sz="1600" spc="5" dirty="0">
                <a:latin typeface="Georgia" panose="02040502050405020303"/>
                <a:cs typeface="Georgia" panose="02040502050405020303"/>
              </a:rPr>
              <a:t> 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main()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840"/>
              </a:lnSpc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{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60020" marR="4982845">
              <a:lnSpc>
                <a:spcPts val="1840"/>
              </a:lnSpc>
              <a:spcBef>
                <a:spcPts val="90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int </a:t>
            </a:r>
            <a:r>
              <a:rPr lang="en-US" sz="1600" spc="-5" dirty="0">
                <a:latin typeface="Georgia" panose="02040502050405020303"/>
                <a:cs typeface="Georgia" panose="02040502050405020303"/>
              </a:rPr>
              <a:t>a[1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0]</a:t>
            </a:r>
            <a:r>
              <a:rPr lang="en-IN" sz="1600" spc="-5" dirty="0">
                <a:latin typeface="Georgia" panose="02040502050405020303"/>
                <a:cs typeface="Georgia" panose="02040502050405020303"/>
              </a:rPr>
              <a:t>,i,n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; </a:t>
            </a:r>
            <a:r>
              <a:rPr sz="1600" spc="-10" dirty="0">
                <a:latin typeface="Georgia" panose="02040502050405020303"/>
                <a:cs typeface="Georgia" panose="02040502050405020303"/>
              </a:rPr>
              <a:t>//array 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of size 10  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60020">
              <a:lnSpc>
                <a:spcPts val="1740"/>
              </a:lnSpc>
            </a:pPr>
            <a:r>
              <a:rPr sz="1600" spc="-10" dirty="0">
                <a:latin typeface="Georgia" panose="02040502050405020303"/>
                <a:cs typeface="Georgia" panose="02040502050405020303"/>
              </a:rPr>
              <a:t>float</a:t>
            </a:r>
            <a:r>
              <a:rPr sz="1600" spc="20" dirty="0">
                <a:latin typeface="Georgia" panose="02040502050405020303"/>
                <a:cs typeface="Georgia" panose="02040502050405020303"/>
              </a:rPr>
              <a:t> 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avg,sum=0;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60020" marR="4742180">
              <a:lnSpc>
                <a:spcPct val="96000"/>
              </a:lnSpc>
              <a:spcBef>
                <a:spcPts val="40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printf(“Give </a:t>
            </a:r>
            <a:r>
              <a:rPr sz="1600" spc="-10" dirty="0">
                <a:latin typeface="Georgia" panose="02040502050405020303"/>
                <a:cs typeface="Georgia" panose="02040502050405020303"/>
              </a:rPr>
              <a:t>the 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value</a:t>
            </a:r>
            <a:r>
              <a:rPr lang="en-US" sz="1600" spc="-5" dirty="0">
                <a:latin typeface="Georgia" panose="02040502050405020303"/>
                <a:cs typeface="Georgia" panose="02040502050405020303"/>
              </a:rPr>
              <a:t>s o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f </a:t>
            </a:r>
            <a:r>
              <a:rPr sz="1600" dirty="0">
                <a:latin typeface="Georgia" panose="02040502050405020303"/>
                <a:cs typeface="Georgia" panose="02040502050405020303"/>
              </a:rPr>
              <a:t>n”); </a:t>
            </a:r>
          </a:p>
          <a:p>
            <a:pPr marL="160020" marR="4742180">
              <a:lnSpc>
                <a:spcPct val="96000"/>
              </a:lnSpc>
              <a:spcBef>
                <a:spcPts val="40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scanf(“%d”,&amp;n); </a:t>
            </a:r>
          </a:p>
          <a:p>
            <a:pPr marL="160020" marR="4742180">
              <a:lnSpc>
                <a:spcPct val="96000"/>
              </a:lnSpc>
              <a:spcBef>
                <a:spcPts val="40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for(i=0;i&lt;n;i++)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60020">
              <a:lnSpc>
                <a:spcPts val="1795"/>
              </a:lnSpc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{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405765" marR="4869815">
              <a:lnSpc>
                <a:spcPts val="1840"/>
              </a:lnSpc>
              <a:spcBef>
                <a:spcPts val="85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printf(“Give number\n”); </a:t>
            </a:r>
          </a:p>
          <a:p>
            <a:pPr marL="405765" marR="4869815">
              <a:lnSpc>
                <a:spcPts val="1840"/>
              </a:lnSpc>
              <a:spcBef>
                <a:spcPts val="85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scanf(“%d”,&amp;a[i]);  </a:t>
            </a:r>
          </a:p>
          <a:p>
            <a:pPr marL="405765" marR="4869815">
              <a:lnSpc>
                <a:spcPts val="1840"/>
              </a:lnSpc>
              <a:spcBef>
                <a:spcPts val="85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sum=sum+a[i];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60020">
              <a:lnSpc>
                <a:spcPts val="1740"/>
              </a:lnSpc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}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835"/>
              </a:lnSpc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avg=sum/n;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2700" marR="4700905">
              <a:lnSpc>
                <a:spcPts val="1840"/>
              </a:lnSpc>
              <a:spcBef>
                <a:spcPts val="85"/>
              </a:spcBef>
            </a:pPr>
            <a:r>
              <a:rPr sz="1600" spc="-10" dirty="0">
                <a:latin typeface="Georgia" panose="02040502050405020303"/>
                <a:cs typeface="Georgia" panose="02040502050405020303"/>
              </a:rPr>
              <a:t>printf(“Array 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elements </a:t>
            </a:r>
            <a:r>
              <a:rPr sz="1600" spc="-10" dirty="0">
                <a:latin typeface="Georgia" panose="02040502050405020303"/>
                <a:cs typeface="Georgia" panose="02040502050405020303"/>
              </a:rPr>
              <a:t>are </a:t>
            </a:r>
            <a:r>
              <a:rPr sz="1600" dirty="0">
                <a:latin typeface="Georgia" panose="02040502050405020303"/>
                <a:cs typeface="Georgia" panose="02040502050405020303"/>
              </a:rPr>
              <a:t>:\n);  </a:t>
            </a:r>
          </a:p>
          <a:p>
            <a:pPr marL="12700" marR="4700905">
              <a:lnSpc>
                <a:spcPts val="1840"/>
              </a:lnSpc>
              <a:spcBef>
                <a:spcPts val="85"/>
              </a:spcBef>
            </a:pPr>
            <a:endParaRPr sz="1600" spc="-5" dirty="0">
              <a:latin typeface="Georgia" panose="02040502050405020303"/>
              <a:cs typeface="Georgia" panose="02040502050405020303"/>
            </a:endParaRPr>
          </a:p>
          <a:p>
            <a:pPr marL="12700" marR="4700905">
              <a:lnSpc>
                <a:spcPts val="1840"/>
              </a:lnSpc>
              <a:spcBef>
                <a:spcPts val="85"/>
              </a:spcBef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printf(“\nSum=%f Average= %f\n”,sum,</a:t>
            </a:r>
            <a:r>
              <a:rPr sz="1600" spc="140" dirty="0">
                <a:latin typeface="Georgia" panose="02040502050405020303"/>
                <a:cs typeface="Georgia" panose="02040502050405020303"/>
              </a:rPr>
              <a:t> </a:t>
            </a:r>
            <a:r>
              <a:rPr sz="1600" spc="-5" dirty="0">
                <a:latin typeface="Georgia" panose="02040502050405020303"/>
                <a:cs typeface="Georgia" panose="02040502050405020303"/>
              </a:rPr>
              <a:t>avg);</a:t>
            </a:r>
            <a:endParaRPr sz="1600" dirty="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880"/>
              </a:lnSpc>
            </a:pPr>
            <a:r>
              <a:rPr sz="1600" spc="-5" dirty="0">
                <a:latin typeface="Georgia" panose="02040502050405020303"/>
                <a:cs typeface="Georgia" panose="02040502050405020303"/>
              </a:rPr>
              <a:t>}</a:t>
            </a:r>
            <a:endParaRPr sz="160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2660" y="530543"/>
            <a:ext cx="5827395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0" dirty="0"/>
              <a:t>Two-dimensional</a:t>
            </a:r>
            <a:r>
              <a:rPr sz="4000" spc="-190" dirty="0"/>
              <a:t> </a:t>
            </a:r>
            <a:r>
              <a:rPr sz="4000" spc="-260" dirty="0"/>
              <a:t>Arrays </a:t>
            </a:r>
            <a:r>
              <a:rPr lang="en-IN" sz="4000" spc="-260" dirty="0"/>
              <a:t>(2D)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26515" y="1332865"/>
            <a:ext cx="9538970" cy="448119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lang="en-IN" sz="20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simplest </a:t>
            </a:r>
            <a:r>
              <a:rPr sz="20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 </a:t>
            </a:r>
            <a:r>
              <a:rPr sz="20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lang="en-IN" sz="20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multidimensional </a:t>
            </a:r>
            <a:r>
              <a:rPr sz="20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</a:t>
            </a:r>
            <a:r>
              <a:rPr sz="20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 </a:t>
            </a:r>
            <a:r>
              <a:rPr lang="en-IN" sz="2000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two dimensional array.</a:t>
            </a:r>
          </a:p>
          <a:p>
            <a:pPr marL="342900" indent="-34290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two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dimensional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in C 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language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represented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 the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</a:t>
            </a:r>
            <a:r>
              <a:rPr sz="2000" spc="-8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 rows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columns,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also known as matrix.</a:t>
            </a:r>
          </a:p>
          <a:p>
            <a:pPr marL="342900" indent="-34290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is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also known as array</a:t>
            </a:r>
            <a:r>
              <a:rPr sz="2000" spc="-1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 arrays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or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list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r>
              <a:rPr sz="2000" spc="-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arrays.</a:t>
            </a:r>
          </a:p>
          <a:p>
            <a:pPr marL="342900" indent="-342900" algn="just">
              <a:lnSpc>
                <a:spcPct val="100000"/>
              </a:lnSpc>
              <a:spcBef>
                <a:spcPts val="100"/>
              </a:spcBef>
            </a:pPr>
            <a:r>
              <a:rPr lang="en-IN" sz="2000" spc="-9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 two dimensional array is a list of one dimensional arrays.</a:t>
            </a:r>
          </a:p>
          <a:p>
            <a:pPr marL="342900" indent="-34290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two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dimensional, three  dimensional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or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other dimensional 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arrays are also known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as multidimensional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arrays.</a:t>
            </a:r>
          </a:p>
          <a:p>
            <a:pPr marL="342900" indent="-342900" algn="just">
              <a:lnSpc>
                <a:spcPct val="100000"/>
              </a:lnSpc>
              <a:spcBef>
                <a:spcPts val="100"/>
              </a:spcBef>
            </a:pPr>
            <a:r>
              <a:rPr lang="en-I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Syntax of declaration of a two dimensional array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566545" indent="-342900" algn="just">
              <a:lnSpc>
                <a:spcPct val="100000"/>
              </a:lnSpc>
              <a:spcBef>
                <a:spcPts val="105"/>
              </a:spcBef>
            </a:pPr>
            <a:r>
              <a:rPr sz="2000" b="1" spc="-2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type </a:t>
            </a:r>
            <a:r>
              <a:rPr sz="20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array-name[</a:t>
            </a:r>
            <a:r>
              <a:rPr lang="en-IN" sz="20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row_</a:t>
            </a:r>
            <a:r>
              <a:rPr sz="20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size]</a:t>
            </a:r>
            <a:r>
              <a:rPr lang="en-IN" sz="2000" b="1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[col_size];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6972300" y="3477260"/>
            <a:ext cx="4110990" cy="28873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 Box 6"/>
          <p:cNvSpPr txBox="1"/>
          <p:nvPr/>
        </p:nvSpPr>
        <p:spPr>
          <a:xfrm>
            <a:off x="7472045" y="6307455"/>
            <a:ext cx="2735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Illustration of a 3 X 3 Array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3705" y="1725930"/>
            <a:ext cx="9546590" cy="43624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698500" marR="5080" indent="-342900" algn="just">
              <a:lnSpc>
                <a:spcPct val="103000"/>
              </a:lnSpc>
              <a:spcBef>
                <a:spcPts val="185"/>
              </a:spcBef>
              <a:buFont typeface="Arial" panose="020B0604020202020204" pitchFamily="34" charset="0"/>
              <a:buChar char="•"/>
            </a:pPr>
            <a:r>
              <a:rPr sz="2200" spc="-300" dirty="0">
                <a:latin typeface="Times New Roman" panose="02020603050405020304" charset="0"/>
                <a:cs typeface="Times New Roman" panose="02020603050405020304" charset="0"/>
              </a:rPr>
              <a:t>A 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two-dimensional 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be 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considered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as  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</a:rPr>
              <a:t>which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will 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have </a:t>
            </a:r>
            <a:r>
              <a:rPr lang="en-IN" sz="2200" spc="25" dirty="0">
                <a:latin typeface="Times New Roman" panose="02020603050405020304" charset="0"/>
                <a:cs typeface="Times New Roman" panose="02020603050405020304" charset="0"/>
              </a:rPr>
              <a:t>m number of rows and n number of columns.</a:t>
            </a:r>
          </a:p>
          <a:p>
            <a:pPr marL="698500" marR="5080" indent="-342900" algn="just">
              <a:lnSpc>
                <a:spcPct val="103000"/>
              </a:lnSpc>
              <a:spcBef>
                <a:spcPts val="185"/>
              </a:spcBef>
              <a:buFont typeface="Arial" panose="020B0604020202020204" pitchFamily="34" charset="0"/>
              <a:buChar char="•"/>
            </a:pPr>
            <a:r>
              <a:rPr lang="en-IN" sz="2200">
                <a:latin typeface="Times New Roman" panose="02020603050405020304" charset="0"/>
                <a:cs typeface="Times New Roman" panose="02020603050405020304" charset="0"/>
              </a:rPr>
              <a:t>It can be declared as int a[m][n];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698500" marR="5080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200" spc="-300" dirty="0">
                <a:latin typeface="Times New Roman" panose="02020603050405020304" charset="0"/>
                <a:cs typeface="Times New Roman" panose="02020603050405020304" charset="0"/>
              </a:rPr>
              <a:t>A 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two-dimensional 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175" dirty="0">
                <a:latin typeface="Times New Roman" panose="02020603050405020304" charset="0"/>
                <a:cs typeface="Times New Roman" panose="02020603050405020304" charset="0"/>
              </a:rPr>
              <a:t>a, 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</a:rPr>
              <a:t>which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contains  </a:t>
            </a:r>
            <a:r>
              <a:rPr sz="2200" spc="55" dirty="0">
                <a:latin typeface="Times New Roman" panose="02020603050405020304" charset="0"/>
                <a:cs typeface="Times New Roman" panose="02020603050405020304" charset="0"/>
              </a:rPr>
              <a:t>three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rows </a:t>
            </a:r>
            <a:r>
              <a:rPr sz="2200" spc="80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200" spc="50" dirty="0">
                <a:latin typeface="Times New Roman" panose="02020603050405020304" charset="0"/>
                <a:cs typeface="Times New Roman" panose="02020603050405020304" charset="0"/>
              </a:rPr>
              <a:t>four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columns </a:t>
            </a:r>
            <a:r>
              <a:rPr lang="en-IN" sz="2200" spc="-3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i.e., a[3][4],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be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shown</a:t>
            </a:r>
            <a:r>
              <a:rPr sz="2200" spc="-434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as </a:t>
            </a:r>
            <a:r>
              <a:rPr sz="2200" spc="-35" dirty="0">
                <a:latin typeface="Times New Roman" panose="02020603050405020304" charset="0"/>
                <a:cs typeface="Times New Roman" panose="02020603050405020304" charset="0"/>
              </a:rPr>
              <a:t>follows. 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1478915" indent="-342900" algn="just">
              <a:lnSpc>
                <a:spcPct val="100000"/>
              </a:lnSpc>
              <a:spcBef>
                <a:spcPts val="1150"/>
              </a:spcBef>
            </a:pPr>
            <a:r>
              <a:rPr sz="2500" spc="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Column </a:t>
            </a:r>
            <a:r>
              <a:rPr sz="2500" spc="1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500" spc="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Column </a:t>
            </a:r>
            <a:r>
              <a:rPr sz="2500" spc="1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     </a:t>
            </a:r>
            <a:r>
              <a:rPr sz="2500" spc="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Column </a:t>
            </a:r>
            <a:r>
              <a:rPr sz="2500" spc="1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    </a:t>
            </a:r>
            <a:r>
              <a:rPr sz="2500" spc="2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Column</a:t>
            </a:r>
            <a:r>
              <a:rPr sz="2500" spc="29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50000"/>
              </a:lnSpc>
              <a:spcBef>
                <a:spcPts val="770"/>
              </a:spcBef>
            </a:pPr>
            <a:r>
              <a:rPr sz="2500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Row</a:t>
            </a:r>
            <a:r>
              <a:rPr sz="2500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50000"/>
              </a:lnSpc>
              <a:spcBef>
                <a:spcPts val="605"/>
              </a:spcBef>
            </a:pPr>
            <a:r>
              <a:rPr sz="2500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Row</a:t>
            </a:r>
            <a:r>
              <a:rPr sz="2500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50000"/>
              </a:lnSpc>
              <a:spcBef>
                <a:spcPts val="600"/>
              </a:spcBef>
            </a:pPr>
            <a:r>
              <a:rPr sz="2500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Row</a:t>
            </a:r>
            <a:r>
              <a:rPr sz="2500" spc="-1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5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98115" y="4107433"/>
          <a:ext cx="6377305" cy="1933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a[0][0]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4892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a[0][1]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b="1" dirty="0">
                        <a:solidFill>
                          <a:srgbClr val="FFFFFF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a[0][2]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800" b="1" dirty="0">
                        <a:solidFill>
                          <a:srgbClr val="FFFFFF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 panose="020F0502020204030204"/>
                          <a:cs typeface="Calibri" panose="020F0502020204030204"/>
                        </a:rPr>
                        <a:t>a[0][3]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][2]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0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][2]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a[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2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][</a:t>
                      </a:r>
                      <a:r>
                        <a:rPr lang="en-IN" sz="1800" dirty="0"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r>
                        <a:rPr sz="1800" dirty="0">
                          <a:latin typeface="Calibri" panose="020F0502020204030204"/>
                          <a:cs typeface="Calibri" panose="020F0502020204030204"/>
                        </a:rPr>
                        <a:t>]</a:t>
                      </a:r>
                      <a:endParaRPr sz="18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2"/>
          <p:cNvSpPr txBox="1">
            <a:spLocks noGrp="1"/>
          </p:cNvSpPr>
          <p:nvPr/>
        </p:nvSpPr>
        <p:spPr>
          <a:xfrm>
            <a:off x="3563620" y="773748"/>
            <a:ext cx="5827395" cy="62738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0" dirty="0"/>
              <a:t>Two-dimensional</a:t>
            </a:r>
            <a:r>
              <a:rPr sz="4000" spc="-190" dirty="0"/>
              <a:t> </a:t>
            </a:r>
            <a:r>
              <a:rPr sz="4000" spc="-260" dirty="0"/>
              <a:t>Arrays </a:t>
            </a:r>
            <a:r>
              <a:rPr lang="en-IN" sz="4000" spc="-260" dirty="0"/>
              <a:t>(2D)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1115" y="1639570"/>
            <a:ext cx="9361170" cy="4438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0" marR="5080" indent="-342900">
              <a:lnSpc>
                <a:spcPct val="10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4274185" algn="l"/>
                <a:tab pos="5215890" algn="l"/>
                <a:tab pos="5897245" algn="l"/>
                <a:tab pos="6325870" algn="l"/>
                <a:tab pos="7746365" algn="l"/>
              </a:tabLst>
            </a:pPr>
            <a:r>
              <a:rPr sz="2200" spc="20" dirty="0">
                <a:latin typeface="Times New Roman" panose="02020603050405020304"/>
                <a:cs typeface="Times New Roman" panose="02020603050405020304"/>
                <a:sym typeface="+mn-ea"/>
              </a:rPr>
              <a:t>Multi</a:t>
            </a:r>
            <a:r>
              <a:rPr sz="2200" spc="10"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sz="2200" spc="20" dirty="0">
                <a:latin typeface="Times New Roman" panose="02020603050405020304"/>
                <a:cs typeface="Times New Roman" panose="02020603050405020304"/>
                <a:sym typeface="+mn-ea"/>
              </a:rPr>
              <a:t>imensional </a:t>
            </a:r>
            <a:r>
              <a:rPr sz="2200" spc="45" dirty="0">
                <a:latin typeface="Times New Roman" panose="02020603050405020304"/>
                <a:cs typeface="Times New Roman" panose="02020603050405020304"/>
                <a:sym typeface="+mn-ea"/>
              </a:rPr>
              <a:t>arrays </a:t>
            </a:r>
            <a:r>
              <a:rPr sz="2200" spc="70" dirty="0">
                <a:latin typeface="Times New Roman" panose="02020603050405020304"/>
                <a:cs typeface="Times New Roman" panose="02020603050405020304"/>
                <a:sym typeface="+mn-ea"/>
              </a:rPr>
              <a:t>m</a:t>
            </a:r>
            <a:r>
              <a:rPr sz="2200" spc="40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2200" spc="-80" dirty="0">
                <a:latin typeface="Times New Roman" panose="02020603050405020304"/>
                <a:cs typeface="Times New Roman" panose="02020603050405020304"/>
                <a:sym typeface="+mn-ea"/>
              </a:rPr>
              <a:t>y </a:t>
            </a:r>
            <a:r>
              <a:rPr sz="2200" spc="-5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  <a:r>
              <a:rPr sz="2200" dirty="0">
                <a:latin typeface="Times New Roman" panose="02020603050405020304"/>
                <a:cs typeface="Times New Roman" panose="02020603050405020304"/>
                <a:sym typeface="+mn-ea"/>
              </a:rPr>
              <a:t>e </a:t>
            </a:r>
            <a:r>
              <a:rPr sz="2200" spc="20" dirty="0">
                <a:latin typeface="Times New Roman" panose="02020603050405020304"/>
                <a:cs typeface="Times New Roman" panose="02020603050405020304"/>
                <a:sym typeface="+mn-ea"/>
              </a:rPr>
              <a:t>init</a:t>
            </a:r>
            <a:r>
              <a:rPr sz="2200" spc="5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z="2200" spc="10" dirty="0">
                <a:latin typeface="Times New Roman" panose="02020603050405020304"/>
                <a:cs typeface="Times New Roman" panose="02020603050405020304"/>
                <a:sym typeface="+mn-ea"/>
              </a:rPr>
              <a:t>alized </a:t>
            </a:r>
            <a:r>
              <a:rPr sz="2200" spc="-30" dirty="0">
                <a:latin typeface="Times New Roman" panose="02020603050405020304"/>
                <a:cs typeface="Times New Roman" panose="02020603050405020304"/>
                <a:sym typeface="+mn-ea"/>
              </a:rPr>
              <a:t>by </a:t>
            </a:r>
            <a:r>
              <a:rPr sz="2200" spc="-5" dirty="0">
                <a:latin typeface="Times New Roman" panose="02020603050405020304"/>
                <a:cs typeface="Times New Roman" panose="02020603050405020304"/>
                <a:sym typeface="+mn-ea"/>
              </a:rPr>
              <a:t>specifying </a:t>
            </a:r>
            <a:r>
              <a:rPr sz="2200" spc="30" dirty="0">
                <a:latin typeface="Times New Roman" panose="02020603050405020304"/>
                <a:cs typeface="Times New Roman" panose="02020603050405020304"/>
                <a:sym typeface="+mn-ea"/>
              </a:rPr>
              <a:t>bracketed </a:t>
            </a:r>
            <a:r>
              <a:rPr sz="2200" spc="5" dirty="0">
                <a:latin typeface="Times New Roman" panose="02020603050405020304"/>
                <a:cs typeface="Times New Roman" panose="02020603050405020304"/>
                <a:sym typeface="+mn-ea"/>
              </a:rPr>
              <a:t>values </a:t>
            </a:r>
            <a:r>
              <a:rPr sz="2200" spc="25" dirty="0">
                <a:latin typeface="Times New Roman" panose="02020603050405020304"/>
                <a:cs typeface="Times New Roman" panose="02020603050405020304"/>
                <a:sym typeface="+mn-ea"/>
              </a:rPr>
              <a:t>for </a:t>
            </a:r>
            <a:r>
              <a:rPr sz="2200" spc="45" dirty="0">
                <a:latin typeface="Times New Roman" panose="02020603050405020304"/>
                <a:cs typeface="Times New Roman" panose="02020603050405020304"/>
                <a:sym typeface="+mn-ea"/>
              </a:rPr>
              <a:t>each</a:t>
            </a:r>
            <a:r>
              <a:rPr sz="2200" spc="-7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200" spc="15" dirty="0">
                <a:latin typeface="Times New Roman" panose="02020603050405020304"/>
                <a:cs typeface="Times New Roman" panose="02020603050405020304"/>
                <a:sym typeface="+mn-ea"/>
              </a:rPr>
              <a:t>row.</a:t>
            </a:r>
          </a:p>
          <a:p>
            <a:pPr marL="698500" marR="5080" indent="-342900">
              <a:lnSpc>
                <a:spcPct val="1000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4274185" algn="l"/>
                <a:tab pos="5215890" algn="l"/>
                <a:tab pos="5897245" algn="l"/>
                <a:tab pos="6325870" algn="l"/>
                <a:tab pos="7746365" algn="l"/>
              </a:tabLst>
            </a:pP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Following 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200" spc="9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2200" spc="70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200" spc="55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200" spc="125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200" spc="-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30" dirty="0">
                <a:latin typeface="Times New Roman" panose="02020603050405020304"/>
                <a:cs typeface="Times New Roman" panose="02020603050405020304"/>
              </a:rPr>
              <a:t>rows </a:t>
            </a:r>
            <a:r>
              <a:rPr sz="2200" spc="8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2200" spc="65" dirty="0">
                <a:latin typeface="Times New Roman" panose="02020603050405020304"/>
                <a:cs typeface="Times New Roman" panose="02020603050405020304"/>
              </a:rPr>
              <a:t>row </a:t>
            </a:r>
            <a:r>
              <a:rPr sz="2200" spc="40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2200" spc="125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0" dirty="0">
                <a:latin typeface="Times New Roman" panose="02020603050405020304"/>
                <a:cs typeface="Times New Roman" panose="02020603050405020304"/>
              </a:rPr>
              <a:t>columns.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498600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200" spc="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200" spc="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a[3][4] </a:t>
            </a:r>
            <a:r>
              <a:rPr sz="2200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0388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2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{0,1,2,3},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0388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20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{4,5,6,7},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03880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sz="2200" spc="3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{8,9,10,11}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2870835" lvl="1" indent="0">
              <a:lnSpc>
                <a:spcPct val="100000"/>
              </a:lnSpc>
              <a:spcBef>
                <a:spcPts val="605"/>
              </a:spcBef>
              <a:buNone/>
            </a:pPr>
            <a:r>
              <a:rPr sz="2200" spc="-5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812800" marR="5080" lvl="1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nested </a:t>
            </a:r>
            <a:r>
              <a:rPr sz="2200" spc="5" dirty="0">
                <a:latin typeface="Times New Roman" panose="02020603050405020304"/>
                <a:cs typeface="Times New Roman" panose="02020603050405020304"/>
              </a:rPr>
              <a:t>braces, 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indicate 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spc="40" dirty="0">
                <a:latin typeface="Times New Roman" panose="02020603050405020304"/>
                <a:cs typeface="Times New Roman" panose="02020603050405020304"/>
              </a:rPr>
              <a:t>intended 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row, </a:t>
            </a:r>
            <a:r>
              <a:rPr sz="2200" spc="7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200" spc="10" dirty="0">
                <a:latin typeface="Times New Roman" panose="02020603050405020304"/>
                <a:cs typeface="Times New Roman" panose="02020603050405020304"/>
              </a:rPr>
              <a:t>optional. </a:t>
            </a:r>
          </a:p>
          <a:p>
            <a:pPr marL="812800" marR="5080" lvl="1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following 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initialization 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equivalent 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previous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example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041400" lvl="1" indent="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IN" sz="2200" spc="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4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200" spc="1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a[3][4] </a:t>
            </a:r>
            <a:r>
              <a:rPr sz="2200" spc="-26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9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0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{0,1,2,3,4,5,6,7,8,9,10,11};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2"/>
          <p:cNvSpPr txBox="1">
            <a:spLocks noGrp="1"/>
          </p:cNvSpPr>
          <p:nvPr/>
        </p:nvSpPr>
        <p:spPr>
          <a:xfrm>
            <a:off x="2453640" y="343218"/>
            <a:ext cx="8208645" cy="62738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4000" b="1" spc="-125" dirty="0">
                <a:latin typeface="Arial" panose="020B0604020202020204"/>
                <a:cs typeface="Arial" panose="020B0604020202020204"/>
                <a:sym typeface="+mn-ea"/>
              </a:rPr>
              <a:t>Initializing </a:t>
            </a:r>
            <a:r>
              <a:rPr sz="4000" b="1" spc="-200" dirty="0">
                <a:latin typeface="Arial" panose="020B0604020202020204"/>
                <a:cs typeface="Arial" panose="020B0604020202020204"/>
                <a:sym typeface="+mn-ea"/>
              </a:rPr>
              <a:t>Two-Dimensional</a:t>
            </a:r>
            <a:r>
              <a:rPr sz="4000" b="1" spc="-229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4000" b="1" spc="-280" dirty="0">
                <a:latin typeface="Arial" panose="020B0604020202020204"/>
                <a:cs typeface="Arial" panose="020B0604020202020204"/>
                <a:sym typeface="+mn-ea"/>
              </a:rPr>
              <a:t>Arrays</a:t>
            </a:r>
            <a:endParaRPr lang="en-IN" sz="4000" spc="-2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bject 154"/>
          <p:cNvSpPr txBox="1"/>
          <p:nvPr/>
        </p:nvSpPr>
        <p:spPr>
          <a:xfrm>
            <a:off x="2887345" y="1598930"/>
            <a:ext cx="5655310" cy="465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 table[2][3]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 {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1,2,3,4,5,6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};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  <a:spcBef>
                <a:spcPts val="15"/>
              </a:spcBef>
            </a:pP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R="123825" lvl="3" algn="l">
              <a:lnSpc>
                <a:spcPct val="100000"/>
              </a:lnSpc>
            </a:pPr>
            <a:r>
              <a:rPr sz="2000" b="1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Or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  <a:spcBef>
                <a:spcPts val="25"/>
              </a:spcBef>
            </a:pP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l">
              <a:lnSpc>
                <a:spcPct val="100000"/>
              </a:lnSpc>
              <a:tabLst>
                <a:tab pos="2588895" algn="l"/>
              </a:tabLst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 table[2][3]</a:t>
            </a:r>
            <a:r>
              <a:rPr sz="2000" spc="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12700" algn="l">
              <a:lnSpc>
                <a:spcPct val="100000"/>
              </a:lnSpc>
              <a:tabLst>
                <a:tab pos="2588895" algn="l"/>
              </a:tabLst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{1,2,3},</a:t>
            </a:r>
          </a:p>
          <a:p>
            <a:pPr marL="12700" algn="l">
              <a:lnSpc>
                <a:spcPct val="100000"/>
              </a:lnSpc>
              <a:tabLst>
                <a:tab pos="2588895" algn="l"/>
              </a:tabLst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{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4,5,6}	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};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00000"/>
              </a:lnSpc>
              <a:spcBef>
                <a:spcPts val="5"/>
              </a:spcBef>
            </a:pP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1297940" algn="l">
              <a:lnSpc>
                <a:spcPct val="101000"/>
              </a:lnSpc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 means that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element: </a:t>
            </a:r>
          </a:p>
          <a:p>
            <a:pPr marL="12700" marR="1297940" algn="l">
              <a:lnSpc>
                <a:spcPct val="101000"/>
              </a:lnSpc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0][0]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l">
              <a:lnSpc>
                <a:spcPct val="100000"/>
              </a:lnSpc>
              <a:spcBef>
                <a:spcPts val="20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0][1]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l">
              <a:lnSpc>
                <a:spcPct val="100000"/>
              </a:lnSpc>
              <a:spcBef>
                <a:spcPts val="10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0][2]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l">
              <a:lnSpc>
                <a:spcPct val="100000"/>
              </a:lnSpc>
              <a:spcBef>
                <a:spcPts val="20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1][0]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l">
              <a:lnSpc>
                <a:spcPct val="100000"/>
              </a:lnSpc>
              <a:spcBef>
                <a:spcPts val="20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1][1]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5;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algn="l">
              <a:lnSpc>
                <a:spcPct val="100000"/>
              </a:lnSpc>
              <a:spcBef>
                <a:spcPts val="20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table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[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1][2]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000" spc="-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6;</a:t>
            </a:r>
          </a:p>
        </p:txBody>
      </p:sp>
      <p:sp>
        <p:nvSpPr>
          <p:cNvPr id="4" name="object 2"/>
          <p:cNvSpPr txBox="1">
            <a:spLocks noGrp="1"/>
          </p:cNvSpPr>
          <p:nvPr/>
        </p:nvSpPr>
        <p:spPr>
          <a:xfrm>
            <a:off x="2453640" y="343218"/>
            <a:ext cx="8208645" cy="62738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4000" b="1" spc="-125" dirty="0">
                <a:latin typeface="Arial" panose="020B0604020202020204"/>
                <a:cs typeface="Arial" panose="020B0604020202020204"/>
                <a:sym typeface="+mn-ea"/>
              </a:rPr>
              <a:t>Initializing </a:t>
            </a:r>
            <a:r>
              <a:rPr sz="4000" b="1" spc="-200" dirty="0">
                <a:latin typeface="Arial" panose="020B0604020202020204"/>
                <a:cs typeface="Arial" panose="020B0604020202020204"/>
                <a:sym typeface="+mn-ea"/>
              </a:rPr>
              <a:t>Two-Dimensional</a:t>
            </a:r>
            <a:r>
              <a:rPr sz="4000" b="1" spc="-229" dirty="0">
                <a:latin typeface="Arial" panose="020B0604020202020204"/>
                <a:cs typeface="Arial" panose="020B0604020202020204"/>
                <a:sym typeface="+mn-ea"/>
              </a:rPr>
              <a:t> </a:t>
            </a:r>
            <a:r>
              <a:rPr sz="4000" b="1" spc="-280" dirty="0">
                <a:latin typeface="Arial" panose="020B0604020202020204"/>
                <a:cs typeface="Arial" panose="020B0604020202020204"/>
                <a:sym typeface="+mn-ea"/>
              </a:rPr>
              <a:t>Arrays</a:t>
            </a:r>
            <a:endParaRPr lang="en-IN" sz="4000" spc="-2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0410" y="508000"/>
            <a:ext cx="947229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Accessing </a:t>
            </a:r>
            <a:r>
              <a:rPr spc="-200" dirty="0"/>
              <a:t>Two-Dimensional </a:t>
            </a:r>
            <a:r>
              <a:rPr spc="-185" dirty="0"/>
              <a:t>Array</a:t>
            </a:r>
            <a:r>
              <a:rPr spc="-465" dirty="0"/>
              <a:t> </a:t>
            </a:r>
            <a:r>
              <a:rPr spc="-335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3850" y="1520190"/>
            <a:ext cx="9218295" cy="241744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42900" marR="508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IN"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very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 </a:t>
            </a:r>
            <a:r>
              <a:rPr sz="2200" spc="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</a:t>
            </a:r>
            <a:r>
              <a:rPr sz="2200" spc="-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 </a:t>
            </a:r>
            <a:r>
              <a:rPr sz="2200" spc="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identified </a:t>
            </a:r>
            <a:r>
              <a:rPr sz="2200" spc="-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by </a:t>
            </a:r>
            <a:r>
              <a:rPr sz="2200" spc="9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 </a:t>
            </a:r>
            <a:r>
              <a:rPr sz="2200" spc="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 </a:t>
            </a:r>
            <a:r>
              <a:rPr sz="2200" spc="-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</a:t>
            </a:r>
            <a:r>
              <a:rPr sz="2200" spc="-2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1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a[i][j]</a:t>
            </a:r>
            <a:r>
              <a:rPr lang="en-IN" sz="2200" spc="-1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where </a:t>
            </a:r>
            <a:r>
              <a:rPr sz="2200" spc="-1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‘a’ </a:t>
            </a:r>
            <a:r>
              <a:rPr sz="2200" spc="-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-2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name </a:t>
            </a:r>
            <a:r>
              <a:rPr sz="2200" spc="-19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sz="2200" spc="-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-1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array, </a:t>
            </a:r>
            <a:r>
              <a:rPr sz="2200" spc="8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</a:t>
            </a:r>
            <a:r>
              <a:rPr sz="2200" spc="-16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‘i’ </a:t>
            </a:r>
            <a:r>
              <a:rPr sz="2200" spc="8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</a:t>
            </a:r>
            <a:r>
              <a:rPr sz="2200" spc="-17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‘j’  are </a:t>
            </a:r>
            <a:r>
              <a:rPr sz="2200" spc="-19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z="2200" spc="-26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subscripts </a:t>
            </a:r>
            <a:r>
              <a:rPr sz="2200" spc="-16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that </a:t>
            </a:r>
            <a:r>
              <a:rPr sz="2200" spc="-17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uniquely </a:t>
            </a:r>
            <a:r>
              <a:rPr sz="2200" spc="-15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identify </a:t>
            </a:r>
            <a:r>
              <a:rPr sz="2200" spc="-24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each </a:t>
            </a:r>
            <a:r>
              <a:rPr sz="2200" spc="-2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element</a:t>
            </a:r>
            <a:r>
              <a:rPr lang="en-IN" sz="2200" spc="-2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</a:t>
            </a:r>
            <a:r>
              <a:rPr sz="2200" spc="-2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</a:t>
            </a:r>
            <a:r>
              <a:rPr sz="2200" spc="3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19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‘a’.</a:t>
            </a:r>
            <a:endParaRPr sz="2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508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IN" sz="2200" spc="-85" dirty="0">
                <a:latin typeface="Times New Roman" panose="02020603050405020304" charset="0"/>
                <a:cs typeface="Times New Roman" panose="02020603050405020304" charset="0"/>
              </a:rPr>
              <a:t>Thus, a</a:t>
            </a:r>
            <a:r>
              <a:rPr sz="2200" spc="-85" dirty="0">
                <a:latin typeface="Times New Roman" panose="02020603050405020304" charset="0"/>
                <a:cs typeface="Times New Roman" panose="02020603050405020304" charset="0"/>
              </a:rPr>
              <a:t>n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200" spc="50" dirty="0"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spc="60" dirty="0"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spc="40" dirty="0">
                <a:latin typeface="Times New Roman" panose="02020603050405020304" charset="0"/>
                <a:cs typeface="Times New Roman" panose="02020603050405020304" charset="0"/>
              </a:rPr>
              <a:t>two-dimensional 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50" dirty="0">
                <a:latin typeface="Times New Roman" panose="02020603050405020304" charset="0"/>
                <a:cs typeface="Times New Roman" panose="02020603050405020304" charset="0"/>
              </a:rPr>
              <a:t>is 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accessed </a:t>
            </a:r>
            <a:r>
              <a:rPr sz="2200" spc="-25" dirty="0">
                <a:latin typeface="Times New Roman" panose="02020603050405020304" charset="0"/>
                <a:cs typeface="Times New Roman" panose="02020603050405020304" charset="0"/>
              </a:rPr>
              <a:t>by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using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5" dirty="0">
                <a:latin typeface="Times New Roman" panose="02020603050405020304" charset="0"/>
                <a:cs typeface="Times New Roman" panose="02020603050405020304" charset="0"/>
              </a:rPr>
              <a:t>subscripts. </a:t>
            </a:r>
            <a:r>
              <a:rPr sz="2200" spc="-80" dirty="0">
                <a:latin typeface="Times New Roman" panose="02020603050405020304" charset="0"/>
                <a:cs typeface="Times New Roman" panose="02020603050405020304" charset="0"/>
              </a:rPr>
              <a:t>i.e.,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</a:rPr>
              <a:t>row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index </a:t>
            </a:r>
            <a:r>
              <a:rPr sz="2200" spc="80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column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index </a:t>
            </a:r>
            <a:r>
              <a:rPr sz="2200" spc="-45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200" spc="-9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array.</a:t>
            </a:r>
          </a:p>
          <a:p>
            <a:pPr marL="342900" marR="5080" indent="-342900" algn="just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200" spc="-2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200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2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r>
              <a:rPr lang="en-IN" sz="2200" spc="-2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sz="2200" spc="-100" dirty="0">
                <a:latin typeface="Times New Roman" panose="02020603050405020304" charset="0"/>
                <a:cs typeface="Times New Roman" panose="02020603050405020304" charset="0"/>
              </a:rPr>
              <a:t>int </a:t>
            </a:r>
            <a:r>
              <a:rPr sz="2200" spc="-155" dirty="0">
                <a:latin typeface="Times New Roman" panose="02020603050405020304" charset="0"/>
                <a:cs typeface="Times New Roman" panose="02020603050405020304" charset="0"/>
              </a:rPr>
              <a:t>val </a:t>
            </a:r>
            <a:r>
              <a:rPr sz="2200" spc="-310" dirty="0">
                <a:latin typeface="Times New Roman" panose="02020603050405020304" charset="0"/>
                <a:cs typeface="Times New Roman" panose="02020603050405020304" charset="0"/>
              </a:rPr>
              <a:t>=</a:t>
            </a:r>
            <a:r>
              <a:rPr sz="2200" spc="-13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105" dirty="0">
                <a:latin typeface="Times New Roman" panose="02020603050405020304" charset="0"/>
                <a:cs typeface="Times New Roman" panose="02020603050405020304" charset="0"/>
              </a:rPr>
              <a:t>a[2][3];</a:t>
            </a:r>
            <a:endParaRPr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200" spc="-40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</a:rPr>
              <a:t>above </a:t>
            </a:r>
            <a:r>
              <a:rPr sz="2200" spc="25" dirty="0">
                <a:latin typeface="Times New Roman" panose="02020603050405020304" charset="0"/>
                <a:cs typeface="Times New Roman" panose="02020603050405020304" charset="0"/>
              </a:rPr>
              <a:t>statement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</a:rPr>
              <a:t>will </a:t>
            </a:r>
            <a:r>
              <a:rPr sz="2200" spc="15" dirty="0">
                <a:latin typeface="Times New Roman" panose="02020603050405020304" charset="0"/>
                <a:cs typeface="Times New Roman" panose="02020603050405020304" charset="0"/>
              </a:rPr>
              <a:t>take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85" dirty="0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sz="2200" spc="127" baseline="25000" dirty="0">
                <a:latin typeface="Times New Roman" panose="02020603050405020304" charset="0"/>
                <a:cs typeface="Times New Roman" panose="02020603050405020304" charset="0"/>
              </a:rPr>
              <a:t>th </a:t>
            </a:r>
            <a:r>
              <a:rPr sz="2200" spc="20" dirty="0">
                <a:latin typeface="Times New Roman" panose="02020603050405020304" charset="0"/>
                <a:cs typeface="Times New Roman" panose="02020603050405020304" charset="0"/>
              </a:rPr>
              <a:t>element  </a:t>
            </a:r>
            <a:r>
              <a:rPr sz="2200" spc="30" dirty="0">
                <a:latin typeface="Times New Roman" panose="02020603050405020304" charset="0"/>
                <a:cs typeface="Times New Roman" panose="02020603050405020304" charset="0"/>
              </a:rPr>
              <a:t>from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90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sz="2200" spc="135" baseline="25000" dirty="0">
                <a:latin typeface="Times New Roman" panose="02020603050405020304" charset="0"/>
                <a:cs typeface="Times New Roman" panose="02020603050405020304" charset="0"/>
              </a:rPr>
              <a:t>rd </a:t>
            </a:r>
            <a:r>
              <a:rPr sz="2200" spc="65" dirty="0">
                <a:latin typeface="Times New Roman" panose="02020603050405020304" charset="0"/>
                <a:cs typeface="Times New Roman" panose="02020603050405020304" charset="0"/>
              </a:rPr>
              <a:t>row </a:t>
            </a:r>
            <a:r>
              <a:rPr sz="2200" spc="-4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45" dirty="0">
                <a:latin typeface="Times New Roman" panose="02020603050405020304" charset="0"/>
                <a:cs typeface="Times New Roman" panose="02020603050405020304" charset="0"/>
              </a:rPr>
              <a:t>the</a:t>
            </a:r>
            <a:r>
              <a:rPr sz="2200" spc="-7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35" dirty="0">
                <a:latin typeface="Times New Roman" panose="02020603050405020304" charset="0"/>
                <a:cs typeface="Times New Roman" panose="02020603050405020304" charset="0"/>
              </a:rPr>
              <a:t>array.</a:t>
            </a:r>
            <a:endParaRPr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0245" y="256540"/>
            <a:ext cx="1100455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Two </a:t>
            </a:r>
            <a:r>
              <a:rPr dirty="0"/>
              <a:t>dimensional array example  </a:t>
            </a:r>
            <a:r>
              <a:rPr lang="en-IN" spc="-5" dirty="0"/>
              <a:t>Program1</a:t>
            </a:r>
          </a:p>
        </p:txBody>
      </p:sp>
      <p:sp>
        <p:nvSpPr>
          <p:cNvPr id="5" name="object 5"/>
          <p:cNvSpPr/>
          <p:nvPr/>
        </p:nvSpPr>
        <p:spPr>
          <a:xfrm>
            <a:off x="1624330" y="869315"/>
            <a:ext cx="4590415" cy="57143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64805" y="1407160"/>
            <a:ext cx="3248660" cy="43980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0410" y="412115"/>
            <a:ext cx="789305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Two-Dimensional </a:t>
            </a:r>
            <a:r>
              <a:rPr spc="-260" dirty="0"/>
              <a:t>Arrays</a:t>
            </a:r>
            <a:r>
              <a:rPr spc="-185" dirty="0"/>
              <a:t> </a:t>
            </a:r>
            <a:r>
              <a:rPr spc="-250" dirty="0"/>
              <a:t>program </a:t>
            </a:r>
            <a:r>
              <a:rPr lang="en-IN" spc="-250" dirty="0"/>
              <a:t>2</a:t>
            </a:r>
            <a:endParaRPr spc="-250" dirty="0"/>
          </a:p>
        </p:txBody>
      </p:sp>
      <p:sp>
        <p:nvSpPr>
          <p:cNvPr id="3" name="object 3"/>
          <p:cNvSpPr txBox="1"/>
          <p:nvPr/>
        </p:nvSpPr>
        <p:spPr>
          <a:xfrm>
            <a:off x="2010410" y="1455292"/>
            <a:ext cx="5507990" cy="5184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28010">
              <a:lnSpc>
                <a:spcPct val="100000"/>
              </a:lnSpc>
              <a:spcBef>
                <a:spcPts val="100"/>
              </a:spcBef>
            </a:pPr>
            <a:r>
              <a:rPr sz="2400" spc="150" dirty="0">
                <a:latin typeface="Times New Roman" panose="02020603050405020304"/>
                <a:cs typeface="Times New Roman" panose="02020603050405020304"/>
              </a:rPr>
              <a:t>#i</a:t>
            </a:r>
            <a:r>
              <a:rPr sz="2400" spc="18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spc="45" dirty="0">
                <a:latin typeface="Times New Roman" panose="02020603050405020304"/>
                <a:cs typeface="Times New Roman" panose="02020603050405020304"/>
              </a:rPr>
              <a:t>clude&lt;s</a:t>
            </a:r>
            <a:r>
              <a:rPr sz="240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400" spc="35" dirty="0">
                <a:latin typeface="Times New Roman" panose="02020603050405020304"/>
                <a:cs typeface="Times New Roman" panose="02020603050405020304"/>
              </a:rPr>
              <a:t>dio.h&gt;  </a:t>
            </a:r>
            <a:r>
              <a:rPr sz="2400" spc="4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2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spc="4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a[5][2]={{0,0},{1,2},{2,4},{3,6},{4,8}};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 marR="3573780">
              <a:lnSpc>
                <a:spcPct val="100000"/>
              </a:lnSpc>
            </a:pPr>
            <a:r>
              <a:rPr sz="2400" spc="45" dirty="0">
                <a:latin typeface="Times New Roman" panose="02020603050405020304"/>
                <a:cs typeface="Times New Roman" panose="02020603050405020304"/>
              </a:rPr>
              <a:t>int </a:t>
            </a:r>
            <a:r>
              <a:rPr sz="2400" spc="-70" dirty="0">
                <a:latin typeface="Times New Roman" panose="02020603050405020304"/>
                <a:cs typeface="Times New Roman" panose="02020603050405020304"/>
              </a:rPr>
              <a:t>i,j;  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for(i=</a:t>
            </a:r>
            <a:r>
              <a:rPr sz="2400" spc="-3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30" dirty="0">
                <a:latin typeface="Times New Roman" panose="02020603050405020304"/>
                <a:cs typeface="Times New Roman" panose="02020603050405020304"/>
              </a:rPr>
              <a:t>;i</a:t>
            </a:r>
            <a:r>
              <a:rPr sz="2400" spc="55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5;i</a:t>
            </a:r>
            <a:r>
              <a:rPr sz="2400" spc="-9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sz="2400" spc="-140" dirty="0">
                <a:latin typeface="Times New Roman" panose="02020603050405020304"/>
                <a:cs typeface="Times New Roman" panose="02020603050405020304"/>
              </a:rPr>
              <a:t>+)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36220">
              <a:lnSpc>
                <a:spcPct val="100000"/>
              </a:lnSpc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for(j=0;j&lt;2;j++)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86995">
              <a:lnSpc>
                <a:spcPct val="100000"/>
              </a:lnSpc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spc="-40" dirty="0">
                <a:latin typeface="Times New Roman" panose="02020603050405020304"/>
                <a:cs typeface="Times New Roman" panose="02020603050405020304"/>
              </a:rPr>
              <a:t>printf(“a[%d][%d] </a:t>
            </a:r>
            <a:r>
              <a:rPr sz="2400" spc="-245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35" dirty="0">
                <a:latin typeface="Times New Roman" panose="02020603050405020304"/>
                <a:cs typeface="Times New Roman" panose="02020603050405020304"/>
              </a:rPr>
              <a:t>%d\n”,i,j,a[i][j]);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236220">
              <a:lnSpc>
                <a:spcPct val="100000"/>
              </a:lnSpc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spc="9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2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0" dirty="0">
                <a:latin typeface="Times New Roman" panose="02020603050405020304"/>
                <a:cs typeface="Times New Roman" panose="02020603050405020304"/>
              </a:rPr>
              <a:t>0;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8902700" y="1303655"/>
            <a:ext cx="1536065" cy="5072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85" dirty="0">
                <a:latin typeface="Arial" panose="020B0604020202020204"/>
                <a:cs typeface="Arial" panose="020B0604020202020204"/>
              </a:rPr>
              <a:t>Output:</a:t>
            </a:r>
            <a:endParaRPr sz="25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500" spc="-15" dirty="0">
                <a:latin typeface="Times New Roman" panose="02020603050405020304"/>
                <a:cs typeface="Times New Roman" panose="02020603050405020304"/>
              </a:rPr>
              <a:t>a[0][0]:</a:t>
            </a:r>
            <a:r>
              <a:rPr sz="2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0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0" dirty="0">
                <a:latin typeface="Times New Roman" panose="02020603050405020304"/>
                <a:cs typeface="Times New Roman" panose="02020603050405020304"/>
              </a:rPr>
              <a:t>a[0][1]:</a:t>
            </a:r>
            <a:r>
              <a:rPr sz="25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0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500" spc="-15" dirty="0">
                <a:latin typeface="Times New Roman" panose="02020603050405020304"/>
                <a:cs typeface="Times New Roman" panose="02020603050405020304"/>
              </a:rPr>
              <a:t>a[1][0]:</a:t>
            </a:r>
            <a:r>
              <a:rPr sz="2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1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5" dirty="0">
                <a:latin typeface="Times New Roman" panose="02020603050405020304"/>
                <a:cs typeface="Times New Roman" panose="02020603050405020304"/>
              </a:rPr>
              <a:t>a[1][1]:</a:t>
            </a:r>
            <a:r>
              <a:rPr sz="2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2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5" dirty="0">
                <a:latin typeface="Times New Roman" panose="02020603050405020304"/>
                <a:cs typeface="Times New Roman" panose="02020603050405020304"/>
              </a:rPr>
              <a:t>a[2][0]:</a:t>
            </a:r>
            <a:r>
              <a:rPr sz="2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2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0" dirty="0">
                <a:latin typeface="Times New Roman" panose="02020603050405020304"/>
                <a:cs typeface="Times New Roman" panose="02020603050405020304"/>
              </a:rPr>
              <a:t>a[2][1]:</a:t>
            </a:r>
            <a:r>
              <a:rPr sz="25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4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5" dirty="0">
                <a:latin typeface="Times New Roman" panose="02020603050405020304"/>
                <a:cs typeface="Times New Roman" panose="02020603050405020304"/>
              </a:rPr>
              <a:t>a[3][0]:</a:t>
            </a:r>
            <a:r>
              <a:rPr sz="2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3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5" dirty="0">
                <a:latin typeface="Times New Roman" panose="02020603050405020304"/>
                <a:cs typeface="Times New Roman" panose="02020603050405020304"/>
              </a:rPr>
              <a:t>a[3][1]:</a:t>
            </a:r>
            <a:r>
              <a:rPr sz="2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6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5" dirty="0">
                <a:latin typeface="Times New Roman" panose="02020603050405020304"/>
                <a:cs typeface="Times New Roman" panose="02020603050405020304"/>
              </a:rPr>
              <a:t>a[4][0]:</a:t>
            </a:r>
            <a:r>
              <a:rPr sz="2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4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500" spc="-10" dirty="0">
                <a:latin typeface="Times New Roman" panose="02020603050405020304"/>
                <a:cs typeface="Times New Roman" panose="02020603050405020304"/>
              </a:rPr>
              <a:t>a[4][1]:</a:t>
            </a:r>
            <a:r>
              <a:rPr sz="25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125" dirty="0">
                <a:latin typeface="Times New Roman" panose="02020603050405020304"/>
                <a:cs typeface="Times New Roman" panose="02020603050405020304"/>
              </a:rPr>
              <a:t>8</a:t>
            </a:r>
            <a:endParaRPr sz="2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2505" y="1174750"/>
            <a:ext cx="6840220" cy="497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indent="0" algn="just">
              <a:lnSpc>
                <a:spcPts val="1770"/>
              </a:lnSpc>
              <a:spcBef>
                <a:spcPts val="100"/>
              </a:spcBef>
              <a:buClr>
                <a:srgbClr val="9F4DA2"/>
              </a:buClr>
              <a:buNone/>
              <a:tabLst>
                <a:tab pos="269240" algn="l"/>
              </a:tabLst>
            </a:pPr>
            <a:r>
              <a:rPr dirty="0">
                <a:latin typeface="Georgia" panose="02040502050405020303"/>
                <a:cs typeface="Georgia" panose="02040502050405020303"/>
              </a:rPr>
              <a:t>/*Write a </a:t>
            </a:r>
            <a:r>
              <a:rPr spc="-5" dirty="0">
                <a:latin typeface="Georgia" panose="02040502050405020303"/>
                <a:cs typeface="Georgia" panose="02040502050405020303"/>
              </a:rPr>
              <a:t>program to read </a:t>
            </a:r>
            <a:r>
              <a:rPr dirty="0">
                <a:latin typeface="Georgia" panose="02040502050405020303"/>
                <a:cs typeface="Georgia" panose="02040502050405020303"/>
              </a:rPr>
              <a:t>3*3 </a:t>
            </a:r>
            <a:r>
              <a:rPr spc="-5" dirty="0">
                <a:latin typeface="Georgia" panose="02040502050405020303"/>
                <a:cs typeface="Georgia" panose="02040502050405020303"/>
              </a:rPr>
              <a:t>matrix </a:t>
            </a:r>
            <a:r>
              <a:rPr dirty="0">
                <a:latin typeface="Georgia" panose="02040502050405020303"/>
                <a:cs typeface="Georgia" panose="02040502050405020303"/>
              </a:rPr>
              <a:t>and </a:t>
            </a:r>
            <a:r>
              <a:rPr spc="-5" dirty="0">
                <a:latin typeface="Georgia" panose="02040502050405020303"/>
                <a:cs typeface="Georgia" panose="02040502050405020303"/>
              </a:rPr>
              <a:t>find </a:t>
            </a:r>
            <a:r>
              <a:rPr dirty="0">
                <a:latin typeface="Georgia" panose="02040502050405020303"/>
                <a:cs typeface="Georgia" panose="02040502050405020303"/>
              </a:rPr>
              <a:t>maximum</a:t>
            </a:r>
            <a:r>
              <a:rPr spc="-5" dirty="0">
                <a:latin typeface="Georgia" panose="02040502050405020303"/>
                <a:cs typeface="Georgia" panose="02040502050405020303"/>
              </a:rPr>
              <a:t> number*/</a:t>
            </a:r>
          </a:p>
          <a:p>
            <a:pPr marL="12065" indent="0" algn="just">
              <a:lnSpc>
                <a:spcPts val="1770"/>
              </a:lnSpc>
              <a:spcBef>
                <a:spcPts val="100"/>
              </a:spcBef>
              <a:buClr>
                <a:srgbClr val="9F4DA2"/>
              </a:buClr>
              <a:buNone/>
              <a:tabLst>
                <a:tab pos="269240" algn="l"/>
              </a:tabLst>
            </a:pPr>
            <a:endParaRPr sz="1500">
              <a:latin typeface="Georgia" panose="02040502050405020303"/>
              <a:cs typeface="Georgia" panose="02040502050405020303"/>
            </a:endParaRPr>
          </a:p>
          <a:p>
            <a:pPr marL="12700" marR="4356735" algn="l">
              <a:lnSpc>
                <a:spcPts val="1740"/>
              </a:lnSpc>
              <a:spcBef>
                <a:spcPts val="80"/>
              </a:spcBef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#include&lt;stdio.h&gt;  #in</a:t>
            </a:r>
            <a:r>
              <a:rPr sz="1500" dirty="0">
                <a:latin typeface="Georgia" panose="02040502050405020303"/>
                <a:cs typeface="Georgia" panose="02040502050405020303"/>
              </a:rPr>
              <a:t>c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lu</a:t>
            </a:r>
            <a:r>
              <a:rPr sz="1500" spc="5" dirty="0">
                <a:latin typeface="Georgia" panose="02040502050405020303"/>
                <a:cs typeface="Georgia" panose="02040502050405020303"/>
              </a:rPr>
              <a:t>d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e&lt;con</a:t>
            </a:r>
            <a:r>
              <a:rPr sz="1500" dirty="0">
                <a:latin typeface="Georgia" panose="02040502050405020303"/>
                <a:cs typeface="Georgia" panose="02040502050405020303"/>
              </a:rPr>
              <a:t>i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o.</a:t>
            </a:r>
            <a:r>
              <a:rPr sz="1500" dirty="0">
                <a:latin typeface="Georgia" panose="02040502050405020303"/>
                <a:cs typeface="Georgia" panose="02040502050405020303"/>
              </a:rPr>
              <a:t>h&gt;  </a:t>
            </a:r>
          </a:p>
          <a:p>
            <a:pPr marL="12700" marR="4356735" algn="just">
              <a:lnSpc>
                <a:spcPts val="1740"/>
              </a:lnSpc>
              <a:spcBef>
                <a:spcPts val="80"/>
              </a:spcBef>
            </a:pPr>
            <a:endParaRPr sz="1500" spc="-5" dirty="0">
              <a:latin typeface="Georgia" panose="02040502050405020303"/>
              <a:cs typeface="Georgia" panose="02040502050405020303"/>
            </a:endParaRPr>
          </a:p>
          <a:p>
            <a:pPr marL="12700" marR="4356735" algn="just">
              <a:lnSpc>
                <a:spcPts val="1740"/>
              </a:lnSpc>
              <a:spcBef>
                <a:spcPts val="80"/>
              </a:spcBef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void</a:t>
            </a:r>
            <a:r>
              <a:rPr sz="1500" dirty="0">
                <a:latin typeface="Georgia" panose="02040502050405020303"/>
                <a:cs typeface="Georgia" panose="02040502050405020303"/>
              </a:rPr>
              <a:t> main()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66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{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288290" marR="4134485">
              <a:lnSpc>
                <a:spcPts val="1740"/>
              </a:lnSpc>
              <a:spcBef>
                <a:spcPts val="80"/>
              </a:spcBef>
            </a:pPr>
            <a:r>
              <a:rPr sz="1500" dirty="0">
                <a:latin typeface="Georgia" panose="02040502050405020303"/>
                <a:cs typeface="Georgia" panose="02040502050405020303"/>
              </a:rPr>
              <a:t>int</a:t>
            </a:r>
            <a:r>
              <a:rPr sz="1500" spc="-45" dirty="0">
                <a:latin typeface="Georgia" panose="02040502050405020303"/>
                <a:cs typeface="Georgia" panose="02040502050405020303"/>
              </a:rPr>
              <a:t> 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a[3][3],i,j,max; </a:t>
            </a:r>
          </a:p>
          <a:p>
            <a:pPr marL="288290" marR="4134485">
              <a:lnSpc>
                <a:spcPts val="1740"/>
              </a:lnSpc>
              <a:spcBef>
                <a:spcPts val="80"/>
              </a:spcBef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clrscr();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288290">
              <a:lnSpc>
                <a:spcPts val="1665"/>
              </a:lnSpc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printf(“</a:t>
            </a:r>
            <a:r>
              <a:rPr lang="en-IN" sz="1500" spc="-5" dirty="0">
                <a:latin typeface="Georgia" panose="02040502050405020303"/>
                <a:cs typeface="Georgia" panose="02040502050405020303"/>
              </a:rPr>
              <a:t>Enter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 </a:t>
            </a:r>
            <a:r>
              <a:rPr lang="en-IN" sz="1500" spc="-5" dirty="0">
                <a:latin typeface="Georgia" panose="02040502050405020303"/>
                <a:cs typeface="Georgia" panose="02040502050405020303"/>
              </a:rPr>
              <a:t>the elements of the 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matrix\n”);</a:t>
            </a:r>
          </a:p>
          <a:p>
            <a:pPr marL="288290">
              <a:lnSpc>
                <a:spcPts val="1665"/>
              </a:lnSpc>
            </a:pPr>
            <a:endParaRPr sz="1500">
              <a:latin typeface="Georgia" panose="02040502050405020303"/>
              <a:cs typeface="Georgia" panose="02040502050405020303"/>
            </a:endParaRPr>
          </a:p>
          <a:p>
            <a:pPr marL="288290">
              <a:lnSpc>
                <a:spcPts val="1740"/>
              </a:lnSpc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for(i=0;i&lt;3;i++)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288290">
              <a:lnSpc>
                <a:spcPts val="174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{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518795">
              <a:lnSpc>
                <a:spcPts val="1740"/>
              </a:lnSpc>
            </a:pPr>
            <a:r>
              <a:rPr sz="1500" spc="-10" dirty="0">
                <a:latin typeface="Georgia" panose="02040502050405020303"/>
                <a:cs typeface="Georgia" panose="02040502050405020303"/>
              </a:rPr>
              <a:t>for(j=0;j&lt;3;j++)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564515">
              <a:lnSpc>
                <a:spcPts val="174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{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796290">
              <a:lnSpc>
                <a:spcPts val="1740"/>
              </a:lnSpc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printf(“a[%d][%d]=</a:t>
            </a:r>
            <a:r>
              <a:rPr sz="1500" spc="-35" dirty="0">
                <a:latin typeface="Georgia" panose="02040502050405020303"/>
                <a:cs typeface="Georgia" panose="02040502050405020303"/>
              </a:rPr>
              <a:t> </a:t>
            </a:r>
            <a:r>
              <a:rPr sz="1500" dirty="0">
                <a:latin typeface="Georgia" panose="02040502050405020303"/>
                <a:cs typeface="Georgia" panose="02040502050405020303"/>
              </a:rPr>
              <a:t>“,i,j);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796290">
              <a:lnSpc>
                <a:spcPts val="1740"/>
              </a:lnSpc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scanf(“%d”,&amp;</a:t>
            </a:r>
            <a:r>
              <a:rPr lang="en-IN" sz="1500" spc="-5" dirty="0">
                <a:latin typeface="Georgia" panose="02040502050405020303"/>
                <a:cs typeface="Georgia" panose="02040502050405020303"/>
              </a:rPr>
              <a:t>a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[i][j]);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611505">
              <a:lnSpc>
                <a:spcPts val="174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}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334010">
              <a:lnSpc>
                <a:spcPts val="1740"/>
              </a:lnSpc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printf(“\n”);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334010">
              <a:lnSpc>
                <a:spcPts val="174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}</a:t>
            </a:r>
          </a:p>
          <a:p>
            <a:pPr marL="334010">
              <a:lnSpc>
                <a:spcPts val="1740"/>
              </a:lnSpc>
            </a:pPr>
            <a:endParaRPr sz="1500">
              <a:latin typeface="Georgia" panose="02040502050405020303"/>
              <a:cs typeface="Georgia" panose="02040502050405020303"/>
            </a:endParaRPr>
          </a:p>
          <a:p>
            <a:pPr marL="12700" marR="4585335">
              <a:lnSpc>
                <a:spcPts val="1740"/>
              </a:lnSpc>
              <a:spcBef>
                <a:spcPts val="75"/>
              </a:spcBef>
            </a:pPr>
            <a:endParaRPr sz="150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3" name="object 2"/>
          <p:cNvSpPr txBox="1">
            <a:spLocks noGrp="1"/>
          </p:cNvSpPr>
          <p:nvPr/>
        </p:nvSpPr>
        <p:spPr>
          <a:xfrm>
            <a:off x="2010410" y="412115"/>
            <a:ext cx="7893050" cy="68961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00" dirty="0">
                <a:latin typeface="Times New Roman" panose="02020603050405020304" charset="0"/>
                <a:cs typeface="Times New Roman" panose="02020603050405020304" charset="0"/>
              </a:rPr>
              <a:t>Two-Dimensional </a:t>
            </a:r>
            <a:r>
              <a:rPr spc="-260" dirty="0">
                <a:latin typeface="Times New Roman" panose="02020603050405020304" charset="0"/>
                <a:cs typeface="Times New Roman" panose="02020603050405020304" charset="0"/>
              </a:rPr>
              <a:t>Arrays</a:t>
            </a:r>
            <a:r>
              <a:rPr spc="-185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250" dirty="0">
                <a:latin typeface="Times New Roman" panose="02020603050405020304" charset="0"/>
                <a:cs typeface="Times New Roman" panose="02020603050405020304" charset="0"/>
              </a:rPr>
              <a:t>program </a:t>
            </a:r>
            <a:r>
              <a:rPr lang="en-IN" spc="-250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spc="-2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bject 2"/>
          <p:cNvSpPr txBox="1"/>
          <p:nvPr/>
        </p:nvSpPr>
        <p:spPr>
          <a:xfrm>
            <a:off x="6345555" y="2005330"/>
            <a:ext cx="6108700" cy="3178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indent="0" algn="just">
              <a:lnSpc>
                <a:spcPts val="1770"/>
              </a:lnSpc>
              <a:spcBef>
                <a:spcPts val="100"/>
              </a:spcBef>
              <a:buClr>
                <a:srgbClr val="9F4DA2"/>
              </a:buClr>
              <a:buNone/>
              <a:tabLst>
                <a:tab pos="269240" algn="l"/>
              </a:tabLst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max=a[0][0];  </a:t>
            </a:r>
          </a:p>
          <a:p>
            <a:pPr marL="12065" indent="0" algn="just">
              <a:lnSpc>
                <a:spcPts val="1770"/>
              </a:lnSpc>
              <a:spcBef>
                <a:spcPts val="100"/>
              </a:spcBef>
              <a:buClr>
                <a:srgbClr val="9F4DA2"/>
              </a:buClr>
              <a:buNone/>
              <a:tabLst>
                <a:tab pos="269240" algn="l"/>
              </a:tabLst>
            </a:pPr>
            <a:endParaRPr sz="1500" spc="-5" dirty="0">
              <a:latin typeface="Georgia" panose="02040502050405020303"/>
              <a:cs typeface="Georgia" panose="02040502050405020303"/>
            </a:endParaRPr>
          </a:p>
          <a:p>
            <a:pPr marL="12065" indent="0" algn="just">
              <a:lnSpc>
                <a:spcPts val="1770"/>
              </a:lnSpc>
              <a:spcBef>
                <a:spcPts val="100"/>
              </a:spcBef>
              <a:buClr>
                <a:srgbClr val="9F4DA2"/>
              </a:buClr>
              <a:buNone/>
              <a:tabLst>
                <a:tab pos="269240" algn="l"/>
              </a:tabLst>
            </a:pPr>
            <a:r>
              <a:rPr sz="1500" dirty="0">
                <a:latin typeface="Georgia" panose="02040502050405020303"/>
                <a:cs typeface="Georgia" panose="02040502050405020303"/>
              </a:rPr>
              <a:t>f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o</a:t>
            </a:r>
            <a:r>
              <a:rPr sz="1500" spc="-10" dirty="0">
                <a:latin typeface="Georgia" panose="02040502050405020303"/>
                <a:cs typeface="Georgia" panose="02040502050405020303"/>
              </a:rPr>
              <a:t>r</a:t>
            </a:r>
            <a:r>
              <a:rPr sz="1500" dirty="0">
                <a:latin typeface="Georgia" panose="02040502050405020303"/>
                <a:cs typeface="Georgia" panose="02040502050405020303"/>
              </a:rPr>
              <a:t>(i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=0;i&lt;3;i+</a:t>
            </a:r>
            <a:r>
              <a:rPr sz="1500" spc="-10" dirty="0">
                <a:latin typeface="Georgia" panose="02040502050405020303"/>
                <a:cs typeface="Georgia" panose="02040502050405020303"/>
              </a:rPr>
              <a:t>+</a:t>
            </a:r>
            <a:r>
              <a:rPr sz="1500" dirty="0">
                <a:latin typeface="Georgia" panose="02040502050405020303"/>
                <a:cs typeface="Georgia" panose="02040502050405020303"/>
              </a:rPr>
              <a:t>)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66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{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196850">
              <a:lnSpc>
                <a:spcPts val="1740"/>
              </a:lnSpc>
            </a:pPr>
            <a:r>
              <a:rPr sz="1500" spc="-10" dirty="0">
                <a:latin typeface="Georgia" panose="02040502050405020303"/>
                <a:cs typeface="Georgia" panose="02040502050405020303"/>
              </a:rPr>
              <a:t>for(j=o;j&lt;3;j++)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288290">
              <a:lnSpc>
                <a:spcPts val="174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{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518795">
              <a:lnSpc>
                <a:spcPts val="1740"/>
              </a:lnSpc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if(max&lt;a[i][j])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887095">
              <a:lnSpc>
                <a:spcPts val="1740"/>
              </a:lnSpc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max=a[i][j];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334010">
              <a:lnSpc>
                <a:spcPts val="174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}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740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}</a:t>
            </a:r>
          </a:p>
          <a:p>
            <a:pPr marL="12700">
              <a:lnSpc>
                <a:spcPts val="1740"/>
              </a:lnSpc>
            </a:pPr>
            <a:endParaRPr sz="1500">
              <a:latin typeface="Georgia" panose="02040502050405020303"/>
              <a:cs typeface="Georgia" panose="02040502050405020303"/>
            </a:endParaRPr>
          </a:p>
          <a:p>
            <a:pPr marL="12700" marR="2971165">
              <a:lnSpc>
                <a:spcPts val="1740"/>
              </a:lnSpc>
              <a:spcBef>
                <a:spcPts val="80"/>
              </a:spcBef>
            </a:pPr>
            <a:r>
              <a:rPr sz="1500" dirty="0">
                <a:latin typeface="Georgia" panose="02040502050405020303"/>
                <a:cs typeface="Georgia" panose="02040502050405020303"/>
              </a:rPr>
              <a:t>printf(“Max number is </a:t>
            </a:r>
            <a:r>
              <a:rPr lang="en-IN" sz="1500" dirty="0">
                <a:latin typeface="Georgia" panose="02040502050405020303"/>
                <a:cs typeface="Georgia" panose="02040502050405020303"/>
              </a:rPr>
              <a:t>= %d”, max)</a:t>
            </a:r>
            <a:r>
              <a:rPr sz="1500" spc="-5" dirty="0">
                <a:latin typeface="Georgia" panose="02040502050405020303"/>
                <a:cs typeface="Georgia" panose="02040502050405020303"/>
              </a:rPr>
              <a:t>;  </a:t>
            </a:r>
          </a:p>
          <a:p>
            <a:pPr marL="12700" marR="2971165">
              <a:lnSpc>
                <a:spcPts val="1740"/>
              </a:lnSpc>
              <a:spcBef>
                <a:spcPts val="80"/>
              </a:spcBef>
            </a:pPr>
            <a:r>
              <a:rPr sz="1500" spc="-5" dirty="0">
                <a:latin typeface="Georgia" panose="02040502050405020303"/>
                <a:cs typeface="Georgia" panose="02040502050405020303"/>
              </a:rPr>
              <a:t>getch();</a:t>
            </a:r>
            <a:endParaRPr sz="1500">
              <a:latin typeface="Georgia" panose="02040502050405020303"/>
              <a:cs typeface="Georgia" panose="02040502050405020303"/>
            </a:endParaRPr>
          </a:p>
          <a:p>
            <a:pPr marL="12700">
              <a:lnSpc>
                <a:spcPts val="1695"/>
              </a:lnSpc>
            </a:pPr>
            <a:r>
              <a:rPr sz="1500" dirty="0">
                <a:latin typeface="Georgia" panose="02040502050405020303"/>
                <a:cs typeface="Georgia" panose="02040502050405020303"/>
              </a:rPr>
              <a:t>}</a:t>
            </a:r>
            <a:endParaRPr sz="15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3575" y="1447800"/>
            <a:ext cx="7235825" cy="477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indent="0" algn="just">
              <a:lnSpc>
                <a:spcPct val="100000"/>
              </a:lnSpc>
              <a:spcBef>
                <a:spcPts val="100"/>
              </a:spcBef>
              <a:buClr>
                <a:srgbClr val="9F4DA2"/>
              </a:buClr>
              <a:buNone/>
              <a:tabLst>
                <a:tab pos="269240" algn="l"/>
              </a:tabLst>
            </a:pPr>
            <a:r>
              <a:rPr lang="en-IN" sz="2000" b="1" u="sng">
                <a:latin typeface="Georgia" panose="02040502050405020303"/>
                <a:cs typeface="Georgia" panose="02040502050405020303"/>
              </a:rPr>
              <a:t>OUTPUT</a:t>
            </a:r>
          </a:p>
          <a:p>
            <a:pPr marL="12065" indent="0" algn="just">
              <a:lnSpc>
                <a:spcPct val="100000"/>
              </a:lnSpc>
              <a:spcBef>
                <a:spcPts val="100"/>
              </a:spcBef>
              <a:buClr>
                <a:srgbClr val="9F4DA2"/>
              </a:buClr>
              <a:buNone/>
              <a:tabLst>
                <a:tab pos="269240" algn="l"/>
              </a:tabLst>
            </a:pPr>
            <a:endParaRPr sz="2000">
              <a:latin typeface="Georgia" panose="02040502050405020303"/>
              <a:cs typeface="Georgia" panose="02040502050405020303"/>
            </a:endParaRP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</a:rPr>
              <a:t>Enter</a:t>
            </a:r>
            <a:r>
              <a:rPr sz="2000" spc="-5" dirty="0">
                <a:latin typeface="Georgia" panose="02040502050405020303"/>
                <a:cs typeface="Georgia" panose="02040502050405020303"/>
              </a:rPr>
              <a:t> matrix row</a:t>
            </a:r>
            <a:r>
              <a:rPr sz="2000" dirty="0">
                <a:latin typeface="Georgia" panose="02040502050405020303"/>
                <a:cs typeface="Georgia" panose="02040502050405020303"/>
              </a:rPr>
              <a:t> </a:t>
            </a:r>
            <a:r>
              <a:rPr sz="2000" spc="-5" dirty="0">
                <a:latin typeface="Georgia" panose="02040502050405020303"/>
                <a:cs typeface="Georgia" panose="02040502050405020303"/>
              </a:rPr>
              <a:t>wise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</a:rPr>
              <a:t>a[0][0]=3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a[0][1]=6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a[0][2]=7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a[1][0]=4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a[1][1]=5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a[1][2]=8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a[2][0]=0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a[2][1]=9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lang="en-IN" sz="2000" spc="-5" dirty="0">
                <a:latin typeface="Georgia" panose="02040502050405020303"/>
                <a:cs typeface="Georgia" panose="02040502050405020303"/>
                <a:sym typeface="+mn-ea"/>
              </a:rPr>
              <a:t>a[2][2]=2</a:t>
            </a: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endParaRPr lang="en-IN" sz="2000" spc="-5" dirty="0">
              <a:latin typeface="Georgia" panose="02040502050405020303"/>
              <a:cs typeface="Georgia" panose="02040502050405020303"/>
              <a:sym typeface="+mn-ea"/>
            </a:endParaRPr>
          </a:p>
          <a:p>
            <a:pPr marL="12700" marR="4356735" algn="l">
              <a:lnSpc>
                <a:spcPct val="100000"/>
              </a:lnSpc>
              <a:spcBef>
                <a:spcPts val="80"/>
              </a:spcBef>
            </a:pPr>
            <a:r>
              <a:rPr sz="2000" dirty="0">
                <a:latin typeface="Georgia" panose="02040502050405020303"/>
                <a:cs typeface="Georgia" panose="02040502050405020303"/>
                <a:sym typeface="+mn-ea"/>
              </a:rPr>
              <a:t>Max number is </a:t>
            </a:r>
            <a:r>
              <a:rPr lang="en-IN" sz="2000" dirty="0">
                <a:latin typeface="Georgia" panose="02040502050405020303"/>
                <a:cs typeface="Georgia" panose="02040502050405020303"/>
                <a:sym typeface="+mn-ea"/>
              </a:rPr>
              <a:t>= 9</a:t>
            </a:r>
            <a:endParaRPr sz="2000">
              <a:latin typeface="Georgia" panose="02040502050405020303"/>
              <a:cs typeface="Georgia" panose="02040502050405020303"/>
            </a:endParaRPr>
          </a:p>
          <a:p>
            <a:pPr marL="12700" marR="4585335">
              <a:lnSpc>
                <a:spcPct val="100000"/>
              </a:lnSpc>
              <a:spcBef>
                <a:spcPts val="75"/>
              </a:spcBef>
            </a:pPr>
            <a:endParaRPr sz="200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bject 154"/>
          <p:cNvSpPr txBox="1"/>
          <p:nvPr/>
        </p:nvSpPr>
        <p:spPr>
          <a:xfrm>
            <a:off x="492760" y="1116330"/>
            <a:ext cx="6849745" cy="5034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#i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  <a:r>
              <a:rPr spc="-1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ude</a:t>
            </a:r>
            <a:r>
              <a:rPr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&lt;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h&gt;  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>
              <a:lnSpc>
                <a:spcPct val="100000"/>
              </a:lnSpc>
              <a:spcBef>
                <a:spcPts val="10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main()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>
              <a:lnSpc>
                <a:spcPct val="100000"/>
              </a:lnSpc>
              <a:spcBef>
                <a:spcPts val="10"/>
              </a:spcBef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2767965">
              <a:lnSpc>
                <a:spcPct val="100000"/>
              </a:lnSpc>
              <a:spcBef>
                <a:spcPts val="10"/>
              </a:spcBef>
            </a:pP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mat[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][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,temp[10][10],r,c,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i,j;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5080">
              <a:lnSpc>
                <a:spcPct val="100000"/>
              </a:lnSpc>
              <a:spcBef>
                <a:spcPts val="20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printf(“Enter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rows and col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the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matrix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\n”); </a:t>
            </a:r>
          </a:p>
          <a:p>
            <a:pPr marL="354965" marR="5080">
              <a:lnSpc>
                <a:spcPct val="100000"/>
              </a:lnSpc>
              <a:spcBef>
                <a:spcPts val="20"/>
              </a:spcBef>
            </a:pP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scanf(“%d%d”,&amp;r,&amp;c);</a:t>
            </a:r>
          </a:p>
          <a:p>
            <a:pPr marL="354965" marR="5080">
              <a:lnSpc>
                <a:spcPct val="100000"/>
              </a:lnSpc>
              <a:spcBef>
                <a:spcPts val="20"/>
              </a:spcBef>
            </a:pP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printf(“Enter the elements of matrix”);</a:t>
            </a:r>
          </a:p>
          <a:p>
            <a:pPr marL="354965" marR="5080">
              <a:lnSpc>
                <a:spcPct val="100000"/>
              </a:lnSpc>
              <a:spcBef>
                <a:spcPts val="20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for(i=0;i&lt;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;i++)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583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00">
              <a:lnSpc>
                <a:spcPct val="100000"/>
              </a:lnSpc>
              <a:spcBef>
                <a:spcPts val="10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(j=0;j&lt;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;j++)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840230">
              <a:lnSpc>
                <a:spcPct val="100000"/>
              </a:lnSpc>
              <a:spcBef>
                <a:spcPts val="10"/>
              </a:spcBef>
              <a:tabLst>
                <a:tab pos="2191385" algn="l"/>
              </a:tabLst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scanf(“%d”,&amp;mat[i][j]);</a:t>
            </a:r>
          </a:p>
          <a:p>
            <a:pPr marL="1840230">
              <a:lnSpc>
                <a:spcPct val="100000"/>
              </a:lnSpc>
              <a:spcBef>
                <a:spcPts val="10"/>
              </a:spcBef>
              <a:tabLst>
                <a:tab pos="2191385" algn="l"/>
              </a:tabLst>
            </a:pP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991870">
              <a:lnSpc>
                <a:spcPct val="100000"/>
              </a:lnSpc>
            </a:pP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for(i=0;i&lt;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;i++)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5830">
              <a:lnSpc>
                <a:spcPct val="100000"/>
              </a:lnSpc>
              <a:spcBef>
                <a:spcPts val="10"/>
              </a:spcBef>
              <a:tabLst>
                <a:tab pos="1839595" algn="l"/>
              </a:tabLst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{	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</a:t>
            </a:r>
            <a:r>
              <a:rPr spc="-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(j=0;j&lt;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;j++)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840230">
              <a:lnSpc>
                <a:spcPct val="100000"/>
              </a:lnSpc>
              <a:spcBef>
                <a:spcPts val="20"/>
              </a:spcBef>
            </a:pP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temp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j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][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=mat[i][j]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;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5830">
              <a:lnSpc>
                <a:spcPct val="100000"/>
              </a:lnSpc>
              <a:spcBef>
                <a:spcPts val="1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991870">
              <a:lnSpc>
                <a:spcPct val="100000"/>
              </a:lnSpc>
            </a:pPr>
            <a:endParaRPr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61005" y="287655"/>
            <a:ext cx="69195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altLang="en-US" sz="400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Transpose of a Matrix Program 4</a:t>
            </a:r>
          </a:p>
        </p:txBody>
      </p:sp>
      <p:sp>
        <p:nvSpPr>
          <p:cNvPr id="4" name="object 154"/>
          <p:cNvSpPr txBox="1"/>
          <p:nvPr/>
        </p:nvSpPr>
        <p:spPr>
          <a:xfrm>
            <a:off x="6106795" y="3188335"/>
            <a:ext cx="6720840" cy="3462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b="1" u="sng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Enter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rows and col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the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matrix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3 3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Enter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elements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he </a:t>
            </a: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matrix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	3	5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7	8	9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6	3	1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endParaRPr lang="en-IN"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Transpose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matrix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	7	6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	8	3</a:t>
            </a:r>
          </a:p>
          <a:p>
            <a:pPr marL="12700" marR="3387725">
              <a:lnSpc>
                <a:spcPct val="100000"/>
              </a:lnSpc>
              <a:spcBef>
                <a:spcPts val="90"/>
              </a:spcBef>
            </a:pPr>
            <a:r>
              <a:rPr lang="en-I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5	9	1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857875" y="994410"/>
            <a:ext cx="6600190" cy="20389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4965" marR="991870">
              <a:lnSpc>
                <a:spcPct val="100000"/>
              </a:lnSpc>
            </a:pP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printf(“Transpose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of </a:t>
            </a: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matrix\n”); </a:t>
            </a:r>
            <a:endParaRPr spc="-5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 marR="991870">
              <a:lnSpc>
                <a:spcPct val="100000"/>
              </a:lnSpc>
            </a:pP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for(i=0;i&lt;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;i++)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5830">
              <a:lnSpc>
                <a:spcPct val="100000"/>
              </a:lnSpc>
              <a:spcBef>
                <a:spcPts val="10"/>
              </a:spcBef>
              <a:tabLst>
                <a:tab pos="1839595" algn="l"/>
              </a:tabLst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{	</a:t>
            </a:r>
            <a:r>
              <a:rPr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</a:t>
            </a:r>
            <a:r>
              <a:rPr spc="-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(j=0;j&lt;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;j++)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840230">
              <a:lnSpc>
                <a:spcPct val="100000"/>
              </a:lnSpc>
              <a:spcBef>
                <a:spcPts val="20"/>
              </a:spcBef>
            </a:pP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printf(“%d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\t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”,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temp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][</a:t>
            </a:r>
            <a:r>
              <a:rPr lang="en-IN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j</a:t>
            </a: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]);</a:t>
            </a:r>
            <a:endParaRPr spc="-1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840230">
              <a:lnSpc>
                <a:spcPct val="100000"/>
              </a:lnSpc>
              <a:spcBef>
                <a:spcPts val="20"/>
              </a:spcBef>
            </a:pPr>
            <a:r>
              <a:rPr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printf(“\n”);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925830">
              <a:lnSpc>
                <a:spcPct val="100000"/>
              </a:lnSpc>
              <a:spcBef>
                <a:spcPts val="1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54965">
              <a:lnSpc>
                <a:spcPct val="100000"/>
              </a:lnSpc>
              <a:spcBef>
                <a:spcPts val="10"/>
              </a:spcBef>
            </a:pPr>
            <a:r>
              <a:rPr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6045" y="368300"/>
            <a:ext cx="4878705" cy="504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200" spc="-180" dirty="0">
                <a:latin typeface="Times New Roman" panose="02020603050405020304" charset="0"/>
                <a:cs typeface="Times New Roman" panose="02020603050405020304" charset="0"/>
              </a:rPr>
              <a:t>Sum of 2 matrices Program 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080" y="1194435"/>
            <a:ext cx="5858510" cy="5012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25775">
              <a:lnSpc>
                <a:spcPct val="110000"/>
              </a:lnSpc>
              <a:spcBef>
                <a:spcPts val="100"/>
              </a:spcBef>
            </a:pPr>
            <a:r>
              <a:rPr sz="2200" spc="95" dirty="0">
                <a:latin typeface="Times New Roman" panose="02020603050405020304"/>
                <a:cs typeface="Times New Roman" panose="02020603050405020304"/>
              </a:rPr>
              <a:t>#inclu</a:t>
            </a:r>
            <a:r>
              <a:rPr sz="2200" spc="105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200" spc="40" dirty="0">
                <a:latin typeface="Times New Roman" panose="02020603050405020304"/>
                <a:cs typeface="Times New Roman" panose="02020603050405020304"/>
              </a:rPr>
              <a:t>e&lt;stdio.h&gt;  </a:t>
            </a:r>
          </a:p>
          <a:p>
            <a:pPr marL="12700" marR="3025775">
              <a:lnSpc>
                <a:spcPct val="110000"/>
              </a:lnSpc>
              <a:spcBef>
                <a:spcPts val="100"/>
              </a:spcBef>
            </a:pPr>
            <a:endParaRPr sz="2200" spc="40" dirty="0">
              <a:latin typeface="Times New Roman" panose="02020603050405020304"/>
              <a:cs typeface="Times New Roman" panose="02020603050405020304"/>
            </a:endParaRPr>
          </a:p>
          <a:p>
            <a:pPr marL="12700" marR="3025775">
              <a:lnSpc>
                <a:spcPct val="110000"/>
              </a:lnSpc>
              <a:spcBef>
                <a:spcPts val="100"/>
              </a:spcBef>
            </a:pPr>
            <a:r>
              <a:rPr sz="2200" spc="4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00" spc="45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10" dirty="0">
                <a:latin typeface="Times New Roman" panose="02020603050405020304"/>
                <a:cs typeface="Times New Roman" panose="02020603050405020304"/>
              </a:rPr>
              <a:t>r,c,a[50][50],b[50][50],sum[50][50],i,j;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389255">
              <a:lnSpc>
                <a:spcPct val="110000"/>
              </a:lnSpc>
            </a:pPr>
            <a:r>
              <a:rPr sz="2200" spc="100" dirty="0">
                <a:latin typeface="Times New Roman" panose="02020603050405020304"/>
                <a:cs typeface="Times New Roman" panose="02020603050405020304"/>
              </a:rPr>
              <a:t>printf("\t\n </a:t>
            </a:r>
            <a:r>
              <a:rPr sz="2200" spc="40" dirty="0">
                <a:latin typeface="Times New Roman" panose="02020603050405020304"/>
                <a:cs typeface="Times New Roman" panose="02020603050405020304"/>
              </a:rPr>
              <a:t>Multi-dimensional</a:t>
            </a:r>
            <a:r>
              <a:rPr sz="2200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array");  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printf("\n 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Enter 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lang="en-IN" sz="2200" spc="45" dirty="0">
                <a:latin typeface="Times New Roman" panose="02020603050405020304"/>
                <a:cs typeface="Times New Roman" panose="02020603050405020304"/>
              </a:rPr>
              <a:t>no.of </a:t>
            </a:r>
            <a:r>
              <a:rPr sz="2200" spc="65" dirty="0">
                <a:latin typeface="Times New Roman" panose="02020603050405020304"/>
                <a:cs typeface="Times New Roman" panose="02020603050405020304"/>
              </a:rPr>
              <a:t>row</a:t>
            </a:r>
            <a:r>
              <a:rPr lang="en-IN" sz="2200" spc="65" dirty="0">
                <a:latin typeface="Times New Roman" panose="02020603050405020304"/>
                <a:cs typeface="Times New Roman" panose="02020603050405020304"/>
              </a:rPr>
              <a:t>s: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"); 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scanf("%d",&amp;r);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230630">
              <a:lnSpc>
                <a:spcPct val="110000"/>
              </a:lnSpc>
            </a:pPr>
            <a:r>
              <a:rPr sz="2200" spc="60" dirty="0">
                <a:latin typeface="Times New Roman" panose="02020603050405020304"/>
                <a:cs typeface="Times New Roman" panose="02020603050405020304"/>
              </a:rPr>
              <a:t>printf("\n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Enter 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lang="en-IN" sz="2200" spc="45" dirty="0">
                <a:latin typeface="Times New Roman" panose="02020603050405020304"/>
                <a:cs typeface="Times New Roman" panose="02020603050405020304"/>
              </a:rPr>
              <a:t>no. of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col</a:t>
            </a:r>
            <a:r>
              <a:rPr lang="en-IN" sz="2200" spc="-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:"); 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scanf("%d",&amp;c);</a:t>
            </a:r>
            <a:r>
              <a:rPr lang="en-IN" sz="2200" spc="-105" dirty="0">
                <a:latin typeface="Times New Roman" panose="02020603050405020304"/>
                <a:cs typeface="Times New Roman" panose="02020603050405020304"/>
              </a:rPr>
              <a:t>. 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282700">
              <a:lnSpc>
                <a:spcPts val="3300"/>
              </a:lnSpc>
              <a:spcBef>
                <a:spcPts val="160"/>
              </a:spcBef>
            </a:pPr>
            <a:r>
              <a:rPr sz="2200" spc="60" dirty="0">
                <a:latin typeface="Times New Roman" panose="02020603050405020304"/>
                <a:cs typeface="Times New Roman" panose="02020603050405020304"/>
              </a:rPr>
              <a:t>printf("\n</a:t>
            </a:r>
            <a:r>
              <a:rPr lang="en-IN" sz="2200" spc="60" dirty="0">
                <a:latin typeface="Times New Roman" panose="02020603050405020304"/>
                <a:cs typeface="Times New Roman" panose="02020603050405020304"/>
              </a:rPr>
              <a:t>Enter e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lement</a:t>
            </a:r>
            <a:r>
              <a:rPr lang="en-IN" sz="2200" spc="-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matrix </a:t>
            </a:r>
            <a:r>
              <a:rPr lang="en-IN" sz="2200" spc="-2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");  </a:t>
            </a:r>
          </a:p>
          <a:p>
            <a:pPr marL="12700" marR="1282700">
              <a:lnSpc>
                <a:spcPts val="3300"/>
              </a:lnSpc>
              <a:spcBef>
                <a:spcPts val="160"/>
              </a:spcBef>
            </a:pP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for(i=0;i&lt;r;++i)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for(j=0;j&lt;c;++j)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2"/>
          <p:cNvSpPr txBox="1"/>
          <p:nvPr/>
        </p:nvSpPr>
        <p:spPr>
          <a:xfrm>
            <a:off x="6417310" y="1538605"/>
            <a:ext cx="4764405" cy="49707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200" spc="60" dirty="0">
                <a:latin typeface="Times New Roman" panose="02020603050405020304"/>
                <a:cs typeface="Times New Roman" panose="02020603050405020304"/>
              </a:rPr>
              <a:t>printf("\n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a[%d][%d]:",i+1,j+1);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scanf("%d",&amp;a[i][j]);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20000"/>
              </a:lnSpc>
            </a:pPr>
            <a:r>
              <a:rPr sz="2200" spc="60" dirty="0">
                <a:latin typeface="Times New Roman" panose="02020603050405020304"/>
                <a:cs typeface="Times New Roman" panose="02020603050405020304"/>
              </a:rPr>
              <a:t>printf("\n</a:t>
            </a:r>
            <a:r>
              <a:rPr lang="en-IN" sz="2200" spc="60" dirty="0">
                <a:latin typeface="Times New Roman" panose="02020603050405020304"/>
                <a:cs typeface="Times New Roman" panose="02020603050405020304"/>
              </a:rPr>
              <a:t>Enter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2200" spc="6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lement</a:t>
            </a:r>
            <a:r>
              <a:rPr lang="en-IN" sz="2200" spc="-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3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matrix </a:t>
            </a:r>
            <a:r>
              <a:rPr lang="en-IN" sz="2200" spc="-2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");  </a:t>
            </a:r>
          </a:p>
          <a:p>
            <a:pPr marL="12700" marR="5080">
              <a:lnSpc>
                <a:spcPct val="120000"/>
              </a:lnSpc>
            </a:pP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for(i=0;i&lt;r;++i)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for(j=0;j&lt;c;++j)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60" dirty="0">
                <a:latin typeface="Times New Roman" panose="02020603050405020304"/>
                <a:cs typeface="Times New Roman" panose="02020603050405020304"/>
              </a:rPr>
              <a:t>printf("\n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b[%d][%d]:",i+1,j+1);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scanf("%d",&amp;b[i][j]);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77165">
              <a:lnSpc>
                <a:spcPct val="120000"/>
              </a:lnSpc>
              <a:spcBef>
                <a:spcPts val="5"/>
              </a:spcBef>
            </a:pP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89935" y="259080"/>
            <a:ext cx="4940300" cy="67875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spc="60" dirty="0">
                <a:latin typeface="Times New Roman" panose="02020603050405020304"/>
                <a:cs typeface="Times New Roman" panose="02020603050405020304"/>
                <a:sym typeface="+mn-ea"/>
              </a:rPr>
              <a:t>printf("\n </a:t>
            </a:r>
            <a:r>
              <a:rPr sz="2200" spc="-15" dirty="0">
                <a:latin typeface="Times New Roman" panose="02020603050405020304"/>
                <a:cs typeface="Times New Roman" panose="02020603050405020304"/>
                <a:sym typeface="+mn-ea"/>
              </a:rPr>
              <a:t>Addition </a:t>
            </a:r>
            <a:r>
              <a:rPr sz="2200" spc="-4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200" spc="-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  <a:sym typeface="+mn-ea"/>
              </a:rPr>
              <a:t>matrix"); </a:t>
            </a: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spc="5" dirty="0">
                <a:latin typeface="Times New Roman" panose="02020603050405020304"/>
                <a:cs typeface="Times New Roman" panose="02020603050405020304"/>
                <a:sym typeface="+mn-ea"/>
              </a:rPr>
              <a:t>for(i=0;i&lt;r;</a:t>
            </a:r>
            <a:r>
              <a:rPr sz="22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200" spc="-145" dirty="0">
                <a:latin typeface="Times New Roman" panose="02020603050405020304"/>
                <a:cs typeface="Times New Roman" panose="02020603050405020304"/>
                <a:sym typeface="+mn-ea"/>
              </a:rPr>
              <a:t>i++)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01600">
              <a:lnSpc>
                <a:spcPct val="120000"/>
              </a:lnSpc>
            </a:pP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for(j=0;j&lt;c;j++)  </a:t>
            </a:r>
          </a:p>
          <a:p>
            <a:pPr marL="12700" marR="101600">
              <a:lnSpc>
                <a:spcPct val="120000"/>
              </a:lnSpc>
            </a:pPr>
            <a:r>
              <a:rPr lang="en-IN" sz="2200" spc="-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30" dirty="0">
                <a:latin typeface="Times New Roman" panose="02020603050405020304"/>
                <a:cs typeface="Times New Roman" panose="02020603050405020304"/>
              </a:rPr>
              <a:t>su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[i]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[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j]=a[i][j]+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[i][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];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for(i=0;i&lt;r;i++)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 marR="1074420">
              <a:lnSpc>
                <a:spcPts val="3600"/>
              </a:lnSpc>
              <a:spcBef>
                <a:spcPts val="220"/>
              </a:spcBef>
            </a:pPr>
            <a:r>
              <a:rPr lang="en-IN" sz="2200" spc="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5" dirty="0">
                <a:latin typeface="Times New Roman" panose="02020603050405020304"/>
                <a:cs typeface="Times New Roman" panose="02020603050405020304"/>
              </a:rPr>
              <a:t>printf("\n");  </a:t>
            </a:r>
          </a:p>
          <a:p>
            <a:pPr marL="12700" marR="1074420">
              <a:lnSpc>
                <a:spcPts val="3600"/>
              </a:lnSpc>
              <a:spcBef>
                <a:spcPts val="220"/>
              </a:spcBef>
            </a:pPr>
            <a:r>
              <a:rPr lang="en-IN" sz="2200" spc="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for(j=0;j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c;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200" spc="-190" dirty="0">
                <a:latin typeface="Times New Roman" panose="02020603050405020304"/>
                <a:cs typeface="Times New Roman" panose="02020603050405020304"/>
              </a:rPr>
              <a:t>++)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lang="en-IN" sz="22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{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IN" sz="2200" spc="-20" dirty="0">
                <a:latin typeface="Times New Roman" panose="02020603050405020304"/>
                <a:cs typeface="Times New Roman" panose="02020603050405020304"/>
              </a:rPr>
              <a:t>		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printf("\t%d",sum[i][j]);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IN" sz="2200" spc="-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IN" sz="2200" spc="-5" dirty="0">
                <a:latin typeface="Times New Roman" panose="02020603050405020304"/>
                <a:cs typeface="Times New Roman" panose="02020603050405020304"/>
              </a:rPr>
              <a:t>return 0;</a:t>
            </a:r>
            <a:endParaRPr sz="2200" spc="-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IN" sz="2200" spc="-5" dirty="0">
                <a:latin typeface="Times New Roman" panose="02020603050405020304"/>
                <a:cs typeface="Times New Roman" panose="02020603050405020304"/>
              </a:rPr>
              <a:t>}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sz="2200" spc="-5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6995160" y="1683889"/>
            <a:ext cx="5560060" cy="349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lang="en-IN"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nter e</a:t>
            </a:r>
            <a:r>
              <a:rPr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lement</a:t>
            </a:r>
            <a:r>
              <a:rPr lang="en-IN"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20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50" dirty="0">
                <a:latin typeface="Times New Roman" panose="02020603050405020304"/>
                <a:cs typeface="Times New Roman" panose="02020603050405020304"/>
                <a:sym typeface="+mn-ea"/>
              </a:rPr>
              <a:t>of </a:t>
            </a:r>
            <a:r>
              <a:rPr sz="2000" spc="-35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65" dirty="0">
                <a:latin typeface="Times New Roman" panose="02020603050405020304"/>
                <a:cs typeface="Times New Roman" panose="02020603050405020304"/>
                <a:sym typeface="+mn-ea"/>
              </a:rPr>
              <a:t>matrix </a:t>
            </a:r>
            <a:r>
              <a:rPr lang="en-IN" sz="2000" spc="65" dirty="0">
                <a:latin typeface="Times New Roman" panose="02020603050405020304"/>
                <a:cs typeface="Times New Roman" panose="02020603050405020304"/>
                <a:sym typeface="+mn-ea"/>
              </a:rPr>
              <a:t>B</a:t>
            </a:r>
          </a:p>
          <a:p>
            <a:pPr marL="12700" marR="2426335" indent="0">
              <a:lnSpc>
                <a:spcPct val="120000"/>
              </a:lnSpc>
              <a:buNone/>
            </a:pP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a[1][1]:</a:t>
            </a:r>
            <a:r>
              <a:rPr lang="en-IN" sz="2000" dirty="0">
                <a:latin typeface="Times New Roman" panose="02020603050405020304"/>
                <a:cs typeface="Times New Roman" panose="02020603050405020304"/>
                <a:sym typeface="+mn-ea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a[1][2]:</a:t>
            </a:r>
            <a:r>
              <a:rPr lang="en-IN" sz="2000" dirty="0">
                <a:latin typeface="Times New Roman" panose="02020603050405020304"/>
                <a:cs typeface="Times New Roman" panose="02020603050405020304"/>
                <a:sym typeface="+mn-ea"/>
              </a:rPr>
              <a:t>8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5"/>
              </a:spcBef>
              <a:buNone/>
            </a:pP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a[2][1]:</a:t>
            </a:r>
            <a:r>
              <a:rPr lang="en-IN" sz="2000" dirty="0">
                <a:latin typeface="Times New Roman" panose="02020603050405020304"/>
                <a:cs typeface="Times New Roman" panose="02020603050405020304"/>
                <a:sym typeface="+mn-ea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a[2][2]:</a:t>
            </a:r>
            <a:r>
              <a:rPr lang="en-IN" sz="2000" spc="5" dirty="0">
                <a:latin typeface="Times New Roman" panose="02020603050405020304"/>
                <a:cs typeface="Times New Roman" panose="02020603050405020304"/>
                <a:sym typeface="+mn-ea"/>
              </a:rPr>
              <a:t>11</a:t>
            </a: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endParaRPr sz="2000" spc="5" dirty="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sz="2000" spc="-15" dirty="0">
                <a:latin typeface="Times New Roman" panose="02020603050405020304"/>
                <a:cs typeface="Times New Roman" panose="02020603050405020304"/>
                <a:sym typeface="+mn-ea"/>
              </a:rPr>
              <a:t>Addition </a:t>
            </a:r>
            <a:r>
              <a:rPr sz="2000" spc="-45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000" spc="-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20" dirty="0">
                <a:latin typeface="Times New Roman" panose="02020603050405020304"/>
                <a:cs typeface="Times New Roman" panose="02020603050405020304"/>
                <a:sym typeface="+mn-ea"/>
              </a:rPr>
              <a:t>matrix</a:t>
            </a: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lang="en-IN" sz="2000" spc="5" dirty="0">
                <a:latin typeface="Times New Roman" panose="02020603050405020304"/>
                <a:cs typeface="Times New Roman" panose="02020603050405020304"/>
              </a:rPr>
              <a:t>5	12</a:t>
            </a: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lang="en-IN" sz="2000" spc="5" dirty="0">
                <a:latin typeface="Times New Roman" panose="02020603050405020304"/>
                <a:cs typeface="Times New Roman" panose="02020603050405020304"/>
              </a:rPr>
              <a:t>8	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4175" y="1172714"/>
            <a:ext cx="5560060" cy="4173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0">
              <a:lnSpc>
                <a:spcPct val="120000"/>
              </a:lnSpc>
              <a:spcBef>
                <a:spcPts val="95"/>
              </a:spcBef>
              <a:buNone/>
            </a:pPr>
            <a:r>
              <a:rPr lang="en-IN" sz="2000" b="1" u="sng" spc="85" dirty="0">
                <a:latin typeface="Times New Roman" panose="02020603050405020304"/>
                <a:cs typeface="Times New Roman" panose="02020603050405020304"/>
                <a:sym typeface="+mn-ea"/>
              </a:rPr>
              <a:t>OUTPUT</a:t>
            </a:r>
          </a:p>
          <a:p>
            <a:pPr marL="12700" marR="5080" indent="0">
              <a:lnSpc>
                <a:spcPct val="120000"/>
              </a:lnSpc>
              <a:spcBef>
                <a:spcPts val="95"/>
              </a:spcBef>
              <a:buNone/>
            </a:pPr>
            <a:endParaRPr lang="en-IN" sz="2000" spc="85" dirty="0">
              <a:latin typeface="Times New Roman" panose="02020603050405020304"/>
              <a:cs typeface="Times New Roman" panose="02020603050405020304"/>
            </a:endParaRPr>
          </a:p>
          <a:p>
            <a:pPr marL="12700" marR="5080" indent="0">
              <a:lnSpc>
                <a:spcPct val="120000"/>
              </a:lnSpc>
              <a:spcBef>
                <a:spcPts val="95"/>
              </a:spcBef>
              <a:buNone/>
            </a:pPr>
            <a:r>
              <a:rPr sz="2000" spc="25" dirty="0">
                <a:latin typeface="Times New Roman" panose="02020603050405020304"/>
                <a:cs typeface="Times New Roman" panose="02020603050405020304"/>
              </a:rPr>
              <a:t>Multidimensional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85" dirty="0">
                <a:latin typeface="Times New Roman" panose="02020603050405020304"/>
                <a:cs typeface="Times New Roman" panose="02020603050405020304"/>
              </a:rPr>
              <a:t>array  </a:t>
            </a:r>
          </a:p>
          <a:p>
            <a:pPr marL="12700" marR="5080" indent="0">
              <a:lnSpc>
                <a:spcPct val="120000"/>
              </a:lnSpc>
              <a:spcBef>
                <a:spcPts val="95"/>
              </a:spcBef>
              <a:buNone/>
            </a:pPr>
            <a:r>
              <a:rPr sz="2000" spc="-5" dirty="0">
                <a:latin typeface="Times New Roman" panose="02020603050405020304"/>
                <a:cs typeface="Times New Roman" panose="02020603050405020304"/>
              </a:rPr>
              <a:t>Enter </a:t>
            </a:r>
            <a:r>
              <a:rPr sz="2000" spc="6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lang="en-IN" sz="2000" spc="60" dirty="0">
                <a:latin typeface="Times New Roman" panose="02020603050405020304"/>
                <a:cs typeface="Times New Roman" panose="02020603050405020304"/>
              </a:rPr>
              <a:t>no. of </a:t>
            </a:r>
            <a:r>
              <a:rPr sz="2000" spc="80" dirty="0">
                <a:latin typeface="Times New Roman" panose="02020603050405020304"/>
                <a:cs typeface="Times New Roman" panose="02020603050405020304"/>
              </a:rPr>
              <a:t>row</a:t>
            </a:r>
            <a:r>
              <a:rPr lang="en-IN" sz="2000" spc="8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spc="40" dirty="0">
                <a:latin typeface="Times New Roman" panose="02020603050405020304"/>
                <a:cs typeface="Times New Roman" panose="02020603050405020304"/>
              </a:rPr>
              <a:t>:2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5"/>
              </a:spcBef>
              <a:buNone/>
            </a:pP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Enter </a:t>
            </a:r>
            <a:r>
              <a:rPr sz="2000" spc="5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lang="en-IN" sz="2000" spc="55" dirty="0">
                <a:latin typeface="Times New Roman" panose="02020603050405020304"/>
                <a:cs typeface="Times New Roman" panose="02020603050405020304"/>
              </a:rPr>
              <a:t>no. of 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col</a:t>
            </a:r>
            <a:r>
              <a:rPr lang="en-IN" sz="2000" spc="-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spc="35" dirty="0">
                <a:latin typeface="Times New Roman" panose="02020603050405020304"/>
                <a:cs typeface="Times New Roman" panose="02020603050405020304"/>
              </a:rPr>
              <a:t>:2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indent="0">
              <a:lnSpc>
                <a:spcPct val="100000"/>
              </a:lnSpc>
              <a:buNone/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2426335" indent="0">
              <a:lnSpc>
                <a:spcPct val="120000"/>
              </a:lnSpc>
              <a:buNone/>
            </a:pP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IN" sz="2000" spc="-25" dirty="0">
                <a:latin typeface="Times New Roman" panose="02020603050405020304"/>
                <a:cs typeface="Times New Roman" panose="02020603050405020304"/>
              </a:rPr>
              <a:t>nter e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lement</a:t>
            </a:r>
            <a:r>
              <a:rPr lang="en-IN" sz="2000" spc="-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000" spc="-3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65" dirty="0">
                <a:latin typeface="Times New Roman" panose="02020603050405020304"/>
                <a:cs typeface="Times New Roman" panose="02020603050405020304"/>
              </a:rPr>
              <a:t>matrix </a:t>
            </a:r>
            <a:r>
              <a:rPr lang="en-IN" sz="2000" spc="6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a[1][1]:1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a[1][2]:4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5"/>
              </a:spcBef>
              <a:buNone/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a[2][1]:6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720"/>
              </a:spcBef>
              <a:buNone/>
            </a:pPr>
            <a:r>
              <a:rPr sz="2000" spc="5" dirty="0">
                <a:latin typeface="Times New Roman" panose="02020603050405020304"/>
                <a:cs typeface="Times New Roman" panose="02020603050405020304"/>
              </a:rPr>
              <a:t>a[2][2]:3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095" y="284480"/>
            <a:ext cx="9875520" cy="1356360"/>
          </a:xfrm>
        </p:spPr>
        <p:txBody>
          <a:bodyPr/>
          <a:lstStyle/>
          <a:p>
            <a:pPr algn="ctr"/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Matrix multiplication in C 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Program 6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080" y="3789045"/>
            <a:ext cx="6581775" cy="24682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68475" y="1640840"/>
            <a:ext cx="865441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Matrix multiplication in C language to calculate the product of two matrices (two-dimensional arrays).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A user inputs the orders and elements of the matrices.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If the multiplication isn't possible, an error message is displayed.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No. of columns in matrix A should be equal to No. of rows in Matrix 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790575"/>
            <a:ext cx="9872980" cy="59944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IN" altLang="en-US" sz="2000" b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Program: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#include &lt;stdio.h&gt;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int main()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int m, n, p, q,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k;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int first[10][10], second[10][10], multiply[10][10];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printf("Enter number of rows and columns of first matrix\n");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scanf("%d%d", &amp;m, &amp;n);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printf("Enter elements of first matrix\n");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&lt; m;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++)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&lt; n;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++)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scanf("%d", &amp;first[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25550"/>
            <a:ext cx="9872980" cy="487045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printf("Enter number of rows and columns of second matrix\n");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scanf("%d%d", &amp;p, &amp;q);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if (n != p)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printf("The multiplication isn't possible.\n");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else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{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printf("Enter elements of second matrix\n");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&lt; p;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++)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&lt; q;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++)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scanf("%d", &amp;second[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360" y="814070"/>
            <a:ext cx="5563235" cy="546862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&lt; m;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++)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{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&lt; q;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++) 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{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multiply[i][j]=0;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for (k = 0; k &lt; p; k++) 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{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 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multiply[i][j]+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= first[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][k]*second[k][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];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}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}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printf(“\n”);</a:t>
            </a:r>
            <a:endPara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</a:t>
            </a:r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6514465" y="923290"/>
            <a:ext cx="5563235" cy="5468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printf("Product of the matrices:\n");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&lt; m;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++) {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for (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= 0;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&lt; q; 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++)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printf("%d\t", multiply[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][</a:t>
            </a:r>
            <a:r>
              <a:rPr lang="en-IN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]);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printf("\n");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}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}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return 0;</a:t>
            </a:r>
          </a:p>
          <a:p>
            <a:pPr marL="45720" indent="0">
              <a:buNone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6910" y="1053465"/>
            <a:ext cx="7673340" cy="531749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563745" y="532765"/>
            <a:ext cx="12414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altLang="en-US" sz="2000" b="1" u="sng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1365" y="307975"/>
            <a:ext cx="761682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Multi-Dimensional</a:t>
            </a:r>
            <a:r>
              <a:rPr spc="-185" dirty="0"/>
              <a:t> </a:t>
            </a:r>
            <a:r>
              <a:rPr spc="-28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0000" y="1885315"/>
            <a:ext cx="9342120" cy="331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marR="5080" indent="-342900" algn="just">
              <a:lnSpc>
                <a:spcPct val="106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72080" algn="l"/>
                <a:tab pos="5118735" algn="l"/>
                <a:tab pos="6943090" algn="l"/>
              </a:tabLst>
            </a:pPr>
            <a:r>
              <a:rPr sz="2200" spc="-135" dirty="0">
                <a:latin typeface="Times New Roman" panose="02020603050405020304"/>
                <a:cs typeface="Times New Roman" panose="02020603050405020304"/>
              </a:rPr>
              <a:t>C </a:t>
            </a:r>
            <a:r>
              <a:rPr sz="2200" spc="50" dirty="0">
                <a:latin typeface="Times New Roman" panose="02020603050405020304"/>
                <a:cs typeface="Times New Roman" panose="02020603050405020304"/>
              </a:rPr>
              <a:t>programmin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g langu</a:t>
            </a:r>
            <a:r>
              <a:rPr sz="2200" spc="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ge </a:t>
            </a:r>
            <a:r>
              <a:rPr sz="2200" spc="50" dirty="0">
                <a:latin typeface="Times New Roman" panose="02020603050405020304"/>
                <a:cs typeface="Times New Roman" panose="02020603050405020304"/>
              </a:rPr>
              <a:t>sup</a:t>
            </a:r>
            <a:r>
              <a:rPr sz="2200" spc="6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spc="6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s </a:t>
            </a:r>
            <a:r>
              <a:rPr sz="2200" spc="20" dirty="0">
                <a:latin typeface="Times New Roman" panose="02020603050405020304"/>
                <a:cs typeface="Times New Roman" panose="02020603050405020304"/>
              </a:rPr>
              <a:t>multidimensional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Arrays.</a:t>
            </a:r>
          </a:p>
          <a:p>
            <a:pPr marL="698500" marR="5080" indent="-342900" algn="just">
              <a:lnSpc>
                <a:spcPct val="106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72080" algn="l"/>
                <a:tab pos="5118735" algn="l"/>
                <a:tab pos="6943090" algn="l"/>
              </a:tabLst>
            </a:pPr>
            <a:r>
              <a:rPr sz="2200" spc="15" dirty="0">
                <a:latin typeface="Times New Roman" panose="02020603050405020304"/>
                <a:cs typeface="Times New Roman" panose="02020603050405020304"/>
              </a:rPr>
              <a:t>Multi dimensional 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arrays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have </a:t>
            </a:r>
            <a:r>
              <a:rPr sz="2200" spc="35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2200" spc="85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22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one subscript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variables.</a:t>
            </a:r>
          </a:p>
          <a:p>
            <a:pPr marL="698500" marR="5080" indent="-342900" algn="just">
              <a:lnSpc>
                <a:spcPct val="106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72080" algn="l"/>
                <a:tab pos="5118735" algn="l"/>
                <a:tab pos="694309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If n&gt;=2,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then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call that array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as </a:t>
            </a:r>
            <a:r>
              <a:rPr sz="2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multi-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dimensional array. </a:t>
            </a:r>
          </a:p>
          <a:p>
            <a:pPr marL="698500" marR="5080" indent="-342900" algn="just">
              <a:lnSpc>
                <a:spcPct val="106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72080" algn="l"/>
                <a:tab pos="5118735" algn="l"/>
                <a:tab pos="6943090" algn="l"/>
              </a:tabLst>
            </a:pPr>
            <a:r>
              <a:rPr sz="2200" spc="15" dirty="0">
                <a:latin typeface="Times New Roman" panose="02020603050405020304"/>
                <a:cs typeface="Times New Roman" panose="02020603050405020304"/>
              </a:rPr>
              <a:t>Multi dimensional </a:t>
            </a:r>
            <a:r>
              <a:rPr sz="2200" spc="70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also </a:t>
            </a:r>
            <a:r>
              <a:rPr sz="2200" spc="10" dirty="0">
                <a:latin typeface="Times New Roman" panose="02020603050405020304"/>
                <a:cs typeface="Times New Roman" panose="02020603050405020304"/>
              </a:rPr>
              <a:t>called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matrix.</a:t>
            </a:r>
          </a:p>
          <a:p>
            <a:pPr marL="698500" marR="5080" indent="-342900" algn="just">
              <a:lnSpc>
                <a:spcPct val="106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72080" algn="l"/>
                <a:tab pos="5118735" algn="l"/>
                <a:tab pos="6943090" algn="l"/>
              </a:tabLst>
            </a:pPr>
            <a:r>
              <a:rPr sz="2200" spc="15" dirty="0">
                <a:latin typeface="Times New Roman" panose="02020603050405020304"/>
                <a:cs typeface="Times New Roman" panose="02020603050405020304"/>
              </a:rPr>
              <a:t>Multi dimensional 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arrays </a:t>
            </a:r>
            <a:r>
              <a:rPr sz="2200" spc="65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lang="en-IN" sz="2200" spc="65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22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70" dirty="0">
                <a:latin typeface="Times New Roman" panose="02020603050405020304"/>
                <a:cs typeface="Times New Roman" panose="02020603050405020304"/>
              </a:rPr>
              <a:t>array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lang="en-IN" sz="2200" spc="-3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200" spc="-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arrays.</a:t>
            </a:r>
          </a:p>
          <a:p>
            <a:pPr marL="698500" marR="5080" indent="-342900" algn="just">
              <a:lnSpc>
                <a:spcPct val="106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72080" algn="l"/>
                <a:tab pos="5118735" algn="l"/>
                <a:tab pos="6943090" algn="l"/>
              </a:tabLst>
            </a:pP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example, suppose we  want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 store 5 students marks information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 two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different exams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carried out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term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4 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different subjects, this data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can be stored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by  using </a:t>
            </a:r>
            <a:r>
              <a:rPr sz="2200" spc="-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3-dimensional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</a:t>
            </a:r>
            <a:r>
              <a:rPr sz="2200" spc="7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2200" spc="-1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like, </a:t>
            </a:r>
            <a:r>
              <a:rPr sz="2200" spc="-1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 </a:t>
            </a:r>
            <a:r>
              <a:rPr sz="2200" spc="16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marks[5][2][4];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698500" marR="5080" indent="-342900" algn="just">
              <a:lnSpc>
                <a:spcPct val="106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672080" algn="l"/>
                <a:tab pos="5118735" algn="l"/>
                <a:tab pos="6943090" algn="l"/>
              </a:tabLst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245" y="541338"/>
            <a:ext cx="707390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26615" algn="l"/>
              </a:tabLst>
            </a:pPr>
            <a:r>
              <a:rPr sz="4000" spc="-210" dirty="0">
                <a:latin typeface="Times New Roman" panose="02020603050405020304" charset="0"/>
                <a:cs typeface="Times New Roman" panose="02020603050405020304" charset="0"/>
              </a:rPr>
              <a:t>Declaration </a:t>
            </a:r>
            <a:r>
              <a:rPr sz="4000" spc="-240" dirty="0"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4000" spc="-204" dirty="0">
                <a:latin typeface="Times New Roman" panose="02020603050405020304" charset="0"/>
                <a:cs typeface="Times New Roman" panose="02020603050405020304" charset="0"/>
              </a:rPr>
              <a:t>Multidimensional</a:t>
            </a:r>
            <a:r>
              <a:rPr sz="4000" spc="-17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spc="-195" dirty="0">
                <a:latin typeface="Times New Roman" panose="02020603050405020304" charset="0"/>
                <a:cs typeface="Times New Roman" panose="02020603050405020304" charset="0"/>
              </a:rPr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855" y="1633220"/>
            <a:ext cx="8681085" cy="267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0" marR="6985" indent="-342900" algn="just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sz="2200" spc="-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multidimensional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declared </a:t>
            </a:r>
            <a:r>
              <a:rPr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using </a:t>
            </a:r>
            <a:r>
              <a:rPr sz="22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following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syntax</a:t>
            </a:r>
          </a:p>
          <a:p>
            <a:pPr marL="698500" marR="6985" indent="-342900" algn="just">
              <a:lnSpc>
                <a:spcPct val="103000"/>
              </a:lnSpc>
              <a:buFont typeface="Arial" panose="020B0604020202020204" pitchFamily="34" charset="0"/>
              <a:buChar char="•"/>
            </a:pPr>
            <a:r>
              <a:rPr sz="2200" b="1" spc="-3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Syntax: </a:t>
            </a:r>
            <a:r>
              <a:rPr lang="en-IN" sz="2200" b="1" spc="-30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  </a:t>
            </a:r>
            <a:r>
              <a:rPr sz="2200" b="1" spc="-23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data_type  </a:t>
            </a:r>
            <a:r>
              <a:rPr sz="2200" b="1" spc="-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array_name[d1][d2][d3][d4]....[dn];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98500" marR="5080" indent="-342900" algn="just">
              <a:lnSpc>
                <a:spcPct val="102000"/>
              </a:lnSpc>
              <a:spcBef>
                <a:spcPts val="920"/>
              </a:spcBef>
              <a:buFont typeface="Arial" panose="020B0604020202020204" pitchFamily="34" charset="0"/>
              <a:buChar char="•"/>
            </a:pPr>
            <a:r>
              <a:rPr sz="2200" spc="-7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Above </a:t>
            </a:r>
            <a:r>
              <a:rPr sz="2200" spc="2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statement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will </a:t>
            </a:r>
            <a:r>
              <a:rPr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declare </a:t>
            </a:r>
            <a:r>
              <a:rPr sz="2200" spc="9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on </a:t>
            </a:r>
            <a:r>
              <a:rPr sz="2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 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dimensions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name </a:t>
            </a:r>
            <a:r>
              <a:rPr sz="2200" spc="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array_name, </a:t>
            </a:r>
            <a:r>
              <a:rPr sz="22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where </a:t>
            </a:r>
            <a:r>
              <a:rPr sz="2200" spc="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each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of </a:t>
            </a:r>
            <a:r>
              <a:rPr sz="2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type</a:t>
            </a:r>
            <a:r>
              <a:rPr sz="2200" spc="-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data_type.</a:t>
            </a:r>
            <a:endParaRPr sz="2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98500" marR="7620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200" spc="-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</a:t>
            </a:r>
            <a:r>
              <a:rPr sz="22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maximum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number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of </a:t>
            </a:r>
            <a:r>
              <a:rPr sz="2200" spc="1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elements </a:t>
            </a:r>
            <a:r>
              <a:rPr sz="2200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that </a:t>
            </a:r>
            <a:r>
              <a:rPr sz="2200" spc="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can </a:t>
            </a:r>
            <a:r>
              <a:rPr sz="2200" spc="-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  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stored </a:t>
            </a:r>
            <a:r>
              <a:rPr sz="2200" spc="5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</a:t>
            </a:r>
            <a:r>
              <a:rPr sz="2200" spc="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</a:t>
            </a:r>
            <a:r>
              <a:rPr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multi</a:t>
            </a:r>
            <a:r>
              <a:rPr lang="en-IN" sz="2200" spc="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sz="2200" spc="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dimensional </a:t>
            </a:r>
            <a:r>
              <a:rPr sz="2200" spc="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 </a:t>
            </a:r>
            <a:r>
              <a:rPr sz="2200" spc="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array_name </a:t>
            </a:r>
            <a:r>
              <a:rPr sz="2200" spc="-4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is 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size1 </a:t>
            </a:r>
            <a:r>
              <a:rPr sz="2200" spc="-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  </a:t>
            </a:r>
            <a:r>
              <a:rPr sz="2200" spc="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size2 </a:t>
            </a:r>
            <a:r>
              <a:rPr sz="2200" spc="-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</a:t>
            </a:r>
            <a:r>
              <a:rPr sz="2200" spc="-2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size3....sizeN.</a:t>
            </a:r>
          </a:p>
          <a:p>
            <a:pPr marL="698500" marR="7620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200" spc="-2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sz="2200" spc="-13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229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r>
              <a:rPr lang="en-IN" sz="2200" spc="-229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 c</a:t>
            </a:r>
            <a:r>
              <a:rPr sz="2200" spc="-16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har</a:t>
            </a:r>
            <a:r>
              <a:rPr sz="2200" spc="-16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200" spc="-114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cube[50][60][30];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2689225"/>
            <a:ext cx="9875520" cy="1356360"/>
          </a:xfrm>
        </p:spPr>
        <p:txBody>
          <a:bodyPr/>
          <a:lstStyle/>
          <a:p>
            <a:pPr algn="ctr"/>
            <a:r>
              <a:rPr lang="en-IN" altLang="en-US" b="1"/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8</TotalTime>
  <Words>4035</Words>
  <Application>Microsoft Office PowerPoint</Application>
  <PresentationFormat>Widescreen</PresentationFormat>
  <Paragraphs>481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Corbel</vt:lpstr>
      <vt:lpstr>Georgia</vt:lpstr>
      <vt:lpstr>Times New Roman</vt:lpstr>
      <vt:lpstr>Wingdings</vt:lpstr>
      <vt:lpstr>Wingdings 2</vt:lpstr>
      <vt:lpstr>Basis</vt:lpstr>
      <vt:lpstr>arrays</vt:lpstr>
      <vt:lpstr>Agenda</vt:lpstr>
      <vt:lpstr>Arrays</vt:lpstr>
      <vt:lpstr>Arrays</vt:lpstr>
      <vt:lpstr>Advantages &amp; Disadvantages of Array</vt:lpstr>
      <vt:lpstr>Array Terminologies</vt:lpstr>
      <vt:lpstr>Array Declaration</vt:lpstr>
      <vt:lpstr>Array Declaration </vt:lpstr>
      <vt:lpstr>Array Declaration</vt:lpstr>
      <vt:lpstr>Array Initialization</vt:lpstr>
      <vt:lpstr>Array Initialization</vt:lpstr>
      <vt:lpstr>Array Initialization</vt:lpstr>
      <vt:lpstr>One-dimensional Array (1D)</vt:lpstr>
      <vt:lpstr>One-dimensional Array (1D)</vt:lpstr>
      <vt:lpstr>Initialization of one dimensional array</vt:lpstr>
      <vt:lpstr>Compile Time Initialization</vt:lpstr>
      <vt:lpstr>PowerPoint Presentation</vt:lpstr>
      <vt:lpstr>PowerPoint Presentation</vt:lpstr>
      <vt:lpstr>Run time initialization</vt:lpstr>
      <vt:lpstr>PowerPoint Presentation</vt:lpstr>
      <vt:lpstr>Example of One Dimensional Array Program 4</vt:lpstr>
      <vt:lpstr>Two-dimensional Arrays (2D)</vt:lpstr>
      <vt:lpstr>PowerPoint Presentation</vt:lpstr>
      <vt:lpstr>PowerPoint Presentation</vt:lpstr>
      <vt:lpstr>PowerPoint Presentation</vt:lpstr>
      <vt:lpstr>Accessing Two-Dimensional Array Elements</vt:lpstr>
      <vt:lpstr>Two dimensional array example  Program1</vt:lpstr>
      <vt:lpstr>Two-Dimensional Arrays program 2</vt:lpstr>
      <vt:lpstr>PowerPoint Presentation</vt:lpstr>
      <vt:lpstr>PowerPoint Presentation</vt:lpstr>
      <vt:lpstr>PowerPoint Presentation</vt:lpstr>
      <vt:lpstr>Sum of 2 matrices Program 5</vt:lpstr>
      <vt:lpstr>PowerPoint Presentation</vt:lpstr>
      <vt:lpstr>PowerPoint Presentation</vt:lpstr>
      <vt:lpstr>Matrix multiplication in C Program 6</vt:lpstr>
      <vt:lpstr>PowerPoint Presentation</vt:lpstr>
      <vt:lpstr>PowerPoint Presentation</vt:lpstr>
      <vt:lpstr>PowerPoint Presentation</vt:lpstr>
      <vt:lpstr>PowerPoint Presentation</vt:lpstr>
      <vt:lpstr>Multi-Dimensional Arrays</vt:lpstr>
      <vt:lpstr>Declaration of Multidimensional Array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Rishika</cp:lastModifiedBy>
  <cp:revision>66</cp:revision>
  <dcterms:created xsi:type="dcterms:W3CDTF">2020-08-23T11:58:00Z</dcterms:created>
  <dcterms:modified xsi:type="dcterms:W3CDTF">2022-08-10T12:15:54Z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1033-11.2.0.9747</vt:lpwstr>
  </property>
</Properties>
</file>