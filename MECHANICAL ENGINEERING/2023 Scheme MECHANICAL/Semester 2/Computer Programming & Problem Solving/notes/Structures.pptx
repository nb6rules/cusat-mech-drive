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03" r:id="rId3"/>
    <p:sldId id="338" r:id="rId4"/>
    <p:sldId id="340" r:id="rId5"/>
    <p:sldId id="370" r:id="rId6"/>
    <p:sldId id="342" r:id="rId7"/>
    <p:sldId id="374" r:id="rId8"/>
    <p:sldId id="373" r:id="rId9"/>
    <p:sldId id="346" r:id="rId10"/>
    <p:sldId id="377" r:id="rId11"/>
    <p:sldId id="379" r:id="rId12"/>
    <p:sldId id="391" r:id="rId13"/>
    <p:sldId id="378" r:id="rId14"/>
    <p:sldId id="380" r:id="rId15"/>
    <p:sldId id="381" r:id="rId16"/>
    <p:sldId id="382" r:id="rId17"/>
    <p:sldId id="383" r:id="rId18"/>
    <p:sldId id="384" r:id="rId19"/>
    <p:sldId id="386" r:id="rId20"/>
    <p:sldId id="387" r:id="rId21"/>
    <p:sldId id="392" r:id="rId22"/>
    <p:sldId id="393" r:id="rId23"/>
    <p:sldId id="385" r:id="rId24"/>
    <p:sldId id="388" r:id="rId25"/>
    <p:sldId id="389" r:id="rId26"/>
    <p:sldId id="390" r:id="rId27"/>
    <p:sldId id="336" r:id="rId28"/>
    <p:sldId id="335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anose="020B0503020204020204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structures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4384EE8-5579-6B09-C84B-9C1A28C9CD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0638" y="333555"/>
            <a:ext cx="9875520" cy="1107056"/>
          </a:xfrm>
        </p:spPr>
        <p:txBody>
          <a:bodyPr/>
          <a:lstStyle/>
          <a:p>
            <a:r>
              <a:rPr lang="en-IN" altLang="en-US" b="1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098" y="1656270"/>
            <a:ext cx="9872871" cy="4658265"/>
          </a:xfrm>
        </p:spPr>
        <p:txBody>
          <a:bodyPr>
            <a:normAutofit fontScale="85000" lnSpcReduction="20000"/>
          </a:bodyPr>
          <a:lstStyle/>
          <a:p>
            <a:r>
              <a:rPr lang="en-I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Introduction</a:t>
            </a:r>
          </a:p>
          <a:p>
            <a:r>
              <a:rPr lang="en-IN" sz="24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IN" sz="24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 &amp; Declaration</a:t>
            </a:r>
          </a:p>
          <a:p>
            <a:r>
              <a:rPr lang="en-IN" sz="24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Accessing </a:t>
            </a:r>
            <a:r>
              <a:rPr lang="en-IN" sz="24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IN" sz="2400" spc="-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 &amp; Initialization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Arrays Vs Structures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 of Structures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Comparing and copying structure variables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Slack Bytes</a:t>
            </a:r>
          </a:p>
          <a:p>
            <a:r>
              <a:rPr lang="en-IN" sz="24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IN" sz="24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IN" sz="2400" spc="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Structures</a:t>
            </a:r>
          </a:p>
          <a:p>
            <a:r>
              <a:rPr lang="en-IN" sz="24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Arrays Within Structures</a:t>
            </a:r>
          </a:p>
          <a:p>
            <a:r>
              <a:rPr lang="en-IN" sz="2400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 Structures</a:t>
            </a:r>
            <a:endParaRPr lang="en-IN" sz="2400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Structures and </a:t>
            </a:r>
            <a:r>
              <a:rPr lang="en-IN" sz="24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lang="en-IN" sz="2400" spc="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References</a:t>
            </a:r>
          </a:p>
          <a:p>
            <a:endParaRPr lang="en-IN" altLang="en-US" sz="2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5246" y="461900"/>
            <a:ext cx="2925445" cy="696595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63124" y="1585807"/>
            <a:ext cx="9111269" cy="32528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indent="-343535">
              <a:lnSpc>
                <a:spcPct val="150000"/>
              </a:lnSpc>
              <a:spcBef>
                <a:spcPts val="3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IN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 are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3535">
              <a:lnSpc>
                <a:spcPct val="150000"/>
              </a:lnSpc>
              <a:spcBef>
                <a:spcPts val="3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IN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logically </a:t>
            </a:r>
            <a:r>
              <a:rPr lang="en-IN"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</a:t>
            </a:r>
            <a:r>
              <a:rPr lang="en-IN"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IN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or </a:t>
            </a:r>
            <a:r>
              <a:rPr lang="en-IN"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lang="en-IN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data-type.</a:t>
            </a:r>
          </a:p>
          <a:p>
            <a:pPr indent="-343535">
              <a:lnSpc>
                <a:spcPct val="150000"/>
              </a:lnSpc>
              <a:spcBef>
                <a:spcPts val="3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IN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logically </a:t>
            </a:r>
            <a:r>
              <a:rPr lang="en-IN"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</a:t>
            </a:r>
            <a:r>
              <a:rPr lang="en-IN"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grouped together in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</a:t>
            </a:r>
            <a:r>
              <a:rPr lang="en-IN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3535">
              <a:lnSpc>
                <a:spcPct val="150000"/>
              </a:lnSpc>
              <a:spcBef>
                <a:spcPts val="3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IN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to organize complex data in a more meaningful way.</a:t>
            </a:r>
          </a:p>
          <a:p>
            <a:pPr indent="-343535">
              <a:lnSpc>
                <a:spcPct val="150000"/>
              </a:lnSpc>
              <a:spcBef>
                <a:spcPts val="3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IN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represent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heterogeneous</a:t>
            </a:r>
            <a:r>
              <a:rPr sz="2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IN"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3535">
              <a:lnSpc>
                <a:spcPct val="150000"/>
              </a:lnSpc>
              <a:spcBef>
                <a:spcPts val="3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return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784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4449" y="1015843"/>
            <a:ext cx="1050983" cy="382797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6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400" spc="-3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400" spc="-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400" spc="-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010730" y="1410814"/>
            <a:ext cx="3624258" cy="2622512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065" indent="0">
              <a:lnSpc>
                <a:spcPct val="100000"/>
              </a:lnSpc>
              <a:spcBef>
                <a:spcPts val="300"/>
              </a:spcBef>
              <a:buNone/>
              <a:tabLst>
                <a:tab pos="355600" algn="l"/>
                <a:tab pos="356235" algn="l"/>
              </a:tabLst>
            </a:pP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000" spc="-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truct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tag_name</a:t>
            </a:r>
            <a:endParaRPr sz="2000" spc="-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927100" marR="5080" indent="0">
              <a:lnSpc>
                <a:spcPct val="100000"/>
              </a:lnSpc>
              <a:spcBef>
                <a:spcPts val="300"/>
              </a:spcBef>
              <a:buNone/>
              <a:tabLst>
                <a:tab pos="2704465" algn="l"/>
                <a:tab pos="2797175" algn="l"/>
              </a:tabLst>
            </a:pP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data-type</a:t>
            </a:r>
            <a:r>
              <a:rPr lang="en-IN"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ield1;  </a:t>
            </a:r>
            <a:endParaRPr lang="en-IN" sz="2000" spc="-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marR="5080" indent="0">
              <a:lnSpc>
                <a:spcPct val="100000"/>
              </a:lnSpc>
              <a:spcBef>
                <a:spcPts val="300"/>
              </a:spcBef>
              <a:buNone/>
              <a:tabLst>
                <a:tab pos="2704465" algn="l"/>
                <a:tab pos="2797175" algn="l"/>
              </a:tabLst>
            </a:pP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000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a-type</a:t>
            </a: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ield2;</a:t>
            </a:r>
          </a:p>
          <a:p>
            <a:pPr marL="74422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………</a:t>
            </a:r>
          </a:p>
          <a:p>
            <a:pPr marL="17272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IN" sz="2000" spc="-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0">
              <a:lnSpc>
                <a:spcPct val="100000"/>
              </a:lnSpc>
              <a:spcBef>
                <a:spcPts val="765"/>
              </a:spcBef>
              <a:buNone/>
            </a:pPr>
            <a:endParaRPr spc="-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705600" y="1410814"/>
            <a:ext cx="3706483" cy="2698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>
              <a:spcBef>
                <a:spcPts val="869"/>
              </a:spcBef>
              <a:tabLst>
                <a:tab pos="355600" algn="l"/>
                <a:tab pos="356235" algn="l"/>
              </a:tabLst>
            </a:pPr>
            <a:r>
              <a:rPr lang="en-IN" sz="20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book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>
              <a:spcBef>
                <a:spcPts val="77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927100" marR="5080"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title[20];  </a:t>
            </a:r>
          </a:p>
          <a:p>
            <a:pPr marL="927100" marR="5080"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en-IN" sz="20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author[15];  </a:t>
            </a:r>
          </a:p>
          <a:p>
            <a:pPr marL="927100" marR="5080">
              <a:lnSpc>
                <a:spcPct val="120000"/>
              </a:lnSpc>
            </a:pPr>
            <a:r>
              <a:rPr lang="en-IN" sz="2000" spc="-1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pages;</a:t>
            </a:r>
          </a:p>
          <a:p>
            <a:pPr marL="927100" marR="5080">
              <a:lnSpc>
                <a:spcPct val="120000"/>
              </a:lnSpc>
            </a:pP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price;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>
              <a:spcBef>
                <a:spcPts val="77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6" name="object 2"/>
          <p:cNvSpPr txBox="1">
            <a:spLocks/>
          </p:cNvSpPr>
          <p:nvPr/>
        </p:nvSpPr>
        <p:spPr>
          <a:xfrm>
            <a:off x="7032277" y="973757"/>
            <a:ext cx="2084990" cy="382797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400" spc="-6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86443" y="4578553"/>
            <a:ext cx="9855368" cy="1733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7815" marR="351155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68605" algn="l"/>
              </a:tabLst>
            </a:pP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keyword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to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details of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fields, namely  </a:t>
            </a:r>
            <a:r>
              <a:rPr lang="en-IN"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68605" marR="5080" indent="-25654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tabLst>
                <a:tab pos="268605" algn="l"/>
              </a:tabLst>
            </a:pP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fields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each member belong to  different type of</a:t>
            </a:r>
            <a:r>
              <a:rPr lang="en-IN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</a:p>
          <a:p>
            <a:pPr marL="268605" marR="5080" indent="-25654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tabLst>
                <a:tab pos="268605" algn="l"/>
              </a:tabLst>
            </a:pP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is the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IN" sz="20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is also called as ‘STRUCTURE</a:t>
            </a:r>
            <a:r>
              <a:rPr lang="en-I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TAG’.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2"/>
          <p:cNvSpPr txBox="1">
            <a:spLocks/>
          </p:cNvSpPr>
          <p:nvPr/>
        </p:nvSpPr>
        <p:spPr>
          <a:xfrm>
            <a:off x="3426435" y="175013"/>
            <a:ext cx="4984320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-65" dirty="0"/>
              <a:t>Defining a Structure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969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40847" y="3390851"/>
            <a:ext cx="1119505" cy="22409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 </a:t>
            </a:r>
            <a:endParaRPr lang="en-IN" sz="24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  pages  price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30368" y="3477768"/>
            <a:ext cx="2874645" cy="588645"/>
          </a:xfrm>
          <a:custGeom>
            <a:avLst/>
            <a:gdLst/>
            <a:ahLst/>
            <a:cxnLst/>
            <a:rect l="l" t="t" r="r" b="b"/>
            <a:pathLst>
              <a:path w="2874645" h="588645">
                <a:moveTo>
                  <a:pt x="2846832" y="0"/>
                </a:moveTo>
                <a:lnTo>
                  <a:pt x="27432" y="0"/>
                </a:lnTo>
                <a:lnTo>
                  <a:pt x="16769" y="2160"/>
                </a:lnTo>
                <a:lnTo>
                  <a:pt x="8048" y="8048"/>
                </a:lnTo>
                <a:lnTo>
                  <a:pt x="2160" y="16769"/>
                </a:lnTo>
                <a:lnTo>
                  <a:pt x="0" y="27432"/>
                </a:lnTo>
                <a:lnTo>
                  <a:pt x="0" y="560832"/>
                </a:lnTo>
                <a:lnTo>
                  <a:pt x="2160" y="571494"/>
                </a:lnTo>
                <a:lnTo>
                  <a:pt x="8048" y="580215"/>
                </a:lnTo>
                <a:lnTo>
                  <a:pt x="16769" y="586103"/>
                </a:lnTo>
                <a:lnTo>
                  <a:pt x="27432" y="588264"/>
                </a:lnTo>
                <a:lnTo>
                  <a:pt x="2846832" y="588264"/>
                </a:lnTo>
                <a:lnTo>
                  <a:pt x="2857494" y="586103"/>
                </a:lnTo>
                <a:lnTo>
                  <a:pt x="2866215" y="580215"/>
                </a:lnTo>
                <a:lnTo>
                  <a:pt x="2872103" y="571494"/>
                </a:lnTo>
                <a:lnTo>
                  <a:pt x="2874264" y="560832"/>
                </a:lnTo>
                <a:lnTo>
                  <a:pt x="2874264" y="555371"/>
                </a:lnTo>
                <a:lnTo>
                  <a:pt x="32893" y="555371"/>
                </a:lnTo>
                <a:lnTo>
                  <a:pt x="32893" y="32893"/>
                </a:lnTo>
                <a:lnTo>
                  <a:pt x="2874264" y="32893"/>
                </a:lnTo>
                <a:lnTo>
                  <a:pt x="2874264" y="27432"/>
                </a:lnTo>
                <a:lnTo>
                  <a:pt x="2872103" y="16769"/>
                </a:lnTo>
                <a:lnTo>
                  <a:pt x="2866215" y="8048"/>
                </a:lnTo>
                <a:lnTo>
                  <a:pt x="2857494" y="2160"/>
                </a:lnTo>
                <a:lnTo>
                  <a:pt x="2846832" y="0"/>
                </a:lnTo>
                <a:close/>
              </a:path>
              <a:path w="2874645" h="588645">
                <a:moveTo>
                  <a:pt x="2874264" y="32893"/>
                </a:moveTo>
                <a:lnTo>
                  <a:pt x="2841371" y="32893"/>
                </a:lnTo>
                <a:lnTo>
                  <a:pt x="2841371" y="555371"/>
                </a:lnTo>
                <a:lnTo>
                  <a:pt x="2874264" y="555371"/>
                </a:lnTo>
                <a:lnTo>
                  <a:pt x="2874264" y="32893"/>
                </a:lnTo>
                <a:close/>
              </a:path>
              <a:path w="2874645" h="588645">
                <a:moveTo>
                  <a:pt x="2830322" y="43942"/>
                </a:moveTo>
                <a:lnTo>
                  <a:pt x="43942" y="43942"/>
                </a:lnTo>
                <a:lnTo>
                  <a:pt x="43942" y="544322"/>
                </a:lnTo>
                <a:lnTo>
                  <a:pt x="2830322" y="544322"/>
                </a:lnTo>
                <a:lnTo>
                  <a:pt x="2830322" y="533400"/>
                </a:lnTo>
                <a:lnTo>
                  <a:pt x="54864" y="533400"/>
                </a:lnTo>
                <a:lnTo>
                  <a:pt x="54864" y="54864"/>
                </a:lnTo>
                <a:lnTo>
                  <a:pt x="2830322" y="54864"/>
                </a:lnTo>
                <a:lnTo>
                  <a:pt x="2830322" y="43942"/>
                </a:lnTo>
                <a:close/>
              </a:path>
              <a:path w="2874645" h="588645">
                <a:moveTo>
                  <a:pt x="2830322" y="54864"/>
                </a:moveTo>
                <a:lnTo>
                  <a:pt x="2819400" y="54864"/>
                </a:lnTo>
                <a:lnTo>
                  <a:pt x="2819400" y="533400"/>
                </a:lnTo>
                <a:lnTo>
                  <a:pt x="2830322" y="533400"/>
                </a:lnTo>
                <a:lnTo>
                  <a:pt x="2830322" y="548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30368" y="4011168"/>
            <a:ext cx="2417445" cy="588645"/>
          </a:xfrm>
          <a:custGeom>
            <a:avLst/>
            <a:gdLst/>
            <a:ahLst/>
            <a:cxnLst/>
            <a:rect l="l" t="t" r="r" b="b"/>
            <a:pathLst>
              <a:path w="2417445" h="588645">
                <a:moveTo>
                  <a:pt x="2389632" y="0"/>
                </a:moveTo>
                <a:lnTo>
                  <a:pt x="27432" y="0"/>
                </a:lnTo>
                <a:lnTo>
                  <a:pt x="16769" y="2160"/>
                </a:lnTo>
                <a:lnTo>
                  <a:pt x="8048" y="8048"/>
                </a:lnTo>
                <a:lnTo>
                  <a:pt x="2160" y="16769"/>
                </a:lnTo>
                <a:lnTo>
                  <a:pt x="0" y="27431"/>
                </a:lnTo>
                <a:lnTo>
                  <a:pt x="0" y="560831"/>
                </a:lnTo>
                <a:lnTo>
                  <a:pt x="2160" y="571494"/>
                </a:lnTo>
                <a:lnTo>
                  <a:pt x="8048" y="580215"/>
                </a:lnTo>
                <a:lnTo>
                  <a:pt x="16769" y="586103"/>
                </a:lnTo>
                <a:lnTo>
                  <a:pt x="27432" y="588263"/>
                </a:lnTo>
                <a:lnTo>
                  <a:pt x="2389632" y="588263"/>
                </a:lnTo>
                <a:lnTo>
                  <a:pt x="2400294" y="586103"/>
                </a:lnTo>
                <a:lnTo>
                  <a:pt x="2409015" y="580215"/>
                </a:lnTo>
                <a:lnTo>
                  <a:pt x="2414903" y="571494"/>
                </a:lnTo>
                <a:lnTo>
                  <a:pt x="2417064" y="560831"/>
                </a:lnTo>
                <a:lnTo>
                  <a:pt x="2417064" y="555370"/>
                </a:lnTo>
                <a:lnTo>
                  <a:pt x="32893" y="555370"/>
                </a:lnTo>
                <a:lnTo>
                  <a:pt x="32893" y="32892"/>
                </a:lnTo>
                <a:lnTo>
                  <a:pt x="2417064" y="32892"/>
                </a:lnTo>
                <a:lnTo>
                  <a:pt x="2417064" y="27431"/>
                </a:lnTo>
                <a:lnTo>
                  <a:pt x="2414903" y="16769"/>
                </a:lnTo>
                <a:lnTo>
                  <a:pt x="2409015" y="8048"/>
                </a:lnTo>
                <a:lnTo>
                  <a:pt x="2400294" y="2160"/>
                </a:lnTo>
                <a:lnTo>
                  <a:pt x="2389632" y="0"/>
                </a:lnTo>
                <a:close/>
              </a:path>
              <a:path w="2417445" h="588645">
                <a:moveTo>
                  <a:pt x="2417064" y="32892"/>
                </a:moveTo>
                <a:lnTo>
                  <a:pt x="2384171" y="32892"/>
                </a:lnTo>
                <a:lnTo>
                  <a:pt x="2384171" y="555370"/>
                </a:lnTo>
                <a:lnTo>
                  <a:pt x="2417064" y="555370"/>
                </a:lnTo>
                <a:lnTo>
                  <a:pt x="2417064" y="32892"/>
                </a:lnTo>
                <a:close/>
              </a:path>
              <a:path w="2417445" h="588645">
                <a:moveTo>
                  <a:pt x="2373122" y="43941"/>
                </a:moveTo>
                <a:lnTo>
                  <a:pt x="43942" y="43941"/>
                </a:lnTo>
                <a:lnTo>
                  <a:pt x="43942" y="544321"/>
                </a:lnTo>
                <a:lnTo>
                  <a:pt x="2373122" y="544321"/>
                </a:lnTo>
                <a:lnTo>
                  <a:pt x="2373122" y="533399"/>
                </a:lnTo>
                <a:lnTo>
                  <a:pt x="54864" y="533399"/>
                </a:lnTo>
                <a:lnTo>
                  <a:pt x="54864" y="54863"/>
                </a:lnTo>
                <a:lnTo>
                  <a:pt x="2373122" y="54863"/>
                </a:lnTo>
                <a:lnTo>
                  <a:pt x="2373122" y="43941"/>
                </a:lnTo>
                <a:close/>
              </a:path>
              <a:path w="2417445" h="588645">
                <a:moveTo>
                  <a:pt x="2373122" y="54863"/>
                </a:moveTo>
                <a:lnTo>
                  <a:pt x="2362200" y="54863"/>
                </a:lnTo>
                <a:lnTo>
                  <a:pt x="2362200" y="533399"/>
                </a:lnTo>
                <a:lnTo>
                  <a:pt x="2373122" y="533399"/>
                </a:lnTo>
                <a:lnTo>
                  <a:pt x="2373122" y="548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37174" y="4059476"/>
            <a:ext cx="376369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IN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IN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57800" y="4572000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0" y="533400"/>
                </a:moveTo>
                <a:lnTo>
                  <a:pt x="1524000" y="533400"/>
                </a:lnTo>
                <a:lnTo>
                  <a:pt x="15240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30368" y="4544568"/>
            <a:ext cx="1579245" cy="588645"/>
          </a:xfrm>
          <a:custGeom>
            <a:avLst/>
            <a:gdLst/>
            <a:ahLst/>
            <a:cxnLst/>
            <a:rect l="l" t="t" r="r" b="b"/>
            <a:pathLst>
              <a:path w="1579245" h="588645">
                <a:moveTo>
                  <a:pt x="1551432" y="0"/>
                </a:moveTo>
                <a:lnTo>
                  <a:pt x="27432" y="0"/>
                </a:lnTo>
                <a:lnTo>
                  <a:pt x="16769" y="2160"/>
                </a:lnTo>
                <a:lnTo>
                  <a:pt x="8048" y="8048"/>
                </a:lnTo>
                <a:lnTo>
                  <a:pt x="2160" y="16769"/>
                </a:lnTo>
                <a:lnTo>
                  <a:pt x="0" y="27431"/>
                </a:lnTo>
                <a:lnTo>
                  <a:pt x="0" y="560831"/>
                </a:lnTo>
                <a:lnTo>
                  <a:pt x="2160" y="571494"/>
                </a:lnTo>
                <a:lnTo>
                  <a:pt x="8048" y="580215"/>
                </a:lnTo>
                <a:lnTo>
                  <a:pt x="16769" y="586103"/>
                </a:lnTo>
                <a:lnTo>
                  <a:pt x="27432" y="588263"/>
                </a:lnTo>
                <a:lnTo>
                  <a:pt x="1551432" y="588263"/>
                </a:lnTo>
                <a:lnTo>
                  <a:pt x="1562094" y="586103"/>
                </a:lnTo>
                <a:lnTo>
                  <a:pt x="1570815" y="580215"/>
                </a:lnTo>
                <a:lnTo>
                  <a:pt x="1576703" y="571494"/>
                </a:lnTo>
                <a:lnTo>
                  <a:pt x="1578864" y="560831"/>
                </a:lnTo>
                <a:lnTo>
                  <a:pt x="1578864" y="555370"/>
                </a:lnTo>
                <a:lnTo>
                  <a:pt x="32893" y="555370"/>
                </a:lnTo>
                <a:lnTo>
                  <a:pt x="32893" y="32892"/>
                </a:lnTo>
                <a:lnTo>
                  <a:pt x="1578864" y="32892"/>
                </a:lnTo>
                <a:lnTo>
                  <a:pt x="1578864" y="27431"/>
                </a:lnTo>
                <a:lnTo>
                  <a:pt x="1576703" y="16769"/>
                </a:lnTo>
                <a:lnTo>
                  <a:pt x="1570815" y="8048"/>
                </a:lnTo>
                <a:lnTo>
                  <a:pt x="1562094" y="2160"/>
                </a:lnTo>
                <a:lnTo>
                  <a:pt x="1551432" y="0"/>
                </a:lnTo>
                <a:close/>
              </a:path>
              <a:path w="1579245" h="588645">
                <a:moveTo>
                  <a:pt x="1578864" y="32892"/>
                </a:moveTo>
                <a:lnTo>
                  <a:pt x="1545971" y="32892"/>
                </a:lnTo>
                <a:lnTo>
                  <a:pt x="1545971" y="555370"/>
                </a:lnTo>
                <a:lnTo>
                  <a:pt x="1578864" y="555370"/>
                </a:lnTo>
                <a:lnTo>
                  <a:pt x="1578864" y="32892"/>
                </a:lnTo>
                <a:close/>
              </a:path>
              <a:path w="1579245" h="588645">
                <a:moveTo>
                  <a:pt x="1534922" y="43941"/>
                </a:moveTo>
                <a:lnTo>
                  <a:pt x="43942" y="43941"/>
                </a:lnTo>
                <a:lnTo>
                  <a:pt x="43942" y="544321"/>
                </a:lnTo>
                <a:lnTo>
                  <a:pt x="1534922" y="544321"/>
                </a:lnTo>
                <a:lnTo>
                  <a:pt x="1534922" y="533399"/>
                </a:lnTo>
                <a:lnTo>
                  <a:pt x="54864" y="533399"/>
                </a:lnTo>
                <a:lnTo>
                  <a:pt x="54864" y="54863"/>
                </a:lnTo>
                <a:lnTo>
                  <a:pt x="1534922" y="54863"/>
                </a:lnTo>
                <a:lnTo>
                  <a:pt x="1534922" y="43941"/>
                </a:lnTo>
                <a:close/>
              </a:path>
              <a:path w="1579245" h="588645">
                <a:moveTo>
                  <a:pt x="1534922" y="54863"/>
                </a:moveTo>
                <a:lnTo>
                  <a:pt x="1524000" y="54863"/>
                </a:lnTo>
                <a:lnTo>
                  <a:pt x="1524000" y="533399"/>
                </a:lnTo>
                <a:lnTo>
                  <a:pt x="1534922" y="533399"/>
                </a:lnTo>
                <a:lnTo>
                  <a:pt x="1534922" y="548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37176" y="4655897"/>
            <a:ext cx="8108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57800" y="5105400"/>
            <a:ext cx="2209800" cy="533400"/>
          </a:xfrm>
          <a:custGeom>
            <a:avLst/>
            <a:gdLst/>
            <a:ahLst/>
            <a:cxnLst/>
            <a:rect l="l" t="t" r="r" b="b"/>
            <a:pathLst>
              <a:path w="2209800" h="533400">
                <a:moveTo>
                  <a:pt x="0" y="533400"/>
                </a:moveTo>
                <a:lnTo>
                  <a:pt x="2209800" y="533400"/>
                </a:lnTo>
                <a:lnTo>
                  <a:pt x="22098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30368" y="5077968"/>
            <a:ext cx="2265045" cy="588645"/>
          </a:xfrm>
          <a:custGeom>
            <a:avLst/>
            <a:gdLst/>
            <a:ahLst/>
            <a:cxnLst/>
            <a:rect l="l" t="t" r="r" b="b"/>
            <a:pathLst>
              <a:path w="2265045" h="588645">
                <a:moveTo>
                  <a:pt x="2237232" y="0"/>
                </a:moveTo>
                <a:lnTo>
                  <a:pt x="27432" y="0"/>
                </a:lnTo>
                <a:lnTo>
                  <a:pt x="16769" y="2160"/>
                </a:lnTo>
                <a:lnTo>
                  <a:pt x="8048" y="8048"/>
                </a:lnTo>
                <a:lnTo>
                  <a:pt x="2160" y="16769"/>
                </a:lnTo>
                <a:lnTo>
                  <a:pt x="0" y="27431"/>
                </a:lnTo>
                <a:lnTo>
                  <a:pt x="0" y="560831"/>
                </a:lnTo>
                <a:lnTo>
                  <a:pt x="2160" y="571510"/>
                </a:lnTo>
                <a:lnTo>
                  <a:pt x="8048" y="580229"/>
                </a:lnTo>
                <a:lnTo>
                  <a:pt x="16769" y="586108"/>
                </a:lnTo>
                <a:lnTo>
                  <a:pt x="27432" y="588263"/>
                </a:lnTo>
                <a:lnTo>
                  <a:pt x="2237232" y="588263"/>
                </a:lnTo>
                <a:lnTo>
                  <a:pt x="2247894" y="586108"/>
                </a:lnTo>
                <a:lnTo>
                  <a:pt x="2256615" y="580229"/>
                </a:lnTo>
                <a:lnTo>
                  <a:pt x="2262503" y="571510"/>
                </a:lnTo>
                <a:lnTo>
                  <a:pt x="2264664" y="560831"/>
                </a:lnTo>
                <a:lnTo>
                  <a:pt x="2264664" y="555345"/>
                </a:lnTo>
                <a:lnTo>
                  <a:pt x="32893" y="555345"/>
                </a:lnTo>
                <a:lnTo>
                  <a:pt x="32893" y="32892"/>
                </a:lnTo>
                <a:lnTo>
                  <a:pt x="2264664" y="32892"/>
                </a:lnTo>
                <a:lnTo>
                  <a:pt x="2264664" y="27431"/>
                </a:lnTo>
                <a:lnTo>
                  <a:pt x="2262503" y="16769"/>
                </a:lnTo>
                <a:lnTo>
                  <a:pt x="2256615" y="8048"/>
                </a:lnTo>
                <a:lnTo>
                  <a:pt x="2247894" y="2160"/>
                </a:lnTo>
                <a:lnTo>
                  <a:pt x="2237232" y="0"/>
                </a:lnTo>
                <a:close/>
              </a:path>
              <a:path w="2265045" h="588645">
                <a:moveTo>
                  <a:pt x="2264664" y="32892"/>
                </a:moveTo>
                <a:lnTo>
                  <a:pt x="2231771" y="32892"/>
                </a:lnTo>
                <a:lnTo>
                  <a:pt x="2231771" y="555345"/>
                </a:lnTo>
                <a:lnTo>
                  <a:pt x="2264664" y="555345"/>
                </a:lnTo>
                <a:lnTo>
                  <a:pt x="2264664" y="32892"/>
                </a:lnTo>
                <a:close/>
              </a:path>
              <a:path w="2265045" h="588645">
                <a:moveTo>
                  <a:pt x="2220722" y="43941"/>
                </a:moveTo>
                <a:lnTo>
                  <a:pt x="43942" y="43941"/>
                </a:lnTo>
                <a:lnTo>
                  <a:pt x="43942" y="544372"/>
                </a:lnTo>
                <a:lnTo>
                  <a:pt x="2220722" y="544372"/>
                </a:lnTo>
                <a:lnTo>
                  <a:pt x="2220722" y="533399"/>
                </a:lnTo>
                <a:lnTo>
                  <a:pt x="54864" y="533399"/>
                </a:lnTo>
                <a:lnTo>
                  <a:pt x="54864" y="54863"/>
                </a:lnTo>
                <a:lnTo>
                  <a:pt x="2220722" y="54863"/>
                </a:lnTo>
                <a:lnTo>
                  <a:pt x="2220722" y="43941"/>
                </a:lnTo>
                <a:close/>
              </a:path>
              <a:path w="2265045" h="588645">
                <a:moveTo>
                  <a:pt x="2220722" y="54863"/>
                </a:moveTo>
                <a:lnTo>
                  <a:pt x="2209800" y="54863"/>
                </a:lnTo>
                <a:lnTo>
                  <a:pt x="2209800" y="533399"/>
                </a:lnTo>
                <a:lnTo>
                  <a:pt x="2220722" y="533399"/>
                </a:lnTo>
                <a:lnTo>
                  <a:pt x="2220722" y="548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337175" y="5189982"/>
            <a:ext cx="527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37176" y="3452241"/>
            <a:ext cx="2492375" cy="3723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7200"/>
              </a:lnSpc>
              <a:spcBef>
                <a:spcPts val="10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728158" y="1663559"/>
            <a:ext cx="90721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above declaration has not declared any variables.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simply describes a format called template to represent information as below:</a:t>
            </a:r>
          </a:p>
        </p:txBody>
      </p:sp>
      <p:sp>
        <p:nvSpPr>
          <p:cNvPr id="16" name="object 2"/>
          <p:cNvSpPr txBox="1">
            <a:spLocks/>
          </p:cNvSpPr>
          <p:nvPr/>
        </p:nvSpPr>
        <p:spPr>
          <a:xfrm>
            <a:off x="3372065" y="473831"/>
            <a:ext cx="4984320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-65" dirty="0"/>
              <a:t>Defining a Structure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052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7822" y="396130"/>
            <a:ext cx="7910423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Declaration </a:t>
            </a:r>
            <a:r>
              <a:rPr dirty="0"/>
              <a:t>of</a:t>
            </a:r>
            <a:r>
              <a:rPr spc="-60" dirty="0"/>
              <a:t> </a:t>
            </a:r>
            <a:r>
              <a:rPr lang="en-IN" spc="-60" dirty="0"/>
              <a:t> structure </a:t>
            </a:r>
            <a:r>
              <a:rPr spc="-30" dirty="0"/>
              <a:t>variable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54499" y="1215165"/>
            <a:ext cx="8714451" cy="145809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4965" indent="-342900">
              <a:spcBef>
                <a:spcPts val="869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possible to declare variables of a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either along with structure definition or after the structure is defined. </a:t>
            </a:r>
          </a:p>
          <a:p>
            <a:pPr marL="354965" indent="-342900">
              <a:spcBef>
                <a:spcPts val="869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variable declaration is similar to the declaration of any normal variable of any other datatype. 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-6049"/>
            <a:ext cx="65" cy="469299"/>
          </a:xfrm>
          <a:prstGeom prst="rect">
            <a:avLst/>
          </a:prstGeom>
          <a:solidFill>
            <a:srgbClr val="1E2A3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522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8868" y="2923645"/>
            <a:ext cx="4991819" cy="4044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Declaring Structure variables separately</a:t>
            </a:r>
          </a:p>
          <a:p>
            <a:pPr marL="12065">
              <a:spcBef>
                <a:spcPts val="869"/>
              </a:spcBef>
              <a:tabLst>
                <a:tab pos="355600" algn="l"/>
                <a:tab pos="356235" algn="l"/>
              </a:tabLst>
            </a:pPr>
            <a:r>
              <a:rPr lang="en-IN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>
              <a:spcBef>
                <a:spcPts val="77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name[25];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age;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branch[10];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//F for female and M for male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gender; </a:t>
            </a:r>
          </a:p>
          <a:p>
            <a:pPr marL="355600">
              <a:spcBef>
                <a:spcPts val="77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355600">
              <a:spcBef>
                <a:spcPts val="770"/>
              </a:spcBef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//declaring variables of </a:t>
            </a:r>
            <a:r>
              <a:rPr lang="en-I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</a:t>
            </a:r>
          </a:p>
          <a:p>
            <a:pPr marL="355600">
              <a:spcBef>
                <a:spcPts val="770"/>
              </a:spcBef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s1, s2; 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>
              <a:spcBef>
                <a:spcPts val="770"/>
              </a:spcBef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03033" y="3027162"/>
            <a:ext cx="6096000" cy="366510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Declaring Structure variables with structure definition</a:t>
            </a:r>
          </a:p>
          <a:p>
            <a:pPr marL="12065">
              <a:spcBef>
                <a:spcPts val="869"/>
              </a:spcBef>
              <a:tabLst>
                <a:tab pos="355600" algn="l"/>
                <a:tab pos="356235" algn="l"/>
              </a:tabLst>
            </a:pPr>
            <a:r>
              <a:rPr lang="en-IN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>
              <a:spcBef>
                <a:spcPts val="77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name[25];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age;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branch[10];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//F for female and M for male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gender; </a:t>
            </a:r>
          </a:p>
          <a:p>
            <a:pPr marL="355600">
              <a:spcBef>
                <a:spcPts val="77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s1, s2;</a:t>
            </a:r>
          </a:p>
          <a:p>
            <a:pPr marL="355600">
              <a:spcBef>
                <a:spcPts val="770"/>
              </a:spcBef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 s1 and s2 are variables of structure student.  </a:t>
            </a:r>
          </a:p>
          <a:p>
            <a:pPr marL="355600">
              <a:spcBef>
                <a:spcPts val="770"/>
              </a:spcBef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0" y="-6049"/>
            <a:ext cx="65" cy="469299"/>
          </a:xfrm>
          <a:prstGeom prst="rect">
            <a:avLst/>
          </a:prstGeom>
          <a:solidFill>
            <a:srgbClr val="1E2A3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522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747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Accessing Structure Members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350499" y="1965960"/>
            <a:ext cx="9460522" cy="3477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algn="just">
              <a:lnSpc>
                <a:spcPct val="100000"/>
              </a:lnSpc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 members can be accessed and assigned values in a number of ways. </a:t>
            </a:r>
          </a:p>
          <a:p>
            <a:pPr marL="342900" indent="-342900" algn="just">
              <a:lnSpc>
                <a:spcPct val="100000"/>
              </a:lnSpc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 members have no meaning individually without the structure. </a:t>
            </a:r>
          </a:p>
          <a:p>
            <a:pPr marL="342900" indent="-342900">
              <a:lnSpc>
                <a:spcPct val="100000"/>
              </a:lnSpc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order to assign a value to any structure member, the member name must be linked with the</a:t>
            </a:r>
            <a:r>
              <a:rPr kumimoji="0" lang="en-US" altLang="en-US" b="0" i="0" u="none" strike="noStrike" cap="none" normalizeH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structure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variable using a dot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operator also called period or member access operator.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00000"/>
              </a:lnSpc>
              <a:buClrTx/>
              <a:buSzTx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marL="0" indent="0">
              <a:lnSpc>
                <a:spcPct val="100000"/>
              </a:lnSpc>
              <a:buClrTx/>
              <a:buSzTx/>
              <a:buNone/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book.price</a:t>
            </a:r>
            <a:endParaRPr lang="en-IN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ClrTx/>
              <a:buSzTx/>
              <a:buNone/>
            </a:pPr>
            <a:r>
              <a:rPr lang="en-IN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is the variable representing the price of book.</a:t>
            </a:r>
          </a:p>
          <a:p>
            <a:pPr marL="342900" indent="-342900">
              <a:lnSpc>
                <a:spcPct val="100000"/>
              </a:lnSpc>
              <a:buClrTx/>
              <a:buSzTx/>
            </a:pPr>
            <a:r>
              <a:rPr lang="en-US" alt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also use </a:t>
            </a:r>
            <a:r>
              <a:rPr lang="en-US" altLang="en-US" dirty="0" err="1">
                <a:solidFill>
                  <a:srgbClr val="C725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en-US" dirty="0">
                <a:solidFill>
                  <a:srgbClr val="C725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alt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to give values to structure members through terminal.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00000"/>
              </a:lnSpc>
              <a:buClrTx/>
              <a:buSz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922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598374" y="822218"/>
            <a:ext cx="7369005" cy="5609167"/>
          </a:xfrm>
          <a:prstGeom prst="rect">
            <a:avLst/>
          </a:prstGeom>
          <a:solidFill>
            <a:srgbClr val="1E2A3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522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string.h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8F8F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 name[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age;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 branch[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//F for female and M for male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 gender;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F8F8F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 s1;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/* s1 is a variable of Student type and age is a member of Student */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s1.age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(s1.name,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Viraaj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en-US" altLang="en-US" sz="1600" dirty="0">
                <a:solidFill>
                  <a:srgbClr val="70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 using string function to add name */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/* displaying the stored values */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"Name of Student 1: %s\n"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s1.name);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"Age of Student 1: %d\n"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s1.age);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6D9E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8521198" y="2494002"/>
            <a:ext cx="266092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u="sng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IN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Student 1: </a:t>
            </a:r>
            <a:r>
              <a:rPr lang="en-IN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Viraaj</a:t>
            </a:r>
            <a:r>
              <a:rPr lang="en-IN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of Student 1: 18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82877" y="228601"/>
            <a:ext cx="3508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Program 1</a:t>
            </a:r>
          </a:p>
        </p:txBody>
      </p:sp>
    </p:spTree>
    <p:extLst>
      <p:ext uri="{BB962C8B-B14F-4D97-AF65-F5344CB8AC3E}">
        <p14:creationId xmlns:p14="http://schemas.microsoft.com/office/powerpoint/2010/main" val="1114694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0704" y="975800"/>
            <a:ext cx="4504761" cy="54758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</a:t>
            </a:r>
            <a:r>
              <a:rPr sz="16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&lt;stdio.h&gt;  </a:t>
            </a:r>
            <a:endParaRPr lang="en-IN" sz="1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spcBef>
                <a:spcPts val="100"/>
              </a:spcBef>
            </a:pPr>
            <a:r>
              <a:rPr sz="16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77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355600" marR="166370"/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name[50]; </a:t>
            </a:r>
            <a:endParaRPr lang="en-IN" sz="16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166370"/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roll;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>
              <a:spcBef>
                <a:spcPts val="770"/>
              </a:spcBef>
            </a:pP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marks;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765"/>
              </a:spcBef>
            </a:pP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IN" sz="16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540"/>
              </a:spcBef>
            </a:pPr>
            <a:r>
              <a:rPr lang="en-IN" sz="1600" spc="-1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</a:p>
          <a:p>
            <a:pPr marL="12700">
              <a:spcBef>
                <a:spcPts val="1440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12700">
              <a:spcBef>
                <a:spcPts val="1440"/>
              </a:spcBef>
            </a:pPr>
            <a:r>
              <a:rPr lang="en-IN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16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IN" sz="16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s;</a:t>
            </a:r>
          </a:p>
          <a:p>
            <a:pPr marL="355600">
              <a:spcBef>
                <a:spcPts val="1440"/>
              </a:spcBef>
            </a:pPr>
            <a:r>
              <a:rPr lang="en-IN" sz="16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</a:t>
            </a:r>
            <a:r>
              <a:rPr lang="en-IN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</a:t>
            </a:r>
            <a:r>
              <a:rPr lang="en-IN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students:\n\n");  </a:t>
            </a:r>
          </a:p>
          <a:p>
            <a:pPr marL="355600">
              <a:spcBef>
                <a:spcPts val="1440"/>
              </a:spcBef>
            </a:pPr>
            <a:r>
              <a:rPr lang="en-IN" sz="1600" spc="-1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</a:t>
            </a:r>
            <a:r>
              <a:rPr lang="en-IN"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	</a:t>
            </a:r>
          </a:p>
          <a:p>
            <a:pPr marL="355600">
              <a:spcBef>
                <a:spcPts val="1440"/>
              </a:spcBef>
            </a:pPr>
            <a:r>
              <a:rPr lang="en-IN" sz="16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("%s“, s.name);  </a:t>
            </a:r>
          </a:p>
          <a:p>
            <a:pPr marL="355600">
              <a:spcBef>
                <a:spcPts val="1440"/>
              </a:spcBef>
            </a:pPr>
            <a:r>
              <a:rPr lang="en-IN" sz="16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</a:t>
            </a:r>
            <a:r>
              <a:rPr lang="en-IN" sz="1600" spc="-3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16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</a:t>
            </a:r>
            <a:r>
              <a:rPr lang="en-IN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en-IN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</a:t>
            </a:r>
            <a:r>
              <a:rPr lang="en-IN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r: ");	</a:t>
            </a:r>
          </a:p>
          <a:p>
            <a:pPr marL="355600">
              <a:spcBef>
                <a:spcPts val="1440"/>
              </a:spcBef>
            </a:pPr>
            <a:r>
              <a:rPr lang="en-IN" sz="16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600" spc="-2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1600" spc="-1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IN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d"</a:t>
            </a:r>
            <a:r>
              <a:rPr lang="en-IN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16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  <a:r>
              <a:rPr lang="en-IN" sz="1600" spc="-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16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</a:t>
            </a:r>
            <a:r>
              <a:rPr lang="en-IN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82877" y="228601"/>
            <a:ext cx="3508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Program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0" y="1300140"/>
            <a:ext cx="6096000" cy="321254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55600">
              <a:spcBef>
                <a:spcPts val="1440"/>
              </a:spcBef>
            </a:pPr>
            <a:r>
              <a:rPr lang="en-IN" sz="1600" spc="-1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</a:t>
            </a:r>
            <a:r>
              <a:rPr lang="en-IN"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");		</a:t>
            </a:r>
          </a:p>
          <a:p>
            <a:pPr marL="355600">
              <a:spcBef>
                <a:spcPts val="1440"/>
              </a:spcBef>
            </a:pPr>
            <a:r>
              <a:rPr lang="en-IN" sz="16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("%f", &amp;</a:t>
            </a:r>
            <a:r>
              <a:rPr lang="en-IN" sz="16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s.marks</a:t>
            </a: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355600">
              <a:spcBef>
                <a:spcPts val="1440"/>
              </a:spcBef>
            </a:pPr>
            <a:r>
              <a:rPr lang="en-IN" sz="16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</a:t>
            </a:r>
            <a:r>
              <a:rPr lang="en-IN" sz="16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nDisplaying</a:t>
            </a: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Information\n");</a:t>
            </a:r>
          </a:p>
          <a:p>
            <a:pPr marL="355600">
              <a:spcBef>
                <a:spcPts val="1440"/>
              </a:spcBef>
            </a:pP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("Name: </a:t>
            </a:r>
            <a:r>
              <a:rPr lang="en-IN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%s\n", s.name); </a:t>
            </a:r>
          </a:p>
          <a:p>
            <a:pPr marL="355600">
              <a:spcBef>
                <a:spcPts val="1440"/>
              </a:spcBef>
            </a:pPr>
            <a:r>
              <a:rPr lang="en-IN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spc="-1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("Roll: </a:t>
            </a: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%d\n", </a:t>
            </a:r>
            <a:r>
              <a:rPr lang="en-IN" sz="16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s.roll</a:t>
            </a: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</a:t>
            </a:r>
          </a:p>
          <a:p>
            <a:pPr marL="355600">
              <a:spcBef>
                <a:spcPts val="1440"/>
              </a:spcBef>
            </a:pPr>
            <a:r>
              <a:rPr lang="en-IN" sz="16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("Marks: </a:t>
            </a:r>
            <a:r>
              <a:rPr lang="en-IN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%.2f\n", </a:t>
            </a:r>
            <a:r>
              <a:rPr lang="en-IN" sz="16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s.marks</a:t>
            </a:r>
            <a:r>
              <a:rPr lang="en-IN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355600">
              <a:spcBef>
                <a:spcPts val="1440"/>
              </a:spcBef>
            </a:pPr>
            <a:r>
              <a:rPr lang="en-IN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IN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</a:p>
          <a:p>
            <a:pPr marL="355600" marR="5080" indent="-343535">
              <a:lnSpc>
                <a:spcPct val="140000"/>
              </a:lnSpc>
              <a:spcBef>
                <a:spcPts val="100"/>
              </a:spcBef>
            </a:pPr>
            <a:r>
              <a:rPr lang="en-IN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699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0351" y="143774"/>
            <a:ext cx="9875520" cy="856890"/>
          </a:xfrm>
        </p:spPr>
        <p:txBody>
          <a:bodyPr/>
          <a:lstStyle/>
          <a:p>
            <a:pPr algn="ctr"/>
            <a:r>
              <a:rPr lang="en-IN" dirty="0"/>
              <a:t>Structure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086065"/>
            <a:ext cx="9872871" cy="5245724"/>
          </a:xfrm>
        </p:spPr>
        <p:txBody>
          <a:bodyPr>
            <a:normAutofit fontScale="85000" lnSpcReduction="20000"/>
          </a:bodyPr>
          <a:lstStyle/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 a variable of any other datatype, structure variable can also be initialized at compile time.</a:t>
            </a:r>
          </a:p>
          <a:p>
            <a:pPr marL="45720" indent="0">
              <a:buNone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Patient </a:t>
            </a:r>
          </a:p>
          <a:p>
            <a:pPr marL="45720" indent="0">
              <a:buNone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marL="45720" indent="0">
              <a:buNone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 height; </a:t>
            </a:r>
          </a:p>
          <a:p>
            <a:pPr marL="45720" indent="0">
              <a:buNone/>
            </a:pP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weight; </a:t>
            </a:r>
          </a:p>
          <a:p>
            <a:pPr marL="45720" indent="0">
              <a:buNone/>
            </a:pP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age; </a:t>
            </a:r>
          </a:p>
          <a:p>
            <a:pPr marL="45720" indent="0">
              <a:buNone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 </a:t>
            </a:r>
          </a:p>
          <a:p>
            <a:pPr marL="45720" indent="0">
              <a:buNone/>
            </a:pP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Patient p1 = { 180.75 , 73, 23 }; //initialization </a:t>
            </a:r>
          </a:p>
          <a:p>
            <a:pPr marL="45720" indent="0">
              <a:buNone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pPr marL="45720" indent="0">
              <a:buNone/>
            </a:pP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Patient p1; </a:t>
            </a:r>
          </a:p>
          <a:p>
            <a:pPr marL="45720" indent="0">
              <a:buNone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p1.height = 180.75; //initialization of each member separately </a:t>
            </a:r>
          </a:p>
          <a:p>
            <a:pPr marL="45720" indent="0">
              <a:buNone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p1.weight = 73; p1.age = 23; 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6049"/>
            <a:ext cx="65" cy="469299"/>
          </a:xfrm>
          <a:prstGeom prst="rect">
            <a:avLst/>
          </a:prstGeom>
          <a:solidFill>
            <a:srgbClr val="1E2A3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522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468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352" y="316302"/>
            <a:ext cx="9872871" cy="46007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Arrays Vs Structures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7351183"/>
              </p:ext>
            </p:extLst>
          </p:nvPr>
        </p:nvGraphicFramePr>
        <p:xfrm>
          <a:off x="599742" y="940279"/>
          <a:ext cx="11097676" cy="509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8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8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 refers to a collection consisting of elements of homogenous data type.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 refers to a collection consisting of elements of </a:t>
                      </a:r>
                      <a:r>
                        <a:rPr lang="en-IN" sz="12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heterogenous</a:t>
                      </a: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 type.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Arrays is a primitive(derived) datatype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 is a user-defined datatype.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 is pointer as it points to the first element of the collection.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 is not a pointer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 size is fixed and is basically the number of elements multiplied by the size of an element.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 size is not fixed as each element of Structure can be of different type and size.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 filed is not possible in an Array.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 filed is possible in an Structure.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 declaration is done simply using [] and not any keyword.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 declaration is done with the help of “</a:t>
                      </a:r>
                      <a:r>
                        <a:rPr lang="en-IN" sz="12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</a:t>
                      </a: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 keyword.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 traversal and searching is easy and fast.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 traversal and searching is complex and slow.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data_type array_name[size];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</a:t>
                      </a: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sruct_name</a:t>
                      </a: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b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data_type1 ele1; data_type2 ele2; };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 uses subscripts or “[ ]” (square bracket) for element access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 uses “.” (Dot operator) for element access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 elements are stored in continuous memory locations.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 elements may or may not be stored in a continuous memory location.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 elements are accessed by their index number using subscripts.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 elements are accessed by their names using dot operator.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4469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7724" y="359434"/>
            <a:ext cx="9875520" cy="692989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of Structures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2781" y="1183544"/>
            <a:ext cx="10226615" cy="938554"/>
          </a:xfrm>
        </p:spPr>
        <p:txBody>
          <a:bodyPr/>
          <a:lstStyle/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the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operator we can calculate the size of the structure straight forward to pass it as a parameter. 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332781" y="1954991"/>
            <a:ext cx="3861955" cy="4524315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588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6D9E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E5EFF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D9E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D9E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roll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6D9E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D9E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marks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D9E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D9E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size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D9E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size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6D9E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nSize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Structure : %d"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size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6D9E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950168" y="2572352"/>
            <a:ext cx="5609228" cy="1077218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Formula for Calculating Size of Structure : 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Size of Structure ‘s'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(roll) +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(name) +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(mark)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2 + 10 + 2 = 14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5EFF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Size depends on your computer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346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Copying and Comparing Structure Variables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variables of the same structure type can be copied the same way as ordinary variables.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e1 and e2 belong to the same type, then the following statement is valid. e1 = e2, and e2 = e1;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statements e1 &lt; e2; e1== e2; and e1 != e2; are not permitted.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language doesn't permit any logical operations on structure variables.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compare two structure variables but comparison of members of a structure can only be done individually.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5543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71578"/>
            <a:ext cx="9875520" cy="32205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Program 3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66954" y="884234"/>
            <a:ext cx="6249838" cy="5647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conio.h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number; </a:t>
            </a:r>
          </a:p>
          <a:p>
            <a:pPr marL="228600" lvl="1" indent="0"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 name[20];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float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marks;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x;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//Declaring and initializing structures of 'class' type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 algn="just">
              <a:lnSpc>
                <a:spcPct val="100000"/>
              </a:lnSpc>
              <a:buClrTx/>
              <a:buSzTx/>
              <a:buNone/>
            </a:pPr>
            <a:r>
              <a:rPr lang="en-US" altLang="en-US" sz="14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en-US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 student1 = {1, “</a:t>
            </a:r>
            <a:r>
              <a:rPr lang="en-US" altLang="en-US" sz="14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Amay</a:t>
            </a:r>
            <a:r>
              <a:rPr lang="en-US" altLang="en-US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73.00};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class student2 = {2, "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", 78.00};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class student3;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student3 = student2; // Copying student2 to student3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((student3.number = student2.number) &amp;&amp; (student3.marks = student2.marks)) </a:t>
            </a:r>
          </a:p>
          <a:p>
            <a:pPr marL="228600" lvl="1" indent="0"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verifying results of copy //can compare names using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strcmp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lvl="2" indent="0"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("\n student2 and student3 are equal");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lvl="2" indent="0"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("%d %s %f\n", student3.number, student3.name, student3.marks);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lvl="2" indent="0"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("\n student2 and student3 are different");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082663" y="2260927"/>
            <a:ext cx="2935857" cy="7848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kumimoji="0" lang="en-US" altLang="en-US" sz="16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student2 and student 3 are equal.</a:t>
            </a:r>
          </a:p>
          <a:p>
            <a:pPr lvl="0" algn="just" defTabSz="914400"/>
            <a:r>
              <a:rPr lang="en-US" alt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 </a:t>
            </a:r>
            <a:r>
              <a:rPr lang="en-US" altLang="en-US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gita</a:t>
            </a:r>
            <a:r>
              <a:rPr lang="en-US" alt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78.00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876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1023" y="169653"/>
            <a:ext cx="9875520" cy="1356360"/>
          </a:xfrm>
        </p:spPr>
        <p:txBody>
          <a:bodyPr/>
          <a:lstStyle/>
          <a:p>
            <a:pPr algn="ctr"/>
            <a:r>
              <a:rPr lang="en-IN" dirty="0"/>
              <a:t>Word Boundaries and Slack Bytes</a:t>
            </a:r>
          </a:p>
        </p:txBody>
      </p:sp>
      <p:pic>
        <p:nvPicPr>
          <p:cNvPr id="7170" name="Picture 2" descr="Structure paddi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3210" y="1598402"/>
            <a:ext cx="7667625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23424" y="4335357"/>
            <a:ext cx="10694433" cy="1631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computer with 4 bytes word boundary, the members of structure are stores left aligned on the word boundary.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character data takes one byte and an integer takes 4 bytes.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 bytes (Padding bytes) between them is left unoccupied. This unoccupied byte is known as the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slack byte.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687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IN" dirty="0"/>
              <a:t>Word Boundaries and Slack Bytes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26896" y="1994093"/>
            <a:ext cx="10174472" cy="37856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1450" indent="-171450" algn="just">
              <a:lnSpc>
                <a:spcPct val="100000"/>
              </a:lnSpc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Slack byte used for speed optimization.</a:t>
            </a:r>
          </a:p>
          <a:p>
            <a:pPr marL="171450" indent="-171450" algn="just">
              <a:lnSpc>
                <a:spcPct val="100000"/>
              </a:lnSpc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aligns bytes so that, that can be read/write from structure faster.</a:t>
            </a:r>
          </a:p>
          <a:p>
            <a:pPr marL="171450" indent="-171450" algn="just">
              <a:lnSpc>
                <a:spcPct val="100000"/>
              </a:lnSpc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an extra byte, sometimes placed between structure members to align the structure.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0000"/>
              </a:lnSpc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data is aligned properly, CPU can access the memory(structure members) efficiently and faster.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0000"/>
              </a:lnSpc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we declare structure variables, each one of them may contain the slack bytes and the values stored in such slack bytes are undefined(garbage). </a:t>
            </a:r>
          </a:p>
          <a:p>
            <a:pPr marL="171450" indent="-171450" algn="just">
              <a:lnSpc>
                <a:spcPct val="100000"/>
              </a:lnSpc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Due to this, even though the members of two variable values are equal, their structures do not necessarily to be equal.</a:t>
            </a:r>
          </a:p>
          <a:p>
            <a:pPr marL="171450" indent="-171450" algn="just">
              <a:lnSpc>
                <a:spcPct val="100000"/>
              </a:lnSpc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Therefore C does not permit compassion of structures. </a:t>
            </a:r>
          </a:p>
          <a:p>
            <a:pPr marL="171450" indent="-171450" algn="just">
              <a:lnSpc>
                <a:spcPct val="100000"/>
              </a:lnSpc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However, we need to design our own function that can compare the individual members of structure to decide whether the structures are equal or not.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516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627" y="402566"/>
            <a:ext cx="9875520" cy="684362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Array of Structures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43895" y="1510647"/>
            <a:ext cx="10876289" cy="4591000"/>
          </a:xfrm>
          <a:prstGeom prst="rect">
            <a:avLst/>
          </a:prstGeom>
          <a:solidFill>
            <a:srgbClr val="F9F2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>
              <a:lnSpc>
                <a:spcPct val="100000"/>
              </a:lnSpc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can also declare an array of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variables. </a:t>
            </a:r>
          </a:p>
          <a:p>
            <a:pPr marL="342900" indent="-342900">
              <a:lnSpc>
                <a:spcPct val="100000"/>
              </a:lnSpc>
              <a:buClrTx/>
              <a:buSzTx/>
            </a:pPr>
            <a:r>
              <a:rPr lang="en-US" alt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 which each element of the array will represent a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variable.</a:t>
            </a:r>
          </a:p>
          <a:p>
            <a:pPr marL="342900" indent="-342900">
              <a:lnSpc>
                <a:spcPct val="100000"/>
              </a:lnSpc>
              <a:buClrTx/>
              <a:buSzTx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of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</a:t>
            </a:r>
            <a:r>
              <a:rPr lang="en-IN" sz="20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memory in the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 as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multi- 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</a:t>
            </a:r>
            <a:r>
              <a:rPr lang="en-IN"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ClrTx/>
              <a:buSz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: </a:t>
            </a:r>
          </a:p>
          <a:p>
            <a:pPr marL="0" indent="0">
              <a:lnSpc>
                <a:spcPct val="100000"/>
              </a:lnSpc>
              <a:buClrTx/>
              <a:buSzTx/>
              <a:buNone/>
            </a:pPr>
            <a:r>
              <a:rPr lang="en-US" alt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C725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employee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C725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[5];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54965" indent="-342900">
              <a:spcBef>
                <a:spcPts val="869"/>
              </a:spcBef>
              <a:tabLst>
                <a:tab pos="355600" algn="l"/>
                <a:tab pos="356235" algn="l"/>
              </a:tabLst>
            </a:pPr>
            <a:r>
              <a:rPr lang="en-IN" sz="20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marL="12065" indent="0">
              <a:spcBef>
                <a:spcPts val="869"/>
              </a:spcBef>
              <a:buNone/>
              <a:tabLst>
                <a:tab pos="355600" algn="l"/>
                <a:tab pos="356235" algn="l"/>
              </a:tabLst>
            </a:pP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0">
              <a:spcBef>
                <a:spcPts val="770"/>
              </a:spcBef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pPr marL="744220" marR="5080" indent="0">
              <a:lnSpc>
                <a:spcPct val="120000"/>
              </a:lnSpc>
              <a:buNone/>
            </a:pPr>
            <a:r>
              <a:rPr lang="en-IN" sz="2000" spc="-1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roll_no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</a:p>
          <a:p>
            <a:pPr marL="744220" marR="5080" indent="0">
              <a:lnSpc>
                <a:spcPct val="12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en-IN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name[20];  </a:t>
            </a:r>
          </a:p>
          <a:p>
            <a:pPr marL="744220" marR="5080" indent="0">
              <a:lnSpc>
                <a:spcPct val="120000"/>
              </a:lnSpc>
              <a:buNone/>
            </a:pP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marks;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0">
              <a:spcBef>
                <a:spcPts val="770"/>
              </a:spcBef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s[100]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lnSpc>
                <a:spcPct val="100000"/>
              </a:lnSpc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896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28932" y="1530044"/>
            <a:ext cx="4602192" cy="3885619"/>
          </a:xfrm>
          <a:prstGeom prst="rect">
            <a:avLst/>
          </a:prstGeom>
          <a:solidFill>
            <a:srgbClr val="1E2A3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9522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8F8F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Employee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8F8F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Employee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8F8F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en-US" sz="1600" dirty="0">
                <a:solidFill>
                  <a:srgbClr val="E6DB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E6DB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8F8F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143000" y="255918"/>
            <a:ext cx="9875520" cy="60672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Program 4</a:t>
            </a:r>
            <a:endParaRPr lang="en-IN" dirty="0"/>
          </a:p>
        </p:txBody>
      </p:sp>
      <p:sp>
        <p:nvSpPr>
          <p:cNvPr id="7" name="Rectangle 1"/>
          <p:cNvSpPr txBox="1">
            <a:spLocks noChangeArrowheads="1"/>
          </p:cNvSpPr>
          <p:nvPr/>
        </p:nvSpPr>
        <p:spPr bwMode="auto">
          <a:xfrm>
            <a:off x="6557800" y="1283824"/>
            <a:ext cx="4958465" cy="4378061"/>
          </a:xfrm>
          <a:prstGeom prst="rect">
            <a:avLst/>
          </a:prstGeom>
          <a:solidFill>
            <a:srgbClr val="1E2A3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95220" rIns="0" bIns="952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en-US" sz="1600" dirty="0">
                <a:solidFill>
                  <a:srgbClr val="E6DB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rgbClr val="66D9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for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6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1600" dirty="0">
                <a:solidFill>
                  <a:srgbClr val="AE81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en-US" sz="16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en-US" sz="1600" dirty="0">
                <a:solidFill>
                  <a:srgbClr val="AE81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en-US" sz="16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{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 err="1">
                <a:solidFill>
                  <a:srgbClr val="E6DB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600" dirty="0">
                <a:solidFill>
                  <a:srgbClr val="A6E2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"\</a:t>
            </a:r>
            <a:r>
              <a:rPr lang="en-US" altLang="en-US" sz="1600" dirty="0" err="1">
                <a:solidFill>
                  <a:srgbClr val="A6E2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nEnter</a:t>
            </a:r>
            <a:r>
              <a:rPr lang="en-US" altLang="en-US" sz="1600" dirty="0">
                <a:solidFill>
                  <a:srgbClr val="A6E2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%</a:t>
            </a:r>
            <a:r>
              <a:rPr lang="en-US" altLang="en-US" sz="1600" dirty="0" err="1">
                <a:solidFill>
                  <a:srgbClr val="A6E2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dst</a:t>
            </a:r>
            <a:r>
              <a:rPr lang="en-US" altLang="en-US" sz="1600" dirty="0">
                <a:solidFill>
                  <a:srgbClr val="A6E2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Employee record:\n"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i+</a:t>
            </a:r>
            <a:r>
              <a:rPr lang="en-US" altLang="en-US" sz="1600" dirty="0">
                <a:solidFill>
                  <a:srgbClr val="AE81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 err="1">
                <a:solidFill>
                  <a:srgbClr val="E6DB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600" dirty="0">
                <a:solidFill>
                  <a:srgbClr val="A6E2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"\</a:t>
            </a:r>
            <a:r>
              <a:rPr lang="en-US" altLang="en-US" sz="1600" dirty="0" err="1">
                <a:solidFill>
                  <a:srgbClr val="A6E2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nEmployee</a:t>
            </a:r>
            <a:r>
              <a:rPr lang="en-US" altLang="en-US" sz="1600" dirty="0">
                <a:solidFill>
                  <a:srgbClr val="A6E2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name:\t"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 err="1">
                <a:solidFill>
                  <a:srgbClr val="E6DB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600" dirty="0">
                <a:solidFill>
                  <a:srgbClr val="A6E2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"%s"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16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US" altLang="en-US" sz="16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ename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 err="1">
                <a:solidFill>
                  <a:srgbClr val="E6DB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600" dirty="0">
                <a:solidFill>
                  <a:srgbClr val="A6E2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"\</a:t>
            </a:r>
            <a:r>
              <a:rPr lang="en-US" altLang="en-US" sz="1600" dirty="0" err="1">
                <a:solidFill>
                  <a:srgbClr val="A6E2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nEnter</a:t>
            </a:r>
            <a:r>
              <a:rPr lang="en-US" altLang="en-US" sz="1600" dirty="0">
                <a:solidFill>
                  <a:srgbClr val="A6E2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Salary:\t"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 err="1">
                <a:solidFill>
                  <a:srgbClr val="E6DB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600" dirty="0">
                <a:solidFill>
                  <a:srgbClr val="A6E2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"%d"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&amp;</a:t>
            </a:r>
            <a:r>
              <a:rPr lang="en-US" altLang="en-US" sz="16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16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US" altLang="en-US" sz="16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}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rgbClr val="E6DB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600" dirty="0" err="1">
                <a:solidFill>
                  <a:srgbClr val="E6DB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600" dirty="0">
                <a:solidFill>
                  <a:srgbClr val="A6E2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"\</a:t>
            </a:r>
            <a:r>
              <a:rPr lang="en-US" altLang="en-US" sz="1600" dirty="0" err="1">
                <a:solidFill>
                  <a:srgbClr val="A6E2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nDisplaying</a:t>
            </a:r>
            <a:r>
              <a:rPr lang="en-US" altLang="en-US" sz="1600" dirty="0">
                <a:solidFill>
                  <a:srgbClr val="A6E2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Employee record:\n"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600" dirty="0">
                <a:solidFill>
                  <a:srgbClr val="66D9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6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1600" dirty="0">
                <a:solidFill>
                  <a:srgbClr val="AE81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en-US" sz="16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en-US" sz="1600" dirty="0">
                <a:solidFill>
                  <a:srgbClr val="AE81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en-US" sz="16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{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 err="1">
                <a:solidFill>
                  <a:srgbClr val="E6DB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600" dirty="0">
                <a:solidFill>
                  <a:srgbClr val="A6E2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"\</a:t>
            </a:r>
            <a:r>
              <a:rPr lang="en-US" altLang="en-US" sz="1600" dirty="0" err="1">
                <a:solidFill>
                  <a:srgbClr val="A6E2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nEmployee</a:t>
            </a:r>
            <a:r>
              <a:rPr lang="en-US" altLang="en-US" sz="1600" dirty="0">
                <a:solidFill>
                  <a:srgbClr val="A6E2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name is %s"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16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US" altLang="en-US" sz="16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ename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 err="1">
                <a:solidFill>
                  <a:srgbClr val="E6DB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600" dirty="0">
                <a:solidFill>
                  <a:srgbClr val="A6E2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"\</a:t>
            </a:r>
            <a:r>
              <a:rPr lang="en-US" altLang="en-US" sz="1600" dirty="0" err="1">
                <a:solidFill>
                  <a:srgbClr val="A6E2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nSlary</a:t>
            </a:r>
            <a:r>
              <a:rPr lang="en-US" altLang="en-US" sz="1600" dirty="0">
                <a:solidFill>
                  <a:srgbClr val="A6E2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%d"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16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US" altLang="en-US" sz="16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}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763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Array within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4965" marR="837565" indent="-342900">
              <a:lnSpc>
                <a:spcPct val="100000"/>
              </a:lnSpc>
              <a:spcBef>
                <a:spcPts val="100"/>
              </a:spcBef>
              <a:tabLst>
                <a:tab pos="268605" algn="l"/>
              </a:tabLst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permits the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array as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000" spc="-1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members.</a:t>
            </a:r>
          </a:p>
          <a:p>
            <a:pPr marL="297815" marR="5080" indent="-285750">
              <a:lnSpc>
                <a:spcPct val="100000"/>
              </a:lnSpc>
              <a:spcBef>
                <a:spcPts val="400"/>
              </a:spcBef>
              <a:tabLst>
                <a:tab pos="268605" algn="l"/>
              </a:tabLst>
            </a:pP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single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multi-dimensional</a:t>
            </a:r>
            <a:r>
              <a:rPr lang="en-IN" sz="2000" spc="-1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 of type </a:t>
            </a:r>
            <a:r>
              <a:rPr lang="en-IN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IN" sz="2000" spc="-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en-IN" sz="2000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marL="0" indent="0">
              <a:lnSpc>
                <a:spcPct val="100000"/>
              </a:lnSpc>
              <a:spcBef>
                <a:spcPts val="509"/>
              </a:spcBef>
              <a:buNone/>
            </a:pP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000" spc="-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sz="2000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marks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409"/>
              </a:spcBef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{</a:t>
            </a:r>
          </a:p>
          <a:p>
            <a:pPr marL="701675" marR="5080" lvl="1" indent="0">
              <a:lnSpc>
                <a:spcPct val="112200"/>
              </a:lnSpc>
              <a:buNone/>
            </a:pPr>
            <a:r>
              <a:rPr lang="en-IN" spc="-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number;  </a:t>
            </a:r>
          </a:p>
          <a:p>
            <a:pPr marL="701675" marR="5080" lvl="1" indent="0">
              <a:lnSpc>
                <a:spcPct val="112200"/>
              </a:lnSpc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en-IN" spc="-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subject[3];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" indent="0">
              <a:lnSpc>
                <a:spcPct val="100000"/>
              </a:lnSpc>
              <a:spcBef>
                <a:spcPts val="414"/>
              </a:spcBef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  <a:r>
              <a:rPr lang="en-IN" sz="2000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student[2];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7133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76687"/>
            <a:ext cx="9875520" cy="391064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Program 5</a:t>
            </a:r>
            <a:endParaRPr lang="en-IN" dirty="0"/>
          </a:p>
        </p:txBody>
      </p:sp>
      <p:sp>
        <p:nvSpPr>
          <p:cNvPr id="8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619123" y="1098514"/>
            <a:ext cx="3199594" cy="474230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Roll;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 Name[25];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Marks[3]; // array of marks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Total;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float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 main()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 S;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("\n\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nEnter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 Roll : ");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("%d",&amp;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S.Roll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("\n\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nEnter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 Name : ");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("%s",&amp;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S.Name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S.Total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4312808" y="1467846"/>
            <a:ext cx="3535904" cy="4003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for(</a:t>
            </a: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=0;i&lt;3;i++)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50292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("\n\</a:t>
            </a: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nEnter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Marks %d : ",i+1); </a:t>
            </a:r>
          </a:p>
          <a:p>
            <a:pPr marL="50292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("%d",&amp;</a:t>
            </a: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S.Marks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]); </a:t>
            </a:r>
          </a:p>
          <a:p>
            <a:pPr marL="50292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S.Total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S.Total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S.Marks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S.Avg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S.Total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3;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(“The Details are:\n”);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("\</a:t>
            </a: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nRoll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%d",</a:t>
            </a: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S.Roll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("\</a:t>
            </a: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nName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%s",</a:t>
            </a: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S.Name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("\</a:t>
            </a: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nTotal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%d",</a:t>
            </a: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S.Total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("\</a:t>
            </a: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nAverage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%f",</a:t>
            </a:r>
            <a:r>
              <a:rPr lang="en-US" altLang="en-US" sz="1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S.Avg</a:t>
            </a: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b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8569132" y="1708605"/>
            <a:ext cx="2449388" cy="3018755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Student Roll : 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Student Name : Kumar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Marks 1 : 78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Marks 2 : 89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Marks 3 : 56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Details are: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Roll : 10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 : Kumar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: 223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: 74.00000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0209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709" y="750278"/>
            <a:ext cx="5468814" cy="6353907"/>
          </a:xfrm>
        </p:spPr>
        <p:txBody>
          <a:bodyPr>
            <a:noAutofit/>
          </a:bodyPr>
          <a:lstStyle/>
          <a:p>
            <a:pPr marL="45720" indent="0" fontAlgn="base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student{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char name[20];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submarks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[4];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};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 )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j;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student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stuarr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[3];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for(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=0;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&lt;3;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{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("Enter data for student %d\n", i+1);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("Enter name : ");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("%s",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stuarr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].name );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("Enter roll number : ");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("%d", &amp;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stuarr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421317" y="862264"/>
            <a:ext cx="5465884" cy="480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fontAlgn="base">
              <a:lnSpc>
                <a:spcPct val="120000"/>
              </a:lnSpc>
              <a:spcBef>
                <a:spcPts val="300"/>
              </a:spcBef>
              <a:buFont typeface="Corbel" panose="020B0503020204020204" pitchFamily="34" charset="0"/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for(j=0; j&lt;4;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Font typeface="Corbel" panose="020B0503020204020204" pitchFamily="34" charset="0"/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{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Font typeface="Corbel" panose="020B0503020204020204" pitchFamily="34" charset="0"/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        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("Enter marks for subject %d : ", j+1);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Font typeface="Corbel" panose="020B0503020204020204" pitchFamily="34" charset="0"/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        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("%d", &amp;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stuarr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submarks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[j] );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Font typeface="Corbel" panose="020B0503020204020204" pitchFamily="34" charset="0"/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}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Font typeface="Corbel" panose="020B0503020204020204" pitchFamily="34" charset="0"/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}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Font typeface="Corbel" panose="020B0503020204020204" pitchFamily="34" charset="0"/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for(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=0;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&lt;3;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Font typeface="Corbel" panose="020B0503020204020204" pitchFamily="34" charset="0"/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{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Font typeface="Corbel" panose="020B0503020204020204" pitchFamily="34" charset="0"/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("Data of student %d\n", i+1);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Font typeface="Corbel" panose="020B0503020204020204" pitchFamily="34" charset="0"/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("Name : %s, Roll number : %d\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nMarks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", 	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stuarr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].name,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stuarr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Font typeface="Corbel" panose="020B0503020204020204" pitchFamily="34" charset="0"/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for(j=0; j&lt;4;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Font typeface="Corbel" panose="020B0503020204020204" pitchFamily="34" charset="0"/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        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  ",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stuarr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submarks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[j] );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Font typeface="Corbel" panose="020B0503020204020204" pitchFamily="34" charset="0"/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("\n");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Font typeface="Corbel" panose="020B0503020204020204" pitchFamily="34" charset="0"/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}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Font typeface="Corbel" panose="020B0503020204020204" pitchFamily="34" charset="0"/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return 0;</a:t>
            </a:r>
          </a:p>
          <a:p>
            <a:pPr marL="45720" indent="0" fontAlgn="base">
              <a:lnSpc>
                <a:spcPct val="120000"/>
              </a:lnSpc>
              <a:spcBef>
                <a:spcPts val="300"/>
              </a:spcBef>
              <a:buFont typeface="Corbel" panose="020B0503020204020204" pitchFamily="34" charset="0"/>
              <a:buNone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40168" y="283790"/>
            <a:ext cx="82476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" indent="0" fontAlgn="base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 Program 6 to understand arrays within structures and array of structures*/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3037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919680"/>
              </p:ext>
            </p:extLst>
          </p:nvPr>
        </p:nvGraphicFramePr>
        <p:xfrm>
          <a:off x="986331" y="1445877"/>
          <a:ext cx="4352092" cy="4436400"/>
        </p:xfrm>
        <a:graphic>
          <a:graphicData uri="http://schemas.openxmlformats.org/drawingml/2006/table">
            <a:tbl>
              <a:tblPr/>
              <a:tblGrid>
                <a:gridCol w="4352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5793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data for student 1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name : John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roll number : 1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marks for subject 1 : 56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marks for subject 2 : 6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marks for subject 3 : 78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marks for subject 4 : 78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data for student 2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name : Max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roll number : 2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marks for subject 1 : 56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marks for subject 2 : 45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marks for subject 3 : 78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marks for subject 4 : 98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7280" marR="47280" marT="23640" marB="236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703385" y="169204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0825635"/>
              </p:ext>
            </p:extLst>
          </p:nvPr>
        </p:nvGraphicFramePr>
        <p:xfrm>
          <a:off x="6253035" y="1122099"/>
          <a:ext cx="4352092" cy="4924080"/>
        </p:xfrm>
        <a:graphic>
          <a:graphicData uri="http://schemas.openxmlformats.org/drawingml/2006/table">
            <a:tbl>
              <a:tblPr/>
              <a:tblGrid>
                <a:gridCol w="4352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97812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data for student 3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name : AJ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roll number : 3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marks for subject 1 : 45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marks for subject 2 : 67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marks for subject 3 : 89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marks for subject 4 : 45</a:t>
                      </a:r>
                    </a:p>
                    <a:p>
                      <a:pPr algn="l" fontAlgn="base"/>
                      <a:endParaRPr lang="en-IN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of student 1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: John, Roll number : 1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Marks : 56   6   78   78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of student 2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: Max, Roll number : 2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Marks : 56   45   78   98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of student 3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: AJ, Roll number : 3</a:t>
                      </a:r>
                    </a:p>
                    <a:p>
                      <a:pPr algn="l" fontAlgn="base"/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Marks : 45   67   89   45</a:t>
                      </a:r>
                    </a:p>
                  </a:txBody>
                  <a:tcPr marL="47280" marR="47280" marT="23640" marB="236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21834" y="492369"/>
            <a:ext cx="1639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9188953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Nested Structures</a:t>
            </a:r>
            <a:br>
              <a:rPr lang="en-IN" dirty="0"/>
            </a:br>
            <a:r>
              <a:rPr lang="en-IN" dirty="0"/>
              <a:t>(Structures within Structures)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0129" y="2212675"/>
            <a:ext cx="9872871" cy="1220638"/>
          </a:xfrm>
        </p:spPr>
        <p:txBody>
          <a:bodyPr>
            <a:noAutofit/>
          </a:bodyPr>
          <a:lstStyle/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Nesting of structures, is also permitted in C language. </a:t>
            </a:r>
          </a:p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 structures means, that one structure has another structure as member variable.</a:t>
            </a:r>
          </a:p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52423" y="3873195"/>
            <a:ext cx="3351623" cy="2562179"/>
          </a:xfrm>
          <a:prstGeom prst="rect">
            <a:avLst/>
          </a:prstGeom>
          <a:solidFill>
            <a:srgbClr val="1E2A3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522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char[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name;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age;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/* here Address is a structure */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Address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char[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locality; 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char[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city; 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pincode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079435" y="3834657"/>
            <a:ext cx="2538354" cy="2600651"/>
          </a:xfrm>
          <a:prstGeom prst="rect">
            <a:avLst/>
          </a:prstGeom>
          <a:solidFill>
            <a:srgbClr val="1E2A3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9522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12065">
              <a:spcBef>
                <a:spcPts val="100"/>
              </a:spcBef>
              <a:tabLst>
                <a:tab pos="355600" algn="l"/>
                <a:tab pos="356235" algn="l"/>
              </a:tabLst>
            </a:pPr>
            <a:r>
              <a:rPr lang="en-IN" sz="1400" spc="-15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sz="1400" spc="-1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date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>
              <a:spcBef>
                <a:spcPts val="100"/>
              </a:spcBef>
              <a:tabLst>
                <a:tab pos="355600" algn="l"/>
                <a:tab pos="356235" algn="l"/>
              </a:tabLst>
            </a:pP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469265" lvl="1">
              <a:spcBef>
                <a:spcPts val="100"/>
              </a:spcBef>
              <a:tabLst>
                <a:tab pos="355600" algn="l"/>
                <a:tab pos="356235" algn="l"/>
              </a:tabLst>
            </a:pPr>
            <a:r>
              <a:rPr lang="en-IN" sz="1400" spc="-1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14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spc="-6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day, 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mon,</a:t>
            </a:r>
            <a:r>
              <a:rPr lang="en-IN" sz="1400" spc="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year;</a:t>
            </a:r>
          </a:p>
          <a:p>
            <a:pPr marL="12065">
              <a:spcBef>
                <a:spcPts val="100"/>
              </a:spcBef>
              <a:tabLst>
                <a:tab pos="355600" algn="l"/>
                <a:tab pos="356235" algn="l"/>
              </a:tabLst>
            </a:pP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>
              <a:spcBef>
                <a:spcPts val="10"/>
              </a:spcBef>
            </a:pP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>
              <a:tabLst>
                <a:tab pos="355600" algn="l"/>
                <a:tab pos="356235" algn="l"/>
              </a:tabLst>
            </a:pPr>
            <a:r>
              <a:rPr lang="en-IN" sz="1400" spc="-1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sz="14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>
              <a:tabLst>
                <a:tab pos="355600" algn="l"/>
                <a:tab pos="356235" algn="l"/>
              </a:tabLst>
            </a:pP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469265" lvl="1">
              <a:tabLst>
                <a:tab pos="355600" algn="l"/>
                <a:tab pos="356235" algn="l"/>
              </a:tabLst>
            </a:pP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IN" sz="14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name[20]; </a:t>
            </a:r>
          </a:p>
          <a:p>
            <a:pPr marL="469265" lvl="1">
              <a:tabLst>
                <a:tab pos="355600" algn="l"/>
                <a:tab pos="356235" algn="l"/>
              </a:tabLst>
            </a:pPr>
            <a:r>
              <a:rPr lang="en-IN" sz="1400" spc="-1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sz="14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spc="-1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IN" sz="1400" spc="-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birthday;  </a:t>
            </a:r>
          </a:p>
          <a:p>
            <a:pPr marL="469265" lvl="1">
              <a:tabLst>
                <a:tab pos="355600" algn="l"/>
                <a:tab pos="356235" algn="l"/>
              </a:tabLst>
            </a:pPr>
            <a:r>
              <a:rPr lang="en-IN" sz="14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en-IN" sz="14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salary;</a:t>
            </a:r>
          </a:p>
          <a:p>
            <a:pPr marL="12065">
              <a:tabLst>
                <a:tab pos="355600" algn="l"/>
                <a:tab pos="356235" algn="l"/>
              </a:tabLst>
            </a:pP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0037582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0351" y="385313"/>
            <a:ext cx="9875520" cy="986286"/>
          </a:xfrm>
        </p:spPr>
        <p:txBody>
          <a:bodyPr/>
          <a:lstStyle/>
          <a:p>
            <a:pPr algn="ctr"/>
            <a:r>
              <a:rPr lang="en-IN" spc="-5" dirty="0"/>
              <a:t>Structures and</a:t>
            </a:r>
            <a:r>
              <a:rPr lang="en-IN" spc="-65" dirty="0"/>
              <a:t> </a:t>
            </a:r>
            <a:r>
              <a:rPr lang="en-IN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856" y="1483743"/>
            <a:ext cx="9872871" cy="5037827"/>
          </a:xfrm>
        </p:spPr>
        <p:txBody>
          <a:bodyPr>
            <a:normAutofit fontScale="92500" lnSpcReduction="10000"/>
          </a:bodyPr>
          <a:lstStyle/>
          <a:p>
            <a:pPr marL="378460" marR="24765" indent="-256540" algn="just">
              <a:lnSpc>
                <a:spcPct val="100000"/>
              </a:lnSpc>
              <a:spcBef>
                <a:spcPts val="100"/>
              </a:spcBef>
              <a:tabLst>
                <a:tab pos="378460" algn="l"/>
              </a:tabLst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pass a structure as a function argument just like we pass any other variable or an array as a function argument.</a:t>
            </a:r>
          </a:p>
          <a:p>
            <a:pPr marL="378460" marR="24765" indent="-256540" algn="just">
              <a:lnSpc>
                <a:spcPct val="100000"/>
              </a:lnSpc>
              <a:spcBef>
                <a:spcPts val="100"/>
              </a:spcBef>
              <a:tabLst>
                <a:tab pos="378460" algn="l"/>
              </a:tabLst>
            </a:pP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methods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values of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 structure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transferred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IN"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another: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marR="97155" indent="-457200" algn="just">
              <a:lnSpc>
                <a:spcPct val="100000"/>
              </a:lnSpc>
              <a:spcBef>
                <a:spcPts val="400"/>
              </a:spcBef>
              <a:buAutoNum type="arabicPeriod"/>
            </a:pP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pass each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IN" sz="2000" spc="-1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argument of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IN" sz="2000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call.</a:t>
            </a:r>
          </a:p>
          <a:p>
            <a:pPr marL="469265" marR="97155" indent="-457200" algn="just">
              <a:lnSpc>
                <a:spcPct val="100000"/>
              </a:lnSpc>
              <a:spcBef>
                <a:spcPts val="400"/>
              </a:spcBef>
              <a:buAutoNum type="arabicPeriod"/>
            </a:pPr>
            <a:r>
              <a:rPr lang="en-IN"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Passing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 of the entire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 the called</a:t>
            </a:r>
            <a:r>
              <a:rPr lang="en-IN" sz="2000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function.</a:t>
            </a:r>
          </a:p>
          <a:p>
            <a:pPr marL="469265" marR="97155" indent="-457200" algn="just">
              <a:lnSpc>
                <a:spcPct val="100000"/>
              </a:lnSpc>
              <a:spcBef>
                <a:spcPts val="400"/>
              </a:spcBef>
              <a:buAutoNum type="arabicPeriod"/>
            </a:pPr>
            <a:r>
              <a:rPr lang="en-IN"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Pointers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pass the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an  argument.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3865" marR="725170" indent="-431800" algn="just">
              <a:lnSpc>
                <a:spcPct val="108300"/>
              </a:lnSpc>
              <a:spcBef>
                <a:spcPts val="130"/>
              </a:spcBef>
              <a:tabLst>
                <a:tab pos="527685" algn="l"/>
              </a:tabLst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format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sending a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 of</a:t>
            </a:r>
            <a:r>
              <a:rPr lang="en-IN" sz="2000" spc="-1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 structure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the called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function:  </a:t>
            </a:r>
          </a:p>
          <a:p>
            <a:pPr marL="12065" marR="725170" indent="0" algn="just">
              <a:lnSpc>
                <a:spcPct val="108300"/>
              </a:lnSpc>
              <a:spcBef>
                <a:spcPts val="130"/>
              </a:spcBef>
              <a:buNone/>
              <a:tabLst>
                <a:tab pos="527685" algn="l"/>
              </a:tabLst>
            </a:pP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I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function_</a:t>
            </a:r>
            <a:r>
              <a:rPr lang="en-IN" sz="2000" spc="-5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IN" sz="20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spc="-5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st_var_name</a:t>
            </a:r>
            <a:r>
              <a:rPr lang="en-IN" sz="20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443865" marR="725170" indent="-431800" algn="just">
              <a:lnSpc>
                <a:spcPct val="108300"/>
              </a:lnSpc>
              <a:spcBef>
                <a:spcPts val="130"/>
              </a:spcBef>
              <a:tabLst>
                <a:tab pos="527685" algn="l"/>
              </a:tabLst>
            </a:pP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called function takes the following form:  </a:t>
            </a:r>
          </a:p>
          <a:p>
            <a:pPr marL="12065" marR="725170" indent="0" algn="just">
              <a:lnSpc>
                <a:spcPct val="108300"/>
              </a:lnSpc>
              <a:spcBef>
                <a:spcPts val="130"/>
              </a:spcBef>
              <a:buNone/>
              <a:tabLst>
                <a:tab pos="527685" algn="l"/>
              </a:tabLst>
            </a:pP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spc="-5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data_type</a:t>
            </a:r>
            <a:r>
              <a:rPr lang="en-IN" sz="20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function_</a:t>
            </a:r>
            <a:r>
              <a:rPr lang="en-IN" sz="2000" spc="-5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IN" sz="20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strtuct_type</a:t>
            </a:r>
            <a:r>
              <a:rPr lang="en-IN" sz="20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5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st_var_name</a:t>
            </a:r>
            <a:r>
              <a:rPr lang="en-IN" sz="20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0985" indent="0" algn="just">
              <a:lnSpc>
                <a:spcPct val="100000"/>
              </a:lnSpc>
              <a:spcBef>
                <a:spcPts val="395"/>
              </a:spcBef>
              <a:buNone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{</a:t>
            </a:r>
          </a:p>
          <a:p>
            <a:pPr marL="908685" marR="3276600" indent="0" algn="just">
              <a:lnSpc>
                <a:spcPct val="112300"/>
              </a:lnSpc>
              <a:spcBef>
                <a:spcPts val="10"/>
              </a:spcBef>
              <a:buNone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908685" marR="3276600" indent="0" algn="just">
              <a:lnSpc>
                <a:spcPct val="112300"/>
              </a:lnSpc>
              <a:spcBef>
                <a:spcPts val="10"/>
              </a:spcBef>
              <a:buNone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 </a:t>
            </a:r>
          </a:p>
          <a:p>
            <a:pPr marL="908685" marR="3276600" indent="0" algn="just">
              <a:lnSpc>
                <a:spcPct val="112300"/>
              </a:lnSpc>
              <a:spcBef>
                <a:spcPts val="10"/>
              </a:spcBef>
              <a:buNone/>
            </a:pPr>
            <a:r>
              <a:rPr lang="en-IN" sz="20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return(expression);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9570" indent="0" algn="just">
              <a:lnSpc>
                <a:spcPct val="100000"/>
              </a:lnSpc>
              <a:spcBef>
                <a:spcPts val="395"/>
              </a:spcBef>
              <a:buNone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3019008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42867" y="775901"/>
            <a:ext cx="4812545" cy="5796378"/>
          </a:xfrm>
          <a:prstGeom prst="rect">
            <a:avLst/>
          </a:prstGeom>
          <a:solidFill>
            <a:srgbClr val="1E2A3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8F8F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 name[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roll;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8F8F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8F8F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"\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nEnter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 record:\n"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"\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nStudent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name:\t"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"%s"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std.name);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"\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nEnter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.:\t"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"%d"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&amp;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std.roll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} 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08661" y="303695"/>
            <a:ext cx="9875520" cy="5158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Program 7</a:t>
            </a:r>
            <a:endParaRPr lang="en-IN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6625087" y="1842181"/>
            <a:ext cx="4717654" cy="1641394"/>
          </a:xfrm>
          <a:prstGeom prst="rect">
            <a:avLst/>
          </a:prstGeom>
          <a:solidFill>
            <a:srgbClr val="1E2A3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"\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nstudent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name is %s"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st.name);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"\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nroll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%d"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st.roll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440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err="1"/>
              <a:t>Excercise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57400"/>
            <a:ext cx="10054087" cy="40386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 Program to find Average marks and display student details using structure.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Tip:</a:t>
            </a:r>
          </a:p>
          <a:p>
            <a:pPr marL="274320" lvl="1" indent="0">
              <a:buNone/>
            </a:pPr>
            <a:r>
              <a:rPr lang="en-IN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student</a:t>
            </a:r>
          </a:p>
          <a:p>
            <a:pPr marL="274320" lvl="1" indent="0">
              <a:buNone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548640" lvl="2" indent="0">
              <a:buNone/>
            </a:pPr>
            <a:r>
              <a:rPr lang="en-IN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rno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548640" lvl="2" indent="0">
              <a:buNone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 marks[5], </a:t>
            </a:r>
            <a:r>
              <a:rPr lang="en-IN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548640" lvl="2" indent="0">
              <a:buNone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name[10];</a:t>
            </a:r>
          </a:p>
          <a:p>
            <a:pPr marL="274320" lvl="1" indent="0">
              <a:buNone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}s[10];</a:t>
            </a:r>
          </a:p>
        </p:txBody>
      </p:sp>
    </p:spTree>
    <p:extLst>
      <p:ext uri="{BB962C8B-B14F-4D97-AF65-F5344CB8AC3E}">
        <p14:creationId xmlns:p14="http://schemas.microsoft.com/office/powerpoint/2010/main" val="31379160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8765" y="2891790"/>
            <a:ext cx="9875520" cy="1356360"/>
          </a:xfrm>
        </p:spPr>
        <p:txBody>
          <a:bodyPr/>
          <a:lstStyle/>
          <a:p>
            <a:pPr algn="ctr"/>
            <a:r>
              <a:rPr lang="en-IN" altLang="en-US" b="1"/>
              <a:t>THANK YOU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9849</TotalTime>
  <Words>2079</Words>
  <Application>Microsoft Office PowerPoint</Application>
  <PresentationFormat>Widescreen</PresentationFormat>
  <Paragraphs>506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Basis</vt:lpstr>
      <vt:lpstr>structures</vt:lpstr>
      <vt:lpstr>Agenda</vt:lpstr>
      <vt:lpstr>Introduction</vt:lpstr>
      <vt:lpstr>Syntax</vt:lpstr>
      <vt:lpstr>PowerPoint Presentation</vt:lpstr>
      <vt:lpstr>Declaration of  structure variable</vt:lpstr>
      <vt:lpstr>Accessing Structure Members</vt:lpstr>
      <vt:lpstr>PowerPoint Presentation</vt:lpstr>
      <vt:lpstr>PowerPoint Presentation</vt:lpstr>
      <vt:lpstr>Structure Initialization</vt:lpstr>
      <vt:lpstr>Arrays Vs Structures</vt:lpstr>
      <vt:lpstr>Size of Structures</vt:lpstr>
      <vt:lpstr>Copying and Comparing Structure Variables</vt:lpstr>
      <vt:lpstr>Example Program 3</vt:lpstr>
      <vt:lpstr>Word Boundaries and Slack Bytes</vt:lpstr>
      <vt:lpstr>Word Boundaries and Slack Bytes</vt:lpstr>
      <vt:lpstr>Array of Structures</vt:lpstr>
      <vt:lpstr>Example Program 4</vt:lpstr>
      <vt:lpstr>Array within Structures</vt:lpstr>
      <vt:lpstr>Example Program 5</vt:lpstr>
      <vt:lpstr>PowerPoint Presentation</vt:lpstr>
      <vt:lpstr>PowerPoint Presentation</vt:lpstr>
      <vt:lpstr>Nested Structures (Structures within Structures)</vt:lpstr>
      <vt:lpstr>Structures and Functions</vt:lpstr>
      <vt:lpstr>Example Program 7</vt:lpstr>
      <vt:lpstr>Excercise</vt:lpstr>
      <vt:lpstr>THANK YOU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919645628628</cp:lastModifiedBy>
  <cp:revision>129</cp:revision>
  <dcterms:created xsi:type="dcterms:W3CDTF">2020-08-23T11:58:00Z</dcterms:created>
  <dcterms:modified xsi:type="dcterms:W3CDTF">2022-08-31T05:05:38Z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1033-11.2.0.9747</vt:lpwstr>
  </property>
</Properties>
</file>