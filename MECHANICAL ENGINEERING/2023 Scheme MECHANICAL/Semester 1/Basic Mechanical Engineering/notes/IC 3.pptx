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56794"/>
            <a:ext cx="103581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heavy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624" y="1793493"/>
            <a:ext cx="11134750" cy="3653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98245"/>
            <a:ext cx="10592912" cy="5370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618566"/>
            <a:ext cx="9954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FUEL</a:t>
            </a:r>
            <a:r>
              <a:rPr sz="3600" spc="-110" dirty="0"/>
              <a:t> </a:t>
            </a:r>
            <a:r>
              <a:rPr sz="3600" spc="-15" dirty="0"/>
              <a:t>–AIR</a:t>
            </a:r>
            <a:r>
              <a:rPr sz="3600" spc="-95" dirty="0"/>
              <a:t> </a:t>
            </a:r>
            <a:r>
              <a:rPr sz="3600" spc="-30" dirty="0"/>
              <a:t>SYSTEM</a:t>
            </a:r>
            <a:r>
              <a:rPr sz="3600" spc="-130" dirty="0"/>
              <a:t> </a:t>
            </a:r>
            <a:r>
              <a:rPr sz="3600" spc="-30" dirty="0"/>
              <a:t>FOR</a:t>
            </a:r>
            <a:r>
              <a:rPr sz="3600" spc="-80" dirty="0"/>
              <a:t> </a:t>
            </a:r>
            <a:r>
              <a:rPr sz="3600" spc="-30" dirty="0"/>
              <a:t>CARBURETTED</a:t>
            </a:r>
            <a:r>
              <a:rPr sz="3600" spc="-105" dirty="0"/>
              <a:t> </a:t>
            </a:r>
            <a:r>
              <a:rPr sz="3600" spc="-30" dirty="0"/>
              <a:t>PETROL</a:t>
            </a:r>
            <a:r>
              <a:rPr sz="3600" spc="-90" dirty="0"/>
              <a:t> </a:t>
            </a:r>
            <a:r>
              <a:rPr sz="3600" spc="-25" dirty="0"/>
              <a:t>ENGINE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548" y="1698231"/>
            <a:ext cx="10160000" cy="4339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0698"/>
            <a:ext cx="1775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Carburetor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135" y="803275"/>
            <a:ext cx="11490960" cy="38417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4400" spc="5" dirty="0">
                <a:latin typeface="Cambria"/>
                <a:cs typeface="Cambria"/>
              </a:rPr>
              <a:t>The </a:t>
            </a:r>
            <a:r>
              <a:rPr sz="4400" spc="-15" dirty="0">
                <a:latin typeface="Cambria"/>
                <a:cs typeface="Cambria"/>
              </a:rPr>
              <a:t>carburetor </a:t>
            </a:r>
            <a:r>
              <a:rPr sz="4400" dirty="0">
                <a:latin typeface="Cambria"/>
                <a:cs typeface="Cambria"/>
              </a:rPr>
              <a:t>is a </a:t>
            </a:r>
            <a:r>
              <a:rPr sz="4400" spc="-10" dirty="0">
                <a:latin typeface="Cambria"/>
                <a:cs typeface="Cambria"/>
              </a:rPr>
              <a:t>device </a:t>
            </a:r>
            <a:r>
              <a:rPr sz="4400" spc="-15" dirty="0">
                <a:latin typeface="Cambria"/>
                <a:cs typeface="Cambria"/>
              </a:rPr>
              <a:t>for </a:t>
            </a:r>
            <a:r>
              <a:rPr sz="4400" spc="-5" dirty="0">
                <a:latin typeface="Cambria"/>
                <a:cs typeface="Cambria"/>
              </a:rPr>
              <a:t>atomising and </a:t>
            </a:r>
            <a:r>
              <a:rPr sz="4400" dirty="0">
                <a:latin typeface="Cambria"/>
                <a:cs typeface="Cambria"/>
              </a:rPr>
              <a:t> </a:t>
            </a:r>
            <a:r>
              <a:rPr sz="4400" spc="-10" dirty="0">
                <a:latin typeface="Cambria"/>
                <a:cs typeface="Cambria"/>
              </a:rPr>
              <a:t>vapourising </a:t>
            </a:r>
            <a:r>
              <a:rPr sz="4400" spc="-5" dirty="0">
                <a:latin typeface="Cambria"/>
                <a:cs typeface="Cambria"/>
              </a:rPr>
              <a:t>the fuel </a:t>
            </a:r>
            <a:r>
              <a:rPr sz="4400" dirty="0">
                <a:latin typeface="Cambria"/>
                <a:cs typeface="Cambria"/>
              </a:rPr>
              <a:t>and </a:t>
            </a:r>
            <a:r>
              <a:rPr sz="4400" spc="-5" dirty="0">
                <a:latin typeface="Cambria"/>
                <a:cs typeface="Cambria"/>
              </a:rPr>
              <a:t>mixing it with the air </a:t>
            </a:r>
            <a:r>
              <a:rPr sz="4400" dirty="0">
                <a:latin typeface="Cambria"/>
                <a:cs typeface="Cambria"/>
              </a:rPr>
              <a:t> in </a:t>
            </a:r>
            <a:r>
              <a:rPr sz="4400" spc="-5" dirty="0">
                <a:latin typeface="Cambria"/>
                <a:cs typeface="Cambria"/>
              </a:rPr>
              <a:t>the </a:t>
            </a:r>
            <a:r>
              <a:rPr sz="4400" spc="-20" dirty="0">
                <a:latin typeface="Cambria"/>
                <a:cs typeface="Cambria"/>
              </a:rPr>
              <a:t>varying </a:t>
            </a:r>
            <a:r>
              <a:rPr sz="4400" spc="-5" dirty="0">
                <a:latin typeface="Cambria"/>
                <a:cs typeface="Cambria"/>
              </a:rPr>
              <a:t>proportions </a:t>
            </a:r>
            <a:r>
              <a:rPr sz="4400" spc="-20" dirty="0">
                <a:latin typeface="Cambria"/>
                <a:cs typeface="Cambria"/>
              </a:rPr>
              <a:t>to </a:t>
            </a:r>
            <a:r>
              <a:rPr sz="4400" dirty="0">
                <a:latin typeface="Cambria"/>
                <a:cs typeface="Cambria"/>
              </a:rPr>
              <a:t>suit </a:t>
            </a:r>
            <a:r>
              <a:rPr sz="4400" spc="-5" dirty="0">
                <a:latin typeface="Cambria"/>
                <a:cs typeface="Cambria"/>
              </a:rPr>
              <a:t>the changing </a:t>
            </a:r>
            <a:r>
              <a:rPr sz="4400" dirty="0">
                <a:latin typeface="Cambria"/>
                <a:cs typeface="Cambria"/>
              </a:rPr>
              <a:t> </a:t>
            </a:r>
            <a:r>
              <a:rPr sz="4400" spc="-10" dirty="0">
                <a:latin typeface="Cambria"/>
                <a:cs typeface="Cambria"/>
              </a:rPr>
              <a:t>operating</a:t>
            </a:r>
            <a:r>
              <a:rPr sz="4400" spc="-25" dirty="0">
                <a:latin typeface="Cambria"/>
                <a:cs typeface="Cambria"/>
              </a:rPr>
              <a:t> </a:t>
            </a:r>
            <a:r>
              <a:rPr sz="4400" dirty="0">
                <a:latin typeface="Cambria"/>
                <a:cs typeface="Cambria"/>
              </a:rPr>
              <a:t>conditions</a:t>
            </a:r>
            <a:r>
              <a:rPr sz="4400" spc="-40" dirty="0">
                <a:latin typeface="Cambria"/>
                <a:cs typeface="Cambria"/>
              </a:rPr>
              <a:t> </a:t>
            </a:r>
            <a:r>
              <a:rPr sz="4400" dirty="0">
                <a:latin typeface="Cambria"/>
                <a:cs typeface="Cambria"/>
              </a:rPr>
              <a:t>of</a:t>
            </a:r>
            <a:r>
              <a:rPr sz="4400" spc="10" dirty="0">
                <a:latin typeface="Cambria"/>
                <a:cs typeface="Cambria"/>
              </a:rPr>
              <a:t> </a:t>
            </a:r>
            <a:r>
              <a:rPr sz="4400" spc="-5" dirty="0">
                <a:latin typeface="Cambria"/>
                <a:cs typeface="Cambria"/>
              </a:rPr>
              <a:t>the </a:t>
            </a:r>
            <a:r>
              <a:rPr sz="4400" dirty="0">
                <a:latin typeface="Cambria"/>
                <a:cs typeface="Cambria"/>
              </a:rPr>
              <a:t>engine.</a:t>
            </a:r>
            <a:endParaRPr sz="4400">
              <a:latin typeface="Cambria"/>
              <a:cs typeface="Cambria"/>
            </a:endParaRPr>
          </a:p>
          <a:p>
            <a:pPr marL="241300" marR="6985" indent="-228600" algn="just">
              <a:lnSpc>
                <a:spcPts val="475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</a:tabLst>
            </a:pPr>
            <a:r>
              <a:rPr sz="4400" spc="5" dirty="0">
                <a:latin typeface="Cambria"/>
                <a:cs typeface="Cambria"/>
              </a:rPr>
              <a:t>The </a:t>
            </a:r>
            <a:r>
              <a:rPr sz="4400" spc="-10" dirty="0">
                <a:latin typeface="Cambria"/>
                <a:cs typeface="Cambria"/>
              </a:rPr>
              <a:t>process </a:t>
            </a:r>
            <a:r>
              <a:rPr sz="4400" dirty="0">
                <a:latin typeface="Cambria"/>
                <a:cs typeface="Cambria"/>
              </a:rPr>
              <a:t>of </a:t>
            </a:r>
            <a:r>
              <a:rPr sz="4400" spc="-10" dirty="0">
                <a:latin typeface="Cambria"/>
                <a:cs typeface="Cambria"/>
              </a:rPr>
              <a:t>breaking </a:t>
            </a:r>
            <a:r>
              <a:rPr sz="4400" dirty="0">
                <a:latin typeface="Cambria"/>
                <a:cs typeface="Cambria"/>
              </a:rPr>
              <a:t>up </a:t>
            </a:r>
            <a:r>
              <a:rPr sz="4400" spc="-5" dirty="0">
                <a:latin typeface="Cambria"/>
                <a:cs typeface="Cambria"/>
              </a:rPr>
              <a:t>and mixing the </a:t>
            </a:r>
            <a:r>
              <a:rPr sz="4400" dirty="0">
                <a:latin typeface="Cambria"/>
                <a:cs typeface="Cambria"/>
              </a:rPr>
              <a:t>fuel </a:t>
            </a:r>
            <a:r>
              <a:rPr sz="4400" spc="-955" dirty="0">
                <a:latin typeface="Cambria"/>
                <a:cs typeface="Cambria"/>
              </a:rPr>
              <a:t> </a:t>
            </a:r>
            <a:r>
              <a:rPr sz="4400" spc="-5" dirty="0">
                <a:latin typeface="Cambria"/>
                <a:cs typeface="Cambria"/>
              </a:rPr>
              <a:t>with the</a:t>
            </a:r>
            <a:r>
              <a:rPr sz="4400" spc="-10" dirty="0">
                <a:latin typeface="Cambria"/>
                <a:cs typeface="Cambria"/>
              </a:rPr>
              <a:t> </a:t>
            </a:r>
            <a:r>
              <a:rPr sz="4400" spc="-5" dirty="0">
                <a:latin typeface="Cambria"/>
                <a:cs typeface="Cambria"/>
              </a:rPr>
              <a:t>air</a:t>
            </a:r>
            <a:r>
              <a:rPr sz="4400" spc="15" dirty="0">
                <a:latin typeface="Cambria"/>
                <a:cs typeface="Cambria"/>
              </a:rPr>
              <a:t> </a:t>
            </a:r>
            <a:r>
              <a:rPr sz="4400" spc="-5" dirty="0">
                <a:latin typeface="Cambria"/>
                <a:cs typeface="Cambria"/>
              </a:rPr>
              <a:t>is</a:t>
            </a:r>
            <a:r>
              <a:rPr sz="4400" spc="-10" dirty="0">
                <a:latin typeface="Cambria"/>
                <a:cs typeface="Cambria"/>
              </a:rPr>
              <a:t> </a:t>
            </a:r>
            <a:r>
              <a:rPr sz="4400" dirty="0">
                <a:latin typeface="Cambria"/>
                <a:cs typeface="Cambria"/>
              </a:rPr>
              <a:t>called</a:t>
            </a:r>
            <a:r>
              <a:rPr sz="4400" spc="10" dirty="0">
                <a:latin typeface="Cambria"/>
                <a:cs typeface="Cambria"/>
              </a:rPr>
              <a:t> </a:t>
            </a:r>
            <a:r>
              <a:rPr sz="4400" spc="-10" dirty="0">
                <a:latin typeface="Cambria"/>
                <a:cs typeface="Cambria"/>
              </a:rPr>
              <a:t>carburetion</a:t>
            </a:r>
            <a:endParaRPr sz="4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" y="22351"/>
            <a:ext cx="45650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Simple</a:t>
            </a:r>
            <a:r>
              <a:rPr sz="4400" b="1" u="heavy" spc="-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b="1" u="heavy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Carburetor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6720" y="283794"/>
            <a:ext cx="5791502" cy="60924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8513" y="791718"/>
            <a:ext cx="2451100" cy="372999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720"/>
              </a:spcBef>
              <a:buSzPct val="74074"/>
              <a:buAutoNum type="arabicPeriod"/>
              <a:tabLst>
                <a:tab pos="469265" algn="l"/>
                <a:tab pos="469900" algn="l"/>
                <a:tab pos="1610995" algn="l"/>
              </a:tabLst>
            </a:pPr>
            <a:r>
              <a:rPr sz="2700" dirty="0">
                <a:latin typeface="Times New Roman"/>
                <a:cs typeface="Times New Roman"/>
              </a:rPr>
              <a:t>Needle	valve</a:t>
            </a:r>
            <a:endParaRPr sz="27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620"/>
              </a:spcBef>
              <a:buSzPct val="74074"/>
              <a:buAutoNum type="arabicPeriod"/>
              <a:tabLst>
                <a:tab pos="469265" algn="l"/>
                <a:tab pos="469900" algn="l"/>
              </a:tabLst>
            </a:pPr>
            <a:r>
              <a:rPr sz="2700" dirty="0">
                <a:latin typeface="Times New Roman"/>
                <a:cs typeface="Times New Roman"/>
              </a:rPr>
              <a:t>Float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chamber</a:t>
            </a:r>
            <a:endParaRPr sz="27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620"/>
              </a:spcBef>
              <a:buSzPct val="74074"/>
              <a:buAutoNum type="arabicPeriod"/>
              <a:tabLst>
                <a:tab pos="469265" algn="l"/>
                <a:tab pos="469900" algn="l"/>
              </a:tabLst>
            </a:pPr>
            <a:r>
              <a:rPr sz="2700" spc="-80" dirty="0">
                <a:latin typeface="Times New Roman"/>
                <a:cs typeface="Times New Roman"/>
              </a:rPr>
              <a:t>Vent</a:t>
            </a:r>
            <a:endParaRPr sz="27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625"/>
              </a:spcBef>
              <a:buSzPct val="74074"/>
              <a:buAutoNum type="arabicPeriod"/>
              <a:tabLst>
                <a:tab pos="469265" algn="l"/>
                <a:tab pos="469900" algn="l"/>
              </a:tabLst>
            </a:pPr>
            <a:r>
              <a:rPr sz="2700" spc="-45" dirty="0">
                <a:latin typeface="Times New Roman"/>
                <a:cs typeface="Times New Roman"/>
              </a:rPr>
              <a:t>Venturi</a:t>
            </a:r>
            <a:endParaRPr sz="27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620"/>
              </a:spcBef>
              <a:buSzPct val="74074"/>
              <a:buAutoNum type="arabicPeriod"/>
              <a:tabLst>
                <a:tab pos="469265" algn="l"/>
                <a:tab pos="469900" algn="l"/>
              </a:tabLst>
            </a:pPr>
            <a:r>
              <a:rPr sz="2700" dirty="0">
                <a:latin typeface="Times New Roman"/>
                <a:cs typeface="Times New Roman"/>
              </a:rPr>
              <a:t>Nozzle</a:t>
            </a:r>
            <a:endParaRPr sz="27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620"/>
              </a:spcBef>
              <a:buSzPct val="74074"/>
              <a:buAutoNum type="arabicPeriod"/>
              <a:tabLst>
                <a:tab pos="469265" algn="l"/>
                <a:tab pos="469900" algn="l"/>
              </a:tabLst>
            </a:pPr>
            <a:r>
              <a:rPr sz="2700" dirty="0">
                <a:latin typeface="Times New Roman"/>
                <a:cs typeface="Times New Roman"/>
              </a:rPr>
              <a:t>Throttle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valve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892" y="368553"/>
            <a:ext cx="11811635" cy="624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SzPct val="75000"/>
              <a:buFont typeface="Times New Roman"/>
              <a:buChar char="•"/>
              <a:tabLst>
                <a:tab pos="350520" algn="l"/>
                <a:tab pos="35115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Needle</a:t>
            </a:r>
            <a:r>
              <a:rPr sz="2400" b="1" i="1" spc="39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valve</a:t>
            </a:r>
            <a:r>
              <a:rPr sz="2400" b="1" i="1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attached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float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lever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serves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close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inlet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float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chamber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depending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upon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requirement.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constant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head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fuel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maintained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</a:pPr>
            <a:r>
              <a:rPr sz="2400" b="1" i="1" dirty="0">
                <a:latin typeface="Times New Roman"/>
                <a:cs typeface="Times New Roman"/>
              </a:rPr>
              <a:t>float</a:t>
            </a:r>
            <a:r>
              <a:rPr sz="2400" b="1" i="1" spc="-7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chamber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0520" indent="-338455">
              <a:lnSpc>
                <a:spcPct val="100000"/>
              </a:lnSpc>
              <a:buSzPct val="75000"/>
              <a:buChar char="•"/>
              <a:tabLst>
                <a:tab pos="350520" algn="l"/>
                <a:tab pos="35115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vent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chamber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keeps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atmospheric.</a:t>
            </a:r>
            <a:endParaRPr sz="2400">
              <a:latin typeface="Times New Roman"/>
              <a:cs typeface="Times New Roman"/>
            </a:endParaRPr>
          </a:p>
          <a:p>
            <a:pPr marL="350520" marR="5080" indent="-338455" algn="just">
              <a:lnSpc>
                <a:spcPct val="200100"/>
              </a:lnSpc>
              <a:buSzPct val="75000"/>
              <a:buFont typeface="Times New Roman"/>
              <a:buChar char="•"/>
              <a:tabLst>
                <a:tab pos="351155" algn="l"/>
              </a:tabLst>
            </a:pPr>
            <a:r>
              <a:rPr sz="2400" b="1" i="1" spc="-40" dirty="0">
                <a:latin typeface="Times New Roman"/>
                <a:cs typeface="Times New Roman"/>
              </a:rPr>
              <a:t>Venturi</a:t>
            </a:r>
            <a:r>
              <a:rPr sz="2400" b="1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simply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restriction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passage.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velocity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decrease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pressure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caused at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throat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venturi </a:t>
            </a:r>
            <a:r>
              <a:rPr sz="2400" dirty="0">
                <a:latin typeface="Times New Roman"/>
                <a:cs typeface="Times New Roman"/>
              </a:rPr>
              <a:t>where </a:t>
            </a:r>
            <a:r>
              <a:rPr sz="2400" spc="-5" dirty="0">
                <a:latin typeface="Times New Roman"/>
                <a:cs typeface="Times New Roman"/>
              </a:rPr>
              <a:t>nozzle </a:t>
            </a:r>
            <a:r>
              <a:rPr sz="2400" dirty="0">
                <a:latin typeface="Times New Roman"/>
                <a:cs typeface="Times New Roman"/>
              </a:rPr>
              <a:t>tip is </a:t>
            </a:r>
            <a:r>
              <a:rPr sz="2400" spc="-5" dirty="0">
                <a:latin typeface="Times New Roman"/>
                <a:cs typeface="Times New Roman"/>
              </a:rPr>
              <a:t>located. Due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this depression being </a:t>
            </a:r>
            <a:r>
              <a:rPr sz="2400" dirty="0">
                <a:latin typeface="Times New Roman"/>
                <a:cs typeface="Times New Roman"/>
              </a:rPr>
              <a:t> applied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nozzle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fuel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vaporized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incoming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stream.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0520" indent="-338455">
              <a:lnSpc>
                <a:spcPct val="100000"/>
              </a:lnSpc>
              <a:buSzPct val="75000"/>
              <a:buChar char="•"/>
              <a:tabLst>
                <a:tab pos="350520" algn="l"/>
                <a:tab pos="35115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mixture</a:t>
            </a:r>
            <a:r>
              <a:rPr sz="2400" dirty="0">
                <a:latin typeface="Times New Roman"/>
                <a:cs typeface="Times New Roman"/>
              </a:rPr>
              <a:t> 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inlet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manifold,</a:t>
            </a:r>
            <a:r>
              <a:rPr sz="2400" dirty="0">
                <a:latin typeface="Times New Roman"/>
                <a:cs typeface="Times New Roman"/>
              </a:rPr>
              <a:t> to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cylinder.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0520" indent="-338455">
              <a:lnSpc>
                <a:spcPct val="100000"/>
              </a:lnSpc>
              <a:buSzPct val="75000"/>
              <a:buChar char="•"/>
              <a:tabLst>
                <a:tab pos="350520" algn="l"/>
                <a:tab pos="35115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b="1" i="1" dirty="0">
                <a:latin typeface="Times New Roman"/>
                <a:cs typeface="Times New Roman"/>
              </a:rPr>
              <a:t>throttle</a:t>
            </a:r>
            <a:r>
              <a:rPr sz="2400" b="1" i="1" spc="-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valve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quantity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 air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fuel mixture.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2222"/>
            <a:ext cx="6040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none" spc="-75" dirty="0">
                <a:latin typeface="Cambria"/>
                <a:cs typeface="Cambria"/>
              </a:rPr>
              <a:t>MULTI</a:t>
            </a:r>
            <a:r>
              <a:rPr sz="2800" b="1" u="none" spc="-25" dirty="0">
                <a:latin typeface="Cambria"/>
                <a:cs typeface="Cambria"/>
              </a:rPr>
              <a:t> </a:t>
            </a:r>
            <a:r>
              <a:rPr sz="2800" b="1" u="none" spc="-15" dirty="0">
                <a:latin typeface="Cambria"/>
                <a:cs typeface="Cambria"/>
              </a:rPr>
              <a:t>POINT </a:t>
            </a:r>
            <a:r>
              <a:rPr sz="2800" b="1" u="none" spc="-5" dirty="0">
                <a:latin typeface="Cambria"/>
                <a:cs typeface="Cambria"/>
              </a:rPr>
              <a:t>FUEL</a:t>
            </a:r>
            <a:r>
              <a:rPr sz="2800" b="1" u="none" spc="-30" dirty="0">
                <a:latin typeface="Cambria"/>
                <a:cs typeface="Cambria"/>
              </a:rPr>
              <a:t> </a:t>
            </a:r>
            <a:r>
              <a:rPr sz="2800" b="1" u="none" spc="-10" dirty="0">
                <a:latin typeface="Cambria"/>
                <a:cs typeface="Cambria"/>
              </a:rPr>
              <a:t>INJECTION(MPFI</a:t>
            </a:r>
            <a:r>
              <a:rPr sz="2800" u="none" spc="-10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733" y="852737"/>
            <a:ext cx="10170679" cy="5420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2222"/>
            <a:ext cx="6040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none" spc="-75" dirty="0">
                <a:latin typeface="Cambria"/>
                <a:cs typeface="Cambria"/>
              </a:rPr>
              <a:t>MULTI</a:t>
            </a:r>
            <a:r>
              <a:rPr sz="2800" b="1" u="none" spc="-25" dirty="0">
                <a:latin typeface="Cambria"/>
                <a:cs typeface="Cambria"/>
              </a:rPr>
              <a:t> </a:t>
            </a:r>
            <a:r>
              <a:rPr sz="2800" b="1" u="none" spc="-15" dirty="0">
                <a:latin typeface="Cambria"/>
                <a:cs typeface="Cambria"/>
              </a:rPr>
              <a:t>POINT </a:t>
            </a:r>
            <a:r>
              <a:rPr sz="2800" b="1" u="none" spc="-5" dirty="0">
                <a:latin typeface="Cambria"/>
                <a:cs typeface="Cambria"/>
              </a:rPr>
              <a:t>FUEL</a:t>
            </a:r>
            <a:r>
              <a:rPr sz="2800" b="1" u="none" spc="-30" dirty="0">
                <a:latin typeface="Cambria"/>
                <a:cs typeface="Cambria"/>
              </a:rPr>
              <a:t> </a:t>
            </a:r>
            <a:r>
              <a:rPr sz="2800" b="1" u="none" spc="-10" dirty="0">
                <a:latin typeface="Cambria"/>
                <a:cs typeface="Cambria"/>
              </a:rPr>
              <a:t>INJECTION(MPFI</a:t>
            </a:r>
            <a:r>
              <a:rPr sz="2800" u="none" spc="-10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995" y="1059561"/>
            <a:ext cx="7972653" cy="5016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2222"/>
            <a:ext cx="6040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none" spc="-75" dirty="0">
                <a:latin typeface="Cambria"/>
                <a:cs typeface="Cambria"/>
              </a:rPr>
              <a:t>MULTI</a:t>
            </a:r>
            <a:r>
              <a:rPr sz="2800" b="1" u="none" spc="-25" dirty="0">
                <a:latin typeface="Cambria"/>
                <a:cs typeface="Cambria"/>
              </a:rPr>
              <a:t> </a:t>
            </a:r>
            <a:r>
              <a:rPr sz="2800" b="1" u="none" spc="-15" dirty="0">
                <a:latin typeface="Cambria"/>
                <a:cs typeface="Cambria"/>
              </a:rPr>
              <a:t>POINT </a:t>
            </a:r>
            <a:r>
              <a:rPr sz="2800" b="1" u="none" spc="-5" dirty="0">
                <a:latin typeface="Cambria"/>
                <a:cs typeface="Cambria"/>
              </a:rPr>
              <a:t>FUEL</a:t>
            </a:r>
            <a:r>
              <a:rPr sz="2800" b="1" u="none" spc="-30" dirty="0">
                <a:latin typeface="Cambria"/>
                <a:cs typeface="Cambria"/>
              </a:rPr>
              <a:t> </a:t>
            </a:r>
            <a:r>
              <a:rPr sz="2800" b="1" u="none" spc="-10" dirty="0">
                <a:latin typeface="Cambria"/>
                <a:cs typeface="Cambria"/>
              </a:rPr>
              <a:t>INJECTION(MPFI</a:t>
            </a:r>
            <a:r>
              <a:rPr sz="2800" u="none" spc="-10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632" y="827328"/>
            <a:ext cx="10000360" cy="5646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279" y="314401"/>
            <a:ext cx="68141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dirty="0">
                <a:latin typeface="Times New Roman"/>
                <a:cs typeface="Times New Roman"/>
              </a:rPr>
              <a:t>Methods</a:t>
            </a:r>
            <a:r>
              <a:rPr sz="4800" u="none" spc="-55" dirty="0">
                <a:latin typeface="Times New Roman"/>
                <a:cs typeface="Times New Roman"/>
              </a:rPr>
              <a:t> </a:t>
            </a:r>
            <a:r>
              <a:rPr sz="4800" u="none" dirty="0">
                <a:latin typeface="Times New Roman"/>
                <a:cs typeface="Times New Roman"/>
              </a:rPr>
              <a:t>of</a:t>
            </a:r>
            <a:r>
              <a:rPr sz="4800" u="none" spc="-20" dirty="0">
                <a:latin typeface="Times New Roman"/>
                <a:cs typeface="Times New Roman"/>
              </a:rPr>
              <a:t> </a:t>
            </a:r>
            <a:r>
              <a:rPr sz="4800" u="none" spc="-5" dirty="0">
                <a:latin typeface="Times New Roman"/>
                <a:cs typeface="Times New Roman"/>
              </a:rPr>
              <a:t>Engine</a:t>
            </a:r>
            <a:r>
              <a:rPr sz="4800" u="none" spc="-15" dirty="0">
                <a:latin typeface="Times New Roman"/>
                <a:cs typeface="Times New Roman"/>
              </a:rPr>
              <a:t> </a:t>
            </a:r>
            <a:r>
              <a:rPr sz="4800" u="none" dirty="0">
                <a:latin typeface="Times New Roman"/>
                <a:cs typeface="Times New Roman"/>
              </a:rPr>
              <a:t>Cooling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2841" y="2132457"/>
            <a:ext cx="2717800" cy="1489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05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Air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cooling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33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5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Liquid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cooling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0"/>
            <a:ext cx="26485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"/>
                <a:cs typeface="Calibri"/>
              </a:rPr>
              <a:t>Air</a:t>
            </a:r>
            <a:r>
              <a:rPr sz="4800" spc="-80" dirty="0">
                <a:latin typeface="Calibri"/>
                <a:cs typeface="Calibri"/>
              </a:rPr>
              <a:t> </a:t>
            </a:r>
            <a:r>
              <a:rPr sz="4800" spc="-15" dirty="0">
                <a:latin typeface="Calibri"/>
                <a:cs typeface="Calibri"/>
              </a:rPr>
              <a:t>cooling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135" y="1028776"/>
            <a:ext cx="11491595" cy="473075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5080" indent="-228600" algn="just">
              <a:lnSpc>
                <a:spcPts val="432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spc="-5" dirty="0">
                <a:latin typeface="Calibri"/>
                <a:cs typeface="Calibri"/>
              </a:rPr>
              <a:t>In this </a:t>
            </a:r>
            <a:r>
              <a:rPr sz="4000" spc="-35" dirty="0">
                <a:latin typeface="Calibri"/>
                <a:cs typeface="Calibri"/>
              </a:rPr>
              <a:t>system, </a:t>
            </a:r>
            <a:r>
              <a:rPr sz="4000" spc="-5" dirty="0">
                <a:latin typeface="Calibri"/>
                <a:cs typeface="Calibri"/>
              </a:rPr>
              <a:t>the </a:t>
            </a:r>
            <a:r>
              <a:rPr sz="4000" spc="-15" dirty="0">
                <a:latin typeface="Calibri"/>
                <a:cs typeface="Calibri"/>
              </a:rPr>
              <a:t>heat </a:t>
            </a:r>
            <a:r>
              <a:rPr sz="4000" spc="-10" dirty="0">
                <a:latin typeface="Calibri"/>
                <a:cs typeface="Calibri"/>
              </a:rPr>
              <a:t>is </a:t>
            </a:r>
            <a:r>
              <a:rPr sz="4000" spc="-15" dirty="0">
                <a:latin typeface="Calibri"/>
                <a:cs typeface="Calibri"/>
              </a:rPr>
              <a:t>dissipated </a:t>
            </a:r>
            <a:r>
              <a:rPr sz="4000" spc="-10" dirty="0">
                <a:latin typeface="Calibri"/>
                <a:cs typeface="Calibri"/>
              </a:rPr>
              <a:t>directly </a:t>
            </a:r>
            <a:r>
              <a:rPr sz="4000" spc="-25" dirty="0">
                <a:latin typeface="Calibri"/>
                <a:cs typeface="Calibri"/>
              </a:rPr>
              <a:t>to </a:t>
            </a:r>
            <a:r>
              <a:rPr sz="4000" spc="-5" dirty="0">
                <a:latin typeface="Calibri"/>
                <a:cs typeface="Calibri"/>
              </a:rPr>
              <a:t>the 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atmospheric</a:t>
            </a:r>
            <a:r>
              <a:rPr sz="4000" spc="84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air</a:t>
            </a:r>
            <a:r>
              <a:rPr sz="4000" spc="844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by</a:t>
            </a:r>
            <a:r>
              <a:rPr sz="4000" spc="85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conduction</a:t>
            </a:r>
            <a:r>
              <a:rPr sz="4000" spc="86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through</a:t>
            </a:r>
            <a:r>
              <a:rPr sz="4000" spc="85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the</a:t>
            </a:r>
            <a:r>
              <a:rPr sz="4000" spc="85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cylinder </a:t>
            </a:r>
            <a:r>
              <a:rPr sz="4000" spc="-89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walls.</a:t>
            </a:r>
            <a:endParaRPr sz="40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43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spc="-5" dirty="0">
                <a:latin typeface="Calibri"/>
                <a:cs typeface="Calibri"/>
              </a:rPr>
              <a:t>In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order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to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increase</a:t>
            </a:r>
            <a:r>
              <a:rPr sz="4000" spc="-5" dirty="0">
                <a:latin typeface="Calibri"/>
                <a:cs typeface="Calibri"/>
              </a:rPr>
              <a:t> the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45" dirty="0">
                <a:latin typeface="Calibri"/>
                <a:cs typeface="Calibri"/>
              </a:rPr>
              <a:t>rate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of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cooling,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the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outer 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surface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area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of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the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cylinder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and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cylinder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head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is </a:t>
            </a:r>
            <a:r>
              <a:rPr sz="4000" spc="-10" dirty="0">
                <a:latin typeface="Calibri"/>
                <a:cs typeface="Calibri"/>
              </a:rPr>
              <a:t> increased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by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providing</a:t>
            </a:r>
            <a:r>
              <a:rPr sz="4000" spc="3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radiating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fins.</a:t>
            </a:r>
            <a:endParaRPr sz="4000">
              <a:latin typeface="Calibri"/>
              <a:cs typeface="Calibri"/>
            </a:endParaRPr>
          </a:p>
          <a:p>
            <a:pPr marL="241300" marR="6985" indent="-228600" algn="just">
              <a:lnSpc>
                <a:spcPts val="43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spc="-5" dirty="0">
                <a:latin typeface="Calibri"/>
                <a:cs typeface="Calibri"/>
              </a:rPr>
              <a:t>In bigger </a:t>
            </a:r>
            <a:r>
              <a:rPr sz="4000" spc="-10" dirty="0">
                <a:latin typeface="Calibri"/>
                <a:cs typeface="Calibri"/>
              </a:rPr>
              <a:t>units, </a:t>
            </a:r>
            <a:r>
              <a:rPr sz="4000" spc="-20" dirty="0">
                <a:latin typeface="Calibri"/>
                <a:cs typeface="Calibri"/>
              </a:rPr>
              <a:t>fans are provided to circulate </a:t>
            </a:r>
            <a:r>
              <a:rPr sz="4000" spc="-5" dirty="0">
                <a:latin typeface="Calibri"/>
                <a:cs typeface="Calibri"/>
              </a:rPr>
              <a:t>the </a:t>
            </a:r>
            <a:r>
              <a:rPr sz="4000" dirty="0">
                <a:latin typeface="Calibri"/>
                <a:cs typeface="Calibri"/>
              </a:rPr>
              <a:t>air </a:t>
            </a:r>
            <a:r>
              <a:rPr sz="4000" spc="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around </a:t>
            </a:r>
            <a:r>
              <a:rPr sz="4000" spc="-5" dirty="0">
                <a:latin typeface="Calibri"/>
                <a:cs typeface="Calibri"/>
              </a:rPr>
              <a:t>the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cylinder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walls </a:t>
            </a:r>
            <a:r>
              <a:rPr sz="4000" spc="-5" dirty="0">
                <a:latin typeface="Calibri"/>
                <a:cs typeface="Calibri"/>
              </a:rPr>
              <a:t>and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cylinder head.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25" y="442087"/>
            <a:ext cx="2587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imes New Roman"/>
                <a:cs typeface="Times New Roman"/>
              </a:rPr>
              <a:t>Air</a:t>
            </a:r>
            <a:r>
              <a:rPr sz="4400" spc="-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cooling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5142" y="1505813"/>
            <a:ext cx="4641723" cy="45833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96746" y="1824354"/>
            <a:ext cx="207073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 indent="-280670">
              <a:lnSpc>
                <a:spcPct val="100000"/>
              </a:lnSpc>
              <a:spcBef>
                <a:spcPts val="95"/>
              </a:spcBef>
              <a:buSzPct val="75000"/>
              <a:buFont typeface="Arial MT"/>
              <a:buChar char="•"/>
              <a:tabLst>
                <a:tab pos="292735" algn="l"/>
                <a:tab pos="293370" algn="l"/>
              </a:tabLst>
            </a:pPr>
            <a:r>
              <a:rPr sz="2800" spc="-5" dirty="0">
                <a:latin typeface="Times New Roman"/>
                <a:cs typeface="Times New Roman"/>
              </a:rPr>
              <a:t>Cooling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buSzPct val="75000"/>
              <a:buFont typeface="Arial MT"/>
              <a:buChar char="•"/>
              <a:tabLst>
                <a:tab pos="292735" algn="l"/>
                <a:tab pos="293370" algn="l"/>
              </a:tabLst>
            </a:pPr>
            <a:r>
              <a:rPr sz="2800" spc="-5" dirty="0">
                <a:latin typeface="Times New Roman"/>
                <a:cs typeface="Times New Roman"/>
              </a:rPr>
              <a:t>Fan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cooling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725" y="4051253"/>
            <a:ext cx="6611620" cy="23120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amount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heat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dissipated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depends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300355" indent="-280670">
              <a:lnSpc>
                <a:spcPct val="100000"/>
              </a:lnSpc>
              <a:spcBef>
                <a:spcPts val="1205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2000" dirty="0">
                <a:latin typeface="Times New Roman"/>
                <a:cs typeface="Times New Roman"/>
              </a:rPr>
              <a:t>Surface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</a:t>
            </a:r>
            <a:r>
              <a:rPr sz="2000" spc="-5" dirty="0">
                <a:latin typeface="Times New Roman"/>
                <a:cs typeface="Times New Roman"/>
              </a:rPr>
              <a:t>air</a:t>
            </a:r>
            <a:endParaRPr sz="2000">
              <a:latin typeface="Times New Roman"/>
              <a:cs typeface="Times New Roman"/>
            </a:endParaRPr>
          </a:p>
          <a:p>
            <a:pPr marL="300355" indent="-280670">
              <a:lnSpc>
                <a:spcPct val="100000"/>
              </a:lnSpc>
              <a:spcBef>
                <a:spcPts val="1200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2000" spc="-5" dirty="0">
                <a:latin typeface="Times New Roman"/>
                <a:cs typeface="Times New Roman"/>
              </a:rPr>
              <a:t>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endParaRPr sz="2000">
              <a:latin typeface="Times New Roman"/>
              <a:cs typeface="Times New Roman"/>
            </a:endParaRPr>
          </a:p>
          <a:p>
            <a:pPr marL="300355" indent="-280670">
              <a:lnSpc>
                <a:spcPct val="100000"/>
              </a:lnSpc>
              <a:spcBef>
                <a:spcPts val="1200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2000" spc="-15" dirty="0">
                <a:latin typeface="Times New Roman"/>
                <a:cs typeface="Times New Roman"/>
              </a:rPr>
              <a:t>Temperature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surface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air</a:t>
            </a:r>
            <a:endParaRPr sz="2000">
              <a:latin typeface="Times New Roman"/>
              <a:cs typeface="Times New Roman"/>
            </a:endParaRPr>
          </a:p>
          <a:p>
            <a:pPr marL="300355" indent="-280670">
              <a:lnSpc>
                <a:spcPct val="100000"/>
              </a:lnSpc>
              <a:spcBef>
                <a:spcPts val="1200"/>
              </a:spcBef>
              <a:buSzPct val="75000"/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2000" spc="-5" dirty="0">
                <a:latin typeface="Times New Roman"/>
                <a:cs typeface="Times New Roman"/>
              </a:rPr>
              <a:t>Conductivity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0"/>
            <a:ext cx="11492230" cy="676592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800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Water</a:t>
            </a:r>
            <a:r>
              <a:rPr sz="2800" u="heavy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cooling</a:t>
            </a:r>
            <a:endParaRPr sz="28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240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Cambria"/>
                <a:cs typeface="Cambria"/>
              </a:rPr>
              <a:t>In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this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system,</a:t>
            </a:r>
            <a:r>
              <a:rPr sz="3600" spc="-15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the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water</a:t>
            </a:r>
            <a:r>
              <a:rPr sz="3600" spc="-2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is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circulated</a:t>
            </a:r>
            <a:r>
              <a:rPr sz="3600" spc="-5" dirty="0">
                <a:latin typeface="Cambria"/>
                <a:cs typeface="Cambria"/>
              </a:rPr>
              <a:t> </a:t>
            </a:r>
            <a:r>
              <a:rPr sz="3600" spc="-15" dirty="0">
                <a:latin typeface="Cambria"/>
                <a:cs typeface="Cambria"/>
              </a:rPr>
              <a:t>through</a:t>
            </a:r>
            <a:r>
              <a:rPr sz="3600" spc="-10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water </a:t>
            </a:r>
            <a:r>
              <a:rPr sz="3600" spc="-20" dirty="0">
                <a:latin typeface="Cambria"/>
                <a:cs typeface="Cambria"/>
              </a:rPr>
              <a:t> </a:t>
            </a:r>
            <a:r>
              <a:rPr sz="3600" spc="-15" dirty="0">
                <a:latin typeface="Cambria"/>
                <a:cs typeface="Cambria"/>
              </a:rPr>
              <a:t>jackets</a:t>
            </a:r>
            <a:r>
              <a:rPr sz="3600" spc="765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around</a:t>
            </a:r>
            <a:r>
              <a:rPr sz="3600" spc="-5" dirty="0">
                <a:latin typeface="Cambria"/>
                <a:cs typeface="Cambria"/>
              </a:rPr>
              <a:t> each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of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the</a:t>
            </a:r>
            <a:r>
              <a:rPr sz="3600" dirty="0">
                <a:latin typeface="Cambria"/>
                <a:cs typeface="Cambria"/>
              </a:rPr>
              <a:t> combustion</a:t>
            </a:r>
            <a:r>
              <a:rPr sz="3600" spc="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chambers, </a:t>
            </a:r>
            <a:r>
              <a:rPr sz="3600" spc="5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cylinders,</a:t>
            </a:r>
            <a:r>
              <a:rPr sz="3600" spc="15" dirty="0">
                <a:latin typeface="Cambria"/>
                <a:cs typeface="Cambria"/>
              </a:rPr>
              <a:t> </a:t>
            </a:r>
            <a:r>
              <a:rPr sz="3600" spc="-50" dirty="0">
                <a:latin typeface="Cambria"/>
                <a:cs typeface="Cambria"/>
              </a:rPr>
              <a:t>valve</a:t>
            </a:r>
            <a:r>
              <a:rPr sz="3600" spc="-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seats</a:t>
            </a:r>
            <a:r>
              <a:rPr sz="3600" spc="-10" dirty="0">
                <a:latin typeface="Cambria"/>
                <a:cs typeface="Cambria"/>
              </a:rPr>
              <a:t> </a:t>
            </a:r>
            <a:r>
              <a:rPr sz="3600" spc="-15" dirty="0">
                <a:latin typeface="Cambria"/>
                <a:cs typeface="Cambria"/>
              </a:rPr>
              <a:t>etc.</a:t>
            </a:r>
            <a:endParaRPr sz="36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Cambria"/>
                <a:cs typeface="Cambria"/>
              </a:rPr>
              <a:t>The </a:t>
            </a:r>
            <a:r>
              <a:rPr sz="3600" spc="-25" dirty="0">
                <a:latin typeface="Cambria"/>
                <a:cs typeface="Cambria"/>
              </a:rPr>
              <a:t>water </a:t>
            </a:r>
            <a:r>
              <a:rPr sz="3600" spc="-5" dirty="0">
                <a:latin typeface="Cambria"/>
                <a:cs typeface="Cambria"/>
              </a:rPr>
              <a:t>is </a:t>
            </a:r>
            <a:r>
              <a:rPr sz="3600" spc="-20" dirty="0">
                <a:latin typeface="Cambria"/>
                <a:cs typeface="Cambria"/>
              </a:rPr>
              <a:t>kept </a:t>
            </a:r>
            <a:r>
              <a:rPr sz="3600" spc="-10" dirty="0">
                <a:latin typeface="Cambria"/>
                <a:cs typeface="Cambria"/>
              </a:rPr>
              <a:t>continuously </a:t>
            </a:r>
            <a:r>
              <a:rPr sz="3600" spc="-5" dirty="0">
                <a:latin typeface="Cambria"/>
                <a:cs typeface="Cambria"/>
              </a:rPr>
              <a:t>in </a:t>
            </a:r>
            <a:r>
              <a:rPr sz="3600" dirty="0">
                <a:latin typeface="Cambria"/>
                <a:cs typeface="Cambria"/>
              </a:rPr>
              <a:t>motion </a:t>
            </a:r>
            <a:r>
              <a:rPr sz="3600" spc="-20" dirty="0">
                <a:latin typeface="Cambria"/>
                <a:cs typeface="Cambria"/>
              </a:rPr>
              <a:t>by </a:t>
            </a:r>
            <a:r>
              <a:rPr sz="3600" dirty="0">
                <a:latin typeface="Cambria"/>
                <a:cs typeface="Cambria"/>
              </a:rPr>
              <a:t>a </a:t>
            </a:r>
            <a:r>
              <a:rPr sz="3600" spc="-10" dirty="0">
                <a:latin typeface="Cambria"/>
                <a:cs typeface="Cambria"/>
              </a:rPr>
              <a:t>centrifugal </a:t>
            </a:r>
            <a:r>
              <a:rPr sz="3600" spc="-5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water</a:t>
            </a:r>
            <a:r>
              <a:rPr sz="3600" spc="-2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pump </a:t>
            </a:r>
            <a:r>
              <a:rPr sz="3600" spc="-15" dirty="0">
                <a:latin typeface="Cambria"/>
                <a:cs typeface="Cambria"/>
              </a:rPr>
              <a:t>which </a:t>
            </a:r>
            <a:r>
              <a:rPr sz="3600" spc="-5" dirty="0">
                <a:latin typeface="Cambria"/>
                <a:cs typeface="Cambria"/>
              </a:rPr>
              <a:t>is </a:t>
            </a:r>
            <a:r>
              <a:rPr sz="3600" spc="-30" dirty="0">
                <a:latin typeface="Cambria"/>
                <a:cs typeface="Cambria"/>
              </a:rPr>
              <a:t>driven</a:t>
            </a:r>
            <a:r>
              <a:rPr sz="3600" spc="-25" dirty="0">
                <a:latin typeface="Cambria"/>
                <a:cs typeface="Cambria"/>
              </a:rPr>
              <a:t> </a:t>
            </a:r>
            <a:r>
              <a:rPr sz="3600" spc="-30" dirty="0">
                <a:latin typeface="Cambria"/>
                <a:cs typeface="Cambria"/>
              </a:rPr>
              <a:t>by</a:t>
            </a:r>
            <a:r>
              <a:rPr sz="3600" spc="73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a </a:t>
            </a:r>
            <a:r>
              <a:rPr sz="3600" spc="-5" dirty="0">
                <a:latin typeface="Cambria"/>
                <a:cs typeface="Cambria"/>
              </a:rPr>
              <a:t>V-belt </a:t>
            </a:r>
            <a:r>
              <a:rPr sz="3600" spc="-15" dirty="0">
                <a:latin typeface="Cambria"/>
                <a:cs typeface="Cambria"/>
              </a:rPr>
              <a:t>from </a:t>
            </a:r>
            <a:r>
              <a:rPr sz="3600" spc="-5" dirty="0">
                <a:latin typeface="Cambria"/>
                <a:cs typeface="Cambria"/>
              </a:rPr>
              <a:t>the </a:t>
            </a:r>
            <a:r>
              <a:rPr sz="3600" spc="-15" dirty="0">
                <a:latin typeface="Cambria"/>
                <a:cs typeface="Cambria"/>
              </a:rPr>
              <a:t>pulley </a:t>
            </a:r>
            <a:r>
              <a:rPr sz="3600" spc="-1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on</a:t>
            </a:r>
            <a:r>
              <a:rPr sz="3600" spc="-1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the</a:t>
            </a:r>
            <a:r>
              <a:rPr sz="3600" spc="-20" dirty="0">
                <a:latin typeface="Cambria"/>
                <a:cs typeface="Cambria"/>
              </a:rPr>
              <a:t> </a:t>
            </a:r>
            <a:r>
              <a:rPr sz="3600" spc="-5" dirty="0">
                <a:latin typeface="Cambria"/>
                <a:cs typeface="Cambria"/>
              </a:rPr>
              <a:t>engine</a:t>
            </a:r>
            <a:r>
              <a:rPr sz="3600" spc="-10" dirty="0">
                <a:latin typeface="Cambria"/>
                <a:cs typeface="Cambria"/>
              </a:rPr>
              <a:t> </a:t>
            </a:r>
            <a:r>
              <a:rPr sz="3600" spc="-15" dirty="0">
                <a:latin typeface="Cambria"/>
                <a:cs typeface="Cambria"/>
              </a:rPr>
              <a:t>crank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5" dirty="0">
                <a:latin typeface="Cambria"/>
                <a:cs typeface="Cambria"/>
              </a:rPr>
              <a:t>shaft.</a:t>
            </a:r>
            <a:endParaRPr sz="3600">
              <a:latin typeface="Cambria"/>
              <a:cs typeface="Cambria"/>
            </a:endParaRPr>
          </a:p>
          <a:p>
            <a:pPr marL="241300" marR="635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After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passing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through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the engine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jackets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in the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cylinder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block and 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heads,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the </a:t>
            </a:r>
            <a:r>
              <a:rPr sz="3600" spc="-25" dirty="0">
                <a:solidFill>
                  <a:srgbClr val="C55A11"/>
                </a:solidFill>
                <a:latin typeface="Cambria"/>
                <a:cs typeface="Cambria"/>
              </a:rPr>
              <a:t>water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is passed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through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the </a:t>
            </a:r>
            <a:r>
              <a:rPr sz="3600" spc="-55" dirty="0">
                <a:solidFill>
                  <a:srgbClr val="C55A11"/>
                </a:solidFill>
                <a:latin typeface="Cambria"/>
                <a:cs typeface="Cambria"/>
              </a:rPr>
              <a:t>radiator. </a:t>
            </a:r>
            <a:r>
              <a:rPr sz="3600" spc="-78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In 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the </a:t>
            </a:r>
            <a:r>
              <a:rPr sz="3600" spc="-55" dirty="0">
                <a:solidFill>
                  <a:srgbClr val="C55A11"/>
                </a:solidFill>
                <a:latin typeface="Cambria"/>
                <a:cs typeface="Cambria"/>
              </a:rPr>
              <a:t>radiator, 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the </a:t>
            </a:r>
            <a:r>
              <a:rPr sz="3600" spc="-25" dirty="0">
                <a:solidFill>
                  <a:srgbClr val="C55A11"/>
                </a:solidFill>
                <a:latin typeface="Cambria"/>
                <a:cs typeface="Cambria"/>
              </a:rPr>
              <a:t>water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is cooled </a:t>
            </a:r>
            <a:r>
              <a:rPr sz="3600" spc="-20" dirty="0">
                <a:solidFill>
                  <a:srgbClr val="C55A11"/>
                </a:solidFill>
                <a:latin typeface="Cambria"/>
                <a:cs typeface="Cambria"/>
              </a:rPr>
              <a:t>by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air </a:t>
            </a:r>
            <a:r>
              <a:rPr sz="3600" spc="-25" dirty="0">
                <a:solidFill>
                  <a:srgbClr val="C55A11"/>
                </a:solidFill>
                <a:latin typeface="Cambria"/>
                <a:cs typeface="Cambria"/>
              </a:rPr>
              <a:t>drawn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through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the</a:t>
            </a:r>
            <a:r>
              <a:rPr sz="3600" spc="-35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20" dirty="0">
                <a:solidFill>
                  <a:srgbClr val="C55A11"/>
                </a:solidFill>
                <a:latin typeface="Cambria"/>
                <a:cs typeface="Cambria"/>
              </a:rPr>
              <a:t>radiator</a:t>
            </a:r>
            <a:r>
              <a:rPr sz="3600" spc="2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30" dirty="0">
                <a:solidFill>
                  <a:srgbClr val="C55A11"/>
                </a:solidFill>
                <a:latin typeface="Cambria"/>
                <a:cs typeface="Cambria"/>
              </a:rPr>
              <a:t>by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a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fan.</a:t>
            </a:r>
            <a:endParaRPr sz="36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The</a:t>
            </a:r>
            <a:r>
              <a:rPr sz="3600" spc="-3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C55A11"/>
                </a:solidFill>
                <a:latin typeface="Cambria"/>
                <a:cs typeface="Cambria"/>
              </a:rPr>
              <a:t>water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is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again</a:t>
            </a:r>
            <a:r>
              <a:rPr sz="3600" spc="5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circulated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 through</a:t>
            </a:r>
            <a:r>
              <a:rPr sz="3600" spc="-2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C55A11"/>
                </a:solidFill>
                <a:latin typeface="Cambria"/>
                <a:cs typeface="Cambria"/>
              </a:rPr>
              <a:t>the</a:t>
            </a:r>
            <a:r>
              <a:rPr sz="3600" spc="-25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5" dirty="0">
                <a:solidFill>
                  <a:srgbClr val="C55A11"/>
                </a:solidFill>
                <a:latin typeface="Cambria"/>
                <a:cs typeface="Cambria"/>
              </a:rPr>
              <a:t>engine</a:t>
            </a:r>
            <a:r>
              <a:rPr sz="3600" spc="-10" dirty="0">
                <a:solidFill>
                  <a:srgbClr val="C55A11"/>
                </a:solidFill>
                <a:latin typeface="Cambria"/>
                <a:cs typeface="Cambria"/>
              </a:rPr>
              <a:t> </a:t>
            </a:r>
            <a:r>
              <a:rPr sz="3600" spc="-15" dirty="0">
                <a:solidFill>
                  <a:srgbClr val="C55A11"/>
                </a:solidFill>
                <a:latin typeface="Cambria"/>
                <a:cs typeface="Cambria"/>
              </a:rPr>
              <a:t>jackets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41554"/>
            <a:ext cx="2027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libri"/>
                <a:cs typeface="Calibri"/>
              </a:rPr>
              <a:t>Water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cooling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6282" y="682116"/>
            <a:ext cx="8577961" cy="54138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021" y="105918"/>
            <a:ext cx="31838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0" dirty="0">
                <a:latin typeface="Calibri"/>
                <a:cs typeface="Calibri"/>
              </a:rPr>
              <a:t>Water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cooling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254" y="1453921"/>
            <a:ext cx="4593209" cy="46315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422" y="1453921"/>
            <a:ext cx="4860290" cy="46315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0"/>
            <a:ext cx="11492230" cy="597154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Lubrication</a:t>
            </a:r>
            <a:r>
              <a:rPr sz="2800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Systems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239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5" dirty="0">
                <a:latin typeface="Cambria"/>
                <a:cs typeface="Cambria"/>
              </a:rPr>
              <a:t>As </a:t>
            </a:r>
            <a:r>
              <a:rPr sz="3200" dirty="0">
                <a:latin typeface="Cambria"/>
                <a:cs typeface="Cambria"/>
              </a:rPr>
              <a:t>a </a:t>
            </a:r>
            <a:r>
              <a:rPr sz="3200" spc="-10" dirty="0">
                <a:latin typeface="Cambria"/>
                <a:cs typeface="Cambria"/>
              </a:rPr>
              <a:t>matter </a:t>
            </a:r>
            <a:r>
              <a:rPr sz="3200" dirty="0">
                <a:latin typeface="Cambria"/>
                <a:cs typeface="Cambria"/>
              </a:rPr>
              <a:t>of </a:t>
            </a:r>
            <a:r>
              <a:rPr sz="3200" spc="-5" dirty="0">
                <a:latin typeface="Cambria"/>
                <a:cs typeface="Cambria"/>
              </a:rPr>
              <a:t>fact, the </a:t>
            </a:r>
            <a:r>
              <a:rPr sz="3200" spc="-10" dirty="0">
                <a:latin typeface="Cambria"/>
                <a:cs typeface="Cambria"/>
              </a:rPr>
              <a:t>moving parts </a:t>
            </a:r>
            <a:r>
              <a:rPr sz="3200" dirty="0">
                <a:latin typeface="Cambria"/>
                <a:cs typeface="Cambria"/>
              </a:rPr>
              <a:t>of </a:t>
            </a:r>
            <a:r>
              <a:rPr sz="3200" spc="-5" dirty="0">
                <a:latin typeface="Cambria"/>
                <a:cs typeface="Cambria"/>
              </a:rPr>
              <a:t>an I.C. </a:t>
            </a:r>
            <a:r>
              <a:rPr sz="3200" dirty="0">
                <a:latin typeface="Cambria"/>
                <a:cs typeface="Cambria"/>
              </a:rPr>
              <a:t>engine </a:t>
            </a:r>
            <a:r>
              <a:rPr sz="3200" spc="-20" dirty="0">
                <a:latin typeface="Cambria"/>
                <a:cs typeface="Cambria"/>
              </a:rPr>
              <a:t>are </a:t>
            </a:r>
            <a:r>
              <a:rPr sz="3200" spc="-25" dirty="0">
                <a:latin typeface="Cambria"/>
                <a:cs typeface="Cambria"/>
              </a:rPr>
              <a:t>likely </a:t>
            </a:r>
            <a:r>
              <a:rPr sz="3200" spc="-30" dirty="0">
                <a:latin typeface="Cambria"/>
                <a:cs typeface="Cambria"/>
              </a:rPr>
              <a:t>to 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wear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off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due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15" dirty="0">
                <a:latin typeface="Cambria"/>
                <a:cs typeface="Cambria"/>
              </a:rPr>
              <a:t>to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continuous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rubbing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action</a:t>
            </a:r>
            <a:r>
              <a:rPr sz="3200" dirty="0">
                <a:latin typeface="Cambria"/>
                <a:cs typeface="Cambria"/>
              </a:rPr>
              <a:t> of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one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part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with 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45" dirty="0">
                <a:latin typeface="Cambria"/>
                <a:cs typeface="Cambria"/>
              </a:rPr>
              <a:t>another.</a:t>
            </a:r>
            <a:endParaRPr sz="3200">
              <a:latin typeface="Cambria"/>
              <a:cs typeface="Cambria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mbria"/>
                <a:cs typeface="Cambria"/>
              </a:rPr>
              <a:t>In </a:t>
            </a:r>
            <a:r>
              <a:rPr sz="3200" spc="-10" dirty="0">
                <a:latin typeface="Cambria"/>
                <a:cs typeface="Cambria"/>
              </a:rPr>
              <a:t>order </a:t>
            </a:r>
            <a:r>
              <a:rPr sz="3200" spc="-15" dirty="0">
                <a:latin typeface="Cambria"/>
                <a:cs typeface="Cambria"/>
              </a:rPr>
              <a:t>to </a:t>
            </a:r>
            <a:r>
              <a:rPr sz="3200" spc="-30" dirty="0">
                <a:latin typeface="Cambria"/>
                <a:cs typeface="Cambria"/>
              </a:rPr>
              <a:t>avoid </a:t>
            </a:r>
            <a:r>
              <a:rPr sz="3200" spc="-5" dirty="0">
                <a:latin typeface="Cambria"/>
                <a:cs typeface="Cambria"/>
              </a:rPr>
              <a:t>an </a:t>
            </a:r>
            <a:r>
              <a:rPr sz="3200" spc="-20" dirty="0">
                <a:latin typeface="Cambria"/>
                <a:cs typeface="Cambria"/>
              </a:rPr>
              <a:t>early </a:t>
            </a:r>
            <a:r>
              <a:rPr sz="3200" spc="-10" dirty="0">
                <a:latin typeface="Cambria"/>
                <a:cs typeface="Cambria"/>
              </a:rPr>
              <a:t>wearing </a:t>
            </a:r>
            <a:r>
              <a:rPr sz="3200" dirty="0">
                <a:latin typeface="Cambria"/>
                <a:cs typeface="Cambria"/>
              </a:rPr>
              <a:t>of </a:t>
            </a:r>
            <a:r>
              <a:rPr sz="3200" spc="-5" dirty="0">
                <a:latin typeface="Cambria"/>
                <a:cs typeface="Cambria"/>
              </a:rPr>
              <a:t>the engine parts, </a:t>
            </a:r>
            <a:r>
              <a:rPr sz="3200" dirty="0">
                <a:latin typeface="Cambria"/>
                <a:cs typeface="Cambria"/>
              </a:rPr>
              <a:t>a </a:t>
            </a:r>
            <a:r>
              <a:rPr sz="3200" spc="-10" dirty="0">
                <a:latin typeface="Cambria"/>
                <a:cs typeface="Cambria"/>
              </a:rPr>
              <a:t>proper </a:t>
            </a:r>
            <a:r>
              <a:rPr sz="3200" spc="-5" dirty="0">
                <a:latin typeface="Cambria"/>
                <a:cs typeface="Cambria"/>
              </a:rPr>
              <a:t> lubrication</a:t>
            </a:r>
            <a:r>
              <a:rPr sz="3200" spc="-15" dirty="0">
                <a:latin typeface="Cambria"/>
                <a:cs typeface="Cambria"/>
              </a:rPr>
              <a:t> arrangement</a:t>
            </a:r>
            <a:r>
              <a:rPr sz="3200" spc="4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is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15" dirty="0">
                <a:latin typeface="Cambria"/>
                <a:cs typeface="Cambria"/>
              </a:rPr>
              <a:t>provided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5" dirty="0">
                <a:latin typeface="Cambria"/>
                <a:cs typeface="Cambria"/>
              </a:rPr>
              <a:t>in</a:t>
            </a:r>
            <a:r>
              <a:rPr sz="3200" dirty="0">
                <a:latin typeface="Cambria"/>
                <a:cs typeface="Cambria"/>
              </a:rPr>
              <a:t> I.C.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engines</a:t>
            </a:r>
            <a:r>
              <a:rPr sz="180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3600">
              <a:latin typeface="Cambria"/>
              <a:cs typeface="Cambria"/>
            </a:endParaRPr>
          </a:p>
          <a:p>
            <a:pPr marL="2104390" lvl="1" indent="-339090">
              <a:lnSpc>
                <a:spcPct val="100000"/>
              </a:lnSpc>
              <a:buClr>
                <a:srgbClr val="000000"/>
              </a:buClr>
              <a:buSzPct val="64285"/>
              <a:buAutoNum type="arabicParenR"/>
              <a:tabLst>
                <a:tab pos="2104390" algn="l"/>
                <a:tab pos="2105025" algn="l"/>
              </a:tabLst>
            </a:pP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Petroil</a:t>
            </a:r>
            <a:r>
              <a:rPr sz="2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libri"/>
              <a:buAutoNum type="arabicParenR"/>
            </a:pPr>
            <a:endParaRPr sz="2750">
              <a:latin typeface="Calibri"/>
              <a:cs typeface="Calibri"/>
            </a:endParaRPr>
          </a:p>
          <a:p>
            <a:pPr marL="2104390" lvl="1" indent="-339090">
              <a:lnSpc>
                <a:spcPct val="100000"/>
              </a:lnSpc>
              <a:buClr>
                <a:srgbClr val="000000"/>
              </a:buClr>
              <a:buSzPct val="64285"/>
              <a:buAutoNum type="arabicParenR"/>
              <a:tabLst>
                <a:tab pos="2104390" algn="l"/>
                <a:tab pos="2105025" algn="l"/>
              </a:tabLst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Splash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rabicParenR"/>
            </a:pPr>
            <a:endParaRPr sz="2750">
              <a:latin typeface="Calibri"/>
              <a:cs typeface="Calibri"/>
            </a:endParaRPr>
          </a:p>
          <a:p>
            <a:pPr marL="2104390" lvl="1" indent="-339090">
              <a:lnSpc>
                <a:spcPct val="100000"/>
              </a:lnSpc>
              <a:buClr>
                <a:srgbClr val="000000"/>
              </a:buClr>
              <a:buSzPct val="64285"/>
              <a:buAutoNum type="arabicParenR"/>
              <a:tabLst>
                <a:tab pos="2104390" algn="l"/>
                <a:tab pos="2105025" algn="l"/>
              </a:tabLst>
            </a:pP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Pressure 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312801"/>
            <a:ext cx="32080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imes New Roman"/>
                <a:cs typeface="Times New Roman"/>
              </a:rPr>
              <a:t>Splash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system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8663" y="1181862"/>
            <a:ext cx="1802130" cy="9042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 indent="284480">
              <a:lnSpc>
                <a:spcPts val="3070"/>
              </a:lnSpc>
              <a:spcBef>
                <a:spcPts val="844"/>
              </a:spcBef>
            </a:pPr>
            <a:r>
              <a:rPr sz="3200" dirty="0">
                <a:latin typeface="Calibri"/>
                <a:cs typeface="Calibri"/>
              </a:rPr>
              <a:t>c</a:t>
            </a:r>
            <a:r>
              <a:rPr sz="3200" spc="5" dirty="0">
                <a:latin typeface="Calibri"/>
                <a:cs typeface="Calibri"/>
              </a:rPr>
              <a:t>h</a:t>
            </a:r>
            <a:r>
              <a:rPr sz="3200" dirty="0">
                <a:latin typeface="Calibri"/>
                <a:cs typeface="Calibri"/>
              </a:rPr>
              <a:t>eape</a:t>
            </a:r>
            <a:r>
              <a:rPr sz="3200" spc="-4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t  lubri</a:t>
            </a:r>
            <a:r>
              <a:rPr sz="3200" spc="-30" dirty="0">
                <a:latin typeface="Calibri"/>
                <a:cs typeface="Calibri"/>
              </a:rPr>
              <a:t>c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81862"/>
            <a:ext cx="3912235" cy="129476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marR="5080" indent="-228600">
              <a:lnSpc>
                <a:spcPts val="3070"/>
              </a:lnSpc>
              <a:spcBef>
                <a:spcPts val="844"/>
              </a:spcBef>
              <a:buFont typeface="Arial MT"/>
              <a:buChar char="•"/>
              <a:tabLst>
                <a:tab pos="241300" algn="l"/>
                <a:tab pos="1210310" algn="l"/>
                <a:tab pos="1768475" algn="l"/>
                <a:tab pos="2144395" algn="l"/>
                <a:tab pos="2703830" algn="l"/>
                <a:tab pos="2923540" algn="l"/>
                <a:tab pos="3345815" algn="l"/>
              </a:tabLst>
            </a:pPr>
            <a:r>
              <a:rPr sz="3200" spc="-5" dirty="0">
                <a:latin typeface="Calibri"/>
                <a:cs typeface="Calibri"/>
              </a:rPr>
              <a:t>Thi</a:t>
            </a:r>
            <a:r>
              <a:rPr sz="3200" dirty="0">
                <a:latin typeface="Calibri"/>
                <a:cs typeface="Calibri"/>
              </a:rPr>
              <a:t>s	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s	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e	of	the  </a:t>
            </a:r>
            <a:r>
              <a:rPr sz="3200" spc="-5" dirty="0">
                <a:latin typeface="Calibri"/>
                <a:cs typeface="Calibri"/>
              </a:rPr>
              <a:t>methods		</a:t>
            </a:r>
            <a:r>
              <a:rPr sz="3200" dirty="0">
                <a:latin typeface="Calibri"/>
                <a:cs typeface="Calibri"/>
              </a:rPr>
              <a:t>of		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system.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479039"/>
            <a:ext cx="5707380" cy="33737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41300" marR="5080" indent="-228600" algn="just">
              <a:lnSpc>
                <a:spcPct val="80000"/>
              </a:lnSpc>
              <a:spcBef>
                <a:spcPts val="869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5" dirty="0">
                <a:latin typeface="Calibri"/>
                <a:cs typeface="Calibri"/>
              </a:rPr>
              <a:t>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consists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 a </a:t>
            </a:r>
            <a:r>
              <a:rPr sz="3200" spc="-10" dirty="0">
                <a:latin typeface="Calibri"/>
                <a:cs typeface="Calibri"/>
              </a:rPr>
              <a:t>scoop,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fitted</a:t>
            </a:r>
            <a:r>
              <a:rPr sz="3200" spc="-15" dirty="0">
                <a:latin typeface="Calibri"/>
                <a:cs typeface="Calibri"/>
              </a:rPr>
              <a:t> at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lower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connecting </a:t>
            </a:r>
            <a:r>
              <a:rPr sz="3200" spc="-20" dirty="0">
                <a:latin typeface="Calibri"/>
                <a:cs typeface="Calibri"/>
              </a:rPr>
              <a:t>rod </a:t>
            </a:r>
            <a:r>
              <a:rPr sz="3200" spc="5" dirty="0">
                <a:latin typeface="Calibri"/>
                <a:cs typeface="Calibri"/>
              </a:rPr>
              <a:t>as </a:t>
            </a:r>
            <a:r>
              <a:rPr sz="3200" spc="-5" dirty="0">
                <a:latin typeface="Calibri"/>
                <a:cs typeface="Calibri"/>
              </a:rPr>
              <a:t>shown in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diagram.</a:t>
            </a:r>
            <a:endParaRPr sz="32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when the engine runs </a:t>
            </a:r>
            <a:r>
              <a:rPr sz="3200" spc="-10" dirty="0">
                <a:latin typeface="Calibri"/>
                <a:cs typeface="Calibri"/>
              </a:rPr>
              <a:t>scoop </a:t>
            </a:r>
            <a:r>
              <a:rPr sz="3200" spc="-5" dirty="0">
                <a:latin typeface="Calibri"/>
                <a:cs typeface="Calibri"/>
              </a:rPr>
              <a:t> splashes,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oil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5" dirty="0">
                <a:latin typeface="Calibri"/>
                <a:cs typeface="Calibri"/>
              </a:rPr>
              <a:t>oil </a:t>
            </a:r>
            <a:r>
              <a:rPr sz="3200" spc="-10" dirty="0">
                <a:latin typeface="Calibri"/>
                <a:cs typeface="Calibri"/>
              </a:rPr>
              <a:t>through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 centrifugal </a:t>
            </a:r>
            <a:r>
              <a:rPr sz="3200" spc="-25" dirty="0">
                <a:latin typeface="Calibri"/>
                <a:cs typeface="Calibri"/>
              </a:rPr>
              <a:t>force to </a:t>
            </a:r>
            <a:r>
              <a:rPr sz="3200" dirty="0">
                <a:latin typeface="Calibri"/>
                <a:cs typeface="Calibri"/>
              </a:rPr>
              <a:t>all engine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parts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754710"/>
            <a:ext cx="5529961" cy="55735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5830" y="531368"/>
            <a:ext cx="32080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imes New Roman"/>
                <a:cs typeface="Times New Roman"/>
              </a:rPr>
              <a:t>Splash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system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128" y="2046846"/>
            <a:ext cx="7205091" cy="43812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7062" y="2112210"/>
            <a:ext cx="3184635" cy="35765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36798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Calibri"/>
                <a:cs typeface="Calibri"/>
              </a:rPr>
              <a:t>Pressure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spc="-35" dirty="0">
                <a:latin typeface="Calibri"/>
                <a:cs typeface="Calibri"/>
              </a:rPr>
              <a:t>system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624" y="1793493"/>
            <a:ext cx="5186680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985" indent="-22923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5" dirty="0">
                <a:latin typeface="Calibri"/>
                <a:cs typeface="Calibri"/>
              </a:rPr>
              <a:t>method, the </a:t>
            </a:r>
            <a:r>
              <a:rPr sz="2800" spc="-10" dirty="0">
                <a:latin typeface="Calibri"/>
                <a:cs typeface="Calibri"/>
              </a:rPr>
              <a:t>lubricating </a:t>
            </a:r>
            <a:r>
              <a:rPr sz="2800" spc="-5" dirty="0">
                <a:latin typeface="Calibri"/>
                <a:cs typeface="Calibri"/>
              </a:rPr>
              <a:t>oil </a:t>
            </a:r>
            <a:r>
              <a:rPr sz="2800" spc="-1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 carried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separate </a:t>
            </a:r>
            <a:r>
              <a:rPr sz="2800" spc="-15" dirty="0">
                <a:latin typeface="Calibri"/>
                <a:cs typeface="Calibri"/>
              </a:rPr>
              <a:t>tank </a:t>
            </a:r>
            <a:r>
              <a:rPr sz="2800" dirty="0">
                <a:latin typeface="Calibri"/>
                <a:cs typeface="Calibri"/>
              </a:rPr>
              <a:t>and is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pumped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high </a:t>
            </a:r>
            <a:r>
              <a:rPr sz="2800" spc="-15" dirty="0">
                <a:latin typeface="Calibri"/>
                <a:cs typeface="Calibri"/>
              </a:rPr>
              <a:t>pressure to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small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gap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mating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surfaces.</a:t>
            </a:r>
            <a:endParaRPr sz="28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supplying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oil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various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parts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engine</a:t>
            </a:r>
            <a:r>
              <a:rPr sz="2800" dirty="0">
                <a:latin typeface="Calibri"/>
                <a:cs typeface="Calibri"/>
              </a:rPr>
              <a:t> such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crank </a:t>
            </a:r>
            <a:r>
              <a:rPr sz="2800" spc="-5" dirty="0">
                <a:latin typeface="Calibri"/>
                <a:cs typeface="Calibri"/>
              </a:rPr>
              <a:t> shaft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bearings,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camshaft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valve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mechanism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9600" y="275767"/>
            <a:ext cx="5864225" cy="629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823086"/>
            <a:ext cx="8132445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IGNITION</a:t>
            </a:r>
            <a:r>
              <a:rPr sz="3600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3600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SYSTEMS</a:t>
            </a:r>
            <a:r>
              <a:rPr sz="36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36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OF</a:t>
            </a:r>
            <a:r>
              <a:rPr sz="36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3600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PETROL</a:t>
            </a:r>
            <a:r>
              <a:rPr sz="36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36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ENGINES</a:t>
            </a:r>
            <a:endParaRPr sz="3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3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4000" spc="-5" dirty="0">
                <a:latin typeface="Cambria"/>
                <a:cs typeface="Cambria"/>
              </a:rPr>
              <a:t>1.</a:t>
            </a:r>
            <a:r>
              <a:rPr sz="4000" spc="-25" dirty="0">
                <a:latin typeface="Cambria"/>
                <a:cs typeface="Cambria"/>
              </a:rPr>
              <a:t> </a:t>
            </a:r>
            <a:r>
              <a:rPr sz="4000" spc="-5" dirty="0">
                <a:latin typeface="Cambria"/>
                <a:cs typeface="Cambria"/>
              </a:rPr>
              <a:t>Coil</a:t>
            </a:r>
            <a:r>
              <a:rPr sz="4000" spc="-10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ignition</a:t>
            </a:r>
            <a:r>
              <a:rPr sz="4000" spc="-25" dirty="0">
                <a:latin typeface="Cambria"/>
                <a:cs typeface="Cambria"/>
              </a:rPr>
              <a:t> system</a:t>
            </a:r>
            <a:endParaRPr sz="4000">
              <a:latin typeface="Cambria"/>
              <a:cs typeface="Cambria"/>
            </a:endParaRPr>
          </a:p>
          <a:p>
            <a:pPr marL="350520" indent="-33845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1155" algn="l"/>
              </a:tabLst>
            </a:pPr>
            <a:r>
              <a:rPr sz="4000" spc="-5" dirty="0">
                <a:latin typeface="Cambria"/>
                <a:cs typeface="Cambria"/>
              </a:rPr>
              <a:t>2.</a:t>
            </a:r>
            <a:r>
              <a:rPr sz="4000" dirty="0">
                <a:latin typeface="Cambria"/>
                <a:cs typeface="Cambria"/>
              </a:rPr>
              <a:t> </a:t>
            </a:r>
            <a:r>
              <a:rPr sz="4000" spc="-10" dirty="0">
                <a:latin typeface="Cambria"/>
                <a:cs typeface="Cambria"/>
              </a:rPr>
              <a:t>Ma</a:t>
            </a:r>
            <a:r>
              <a:rPr sz="4000" dirty="0">
                <a:latin typeface="Cambria"/>
                <a:cs typeface="Cambria"/>
              </a:rPr>
              <a:t>g</a:t>
            </a:r>
            <a:r>
              <a:rPr sz="4000" spc="-10" dirty="0">
                <a:latin typeface="Cambria"/>
                <a:cs typeface="Cambria"/>
              </a:rPr>
              <a:t>ne</a:t>
            </a:r>
            <a:r>
              <a:rPr sz="4000" spc="-45" dirty="0">
                <a:latin typeface="Cambria"/>
                <a:cs typeface="Cambria"/>
              </a:rPr>
              <a:t>t</a:t>
            </a:r>
            <a:r>
              <a:rPr sz="4000" spc="-5" dirty="0">
                <a:latin typeface="Cambria"/>
                <a:cs typeface="Cambria"/>
              </a:rPr>
              <a:t>o</a:t>
            </a:r>
            <a:r>
              <a:rPr sz="4000" spc="-20" dirty="0">
                <a:latin typeface="Cambria"/>
                <a:cs typeface="Cambria"/>
              </a:rPr>
              <a:t> </a:t>
            </a:r>
            <a:r>
              <a:rPr sz="4000" spc="-5" dirty="0">
                <a:latin typeface="Cambria"/>
                <a:cs typeface="Cambria"/>
              </a:rPr>
              <a:t>ign</a:t>
            </a:r>
            <a:r>
              <a:rPr sz="4000" spc="5" dirty="0">
                <a:latin typeface="Cambria"/>
                <a:cs typeface="Cambria"/>
              </a:rPr>
              <a:t>i</a:t>
            </a:r>
            <a:r>
              <a:rPr sz="4000" spc="-10" dirty="0">
                <a:latin typeface="Cambria"/>
                <a:cs typeface="Cambria"/>
              </a:rPr>
              <a:t>tio</a:t>
            </a:r>
            <a:r>
              <a:rPr sz="4000" spc="-5" dirty="0">
                <a:latin typeface="Cambria"/>
                <a:cs typeface="Cambria"/>
              </a:rPr>
              <a:t>n </a:t>
            </a:r>
            <a:r>
              <a:rPr sz="4000" spc="-25" dirty="0">
                <a:latin typeface="Cambria"/>
                <a:cs typeface="Cambria"/>
              </a:rPr>
              <a:t>s</a:t>
            </a:r>
            <a:r>
              <a:rPr sz="4000" spc="-55" dirty="0">
                <a:latin typeface="Cambria"/>
                <a:cs typeface="Cambria"/>
              </a:rPr>
              <a:t>y</a:t>
            </a:r>
            <a:r>
              <a:rPr sz="4000" spc="-5" dirty="0">
                <a:latin typeface="Cambria"/>
                <a:cs typeface="Cambria"/>
              </a:rPr>
              <a:t>s</a:t>
            </a:r>
            <a:r>
              <a:rPr sz="4000" spc="-40" dirty="0">
                <a:latin typeface="Cambria"/>
                <a:cs typeface="Cambria"/>
              </a:rPr>
              <a:t>t</a:t>
            </a:r>
            <a:r>
              <a:rPr sz="4000" spc="-5" dirty="0">
                <a:latin typeface="Cambria"/>
                <a:cs typeface="Cambria"/>
              </a:rPr>
              <a:t>e</a:t>
            </a:r>
            <a:r>
              <a:rPr sz="4000" dirty="0">
                <a:latin typeface="Cambria"/>
                <a:cs typeface="Cambria"/>
              </a:rPr>
              <a:t>m</a:t>
            </a:r>
            <a:r>
              <a:rPr sz="180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4876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Times New Roman"/>
                <a:cs typeface="Times New Roman"/>
              </a:rPr>
              <a:t>Battery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Ignition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945375"/>
            <a:ext cx="11016361" cy="56586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6794"/>
            <a:ext cx="5052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Magneto</a:t>
            </a:r>
            <a:r>
              <a:rPr spc="-40" dirty="0"/>
              <a:t> </a:t>
            </a:r>
            <a:r>
              <a:rPr spc="-5" dirty="0"/>
              <a:t>Ignition</a:t>
            </a:r>
            <a:r>
              <a:rPr spc="-40" dirty="0"/>
              <a:t> 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832" y="1048943"/>
            <a:ext cx="9579483" cy="54095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589</Words>
  <Application>Microsoft Office PowerPoint</Application>
  <PresentationFormat>Custom</PresentationFormat>
  <Paragraphs>74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FUEL –AIR SYSTEM FOR CARBURETTED PETROL ENGINE</vt:lpstr>
      <vt:lpstr>Carburetor</vt:lpstr>
      <vt:lpstr>Simple Carburetor</vt:lpstr>
      <vt:lpstr>Slide 5</vt:lpstr>
      <vt:lpstr>MULTI POINT FUEL INJECTION(MPFI)</vt:lpstr>
      <vt:lpstr>MULTI POINT FUEL INJECTION(MPFI)</vt:lpstr>
      <vt:lpstr>MULTI POINT FUEL INJECTION(MPFI)</vt:lpstr>
      <vt:lpstr>Methods of Engine Cooling</vt:lpstr>
      <vt:lpstr>Air cooling</vt:lpstr>
      <vt:lpstr>Air cooling</vt:lpstr>
      <vt:lpstr>Slide 12</vt:lpstr>
      <vt:lpstr>Water cooling</vt:lpstr>
      <vt:lpstr>Water cooling</vt:lpstr>
      <vt:lpstr>Slide 15</vt:lpstr>
      <vt:lpstr>Splash system</vt:lpstr>
      <vt:lpstr>Splash system</vt:lpstr>
      <vt:lpstr>Pressure system</vt:lpstr>
      <vt:lpstr>Slide 19</vt:lpstr>
      <vt:lpstr>Battery Ignition System</vt:lpstr>
      <vt:lpstr>Magneto Ignition system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M</dc:creator>
  <cp:lastModifiedBy>SDPKCUSAT4</cp:lastModifiedBy>
  <cp:revision>1</cp:revision>
  <dcterms:created xsi:type="dcterms:W3CDTF">2023-01-25T10:02:52Z</dcterms:created>
  <dcterms:modified xsi:type="dcterms:W3CDTF">2023-01-25T10:12:46Z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2023-01-25T00:00:00Z</vt:filetime>
  </property>
</Properties>
</file>