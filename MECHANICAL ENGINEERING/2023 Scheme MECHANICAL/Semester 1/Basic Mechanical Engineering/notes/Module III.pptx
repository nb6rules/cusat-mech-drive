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334" r:id="rId2"/>
    <p:sldId id="344" r:id="rId3"/>
    <p:sldId id="346" r:id="rId4"/>
    <p:sldId id="347" r:id="rId5"/>
    <p:sldId id="343" r:id="rId6"/>
    <p:sldId id="335" r:id="rId7"/>
    <p:sldId id="336" r:id="rId8"/>
    <p:sldId id="257" r:id="rId9"/>
    <p:sldId id="258" r:id="rId10"/>
    <p:sldId id="261" r:id="rId11"/>
    <p:sldId id="259" r:id="rId12"/>
    <p:sldId id="260" r:id="rId13"/>
    <p:sldId id="337" r:id="rId14"/>
    <p:sldId id="264" r:id="rId15"/>
    <p:sldId id="265" r:id="rId16"/>
    <p:sldId id="266" r:id="rId17"/>
    <p:sldId id="311" r:id="rId18"/>
    <p:sldId id="275" r:id="rId19"/>
    <p:sldId id="269" r:id="rId20"/>
    <p:sldId id="270" r:id="rId21"/>
    <p:sldId id="331" r:id="rId22"/>
    <p:sldId id="333" r:id="rId23"/>
    <p:sldId id="357" r:id="rId24"/>
    <p:sldId id="351" r:id="rId25"/>
    <p:sldId id="348" r:id="rId26"/>
    <p:sldId id="349" r:id="rId27"/>
    <p:sldId id="350" r:id="rId28"/>
    <p:sldId id="272" r:id="rId29"/>
    <p:sldId id="273" r:id="rId30"/>
    <p:sldId id="293" r:id="rId31"/>
    <p:sldId id="320" r:id="rId32"/>
    <p:sldId id="358" r:id="rId33"/>
    <p:sldId id="308" r:id="rId34"/>
    <p:sldId id="325" r:id="rId35"/>
    <p:sldId id="294" r:id="rId36"/>
    <p:sldId id="359" r:id="rId37"/>
    <p:sldId id="296" r:id="rId38"/>
    <p:sldId id="324" r:id="rId39"/>
    <p:sldId id="323" r:id="rId40"/>
    <p:sldId id="280" r:id="rId41"/>
    <p:sldId id="362" r:id="rId42"/>
    <p:sldId id="317" r:id="rId43"/>
    <p:sldId id="287" r:id="rId44"/>
    <p:sldId id="288" r:id="rId45"/>
    <p:sldId id="361" r:id="rId46"/>
    <p:sldId id="318" r:id="rId47"/>
    <p:sldId id="356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02" y="-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97365-EBCA-4027-87D5-99FC1D4DF0BB}" type="datetimeFigureOut">
              <a:rPr lang="en-US" smtClean="0"/>
              <a:pPr/>
              <a:t>10/17/2023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1.png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2844" y="3105835"/>
            <a:ext cx="87868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23-20</a:t>
            </a:r>
            <a:r>
              <a:rPr lang="en-US"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-010</a:t>
            </a:r>
            <a:r>
              <a:rPr lang="en-US"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5A</a:t>
            </a:r>
            <a:r>
              <a:rPr lang="en-US" sz="28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lang="en-US"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BA</a:t>
            </a:r>
            <a:r>
              <a:rPr lang="en-US"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lang="en-US"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IC</a:t>
            </a:r>
            <a:r>
              <a:rPr lang="en-US"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MECH</a:t>
            </a:r>
            <a:r>
              <a:rPr lang="en-US" sz="2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ICAL </a:t>
            </a:r>
            <a:r>
              <a:rPr lang="en-US"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ENG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NEE</a:t>
            </a:r>
            <a:r>
              <a:rPr lang="en-US"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478179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23-20</a:t>
            </a:r>
            <a:r>
              <a:rPr lang="en-US"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-010</a:t>
            </a:r>
            <a:r>
              <a:rPr lang="en-US"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5A</a:t>
            </a:r>
            <a:r>
              <a:rPr lang="en-US" sz="18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BA</a:t>
            </a:r>
            <a:r>
              <a:rPr lang="en-US"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IC</a:t>
            </a:r>
            <a:r>
              <a:rPr lang="en-US"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MECH</a:t>
            </a:r>
            <a:r>
              <a:rPr lang="en-US"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ICAL 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ENG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NEE</a:t>
            </a:r>
            <a:r>
              <a:rPr lang="en-US"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71546"/>
            <a:ext cx="8520600" cy="5020287"/>
          </a:xfrm>
        </p:spPr>
        <p:txBody>
          <a:bodyPr/>
          <a:lstStyle/>
          <a:p>
            <a:r>
              <a:rPr lang="en-US" sz="2000" dirty="0"/>
              <a:t>Course Outcomes:</a:t>
            </a:r>
          </a:p>
          <a:p>
            <a:pPr>
              <a:buNone/>
            </a:pPr>
            <a:r>
              <a:rPr lang="en-US" sz="2000" dirty="0"/>
              <a:t>On completion of this course, the student will be able to:</a:t>
            </a:r>
          </a:p>
          <a:p>
            <a:pPr algn="just">
              <a:buNone/>
            </a:pPr>
            <a:r>
              <a:rPr lang="en-US" sz="2000" dirty="0"/>
              <a:t>1</a:t>
            </a:r>
            <a:r>
              <a:rPr lang="en-US" sz="2400" dirty="0"/>
              <a:t>. </a:t>
            </a:r>
            <a:r>
              <a:rPr lang="en-US" sz="2400" dirty="0" err="1"/>
              <a:t>Summarise</a:t>
            </a:r>
            <a:r>
              <a:rPr lang="en-US" sz="2400" dirty="0"/>
              <a:t> the role of mechanical engineering, different energy sources, and basic thermodynamic laws</a:t>
            </a:r>
          </a:p>
          <a:p>
            <a:pPr algn="just">
              <a:buNone/>
            </a:pPr>
            <a:r>
              <a:rPr lang="en-US" sz="2400" dirty="0"/>
              <a:t>2. Illustrate the principles and types of power generating and power producing devices</a:t>
            </a:r>
          </a:p>
          <a:p>
            <a:pPr algn="just">
              <a:buNone/>
            </a:pPr>
            <a:r>
              <a:rPr lang="en-US" sz="2400" dirty="0"/>
              <a:t>3. Explain the working of power transmission systems, electric and hybrid vehicles and modern fuel injection systems.</a:t>
            </a:r>
          </a:p>
          <a:p>
            <a:pPr algn="just">
              <a:buNone/>
            </a:pPr>
            <a:r>
              <a:rPr lang="en-US" sz="2400" dirty="0"/>
              <a:t>4. Demonstrate the types and classification of composite and smart materials and joining processes</a:t>
            </a:r>
          </a:p>
          <a:p>
            <a:pPr algn="just">
              <a:buNone/>
            </a:pPr>
            <a:r>
              <a:rPr lang="en-US" sz="2400" dirty="0"/>
              <a:t>5. </a:t>
            </a:r>
            <a:r>
              <a:rPr lang="en-US" sz="2400" dirty="0" err="1"/>
              <a:t>Summarise</a:t>
            </a:r>
            <a:r>
              <a:rPr lang="en-US" sz="2400" dirty="0"/>
              <a:t> the machine tools operations and advanced manufacturing systems</a:t>
            </a:r>
          </a:p>
          <a:p>
            <a:pPr algn="just">
              <a:buNone/>
            </a:pPr>
            <a:r>
              <a:rPr lang="en-US" sz="2400" dirty="0"/>
              <a:t>6. Explain the concepts of </a:t>
            </a:r>
            <a:r>
              <a:rPr lang="en-US" sz="2400" dirty="0" err="1"/>
              <a:t>Mechatronics</a:t>
            </a:r>
            <a:r>
              <a:rPr lang="en-US" sz="2400" dirty="0"/>
              <a:t>, Robotics, and Automation in </a:t>
            </a:r>
            <a:r>
              <a:rPr lang="en-US" sz="2400" dirty="0" err="1"/>
              <a:t>IoT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57167"/>
            <a:ext cx="8520600" cy="71438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Module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14422"/>
            <a:ext cx="8520600" cy="4877411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Introduction to engineering materials</a:t>
            </a:r>
            <a:r>
              <a:rPr lang="en-US" sz="2400" dirty="0"/>
              <a:t>: composite and smart materials.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Joining Processes</a:t>
            </a:r>
            <a:r>
              <a:rPr lang="en-US" sz="2400" dirty="0"/>
              <a:t>: Soldering, Brazing and Welding, Definitions, classification of welding process, Arc welding, Gas welding and types of flames.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Machine Tool Operations</a:t>
            </a:r>
            <a:r>
              <a:rPr lang="en-US" sz="2400" dirty="0"/>
              <a:t>: Working Principle of lathe, Lathe operations: Turning, facing, knurling. Working principles of Drilling Machine, drilling operations: drilling, boring, reaming. Working of Milling Machine, Milling operations: plane milling and slot milling.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Introduction to Advanced Manufacturing Systems</a:t>
            </a:r>
            <a:r>
              <a:rPr lang="en-US" sz="2400" dirty="0"/>
              <a:t>: Introduction, components of CNC, advantages and applications of CNC, 3D printing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14291"/>
            <a:ext cx="8520600" cy="78581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Module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00108"/>
            <a:ext cx="8520600" cy="5091725"/>
          </a:xfrm>
        </p:spPr>
        <p:txBody>
          <a:bodyPr/>
          <a:lstStyle/>
          <a:p>
            <a:pPr algn="just"/>
            <a:r>
              <a:rPr lang="en-US" sz="2800" dirty="0">
                <a:solidFill>
                  <a:srgbClr val="FF0000"/>
                </a:solidFill>
              </a:rPr>
              <a:t>Introduction to </a:t>
            </a:r>
            <a:r>
              <a:rPr lang="en-US" sz="2800" dirty="0" err="1">
                <a:solidFill>
                  <a:srgbClr val="FF0000"/>
                </a:solidFill>
              </a:rPr>
              <a:t>Mechatronics</a:t>
            </a:r>
            <a:r>
              <a:rPr lang="en-US" sz="2800" dirty="0">
                <a:solidFill>
                  <a:srgbClr val="FF0000"/>
                </a:solidFill>
              </a:rPr>
              <a:t> and Robotics</a:t>
            </a:r>
            <a:r>
              <a:rPr lang="en-US" sz="2800" dirty="0"/>
              <a:t>: open-loop and closed-loop </a:t>
            </a:r>
            <a:r>
              <a:rPr lang="en-US" sz="2800" dirty="0" err="1"/>
              <a:t>mechatronic</a:t>
            </a:r>
            <a:r>
              <a:rPr lang="en-US" sz="2800" dirty="0"/>
              <a:t> systems. Classification</a:t>
            </a:r>
          </a:p>
          <a:p>
            <a:pPr algn="just">
              <a:buNone/>
            </a:pPr>
            <a:r>
              <a:rPr lang="en-US" sz="2800" dirty="0"/>
              <a:t>    based on robotics configuration: polar cylindrical, Cartesian coordinate and spherical. Application, Advantages and disadvantages.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Automation in industry</a:t>
            </a:r>
            <a:r>
              <a:rPr lang="en-US" sz="2800" dirty="0"/>
              <a:t>: Definition, types – Fixed, programmable and flexible automation, basic elements with block diagrams, advantages.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Introduction to IOT:</a:t>
            </a:r>
            <a:r>
              <a:rPr lang="en-US" sz="2800" dirty="0"/>
              <a:t> Definition and Characteristics, Physical design, protocols, Logical design of </a:t>
            </a:r>
            <a:r>
              <a:rPr lang="en-US" sz="2800" dirty="0" err="1"/>
              <a:t>IoT</a:t>
            </a:r>
            <a:r>
              <a:rPr lang="en-US" sz="2800" dirty="0"/>
              <a:t>, Functional blocks, and communication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1" i="1" dirty="0">
                <a:solidFill>
                  <a:srgbClr val="FF0000"/>
                </a:solidFill>
                <a:latin typeface="Verdana"/>
                <a:cs typeface="Verdana"/>
              </a:rPr>
              <a:t>Mechanical </a:t>
            </a:r>
            <a:r>
              <a:rPr lang="en-US" b="1" i="1" spc="-5" dirty="0">
                <a:solidFill>
                  <a:srgbClr val="FF0000"/>
                </a:solidFill>
                <a:latin typeface="Verdana"/>
                <a:cs typeface="Verdana"/>
              </a:rPr>
              <a:t>engineering </a:t>
            </a:r>
            <a:r>
              <a:rPr lang="en-US" spc="-10" dirty="0">
                <a:latin typeface="Verdana"/>
                <a:cs typeface="Verdana"/>
              </a:rPr>
              <a:t>is </a:t>
            </a:r>
            <a:r>
              <a:rPr lang="en-US" spc="-5" dirty="0">
                <a:latin typeface="Verdana"/>
                <a:cs typeface="Verdana"/>
              </a:rPr>
              <a:t>a </a:t>
            </a:r>
            <a:r>
              <a:rPr lang="en-US" spc="-15" dirty="0">
                <a:latin typeface="Verdana"/>
                <a:cs typeface="Verdana"/>
              </a:rPr>
              <a:t>branch </a:t>
            </a:r>
            <a:r>
              <a:rPr lang="en-US" spc="-5" dirty="0">
                <a:latin typeface="Verdana"/>
                <a:cs typeface="Verdana"/>
              </a:rPr>
              <a:t>of </a:t>
            </a:r>
            <a:r>
              <a:rPr lang="en-US" spc="-10" dirty="0">
                <a:latin typeface="Verdana"/>
                <a:cs typeface="Verdana"/>
              </a:rPr>
              <a:t>engineering </a:t>
            </a:r>
            <a:r>
              <a:rPr lang="en-US" spc="-5" dirty="0">
                <a:latin typeface="Verdana"/>
                <a:cs typeface="Verdana"/>
              </a:rPr>
              <a:t>science </a:t>
            </a:r>
            <a:r>
              <a:rPr lang="en-US" dirty="0">
                <a:latin typeface="Verdana"/>
                <a:cs typeface="Verdana"/>
              </a:rPr>
              <a:t> </a:t>
            </a:r>
            <a:r>
              <a:rPr lang="en-US" spc="-10" dirty="0">
                <a:latin typeface="Verdana"/>
                <a:cs typeface="Verdana"/>
              </a:rPr>
              <a:t>that deals with </a:t>
            </a:r>
            <a:r>
              <a:rPr lang="en-US" i="1" spc="-15" dirty="0">
                <a:latin typeface="Verdana"/>
                <a:cs typeface="Verdana"/>
              </a:rPr>
              <a:t>the </a:t>
            </a:r>
            <a:r>
              <a:rPr lang="en-US" i="1" spc="-10" dirty="0">
                <a:latin typeface="Verdana"/>
                <a:cs typeface="Verdana"/>
              </a:rPr>
              <a:t>design </a:t>
            </a:r>
            <a:r>
              <a:rPr lang="en-US" i="1" spc="-5" dirty="0">
                <a:latin typeface="Verdana"/>
                <a:cs typeface="Verdana"/>
              </a:rPr>
              <a:t>and </a:t>
            </a:r>
            <a:r>
              <a:rPr lang="en-US" i="1" spc="-10" dirty="0">
                <a:latin typeface="Verdana"/>
                <a:cs typeface="Verdana"/>
              </a:rPr>
              <a:t>development </a:t>
            </a:r>
            <a:r>
              <a:rPr lang="en-US" i="1" spc="-5" dirty="0">
                <a:latin typeface="Verdana"/>
                <a:cs typeface="Verdana"/>
              </a:rPr>
              <a:t>of </a:t>
            </a:r>
            <a:r>
              <a:rPr lang="en-US" i="1" spc="-10" dirty="0">
                <a:latin typeface="Verdana"/>
                <a:cs typeface="Verdana"/>
              </a:rPr>
              <a:t>work </a:t>
            </a:r>
            <a:r>
              <a:rPr lang="en-US" i="1" dirty="0">
                <a:latin typeface="Verdana"/>
                <a:cs typeface="Verdana"/>
              </a:rPr>
              <a:t>producing </a:t>
            </a:r>
            <a:r>
              <a:rPr lang="en-US" i="1" spc="-969" dirty="0">
                <a:latin typeface="Verdana"/>
                <a:cs typeface="Verdana"/>
              </a:rPr>
              <a:t> </a:t>
            </a:r>
            <a:r>
              <a:rPr lang="en-US" i="1" spc="-5" dirty="0">
                <a:latin typeface="Verdana"/>
                <a:cs typeface="Verdana"/>
              </a:rPr>
              <a:t>and </a:t>
            </a:r>
            <a:r>
              <a:rPr lang="en-US" i="1" spc="-20" dirty="0">
                <a:latin typeface="Verdana"/>
                <a:cs typeface="Verdana"/>
              </a:rPr>
              <a:t>work</a:t>
            </a:r>
            <a:r>
              <a:rPr lang="en-US" i="1" spc="45" dirty="0">
                <a:latin typeface="Verdana"/>
                <a:cs typeface="Verdana"/>
              </a:rPr>
              <a:t> </a:t>
            </a:r>
            <a:r>
              <a:rPr lang="en-US" i="1" spc="-5" dirty="0">
                <a:latin typeface="Verdana"/>
                <a:cs typeface="Verdana"/>
              </a:rPr>
              <a:t>absorbing</a:t>
            </a:r>
            <a:r>
              <a:rPr lang="en-US" i="1" spc="60" dirty="0">
                <a:latin typeface="Verdana"/>
                <a:cs typeface="Verdana"/>
              </a:rPr>
              <a:t> </a:t>
            </a:r>
            <a:r>
              <a:rPr lang="en-US" i="1" spc="-15" dirty="0">
                <a:latin typeface="Verdana"/>
                <a:cs typeface="Verdana"/>
              </a:rPr>
              <a:t>machines.</a:t>
            </a:r>
            <a:endParaRPr lang="en-US" i="1" dirty="0">
              <a:latin typeface="Verdana"/>
              <a:cs typeface="Verdana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endParaRPr lang="en-IN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MANUFACTURING PROCESSES</a:t>
            </a:r>
            <a:endParaRPr lang="en-US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2400" u="sng" dirty="0">
                <a:latin typeface="Times New Roman" pitchFamily="18" charset="0"/>
                <a:cs typeface="Times New Roman" pitchFamily="18" charset="0"/>
              </a:rPr>
              <a:t>Module 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357166"/>
            <a:ext cx="8572559" cy="6215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WELDING </a:t>
            </a:r>
            <a:br>
              <a:rPr lang="en-US" sz="6000" b="1" dirty="0">
                <a:solidFill>
                  <a:srgbClr val="0070C0"/>
                </a:solidFill>
              </a:rPr>
            </a:br>
            <a:endParaRPr lang="en-US" sz="6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 defined as –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Welding is a process of making a permanent joint by establishing inter atomic bonds between two or more pieces of metal by using heat or heat and pressure.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483245"/>
          </a:xfrm>
        </p:spPr>
        <p:txBody>
          <a:bodyPr>
            <a:normAutofit/>
          </a:bodyPr>
          <a:lstStyle/>
          <a:p>
            <a:r>
              <a:rPr lang="en-US" dirty="0"/>
              <a:t> Most essential requirement is heat. </a:t>
            </a:r>
          </a:p>
          <a:p>
            <a:r>
              <a:rPr lang="en-US" dirty="0"/>
              <a:t> Pressure may or may not be used. </a:t>
            </a:r>
          </a:p>
          <a:p>
            <a:r>
              <a:rPr lang="en-US" dirty="0"/>
              <a:t> Filler material may or may not be used. </a:t>
            </a:r>
          </a:p>
          <a:p>
            <a:r>
              <a:rPr lang="en-US" dirty="0"/>
              <a:t> Flux is used to resist oxidation and to remove impurities. </a:t>
            </a:r>
          </a:p>
          <a:p>
            <a:pPr algn="just"/>
            <a:r>
              <a:rPr lang="en-US" dirty="0"/>
              <a:t>Thus, </a:t>
            </a:r>
            <a:r>
              <a:rPr lang="en-US" dirty="0">
                <a:solidFill>
                  <a:srgbClr val="FF0000"/>
                </a:solidFill>
              </a:rPr>
              <a:t>“Welding is the process of joining similar or dissimilar metals by the application of heat, with or without the application of pressure and addition of filler material”.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Classification Of Welding 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1026" name="Picture 2" descr="C:\Users\JINU MATHEW\Desktop\115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857232"/>
            <a:ext cx="8358246" cy="50720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Classification Of Welding  </a:t>
            </a:r>
            <a:br>
              <a:rPr lang="en-US" b="1" u="sng" dirty="0">
                <a:solidFill>
                  <a:srgbClr val="FF0000"/>
                </a:solidFill>
              </a:rPr>
            </a:b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Welding of metals can be divided into two categories.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1. Plastic Welding (Pressure welding)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2. Fusion (Diffusion) Welding. </a:t>
            </a:r>
          </a:p>
          <a:p>
            <a:pPr algn="just"/>
            <a:r>
              <a:rPr lang="en-US" i="1" u="sng" dirty="0">
                <a:solidFill>
                  <a:srgbClr val="FF0000"/>
                </a:solidFill>
              </a:rPr>
              <a:t>  Plastic Welding </a:t>
            </a:r>
            <a:r>
              <a:rPr lang="en-US" dirty="0"/>
              <a:t>-</a:t>
            </a:r>
            <a:r>
              <a:rPr lang="en-US" dirty="0">
                <a:solidFill>
                  <a:srgbClr val="0070C0"/>
                </a:solidFill>
              </a:rPr>
              <a:t>In this type of welding the metals to be joined are to be heated to the plastic state and then forced together by external pressure without the addition of filler material. </a:t>
            </a:r>
            <a:r>
              <a:rPr lang="en-US" dirty="0" err="1"/>
              <a:t>Eg</a:t>
            </a:r>
            <a:r>
              <a:rPr lang="en-US" dirty="0"/>
              <a:t>. Forge Welding, resistance welding.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 lnSpcReduction="10000"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Fusion Welding </a:t>
            </a:r>
          </a:p>
          <a:p>
            <a:pPr>
              <a:buNone/>
            </a:pPr>
            <a:r>
              <a:rPr lang="en-US" dirty="0"/>
              <a:t>    In this type of welding no pressure is involved but a very high temperature is produced in or near the joint.  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metal at the joint is heated to the molten state and a joint is formed as a result of solidification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  The heat may be generated by electric arc, combustion of gases or chemical action. A filler material may be used during the welding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285728"/>
            <a:ext cx="8715436" cy="6143668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Aircraft construction </a:t>
            </a:r>
          </a:p>
          <a:p>
            <a:r>
              <a:rPr lang="en-US" dirty="0"/>
              <a:t>Automobile Construction </a:t>
            </a:r>
            <a:r>
              <a:rPr lang="en-US" i="1" dirty="0"/>
              <a:t>(chassis, body, structure, doors)</a:t>
            </a:r>
          </a:p>
          <a:p>
            <a:r>
              <a:rPr lang="en-US" dirty="0"/>
              <a:t> Bridges </a:t>
            </a:r>
          </a:p>
          <a:p>
            <a:r>
              <a:rPr lang="en-US" dirty="0"/>
              <a:t>Railways </a:t>
            </a:r>
            <a:r>
              <a:rPr lang="en-US" i="1" dirty="0"/>
              <a:t>(tracks, coaches/wagons)</a:t>
            </a:r>
            <a:r>
              <a:rPr lang="en-US" dirty="0"/>
              <a:t>.</a:t>
            </a:r>
          </a:p>
          <a:p>
            <a:r>
              <a:rPr lang="en-US" dirty="0"/>
              <a:t>Buildings </a:t>
            </a:r>
          </a:p>
          <a:p>
            <a:r>
              <a:rPr lang="en-US" dirty="0"/>
              <a:t>Pressure vessels and tanks </a:t>
            </a:r>
          </a:p>
          <a:p>
            <a:r>
              <a:rPr lang="en-US" dirty="0"/>
              <a:t>Piping and Pipelines </a:t>
            </a:r>
          </a:p>
          <a:p>
            <a:r>
              <a:rPr lang="en-US" dirty="0"/>
              <a:t>Ships</a:t>
            </a:r>
          </a:p>
          <a:p>
            <a:r>
              <a:rPr lang="en-US" dirty="0"/>
              <a:t> Machine tool </a:t>
            </a:r>
          </a:p>
          <a:p>
            <a:r>
              <a:rPr lang="en-US" dirty="0"/>
              <a:t> Household </a:t>
            </a:r>
          </a:p>
          <a:p>
            <a:r>
              <a:rPr lang="en-US" dirty="0"/>
              <a:t>Heavy machineries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GAS WELDING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472518" cy="5786478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Gas Welding is a Fusion-Welding process. </a:t>
            </a:r>
          </a:p>
          <a:p>
            <a:pPr algn="just"/>
            <a:r>
              <a:rPr lang="en-US" sz="2800" dirty="0"/>
              <a:t> It joins metals using the heat of combustion of some fuel gas (acetylene, hydrogen, natural gas) in air or oxygen.  </a:t>
            </a:r>
          </a:p>
          <a:p>
            <a:pPr algn="just"/>
            <a:r>
              <a:rPr lang="en-US" sz="2800" dirty="0"/>
              <a:t>Temperature produced ranges from 3000</a:t>
            </a:r>
            <a:r>
              <a:rPr lang="en-US" sz="2800" dirty="0">
                <a:solidFill>
                  <a:schemeClr val="tx2"/>
                </a:solidFill>
              </a:rPr>
              <a:t>°C</a:t>
            </a:r>
            <a:r>
              <a:rPr lang="en-US" sz="2800" dirty="0"/>
              <a:t> to 3400 </a:t>
            </a:r>
            <a:r>
              <a:rPr lang="en-US" sz="2800" dirty="0">
                <a:solidFill>
                  <a:schemeClr val="tx2"/>
                </a:solidFill>
              </a:rPr>
              <a:t>°C</a:t>
            </a:r>
            <a:r>
              <a:rPr lang="en-US" sz="2800" dirty="0"/>
              <a:t> </a:t>
            </a:r>
          </a:p>
          <a:p>
            <a:pPr algn="just"/>
            <a:r>
              <a:rPr lang="en-US" sz="2800" dirty="0"/>
              <a:t>The intense heat produced melts and fuses together the edges of parts to be welded, generally with the addition of filler material. </a:t>
            </a:r>
          </a:p>
          <a:p>
            <a:pPr algn="just"/>
            <a:r>
              <a:rPr lang="en-US" sz="2800" dirty="0"/>
              <a:t>It is used for welding ferrous and non ferrous metals particularly for thin sections up to 6 mm thick.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Types of Gas Welding </a:t>
            </a:r>
            <a:br>
              <a:rPr lang="en-US" b="1" u="sng" dirty="0">
                <a:solidFill>
                  <a:srgbClr val="FF0000"/>
                </a:solidFill>
              </a:rPr>
            </a:br>
            <a:r>
              <a:rPr lang="en-US" b="1" u="sng" dirty="0">
                <a:solidFill>
                  <a:srgbClr val="FF0000"/>
                </a:solidFill>
              </a:rPr>
              <a:t> 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Oxy-Acetylene Welding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Air-Acetylene Welding 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Oxy-Hydrogen Welding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Oxy-acetylene Welding Equipment</a:t>
            </a:r>
            <a:endParaRPr lang="en-US" dirty="0"/>
          </a:p>
        </p:txBody>
      </p:sp>
      <p:pic>
        <p:nvPicPr>
          <p:cNvPr id="5122" name="Picture 2" descr="C:\Users\JINU MATHEW\Desktop\208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791204"/>
            <a:ext cx="8072493" cy="46381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Oxy-acetylene Welding Equipment</a:t>
            </a:r>
            <a:endParaRPr lang="en-US" dirty="0"/>
          </a:p>
        </p:txBody>
      </p:sp>
      <p:pic>
        <p:nvPicPr>
          <p:cNvPr id="2050" name="Picture 2" descr="C:\Users\JINU MATHEW\Desktop\116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671638"/>
            <a:ext cx="7572427" cy="47577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Oxy-acetylene Welding Equipment </a:t>
            </a:r>
            <a:br>
              <a:rPr lang="en-US" b="1" u="sng" dirty="0">
                <a:solidFill>
                  <a:srgbClr val="FF0000"/>
                </a:solidFill>
              </a:rPr>
            </a:b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Acetylene Cylinder </a:t>
            </a:r>
            <a:r>
              <a:rPr lang="en-US" dirty="0"/>
              <a:t>- Used for storing Acetylene 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Oxygen Cylinder </a:t>
            </a:r>
            <a:r>
              <a:rPr lang="en-US" dirty="0"/>
              <a:t>-Used for storing Oxygen </a:t>
            </a:r>
          </a:p>
          <a:p>
            <a:pPr algn="just"/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Oxygen and Acetylene pressure Regulators  </a:t>
            </a:r>
            <a:r>
              <a:rPr lang="en-US" dirty="0"/>
              <a:t>-The pressure of the gases obtained from the cylinders is considerably higher than the gas pressure required to carry out the welding operation. </a:t>
            </a:r>
          </a:p>
          <a:p>
            <a:r>
              <a:rPr lang="en-US" u="sng" dirty="0"/>
              <a:t>The purpose of regulators is to  </a:t>
            </a:r>
          </a:p>
          <a:p>
            <a:pPr>
              <a:buNone/>
            </a:pPr>
            <a:r>
              <a:rPr lang="en-US" dirty="0"/>
              <a:t>-reduce the pressures of gases </a:t>
            </a:r>
          </a:p>
          <a:p>
            <a:pPr>
              <a:buNone/>
            </a:pPr>
            <a:r>
              <a:rPr lang="en-US" dirty="0"/>
              <a:t>- to produce steady flow of gases.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Oxy-acetylene Welding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Filler Rods </a:t>
            </a:r>
            <a:r>
              <a:rPr lang="en-US" dirty="0"/>
              <a:t>- Used as Filler Metal </a:t>
            </a:r>
          </a:p>
          <a:p>
            <a:r>
              <a:rPr lang="en-US" dirty="0">
                <a:solidFill>
                  <a:srgbClr val="FF0000"/>
                </a:solidFill>
              </a:rPr>
              <a:t> Flux </a:t>
            </a:r>
            <a:r>
              <a:rPr lang="en-US" dirty="0"/>
              <a:t>-Used for removing impurities and oxides. 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Welding Torch or Blow Pipe </a:t>
            </a:r>
            <a:r>
              <a:rPr lang="en-US" dirty="0"/>
              <a:t>-Oxygen and the fuel gas are mixed in the welding torch.   Welding Torch controls the flow of gases to the welding nozzle.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</a:rPr>
              <a:t>Oxy-Acetylene Welding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1538" y="1714488"/>
            <a:ext cx="6572295" cy="4214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JINU MATHEW\Desktop\210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357166"/>
            <a:ext cx="8286807" cy="57689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Types of Flame in Oxy Acetylene Gas Welding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• Neutral flame </a:t>
            </a:r>
          </a:p>
          <a:p>
            <a:pPr>
              <a:buNone/>
            </a:pPr>
            <a:r>
              <a:rPr lang="en-US" dirty="0"/>
              <a:t>• Oxidizing flame </a:t>
            </a:r>
          </a:p>
          <a:p>
            <a:pPr>
              <a:buNone/>
            </a:pPr>
            <a:r>
              <a:rPr lang="en-US" dirty="0"/>
              <a:t>• Carburizing (Reducing) flame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699" y="857232"/>
            <a:ext cx="8110602" cy="5500726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500042"/>
            <a:ext cx="8215370" cy="5626121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642918"/>
            <a:ext cx="8215370" cy="5786478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428604"/>
            <a:ext cx="8501122" cy="5929354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</a:rPr>
              <a:t>Advantages Of Gas Welding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Oxy-Fuel gas can be easily controlled.   </a:t>
            </a:r>
          </a:p>
          <a:p>
            <a:r>
              <a:rPr lang="en-US" dirty="0"/>
              <a:t>Suitable for thin sheets. </a:t>
            </a:r>
          </a:p>
          <a:p>
            <a:r>
              <a:rPr lang="en-US" dirty="0"/>
              <a:t>Equipment is portable.  </a:t>
            </a:r>
          </a:p>
          <a:p>
            <a:r>
              <a:rPr lang="en-US" dirty="0"/>
              <a:t>It can weld most common materials.  </a:t>
            </a:r>
          </a:p>
          <a:p>
            <a:r>
              <a:rPr lang="en-US" dirty="0"/>
              <a:t> By changing the nozzle the torch can be use for heating, and cutting purposes. </a:t>
            </a:r>
          </a:p>
          <a:p>
            <a:r>
              <a:rPr lang="en-US" dirty="0"/>
              <a:t>Cost is low.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Disadvantages of Gas Welding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Heavy sections cannot be joined. </a:t>
            </a:r>
          </a:p>
          <a:p>
            <a:r>
              <a:rPr lang="en-US" dirty="0"/>
              <a:t> Flame temperature is less than that of arc. </a:t>
            </a:r>
          </a:p>
          <a:p>
            <a:pPr algn="just"/>
            <a:r>
              <a:rPr lang="en-US" dirty="0"/>
              <a:t>Fluxes used produce fumes that are irritating to eyes, nose and lungs.  </a:t>
            </a:r>
          </a:p>
          <a:p>
            <a:pPr algn="just"/>
            <a:r>
              <a:rPr lang="en-US" dirty="0"/>
              <a:t> Slower than arc welding Process. </a:t>
            </a:r>
          </a:p>
          <a:p>
            <a:r>
              <a:rPr lang="en-US" dirty="0"/>
              <a:t> Distortion to the work piece is more compared to arc welding process. </a:t>
            </a:r>
          </a:p>
          <a:p>
            <a:r>
              <a:rPr lang="en-US" dirty="0"/>
              <a:t>Careful handling and storing is required.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ARC WELDING 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786478"/>
          </a:xfrm>
        </p:spPr>
        <p:txBody>
          <a:bodyPr>
            <a:normAutofit/>
          </a:bodyPr>
          <a:lstStyle/>
          <a:p>
            <a:r>
              <a:rPr lang="en-US" dirty="0"/>
              <a:t> Method of fusion welding in which the metals at the joint is heated to molten state by an electric arc.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 Arc column is generated between an anode(electrode) and the cathode(metal to be joined)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Temperature of the arc is about 6000⁰C  to  7000⁰C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JINU MATHEW\Desktop\212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622781"/>
            <a:ext cx="7429552" cy="5520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928670"/>
            <a:ext cx="8358245" cy="5197493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dirty="0">
                <a:solidFill>
                  <a:srgbClr val="FF0000"/>
                </a:solidFill>
              </a:rPr>
              <a:t> ARC WELDING EQUIPMENT…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098" name="Picture 2" descr="C:\Users\JINU MATHEW\Desktop\118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1600200"/>
            <a:ext cx="692948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52238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ELECTRODES </a:t>
            </a:r>
          </a:p>
          <a:p>
            <a:pPr>
              <a:buNone/>
            </a:pP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Non- consumable electrodes</a:t>
            </a:r>
            <a:r>
              <a:rPr lang="en-US" dirty="0"/>
              <a:t>: May be made of carbon, tungsten or graphite which do not consume during welding operation.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Consumable electrodes</a:t>
            </a:r>
            <a:r>
              <a:rPr lang="en-US" dirty="0"/>
              <a:t>: </a:t>
            </a:r>
          </a:p>
          <a:p>
            <a:r>
              <a:rPr lang="en-US" dirty="0"/>
              <a:t>It is consumed during welding operation. May be made of various metals depending upon the purpose and chemical composition of the metals to be welded. </a:t>
            </a:r>
          </a:p>
          <a:p>
            <a:r>
              <a:rPr lang="en-US" dirty="0"/>
              <a:t> electrode may be bare(uncoated) or flux coated 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ex.steel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ARC WELDING- MANUAL METAL ARC WELDING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1149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The heat is generated by an electric arc between base metal and a consumable electrode.   </a:t>
            </a:r>
          </a:p>
          <a:p>
            <a:r>
              <a:rPr lang="en-US" dirty="0"/>
              <a:t> In this process electrode movement is manually controlled hence it is termed as manual metal arc welding </a:t>
            </a:r>
          </a:p>
          <a:p>
            <a:pPr algn="just"/>
            <a:r>
              <a:rPr lang="en-US" dirty="0"/>
              <a:t>In </a:t>
            </a:r>
            <a:r>
              <a:rPr lang="en-US" dirty="0">
                <a:solidFill>
                  <a:srgbClr val="FF0000"/>
                </a:solidFill>
              </a:rPr>
              <a:t>shielded metal arc welding</a:t>
            </a:r>
            <a:r>
              <a:rPr lang="en-US" dirty="0"/>
              <a:t>, the protection to the weld pool is provided by covering of </a:t>
            </a:r>
          </a:p>
          <a:p>
            <a:pPr marL="514350" indent="-514350">
              <a:buAutoNum type="alphaLcParenR"/>
            </a:pPr>
            <a:r>
              <a:rPr lang="en-US" dirty="0"/>
              <a:t>slag formed over the surface of weld pool/metal and </a:t>
            </a:r>
          </a:p>
          <a:p>
            <a:pPr marL="514350" indent="-514350">
              <a:buNone/>
            </a:pPr>
            <a:r>
              <a:rPr lang="en-US" dirty="0"/>
              <a:t>b) inactive gases generated through thermal decomposition of flux/coating materials on the electrode 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ARC WELDING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JINU MATHEW\Desktop\117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052736"/>
            <a:ext cx="7358114" cy="5572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JINU MATHEW\Desktop\213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14290"/>
            <a:ext cx="7429552" cy="59118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pPr algn="l"/>
            <a:r>
              <a:rPr lang="en-IN" u="sng" dirty="0">
                <a:solidFill>
                  <a:srgbClr val="FF0000"/>
                </a:solidFill>
              </a:rPr>
              <a:t>WELDING DEFECTS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900634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C00000"/>
                </a:solidFill>
              </a:rPr>
              <a:t>Weld crack</a:t>
            </a:r>
          </a:p>
          <a:p>
            <a:r>
              <a:rPr lang="en-IN" dirty="0">
                <a:solidFill>
                  <a:srgbClr val="C00000"/>
                </a:solidFill>
              </a:rPr>
              <a:t>Porosity</a:t>
            </a:r>
          </a:p>
          <a:p>
            <a:r>
              <a:rPr lang="en-IN" dirty="0">
                <a:solidFill>
                  <a:srgbClr val="C00000"/>
                </a:solidFill>
              </a:rPr>
              <a:t>Undercut</a:t>
            </a:r>
          </a:p>
          <a:p>
            <a:r>
              <a:rPr lang="en-IN" dirty="0">
                <a:solidFill>
                  <a:srgbClr val="C00000"/>
                </a:solidFill>
              </a:rPr>
              <a:t>Spatter</a:t>
            </a:r>
          </a:p>
          <a:p>
            <a:r>
              <a:rPr lang="en-IN" dirty="0">
                <a:solidFill>
                  <a:srgbClr val="C00000"/>
                </a:solidFill>
              </a:rPr>
              <a:t>Slag inclusion</a:t>
            </a:r>
          </a:p>
          <a:p>
            <a:r>
              <a:rPr lang="en-IN" dirty="0">
                <a:solidFill>
                  <a:srgbClr val="C00000"/>
                </a:solidFill>
              </a:rPr>
              <a:t>Poor fusion</a:t>
            </a:r>
          </a:p>
          <a:p>
            <a:r>
              <a:rPr lang="en-IN" dirty="0" err="1">
                <a:solidFill>
                  <a:srgbClr val="C00000"/>
                </a:solidFill>
              </a:rPr>
              <a:t>Wraping</a:t>
            </a:r>
            <a:r>
              <a:rPr lang="en-IN" dirty="0">
                <a:solidFill>
                  <a:srgbClr val="C00000"/>
                </a:solidFill>
              </a:rPr>
              <a:t> and distortion</a:t>
            </a:r>
          </a:p>
          <a:p>
            <a:r>
              <a:rPr lang="en-IN" dirty="0">
                <a:solidFill>
                  <a:srgbClr val="C00000"/>
                </a:solidFill>
              </a:rPr>
              <a:t>Lack of penetration</a:t>
            </a:r>
          </a:p>
          <a:p>
            <a:endParaRPr lang="en-US" dirty="0"/>
          </a:p>
        </p:txBody>
      </p:sp>
      <p:pic>
        <p:nvPicPr>
          <p:cNvPr id="5" name="Picture 4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51" y="857232"/>
            <a:ext cx="6143668" cy="435771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WELDING DEFECTS..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JINU MATHEW\Desktop\44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00108"/>
            <a:ext cx="8643998" cy="55721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SOLDERING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78647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/>
          </a:p>
          <a:p>
            <a:pPr algn="just"/>
            <a:r>
              <a:rPr lang="en-US" dirty="0"/>
              <a:t> Soldering is a process in which two or more items are joined together by melting and putting a filler metal </a:t>
            </a:r>
            <a:r>
              <a:rPr lang="en-US" i="1" dirty="0">
                <a:solidFill>
                  <a:srgbClr val="FF0000"/>
                </a:solidFill>
              </a:rPr>
              <a:t>(Solder: Lead-tin alloy) </a:t>
            </a:r>
            <a:r>
              <a:rPr lang="en-US" dirty="0"/>
              <a:t>into the joint. 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melting temperature of filler metal is lower than 450°C and also lower than the melting point of the components to be joined.</a:t>
            </a:r>
          </a:p>
          <a:p>
            <a:pPr algn="just"/>
            <a:r>
              <a:rPr lang="en-US" dirty="0"/>
              <a:t>Unlike welding, soldering does not involve melting the work pieces.</a:t>
            </a:r>
          </a:p>
          <a:p>
            <a:pPr algn="just"/>
            <a:r>
              <a:rPr lang="en-US" dirty="0"/>
              <a:t>Solder is melted by using a soldering iron, which is heated by electrical resistance.</a:t>
            </a:r>
          </a:p>
          <a:p>
            <a:pPr algn="just"/>
            <a:r>
              <a:rPr lang="en-US" dirty="0"/>
              <a:t>  The filler metal flows into the gap between close-fitting parts by capillary action.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214290"/>
            <a:ext cx="3476864" cy="3643338"/>
          </a:xfrm>
        </p:spPr>
      </p:pic>
      <p:pic>
        <p:nvPicPr>
          <p:cNvPr id="8" name="Picture 7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8" y="1071546"/>
            <a:ext cx="3857652" cy="2571768"/>
          </a:xfrm>
          <a:prstGeom prst="rect">
            <a:avLst/>
          </a:prstGeom>
        </p:spPr>
      </p:pic>
      <p:pic>
        <p:nvPicPr>
          <p:cNvPr id="9" name="Picture 8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298" y="4214818"/>
            <a:ext cx="4357718" cy="22860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0000"/>
                </a:solidFill>
              </a:rPr>
              <a:t>TYPES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/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Soft soldering </a:t>
            </a:r>
            <a:r>
              <a:rPr lang="en-IN" dirty="0"/>
              <a:t>– generally used in sheet metal work for joining parts which are not subjected to high load or high temperature. The melting point of solder using ranges from 150 to 300 </a:t>
            </a:r>
            <a:r>
              <a:rPr lang="en-US" dirty="0">
                <a:solidFill>
                  <a:schemeClr val="tx2"/>
                </a:solidFill>
              </a:rPr>
              <a:t>°C</a:t>
            </a:r>
            <a:endParaRPr lang="en-IN" dirty="0">
              <a:solidFill>
                <a:schemeClr val="tx2"/>
              </a:solidFill>
            </a:endParaRPr>
          </a:p>
          <a:p>
            <a:pPr algn="just"/>
            <a:r>
              <a:rPr lang="en-IN" dirty="0">
                <a:solidFill>
                  <a:srgbClr val="FF0000"/>
                </a:solidFill>
              </a:rPr>
              <a:t>Hard soldering </a:t>
            </a:r>
            <a:r>
              <a:rPr lang="en-IN" dirty="0"/>
              <a:t>– stronger than soft soldering. Silver alloy with tin is used as hard solder , the melting point of which is 300 to 600 </a:t>
            </a:r>
            <a:r>
              <a:rPr lang="en-US" dirty="0">
                <a:solidFill>
                  <a:schemeClr val="tx2"/>
                </a:solidFill>
              </a:rPr>
              <a:t>°C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solidFill>
                  <a:srgbClr val="FF0000"/>
                </a:solidFill>
              </a:rPr>
              <a:t>Applications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It is mainly used in electronics industry </a:t>
            </a:r>
            <a:r>
              <a:rPr lang="en-US" dirty="0"/>
              <a:t>-</a:t>
            </a:r>
            <a:r>
              <a:rPr lang="en-IN" dirty="0"/>
              <a:t>Electronic boards and similar small parts which are not subjected to load and temperature.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Copper, silver and gold are easy to solder</a:t>
            </a:r>
            <a:endParaRPr lang="en-IN" dirty="0">
              <a:solidFill>
                <a:srgbClr val="FF0000"/>
              </a:solidFill>
            </a:endParaRPr>
          </a:p>
          <a:p>
            <a:pPr algn="just"/>
            <a:r>
              <a:rPr lang="en-US" i="1" dirty="0"/>
              <a:t>Electronics manufacture, implantable devices, medical devices, connectors etc.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BRAZING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68863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/>
              <a:t>• Brazing is a metal joining process in which two or more metal items are joined together by melting and flowing a filler metal </a:t>
            </a:r>
            <a:r>
              <a:rPr lang="en-US" sz="2800" i="1" dirty="0">
                <a:solidFill>
                  <a:srgbClr val="FF0000"/>
                </a:solidFill>
              </a:rPr>
              <a:t>(</a:t>
            </a:r>
            <a:r>
              <a:rPr lang="en-US" sz="2800" i="1" dirty="0" err="1">
                <a:solidFill>
                  <a:srgbClr val="FF0000"/>
                </a:solidFill>
              </a:rPr>
              <a:t>spelter</a:t>
            </a:r>
            <a:r>
              <a:rPr lang="en-US" sz="2800" i="1" dirty="0">
                <a:solidFill>
                  <a:srgbClr val="FF0000"/>
                </a:solidFill>
              </a:rPr>
              <a:t> : copper-zinc alloy) </a:t>
            </a:r>
            <a:r>
              <a:rPr lang="en-US" sz="2800" dirty="0"/>
              <a:t>into the joint.</a:t>
            </a:r>
          </a:p>
          <a:p>
            <a:pPr algn="just"/>
            <a:r>
              <a:rPr lang="en-US" sz="2800" dirty="0"/>
              <a:t>The filler metal flows into the gap between close-fitting parts by capillary action. Cool it and solidify it.</a:t>
            </a:r>
          </a:p>
          <a:p>
            <a:pPr algn="just">
              <a:buNone/>
            </a:pPr>
            <a:r>
              <a:rPr lang="en-US" sz="2800" dirty="0"/>
              <a:t>• </a:t>
            </a:r>
            <a:r>
              <a:rPr lang="en-US" sz="2800" dirty="0">
                <a:solidFill>
                  <a:srgbClr val="FF0000"/>
                </a:solidFill>
              </a:rPr>
              <a:t>Melting temperature of filler metal is more than 450°C but lower than the melting temperature of  the components to be joined. </a:t>
            </a:r>
          </a:p>
          <a:p>
            <a:pPr algn="just"/>
            <a:r>
              <a:rPr lang="en-US" sz="2800" dirty="0"/>
              <a:t>Brazing differs from welding in that it does not involve melting the work pieces.</a:t>
            </a:r>
          </a:p>
          <a:p>
            <a:pPr algn="just"/>
            <a:r>
              <a:rPr lang="en-US" sz="2800" dirty="0"/>
              <a:t>  Brazing gives a much stronger joint compared to soldering </a:t>
            </a:r>
          </a:p>
          <a:p>
            <a:pPr algn="just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1" y="1000108"/>
            <a:ext cx="5143535" cy="5126055"/>
          </a:xfrm>
        </p:spPr>
      </p:pic>
      <p:pic>
        <p:nvPicPr>
          <p:cNvPr id="5" name="Picture 2" descr="C:\Users\JINU MATHEW\Desktop\2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2071678"/>
            <a:ext cx="3143272" cy="40005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solidFill>
                  <a:srgbClr val="FF0000"/>
                </a:solidFill>
              </a:rPr>
              <a:t>TYPES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857916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TORCH BRAZING</a:t>
            </a:r>
          </a:p>
          <a:p>
            <a:r>
              <a:rPr lang="en-IN" b="1" dirty="0"/>
              <a:t>FURNACE BRAZING</a:t>
            </a:r>
          </a:p>
          <a:p>
            <a:r>
              <a:rPr lang="en-IN" b="1" dirty="0"/>
              <a:t>RESISTANCE BRAZING</a:t>
            </a:r>
          </a:p>
          <a:p>
            <a:r>
              <a:rPr lang="en-IN" b="1" dirty="0"/>
              <a:t>INDUCTIVE BRAZING</a:t>
            </a:r>
          </a:p>
          <a:p>
            <a:pPr>
              <a:buNone/>
            </a:pPr>
            <a:endParaRPr lang="en-IN" dirty="0"/>
          </a:p>
          <a:p>
            <a:pPr algn="just">
              <a:buNone/>
            </a:pPr>
            <a:r>
              <a:rPr lang="en-IN" sz="5100" b="1" dirty="0">
                <a:solidFill>
                  <a:srgbClr val="FF0000"/>
                </a:solidFill>
              </a:rPr>
              <a:t>APPLICATIONS </a:t>
            </a:r>
            <a:r>
              <a:rPr lang="en-IN" sz="4000" dirty="0">
                <a:solidFill>
                  <a:srgbClr val="FF0000"/>
                </a:solidFill>
              </a:rPr>
              <a:t>-  </a:t>
            </a:r>
          </a:p>
          <a:p>
            <a:pPr algn="just">
              <a:buNone/>
            </a:pPr>
            <a:r>
              <a:rPr lang="en-IN" sz="4000" i="1" dirty="0"/>
              <a:t>Fastening of pipe fittings, </a:t>
            </a:r>
          </a:p>
          <a:p>
            <a:pPr algn="just">
              <a:buNone/>
            </a:pPr>
            <a:r>
              <a:rPr lang="en-IN" sz="4000" i="1" dirty="0"/>
              <a:t>radiators, </a:t>
            </a:r>
          </a:p>
          <a:p>
            <a:pPr algn="just">
              <a:buNone/>
            </a:pPr>
            <a:r>
              <a:rPr lang="en-IN" sz="4000" i="1" dirty="0"/>
              <a:t>heat exchangers, </a:t>
            </a:r>
          </a:p>
          <a:p>
            <a:pPr algn="just">
              <a:buNone/>
            </a:pPr>
            <a:r>
              <a:rPr lang="en-IN" sz="4000" i="1" dirty="0"/>
              <a:t>electrical parts, </a:t>
            </a:r>
          </a:p>
          <a:p>
            <a:pPr algn="just">
              <a:buNone/>
            </a:pPr>
            <a:r>
              <a:rPr lang="en-US" sz="4000" i="1" dirty="0"/>
              <a:t>Water supply, </a:t>
            </a:r>
          </a:p>
          <a:p>
            <a:pPr algn="just">
              <a:buNone/>
            </a:pPr>
            <a:r>
              <a:rPr lang="en-US" sz="4000" i="1" dirty="0"/>
              <a:t>Fuel gas distribution, </a:t>
            </a:r>
          </a:p>
          <a:p>
            <a:pPr algn="just">
              <a:buNone/>
            </a:pPr>
            <a:r>
              <a:rPr lang="en-US" sz="4000" i="1" dirty="0"/>
              <a:t>Medical gas, </a:t>
            </a:r>
          </a:p>
          <a:p>
            <a:pPr algn="just">
              <a:buNone/>
            </a:pPr>
            <a:r>
              <a:rPr lang="en-US" sz="4000" i="1" dirty="0"/>
              <a:t>Air conditioning and refrigeration,</a:t>
            </a:r>
          </a:p>
          <a:p>
            <a:pPr algn="just">
              <a:buNone/>
            </a:pPr>
            <a:r>
              <a:rPr lang="en-US" sz="4000" i="1" dirty="0"/>
              <a:t> Fire protection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500042"/>
            <a:ext cx="8429684" cy="6000792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1565</Words>
  <Application>Microsoft Office PowerPoint</Application>
  <PresentationFormat>On-screen Show (4:3)</PresentationFormat>
  <Paragraphs>170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23-200-0105A  BASIC MECHANICAL ENGINEERING </vt:lpstr>
      <vt:lpstr>Module 3</vt:lpstr>
      <vt:lpstr>Module 4</vt:lpstr>
      <vt:lpstr>PowerPoint Presentation</vt:lpstr>
      <vt:lpstr>PowerPoint Presentation</vt:lpstr>
      <vt:lpstr>PowerPoint Presentation</vt:lpstr>
      <vt:lpstr>WELDING  </vt:lpstr>
      <vt:lpstr>PowerPoint Presentation</vt:lpstr>
      <vt:lpstr>Classification Of Welding   </vt:lpstr>
      <vt:lpstr>Classification Of Welding   </vt:lpstr>
      <vt:lpstr>PowerPoint Presentation</vt:lpstr>
      <vt:lpstr>PowerPoint Presentation</vt:lpstr>
      <vt:lpstr>APPLICATIONS</vt:lpstr>
      <vt:lpstr>GAS WELDING </vt:lpstr>
      <vt:lpstr>Types of Gas Welding    </vt:lpstr>
      <vt:lpstr>Oxy-acetylene Welding Equipment</vt:lpstr>
      <vt:lpstr>Oxy-acetylene Welding Equipment</vt:lpstr>
      <vt:lpstr>Oxy-acetylene Welding Equipment  </vt:lpstr>
      <vt:lpstr>Oxy-acetylene Welding Equipment</vt:lpstr>
      <vt:lpstr>Oxy-Acetylene Welding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Gas Welding</vt:lpstr>
      <vt:lpstr>Disadvantages of Gas Welding </vt:lpstr>
      <vt:lpstr>ARC WELDING  </vt:lpstr>
      <vt:lpstr>PowerPoint Presentation</vt:lpstr>
      <vt:lpstr>PowerPoint Presentation</vt:lpstr>
      <vt:lpstr> ARC WELDING EQUIPMENT…</vt:lpstr>
      <vt:lpstr>PowerPoint Presentation</vt:lpstr>
      <vt:lpstr>ARC WELDING- MANUAL METAL ARC WELDING </vt:lpstr>
      <vt:lpstr>ARC WELDING</vt:lpstr>
      <vt:lpstr>PowerPoint Presentation</vt:lpstr>
      <vt:lpstr>WELDING DEFECTS</vt:lpstr>
      <vt:lpstr>WELDING DEFECTS..</vt:lpstr>
      <vt:lpstr>SOLDERING</vt:lpstr>
      <vt:lpstr>PowerPoint Presentation</vt:lpstr>
      <vt:lpstr>TYPES</vt:lpstr>
      <vt:lpstr>Applications</vt:lpstr>
      <vt:lpstr>BRAZING  </vt:lpstr>
      <vt:lpstr>PowerPoint Presentation</vt:lpstr>
      <vt:lpstr>TYPES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JJKL</dc:title>
  <dc:creator>JINU MATHEW</dc:creator>
  <cp:lastModifiedBy>Febin Suresh</cp:lastModifiedBy>
  <cp:revision>58</cp:revision>
  <dcterms:created xsi:type="dcterms:W3CDTF">2019-11-12T16:49:15Z</dcterms:created>
  <dcterms:modified xsi:type="dcterms:W3CDTF">2023-10-17T02:07:57Z</dcterms:modified>
</cp:coreProperties>
</file>