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30"/>
  </p:notesMasterIdLst>
  <p:sldIdLst>
    <p:sldId id="530" r:id="rId2"/>
    <p:sldId id="563" r:id="rId3"/>
    <p:sldId id="564" r:id="rId4"/>
    <p:sldId id="532" r:id="rId5"/>
    <p:sldId id="533" r:id="rId6"/>
    <p:sldId id="534" r:id="rId7"/>
    <p:sldId id="535" r:id="rId8"/>
    <p:sldId id="538" r:id="rId9"/>
    <p:sldId id="540" r:id="rId10"/>
    <p:sldId id="541" r:id="rId11"/>
    <p:sldId id="543" r:id="rId12"/>
    <p:sldId id="544" r:id="rId13"/>
    <p:sldId id="545" r:id="rId14"/>
    <p:sldId id="546" r:id="rId15"/>
    <p:sldId id="547" r:id="rId16"/>
    <p:sldId id="548" r:id="rId17"/>
    <p:sldId id="552" r:id="rId18"/>
    <p:sldId id="551" r:id="rId19"/>
    <p:sldId id="553" r:id="rId20"/>
    <p:sldId id="554" r:id="rId21"/>
    <p:sldId id="555" r:id="rId22"/>
    <p:sldId id="556" r:id="rId23"/>
    <p:sldId id="562" r:id="rId24"/>
    <p:sldId id="557" r:id="rId25"/>
    <p:sldId id="558" r:id="rId26"/>
    <p:sldId id="559" r:id="rId27"/>
    <p:sldId id="560" r:id="rId28"/>
    <p:sldId id="561" r:id="rId2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BDBC2-E79E-4E34-A0C8-D4A81539E643}" type="datetimeFigureOut">
              <a:rPr lang="en-US" smtClean="0"/>
              <a:pPr/>
              <a:t>12/19/2023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E8D6C7-39F8-4CCE-B696-2DC0C3AF1E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7557-CDED-4C15-B668-B7A121960880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5"/>
              <a:t>ARUN</a:t>
            </a:r>
            <a:r>
              <a:rPr lang="en-US" spc="-30"/>
              <a:t> </a:t>
            </a:r>
            <a:r>
              <a:rPr lang="en-US"/>
              <a:t>JOSE</a:t>
            </a:r>
            <a:r>
              <a:rPr lang="en-US" spc="15"/>
              <a:t> </a:t>
            </a:r>
            <a:r>
              <a:rPr lang="en-US" spc="-10"/>
              <a:t>TOM, </a:t>
            </a:r>
            <a:r>
              <a:rPr lang="en-US" spc="-5"/>
              <a:t>MLMCE,</a:t>
            </a:r>
            <a:r>
              <a:rPr lang="en-US" spc="-30"/>
              <a:t> </a:t>
            </a:r>
            <a:r>
              <a:rPr lang="en-US" spc="-5"/>
              <a:t>BME</a:t>
            </a:r>
            <a:endParaRPr lang="en-US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2D3-D7D2-482E-81D1-0F2FCA446357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5"/>
              <a:t>ARUN</a:t>
            </a:r>
            <a:r>
              <a:rPr lang="en-US" spc="-30"/>
              <a:t> </a:t>
            </a:r>
            <a:r>
              <a:rPr lang="en-US"/>
              <a:t>JOSE</a:t>
            </a:r>
            <a:r>
              <a:rPr lang="en-US" spc="15"/>
              <a:t> </a:t>
            </a:r>
            <a:r>
              <a:rPr lang="en-US" spc="-10"/>
              <a:t>TOM, </a:t>
            </a:r>
            <a:r>
              <a:rPr lang="en-US" spc="-5"/>
              <a:t>MLMCE,</a:t>
            </a:r>
            <a:r>
              <a:rPr lang="en-US" spc="-30"/>
              <a:t> </a:t>
            </a:r>
            <a:r>
              <a:rPr lang="en-US" spc="-5"/>
              <a:t>BME</a:t>
            </a:r>
            <a:endParaRPr lang="en-US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073B3-7510-4D03-A5BE-BB58E19EA557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5"/>
              <a:t>ARUN</a:t>
            </a:r>
            <a:r>
              <a:rPr lang="en-US" spc="-30"/>
              <a:t> </a:t>
            </a:r>
            <a:r>
              <a:rPr lang="en-US"/>
              <a:t>JOSE</a:t>
            </a:r>
            <a:r>
              <a:rPr lang="en-US" spc="15"/>
              <a:t> </a:t>
            </a:r>
            <a:r>
              <a:rPr lang="en-US" spc="-10"/>
              <a:t>TOM, </a:t>
            </a:r>
            <a:r>
              <a:rPr lang="en-US" spc="-5"/>
              <a:t>MLMCE,</a:t>
            </a:r>
            <a:r>
              <a:rPr lang="en-US" spc="-30"/>
              <a:t> </a:t>
            </a:r>
            <a:r>
              <a:rPr lang="en-US" spc="-5"/>
              <a:t>BME</a:t>
            </a:r>
            <a:endParaRPr lang="en-US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5C73-A6E7-44FA-AEC0-A3D771EC6049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5"/>
              <a:t>ARUN</a:t>
            </a:r>
            <a:r>
              <a:rPr lang="en-US" spc="-30"/>
              <a:t> </a:t>
            </a:r>
            <a:r>
              <a:rPr lang="en-US"/>
              <a:t>JOSE</a:t>
            </a:r>
            <a:r>
              <a:rPr lang="en-US" spc="15"/>
              <a:t> </a:t>
            </a:r>
            <a:r>
              <a:rPr lang="en-US" spc="-10"/>
              <a:t>TOM, </a:t>
            </a:r>
            <a:r>
              <a:rPr lang="en-US" spc="-5"/>
              <a:t>MLMCE,</a:t>
            </a:r>
            <a:r>
              <a:rPr lang="en-US" spc="-30"/>
              <a:t> </a:t>
            </a:r>
            <a:r>
              <a:rPr lang="en-US" spc="-5"/>
              <a:t>BME</a:t>
            </a:r>
            <a:endParaRPr lang="en-US" spc="-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073B3-7510-4D03-A5BE-BB58E19EA557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5"/>
              <a:t>ARUN</a:t>
            </a:r>
            <a:r>
              <a:rPr lang="en-US" spc="-30"/>
              <a:t> </a:t>
            </a:r>
            <a:r>
              <a:rPr lang="en-US"/>
              <a:t>JOSE</a:t>
            </a:r>
            <a:r>
              <a:rPr lang="en-US" spc="15"/>
              <a:t> </a:t>
            </a:r>
            <a:r>
              <a:rPr lang="en-US" spc="-10"/>
              <a:t>TOM, </a:t>
            </a:r>
            <a:r>
              <a:rPr lang="en-US" spc="-5"/>
              <a:t>MLMCE,</a:t>
            </a:r>
            <a:r>
              <a:rPr lang="en-US" spc="-30"/>
              <a:t> </a:t>
            </a:r>
            <a:r>
              <a:rPr lang="en-US" spc="-5"/>
              <a:t>BME</a:t>
            </a:r>
            <a:endParaRPr lang="en-US" spc="-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C6E53-A4F0-4593-9EE6-C01CA29F2367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5"/>
              <a:t>ARUN</a:t>
            </a:r>
            <a:r>
              <a:rPr lang="en-US" spc="-30"/>
              <a:t> </a:t>
            </a:r>
            <a:r>
              <a:rPr lang="en-US"/>
              <a:t>JOSE</a:t>
            </a:r>
            <a:r>
              <a:rPr lang="en-US" spc="15"/>
              <a:t> </a:t>
            </a:r>
            <a:r>
              <a:rPr lang="en-US" spc="-10"/>
              <a:t>TOM, </a:t>
            </a:r>
            <a:r>
              <a:rPr lang="en-US" spc="-5"/>
              <a:t>MLMCE,</a:t>
            </a:r>
            <a:r>
              <a:rPr lang="en-US" spc="-30"/>
              <a:t> </a:t>
            </a:r>
            <a:r>
              <a:rPr lang="en-US" spc="-5"/>
              <a:t>BME</a:t>
            </a:r>
            <a:endParaRPr lang="en-US" spc="-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7EAB7-687F-45F6-A375-646EFF15D2D9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5"/>
              <a:t>ARUN</a:t>
            </a:r>
            <a:r>
              <a:rPr lang="en-US" spc="-30"/>
              <a:t> </a:t>
            </a:r>
            <a:r>
              <a:rPr lang="en-US"/>
              <a:t>JOSE</a:t>
            </a:r>
            <a:r>
              <a:rPr lang="en-US" spc="15"/>
              <a:t> </a:t>
            </a:r>
            <a:r>
              <a:rPr lang="en-US" spc="-10"/>
              <a:t>TOM, </a:t>
            </a:r>
            <a:r>
              <a:rPr lang="en-US" spc="-5"/>
              <a:t>MLMCE,</a:t>
            </a:r>
            <a:r>
              <a:rPr lang="en-US" spc="-30"/>
              <a:t> </a:t>
            </a:r>
            <a:r>
              <a:rPr lang="en-US" spc="-5"/>
              <a:t>BME</a:t>
            </a:r>
            <a:endParaRPr lang="en-US" spc="-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073B3-7510-4D03-A5BE-BB58E19EA557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5"/>
              <a:t>ARUN</a:t>
            </a:r>
            <a:r>
              <a:rPr lang="en-US" spc="-30"/>
              <a:t> </a:t>
            </a:r>
            <a:r>
              <a:rPr lang="en-US"/>
              <a:t>JOSE</a:t>
            </a:r>
            <a:r>
              <a:rPr lang="en-US" spc="15"/>
              <a:t> </a:t>
            </a:r>
            <a:r>
              <a:rPr lang="en-US" spc="-10"/>
              <a:t>TOM, </a:t>
            </a:r>
            <a:r>
              <a:rPr lang="en-US" spc="-5"/>
              <a:t>MLMCE,</a:t>
            </a:r>
            <a:r>
              <a:rPr lang="en-US" spc="-30"/>
              <a:t> </a:t>
            </a:r>
            <a:r>
              <a:rPr lang="en-US" spc="-5"/>
              <a:t>BME</a:t>
            </a:r>
            <a:endParaRPr lang="en-US" spc="-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073B3-7510-4D03-A5BE-BB58E19EA557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5"/>
              <a:t>ARUN</a:t>
            </a:r>
            <a:r>
              <a:rPr lang="en-US" spc="-30"/>
              <a:t> </a:t>
            </a:r>
            <a:r>
              <a:rPr lang="en-US"/>
              <a:t>JOSE</a:t>
            </a:r>
            <a:r>
              <a:rPr lang="en-US" spc="15"/>
              <a:t> </a:t>
            </a:r>
            <a:r>
              <a:rPr lang="en-US" spc="-10"/>
              <a:t>TOM, </a:t>
            </a:r>
            <a:r>
              <a:rPr lang="en-US" spc="-5"/>
              <a:t>MLMCE,</a:t>
            </a:r>
            <a:r>
              <a:rPr lang="en-US" spc="-30"/>
              <a:t> </a:t>
            </a:r>
            <a:r>
              <a:rPr lang="en-US" spc="-5"/>
              <a:t>BME</a:t>
            </a:r>
            <a:endParaRPr lang="en-US" spc="-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073B3-7510-4D03-A5BE-BB58E19EA557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5"/>
              <a:t>ARUN</a:t>
            </a:r>
            <a:r>
              <a:rPr lang="en-US" spc="-30"/>
              <a:t> </a:t>
            </a:r>
            <a:r>
              <a:rPr lang="en-US"/>
              <a:t>JOSE</a:t>
            </a:r>
            <a:r>
              <a:rPr lang="en-US" spc="15"/>
              <a:t> </a:t>
            </a:r>
            <a:r>
              <a:rPr lang="en-US" spc="-10"/>
              <a:t>TOM, </a:t>
            </a:r>
            <a:r>
              <a:rPr lang="en-US" spc="-5"/>
              <a:t>MLMCE,</a:t>
            </a:r>
            <a:r>
              <a:rPr lang="en-US" spc="-30"/>
              <a:t> </a:t>
            </a:r>
            <a:r>
              <a:rPr lang="en-US" spc="-5"/>
              <a:t>BME</a:t>
            </a:r>
            <a:endParaRPr lang="en-US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073B3-7510-4D03-A5BE-BB58E19EA557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5"/>
              <a:t>ARUN</a:t>
            </a:r>
            <a:r>
              <a:rPr lang="en-US" spc="-30"/>
              <a:t> </a:t>
            </a:r>
            <a:r>
              <a:rPr lang="en-US"/>
              <a:t>JOSE</a:t>
            </a:r>
            <a:r>
              <a:rPr lang="en-US" spc="15"/>
              <a:t> </a:t>
            </a:r>
            <a:r>
              <a:rPr lang="en-US" spc="-10"/>
              <a:t>TOM, </a:t>
            </a:r>
            <a:r>
              <a:rPr lang="en-US" spc="-5"/>
              <a:t>MLMCE,</a:t>
            </a:r>
            <a:r>
              <a:rPr lang="en-US" spc="-30"/>
              <a:t> </a:t>
            </a:r>
            <a:r>
              <a:rPr lang="en-US" spc="-5"/>
              <a:t>BME</a:t>
            </a:r>
            <a:endParaRPr lang="en-US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073B3-7510-4D03-A5BE-BB58E19EA557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5"/>
              <a:t>ARUN</a:t>
            </a:r>
            <a:r>
              <a:rPr lang="en-US" spc="-30"/>
              <a:t> </a:t>
            </a:r>
            <a:r>
              <a:rPr lang="en-US"/>
              <a:t>JOSE</a:t>
            </a:r>
            <a:r>
              <a:rPr lang="en-US" spc="15"/>
              <a:t> </a:t>
            </a:r>
            <a:r>
              <a:rPr lang="en-US" spc="-10"/>
              <a:t>TOM, </a:t>
            </a:r>
            <a:r>
              <a:rPr lang="en-US" spc="-5"/>
              <a:t>MLMCE,</a:t>
            </a:r>
            <a:r>
              <a:rPr lang="en-US" spc="-30"/>
              <a:t> </a:t>
            </a:r>
            <a:r>
              <a:rPr lang="en-US" spc="-5"/>
              <a:t>BME</a:t>
            </a:r>
            <a:endParaRPr lang="en-US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7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7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7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7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7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95601" y="565531"/>
            <a:ext cx="2702686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32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spc="-1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3200" spc="-3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32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3200" spc="-1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320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TI</a:t>
            </a:r>
            <a:r>
              <a:rPr lang="en-US" sz="3200" spc="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3200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N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6244" y="1615516"/>
            <a:ext cx="7835900" cy="42421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 pitchFamily="18" charset="0"/>
                <a:cs typeface="Times New Roman" pitchFamily="18" charset="0"/>
              </a:rPr>
              <a:t>Automatically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controlled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operation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an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 apparatus,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process, </a:t>
            </a:r>
            <a:r>
              <a:rPr sz="2400" spc="-5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or 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system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mechanical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or </a:t>
            </a:r>
            <a:r>
              <a:rPr sz="2400" spc="-5">
                <a:latin typeface="Times New Roman" pitchFamily="18" charset="0"/>
                <a:cs typeface="Times New Roman" pitchFamily="18" charset="0"/>
              </a:rPr>
              <a:t>electronic devices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56870" marR="5080" indent="-3448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endParaRPr sz="3300"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400" b="1" i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 pitchFamily="18" charset="0"/>
                <a:cs typeface="Times New Roman" pitchFamily="18" charset="0"/>
              </a:rPr>
              <a:t>Types</a:t>
            </a:r>
            <a:r>
              <a:rPr sz="2400" b="1" i="1" u="sng" spc="-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u="sng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b="1" i="1" u="sng" spc="-2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u="sng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 pitchFamily="18" charset="0"/>
                <a:cs typeface="Times New Roman" pitchFamily="18" charset="0"/>
              </a:rPr>
              <a:t>automation</a:t>
            </a:r>
            <a:endParaRPr lang="en-US" sz="2400" b="1" i="1" u="sng" spc="-5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</a:pPr>
            <a:endParaRPr sz="2400" u="sng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b="1" spc="-5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Numerically</a:t>
            </a:r>
            <a:r>
              <a:rPr sz="2400" b="1" spc="-8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controlled(NC</a:t>
            </a:r>
            <a:r>
              <a:rPr sz="2400" b="1" spc="-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sz="2400" b="1" spc="-9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equipment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b="1" spc="-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Computer</a:t>
            </a:r>
            <a:r>
              <a:rPr sz="2400" b="1" spc="-7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numerical</a:t>
            </a:r>
            <a:r>
              <a:rPr sz="2400" b="1" spc="-2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control(CNC)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b="1" spc="-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Direct</a:t>
            </a:r>
            <a:r>
              <a:rPr sz="2400" b="1" spc="-7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numerical</a:t>
            </a:r>
            <a:r>
              <a:rPr sz="2400" b="1" spc="-2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control(DNC)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b="1" spc="-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Computer-Aided</a:t>
            </a:r>
            <a:r>
              <a:rPr sz="2400" b="1" spc="-8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manufacturing(CAM)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b="1" spc="-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Computer</a:t>
            </a:r>
            <a:r>
              <a:rPr sz="2400" b="1" spc="-6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2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integrated</a:t>
            </a:r>
            <a:r>
              <a:rPr sz="2400" b="1" spc="-1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manufacturing(CIM)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AC0FAD-5A60-8694-C570-B388250D2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505" y="3284014"/>
            <a:ext cx="5312495" cy="35739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6EBFA2-94C9-9FA0-61AF-09EB57792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81920" cy="35139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9F521A-D441-3061-C18F-85085899E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56" y="533400"/>
            <a:ext cx="8916644" cy="58967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52601" y="565531"/>
            <a:ext cx="4715636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NUMERICAL</a:t>
            </a:r>
            <a:r>
              <a:rPr sz="3200" spc="-6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 spc="-1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CONTROL</a:t>
            </a:r>
            <a:endParaRPr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6244" y="1615516"/>
            <a:ext cx="8076565" cy="34906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7505" algn="l"/>
              </a:tabLst>
            </a:pPr>
            <a:r>
              <a:rPr sz="2400" b="1" i="1" spc="-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Control</a:t>
            </a:r>
            <a:r>
              <a:rPr sz="2400" b="1" i="1" spc="12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b="1" i="1" spc="14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b="1" i="1" spc="14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1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machine</a:t>
            </a:r>
            <a:r>
              <a:rPr sz="2400" b="1" i="1" spc="12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1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tool</a:t>
            </a:r>
            <a:r>
              <a:rPr sz="2400" b="1" i="1" spc="15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1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sz="2400" b="1" i="1" spc="13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means</a:t>
            </a:r>
            <a:r>
              <a:rPr sz="2400" b="1" i="1" spc="13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b="1" i="1" spc="14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1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recorded</a:t>
            </a:r>
            <a:r>
              <a:rPr sz="2400" b="1" i="1" spc="14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1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information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algn="just">
              <a:lnSpc>
                <a:spcPct val="100000"/>
              </a:lnSpc>
            </a:pPr>
            <a:r>
              <a:rPr sz="2400" b="1" i="1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on</a:t>
            </a:r>
            <a:r>
              <a:rPr sz="2400" b="1" i="1" spc="-4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punched</a:t>
            </a:r>
            <a:r>
              <a:rPr sz="2400" b="1" i="1" spc="-6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tape</a:t>
            </a:r>
            <a:r>
              <a:rPr sz="2400" b="1" i="1" spc="-5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or</a:t>
            </a:r>
            <a:r>
              <a:rPr sz="2400" b="1" i="1" spc="-5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1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cards</a:t>
            </a:r>
            <a:r>
              <a:rPr lang="en-US" sz="2400" b="1" i="1" spc="-10" dirty="0">
                <a:solidFill>
                  <a:srgbClr val="1F487C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56870" algn="just">
              <a:lnSpc>
                <a:spcPct val="100000"/>
              </a:lnSpc>
            </a:pP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 algn="just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7505" algn="l"/>
              </a:tabLst>
            </a:pPr>
            <a:r>
              <a:rPr sz="2400" spc="-5" dirty="0">
                <a:latin typeface="Times New Roman" pitchFamily="18" charset="0"/>
                <a:cs typeface="Times New Roman" pitchFamily="18" charset="0"/>
              </a:rPr>
              <a:t>It</a:t>
            </a:r>
            <a:r>
              <a:rPr sz="2400" spc="4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43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4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method</a:t>
            </a:r>
            <a:r>
              <a:rPr sz="2400" spc="4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4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automation</a:t>
            </a:r>
            <a:r>
              <a:rPr sz="2400" spc="4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spc="4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which</a:t>
            </a:r>
            <a:r>
              <a:rPr sz="2400" spc="4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various</a:t>
            </a:r>
            <a:r>
              <a:rPr sz="2400" spc="40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functions</a:t>
            </a:r>
            <a:r>
              <a:rPr sz="2400" spc="4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of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algn="just">
              <a:lnSpc>
                <a:spcPct val="100000"/>
              </a:lnSpc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machine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tools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are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controlled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5" dirty="0">
                <a:latin typeface="Times New Roman" pitchFamily="18" charset="0"/>
                <a:cs typeface="Times New Roman" pitchFamily="18" charset="0"/>
              </a:rPr>
              <a:t>by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letters,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numbers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>
                <a:latin typeface="Times New Roman" pitchFamily="18" charset="0"/>
                <a:cs typeface="Times New Roman" pitchFamily="18" charset="0"/>
              </a:rPr>
              <a:t>and </a:t>
            </a:r>
            <a:r>
              <a:rPr sz="2400" spc="-10">
                <a:latin typeface="Times New Roman" pitchFamily="18" charset="0"/>
                <a:cs typeface="Times New Roman" pitchFamily="18" charset="0"/>
              </a:rPr>
              <a:t>symbols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56870" algn="just">
              <a:lnSpc>
                <a:spcPct val="100000"/>
              </a:lnSpc>
            </a:pP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marR="5080" indent="-344805" algn="just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7505" algn="l"/>
              </a:tabLst>
            </a:pPr>
            <a:r>
              <a:rPr sz="2400" b="1" spc="-25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System</a:t>
            </a:r>
            <a:r>
              <a:rPr sz="2400" b="1" spc="-20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automatically</a:t>
            </a:r>
            <a:r>
              <a:rPr sz="2400" b="1" spc="-5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5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interprets</a:t>
            </a:r>
            <a:r>
              <a:rPr sz="2400" b="1" spc="-10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these</a:t>
            </a:r>
            <a:r>
              <a:rPr sz="2400" b="1" spc="5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5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data</a:t>
            </a:r>
            <a:r>
              <a:rPr sz="2400" b="1" spc="-10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400" b="1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5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converts 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them</a:t>
            </a:r>
            <a:r>
              <a:rPr sz="2400" b="1" spc="5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b="1" spc="-5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output</a:t>
            </a:r>
            <a:r>
              <a:rPr sz="2400" b="1" spc="5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signals,</a:t>
            </a:r>
            <a:r>
              <a:rPr sz="2400" b="1" spc="-5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which,</a:t>
            </a:r>
            <a:r>
              <a:rPr sz="2400" b="1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5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b="1" spc="10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turn</a:t>
            </a:r>
            <a:r>
              <a:rPr sz="2400" b="1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5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control</a:t>
            </a:r>
            <a:r>
              <a:rPr sz="2400" b="1" spc="-10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various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machine</a:t>
            </a:r>
            <a:r>
              <a:rPr sz="2400" b="1" spc="-40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components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90473" y="1067765"/>
            <a:ext cx="7492365" cy="43063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330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</a:pPr>
            <a:r>
              <a:rPr lang="en-US" sz="24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spc="-15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BASIC</a:t>
            </a:r>
            <a:r>
              <a:rPr lang="en-US" sz="2400" b="1" spc="-20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COMPONENTS</a:t>
            </a:r>
            <a:endParaRPr lang="en-US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b="1" spc="-15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r>
              <a:rPr sz="2400" b="1" spc="-65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b="1" spc="-15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instructions</a:t>
            </a:r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Machine</a:t>
            </a:r>
            <a:r>
              <a:rPr sz="2400" b="1" spc="-6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Control</a:t>
            </a:r>
            <a:r>
              <a:rPr sz="2400" b="1" spc="-65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Unit</a:t>
            </a:r>
            <a:r>
              <a:rPr lang="en-US" sz="24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(MCU)</a:t>
            </a:r>
            <a:endParaRPr lang="en-US" sz="2400" b="1" spc="-5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14070" lvl="1" indent="-344805" algn="just">
              <a:spcBef>
                <a:spcPts val="5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MCU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translates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into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electrical signals.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signals </a:t>
            </a:r>
            <a:r>
              <a:rPr lang="en-US" sz="2400" spc="-5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operate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servo </a:t>
            </a:r>
            <a:r>
              <a:rPr lang="en-US" sz="2400" spc="-25" dirty="0">
                <a:latin typeface="Times New Roman" pitchFamily="18" charset="0"/>
                <a:cs typeface="Times New Roman" pitchFamily="18" charset="0"/>
              </a:rPr>
              <a:t>system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which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controls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motion of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tool, </a:t>
            </a:r>
            <a:r>
              <a:rPr lang="en-US" sz="2400" spc="-5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work</a:t>
            </a:r>
            <a:r>
              <a:rPr lang="en-US"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piece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 related</a:t>
            </a:r>
            <a:r>
              <a:rPr lang="en-US"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auxiliaries</a:t>
            </a:r>
          </a:p>
          <a:p>
            <a:pPr marL="814070" lvl="1" indent="-344805">
              <a:spcBef>
                <a:spcPts val="575"/>
              </a:spcBef>
              <a:tabLst>
                <a:tab pos="356870" algn="l"/>
                <a:tab pos="357505" algn="l"/>
              </a:tabLst>
            </a:pP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Processing</a:t>
            </a:r>
            <a:r>
              <a:rPr sz="2400" b="1" spc="-8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equipment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541" y="1772792"/>
            <a:ext cx="8511286" cy="34564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714" y="1412747"/>
            <a:ext cx="8635111" cy="39604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6244" y="76200"/>
            <a:ext cx="8047990" cy="62119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 algn="ctr">
              <a:lnSpc>
                <a:spcPct val="100000"/>
              </a:lnSpc>
              <a:spcBef>
                <a:spcPts val="100"/>
              </a:spcBef>
              <a:tabLst>
                <a:tab pos="356870" algn="l"/>
                <a:tab pos="357505" algn="l"/>
              </a:tabLst>
            </a:pPr>
            <a:r>
              <a:rPr lang="en-US" sz="2400" b="1" u="sng" spc="-1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PROGRAM</a:t>
            </a:r>
            <a:r>
              <a:rPr lang="en-US" sz="24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OF INSTRUCTIONS</a:t>
            </a:r>
          </a:p>
          <a:p>
            <a:pPr marL="814070" marR="5080" lvl="1" indent="-344805" algn="just">
              <a:spcBef>
                <a:spcPts val="1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b="1" spc="-85">
                <a:solidFill>
                  <a:srgbClr val="006F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sz="2400" spc="-5">
                <a:latin typeface="Times New Roman" pitchFamily="18" charset="0"/>
                <a:cs typeface="Times New Roman" pitchFamily="18" charset="0"/>
              </a:rPr>
              <a:t>etailed</a:t>
            </a:r>
            <a:r>
              <a:rPr sz="2400" spc="-25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step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by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step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commands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that </a:t>
            </a:r>
            <a:r>
              <a:rPr sz="2400" spc="-5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directs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 actions of the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processing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equipment.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Co-ordinate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information(x,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y and z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movements required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work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tool) </a:t>
            </a:r>
            <a:r>
              <a:rPr sz="2400" spc="-5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regarding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component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recorded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on a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tape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and is 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fed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control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unit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6FC0"/>
              </a:buClr>
              <a:buFont typeface="Arial MT"/>
              <a:buChar char="•"/>
            </a:pPr>
            <a:endParaRPr sz="3300">
              <a:latin typeface="Times New Roman" pitchFamily="18" charset="0"/>
              <a:cs typeface="Times New Roman" pitchFamily="18" charset="0"/>
            </a:endParaRPr>
          </a:p>
          <a:p>
            <a:pPr marL="356870" marR="58419" indent="-344805" algn="ctr">
              <a:lnSpc>
                <a:spcPct val="100000"/>
              </a:lnSpc>
              <a:tabLst>
                <a:tab pos="356870" algn="l"/>
                <a:tab pos="357505" algn="l"/>
              </a:tabLst>
            </a:pPr>
            <a:r>
              <a:rPr sz="2400" b="1" u="sng" spc="-5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MCU</a:t>
            </a:r>
            <a:endParaRPr lang="en-US" sz="2400" b="1" u="sng" spc="-5" dirty="0">
              <a:solidFill>
                <a:srgbClr val="006FC0"/>
              </a:solidFill>
              <a:uFill>
                <a:solidFill>
                  <a:srgbClr val="006FC0"/>
                </a:solidFill>
              </a:uFill>
              <a:latin typeface="Times New Roman" pitchFamily="18" charset="0"/>
              <a:cs typeface="Times New Roman" pitchFamily="18" charset="0"/>
            </a:endParaRPr>
          </a:p>
          <a:p>
            <a:pPr marL="814070" marR="58419" lvl="1" indent="-344805" algn="just"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b="1" spc="-5">
                <a:solidFill>
                  <a:srgbClr val="006F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>
                <a:latin typeface="Times New Roman" pitchFamily="18" charset="0"/>
                <a:cs typeface="Times New Roman" pitchFamily="18" charset="0"/>
              </a:rPr>
              <a:t>t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consists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tape 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reader</a:t>
            </a:r>
            <a:r>
              <a:rPr sz="2400" spc="-35">
                <a:latin typeface="Times New Roman" pitchFamily="18" charset="0"/>
                <a:cs typeface="Times New Roman" pitchFamily="18" charset="0"/>
              </a:rPr>
              <a:t>, </a:t>
            </a:r>
            <a:r>
              <a:rPr sz="2400" spc="-5">
                <a:latin typeface="Times New Roman" pitchFamily="18" charset="0"/>
                <a:cs typeface="Times New Roman" pitchFamily="18" charset="0"/>
              </a:rPr>
              <a:t>signal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output </a:t>
            </a:r>
            <a:r>
              <a:rPr sz="24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channels,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sequence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control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related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control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hardware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that </a:t>
            </a:r>
            <a:r>
              <a:rPr sz="2400" spc="-5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stores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program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of instruction.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Control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unit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convert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4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commands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into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electric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signals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and these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signals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are sent to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 processing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equipment(machine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tool)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6FC0"/>
              </a:buClr>
              <a:buFont typeface="Arial MT"/>
              <a:buChar char="•"/>
            </a:pPr>
            <a:endParaRPr sz="3300">
              <a:latin typeface="Times New Roman" pitchFamily="18" charset="0"/>
              <a:cs typeface="Times New Roman" pitchFamily="18" charset="0"/>
            </a:endParaRPr>
          </a:p>
          <a:p>
            <a:pPr marL="356870" marR="62865" indent="-344805" algn="ctr">
              <a:lnSpc>
                <a:spcPct val="100000"/>
              </a:lnSpc>
              <a:tabLst>
                <a:tab pos="356870" algn="l"/>
                <a:tab pos="357505" algn="l"/>
              </a:tabLst>
            </a:pPr>
            <a:r>
              <a:rPr lang="en-US" sz="2400" b="1" u="sng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PROCESSING</a:t>
            </a:r>
            <a:r>
              <a:rPr lang="en-US" sz="2400" b="1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u="sng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EQUIPMENT</a:t>
            </a:r>
          </a:p>
          <a:p>
            <a:pPr marL="814070" marR="62865" lvl="1" indent="-344805"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sz="2400" spc="-5">
                <a:latin typeface="Times New Roman" pitchFamily="18" charset="0"/>
                <a:cs typeface="Times New Roman" pitchFamily="18" charset="0"/>
              </a:rPr>
              <a:t>erforms</a:t>
            </a:r>
            <a:r>
              <a:rPr sz="2400" spc="-55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useful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work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with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help of </a:t>
            </a:r>
            <a:r>
              <a:rPr sz="2400" spc="-5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servo</a:t>
            </a:r>
            <a:r>
              <a:rPr sz="2400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system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43000" y="685800"/>
            <a:ext cx="5967095" cy="49032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75"/>
              </a:spcBef>
            </a:pPr>
            <a:r>
              <a:rPr lang="en-US" sz="2400" b="1" spc="-1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ADVANTAGES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10">
                <a:latin typeface="Times New Roman" pitchFamily="18" charset="0"/>
                <a:cs typeface="Times New Roman" pitchFamily="18" charset="0"/>
              </a:rPr>
              <a:t>Greater</a:t>
            </a:r>
            <a:r>
              <a:rPr sz="2400" spc="-85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accuracy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latin typeface="Times New Roman" pitchFamily="18" charset="0"/>
                <a:cs typeface="Times New Roman" pitchFamily="18" charset="0"/>
              </a:rPr>
              <a:t>Lower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scrap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rates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 pitchFamily="18" charset="0"/>
                <a:cs typeface="Times New Roman" pitchFamily="18" charset="0"/>
              </a:rPr>
              <a:t>More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complex</a:t>
            </a:r>
            <a:r>
              <a:rPr sz="24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part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geometries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are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 possible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 pitchFamily="18" charset="0"/>
                <a:cs typeface="Times New Roman" pitchFamily="18" charset="0"/>
              </a:rPr>
              <a:t>Less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floor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space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required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15" dirty="0">
                <a:latin typeface="Times New Roman" pitchFamily="18" charset="0"/>
                <a:cs typeface="Times New Roman" pitchFamily="18" charset="0"/>
              </a:rPr>
              <a:t>Operator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skill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level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requirements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are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less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Higher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production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rate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3300">
              <a:latin typeface="Times New Roman" pitchFamily="18" charset="0"/>
              <a:cs typeface="Times New Roman" pitchFamily="18" charset="0"/>
            </a:endParaRPr>
          </a:p>
          <a:p>
            <a:pPr marL="12700" algn="ctr">
              <a:lnSpc>
                <a:spcPct val="100000"/>
              </a:lnSpc>
            </a:pPr>
            <a:r>
              <a:rPr lang="en-US" sz="2400" b="1" spc="-1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DISADVANTAGES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>
                <a:latin typeface="Times New Roman" pitchFamily="18" charset="0"/>
                <a:cs typeface="Times New Roman" pitchFamily="18" charset="0"/>
              </a:rPr>
              <a:t>Higher</a:t>
            </a:r>
            <a:r>
              <a:rPr sz="2400" spc="-6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investment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cost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 pitchFamily="18" charset="0"/>
                <a:cs typeface="Times New Roman" pitchFamily="18" charset="0"/>
              </a:rPr>
              <a:t>Higher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maintenance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effort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4600" y="565531"/>
            <a:ext cx="3377945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3200" b="1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CNC</a:t>
            </a:r>
            <a:r>
              <a:rPr lang="en-US" sz="3200" b="1" spc="-5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spc="-2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MACHINES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10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6244" y="1615516"/>
            <a:ext cx="8046720" cy="434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b="1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b="1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computer</a:t>
            </a:r>
            <a:r>
              <a:rPr sz="2400" b="1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b="1" spc="-1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used </a:t>
            </a:r>
            <a:r>
              <a:rPr sz="2400" b="1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b="1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 prepare</a:t>
            </a:r>
            <a:r>
              <a:rPr sz="2400" b="1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400" b="1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control</a:t>
            </a:r>
            <a:r>
              <a:rPr sz="2400" b="1" spc="-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b="1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operations</a:t>
            </a:r>
            <a:r>
              <a:rPr sz="2400" b="1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of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algn="just">
              <a:lnSpc>
                <a:spcPct val="100000"/>
              </a:lnSpc>
            </a:pPr>
            <a:r>
              <a:rPr sz="2400" b="1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b="1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machine</a:t>
            </a:r>
            <a:r>
              <a:rPr sz="2400" b="1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imes New Roman" pitchFamily="18" charset="0"/>
                <a:cs typeface="Times New Roman" pitchFamily="18" charset="0"/>
              </a:rPr>
              <a:t>tool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 algn="just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CNC</a:t>
            </a:r>
            <a:r>
              <a:rPr sz="2400" b="1" i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10" dirty="0">
                <a:latin typeface="Times New Roman" pitchFamily="18" charset="0"/>
                <a:cs typeface="Times New Roman" pitchFamily="18" charset="0"/>
              </a:rPr>
              <a:t>refers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1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b="1" i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b="1" i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10" dirty="0">
                <a:latin typeface="Times New Roman" pitchFamily="18" charset="0"/>
                <a:cs typeface="Times New Roman" pitchFamily="18" charset="0"/>
              </a:rPr>
              <a:t>computer</a:t>
            </a:r>
            <a:r>
              <a:rPr sz="2400" b="1" i="1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that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b="1" i="1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joined</a:t>
            </a:r>
            <a:r>
              <a:rPr sz="2400" b="1" i="1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1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b="1" i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b="1" i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dirty="0">
                <a:latin typeface="Times New Roman" pitchFamily="18" charset="0"/>
                <a:cs typeface="Times New Roman" pitchFamily="18" charset="0"/>
              </a:rPr>
              <a:t>NC</a:t>
            </a:r>
            <a:r>
              <a:rPr sz="2400" b="1" i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i="1" spc="-5" dirty="0">
                <a:latin typeface="Times New Roman" pitchFamily="18" charset="0"/>
                <a:cs typeface="Times New Roman" pitchFamily="18" charset="0"/>
              </a:rPr>
              <a:t>machine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marR="5080" indent="-344805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entered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into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computer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through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keyboard </a:t>
            </a:r>
            <a:r>
              <a:rPr sz="2400" spc="-5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disc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tape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stored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its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memory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marR="348615" indent="-344805" algn="just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Whenever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part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be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machined,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called </a:t>
            </a:r>
            <a:r>
              <a:rPr sz="2400" spc="-5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from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its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memory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marR="347345" indent="-344805" algn="just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latin typeface="Times New Roman" pitchFamily="18" charset="0"/>
                <a:cs typeface="Times New Roman" pitchFamily="18" charset="0"/>
              </a:rPr>
              <a:t>Also,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if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it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required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have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change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any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 dimension,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400" spc="-5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program can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be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called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and edited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to incorporate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4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changes(not possible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in a NC machine). This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eliminates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4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repeated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use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tape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532" y="620674"/>
            <a:ext cx="8302879" cy="57574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4644" y="922528"/>
            <a:ext cx="6556756" cy="49186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75"/>
              </a:spcBef>
            </a:pPr>
            <a:r>
              <a:rPr lang="en-US" sz="2400" b="1" spc="-1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ADVANTAGES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5">
                <a:latin typeface="Times New Roman" pitchFamily="18" charset="0"/>
                <a:cs typeface="Times New Roman" pitchFamily="18" charset="0"/>
              </a:rPr>
              <a:t>High</a:t>
            </a:r>
            <a:r>
              <a:rPr sz="2400" spc="-45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accuracy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machining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15" dirty="0">
                <a:latin typeface="Times New Roman" pitchFamily="18" charset="0"/>
                <a:cs typeface="Times New Roman" pitchFamily="18" charset="0"/>
              </a:rPr>
              <a:t>Storage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more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than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one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program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15" dirty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can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be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edited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Short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production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time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latin typeface="Times New Roman" pitchFamily="18" charset="0"/>
                <a:cs typeface="Times New Roman" pitchFamily="18" charset="0"/>
              </a:rPr>
              <a:t>Greater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manufacturing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flexibility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latin typeface="Times New Roman" pitchFamily="18" charset="0"/>
                <a:cs typeface="Times New Roman" pitchFamily="18" charset="0"/>
              </a:rPr>
              <a:t>Better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quality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control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 pitchFamily="18" charset="0"/>
                <a:cs typeface="Times New Roman" pitchFamily="18" charset="0"/>
              </a:rPr>
              <a:t>Repeatability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accuracy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possible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12700" algn="ctr">
              <a:lnSpc>
                <a:spcPct val="100000"/>
              </a:lnSpc>
              <a:spcBef>
                <a:spcPts val="575"/>
              </a:spcBef>
            </a:pPr>
            <a:r>
              <a:rPr lang="en-US" sz="2400" b="1" spc="-1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DISADVANTAGES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5">
                <a:latin typeface="Times New Roman" pitchFamily="18" charset="0"/>
                <a:cs typeface="Times New Roman" pitchFamily="18" charset="0"/>
              </a:rPr>
              <a:t>High</a:t>
            </a:r>
            <a:r>
              <a:rPr sz="2400" spc="-11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cost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latin typeface="Times New Roman" pitchFamily="18" charset="0"/>
                <a:cs typeface="Times New Roman" pitchFamily="18" charset="0"/>
              </a:rPr>
              <a:t>Requirement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skilled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programmer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532" y="1052702"/>
            <a:ext cx="8532495" cy="45709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33600" y="5528259"/>
            <a:ext cx="4952999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CNC</a:t>
            </a:r>
            <a:r>
              <a:rPr sz="3200" b="1" spc="-2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 b="1" spc="-5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LATHE</a:t>
            </a:r>
            <a:r>
              <a:rPr sz="3200" b="1" spc="-4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 b="1" spc="-1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MACHINE</a:t>
            </a:r>
            <a:endParaRPr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541" y="548640"/>
            <a:ext cx="4100449" cy="41765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59051" y="5096002"/>
            <a:ext cx="4951349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b="1" spc="-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CNC</a:t>
            </a:r>
            <a:r>
              <a:rPr sz="3200" b="1" spc="-2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MILLING</a:t>
            </a:r>
            <a:r>
              <a:rPr sz="3200" b="1" spc="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 b="1" spc="-1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MACHINE</a:t>
            </a:r>
            <a:endParaRPr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44009" y="980821"/>
            <a:ext cx="4248531" cy="350405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54170" y="947115"/>
            <a:ext cx="201803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D</a:t>
            </a:r>
            <a:r>
              <a:rPr sz="3600" b="1" spc="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N</a:t>
            </a:r>
            <a:r>
              <a:rPr sz="3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itchFamily="18" charset="0"/>
                <a:cs typeface="Times New Roman" pitchFamily="18" charset="0"/>
              </a:rPr>
              <a:t>C</a:t>
            </a:r>
            <a:endParaRPr sz="36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15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6244" y="2220595"/>
            <a:ext cx="7872095" cy="32444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681990" indent="-34480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b="1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Direct Numerical Control(DNC) </a:t>
            </a:r>
            <a:r>
              <a:rPr sz="2400" b="1" spc="-25" dirty="0">
                <a:latin typeface="Times New Roman" pitchFamily="18" charset="0"/>
                <a:cs typeface="Times New Roman" pitchFamily="18" charset="0"/>
              </a:rPr>
              <a:t>system,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number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sz="2400" b="1" spc="-5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machine</a:t>
            </a:r>
            <a:r>
              <a:rPr sz="2400" b="1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tools</a:t>
            </a:r>
            <a:r>
              <a:rPr sz="2400" b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are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 controlled</a:t>
            </a:r>
            <a:r>
              <a:rPr sz="2400" b="1" spc="-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10" dirty="0">
                <a:latin typeface="Times New Roman" pitchFamily="18" charset="0"/>
                <a:cs typeface="Times New Roman" pitchFamily="18" charset="0"/>
              </a:rPr>
              <a:t>by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single</a:t>
            </a:r>
            <a:r>
              <a:rPr sz="2400" b="1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computer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00000"/>
              </a:lnSpc>
              <a:spcBef>
                <a:spcPts val="5"/>
              </a:spcBef>
              <a:buChar char="•"/>
            </a:pPr>
            <a:endParaRPr sz="3300">
              <a:latin typeface="Times New Roman" pitchFamily="18" charset="0"/>
              <a:cs typeface="Times New Roman" pitchFamily="18" charset="0"/>
            </a:endParaRPr>
          </a:p>
          <a:p>
            <a:pPr marL="356870" marR="227965" indent="-344805" algn="just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was</a:t>
            </a:r>
            <a:r>
              <a:rPr sz="24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transmitted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MCU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directly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from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400" spc="-5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computer,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one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block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instructions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at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 time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00000"/>
              </a:lnSpc>
              <a:spcBef>
                <a:spcPts val="10"/>
              </a:spcBef>
              <a:buChar char="•"/>
            </a:pPr>
            <a:endParaRPr sz="3300">
              <a:latin typeface="Times New Roman" pitchFamily="18" charset="0"/>
              <a:cs typeface="Times New Roman" pitchFamily="18" charset="0"/>
            </a:endParaRPr>
          </a:p>
          <a:p>
            <a:pPr marL="356870" indent="-344805" algn="just">
              <a:lnSpc>
                <a:spcPct val="100000"/>
              </a:lnSpc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latin typeface="Times New Roman" pitchFamily="18" charset="0"/>
                <a:cs typeface="Times New Roman" pitchFamily="18" charset="0"/>
              </a:rPr>
              <a:t>Central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computer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also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received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back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from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machines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541" y="1412747"/>
            <a:ext cx="8439658" cy="403250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17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5E38FD-7560-1B60-0660-43FD828C0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43000"/>
            <a:ext cx="7243091" cy="46202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18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6B81D6-D2EF-362C-5311-FDDBA4286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38200"/>
            <a:ext cx="8915400" cy="529922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19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A97C0-A054-B9AE-9E12-44732357C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62000"/>
            <a:ext cx="7443421" cy="563958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20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756CAF-1EF2-2CE6-CF82-E61C4FF59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14400"/>
            <a:ext cx="8130340" cy="52204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21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CFB403-87D0-867A-F0B1-93976F5FD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85800"/>
            <a:ext cx="7543800" cy="55919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22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8A6F89-4128-32D3-FD4B-8D8429867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490127"/>
            <a:ext cx="7543800" cy="58777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23</a:t>
            </a:fld>
            <a:endParaRPr lang="en-US" dirty="0"/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2E57CA00-17CB-8FEA-66A7-0D43D8018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85800"/>
            <a:ext cx="8595360" cy="554994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24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649D4F-B81D-2E6A-F2AF-8E0D374E1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1" y="752101"/>
            <a:ext cx="6444349" cy="535379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25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14B9E0-81BA-BD13-1CA7-2F5142C4F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7924800" cy="48298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26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665D5F-9312-B126-0BC2-144433D64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838200"/>
            <a:ext cx="8077200" cy="563958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27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569480-20A5-07A9-86CE-23B4837C3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62000"/>
            <a:ext cx="7969138" cy="448690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28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E5ED67-B189-FF09-F75C-0A77F21A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85800"/>
            <a:ext cx="7777919" cy="51061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</TotalTime>
  <Words>494</Words>
  <Application>Microsoft Office PowerPoint</Application>
  <PresentationFormat>On-screen Show (4:3)</PresentationFormat>
  <Paragraphs>97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AUTOMATION</vt:lpstr>
      <vt:lpstr>PowerPoint Presentation</vt:lpstr>
      <vt:lpstr>PowerPoint Presentation</vt:lpstr>
      <vt:lpstr>NUMERICAL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CNC MACHINES</vt:lpstr>
      <vt:lpstr>PowerPoint Presentation</vt:lpstr>
      <vt:lpstr>PowerPoint Presentation</vt:lpstr>
      <vt:lpstr>PowerPoint Presentation</vt:lpstr>
      <vt:lpstr>PowerPoint Presentation</vt:lpstr>
      <vt:lpstr>DNC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MECHANICAL ENGG</dc:title>
  <dc:creator>ARUN JOSE TOM</dc:creator>
  <cp:lastModifiedBy>Shiv Nand Ajai</cp:lastModifiedBy>
  <cp:revision>12</cp:revision>
  <dcterms:created xsi:type="dcterms:W3CDTF">2023-09-22T15:40:47Z</dcterms:created>
  <dcterms:modified xsi:type="dcterms:W3CDTF">2023-12-19T16:08:14Z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2016-11-09T00:00:00Z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2023-09-22T00:00:00Z</vt:filetime>
  </property>
</Properties>
</file>