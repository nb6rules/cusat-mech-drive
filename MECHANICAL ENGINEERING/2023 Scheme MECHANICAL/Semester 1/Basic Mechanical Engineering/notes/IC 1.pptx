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5135" y="152222"/>
            <a:ext cx="115017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417" y="1585340"/>
            <a:ext cx="11145164" cy="4465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967" y="713359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Module</a:t>
            </a:r>
            <a:r>
              <a:rPr sz="2400" b="1" u="heavy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4967" y="1583816"/>
            <a:ext cx="11143615" cy="183133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sz="3200" b="1" u="none" dirty="0">
                <a:latin typeface="Times New Roman"/>
                <a:cs typeface="Times New Roman"/>
              </a:rPr>
              <a:t>Internal</a:t>
            </a:r>
            <a:r>
              <a:rPr sz="3200" b="1" u="none" spc="5" dirty="0">
                <a:latin typeface="Times New Roman"/>
                <a:cs typeface="Times New Roman"/>
              </a:rPr>
              <a:t> </a:t>
            </a:r>
            <a:r>
              <a:rPr sz="3200" b="1" u="none" spc="-5" dirty="0">
                <a:latin typeface="Times New Roman"/>
                <a:cs typeface="Times New Roman"/>
              </a:rPr>
              <a:t>Combustion</a:t>
            </a:r>
            <a:r>
              <a:rPr sz="3200" b="1" u="none" dirty="0">
                <a:latin typeface="Times New Roman"/>
                <a:cs typeface="Times New Roman"/>
              </a:rPr>
              <a:t> </a:t>
            </a:r>
            <a:r>
              <a:rPr sz="3200" b="1" u="none" spc="-5" dirty="0">
                <a:latin typeface="Times New Roman"/>
                <a:cs typeface="Times New Roman"/>
              </a:rPr>
              <a:t>Engines</a:t>
            </a:r>
            <a:r>
              <a:rPr sz="3200" b="1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3200" b="1" u="none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Air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 standard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cycles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 –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Otto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 and </a:t>
            </a:r>
            <a:r>
              <a:rPr sz="3200" u="none" spc="-7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Diesel cycles,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working of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two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stroke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and four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stroke Petrol 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and </a:t>
            </a:r>
            <a:r>
              <a:rPr sz="3200" u="none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Diesel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engines,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Carburatted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MPFI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 engines,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fuel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pump,</a:t>
            </a:r>
            <a:r>
              <a:rPr sz="3200" u="none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spc="-5" dirty="0">
                <a:solidFill>
                  <a:srgbClr val="000000"/>
                </a:solidFill>
                <a:latin typeface="Times New Roman"/>
                <a:cs typeface="Times New Roman"/>
              </a:rPr>
              <a:t>fuel </a:t>
            </a:r>
            <a:r>
              <a:rPr sz="3200" u="none" spc="-7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spc="-15" dirty="0">
                <a:solidFill>
                  <a:srgbClr val="000000"/>
                </a:solidFill>
                <a:latin typeface="Times New Roman"/>
                <a:cs typeface="Times New Roman"/>
              </a:rPr>
              <a:t>injector,</a:t>
            </a:r>
            <a:r>
              <a:rPr sz="3200" u="none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ignition</a:t>
            </a:r>
            <a:r>
              <a:rPr sz="3200" u="none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system,</a:t>
            </a:r>
            <a:r>
              <a:rPr sz="3200" u="none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cooling</a:t>
            </a:r>
            <a:r>
              <a:rPr sz="3200" u="none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system,</a:t>
            </a:r>
            <a:r>
              <a:rPr sz="3200" u="none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lubricating</a:t>
            </a:r>
            <a:r>
              <a:rPr sz="3200" u="none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000000"/>
                </a:solidFill>
                <a:latin typeface="Times New Roman"/>
                <a:cs typeface="Times New Roman"/>
              </a:rPr>
              <a:t>system.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967" y="3606546"/>
            <a:ext cx="11144885" cy="18307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Refrigeration &amp;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Airconditioning</a:t>
            </a:r>
            <a:r>
              <a:rPr sz="3200" b="1" spc="-10" dirty="0">
                <a:latin typeface="Times New Roman"/>
                <a:cs typeface="Times New Roman"/>
              </a:rPr>
              <a:t>: </a:t>
            </a:r>
            <a:r>
              <a:rPr sz="3200" spc="-5" dirty="0">
                <a:latin typeface="Times New Roman"/>
                <a:cs typeface="Times New Roman"/>
              </a:rPr>
              <a:t>Introduction to refrigeration </a:t>
            </a:r>
            <a:r>
              <a:rPr sz="3200" spc="-10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air -conditioning, Rating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refrigeration machines, </a:t>
            </a:r>
            <a:r>
              <a:rPr sz="3200" spc="-5" dirty="0">
                <a:latin typeface="Times New Roman"/>
                <a:cs typeface="Times New Roman"/>
              </a:rPr>
              <a:t>Coefficient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performance,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Simple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refrigeration</a:t>
            </a:r>
            <a:r>
              <a:rPr sz="3200" dirty="0">
                <a:latin typeface="Times New Roman"/>
                <a:cs typeface="Times New Roman"/>
              </a:rPr>
              <a:t> vapour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compression</a:t>
            </a:r>
            <a:r>
              <a:rPr sz="3200" dirty="0">
                <a:latin typeface="Times New Roman"/>
                <a:cs typeface="Times New Roman"/>
              </a:rPr>
              <a:t> cycle,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summer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winter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air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conditioning.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620344"/>
            <a:ext cx="4749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Microsoft Sans Serif"/>
                <a:cs typeface="Microsoft Sans Serif"/>
              </a:rPr>
              <a:t>Air</a:t>
            </a:r>
            <a:r>
              <a:rPr sz="4400" spc="5" dirty="0">
                <a:latin typeface="Microsoft Sans Serif"/>
                <a:cs typeface="Microsoft Sans Serif"/>
              </a:rPr>
              <a:t> </a:t>
            </a:r>
            <a:r>
              <a:rPr sz="4400" dirty="0">
                <a:latin typeface="Microsoft Sans Serif"/>
                <a:cs typeface="Microsoft Sans Serif"/>
              </a:rPr>
              <a:t>standard</a:t>
            </a:r>
            <a:r>
              <a:rPr sz="4400" spc="35" dirty="0">
                <a:latin typeface="Microsoft Sans Serif"/>
                <a:cs typeface="Microsoft Sans Serif"/>
              </a:rPr>
              <a:t> </a:t>
            </a:r>
            <a:r>
              <a:rPr sz="4400" spc="-5" dirty="0">
                <a:latin typeface="Microsoft Sans Serif"/>
                <a:cs typeface="Microsoft Sans Serif"/>
              </a:rPr>
              <a:t>cycles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367" y="1585340"/>
            <a:ext cx="10991215" cy="44653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69900" marR="6985" indent="-457200">
              <a:lnSpc>
                <a:spcPts val="3460"/>
              </a:lnSpc>
              <a:spcBef>
                <a:spcPts val="535"/>
              </a:spcBef>
              <a:buSzPct val="56250"/>
              <a:buChar char="●"/>
              <a:tabLst>
                <a:tab pos="469265" algn="l"/>
                <a:tab pos="469900" algn="l"/>
                <a:tab pos="1179830" algn="l"/>
                <a:tab pos="2972435" algn="l"/>
                <a:tab pos="4110354" algn="l"/>
                <a:tab pos="4618355" algn="l"/>
                <a:tab pos="5281295" algn="l"/>
                <a:tab pos="7098030" algn="l"/>
                <a:tab pos="8235315" algn="l"/>
                <a:tab pos="8764270" algn="l"/>
                <a:tab pos="10017125" algn="l"/>
                <a:tab pos="10680065" algn="l"/>
              </a:tabLst>
            </a:pPr>
            <a:r>
              <a:rPr sz="3200" spc="-5" dirty="0">
                <a:latin typeface="Microsoft Sans Serif"/>
                <a:cs typeface="Microsoft Sans Serif"/>
              </a:rPr>
              <a:t>Air	</a:t>
            </a:r>
            <a:r>
              <a:rPr sz="3200" dirty="0">
                <a:latin typeface="Microsoft Sans Serif"/>
                <a:cs typeface="Microsoft Sans Serif"/>
              </a:rPr>
              <a:t>sta</a:t>
            </a:r>
            <a:r>
              <a:rPr sz="3200" spc="-20" dirty="0">
                <a:latin typeface="Microsoft Sans Serif"/>
                <a:cs typeface="Microsoft Sans Serif"/>
              </a:rPr>
              <a:t>n</a:t>
            </a:r>
            <a:r>
              <a:rPr sz="3200" dirty="0">
                <a:latin typeface="Microsoft Sans Serif"/>
                <a:cs typeface="Microsoft Sans Serif"/>
              </a:rPr>
              <a:t>d</a:t>
            </a:r>
            <a:r>
              <a:rPr sz="3200" spc="-10" dirty="0">
                <a:latin typeface="Microsoft Sans Serif"/>
                <a:cs typeface="Microsoft Sans Serif"/>
              </a:rPr>
              <a:t>a</a:t>
            </a:r>
            <a:r>
              <a:rPr sz="3200" dirty="0">
                <a:latin typeface="Microsoft Sans Serif"/>
                <a:cs typeface="Microsoft Sans Serif"/>
              </a:rPr>
              <a:t>rd	c</a:t>
            </a:r>
            <a:r>
              <a:rPr sz="3200" spc="-15" dirty="0">
                <a:latin typeface="Microsoft Sans Serif"/>
                <a:cs typeface="Microsoft Sans Serif"/>
              </a:rPr>
              <a:t>y</a:t>
            </a:r>
            <a:r>
              <a:rPr sz="3200" spc="-5" dirty="0">
                <a:latin typeface="Microsoft Sans Serif"/>
                <a:cs typeface="Microsoft Sans Serif"/>
              </a:rPr>
              <a:t>cle</a:t>
            </a:r>
            <a:r>
              <a:rPr sz="3200" dirty="0">
                <a:latin typeface="Microsoft Sans Serif"/>
                <a:cs typeface="Microsoft Sans Serif"/>
              </a:rPr>
              <a:t>	</a:t>
            </a:r>
            <a:r>
              <a:rPr sz="3200" spc="-15" dirty="0">
                <a:latin typeface="Microsoft Sans Serif"/>
                <a:cs typeface="Microsoft Sans Serif"/>
              </a:rPr>
              <a:t>is</a:t>
            </a:r>
            <a:r>
              <a:rPr sz="3200" dirty="0">
                <a:latin typeface="Microsoft Sans Serif"/>
                <a:cs typeface="Microsoft Sans Serif"/>
              </a:rPr>
              <a:t>	</a:t>
            </a:r>
            <a:r>
              <a:rPr sz="3200" spc="-20" dirty="0">
                <a:latin typeface="Microsoft Sans Serif"/>
                <a:cs typeface="Microsoft Sans Serif"/>
              </a:rPr>
              <a:t>a</a:t>
            </a:r>
            <a:r>
              <a:rPr sz="3200" dirty="0">
                <a:latin typeface="Microsoft Sans Serif"/>
                <a:cs typeface="Microsoft Sans Serif"/>
              </a:rPr>
              <a:t>n	</a:t>
            </a:r>
            <a:r>
              <a:rPr sz="3200" spc="-5" dirty="0">
                <a:latin typeface="Microsoft Sans Serif"/>
                <a:cs typeface="Microsoft Sans Serif"/>
              </a:rPr>
              <a:t>id</a:t>
            </a:r>
            <a:r>
              <a:rPr sz="3200" spc="-25" dirty="0">
                <a:latin typeface="Microsoft Sans Serif"/>
                <a:cs typeface="Microsoft Sans Serif"/>
              </a:rPr>
              <a:t>e</a:t>
            </a:r>
            <a:r>
              <a:rPr sz="3200" spc="-5" dirty="0">
                <a:latin typeface="Microsoft Sans Serif"/>
                <a:cs typeface="Microsoft Sans Serif"/>
              </a:rPr>
              <a:t>alised</a:t>
            </a:r>
            <a:r>
              <a:rPr sz="3200" dirty="0">
                <a:latin typeface="Microsoft Sans Serif"/>
                <a:cs typeface="Microsoft Sans Serif"/>
              </a:rPr>
              <a:t>	c</a:t>
            </a:r>
            <a:r>
              <a:rPr sz="3200" spc="-15" dirty="0">
                <a:latin typeface="Microsoft Sans Serif"/>
                <a:cs typeface="Microsoft Sans Serif"/>
              </a:rPr>
              <a:t>y</a:t>
            </a:r>
            <a:r>
              <a:rPr sz="3200" spc="-5" dirty="0">
                <a:latin typeface="Microsoft Sans Serif"/>
                <a:cs typeface="Microsoft Sans Serif"/>
              </a:rPr>
              <a:t>cle</a:t>
            </a:r>
            <a:r>
              <a:rPr sz="3200" dirty="0">
                <a:latin typeface="Microsoft Sans Serif"/>
                <a:cs typeface="Microsoft Sans Serif"/>
              </a:rPr>
              <a:t>	</a:t>
            </a:r>
            <a:r>
              <a:rPr sz="3200" spc="-10" dirty="0">
                <a:latin typeface="Microsoft Sans Serif"/>
                <a:cs typeface="Microsoft Sans Serif"/>
              </a:rPr>
              <a:t>i</a:t>
            </a:r>
            <a:r>
              <a:rPr sz="3200" spc="-15" dirty="0">
                <a:latin typeface="Microsoft Sans Serif"/>
                <a:cs typeface="Microsoft Sans Serif"/>
              </a:rPr>
              <a:t>n</a:t>
            </a:r>
            <a:r>
              <a:rPr sz="3200" dirty="0">
                <a:latin typeface="Microsoft Sans Serif"/>
                <a:cs typeface="Microsoft Sans Serif"/>
              </a:rPr>
              <a:t>	</a:t>
            </a:r>
            <a:r>
              <a:rPr sz="3200" spc="-5" dirty="0">
                <a:latin typeface="Microsoft Sans Serif"/>
                <a:cs typeface="Microsoft Sans Serif"/>
              </a:rPr>
              <a:t>which</a:t>
            </a:r>
            <a:r>
              <a:rPr sz="3200" dirty="0">
                <a:latin typeface="Microsoft Sans Serif"/>
                <a:cs typeface="Microsoft Sans Serif"/>
              </a:rPr>
              <a:t>	</a:t>
            </a:r>
            <a:r>
              <a:rPr sz="3200" spc="-10" dirty="0">
                <a:latin typeface="Microsoft Sans Serif"/>
                <a:cs typeface="Microsoft Sans Serif"/>
              </a:rPr>
              <a:t>air</a:t>
            </a:r>
            <a:r>
              <a:rPr sz="3200" dirty="0">
                <a:latin typeface="Microsoft Sans Serif"/>
                <a:cs typeface="Microsoft Sans Serif"/>
              </a:rPr>
              <a:t>	</a:t>
            </a:r>
            <a:r>
              <a:rPr sz="3200" spc="-5" dirty="0">
                <a:latin typeface="Microsoft Sans Serif"/>
                <a:cs typeface="Microsoft Sans Serif"/>
              </a:rPr>
              <a:t>is  </a:t>
            </a:r>
            <a:r>
              <a:rPr sz="3200" dirty="0">
                <a:latin typeface="Microsoft Sans Serif"/>
                <a:cs typeface="Microsoft Sans Serif"/>
              </a:rPr>
              <a:t>taken</a:t>
            </a:r>
            <a:r>
              <a:rPr sz="3200" spc="-5" dirty="0">
                <a:latin typeface="Microsoft Sans Serif"/>
                <a:cs typeface="Microsoft Sans Serif"/>
              </a:rPr>
              <a:t> as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the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working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fluid</a:t>
            </a:r>
            <a:endParaRPr sz="3200">
              <a:latin typeface="Microsoft Sans Serif"/>
              <a:cs typeface="Microsoft Sans Serif"/>
            </a:endParaRPr>
          </a:p>
          <a:p>
            <a:pPr marL="469900" indent="-457200">
              <a:lnSpc>
                <a:spcPts val="3210"/>
              </a:lnSpc>
              <a:buSzPct val="56250"/>
              <a:buChar char="●"/>
              <a:tabLst>
                <a:tab pos="469265" algn="l"/>
                <a:tab pos="469900" algn="l"/>
                <a:tab pos="1264920" algn="l"/>
                <a:tab pos="3141345" algn="l"/>
                <a:tab pos="4568190" algn="l"/>
                <a:tab pos="5520690" algn="l"/>
                <a:tab pos="6268720" algn="l"/>
                <a:tab pos="7448550" algn="l"/>
                <a:tab pos="8220075" algn="l"/>
                <a:tab pos="10411460" algn="l"/>
              </a:tabLst>
            </a:pPr>
            <a:r>
              <a:rPr sz="3200" spc="-5" dirty="0">
                <a:latin typeface="Microsoft Sans Serif"/>
                <a:cs typeface="Microsoft Sans Serif"/>
              </a:rPr>
              <a:t>Air	</a:t>
            </a:r>
            <a:r>
              <a:rPr sz="3200" dirty="0">
                <a:latin typeface="Microsoft Sans Serif"/>
                <a:cs typeface="Microsoft Sans Serif"/>
              </a:rPr>
              <a:t>st</a:t>
            </a:r>
            <a:r>
              <a:rPr sz="3200" spc="-20" dirty="0">
                <a:latin typeface="Microsoft Sans Serif"/>
                <a:cs typeface="Microsoft Sans Serif"/>
              </a:rPr>
              <a:t>a</a:t>
            </a:r>
            <a:r>
              <a:rPr sz="3200" dirty="0">
                <a:latin typeface="Microsoft Sans Serif"/>
                <a:cs typeface="Microsoft Sans Serif"/>
              </a:rPr>
              <a:t>n</a:t>
            </a:r>
            <a:r>
              <a:rPr sz="3200" spc="-15" dirty="0">
                <a:latin typeface="Microsoft Sans Serif"/>
                <a:cs typeface="Microsoft Sans Serif"/>
              </a:rPr>
              <a:t>d</a:t>
            </a:r>
            <a:r>
              <a:rPr sz="3200" dirty="0">
                <a:latin typeface="Microsoft Sans Serif"/>
                <a:cs typeface="Microsoft Sans Serif"/>
              </a:rPr>
              <a:t>ard	</a:t>
            </a:r>
            <a:r>
              <a:rPr sz="3200" spc="-5" dirty="0">
                <a:latin typeface="Microsoft Sans Serif"/>
                <a:cs typeface="Microsoft Sans Serif"/>
              </a:rPr>
              <a:t>cycl</a:t>
            </a:r>
            <a:r>
              <a:rPr sz="3200" spc="-25" dirty="0">
                <a:latin typeface="Microsoft Sans Serif"/>
                <a:cs typeface="Microsoft Sans Serif"/>
              </a:rPr>
              <a:t>e</a:t>
            </a:r>
            <a:r>
              <a:rPr sz="3200" dirty="0">
                <a:latin typeface="Microsoft Sans Serif"/>
                <a:cs typeface="Microsoft Sans Serif"/>
              </a:rPr>
              <a:t>s	</a:t>
            </a:r>
            <a:r>
              <a:rPr sz="3200" spc="-10" dirty="0">
                <a:latin typeface="Microsoft Sans Serif"/>
                <a:cs typeface="Microsoft Sans Serif"/>
              </a:rPr>
              <a:t>ca</a:t>
            </a:r>
            <a:r>
              <a:rPr sz="3200" dirty="0">
                <a:latin typeface="Microsoft Sans Serif"/>
                <a:cs typeface="Microsoft Sans Serif"/>
              </a:rPr>
              <a:t>n	</a:t>
            </a:r>
            <a:r>
              <a:rPr sz="3200" spc="-10" dirty="0">
                <a:latin typeface="Microsoft Sans Serif"/>
                <a:cs typeface="Microsoft Sans Serif"/>
              </a:rPr>
              <a:t>b</a:t>
            </a:r>
            <a:r>
              <a:rPr sz="3200" dirty="0">
                <a:latin typeface="Microsoft Sans Serif"/>
                <a:cs typeface="Microsoft Sans Serif"/>
              </a:rPr>
              <a:t>e	used	f</a:t>
            </a:r>
            <a:r>
              <a:rPr sz="3200" spc="-25" dirty="0">
                <a:latin typeface="Microsoft Sans Serif"/>
                <a:cs typeface="Microsoft Sans Serif"/>
              </a:rPr>
              <a:t>o</a:t>
            </a:r>
            <a:r>
              <a:rPr sz="3200" dirty="0">
                <a:latin typeface="Microsoft Sans Serif"/>
                <a:cs typeface="Microsoft Sans Serif"/>
              </a:rPr>
              <a:t>r	c</a:t>
            </a:r>
            <a:r>
              <a:rPr sz="3200" spc="-15" dirty="0">
                <a:latin typeface="Microsoft Sans Serif"/>
                <a:cs typeface="Microsoft Sans Serif"/>
              </a:rPr>
              <a:t>o</a:t>
            </a:r>
            <a:r>
              <a:rPr sz="3200" spc="5" dirty="0">
                <a:latin typeface="Microsoft Sans Serif"/>
                <a:cs typeface="Microsoft Sans Serif"/>
              </a:rPr>
              <a:t>m</a:t>
            </a:r>
            <a:r>
              <a:rPr sz="3200" spc="-30" dirty="0">
                <a:latin typeface="Microsoft Sans Serif"/>
                <a:cs typeface="Microsoft Sans Serif"/>
              </a:rPr>
              <a:t>p</a:t>
            </a:r>
            <a:r>
              <a:rPr sz="3200" spc="-10" dirty="0">
                <a:latin typeface="Microsoft Sans Serif"/>
                <a:cs typeface="Microsoft Sans Serif"/>
              </a:rPr>
              <a:t>ar</a:t>
            </a:r>
            <a:r>
              <a:rPr sz="3200" spc="-15" dirty="0">
                <a:latin typeface="Microsoft Sans Serif"/>
                <a:cs typeface="Microsoft Sans Serif"/>
              </a:rPr>
              <a:t>i</a:t>
            </a:r>
            <a:r>
              <a:rPr sz="3200" dirty="0">
                <a:latin typeface="Microsoft Sans Serif"/>
                <a:cs typeface="Microsoft Sans Serif"/>
              </a:rPr>
              <a:t>ng	t</a:t>
            </a:r>
            <a:r>
              <a:rPr sz="3200" spc="-10" dirty="0">
                <a:latin typeface="Microsoft Sans Serif"/>
                <a:cs typeface="Microsoft Sans Serif"/>
              </a:rPr>
              <a:t>h</a:t>
            </a:r>
            <a:r>
              <a:rPr sz="3200" dirty="0">
                <a:latin typeface="Microsoft Sans Serif"/>
                <a:cs typeface="Microsoft Sans Serif"/>
              </a:rPr>
              <a:t>e</a:t>
            </a:r>
            <a:endParaRPr sz="3200">
              <a:latin typeface="Microsoft Sans Serif"/>
              <a:cs typeface="Microsoft Sans Serif"/>
            </a:endParaRPr>
          </a:p>
          <a:p>
            <a:pPr marL="469900">
              <a:lnSpc>
                <a:spcPts val="3650"/>
              </a:lnSpc>
            </a:pPr>
            <a:r>
              <a:rPr sz="3200" spc="-5" dirty="0">
                <a:latin typeface="Microsoft Sans Serif"/>
                <a:cs typeface="Microsoft Sans Serif"/>
              </a:rPr>
              <a:t>performance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of</a:t>
            </a:r>
            <a:r>
              <a:rPr sz="3200" spc="4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real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internal</a:t>
            </a:r>
            <a:r>
              <a:rPr sz="3200" spc="4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combustion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engine</a:t>
            </a:r>
            <a:endParaRPr sz="3200">
              <a:latin typeface="Microsoft Sans Serif"/>
              <a:cs typeface="Microsoft Sans Serif"/>
            </a:endParaRPr>
          </a:p>
          <a:p>
            <a:pPr marL="12700" algn="just">
              <a:lnSpc>
                <a:spcPts val="4130"/>
              </a:lnSpc>
              <a:spcBef>
                <a:spcPts val="2590"/>
              </a:spcBef>
            </a:pPr>
            <a:r>
              <a:rPr sz="36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Air</a:t>
            </a:r>
            <a:r>
              <a:rPr sz="3600" u="heavy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6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Standard</a:t>
            </a:r>
            <a:r>
              <a:rPr sz="3600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6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Efficiency</a:t>
            </a:r>
            <a:endParaRPr sz="3600">
              <a:latin typeface="Microsoft Sans Serif"/>
              <a:cs typeface="Microsoft Sans Serif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195"/>
              </a:spcBef>
              <a:buSzPct val="56250"/>
              <a:buChar char="●"/>
              <a:tabLst>
                <a:tab pos="469900" algn="l"/>
              </a:tabLst>
            </a:pPr>
            <a:r>
              <a:rPr sz="3200" dirty="0">
                <a:latin typeface="Microsoft Sans Serif"/>
                <a:cs typeface="Microsoft Sans Serif"/>
              </a:rPr>
              <a:t>A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hypothetical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15" dirty="0">
                <a:latin typeface="Microsoft Sans Serif"/>
                <a:cs typeface="Microsoft Sans Serif"/>
              </a:rPr>
              <a:t>efficiency</a:t>
            </a:r>
            <a:r>
              <a:rPr sz="3200" spc="-10" dirty="0">
                <a:latin typeface="Microsoft Sans Serif"/>
                <a:cs typeface="Microsoft Sans Serif"/>
              </a:rPr>
              <a:t> calculated</a:t>
            </a:r>
            <a:r>
              <a:rPr sz="3200" spc="-5" dirty="0">
                <a:latin typeface="Microsoft Sans Serif"/>
                <a:cs typeface="Microsoft Sans Serif"/>
              </a:rPr>
              <a:t> from</a:t>
            </a:r>
            <a:r>
              <a:rPr sz="3200" dirty="0">
                <a:latin typeface="Microsoft Sans Serif"/>
                <a:cs typeface="Microsoft Sans Serif"/>
              </a:rPr>
              <a:t> the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ideal</a:t>
            </a:r>
            <a:r>
              <a:rPr sz="3200" spc="-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air </a:t>
            </a:r>
            <a:r>
              <a:rPr sz="3200" spc="-5" dirty="0">
                <a:latin typeface="Microsoft Sans Serif"/>
                <a:cs typeface="Microsoft Sans Serif"/>
              </a:rPr>
              <a:t> standard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cycle,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15" dirty="0">
                <a:latin typeface="Microsoft Sans Serif"/>
                <a:cs typeface="Microsoft Sans Serif"/>
              </a:rPr>
              <a:t>in</a:t>
            </a:r>
            <a:r>
              <a:rPr sz="3200" spc="-1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order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to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compare</a:t>
            </a:r>
            <a:r>
              <a:rPr sz="3200" dirty="0">
                <a:latin typeface="Microsoft Sans Serif"/>
                <a:cs typeface="Microsoft Sans Serif"/>
              </a:rPr>
              <a:t> the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spc="-15" dirty="0">
                <a:latin typeface="Microsoft Sans Serif"/>
                <a:cs typeface="Microsoft Sans Serif"/>
              </a:rPr>
              <a:t>efficiency</a:t>
            </a:r>
            <a:r>
              <a:rPr sz="3200" spc="-10" dirty="0">
                <a:latin typeface="Microsoft Sans Serif"/>
                <a:cs typeface="Microsoft Sans Serif"/>
              </a:rPr>
              <a:t> </a:t>
            </a:r>
            <a:r>
              <a:rPr sz="3200" spc="5" dirty="0">
                <a:latin typeface="Microsoft Sans Serif"/>
                <a:cs typeface="Microsoft Sans Serif"/>
              </a:rPr>
              <a:t>of </a:t>
            </a:r>
            <a:r>
              <a:rPr sz="3200" spc="1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various</a:t>
            </a:r>
            <a:r>
              <a:rPr sz="3200" spc="-5" dirty="0">
                <a:latin typeface="Microsoft Sans Serif"/>
                <a:cs typeface="Microsoft Sans Serif"/>
              </a:rPr>
              <a:t> cycles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Microsoft Sans Serif"/>
                <a:cs typeface="Microsoft Sans Serif"/>
              </a:rPr>
              <a:t>is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called</a:t>
            </a:r>
            <a:r>
              <a:rPr sz="3200" spc="-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air</a:t>
            </a:r>
            <a:r>
              <a:rPr sz="3200" spc="-5" dirty="0">
                <a:latin typeface="Microsoft Sans Serif"/>
                <a:cs typeface="Microsoft Sans Serif"/>
              </a:rPr>
              <a:t> standard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15" dirty="0">
                <a:latin typeface="Microsoft Sans Serif"/>
                <a:cs typeface="Microsoft Sans Serif"/>
              </a:rPr>
              <a:t>efficiency</a:t>
            </a:r>
            <a:r>
              <a:rPr sz="3200" spc="-1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or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ideal </a:t>
            </a:r>
            <a:r>
              <a:rPr sz="3200" spc="-8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thermal </a:t>
            </a:r>
            <a:r>
              <a:rPr sz="3200" spc="-15" dirty="0">
                <a:latin typeface="Microsoft Sans Serif"/>
                <a:cs typeface="Microsoft Sans Serif"/>
              </a:rPr>
              <a:t>efficiency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650874"/>
            <a:ext cx="1065847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u="none" spc="-5" dirty="0">
                <a:latin typeface="Microsoft Sans Serif"/>
                <a:cs typeface="Microsoft Sans Serif"/>
              </a:rPr>
              <a:t>Ideal</a:t>
            </a:r>
            <a:r>
              <a:rPr u="none" spc="30" dirty="0">
                <a:latin typeface="Microsoft Sans Serif"/>
                <a:cs typeface="Microsoft Sans Serif"/>
              </a:rPr>
              <a:t> </a:t>
            </a:r>
            <a:r>
              <a:rPr u="none" spc="-5" dirty="0">
                <a:latin typeface="Microsoft Sans Serif"/>
                <a:cs typeface="Microsoft Sans Serif"/>
              </a:rPr>
              <a:t>thermal</a:t>
            </a:r>
            <a:r>
              <a:rPr u="none" spc="50" dirty="0">
                <a:latin typeface="Microsoft Sans Serif"/>
                <a:cs typeface="Microsoft Sans Serif"/>
              </a:rPr>
              <a:t> </a:t>
            </a:r>
            <a:r>
              <a:rPr u="none" spc="-10" dirty="0">
                <a:latin typeface="Microsoft Sans Serif"/>
                <a:cs typeface="Microsoft Sans Serif"/>
              </a:rPr>
              <a:t>efficiency</a:t>
            </a:r>
            <a:r>
              <a:rPr u="none" spc="40" dirty="0">
                <a:latin typeface="Microsoft Sans Serif"/>
                <a:cs typeface="Microsoft Sans Serif"/>
              </a:rPr>
              <a:t> </a:t>
            </a:r>
            <a:r>
              <a:rPr u="none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u="none" spc="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an</a:t>
            </a:r>
            <a:r>
              <a:rPr u="none" spc="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air</a:t>
            </a:r>
            <a:r>
              <a:rPr u="none" spc="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standard</a:t>
            </a:r>
            <a:r>
              <a:rPr u="none" spc="4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cycle</a:t>
            </a:r>
            <a:r>
              <a:rPr u="none" spc="6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may</a:t>
            </a:r>
            <a:r>
              <a:rPr b="1" i="1" u="heavy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 defined</a:t>
            </a:r>
            <a:r>
              <a:rPr b="1" i="1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 </a:t>
            </a:r>
            <a:r>
              <a:rPr b="1" i="1" u="none" spc="-7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b="1" i="1" u="heavy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ratio</a:t>
            </a:r>
            <a:r>
              <a:rPr b="1" i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b="1" i="1" u="heavy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net</a:t>
            </a:r>
            <a:r>
              <a:rPr b="1" i="1" u="heavy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work</a:t>
            </a:r>
            <a:r>
              <a:rPr b="1" i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done</a:t>
            </a:r>
            <a:r>
              <a:rPr b="1" i="1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 the</a:t>
            </a:r>
            <a:r>
              <a:rPr b="1" i="1" u="heavy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heat</a:t>
            </a:r>
            <a:r>
              <a:rPr b="1" i="1" u="heavy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supplied</a:t>
            </a:r>
            <a:r>
              <a:rPr b="1" i="1" u="heavy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during</a:t>
            </a:r>
            <a:r>
              <a:rPr b="1" i="1" u="heavy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b="1" i="1" u="heavy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i="1"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2548" y="1733927"/>
            <a:ext cx="6229244" cy="4541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52400"/>
            <a:ext cx="9087979" cy="6476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135" y="0"/>
            <a:ext cx="10440035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95"/>
              </a:spcBef>
            </a:pPr>
            <a:r>
              <a:rPr sz="2500" spc="-5" dirty="0">
                <a:latin typeface="Microsoft Sans Serif"/>
                <a:cs typeface="Microsoft Sans Serif"/>
              </a:rPr>
              <a:t>•</a:t>
            </a:r>
            <a:endParaRPr sz="2500">
              <a:latin typeface="Microsoft Sans Serif"/>
              <a:cs typeface="Microsoft Sans Serif"/>
            </a:endParaRPr>
          </a:p>
          <a:p>
            <a:pPr marL="632460">
              <a:lnSpc>
                <a:spcPts val="2850"/>
              </a:lnSpc>
              <a:tabLst>
                <a:tab pos="1533525" algn="l"/>
              </a:tabLst>
            </a:pPr>
            <a:r>
              <a:rPr sz="25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Bore</a:t>
            </a:r>
            <a:r>
              <a:rPr sz="2500" b="1" spc="-5" dirty="0">
                <a:latin typeface="Arial"/>
                <a:cs typeface="Arial"/>
              </a:rPr>
              <a:t>	</a:t>
            </a:r>
            <a:r>
              <a:rPr sz="2500" spc="-5" dirty="0">
                <a:latin typeface="Microsoft Sans Serif"/>
                <a:cs typeface="Microsoft Sans Serif"/>
              </a:rPr>
              <a:t>the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internal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diameter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of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the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cylinder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of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the</a:t>
            </a:r>
            <a:r>
              <a:rPr sz="2500" spc="3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engine</a:t>
            </a:r>
            <a:r>
              <a:rPr sz="2500" spc="1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is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called</a:t>
            </a:r>
            <a:r>
              <a:rPr sz="2500" spc="65" dirty="0">
                <a:latin typeface="Microsoft Sans Serif"/>
                <a:cs typeface="Microsoft Sans Serif"/>
              </a:rPr>
              <a:t> </a:t>
            </a:r>
            <a:r>
              <a:rPr sz="25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bore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584" y="948531"/>
            <a:ext cx="10034795" cy="54486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368" y="352640"/>
            <a:ext cx="9749402" cy="6141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661" y="966724"/>
            <a:ext cx="10351106" cy="4381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135" y="0"/>
            <a:ext cx="11492230" cy="6216650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32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OTTO</a:t>
            </a:r>
            <a:r>
              <a:rPr sz="3200" b="1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CYCLE</a:t>
            </a:r>
            <a:endParaRPr sz="32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21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200" i="1" dirty="0">
                <a:latin typeface="Arial"/>
                <a:cs typeface="Arial"/>
              </a:rPr>
              <a:t>The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Otto</a:t>
            </a:r>
            <a:r>
              <a:rPr sz="3200" i="1" dirty="0">
                <a:latin typeface="Arial"/>
                <a:cs typeface="Arial"/>
              </a:rPr>
              <a:t> cycle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is</a:t>
            </a:r>
            <a:r>
              <a:rPr sz="3200" i="1" dirty="0">
                <a:latin typeface="Arial"/>
                <a:cs typeface="Arial"/>
              </a:rPr>
              <a:t> the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ideal</a:t>
            </a:r>
            <a:r>
              <a:rPr sz="3200" i="1" dirty="0">
                <a:latin typeface="Arial"/>
                <a:cs typeface="Arial"/>
              </a:rPr>
              <a:t> cycle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for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spark-ignition 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reciprocating(Petrol)</a:t>
            </a:r>
            <a:r>
              <a:rPr sz="3200" i="1" spc="844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engines.</a:t>
            </a:r>
            <a:r>
              <a:rPr sz="3200" i="1" spc="844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It</a:t>
            </a:r>
            <a:r>
              <a:rPr sz="3200" i="1" spc="83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is</a:t>
            </a:r>
            <a:r>
              <a:rPr sz="3200" i="1" spc="85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named</a:t>
            </a:r>
            <a:r>
              <a:rPr sz="3200" i="1" spc="840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after</a:t>
            </a:r>
            <a:r>
              <a:rPr sz="3200" i="1" spc="830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Nikolaus</a:t>
            </a:r>
            <a:r>
              <a:rPr sz="3200" i="1" spc="850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A. </a:t>
            </a:r>
            <a:r>
              <a:rPr sz="3200" i="1" spc="-87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Otto,</a:t>
            </a:r>
            <a:r>
              <a:rPr sz="3200" i="1" dirty="0">
                <a:latin typeface="Arial"/>
                <a:cs typeface="Arial"/>
              </a:rPr>
              <a:t> who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built</a:t>
            </a:r>
            <a:r>
              <a:rPr sz="3200" i="1" dirty="0">
                <a:latin typeface="Arial"/>
                <a:cs typeface="Arial"/>
              </a:rPr>
              <a:t> a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successful</a:t>
            </a:r>
            <a:r>
              <a:rPr sz="3200" i="1" dirty="0">
                <a:latin typeface="Arial"/>
                <a:cs typeface="Arial"/>
              </a:rPr>
              <a:t> four </a:t>
            </a:r>
            <a:r>
              <a:rPr sz="3200" i="1" spc="-5" dirty="0">
                <a:latin typeface="Arial"/>
                <a:cs typeface="Arial"/>
              </a:rPr>
              <a:t>stroke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engine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in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1876</a:t>
            </a:r>
            <a:r>
              <a:rPr sz="3200" i="1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in </a:t>
            </a:r>
            <a:r>
              <a:rPr sz="3200" i="1" spc="-87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Germany </a:t>
            </a:r>
            <a:r>
              <a:rPr sz="3200" i="1" dirty="0">
                <a:latin typeface="Arial"/>
                <a:cs typeface="Arial"/>
              </a:rPr>
              <a:t>using the cycle </a:t>
            </a:r>
            <a:r>
              <a:rPr sz="3200" i="1" spc="-5" dirty="0">
                <a:latin typeface="Arial"/>
                <a:cs typeface="Arial"/>
              </a:rPr>
              <a:t>proposed by Frenchman Beau </a:t>
            </a:r>
            <a:r>
              <a:rPr sz="3200" i="1" spc="-10" dirty="0">
                <a:latin typeface="Arial"/>
                <a:cs typeface="Arial"/>
              </a:rPr>
              <a:t>de </a:t>
            </a:r>
            <a:r>
              <a:rPr sz="3200" i="1" spc="-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Rochas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in</a:t>
            </a:r>
            <a:r>
              <a:rPr sz="3200" i="1" spc="-10" dirty="0">
                <a:latin typeface="Arial"/>
                <a:cs typeface="Arial"/>
              </a:rPr>
              <a:t> 1862</a:t>
            </a:r>
            <a:endParaRPr sz="3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Otto</a:t>
            </a:r>
            <a:r>
              <a:rPr sz="3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cycle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forms</a:t>
            </a:r>
            <a:r>
              <a:rPr sz="3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basis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petrol</a:t>
            </a:r>
            <a:r>
              <a:rPr sz="3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engine</a:t>
            </a:r>
            <a:endParaRPr sz="3200">
              <a:latin typeface="Times New Roman"/>
              <a:cs typeface="Times New Roman"/>
            </a:endParaRPr>
          </a:p>
          <a:p>
            <a:pPr marL="241300" indent="-228600">
              <a:lnSpc>
                <a:spcPts val="3650"/>
              </a:lnSpc>
              <a:spcBef>
                <a:spcPts val="6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32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cycle</a:t>
            </a:r>
            <a:r>
              <a:rPr sz="3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is:</a:t>
            </a:r>
            <a:endParaRPr sz="3200">
              <a:latin typeface="Times New Roman"/>
              <a:cs typeface="Times New Roman"/>
            </a:endParaRPr>
          </a:p>
          <a:p>
            <a:pPr marL="241300">
              <a:lnSpc>
                <a:spcPts val="3454"/>
              </a:lnSpc>
            </a:pP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1-2:</a:t>
            </a:r>
            <a:r>
              <a:rPr sz="3200" b="1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Isentropic</a:t>
            </a:r>
            <a:r>
              <a:rPr sz="320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compression</a:t>
            </a:r>
            <a:endParaRPr sz="3200">
              <a:latin typeface="Times New Roman"/>
              <a:cs typeface="Times New Roman"/>
            </a:endParaRPr>
          </a:p>
          <a:p>
            <a:pPr marL="241300" marR="4712335">
              <a:lnSpc>
                <a:spcPts val="3460"/>
              </a:lnSpc>
              <a:spcBef>
                <a:spcPts val="240"/>
              </a:spcBef>
            </a:pP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2-3:</a:t>
            </a:r>
            <a:r>
              <a:rPr sz="3200" b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Heat</a:t>
            </a:r>
            <a:r>
              <a:rPr sz="3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addition</a:t>
            </a:r>
            <a:r>
              <a:rPr sz="32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at</a:t>
            </a:r>
            <a:r>
              <a:rPr sz="320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constant</a:t>
            </a:r>
            <a:r>
              <a:rPr sz="3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volume </a:t>
            </a:r>
            <a:r>
              <a:rPr sz="3200" b="1" spc="-7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3-4:</a:t>
            </a:r>
            <a:r>
              <a:rPr sz="3200" b="1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Isentropic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Expansion</a:t>
            </a:r>
            <a:endParaRPr sz="3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0"/>
              </a:spcBef>
            </a:pP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4-1:Heat</a:t>
            </a:r>
            <a:r>
              <a:rPr sz="3200" b="1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rejection</a:t>
            </a:r>
            <a:r>
              <a:rPr sz="3200" b="1" spc="-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at constant</a:t>
            </a:r>
            <a:r>
              <a:rPr sz="3200" b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/>
                <a:cs typeface="Times New Roman"/>
              </a:rPr>
              <a:t>volume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52222"/>
            <a:ext cx="279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p-V</a:t>
            </a:r>
            <a:r>
              <a:rPr spc="-35" dirty="0"/>
              <a:t> </a:t>
            </a:r>
            <a:r>
              <a:rPr spc="-5" dirty="0"/>
              <a:t>&amp;</a:t>
            </a:r>
            <a:r>
              <a:rPr spc="-25" dirty="0"/>
              <a:t> </a:t>
            </a:r>
            <a:r>
              <a:rPr spc="-10" dirty="0"/>
              <a:t>T-S</a:t>
            </a:r>
            <a:r>
              <a:rPr spc="-15" dirty="0"/>
              <a:t> 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395" y="1118452"/>
            <a:ext cx="8504699" cy="4199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174" y="738638"/>
            <a:ext cx="8255649" cy="53515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588" y="679297"/>
            <a:ext cx="8921877" cy="51859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2960" y="156718"/>
            <a:ext cx="11080750" cy="6544945"/>
            <a:chOff x="822960" y="156718"/>
            <a:chExt cx="11080750" cy="6544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" y="156718"/>
              <a:ext cx="7791323" cy="5381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0" y="5486400"/>
              <a:ext cx="2651760" cy="12148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6640" y="345821"/>
              <a:ext cx="4497070" cy="31288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530" y="1018921"/>
            <a:ext cx="7602226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135" y="0"/>
            <a:ext cx="11490960" cy="595249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DIES</a:t>
            </a:r>
            <a:r>
              <a:rPr sz="28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800" b="1" u="heavy" spc="-1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460"/>
              </a:lnSpc>
              <a:spcBef>
                <a:spcPts val="239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200" i="1" dirty="0">
                <a:latin typeface="Cambria"/>
                <a:cs typeface="Cambria"/>
              </a:rPr>
              <a:t>The</a:t>
            </a:r>
            <a:r>
              <a:rPr sz="3200" i="1" spc="5" dirty="0">
                <a:latin typeface="Cambria"/>
                <a:cs typeface="Cambria"/>
              </a:rPr>
              <a:t> </a:t>
            </a:r>
            <a:r>
              <a:rPr sz="3200" i="1" spc="-15" dirty="0">
                <a:latin typeface="Cambria"/>
                <a:cs typeface="Cambria"/>
              </a:rPr>
              <a:t>Diesel</a:t>
            </a:r>
            <a:r>
              <a:rPr sz="3200" i="1" spc="-10" dirty="0">
                <a:latin typeface="Cambria"/>
                <a:cs typeface="Cambria"/>
              </a:rPr>
              <a:t> cycle</a:t>
            </a:r>
            <a:r>
              <a:rPr sz="3200" i="1" spc="-5" dirty="0">
                <a:latin typeface="Cambria"/>
                <a:cs typeface="Cambria"/>
              </a:rPr>
              <a:t> is</a:t>
            </a:r>
            <a:r>
              <a:rPr sz="3200" i="1" dirty="0">
                <a:latin typeface="Cambria"/>
                <a:cs typeface="Cambria"/>
              </a:rPr>
              <a:t> </a:t>
            </a:r>
            <a:r>
              <a:rPr sz="3200" i="1" spc="-15" dirty="0">
                <a:latin typeface="Cambria"/>
                <a:cs typeface="Cambria"/>
              </a:rPr>
              <a:t>the</a:t>
            </a:r>
            <a:r>
              <a:rPr sz="3200" i="1" spc="-10" dirty="0">
                <a:latin typeface="Cambria"/>
                <a:cs typeface="Cambria"/>
              </a:rPr>
              <a:t> </a:t>
            </a:r>
            <a:r>
              <a:rPr sz="3200" i="1" spc="-5" dirty="0">
                <a:latin typeface="Cambria"/>
                <a:cs typeface="Cambria"/>
              </a:rPr>
              <a:t>ideal</a:t>
            </a:r>
            <a:r>
              <a:rPr sz="3200" i="1" dirty="0">
                <a:latin typeface="Cambria"/>
                <a:cs typeface="Cambria"/>
              </a:rPr>
              <a:t> </a:t>
            </a:r>
            <a:r>
              <a:rPr sz="3200" i="1" spc="-10" dirty="0">
                <a:latin typeface="Cambria"/>
                <a:cs typeface="Cambria"/>
              </a:rPr>
              <a:t>cycle</a:t>
            </a:r>
            <a:r>
              <a:rPr sz="3200" i="1" spc="-5" dirty="0">
                <a:latin typeface="Cambria"/>
                <a:cs typeface="Cambria"/>
              </a:rPr>
              <a:t> </a:t>
            </a:r>
            <a:r>
              <a:rPr sz="3200" i="1" spc="-10" dirty="0">
                <a:latin typeface="Cambria"/>
                <a:cs typeface="Cambria"/>
              </a:rPr>
              <a:t>for</a:t>
            </a:r>
            <a:r>
              <a:rPr sz="3200" i="1" spc="-5" dirty="0">
                <a:latin typeface="Cambria"/>
                <a:cs typeface="Cambria"/>
              </a:rPr>
              <a:t> </a:t>
            </a:r>
            <a:r>
              <a:rPr sz="3200" i="1" spc="-15" dirty="0">
                <a:latin typeface="Cambria"/>
                <a:cs typeface="Cambria"/>
              </a:rPr>
              <a:t>Compression</a:t>
            </a:r>
            <a:r>
              <a:rPr sz="3200" i="1" spc="-10" dirty="0">
                <a:latin typeface="Cambria"/>
                <a:cs typeface="Cambria"/>
              </a:rPr>
              <a:t> </a:t>
            </a:r>
            <a:r>
              <a:rPr sz="3200" i="1" spc="-5" dirty="0">
                <a:latin typeface="Cambria"/>
                <a:cs typeface="Cambria"/>
              </a:rPr>
              <a:t>Ignition(CI) </a:t>
            </a:r>
            <a:r>
              <a:rPr sz="3200" i="1" dirty="0">
                <a:latin typeface="Cambria"/>
                <a:cs typeface="Cambria"/>
              </a:rPr>
              <a:t> </a:t>
            </a:r>
            <a:r>
              <a:rPr sz="3200" i="1" spc="-15" dirty="0">
                <a:latin typeface="Cambria"/>
                <a:cs typeface="Cambria"/>
              </a:rPr>
              <a:t>reciprocating </a:t>
            </a:r>
            <a:r>
              <a:rPr sz="3200" i="1" spc="-10" dirty="0">
                <a:latin typeface="Cambria"/>
                <a:cs typeface="Cambria"/>
              </a:rPr>
              <a:t>engines. </a:t>
            </a:r>
            <a:r>
              <a:rPr sz="3200" i="1" dirty="0">
                <a:latin typeface="Cambria"/>
                <a:cs typeface="Cambria"/>
              </a:rPr>
              <a:t>The </a:t>
            </a:r>
            <a:r>
              <a:rPr sz="3200" i="1" spc="-10" dirty="0">
                <a:latin typeface="Cambria"/>
                <a:cs typeface="Cambria"/>
              </a:rPr>
              <a:t>CI </a:t>
            </a:r>
            <a:r>
              <a:rPr sz="3200" i="1" spc="-5" dirty="0">
                <a:latin typeface="Cambria"/>
                <a:cs typeface="Cambria"/>
              </a:rPr>
              <a:t>engine, first proposed </a:t>
            </a:r>
            <a:r>
              <a:rPr sz="3200" i="1" spc="-15" dirty="0">
                <a:latin typeface="Cambria"/>
                <a:cs typeface="Cambria"/>
              </a:rPr>
              <a:t>by </a:t>
            </a:r>
            <a:r>
              <a:rPr sz="3200" i="1" spc="-10" dirty="0">
                <a:latin typeface="Cambria"/>
                <a:cs typeface="Cambria"/>
              </a:rPr>
              <a:t>Rudolph </a:t>
            </a:r>
            <a:r>
              <a:rPr sz="3200" i="1" spc="-5" dirty="0">
                <a:latin typeface="Cambria"/>
                <a:cs typeface="Cambria"/>
              </a:rPr>
              <a:t> </a:t>
            </a:r>
            <a:r>
              <a:rPr sz="3200" i="1" spc="-10" dirty="0">
                <a:latin typeface="Cambria"/>
                <a:cs typeface="Cambria"/>
              </a:rPr>
              <a:t>Diesel</a:t>
            </a:r>
            <a:r>
              <a:rPr sz="3200" i="1" spc="-30" dirty="0">
                <a:latin typeface="Cambria"/>
                <a:cs typeface="Cambria"/>
              </a:rPr>
              <a:t> </a:t>
            </a:r>
            <a:r>
              <a:rPr sz="3200" i="1" dirty="0">
                <a:latin typeface="Cambria"/>
                <a:cs typeface="Cambria"/>
              </a:rPr>
              <a:t>in</a:t>
            </a:r>
            <a:r>
              <a:rPr sz="3200" i="1" spc="-10" dirty="0">
                <a:latin typeface="Cambria"/>
                <a:cs typeface="Cambria"/>
              </a:rPr>
              <a:t> the </a:t>
            </a:r>
            <a:r>
              <a:rPr sz="3200" i="1" spc="-5" dirty="0">
                <a:latin typeface="Cambria"/>
                <a:cs typeface="Cambria"/>
              </a:rPr>
              <a:t>1890s</a:t>
            </a:r>
            <a:endParaRPr sz="3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4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Diesel</a:t>
            </a:r>
            <a:r>
              <a:rPr sz="4000" b="1" dirty="0">
                <a:solidFill>
                  <a:srgbClr val="001F5F"/>
                </a:solidFill>
                <a:latin typeface="Times New Roman"/>
                <a:cs typeface="Times New Roman"/>
              </a:rPr>
              <a:t> cycle</a:t>
            </a:r>
            <a:r>
              <a:rPr sz="40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forms</a:t>
            </a:r>
            <a:r>
              <a:rPr sz="40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40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basis</a:t>
            </a:r>
            <a:r>
              <a:rPr sz="40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40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40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diesel</a:t>
            </a:r>
            <a:r>
              <a:rPr sz="40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engine</a:t>
            </a:r>
            <a:endParaRPr sz="4000">
              <a:latin typeface="Times New Roman"/>
              <a:cs typeface="Times New Roman"/>
            </a:endParaRPr>
          </a:p>
          <a:p>
            <a:pPr marL="241300" indent="-228600">
              <a:lnSpc>
                <a:spcPts val="4560"/>
              </a:lnSpc>
              <a:spcBef>
                <a:spcPts val="5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4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cycle</a:t>
            </a:r>
            <a:r>
              <a:rPr sz="4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is:</a:t>
            </a:r>
            <a:endParaRPr sz="4000">
              <a:latin typeface="Times New Roman"/>
              <a:cs typeface="Times New Roman"/>
            </a:endParaRPr>
          </a:p>
          <a:p>
            <a:pPr marL="241300">
              <a:lnSpc>
                <a:spcPts val="4320"/>
              </a:lnSpc>
            </a:pP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1-2:</a:t>
            </a:r>
            <a:r>
              <a:rPr sz="4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Isentropic</a:t>
            </a:r>
            <a:r>
              <a:rPr sz="4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compression</a:t>
            </a:r>
            <a:endParaRPr sz="4000">
              <a:latin typeface="Times New Roman"/>
              <a:cs typeface="Times New Roman"/>
            </a:endParaRPr>
          </a:p>
          <a:p>
            <a:pPr marL="241300" marR="2804160">
              <a:lnSpc>
                <a:spcPts val="4320"/>
              </a:lnSpc>
              <a:spcBef>
                <a:spcPts val="305"/>
              </a:spcBef>
            </a:pP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2-3: Heat</a:t>
            </a:r>
            <a:r>
              <a:rPr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 addition</a:t>
            </a:r>
            <a:r>
              <a:rPr sz="4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4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constant </a:t>
            </a:r>
            <a:r>
              <a:rPr sz="4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pressure </a:t>
            </a:r>
            <a:r>
              <a:rPr sz="4000" b="1" spc="-9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3-4:</a:t>
            </a:r>
            <a:r>
              <a:rPr sz="4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Isentropic</a:t>
            </a:r>
            <a:r>
              <a:rPr sz="4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Expansion</a:t>
            </a:r>
            <a:endParaRPr sz="4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50"/>
              </a:spcBef>
            </a:pPr>
            <a:r>
              <a:rPr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4-1:Heat</a:t>
            </a:r>
            <a:r>
              <a:rPr sz="4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rejection</a:t>
            </a:r>
            <a:r>
              <a:rPr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4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constant</a:t>
            </a:r>
            <a:r>
              <a:rPr sz="40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volume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" y="152222"/>
            <a:ext cx="279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p-V</a:t>
            </a:r>
            <a:r>
              <a:rPr spc="-35" dirty="0"/>
              <a:t> </a:t>
            </a:r>
            <a:r>
              <a:rPr spc="-5" dirty="0"/>
              <a:t>&amp;</a:t>
            </a:r>
            <a:r>
              <a:rPr spc="-25" dirty="0"/>
              <a:t> </a:t>
            </a:r>
            <a:r>
              <a:rPr spc="-10" dirty="0"/>
              <a:t>T-S</a:t>
            </a:r>
            <a:r>
              <a:rPr spc="-15" dirty="0"/>
              <a:t> 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452" y="1160811"/>
            <a:ext cx="8384019" cy="44827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941" y="275970"/>
            <a:ext cx="8719606" cy="57968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963" y="1289937"/>
            <a:ext cx="7437736" cy="36883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123" y="522477"/>
            <a:ext cx="9385107" cy="54211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19" y="951536"/>
            <a:ext cx="7159373" cy="22945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183" y="3657587"/>
            <a:ext cx="4977003" cy="23905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0921" y="2364346"/>
            <a:ext cx="6063869" cy="39580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093" y="483374"/>
            <a:ext cx="8090200" cy="59043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8640" y="182879"/>
            <a:ext cx="11485245" cy="6374765"/>
            <a:chOff x="548640" y="182879"/>
            <a:chExt cx="11485245" cy="63747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404914"/>
              <a:ext cx="8556117" cy="615264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9079" y="182879"/>
              <a:ext cx="6194552" cy="39450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1399" y="613905"/>
            <a:ext cx="8250428" cy="58914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621" y="431088"/>
            <a:ext cx="10401255" cy="5365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259</Words>
  <Application>Microsoft Office PowerPoint</Application>
  <PresentationFormat>Custom</PresentationFormat>
  <Paragraphs>28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Internal Combustion Engines: Air standard cycles – Otto and  Diesel cycles, working of two stroke and four stroke Petrol and  Diesel engines, Carburatted and MPFI engines, fuel pump, fuel  injector, ignition system, cooling system, lubricating system.</vt:lpstr>
      <vt:lpstr>Air standard cycles</vt:lpstr>
      <vt:lpstr>Ideal thermal efficiency of an air standard cycle may be defined as  the ratio of net work done to the heat supplied during the cycle</vt:lpstr>
      <vt:lpstr>Slide 4</vt:lpstr>
      <vt:lpstr>Slide 5</vt:lpstr>
      <vt:lpstr>Slide 6</vt:lpstr>
      <vt:lpstr>Slide 7</vt:lpstr>
      <vt:lpstr>Slide 8</vt:lpstr>
      <vt:lpstr>p-V &amp; T-S diagram</vt:lpstr>
      <vt:lpstr>Slide 10</vt:lpstr>
      <vt:lpstr>Slide 11</vt:lpstr>
      <vt:lpstr>Slide 12</vt:lpstr>
      <vt:lpstr>Slide 13</vt:lpstr>
      <vt:lpstr>Slide 14</vt:lpstr>
      <vt:lpstr>p-V &amp; T-S diagram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M</dc:creator>
  <cp:lastModifiedBy>SDPKCUSAT4</cp:lastModifiedBy>
  <cp:revision>1</cp:revision>
  <dcterms:created xsi:type="dcterms:W3CDTF">2023-01-25T10:00:56Z</dcterms:created>
  <dcterms:modified xsi:type="dcterms:W3CDTF">2023-02-01T04:08:41Z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2021-05-10T00:00:00Z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2023-01-25T00:00:00Z</vt:filetime>
  </property>
</Properties>
</file>