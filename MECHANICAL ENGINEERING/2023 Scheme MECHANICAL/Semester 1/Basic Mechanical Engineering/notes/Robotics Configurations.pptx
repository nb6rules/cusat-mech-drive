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9" r:id="rId3"/>
    <p:sldId id="257" r:id="rId4"/>
    <p:sldId id="258" r:id="rId5"/>
    <p:sldId id="266" r:id="rId6"/>
    <p:sldId id="260" r:id="rId7"/>
    <p:sldId id="261" r:id="rId8"/>
    <p:sldId id="262" r:id="rId9"/>
    <p:sldId id="269" r:id="rId10"/>
    <p:sldId id="295" r:id="rId11"/>
    <p:sldId id="271" r:id="rId12"/>
    <p:sldId id="296" r:id="rId13"/>
    <p:sldId id="273" r:id="rId14"/>
    <p:sldId id="294" r:id="rId15"/>
    <p:sldId id="297" r:id="rId16"/>
    <p:sldId id="263" r:id="rId17"/>
    <p:sldId id="267" r:id="rId18"/>
    <p:sldId id="264" r:id="rId19"/>
    <p:sldId id="292" r:id="rId20"/>
    <p:sldId id="275" r:id="rId21"/>
    <p:sldId id="276" r:id="rId22"/>
    <p:sldId id="293"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8"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p:scale>
          <a:sx n="91" d="100"/>
          <a:sy n="91" d="100"/>
        </p:scale>
        <p:origin x="-1853" y="-19"/>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25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ableStyles" Target="tableStyles.xml" /></Relationships>
</file>

<file path=ppt/_rels/viewProps.xml.rels><?xml version="1.0" encoding="UTF-8" standalone="yes"?>
<Relationships xmlns="http://schemas.openxmlformats.org/package/2006/relationships"><Relationship Id="rId3" Type="http://schemas.openxmlformats.org/officeDocument/2006/relationships/slide" Target="slides/slide36.xml" /><Relationship Id="rId2" Type="http://schemas.openxmlformats.org/officeDocument/2006/relationships/slide" Target="slides/slide33.xml" /><Relationship Id="rId1" Type="http://schemas.openxmlformats.org/officeDocument/2006/relationships/slide" Target="slides/slide2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1026"/>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35843" name="Rectangle 1027"/>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39940"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5" name="Rectangle 1029"/>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5846" name="Rectangle 1030"/>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35847" name="Rectangle 1031"/>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7108E0C4-7DBA-4704-8946-9947D52121AF}" type="slidenum">
              <a:rPr lang="en-US"/>
              <a:pPr>
                <a:defRPr/>
              </a:pPr>
              <a:t>‹#›</a:t>
            </a:fld>
            <a:endParaRPr lang="en-US"/>
          </a:p>
        </p:txBody>
      </p:sp>
    </p:spTree>
    <p:extLst>
      <p:ext uri="{BB962C8B-B14F-4D97-AF65-F5344CB8AC3E}">
        <p14:creationId xmlns:p14="http://schemas.microsoft.com/office/powerpoint/2010/main" val="2891821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3ECEBA0-F028-4EC7-B524-8788DD44F0AB}" type="slidenum">
              <a:rPr lang="en-US"/>
              <a:pPr eaLnBrk="1" hangingPunct="1"/>
              <a:t>1</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84EB83F-0819-4D8A-849B-EEE61C92BA6C}" type="slidenum">
              <a:rPr lang="en-US"/>
              <a:pPr eaLnBrk="1" hangingPunct="1"/>
              <a:t>2</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3E6755E-B3AF-4C3E-9CAC-052B71158082}" type="slidenum">
              <a:rPr lang="en-US"/>
              <a:pPr eaLnBrk="1" hangingPunct="1"/>
              <a:t>3</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956188F-B721-45E2-B2B3-B45CF51B002B}" type="slidenum">
              <a:rPr lang="en-US"/>
              <a:pPr eaLnBrk="1" hangingPunct="1"/>
              <a:t>4</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C1D986F-DC3D-4968-B6BE-0D79C23083DB}" type="slidenum">
              <a:rPr lang="en-US"/>
              <a:pPr eaLnBrk="1" hangingPunct="1"/>
              <a:t>5</a:t>
            </a:fld>
            <a:endParaRPr 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BAC0036-B433-4399-9BCA-35F0E49F1ECF}" type="slidenum">
              <a:rPr lang="en-US"/>
              <a:pPr eaLnBrk="1" hangingPunct="1"/>
              <a:t>6</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1F1DCDD-21EB-4DA1-A5DE-285034318DF7}" type="slidenum">
              <a:rPr lang="en-US"/>
              <a:pPr eaLnBrk="1" hangingPunct="1"/>
              <a:t>7</a:t>
            </a:fld>
            <a:endParaRPr 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4CC0F6B-5031-4A70-B7D3-C2018ACCC786}" type="slidenum">
              <a:rPr lang="en-US"/>
              <a:pPr eaLnBrk="1" hangingPunct="1"/>
              <a:t>8</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25AFE85-2D65-4FEA-80C3-0660723A9A4D}" type="slidenum">
              <a:rPr lang="en-US"/>
              <a:pPr eaLnBrk="1" hangingPunct="1"/>
              <a:t>9</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CBB7452-9FE5-426B-B5BE-5F39F49B7FE7}" type="slidenum">
              <a:rPr lang="en-US"/>
              <a:pPr eaLnBrk="1" hangingPunct="1"/>
              <a:t>10</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AD2EB0E-7217-4C7B-9129-714D638DC808}" type="slidenum">
              <a:rPr lang="en-US"/>
              <a:pPr eaLnBrk="1" hangingPunct="1"/>
              <a:t>11</a:t>
            </a:fld>
            <a:endParaRPr 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A60EFF5-F4A7-4E03-AF39-44FD0D55C4D4}" type="slidenum">
              <a:rPr lang="en-US"/>
              <a:pPr eaLnBrk="1" hangingPunct="1"/>
              <a:t>12</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6337B27-53FB-47AD-B87D-C36BCDA8DE93}" type="slidenum">
              <a:rPr lang="en-US"/>
              <a:pPr eaLnBrk="1" hangingPunct="1"/>
              <a:t>13</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362CA34-343D-434C-B082-AD340B4CE5DA}" type="slidenum">
              <a:rPr lang="en-US"/>
              <a:pPr eaLnBrk="1" hangingPunct="1"/>
              <a:t>14</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FB39332-4A37-4661-BBFF-6DB94C34C1C5}" type="slidenum">
              <a:rPr lang="en-US"/>
              <a:pPr eaLnBrk="1" hangingPunct="1"/>
              <a:t>15</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74F190F-90CB-4DE0-B98B-26EBD6369152}" type="slidenum">
              <a:rPr lang="en-US"/>
              <a:pPr eaLnBrk="1" hangingPunct="1"/>
              <a:t>16</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5F6DB54-95A5-4EB3-94D4-54DE834C77E2}" type="slidenum">
              <a:rPr lang="en-US"/>
              <a:pPr eaLnBrk="1" hangingPunct="1"/>
              <a:t>17</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B001025-B7B4-4F6A-9549-BCA0DD0EA4C4}" type="slidenum">
              <a:rPr lang="en-US"/>
              <a:pPr eaLnBrk="1" hangingPunct="1"/>
              <a:t>18</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DEBEF70-D58B-4670-A470-DAD0B1576FFB}" type="slidenum">
              <a:rPr lang="en-US"/>
              <a:pPr eaLnBrk="1" hangingPunct="1"/>
              <a:t>19</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3283118-29AF-4CE5-8559-4823E26DFC6A}" type="slidenum">
              <a:rPr lang="en-US"/>
              <a:pPr eaLnBrk="1" hangingPunct="1"/>
              <a:t>20</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E3E701B-859D-4C90-8255-DAB018D7537A}" type="slidenum">
              <a:rPr lang="en-US"/>
              <a:pPr eaLnBrk="1" hangingPunct="1"/>
              <a:t>21</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0AFB1A4-5A5A-46A8-AB65-4C5565C55AC1}" type="slidenum">
              <a:rPr lang="en-US"/>
              <a:pPr eaLnBrk="1" hangingPunct="1"/>
              <a:t>22</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8152306-4DB0-4811-9CEA-162FC1F83C52}" type="slidenum">
              <a:rPr lang="en-US"/>
              <a:pPr eaLnBrk="1" hangingPunct="1"/>
              <a:t>23</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3EA5335-6AA2-403F-BAF6-395544EF0697}" type="slidenum">
              <a:rPr lang="en-US"/>
              <a:pPr eaLnBrk="1" hangingPunct="1"/>
              <a:t>24</a:t>
            </a:fld>
            <a:endParaRPr lang="en-US"/>
          </a:p>
        </p:txBody>
      </p:sp>
      <p:sp>
        <p:nvSpPr>
          <p:cNvPr id="64515" name="Rectangle 2"/>
          <p:cNvSpPr>
            <a:spLocks noGrp="1" noRot="1" noChangeAspect="1" noChangeArrowheads="1" noTextEdit="1"/>
          </p:cNvSpPr>
          <p:nvPr>
            <p:ph type="sldImg"/>
          </p:nvPr>
        </p:nvSpPr>
        <p:spPr>
          <a:xfrm>
            <a:off x="1103313" y="676275"/>
            <a:ext cx="4603750" cy="3452813"/>
          </a:xfrm>
          <a:ln/>
        </p:spPr>
      </p:sp>
      <p:sp>
        <p:nvSpPr>
          <p:cNvPr id="64516" name="Rectangle 3"/>
          <p:cNvSpPr>
            <a:spLocks noGrp="1" noChangeArrowheads="1"/>
          </p:cNvSpPr>
          <p:nvPr>
            <p:ph type="body" idx="1"/>
          </p:nvPr>
        </p:nvSpPr>
        <p:spPr>
          <a:xfrm>
            <a:off x="898525" y="4354513"/>
            <a:ext cx="5011738" cy="4127500"/>
          </a:xfrm>
          <a:noFill/>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433001A-F3BA-4308-A61B-90791C776166}" type="slidenum">
              <a:rPr lang="en-US"/>
              <a:pPr eaLnBrk="1" hangingPunct="1"/>
              <a:t>25</a:t>
            </a:fld>
            <a:endParaRPr lang="en-US"/>
          </a:p>
        </p:txBody>
      </p:sp>
      <p:sp>
        <p:nvSpPr>
          <p:cNvPr id="65539" name="Rectangle 2"/>
          <p:cNvSpPr>
            <a:spLocks noGrp="1" noRot="1" noChangeAspect="1" noChangeArrowheads="1" noTextEdit="1"/>
          </p:cNvSpPr>
          <p:nvPr>
            <p:ph type="sldImg"/>
          </p:nvPr>
        </p:nvSpPr>
        <p:spPr>
          <a:xfrm>
            <a:off x="1103313" y="676275"/>
            <a:ext cx="4603750" cy="3452813"/>
          </a:xfrm>
          <a:ln/>
        </p:spPr>
      </p:sp>
      <p:sp>
        <p:nvSpPr>
          <p:cNvPr id="65540" name="Rectangle 3"/>
          <p:cNvSpPr>
            <a:spLocks noGrp="1" noChangeArrowheads="1"/>
          </p:cNvSpPr>
          <p:nvPr>
            <p:ph type="body" idx="1"/>
          </p:nvPr>
        </p:nvSpPr>
        <p:spPr>
          <a:xfrm>
            <a:off x="898525" y="4354513"/>
            <a:ext cx="5011738" cy="4127500"/>
          </a:xfrm>
          <a:noFill/>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91C90B9-8700-4829-BB52-245CCC2CCA92}" type="slidenum">
              <a:rPr lang="en-US"/>
              <a:pPr eaLnBrk="1" hangingPunct="1"/>
              <a:t>26</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17074A5-E73E-4FAC-82D4-F9063123E85F}" type="slidenum">
              <a:rPr lang="en-US"/>
              <a:pPr eaLnBrk="1" hangingPunct="1"/>
              <a:t>27</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2D0775E-F031-4653-81FF-68B867ADEDC2}" type="slidenum">
              <a:rPr lang="en-US"/>
              <a:pPr eaLnBrk="1" hangingPunct="1"/>
              <a:t>28</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BF81DB6-275D-473F-847D-F4DB7472F693}" type="slidenum">
              <a:rPr lang="en-US"/>
              <a:pPr eaLnBrk="1" hangingPunct="1"/>
              <a:t>29</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26C7A80-73C5-4B9F-87BF-4154E415D27F}" type="slidenum">
              <a:rPr lang="en-US"/>
              <a:pPr eaLnBrk="1" hangingPunct="1"/>
              <a:t>30</a:t>
            </a:fld>
            <a:endParaRPr 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393FA2B-B1D2-489E-A55A-FB3B29DF4C90}" type="slidenum">
              <a:rPr lang="en-US"/>
              <a:pPr eaLnBrk="1" hangingPunct="1"/>
              <a:t>31</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09EEA03-73D8-451B-9F69-B81CA6ABBC47}" type="slidenum">
              <a:rPr lang="en-US"/>
              <a:pPr eaLnBrk="1" hangingPunct="1"/>
              <a:t>32</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6EFC072-523A-41F7-AE72-F5B43E89E107}" type="slidenum">
              <a:rPr lang="en-US"/>
              <a:pPr eaLnBrk="1" hangingPunct="1"/>
              <a:t>33</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895E010-1FBB-47E6-8990-25858865704F}" type="slidenum">
              <a:rPr lang="en-US"/>
              <a:pPr eaLnBrk="1" hangingPunct="1"/>
              <a:t>34</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E5E270B-3F24-440C-9201-F582022DBB1F}" type="slidenum">
              <a:rPr lang="en-US"/>
              <a:pPr eaLnBrk="1" hangingPunct="1"/>
              <a:t>35</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FE18338-7BE3-482A-B56F-A1422F2C38FD}" type="slidenum">
              <a:rPr lang="en-US"/>
              <a:pPr eaLnBrk="1" hangingPunct="1"/>
              <a:t>36</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50AB086-F8B7-4B76-9E55-9901BC20DBD0}" type="slidenum">
              <a:rPr lang="en-US"/>
              <a:pPr eaLnBrk="1" hangingPunct="1"/>
              <a:t>37</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E6E79-404A-40D5-ACDB-7369862F9173}" type="slidenum">
              <a:rPr lang="en-US"/>
              <a:pPr>
                <a:defRPr/>
              </a:pPr>
              <a:t>‹#›</a:t>
            </a:fld>
            <a:endParaRPr lang="en-US"/>
          </a:p>
        </p:txBody>
      </p:sp>
    </p:spTree>
    <p:extLst>
      <p:ext uri="{BB962C8B-B14F-4D97-AF65-F5344CB8AC3E}">
        <p14:creationId xmlns:p14="http://schemas.microsoft.com/office/powerpoint/2010/main" val="2522113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B005496-6DA7-46ED-854E-C18890FE27E1}" type="slidenum">
              <a:rPr lang="en-US"/>
              <a:pPr>
                <a:defRPr/>
              </a:pPr>
              <a:t>‹#›</a:t>
            </a:fld>
            <a:endParaRPr lang="en-US"/>
          </a:p>
        </p:txBody>
      </p:sp>
    </p:spTree>
    <p:extLst>
      <p:ext uri="{BB962C8B-B14F-4D97-AF65-F5344CB8AC3E}">
        <p14:creationId xmlns:p14="http://schemas.microsoft.com/office/powerpoint/2010/main" val="14075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838F761-3E3D-4C10-AAB1-2CB8B0039C82}" type="slidenum">
              <a:rPr lang="en-US"/>
              <a:pPr>
                <a:defRPr/>
              </a:pPr>
              <a:t>‹#›</a:t>
            </a:fld>
            <a:endParaRPr lang="en-US"/>
          </a:p>
        </p:txBody>
      </p:sp>
    </p:spTree>
    <p:extLst>
      <p:ext uri="{BB962C8B-B14F-4D97-AF65-F5344CB8AC3E}">
        <p14:creationId xmlns:p14="http://schemas.microsoft.com/office/powerpoint/2010/main" val="763426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5AD374C-B042-4B6E-B028-FF4927A8DFA7}" type="slidenum">
              <a:rPr lang="en-US"/>
              <a:pPr>
                <a:defRPr/>
              </a:pPr>
              <a:t>‹#›</a:t>
            </a:fld>
            <a:endParaRPr lang="en-US"/>
          </a:p>
        </p:txBody>
      </p:sp>
    </p:spTree>
    <p:extLst>
      <p:ext uri="{BB962C8B-B14F-4D97-AF65-F5344CB8AC3E}">
        <p14:creationId xmlns:p14="http://schemas.microsoft.com/office/powerpoint/2010/main" val="256375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92F7085-2CDE-44D9-8FC6-2930B6AB8340}" type="slidenum">
              <a:rPr lang="en-US"/>
              <a:pPr>
                <a:defRPr/>
              </a:pPr>
              <a:t>‹#›</a:t>
            </a:fld>
            <a:endParaRPr lang="en-US"/>
          </a:p>
        </p:txBody>
      </p:sp>
    </p:spTree>
    <p:extLst>
      <p:ext uri="{BB962C8B-B14F-4D97-AF65-F5344CB8AC3E}">
        <p14:creationId xmlns:p14="http://schemas.microsoft.com/office/powerpoint/2010/main" val="17199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56CB442B-C30C-4F25-9C84-DBAA4E725E54}" type="slidenum">
              <a:rPr lang="en-US"/>
              <a:pPr>
                <a:defRPr/>
              </a:pPr>
              <a:t>‹#›</a:t>
            </a:fld>
            <a:endParaRPr lang="en-US"/>
          </a:p>
        </p:txBody>
      </p:sp>
    </p:spTree>
    <p:extLst>
      <p:ext uri="{BB962C8B-B14F-4D97-AF65-F5344CB8AC3E}">
        <p14:creationId xmlns:p14="http://schemas.microsoft.com/office/powerpoint/2010/main" val="3063652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7F3B323-C2A4-4C0B-B936-B9C061595DF7}" type="slidenum">
              <a:rPr lang="en-US"/>
              <a:pPr>
                <a:defRPr/>
              </a:pPr>
              <a:t>‹#›</a:t>
            </a:fld>
            <a:endParaRPr lang="en-US"/>
          </a:p>
        </p:txBody>
      </p:sp>
    </p:spTree>
    <p:extLst>
      <p:ext uri="{BB962C8B-B14F-4D97-AF65-F5344CB8AC3E}">
        <p14:creationId xmlns:p14="http://schemas.microsoft.com/office/powerpoint/2010/main" val="1883378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098D642-D00C-42D2-972E-C1481E47548B}" type="slidenum">
              <a:rPr lang="en-US"/>
              <a:pPr>
                <a:defRPr/>
              </a:pPr>
              <a:t>‹#›</a:t>
            </a:fld>
            <a:endParaRPr lang="en-US"/>
          </a:p>
        </p:txBody>
      </p:sp>
    </p:spTree>
    <p:extLst>
      <p:ext uri="{BB962C8B-B14F-4D97-AF65-F5344CB8AC3E}">
        <p14:creationId xmlns:p14="http://schemas.microsoft.com/office/powerpoint/2010/main" val="4100365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31852E2-5D73-49BB-9074-D03A8E3F6040}" type="slidenum">
              <a:rPr lang="en-US"/>
              <a:pPr>
                <a:defRPr/>
              </a:pPr>
              <a:t>‹#›</a:t>
            </a:fld>
            <a:endParaRPr lang="en-US"/>
          </a:p>
        </p:txBody>
      </p:sp>
    </p:spTree>
    <p:extLst>
      <p:ext uri="{BB962C8B-B14F-4D97-AF65-F5344CB8AC3E}">
        <p14:creationId xmlns:p14="http://schemas.microsoft.com/office/powerpoint/2010/main" val="3500624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C65946-78D4-49BA-9B81-DC30C5B222E5}" type="slidenum">
              <a:rPr lang="en-US"/>
              <a:pPr>
                <a:defRPr/>
              </a:pPr>
              <a:t>‹#›</a:t>
            </a:fld>
            <a:endParaRPr lang="en-US"/>
          </a:p>
        </p:txBody>
      </p:sp>
    </p:spTree>
    <p:extLst>
      <p:ext uri="{BB962C8B-B14F-4D97-AF65-F5344CB8AC3E}">
        <p14:creationId xmlns:p14="http://schemas.microsoft.com/office/powerpoint/2010/main" val="1011065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8DA6DC-ABB7-4303-A6C5-9A2B47C503DF}" type="slidenum">
              <a:rPr lang="en-US"/>
              <a:pPr>
                <a:defRPr/>
              </a:pPr>
              <a:t>‹#›</a:t>
            </a:fld>
            <a:endParaRPr lang="en-US"/>
          </a:p>
        </p:txBody>
      </p:sp>
    </p:spTree>
    <p:extLst>
      <p:ext uri="{BB962C8B-B14F-4D97-AF65-F5344CB8AC3E}">
        <p14:creationId xmlns:p14="http://schemas.microsoft.com/office/powerpoint/2010/main" val="570326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54F0E9C-500E-4965-83F0-9D0614212F10}" type="slidenum">
              <a:rPr lang="en-US"/>
              <a:pPr>
                <a:defRPr/>
              </a:pPr>
              <a:t>‹#›</a:t>
            </a:fld>
            <a:endParaRPr lang="en-US"/>
          </a:p>
        </p:txBody>
      </p:sp>
    </p:spTree>
    <p:extLst>
      <p:ext uri="{BB962C8B-B14F-4D97-AF65-F5344CB8AC3E}">
        <p14:creationId xmlns:p14="http://schemas.microsoft.com/office/powerpoint/2010/main" val="2775253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9BB5C2EA-3269-47EB-9F71-240D92A6D17A}" type="slidenum">
              <a:rPr lang="en-US"/>
              <a:pPr>
                <a:defRPr/>
              </a:pPr>
              <a:t>‹#›</a:t>
            </a:fld>
            <a:endParaRPr lang="en-US"/>
          </a:p>
        </p:txBody>
      </p:sp>
    </p:spTree>
    <p:extLst>
      <p:ext uri="{BB962C8B-B14F-4D97-AF65-F5344CB8AC3E}">
        <p14:creationId xmlns:p14="http://schemas.microsoft.com/office/powerpoint/2010/main" val="865493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382DF291-10FB-465F-A417-4C9A2F8EA96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6.xml" /><Relationship Id="rId1" Type="http://schemas.openxmlformats.org/officeDocument/2006/relationships/slideLayout" Target="../slideLayouts/slideLayout12.xml" /><Relationship Id="rId4" Type="http://schemas.openxmlformats.org/officeDocument/2006/relationships/image" Target="../media/image4.jpeg" /></Relationships>
</file>

<file path=ppt/slides/_rels/slide7.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notesSlide" Target="../notesSlides/notesSlide7.xml"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3" Type="http://schemas.openxmlformats.org/officeDocument/2006/relationships/image" Target="../media/image6.wmf" /><Relationship Id="rId2" Type="http://schemas.openxmlformats.org/officeDocument/2006/relationships/notesSlide" Target="../notesSlides/notesSlide8.xml" /><Relationship Id="rId1" Type="http://schemas.openxmlformats.org/officeDocument/2006/relationships/slideLayout" Target="../slideLayouts/slideLayout2.xml" /><Relationship Id="rId4" Type="http://schemas.openxmlformats.org/officeDocument/2006/relationships/image" Target="../media/image7.wmf" /></Relationships>
</file>

<file path=ppt/slides/_rels/slide9.xml.rels><?xml version="1.0" encoding="UTF-8" standalone="yes"?>
<Relationships xmlns="http://schemas.openxmlformats.org/package/2006/relationships"><Relationship Id="rId3" Type="http://schemas.openxmlformats.org/officeDocument/2006/relationships/image" Target="../media/image8.wmf" /><Relationship Id="rId2" Type="http://schemas.openxmlformats.org/officeDocument/2006/relationships/notesSlide" Target="../notesSlides/notesSlide9.xml" /><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3" Type="http://schemas.openxmlformats.org/officeDocument/2006/relationships/image" Target="../media/image9.wmf" /><Relationship Id="rId2" Type="http://schemas.openxmlformats.org/officeDocument/2006/relationships/notesSlide" Target="../notesSlides/notesSlide10.xml" /><Relationship Id="rId1" Type="http://schemas.openxmlformats.org/officeDocument/2006/relationships/slideLayout" Target="../slideLayouts/slideLayout2.xml" /><Relationship Id="rId4" Type="http://schemas.openxmlformats.org/officeDocument/2006/relationships/image" Target="../media/image10.wmf" /></Relationships>
</file>

<file path=ppt/slides/_rels/slide11.xml.rels><?xml version="1.0" encoding="UTF-8" standalone="yes"?>
<Relationships xmlns="http://schemas.openxmlformats.org/package/2006/relationships"><Relationship Id="rId3" Type="http://schemas.openxmlformats.org/officeDocument/2006/relationships/image" Target="../media/image11.wmf" /><Relationship Id="rId2" Type="http://schemas.openxmlformats.org/officeDocument/2006/relationships/notesSlide" Target="../notesSlides/notesSlide11.xml" /><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3" Type="http://schemas.openxmlformats.org/officeDocument/2006/relationships/image" Target="../media/image12.wmf" /><Relationship Id="rId2" Type="http://schemas.openxmlformats.org/officeDocument/2006/relationships/notesSlide" Target="../notesSlides/notesSlide12.xml" /><Relationship Id="rId1" Type="http://schemas.openxmlformats.org/officeDocument/2006/relationships/slideLayout" Target="../slideLayouts/slideLayout2.xml" /><Relationship Id="rId4" Type="http://schemas.openxmlformats.org/officeDocument/2006/relationships/image" Target="../media/image13.wmf" /></Relationships>
</file>

<file path=ppt/slides/_rels/slide13.xml.rels><?xml version="1.0" encoding="UTF-8" standalone="yes"?>
<Relationships xmlns="http://schemas.openxmlformats.org/package/2006/relationships"><Relationship Id="rId3" Type="http://schemas.openxmlformats.org/officeDocument/2006/relationships/image" Target="../media/image14.wmf" /><Relationship Id="rId2" Type="http://schemas.openxmlformats.org/officeDocument/2006/relationships/notesSlide" Target="../notesSlides/notesSlide13.xml" /><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3" Type="http://schemas.openxmlformats.org/officeDocument/2006/relationships/image" Target="../media/image15.wmf" /><Relationship Id="rId2" Type="http://schemas.openxmlformats.org/officeDocument/2006/relationships/notesSlide" Target="../notesSlides/notesSlide14.xml" /><Relationship Id="rId1" Type="http://schemas.openxmlformats.org/officeDocument/2006/relationships/slideLayout" Target="../slideLayouts/slideLayout2.xml" /><Relationship Id="rId4" Type="http://schemas.openxmlformats.org/officeDocument/2006/relationships/image" Target="../media/image16.jpeg" /></Relationships>
</file>

<file path=ppt/slides/_rels/slide15.xml.rels><?xml version="1.0" encoding="UTF-8" standalone="yes"?>
<Relationships xmlns="http://schemas.openxmlformats.org/package/2006/relationships"><Relationship Id="rId3" Type="http://schemas.openxmlformats.org/officeDocument/2006/relationships/image" Target="../media/image17.wmf" /><Relationship Id="rId2" Type="http://schemas.openxmlformats.org/officeDocument/2006/relationships/notesSlide" Target="../notesSlides/notesSlide15.xml" /><Relationship Id="rId1" Type="http://schemas.openxmlformats.org/officeDocument/2006/relationships/slideLayout" Target="../slideLayouts/slideLayout2.xml" /><Relationship Id="rId4" Type="http://schemas.openxmlformats.org/officeDocument/2006/relationships/image" Target="../media/image18.wmf" /></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 /><Relationship Id="rId2" Type="http://schemas.openxmlformats.org/officeDocument/2006/relationships/notesSlide" Target="../notesSlides/notesSlide16.xml" /><Relationship Id="rId1" Type="http://schemas.openxmlformats.org/officeDocument/2006/relationships/slideLayout" Target="../slideLayouts/slideLayout2.xml" /><Relationship Id="rId4" Type="http://schemas.openxmlformats.org/officeDocument/2006/relationships/image" Target="../media/image19.png"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8" Type="http://schemas.openxmlformats.org/officeDocument/2006/relationships/image" Target="../media/image22.png" /><Relationship Id="rId3" Type="http://schemas.openxmlformats.org/officeDocument/2006/relationships/oleObject" Target="../embeddings/oleObject2.bin" /><Relationship Id="rId7" Type="http://schemas.openxmlformats.org/officeDocument/2006/relationships/oleObject" Target="../embeddings/oleObject4.bin" /><Relationship Id="rId2" Type="http://schemas.openxmlformats.org/officeDocument/2006/relationships/notesSlide" Target="../notesSlides/notesSlide18.xml" /><Relationship Id="rId1" Type="http://schemas.openxmlformats.org/officeDocument/2006/relationships/slideLayout" Target="../slideLayouts/slideLayout13.xml" /><Relationship Id="rId6" Type="http://schemas.openxmlformats.org/officeDocument/2006/relationships/image" Target="../media/image21.png" /><Relationship Id="rId5" Type="http://schemas.openxmlformats.org/officeDocument/2006/relationships/oleObject" Target="../embeddings/oleObject3.bin" /><Relationship Id="rId4" Type="http://schemas.openxmlformats.org/officeDocument/2006/relationships/image" Target="../media/image20.png"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23.wmf" /><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24.wmf" /><Relationship Id="rId2" Type="http://schemas.openxmlformats.org/officeDocument/2006/relationships/notesSlide" Target="../notesSlides/notesSlide21.xml" /><Relationship Id="rId1" Type="http://schemas.openxmlformats.org/officeDocument/2006/relationships/slideLayout" Target="../slideLayouts/slideLayout2.xml" /><Relationship Id="rId4" Type="http://schemas.openxmlformats.org/officeDocument/2006/relationships/image" Target="../media/image25.wmf" /></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 /><Relationship Id="rId2" Type="http://schemas.openxmlformats.org/officeDocument/2006/relationships/notesSlide" Target="../notesSlides/notesSlide22.xml" /><Relationship Id="rId1" Type="http://schemas.openxmlformats.org/officeDocument/2006/relationships/slideLayout" Target="../slideLayouts/slideLayout2.xml" /><Relationship Id="rId5" Type="http://schemas.openxmlformats.org/officeDocument/2006/relationships/image" Target="../media/image27.jpeg" /><Relationship Id="rId4" Type="http://schemas.openxmlformats.org/officeDocument/2006/relationships/image" Target="../media/image26.emf"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28.wmf" /><Relationship Id="rId2" Type="http://schemas.openxmlformats.org/officeDocument/2006/relationships/notesSlide" Target="../notesSlides/notesSlide24.xml" /><Relationship Id="rId1" Type="http://schemas.openxmlformats.org/officeDocument/2006/relationships/slideLayout" Target="../slideLayouts/slideLayout6.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228600"/>
            <a:ext cx="7772400" cy="1470025"/>
          </a:xfrm>
        </p:spPr>
        <p:txBody>
          <a:bodyPr/>
          <a:lstStyle/>
          <a:p>
            <a:pPr eaLnBrk="1" hangingPunct="1"/>
            <a:r>
              <a:rPr lang="en-US">
                <a:latin typeface="Times New Roman" pitchFamily="18" charset="0"/>
              </a:rPr>
              <a:t>Introduction to Robotics</a:t>
            </a:r>
          </a:p>
        </p:txBody>
      </p:sp>
      <p:sp>
        <p:nvSpPr>
          <p:cNvPr id="2051" name="Rectangle 3"/>
          <p:cNvSpPr>
            <a:spLocks noGrp="1" noChangeArrowheads="1"/>
          </p:cNvSpPr>
          <p:nvPr>
            <p:ph type="subTitle" idx="1"/>
          </p:nvPr>
        </p:nvSpPr>
        <p:spPr>
          <a:xfrm>
            <a:off x="685800" y="1600200"/>
            <a:ext cx="6400800" cy="1752600"/>
          </a:xfrm>
        </p:spPr>
        <p:txBody>
          <a:bodyPr/>
          <a:lstStyle/>
          <a:p>
            <a:pPr eaLnBrk="1" hangingPunct="1"/>
            <a:r>
              <a:rPr lang="en-US"/>
              <a:t>A common view : Robots as Humanoids</a:t>
            </a:r>
          </a:p>
          <a:p>
            <a:pPr eaLnBrk="1" hangingPunct="1"/>
            <a:endParaRPr lang="en-US"/>
          </a:p>
        </p:txBody>
      </p:sp>
      <p:pic>
        <p:nvPicPr>
          <p:cNvPr id="2052" name="Picture 6" descr="r2d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25" y="2819400"/>
            <a:ext cx="1479550"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Text Box 7"/>
          <p:cNvSpPr txBox="1">
            <a:spLocks noChangeArrowheads="1"/>
          </p:cNvSpPr>
          <p:nvPr/>
        </p:nvSpPr>
        <p:spPr bwMode="auto">
          <a:xfrm>
            <a:off x="990600" y="5029200"/>
            <a:ext cx="6858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b="1"/>
              <a:t>We will be studying Industrial manipulator type Robots</a:t>
            </a:r>
            <a:r>
              <a:rPr lang="en-US"/>
              <a:t>.</a:t>
            </a:r>
          </a:p>
        </p:txBody>
      </p:sp>
      <p:pic>
        <p:nvPicPr>
          <p:cNvPr id="2054" name="Picture 8" descr="robots-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3124200"/>
            <a:ext cx="19050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a:latin typeface="Times New Roman" pitchFamily="18" charset="0"/>
              </a:rPr>
              <a:t>Agenda</a:t>
            </a:r>
          </a:p>
        </p:txBody>
      </p:sp>
      <p:sp>
        <p:nvSpPr>
          <p:cNvPr id="3075" name="Rectangle 3"/>
          <p:cNvSpPr>
            <a:spLocks noGrp="1" noChangeArrowheads="1"/>
          </p:cNvSpPr>
          <p:nvPr>
            <p:ph type="body" idx="1"/>
          </p:nvPr>
        </p:nvSpPr>
        <p:spPr/>
        <p:txBody>
          <a:bodyPr/>
          <a:lstStyle/>
          <a:p>
            <a:pPr eaLnBrk="1" hangingPunct="1"/>
            <a:r>
              <a:rPr lang="en-US"/>
              <a:t>Introduction to Robotics</a:t>
            </a:r>
          </a:p>
          <a:p>
            <a:pPr eaLnBrk="1" hangingPunct="1"/>
            <a:r>
              <a:rPr lang="en-US"/>
              <a:t>Classification of Robots</a:t>
            </a:r>
          </a:p>
          <a:p>
            <a:pPr eaLnBrk="1" hangingPunct="1"/>
            <a:r>
              <a:rPr lang="en-US"/>
              <a:t>Robot accessories</a:t>
            </a:r>
          </a:p>
          <a:p>
            <a:pPr eaLnBrk="1" hangingPunct="1"/>
            <a:r>
              <a:rPr lang="en-US"/>
              <a:t>Robot coordinates</a:t>
            </a:r>
          </a:p>
          <a:p>
            <a:pPr eaLnBrk="1" hangingPunct="1"/>
            <a:r>
              <a:rPr lang="en-US"/>
              <a:t>Work volumes and Reference Frames</a:t>
            </a:r>
          </a:p>
          <a:p>
            <a:pPr eaLnBrk="1" hangingPunct="1"/>
            <a:r>
              <a:rPr lang="en-US"/>
              <a:t>Robot Programming</a:t>
            </a:r>
          </a:p>
          <a:p>
            <a:pPr eaLnBrk="1" hangingPunct="1"/>
            <a:r>
              <a:rPr lang="en-US"/>
              <a:t>Robot Applications in Lean Mfg.</a:t>
            </a:r>
          </a:p>
          <a:p>
            <a:pPr eaLnBrk="1" hangingPunct="1"/>
            <a:endParaRPr lang="en-US"/>
          </a:p>
          <a:p>
            <a:pPr eaLnBrk="1" hangingPunct="1"/>
            <a:endParaRPr lang="en-US"/>
          </a:p>
          <a:p>
            <a:pPr eaLnBrk="1" hangingPunct="1"/>
            <a:endParaRPr lang="en-US"/>
          </a:p>
          <a:p>
            <a:pPr eaLnBrk="1" hangingPunct="1"/>
            <a:endParaRPr lang="en-US"/>
          </a:p>
          <a:p>
            <a:pPr eaLnBrk="1" hangingPunct="1"/>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atin typeface="Times New Roman" pitchFamily="18" charset="0"/>
              </a:rPr>
              <a:t>Robotics Timeline</a:t>
            </a:r>
          </a:p>
        </p:txBody>
      </p:sp>
      <p:sp>
        <p:nvSpPr>
          <p:cNvPr id="4099" name="Rectangle 3"/>
          <p:cNvSpPr>
            <a:spLocks noGrp="1" noChangeArrowheads="1"/>
          </p:cNvSpPr>
          <p:nvPr>
            <p:ph type="body" idx="1"/>
          </p:nvPr>
        </p:nvSpPr>
        <p:spPr>
          <a:xfrm>
            <a:off x="533400" y="1219200"/>
            <a:ext cx="8153400" cy="4800600"/>
          </a:xfrm>
        </p:spPr>
        <p:txBody>
          <a:bodyPr/>
          <a:lstStyle/>
          <a:p>
            <a:pPr eaLnBrk="1" hangingPunct="1"/>
            <a:r>
              <a:rPr lang="en-US" sz="2400" b="1"/>
              <a:t>1922 Czech author Karel Capek wrote a story called Rossum’s Universal Robots and introduced the word “Rabota”(meaning worker)</a:t>
            </a:r>
          </a:p>
          <a:p>
            <a:pPr eaLnBrk="1" hangingPunct="1"/>
            <a:r>
              <a:rPr lang="en-US" sz="2400" b="1"/>
              <a:t>1954 George Devol developed the first programmable Robot.</a:t>
            </a:r>
          </a:p>
          <a:p>
            <a:pPr eaLnBrk="1" hangingPunct="1"/>
            <a:r>
              <a:rPr lang="en-US" sz="2400" b="1"/>
              <a:t>1955 Denavit and Hartenberg developed the homogenous transformation matrices</a:t>
            </a:r>
          </a:p>
          <a:p>
            <a:pPr eaLnBrk="1" hangingPunct="1"/>
            <a:r>
              <a:rPr lang="en-US" sz="2400" b="1"/>
              <a:t>1962 Unimation was formed, first industrial Robots appeared.</a:t>
            </a:r>
          </a:p>
          <a:p>
            <a:pPr eaLnBrk="1" hangingPunct="1"/>
            <a:r>
              <a:rPr lang="en-US" sz="2400" b="1"/>
              <a:t>1973 Cincinnati Milacron introduced the T3 model robot, which became very popular in industry.</a:t>
            </a:r>
          </a:p>
          <a:p>
            <a:pPr eaLnBrk="1" hangingPunct="1"/>
            <a:r>
              <a:rPr lang="en-US" sz="2400" b="1"/>
              <a:t>1990 Cincinnati Milacron was acquired by ABB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atin typeface="Times New Roman" pitchFamily="18" charset="0"/>
              </a:rPr>
              <a:t>Robot Classification</a:t>
            </a:r>
          </a:p>
        </p:txBody>
      </p:sp>
      <p:sp>
        <p:nvSpPr>
          <p:cNvPr id="5123" name="Rectangle 3"/>
          <p:cNvSpPr>
            <a:spLocks noGrp="1" noChangeArrowheads="1"/>
          </p:cNvSpPr>
          <p:nvPr>
            <p:ph type="body" idx="1"/>
          </p:nvPr>
        </p:nvSpPr>
        <p:spPr>
          <a:xfrm>
            <a:off x="304800" y="1219200"/>
            <a:ext cx="8610600" cy="5257800"/>
          </a:xfrm>
        </p:spPr>
        <p:txBody>
          <a:bodyPr/>
          <a:lstStyle/>
          <a:p>
            <a:pPr eaLnBrk="1" hangingPunct="1">
              <a:buFontTx/>
              <a:buNone/>
            </a:pPr>
            <a:r>
              <a:rPr lang="en-US" sz="2400"/>
              <a:t>The following is the classification of Robots according to the Robotics Institute of America</a:t>
            </a:r>
          </a:p>
          <a:p>
            <a:pPr eaLnBrk="1" hangingPunct="1"/>
            <a:r>
              <a:rPr lang="en-US" sz="2400"/>
              <a:t>Variable-Sequence Robot : A device that performs the successive stages of a task according to a predetermined method easy to modify</a:t>
            </a:r>
          </a:p>
          <a:p>
            <a:pPr eaLnBrk="1" hangingPunct="1"/>
            <a:r>
              <a:rPr lang="en-US" sz="2400"/>
              <a:t>Playback Robot :A human operator performs the task manually by leading the Robot</a:t>
            </a:r>
          </a:p>
          <a:p>
            <a:pPr eaLnBrk="1" hangingPunct="1"/>
            <a:r>
              <a:rPr lang="en-US" sz="2400"/>
              <a:t>Numerical Control Robot : The operator supplies the movement program rather than teaching it the task manually.</a:t>
            </a:r>
          </a:p>
          <a:p>
            <a:pPr eaLnBrk="1" hangingPunct="1"/>
            <a:r>
              <a:rPr lang="en-US" sz="2400"/>
              <a:t>Intelligent Robot : A robot with the means to understand its environment and the ability to successfully complete a task despite changes to the environment.</a:t>
            </a:r>
          </a:p>
          <a:p>
            <a:pPr eaLnBrk="1" hangingPunct="1">
              <a:buFontTx/>
              <a:buNone/>
            </a:pPr>
            <a:endParaRPr lang="en-US" sz="2400"/>
          </a:p>
          <a:p>
            <a:pPr eaLnBrk="1" hangingPunct="1"/>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p:spPr>
        <p:txBody>
          <a:bodyPr lIns="92075" tIns="46038" rIns="92075" bIns="46038"/>
          <a:lstStyle/>
          <a:p>
            <a:pPr eaLnBrk="1" hangingPunct="1"/>
            <a:r>
              <a:rPr lang="en-US"/>
              <a:t>ROBOT</a:t>
            </a:r>
          </a:p>
        </p:txBody>
      </p:sp>
      <p:sp>
        <p:nvSpPr>
          <p:cNvPr id="6147" name="Rectangle 3"/>
          <p:cNvSpPr>
            <a:spLocks noGrp="1" noChangeArrowheads="1"/>
          </p:cNvSpPr>
          <p:nvPr>
            <p:ph type="body" idx="1"/>
          </p:nvPr>
        </p:nvSpPr>
        <p:spPr>
          <a:xfrm>
            <a:off x="712788" y="1417638"/>
            <a:ext cx="7772400" cy="4114800"/>
          </a:xfrm>
          <a:noFill/>
        </p:spPr>
        <p:txBody>
          <a:bodyPr lIns="92075" tIns="46038" rIns="92075" bIns="46038"/>
          <a:lstStyle/>
          <a:p>
            <a:pPr eaLnBrk="1" hangingPunct="1">
              <a:lnSpc>
                <a:spcPct val="90000"/>
              </a:lnSpc>
            </a:pPr>
            <a:r>
              <a:rPr lang="en-US" sz="2800"/>
              <a:t>Defined by Robotics Industry Association (RIA) as</a:t>
            </a:r>
          </a:p>
          <a:p>
            <a:pPr lvl="1" eaLnBrk="1" hangingPunct="1">
              <a:lnSpc>
                <a:spcPct val="90000"/>
              </a:lnSpc>
            </a:pPr>
            <a:r>
              <a:rPr lang="en-US" sz="2400"/>
              <a:t>a re-programmable, multifunctional manipulator designed to move material, parts, tools or specialized devices through variable programmed motion for a variety of tasks</a:t>
            </a:r>
          </a:p>
          <a:p>
            <a:pPr eaLnBrk="1" hangingPunct="1">
              <a:lnSpc>
                <a:spcPct val="90000"/>
              </a:lnSpc>
            </a:pPr>
            <a:r>
              <a:rPr lang="en-US" sz="2800"/>
              <a:t>possess certain anthropomorphic characteristics</a:t>
            </a:r>
          </a:p>
          <a:p>
            <a:pPr lvl="1" eaLnBrk="1" hangingPunct="1">
              <a:lnSpc>
                <a:spcPct val="90000"/>
              </a:lnSpc>
            </a:pPr>
            <a:r>
              <a:rPr lang="en-US" sz="2400"/>
              <a:t>mechanical arm</a:t>
            </a:r>
          </a:p>
          <a:p>
            <a:pPr lvl="1" eaLnBrk="1" hangingPunct="1">
              <a:lnSpc>
                <a:spcPct val="70000"/>
              </a:lnSpc>
            </a:pPr>
            <a:r>
              <a:rPr lang="en-US" sz="2400"/>
              <a:t>sensors to respond to input</a:t>
            </a:r>
          </a:p>
          <a:p>
            <a:pPr lvl="1" eaLnBrk="1" hangingPunct="1">
              <a:lnSpc>
                <a:spcPct val="80000"/>
              </a:lnSpc>
            </a:pPr>
            <a:r>
              <a:rPr lang="en-US" sz="2400"/>
              <a:t>Intelligence to make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atin typeface="Times New Roman" pitchFamily="18" charset="0"/>
              </a:rPr>
              <a:t>Robot Accessories</a:t>
            </a:r>
          </a:p>
        </p:txBody>
      </p:sp>
      <p:sp>
        <p:nvSpPr>
          <p:cNvPr id="7171" name="Rectangle 3"/>
          <p:cNvSpPr>
            <a:spLocks noGrp="1" noChangeArrowheads="1"/>
          </p:cNvSpPr>
          <p:nvPr>
            <p:ph type="body" sz="half" idx="1"/>
          </p:nvPr>
        </p:nvSpPr>
        <p:spPr>
          <a:xfrm>
            <a:off x="457200" y="1600200"/>
            <a:ext cx="6477000" cy="4525963"/>
          </a:xfrm>
        </p:spPr>
        <p:txBody>
          <a:bodyPr/>
          <a:lstStyle/>
          <a:p>
            <a:pPr eaLnBrk="1" hangingPunct="1">
              <a:buFontTx/>
              <a:buNone/>
            </a:pPr>
            <a:r>
              <a:rPr lang="en-US" sz="1600" b="1"/>
              <a:t>A Robot is a system, consists of the following elements, which are integrated to form a whole:</a:t>
            </a:r>
          </a:p>
          <a:p>
            <a:pPr eaLnBrk="1" hangingPunct="1"/>
            <a:r>
              <a:rPr lang="en-US" sz="1600" b="1"/>
              <a:t>Manipulator / Rover : This is the main body of the Robot and consists of links, joints and structural elements of the Robot.</a:t>
            </a:r>
          </a:p>
          <a:p>
            <a:pPr eaLnBrk="1" hangingPunct="1"/>
            <a:endParaRPr lang="en-US" sz="1600" b="1"/>
          </a:p>
          <a:p>
            <a:pPr eaLnBrk="1" hangingPunct="1"/>
            <a:endParaRPr lang="en-US" sz="1600" b="1"/>
          </a:p>
          <a:p>
            <a:pPr eaLnBrk="1" hangingPunct="1"/>
            <a:endParaRPr lang="en-US" sz="1600" b="1"/>
          </a:p>
          <a:p>
            <a:pPr eaLnBrk="1" hangingPunct="1"/>
            <a:endParaRPr lang="en-US" sz="1600" b="1"/>
          </a:p>
          <a:p>
            <a:pPr eaLnBrk="1" hangingPunct="1"/>
            <a:r>
              <a:rPr lang="en-US" sz="1600" b="1"/>
              <a:t>End Effector : This is the part that generally handles objects, makes connection to other machines, or performs the required tasks. </a:t>
            </a:r>
          </a:p>
          <a:p>
            <a:pPr eaLnBrk="1" hangingPunct="1">
              <a:buFontTx/>
              <a:buNone/>
            </a:pPr>
            <a:r>
              <a:rPr lang="en-US" sz="1600" b="1"/>
              <a:t>It can vary in size and complexity from a endeffector on the space shuttle to a small gripper </a:t>
            </a:r>
          </a:p>
          <a:p>
            <a:pPr eaLnBrk="1" hangingPunct="1">
              <a:buFontTx/>
              <a:buNone/>
            </a:pPr>
            <a:endParaRPr lang="en-US" sz="1600" b="1"/>
          </a:p>
          <a:p>
            <a:pPr eaLnBrk="1" hangingPunct="1"/>
            <a:endParaRPr lang="en-US" sz="1600" b="1"/>
          </a:p>
          <a:p>
            <a:pPr eaLnBrk="1" hangingPunct="1"/>
            <a:endParaRPr lang="en-US" sz="1600" b="1"/>
          </a:p>
          <a:p>
            <a:pPr eaLnBrk="1" hangingPunct="1"/>
            <a:endParaRPr lang="en-US" sz="1600" b="1"/>
          </a:p>
          <a:p>
            <a:pPr eaLnBrk="1" hangingPunct="1"/>
            <a:endParaRPr lang="en-US" sz="1600" b="1"/>
          </a:p>
        </p:txBody>
      </p:sp>
      <p:pic>
        <p:nvPicPr>
          <p:cNvPr id="7172" name="Picture 4" descr="IRB140_multiple_arm"/>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7239000" y="2133600"/>
            <a:ext cx="1428750" cy="1543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73" name="Picture 6" descr="release31"/>
          <p:cNvPicPr>
            <a:picLocks noGrp="1" noChangeAspect="1" noChangeArrowheads="1"/>
          </p:cNvPicPr>
          <p:nvPr>
            <p:ph sz="quarter" idx="3"/>
          </p:nvPr>
        </p:nvPicPr>
        <p:blipFill>
          <a:blip r:embed="rId4" cstate="print">
            <a:extLst>
              <a:ext uri="{28A0092B-C50C-407E-A947-70E740481C1C}">
                <a14:useLocalDpi xmlns:a14="http://schemas.microsoft.com/office/drawing/2010/main" val="0"/>
              </a:ext>
            </a:extLst>
          </a:blip>
          <a:srcRect/>
          <a:stretch>
            <a:fillRect/>
          </a:stretch>
        </p:blipFill>
        <p:spPr>
          <a:xfrm>
            <a:off x="6629400" y="4267200"/>
            <a:ext cx="1876425" cy="14081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z="3200"/>
              <a:t>Accessories</a:t>
            </a:r>
          </a:p>
        </p:txBody>
      </p:sp>
      <p:sp>
        <p:nvSpPr>
          <p:cNvPr id="8195" name="Rectangle 7"/>
          <p:cNvSpPr>
            <a:spLocks noGrp="1" noChangeArrowheads="1"/>
          </p:cNvSpPr>
          <p:nvPr>
            <p:ph sz="half" idx="1"/>
          </p:nvPr>
        </p:nvSpPr>
        <p:spPr>
          <a:xfrm>
            <a:off x="457200" y="1600200"/>
            <a:ext cx="7391400" cy="4525963"/>
          </a:xfrm>
        </p:spPr>
        <p:txBody>
          <a:bodyPr/>
          <a:lstStyle/>
          <a:p>
            <a:pPr eaLnBrk="1" hangingPunct="1"/>
            <a:r>
              <a:rPr lang="en-US" sz="2000" b="1"/>
              <a:t>Acutators : Actuators are the muscles of the manipulators. Common types of actuators are servomotors, stepper motors, pneumatic cylinders etc.</a:t>
            </a:r>
          </a:p>
          <a:p>
            <a:pPr eaLnBrk="1" hangingPunct="1"/>
            <a:endParaRPr lang="en-US" sz="2000" b="1"/>
          </a:p>
          <a:p>
            <a:pPr eaLnBrk="1" hangingPunct="1"/>
            <a:r>
              <a:rPr lang="en-US" sz="2000" b="1"/>
              <a:t>Sensors : Sensors are used to collect information about the internal state of the robot or to communicate with the outside environment. Robots are often equipped with external sensory devices such as a vision system, touch and tactile sensors etc which help to communicate with the environment</a:t>
            </a:r>
          </a:p>
          <a:p>
            <a:pPr eaLnBrk="1" hangingPunct="1"/>
            <a:endParaRPr lang="en-US" sz="2000" b="1"/>
          </a:p>
          <a:p>
            <a:pPr eaLnBrk="1" hangingPunct="1"/>
            <a:r>
              <a:rPr lang="en-US" sz="2000" b="1"/>
              <a:t>Controller : The controller receives data from the computer, controls the motions of the actuator and coordinates these motions with the sensory feedback information</a:t>
            </a:r>
            <a:r>
              <a:rPr lang="en-US" sz="1400" b="1"/>
              <a:t>.</a:t>
            </a:r>
          </a:p>
          <a:p>
            <a:pPr eaLnBrk="1" hangingPunct="1"/>
            <a:endParaRPr lang="en-US" sz="1400" b="1"/>
          </a:p>
          <a:p>
            <a:pPr eaLnBrk="1" hangingPunct="1"/>
            <a:endParaRPr lang="en-US" sz="1400" b="1"/>
          </a:p>
          <a:p>
            <a:pPr eaLnBrk="1" hangingPunct="1"/>
            <a:endParaRPr lang="en-US" sz="1400" b="1"/>
          </a:p>
          <a:p>
            <a:pPr eaLnBrk="1" hangingPunct="1">
              <a:buFontTx/>
              <a:buNone/>
            </a:pPr>
            <a:endParaRPr lang="en-US" sz="1400" b="1"/>
          </a:p>
        </p:txBody>
      </p:sp>
      <p:pic>
        <p:nvPicPr>
          <p:cNvPr id="8196" name="Picture 8" descr="S4Cplus+200px"/>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705600" y="381000"/>
            <a:ext cx="1524000" cy="16779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t>Robot Configurations</a:t>
            </a:r>
          </a:p>
        </p:txBody>
      </p:sp>
      <p:sp>
        <p:nvSpPr>
          <p:cNvPr id="9219" name="Rectangle 3"/>
          <p:cNvSpPr>
            <a:spLocks noGrp="1" noChangeArrowheads="1"/>
          </p:cNvSpPr>
          <p:nvPr>
            <p:ph type="body" idx="1"/>
          </p:nvPr>
        </p:nvSpPr>
        <p:spPr>
          <a:xfrm>
            <a:off x="457200" y="1295400"/>
            <a:ext cx="8229600" cy="4525963"/>
          </a:xfrm>
        </p:spPr>
        <p:txBody>
          <a:bodyPr/>
          <a:lstStyle/>
          <a:p>
            <a:pPr eaLnBrk="1" hangingPunct="1">
              <a:buFontTx/>
              <a:buNone/>
            </a:pPr>
            <a:r>
              <a:rPr lang="en-US" sz="2000" b="1"/>
              <a:t>Some of the commonly used configurations in Robotics are</a:t>
            </a:r>
          </a:p>
          <a:p>
            <a:pPr eaLnBrk="1" hangingPunct="1">
              <a:buFontTx/>
              <a:buNone/>
            </a:pPr>
            <a:endParaRPr lang="en-US" sz="2000" b="1"/>
          </a:p>
          <a:p>
            <a:pPr eaLnBrk="1" hangingPunct="1"/>
            <a:r>
              <a:rPr lang="en-US" sz="2000" b="1"/>
              <a:t>Cartesian/Rectangular Gantry(3P) : </a:t>
            </a:r>
            <a:r>
              <a:rPr lang="en-US" sz="2000"/>
              <a:t>These Robots are made of 3 Linear joints that orient the end effector, which are usually followed by additional revolute joints.</a:t>
            </a:r>
          </a:p>
          <a:p>
            <a:pPr eaLnBrk="1" hangingPunct="1"/>
            <a:endParaRPr lang="en-US" sz="2000" b="1"/>
          </a:p>
        </p:txBody>
      </p:sp>
      <p:pic>
        <p:nvPicPr>
          <p:cNvPr id="922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429000"/>
            <a:ext cx="2441575" cy="306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8163" y="2894013"/>
            <a:ext cx="4368800" cy="352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p:spPr>
        <p:txBody>
          <a:bodyPr lIns="92075" tIns="46038" rIns="92075" bIns="46038"/>
          <a:lstStyle/>
          <a:p>
            <a:pPr eaLnBrk="1" hangingPunct="1"/>
            <a:r>
              <a:rPr lang="en-US"/>
              <a:t>Cartesian Robot - Work Envelope</a:t>
            </a:r>
          </a:p>
        </p:txBody>
      </p:sp>
      <p:pic>
        <p:nvPicPr>
          <p:cNvPr id="10243"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 y="2265363"/>
            <a:ext cx="8870950" cy="421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t>Robot Configurations (cont’d)</a:t>
            </a:r>
          </a:p>
        </p:txBody>
      </p:sp>
      <p:sp>
        <p:nvSpPr>
          <p:cNvPr id="11267" name="Rectangle 3"/>
          <p:cNvSpPr>
            <a:spLocks noGrp="1" noChangeArrowheads="1"/>
          </p:cNvSpPr>
          <p:nvPr>
            <p:ph type="body" idx="1"/>
          </p:nvPr>
        </p:nvSpPr>
        <p:spPr/>
        <p:txBody>
          <a:bodyPr/>
          <a:lstStyle/>
          <a:p>
            <a:pPr eaLnBrk="1" hangingPunct="1"/>
            <a:r>
              <a:rPr lang="en-US" sz="2000" b="1"/>
              <a:t>Cylindrical (R2P): </a:t>
            </a:r>
            <a:r>
              <a:rPr lang="en-US" sz="2000"/>
              <a:t>Cylindrical coordinate Robots have 2 prismatic joints and one revolute joint.</a:t>
            </a:r>
          </a:p>
          <a:p>
            <a:pPr eaLnBrk="1" hangingPunct="1"/>
            <a:endParaRPr lang="en-US"/>
          </a:p>
        </p:txBody>
      </p:sp>
      <p:pic>
        <p:nvPicPr>
          <p:cNvPr id="11268"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514600"/>
            <a:ext cx="2800350" cy="390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514600"/>
            <a:ext cx="4667250" cy="373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a:noFill/>
        </p:spPr>
        <p:txBody>
          <a:bodyPr lIns="92075" tIns="46038" rIns="92075" bIns="46038"/>
          <a:lstStyle/>
          <a:p>
            <a:pPr eaLnBrk="1" hangingPunct="1"/>
            <a:r>
              <a:rPr lang="en-US"/>
              <a:t>Cylindrical Robot - Work Envelope</a:t>
            </a:r>
          </a:p>
        </p:txBody>
      </p:sp>
      <p:pic>
        <p:nvPicPr>
          <p:cNvPr id="12291" name="Picture 102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263" y="2635250"/>
            <a:ext cx="8499475"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Robot Configurations (cont’d)</a:t>
            </a:r>
          </a:p>
        </p:txBody>
      </p:sp>
      <p:sp>
        <p:nvSpPr>
          <p:cNvPr id="13315" name="Rectangle 3"/>
          <p:cNvSpPr>
            <a:spLocks noGrp="1" noChangeArrowheads="1"/>
          </p:cNvSpPr>
          <p:nvPr>
            <p:ph type="body" idx="1"/>
          </p:nvPr>
        </p:nvSpPr>
        <p:spPr/>
        <p:txBody>
          <a:bodyPr/>
          <a:lstStyle/>
          <a:p>
            <a:pPr eaLnBrk="1" hangingPunct="1"/>
            <a:r>
              <a:rPr lang="en-US" sz="2000" b="1"/>
              <a:t>Spherical joint (2RP): </a:t>
            </a:r>
            <a:r>
              <a:rPr lang="en-US" sz="2000"/>
              <a:t>They follow a spherical coordinate system, which has one </a:t>
            </a:r>
          </a:p>
          <a:p>
            <a:pPr eaLnBrk="1" hangingPunct="1">
              <a:buFontTx/>
              <a:buNone/>
            </a:pPr>
            <a:r>
              <a:rPr lang="en-US" sz="2000" b="1"/>
              <a:t> </a:t>
            </a:r>
          </a:p>
          <a:p>
            <a:pPr eaLnBrk="1" hangingPunct="1"/>
            <a:endParaRPr lang="en-US"/>
          </a:p>
        </p:txBody>
      </p:sp>
      <p:pic>
        <p:nvPicPr>
          <p:cNvPr id="13316"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13" y="2908300"/>
            <a:ext cx="3668712" cy="2617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7" name="Picture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8050" y="2719388"/>
            <a:ext cx="3948113"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a:noFill/>
        </p:spPr>
        <p:txBody>
          <a:bodyPr lIns="92075" tIns="46038" rIns="92075" bIns="46038"/>
          <a:lstStyle/>
          <a:p>
            <a:pPr eaLnBrk="1" hangingPunct="1"/>
            <a:r>
              <a:rPr lang="en-US"/>
              <a:t>Spherical Robot - Work Envelope</a:t>
            </a:r>
          </a:p>
        </p:txBody>
      </p:sp>
      <p:pic>
        <p:nvPicPr>
          <p:cNvPr id="14339" name="Picture 102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3" y="2257425"/>
            <a:ext cx="7712075" cy="420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Robot Configurations (cont’d)</a:t>
            </a:r>
          </a:p>
        </p:txBody>
      </p:sp>
      <p:sp>
        <p:nvSpPr>
          <p:cNvPr id="15363" name="Rectangle 3"/>
          <p:cNvSpPr>
            <a:spLocks noGrp="1" noChangeArrowheads="1"/>
          </p:cNvSpPr>
          <p:nvPr>
            <p:ph type="body" idx="1"/>
          </p:nvPr>
        </p:nvSpPr>
        <p:spPr/>
        <p:txBody>
          <a:bodyPr/>
          <a:lstStyle/>
          <a:p>
            <a:pPr eaLnBrk="1" hangingPunct="1"/>
            <a:r>
              <a:rPr lang="en-US" sz="2000" b="1"/>
              <a:t>Articulated/anthropomorphic(3R) :</a:t>
            </a:r>
            <a:r>
              <a:rPr lang="en-US" sz="2000"/>
              <a:t>An articulated robot’s joints are all revolute, similar to a human’s arm. </a:t>
            </a:r>
          </a:p>
          <a:p>
            <a:pPr eaLnBrk="1" hangingPunct="1">
              <a:buFontTx/>
              <a:buNone/>
            </a:pPr>
            <a:r>
              <a:rPr lang="en-US" sz="2000" b="1"/>
              <a:t> </a:t>
            </a:r>
          </a:p>
          <a:p>
            <a:pPr eaLnBrk="1" hangingPunct="1"/>
            <a:endParaRPr lang="en-US"/>
          </a:p>
        </p:txBody>
      </p:sp>
      <p:pic>
        <p:nvPicPr>
          <p:cNvPr id="15364"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25" y="3429000"/>
            <a:ext cx="34321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7" descr="irb24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048000"/>
            <a:ext cx="5029200" cy="273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Robot Configurations (cont’d)</a:t>
            </a:r>
          </a:p>
        </p:txBody>
      </p:sp>
      <p:sp>
        <p:nvSpPr>
          <p:cNvPr id="16387" name="Rectangle 3"/>
          <p:cNvSpPr>
            <a:spLocks noGrp="1" noChangeArrowheads="1"/>
          </p:cNvSpPr>
          <p:nvPr>
            <p:ph type="body" idx="1"/>
          </p:nvPr>
        </p:nvSpPr>
        <p:spPr/>
        <p:txBody>
          <a:bodyPr/>
          <a:lstStyle/>
          <a:p>
            <a:pPr eaLnBrk="1" hangingPunct="1"/>
            <a:r>
              <a:rPr lang="en-US" sz="2000" b="1"/>
              <a:t>Selective Compliance Assembly Robot Arm (SCARA) (2R1P): </a:t>
            </a:r>
            <a:r>
              <a:rPr lang="en-US" sz="2000"/>
              <a:t>They have two revolute joints that are parallel and allow the Robot to move in a horizontal plane, plus an additional prismatic joint that moves vertically</a:t>
            </a:r>
          </a:p>
          <a:p>
            <a:pPr eaLnBrk="1" hangingPunct="1">
              <a:buFontTx/>
              <a:buNone/>
            </a:pPr>
            <a:r>
              <a:rPr lang="en-US" sz="2000" b="1"/>
              <a:t> </a:t>
            </a:r>
          </a:p>
          <a:p>
            <a:pPr eaLnBrk="1" hangingPunct="1"/>
            <a:endParaRPr lang="en-US"/>
          </a:p>
        </p:txBody>
      </p:sp>
      <p:pic>
        <p:nvPicPr>
          <p:cNvPr id="16388"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048000"/>
            <a:ext cx="3636963" cy="325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9" name="Picture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971800"/>
            <a:ext cx="2312988" cy="360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Robot Configurations</a:t>
            </a:r>
          </a:p>
        </p:txBody>
      </p:sp>
      <p:graphicFrame>
        <p:nvGraphicFramePr>
          <p:cNvPr id="17411" name="Object 6"/>
          <p:cNvGraphicFramePr>
            <a:graphicFrameLocks noGrp="1" noChangeAspect="1"/>
          </p:cNvGraphicFramePr>
          <p:nvPr>
            <p:ph idx="1"/>
          </p:nvPr>
        </p:nvGraphicFramePr>
        <p:xfrm>
          <a:off x="1549400" y="1600200"/>
          <a:ext cx="6045200" cy="4525963"/>
        </p:xfrm>
        <a:graphic>
          <a:graphicData uri="http://schemas.openxmlformats.org/presentationml/2006/ole">
            <mc:AlternateContent xmlns:mc="http://schemas.openxmlformats.org/markup-compatibility/2006">
              <mc:Choice xmlns:v="urn:schemas-microsoft-com:vml" Requires="v">
                <p:oleObj name="Bitmap Image" r:id="rId3" imgW="7647619" imgH="5723810" progId="Paint.Picture">
                  <p:embed/>
                </p:oleObj>
              </mc:Choice>
              <mc:Fallback>
                <p:oleObj name="Bitmap Image" r:id="rId3" imgW="7647619" imgH="5723810" progId="Paint.Picture">
                  <p:embed/>
                  <p:pic>
                    <p:nvPicPr>
                      <p:cNvPr id="17411"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9400" y="1600200"/>
                        <a:ext cx="6045200"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atin typeface="Times New Roman" pitchFamily="18" charset="0"/>
              </a:rPr>
              <a:t>Reference Frames</a:t>
            </a:r>
          </a:p>
        </p:txBody>
      </p:sp>
      <p:sp>
        <p:nvSpPr>
          <p:cNvPr id="18435" name="Rectangle 3"/>
          <p:cNvSpPr>
            <a:spLocks noGrp="1" noChangeArrowheads="1"/>
          </p:cNvSpPr>
          <p:nvPr>
            <p:ph type="body" idx="1"/>
          </p:nvPr>
        </p:nvSpPr>
        <p:spPr/>
        <p:txBody>
          <a:bodyPr/>
          <a:lstStyle/>
          <a:p>
            <a:pPr eaLnBrk="1" hangingPunct="1"/>
            <a:r>
              <a:rPr lang="en-US" sz="2000"/>
              <a:t>World Reference Frame which is a universal coordinate frame, as defined by the x-y-z axes. In this case the joints of the robot move simultaneously so as to create motions along the three major axes.</a:t>
            </a:r>
          </a:p>
          <a:p>
            <a:pPr eaLnBrk="1" hangingPunct="1"/>
            <a:endParaRPr lang="en-US" sz="2000"/>
          </a:p>
          <a:p>
            <a:pPr eaLnBrk="1" hangingPunct="1"/>
            <a:r>
              <a:rPr lang="en-US" sz="2000"/>
              <a:t>Joint Reference Frame which is used to specify movements of each individual joint of the Robot. In this case each joint may be accessed individually and thus only one joint moves at a time.</a:t>
            </a:r>
          </a:p>
          <a:p>
            <a:pPr eaLnBrk="1" hangingPunct="1"/>
            <a:endParaRPr lang="en-US" sz="2000"/>
          </a:p>
          <a:p>
            <a:pPr eaLnBrk="1" hangingPunct="1"/>
            <a:r>
              <a:rPr lang="en-US" sz="2000"/>
              <a:t>Tool Reference Frame which specifies the movements of the Robots hand relative to the frame attached to the hand. The x’,y’and z’ axes attached to the hand define the motions of the hand relative to this local frame. All joints of the Robot move simultaneously to create coordinated motions about the Tool frame.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
          <p:cNvSpPr>
            <a:spLocks noGrp="1" noChangeArrowheads="1"/>
          </p:cNvSpPr>
          <p:nvPr>
            <p:ph type="title"/>
          </p:nvPr>
        </p:nvSpPr>
        <p:spPr/>
        <p:txBody>
          <a:bodyPr/>
          <a:lstStyle/>
          <a:p>
            <a:pPr eaLnBrk="1" hangingPunct="1"/>
            <a:r>
              <a:rPr lang="en-US">
                <a:latin typeface="Times New Roman" pitchFamily="18" charset="0"/>
              </a:rPr>
              <a:t>Robot Reference Frames</a:t>
            </a:r>
          </a:p>
        </p:txBody>
      </p:sp>
      <p:graphicFrame>
        <p:nvGraphicFramePr>
          <p:cNvPr id="19459" name="Object 17"/>
          <p:cNvGraphicFramePr>
            <a:graphicFrameLocks noGrp="1" noChangeAspect="1"/>
          </p:cNvGraphicFramePr>
          <p:nvPr>
            <p:ph sz="half" idx="1"/>
          </p:nvPr>
        </p:nvGraphicFramePr>
        <p:xfrm>
          <a:off x="457200" y="1371600"/>
          <a:ext cx="3352800" cy="3273425"/>
        </p:xfrm>
        <a:graphic>
          <a:graphicData uri="http://schemas.openxmlformats.org/presentationml/2006/ole">
            <mc:AlternateContent xmlns:mc="http://schemas.openxmlformats.org/markup-compatibility/2006">
              <mc:Choice xmlns:v="urn:schemas-microsoft-com:vml" Requires="v">
                <p:oleObj name="Bitmap Image" r:id="rId3" imgW="4009524" imgH="3914286" progId="Paint.Picture">
                  <p:embed/>
                </p:oleObj>
              </mc:Choice>
              <mc:Fallback>
                <p:oleObj name="Bitmap Image" r:id="rId3" imgW="4009524" imgH="3914286" progId="Paint.Picture">
                  <p:embed/>
                  <p:pic>
                    <p:nvPicPr>
                      <p:cNvPr id="19459"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71600"/>
                        <a:ext cx="3352800" cy="327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9460" name="Object 18"/>
          <p:cNvGraphicFramePr>
            <a:graphicFrameLocks noGrp="1" noChangeAspect="1"/>
          </p:cNvGraphicFramePr>
          <p:nvPr>
            <p:ph sz="quarter" idx="2"/>
          </p:nvPr>
        </p:nvGraphicFramePr>
        <p:xfrm>
          <a:off x="6248400" y="1066800"/>
          <a:ext cx="2597150" cy="2895600"/>
        </p:xfrm>
        <a:graphic>
          <a:graphicData uri="http://schemas.openxmlformats.org/presentationml/2006/ole">
            <mc:AlternateContent xmlns:mc="http://schemas.openxmlformats.org/markup-compatibility/2006">
              <mc:Choice xmlns:v="urn:schemas-microsoft-com:vml" Requires="v">
                <p:oleObj name="Bitmap Image" r:id="rId5" imgW="3572374" imgH="3982006" progId="Paint.Picture">
                  <p:embed/>
                </p:oleObj>
              </mc:Choice>
              <mc:Fallback>
                <p:oleObj name="Bitmap Image" r:id="rId5" imgW="3572374" imgH="3982006" progId="Paint.Picture">
                  <p:embed/>
                  <p:pic>
                    <p:nvPicPr>
                      <p:cNvPr id="1946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1066800"/>
                        <a:ext cx="259715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1" name="Object 20"/>
          <p:cNvGraphicFramePr>
            <a:graphicFrameLocks noGrp="1" noChangeAspect="1"/>
          </p:cNvGraphicFramePr>
          <p:nvPr>
            <p:ph sz="quarter" idx="3"/>
          </p:nvPr>
        </p:nvGraphicFramePr>
        <p:xfrm>
          <a:off x="3200400" y="3816350"/>
          <a:ext cx="3581400" cy="2617788"/>
        </p:xfrm>
        <a:graphic>
          <a:graphicData uri="http://schemas.openxmlformats.org/presentationml/2006/ole">
            <mc:AlternateContent xmlns:mc="http://schemas.openxmlformats.org/markup-compatibility/2006">
              <mc:Choice xmlns:v="urn:schemas-microsoft-com:vml" Requires="v">
                <p:oleObj name="Bitmap Image" r:id="rId7" imgW="5095238" imgH="3723810" progId="Paint.Picture">
                  <p:embed/>
                </p:oleObj>
              </mc:Choice>
              <mc:Fallback>
                <p:oleObj name="Bitmap Image" r:id="rId7" imgW="5095238" imgH="3723810" progId="Paint.Picture">
                  <p:embed/>
                  <p:pic>
                    <p:nvPicPr>
                      <p:cNvPr id="19461"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3816350"/>
                        <a:ext cx="3581400" cy="2617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p:txBody>
          <a:bodyPr/>
          <a:lstStyle/>
          <a:p>
            <a:pPr eaLnBrk="1" hangingPunct="1"/>
            <a:r>
              <a:rPr lang="en-US"/>
              <a:t>Work Envelope concept</a:t>
            </a:r>
          </a:p>
        </p:txBody>
      </p:sp>
      <p:sp>
        <p:nvSpPr>
          <p:cNvPr id="20483" name="Rectangle 1027"/>
          <p:cNvSpPr>
            <a:spLocks noGrp="1" noChangeArrowheads="1"/>
          </p:cNvSpPr>
          <p:nvPr>
            <p:ph type="body" idx="1"/>
          </p:nvPr>
        </p:nvSpPr>
        <p:spPr/>
        <p:txBody>
          <a:bodyPr/>
          <a:lstStyle/>
          <a:p>
            <a:pPr eaLnBrk="1" hangingPunct="1"/>
            <a:r>
              <a:rPr lang="en-US" sz="2800"/>
              <a:t>Depending on the configuration and size of the links and wrist joints, robots can reach a collection of points called a </a:t>
            </a:r>
            <a:r>
              <a:rPr lang="en-US" sz="2800" b="1"/>
              <a:t>Workspace</a:t>
            </a:r>
            <a:r>
              <a:rPr lang="en-US" sz="2800"/>
              <a:t>.</a:t>
            </a:r>
          </a:p>
          <a:p>
            <a:pPr eaLnBrk="1" hangingPunct="1"/>
            <a:endParaRPr lang="en-US" sz="2800"/>
          </a:p>
          <a:p>
            <a:pPr eaLnBrk="1" hangingPunct="1"/>
            <a:r>
              <a:rPr lang="en-US" sz="2800"/>
              <a:t>Alternately Workspace may be found empirically, by moving each joint through its range of motions and combining all space it can reach and subtracting what space it cannot reach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685800" y="485775"/>
            <a:ext cx="7772400" cy="5610225"/>
          </a:xfrm>
          <a:noFill/>
        </p:spPr>
        <p:txBody>
          <a:bodyPr lIns="92075" tIns="46038" rIns="92075" bIns="46038"/>
          <a:lstStyle/>
          <a:p>
            <a:pPr eaLnBrk="1" hangingPunct="1">
              <a:buFontTx/>
              <a:buNone/>
            </a:pPr>
            <a:r>
              <a:rPr lang="en-US"/>
              <a:t>Pure Spherical Jointed Arm - Work envelope</a:t>
            </a:r>
          </a:p>
        </p:txBody>
      </p:sp>
      <p:pic>
        <p:nvPicPr>
          <p:cNvPr id="21507"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2052638"/>
            <a:ext cx="837565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685800" y="615950"/>
            <a:ext cx="7772400" cy="5480050"/>
          </a:xfrm>
          <a:noFill/>
        </p:spPr>
        <p:txBody>
          <a:bodyPr lIns="92075" tIns="46038" rIns="92075" bIns="46038"/>
          <a:lstStyle/>
          <a:p>
            <a:pPr eaLnBrk="1" hangingPunct="1">
              <a:buFontTx/>
              <a:buNone/>
            </a:pPr>
            <a:r>
              <a:rPr lang="en-US"/>
              <a:t>2) Parallelogram Jointed</a:t>
            </a:r>
          </a:p>
        </p:txBody>
      </p:sp>
      <p:pic>
        <p:nvPicPr>
          <p:cNvPr id="22531"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213" y="1943100"/>
            <a:ext cx="4268787" cy="323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2"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1800" y="1585913"/>
            <a:ext cx="3305175" cy="368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p:txBody>
          <a:bodyPr/>
          <a:lstStyle/>
          <a:p>
            <a:pPr eaLnBrk="1" hangingPunct="1"/>
            <a:r>
              <a:rPr lang="en-US"/>
              <a:t>Exercise</a:t>
            </a:r>
            <a:br>
              <a:rPr lang="en-US"/>
            </a:br>
            <a:r>
              <a:rPr lang="en-US" sz="3600"/>
              <a:t>Readiness Assessment Test</a:t>
            </a:r>
            <a:r>
              <a:rPr lang="en-US" sz="2400"/>
              <a:t>   A.K.A. RAT</a:t>
            </a:r>
          </a:p>
        </p:txBody>
      </p:sp>
      <p:graphicFrame>
        <p:nvGraphicFramePr>
          <p:cNvPr id="23555" name="Object 1028"/>
          <p:cNvGraphicFramePr>
            <a:graphicFrameLocks noGrp="1" noChangeAspect="1"/>
          </p:cNvGraphicFramePr>
          <p:nvPr>
            <p:ph idx="1"/>
          </p:nvPr>
        </p:nvGraphicFramePr>
        <p:xfrm>
          <a:off x="6096000" y="457200"/>
          <a:ext cx="3829050" cy="2590800"/>
        </p:xfrm>
        <a:graphic>
          <a:graphicData uri="http://schemas.openxmlformats.org/presentationml/2006/ole">
            <mc:AlternateContent xmlns:mc="http://schemas.openxmlformats.org/markup-compatibility/2006">
              <mc:Choice xmlns:v="urn:schemas-microsoft-com:vml" Requires="v">
                <p:oleObj name="Drawing" r:id="rId3" imgW="3829501" imgH="2591282" progId="MSDraw.Drawing.8.1">
                  <p:embed/>
                </p:oleObj>
              </mc:Choice>
              <mc:Fallback>
                <p:oleObj name="Drawing" r:id="rId3" imgW="3829501" imgH="2591282" progId="MSDraw.Drawing.8.1">
                  <p:embed/>
                  <p:pic>
                    <p:nvPicPr>
                      <p:cNvPr id="23555"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457200"/>
                        <a:ext cx="3829050" cy="259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2" name="Rectangle 1030"/>
          <p:cNvSpPr>
            <a:spLocks noChangeArrowheads="1"/>
          </p:cNvSpPr>
          <p:nvPr/>
        </p:nvSpPr>
        <p:spPr bwMode="auto">
          <a:xfrm>
            <a:off x="381000" y="1600200"/>
            <a:ext cx="6477000" cy="460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3200">
                <a:solidFill>
                  <a:srgbClr val="114FFB"/>
                </a:solidFill>
                <a:effectLst>
                  <a:outerShdw blurRad="38100" dist="38100" dir="2700000" algn="tl">
                    <a:srgbClr val="C0C0C0"/>
                  </a:outerShdw>
                </a:effectLst>
                <a:latin typeface="Times New Roman" pitchFamily="18" charset="0"/>
              </a:rPr>
              <a:t>AS A INDIVIDUAL</a:t>
            </a:r>
            <a:r>
              <a:rPr lang="en-US" sz="3200">
                <a:latin typeface="Times New Roman" pitchFamily="18" charset="0"/>
              </a:rPr>
              <a:t>, prepare a detailed response for the  following Readiness Assessment test</a:t>
            </a:r>
          </a:p>
          <a:p>
            <a:pPr>
              <a:defRPr/>
            </a:pPr>
            <a:endParaRPr lang="en-US" sz="2400">
              <a:latin typeface="Times New Roman" pitchFamily="18" charset="0"/>
            </a:endParaRPr>
          </a:p>
          <a:p>
            <a:pPr>
              <a:defRPr/>
            </a:pPr>
            <a:r>
              <a:rPr lang="en-US" sz="2800">
                <a:latin typeface="Times New Roman" pitchFamily="18" charset="0"/>
              </a:rPr>
              <a:t>What type of Robot Configuration does the ABB 140 Robot have?</a:t>
            </a:r>
          </a:p>
          <a:p>
            <a:pPr>
              <a:defRPr/>
            </a:pPr>
            <a:r>
              <a:rPr lang="en-US" sz="2800">
                <a:latin typeface="Times New Roman" pitchFamily="18" charset="0"/>
              </a:rPr>
              <a:t>Can you find out its Work </a:t>
            </a:r>
          </a:p>
          <a:p>
            <a:pPr>
              <a:defRPr/>
            </a:pPr>
            <a:r>
              <a:rPr lang="en-US" sz="2800">
                <a:latin typeface="Times New Roman" pitchFamily="18" charset="0"/>
              </a:rPr>
              <a:t>Space?</a:t>
            </a:r>
          </a:p>
          <a:p>
            <a:pPr>
              <a:defRPr/>
            </a:pPr>
            <a:endParaRPr lang="en-US" sz="3200">
              <a:latin typeface="Times New Roman" pitchFamily="18" charset="0"/>
            </a:endParaRPr>
          </a:p>
          <a:p>
            <a:pPr>
              <a:defRPr/>
            </a:pPr>
            <a:endParaRPr lang="en-US" sz="3200">
              <a:latin typeface="Times New Roman" pitchFamily="18" charset="0"/>
            </a:endParaRPr>
          </a:p>
        </p:txBody>
      </p:sp>
      <p:pic>
        <p:nvPicPr>
          <p:cNvPr id="23557" name="Picture 1031" descr="irb1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3886200"/>
            <a:ext cx="4343400"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noFill/>
        </p:spPr>
        <p:txBody>
          <a:bodyPr lIns="92075" tIns="46038" rIns="92075" bIns="46038"/>
          <a:lstStyle/>
          <a:p>
            <a:pPr eaLnBrk="1" hangingPunct="1"/>
            <a:r>
              <a:rPr lang="en-US"/>
              <a:t>WRIST</a:t>
            </a:r>
          </a:p>
        </p:txBody>
      </p:sp>
      <p:sp>
        <p:nvSpPr>
          <p:cNvPr id="24579" name="Rectangle 3"/>
          <p:cNvSpPr>
            <a:spLocks noGrp="1" noChangeArrowheads="1"/>
          </p:cNvSpPr>
          <p:nvPr>
            <p:ph type="body" idx="1"/>
          </p:nvPr>
        </p:nvSpPr>
        <p:spPr>
          <a:noFill/>
        </p:spPr>
        <p:txBody>
          <a:bodyPr lIns="92075" tIns="46038" rIns="92075" bIns="46038"/>
          <a:lstStyle/>
          <a:p>
            <a:pPr eaLnBrk="1" hangingPunct="1"/>
            <a:r>
              <a:rPr lang="en-US"/>
              <a:t>typically has 3 degrees of freedom</a:t>
            </a:r>
          </a:p>
          <a:p>
            <a:pPr lvl="1" eaLnBrk="1" hangingPunct="1"/>
            <a:r>
              <a:rPr lang="en-US" b="1" i="1"/>
              <a:t>Roll </a:t>
            </a:r>
            <a:r>
              <a:rPr lang="en-US"/>
              <a:t>involves rotating the wrist about the arm axis</a:t>
            </a:r>
          </a:p>
          <a:p>
            <a:pPr lvl="1" eaLnBrk="1" hangingPunct="1"/>
            <a:r>
              <a:rPr lang="en-US" b="1" i="1"/>
              <a:t>Pitch</a:t>
            </a:r>
            <a:r>
              <a:rPr lang="en-US"/>
              <a:t> up-down rotation of the wrist</a:t>
            </a:r>
          </a:p>
          <a:p>
            <a:pPr lvl="1" eaLnBrk="1" hangingPunct="1"/>
            <a:r>
              <a:rPr lang="en-US" b="1" i="1"/>
              <a:t>Yaw</a:t>
            </a:r>
            <a:r>
              <a:rPr lang="en-US"/>
              <a:t> left-right rotation of the wrist</a:t>
            </a:r>
          </a:p>
          <a:p>
            <a:pPr eaLnBrk="1" hangingPunct="1"/>
            <a:r>
              <a:rPr lang="en-US"/>
              <a:t>End effector is mounted on the wrist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63" y="2006600"/>
            <a:ext cx="7686675"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3" name="Rectangle 3"/>
          <p:cNvSpPr>
            <a:spLocks noGrp="1" noChangeArrowheads="1"/>
          </p:cNvSpPr>
          <p:nvPr>
            <p:ph type="title"/>
          </p:nvPr>
        </p:nvSpPr>
        <p:spPr>
          <a:noFill/>
        </p:spPr>
        <p:txBody>
          <a:bodyPr lIns="92075" tIns="46038" rIns="92075" bIns="46038"/>
          <a:lstStyle/>
          <a:p>
            <a:pPr eaLnBrk="1" hangingPunct="1"/>
            <a:r>
              <a:rPr lang="en-US"/>
              <a:t>WRIST MOTIONS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2EBEC65-EEAE-4A5A-8D38-26A3ED136AF2}" type="slidenum">
              <a:rPr lang="en-US"/>
              <a:pPr eaLnBrk="1" hangingPunct="1"/>
              <a:t>25</a:t>
            </a:fld>
            <a:endParaRPr lang="en-US"/>
          </a:p>
        </p:txBody>
      </p:sp>
      <p:sp>
        <p:nvSpPr>
          <p:cNvPr id="26627" name="Rectangle 2"/>
          <p:cNvSpPr>
            <a:spLocks noGrp="1" noChangeArrowheads="1"/>
          </p:cNvSpPr>
          <p:nvPr>
            <p:ph type="title"/>
          </p:nvPr>
        </p:nvSpPr>
        <p:spPr>
          <a:noFill/>
        </p:spPr>
        <p:txBody>
          <a:bodyPr lIns="92075" tIns="46038" rIns="92075" bIns="46038"/>
          <a:lstStyle/>
          <a:p>
            <a:pPr eaLnBrk="1" hangingPunct="1"/>
            <a:r>
              <a:rPr lang="en-US"/>
              <a:t>CONTROL METHODS</a:t>
            </a:r>
          </a:p>
        </p:txBody>
      </p:sp>
      <p:sp>
        <p:nvSpPr>
          <p:cNvPr id="26628" name="Rectangle 3"/>
          <p:cNvSpPr>
            <a:spLocks noGrp="1" noChangeArrowheads="1"/>
          </p:cNvSpPr>
          <p:nvPr>
            <p:ph type="body" idx="1"/>
          </p:nvPr>
        </p:nvSpPr>
        <p:spPr>
          <a:noFill/>
        </p:spPr>
        <p:txBody>
          <a:bodyPr lIns="92075" tIns="46038" rIns="92075" bIns="46038"/>
          <a:lstStyle/>
          <a:p>
            <a:pPr eaLnBrk="1" hangingPunct="1"/>
            <a:r>
              <a:rPr lang="en-US" b="1" i="1"/>
              <a:t>Non Servo Control</a:t>
            </a:r>
          </a:p>
          <a:p>
            <a:pPr lvl="1" eaLnBrk="1" hangingPunct="1"/>
            <a:r>
              <a:rPr lang="en-US"/>
              <a:t>implemented by setting limits or mechanical stops for each joint and sequencing the actuation of each joint to accomplish the cycle</a:t>
            </a:r>
          </a:p>
          <a:p>
            <a:pPr lvl="1" eaLnBrk="1" hangingPunct="1"/>
            <a:r>
              <a:rPr lang="en-US"/>
              <a:t>end point robot, limited sequence robot, bang-bang robot</a:t>
            </a:r>
          </a:p>
          <a:p>
            <a:pPr lvl="1" eaLnBrk="1" hangingPunct="1"/>
            <a:r>
              <a:rPr lang="en-US"/>
              <a:t>No control over the motion at the intermediate points, only end points are known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685800" y="630238"/>
            <a:ext cx="7772400" cy="5465762"/>
          </a:xfrm>
          <a:noFill/>
        </p:spPr>
        <p:txBody>
          <a:bodyPr lIns="92075" tIns="46038" rIns="92075" bIns="46038"/>
          <a:lstStyle/>
          <a:p>
            <a:pPr eaLnBrk="1" hangingPunct="1"/>
            <a:r>
              <a:rPr lang="en-US" sz="2800"/>
              <a:t>Programming accomplished by</a:t>
            </a:r>
          </a:p>
          <a:p>
            <a:pPr lvl="1" eaLnBrk="1" hangingPunct="1"/>
            <a:r>
              <a:rPr lang="en-US" sz="2400"/>
              <a:t>setting desired sequence of moves</a:t>
            </a:r>
          </a:p>
          <a:p>
            <a:pPr lvl="1" eaLnBrk="1" hangingPunct="1"/>
            <a:r>
              <a:rPr lang="en-US" sz="2400"/>
              <a:t>adjusting end stops for each axis accordingly</a:t>
            </a:r>
          </a:p>
          <a:p>
            <a:pPr lvl="1" eaLnBrk="1" hangingPunct="1"/>
            <a:r>
              <a:rPr lang="en-US" sz="2400"/>
              <a:t>the sequence of moves is controlled by a “squencer”, which uses feedback received from the end stops to index to next step in the program</a:t>
            </a:r>
          </a:p>
          <a:p>
            <a:pPr eaLnBrk="1" hangingPunct="1"/>
            <a:r>
              <a:rPr lang="en-US" sz="2800"/>
              <a:t>Low cost and easy to maintain, reliable</a:t>
            </a:r>
          </a:p>
          <a:p>
            <a:pPr eaLnBrk="1" hangingPunct="1"/>
            <a:r>
              <a:rPr lang="en-US" sz="2800"/>
              <a:t>relatively high speed</a:t>
            </a:r>
          </a:p>
          <a:p>
            <a:pPr eaLnBrk="1" hangingPunct="1"/>
            <a:r>
              <a:rPr lang="en-US" sz="2800"/>
              <a:t>repeatability of up to 0.01 inch</a:t>
            </a:r>
          </a:p>
          <a:p>
            <a:pPr eaLnBrk="1" hangingPunct="1"/>
            <a:r>
              <a:rPr lang="en-US" sz="2800"/>
              <a:t>limited flexibility</a:t>
            </a:r>
          </a:p>
          <a:p>
            <a:pPr eaLnBrk="1" hangingPunct="1"/>
            <a:r>
              <a:rPr lang="en-US" sz="2800"/>
              <a:t>typically hydraulic, pneumatic drives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685800" y="609600"/>
            <a:ext cx="7772400" cy="5486400"/>
          </a:xfrm>
          <a:noFill/>
        </p:spPr>
        <p:txBody>
          <a:bodyPr lIns="92075" tIns="46038" rIns="92075" bIns="46038"/>
          <a:lstStyle/>
          <a:p>
            <a:pPr eaLnBrk="1" hangingPunct="1"/>
            <a:r>
              <a:rPr lang="en-US" b="1" i="1"/>
              <a:t>Servo Control</a:t>
            </a:r>
          </a:p>
          <a:p>
            <a:pPr lvl="1" eaLnBrk="1" hangingPunct="1"/>
            <a:r>
              <a:rPr lang="en-US"/>
              <a:t>Point to point Control</a:t>
            </a:r>
          </a:p>
          <a:p>
            <a:pPr lvl="1" eaLnBrk="1" hangingPunct="1"/>
            <a:r>
              <a:rPr lang="en-US"/>
              <a:t>Continuous Path Control</a:t>
            </a:r>
          </a:p>
          <a:p>
            <a:pPr eaLnBrk="1" hangingPunct="1"/>
            <a:r>
              <a:rPr lang="en-US"/>
              <a:t>Closed Loop control used to monitor position, velocity (other variables) of each joint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p:spPr>
        <p:txBody>
          <a:bodyPr lIns="92075" tIns="46038" rIns="92075" bIns="46038"/>
          <a:lstStyle/>
          <a:p>
            <a:pPr eaLnBrk="1" hangingPunct="1"/>
            <a:r>
              <a:rPr lang="en-US"/>
              <a:t>Point-to-Point Control</a:t>
            </a:r>
          </a:p>
        </p:txBody>
      </p:sp>
      <p:sp>
        <p:nvSpPr>
          <p:cNvPr id="29699" name="Rectangle 3"/>
          <p:cNvSpPr>
            <a:spLocks noGrp="1" noChangeArrowheads="1"/>
          </p:cNvSpPr>
          <p:nvPr>
            <p:ph type="body" idx="1"/>
          </p:nvPr>
        </p:nvSpPr>
        <p:spPr>
          <a:noFill/>
        </p:spPr>
        <p:txBody>
          <a:bodyPr lIns="92075" tIns="46038" rIns="92075" bIns="46038"/>
          <a:lstStyle/>
          <a:p>
            <a:pPr eaLnBrk="1" hangingPunct="1">
              <a:lnSpc>
                <a:spcPct val="90000"/>
              </a:lnSpc>
            </a:pPr>
            <a:r>
              <a:rPr lang="en-US"/>
              <a:t>Only the end points are programmed, the path used to connect the end points are computed by the controller</a:t>
            </a:r>
          </a:p>
          <a:p>
            <a:pPr eaLnBrk="1" hangingPunct="1">
              <a:lnSpc>
                <a:spcPct val="90000"/>
              </a:lnSpc>
            </a:pPr>
            <a:r>
              <a:rPr lang="en-US"/>
              <a:t>user can control velocity, and may permit linear or piece wise linear motion</a:t>
            </a:r>
          </a:p>
          <a:p>
            <a:pPr eaLnBrk="1" hangingPunct="1">
              <a:lnSpc>
                <a:spcPct val="90000"/>
              </a:lnSpc>
            </a:pPr>
            <a:r>
              <a:rPr lang="en-US"/>
              <a:t>Feedback control is used during motion to ascertain that individual joints have achieved desired location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noFill/>
        </p:spPr>
        <p:txBody>
          <a:bodyPr lIns="92075" tIns="46038" rIns="92075" bIns="46038"/>
          <a:lstStyle/>
          <a:p>
            <a:pPr eaLnBrk="1" hangingPunct="1"/>
            <a:r>
              <a:rPr lang="en-US"/>
              <a:t>Often used hydraulic drives, recent trend towards servomotors</a:t>
            </a:r>
          </a:p>
          <a:p>
            <a:pPr eaLnBrk="1" hangingPunct="1"/>
            <a:r>
              <a:rPr lang="en-US"/>
              <a:t>loads up to 500lb and large reach</a:t>
            </a:r>
          </a:p>
          <a:p>
            <a:pPr eaLnBrk="1" hangingPunct="1"/>
            <a:r>
              <a:rPr lang="en-US"/>
              <a:t>Applications</a:t>
            </a:r>
          </a:p>
          <a:p>
            <a:pPr lvl="1" eaLnBrk="1" hangingPunct="1"/>
            <a:r>
              <a:rPr lang="en-US"/>
              <a:t>pick and place type operations</a:t>
            </a:r>
          </a:p>
          <a:p>
            <a:pPr lvl="1" eaLnBrk="1" hangingPunct="1"/>
            <a:r>
              <a:rPr lang="en-US"/>
              <a:t>palletizing</a:t>
            </a:r>
          </a:p>
          <a:p>
            <a:pPr lvl="1" eaLnBrk="1" hangingPunct="1"/>
            <a:r>
              <a:rPr lang="en-US"/>
              <a:t>machine loading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p:spPr>
        <p:txBody>
          <a:bodyPr lIns="92075" tIns="46038" rIns="92075" bIns="46038"/>
          <a:lstStyle/>
          <a:p>
            <a:pPr eaLnBrk="1" hangingPunct="1"/>
            <a:r>
              <a:rPr lang="en-US"/>
              <a:t>Continuous Path Controlled</a:t>
            </a:r>
          </a:p>
        </p:txBody>
      </p:sp>
      <p:sp>
        <p:nvSpPr>
          <p:cNvPr id="31747" name="Rectangle 3"/>
          <p:cNvSpPr>
            <a:spLocks noGrp="1" noChangeArrowheads="1"/>
          </p:cNvSpPr>
          <p:nvPr>
            <p:ph type="body" idx="1"/>
          </p:nvPr>
        </p:nvSpPr>
        <p:spPr>
          <a:noFill/>
        </p:spPr>
        <p:txBody>
          <a:bodyPr lIns="92075" tIns="46038" rIns="92075" bIns="46038"/>
          <a:lstStyle/>
          <a:p>
            <a:pPr eaLnBrk="1" hangingPunct="1">
              <a:lnSpc>
                <a:spcPct val="90000"/>
              </a:lnSpc>
            </a:pPr>
            <a:r>
              <a:rPr lang="en-US"/>
              <a:t>in addition to the control over the endpoints, the path taken by the end effector can be controlled</a:t>
            </a:r>
          </a:p>
          <a:p>
            <a:pPr eaLnBrk="1" hangingPunct="1">
              <a:lnSpc>
                <a:spcPct val="90000"/>
              </a:lnSpc>
            </a:pPr>
            <a:r>
              <a:rPr lang="en-US"/>
              <a:t>Path is controlled by manipulating the joints throughout the entire motion, via closed loop control</a:t>
            </a:r>
          </a:p>
          <a:p>
            <a:pPr eaLnBrk="1" hangingPunct="1">
              <a:lnSpc>
                <a:spcPct val="90000"/>
              </a:lnSpc>
            </a:pPr>
            <a:r>
              <a:rPr lang="en-US"/>
              <a:t>Applications:</a:t>
            </a:r>
          </a:p>
          <a:p>
            <a:pPr lvl="1" eaLnBrk="1" hangingPunct="1">
              <a:lnSpc>
                <a:spcPct val="90000"/>
              </a:lnSpc>
            </a:pPr>
            <a:r>
              <a:rPr lang="en-US"/>
              <a:t>spray painting, polishing, grinding, arc welding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p:spPr>
        <p:txBody>
          <a:bodyPr lIns="92075" tIns="46038" rIns="92075" bIns="46038"/>
          <a:lstStyle/>
          <a:p>
            <a:pPr eaLnBrk="1" hangingPunct="1"/>
            <a:r>
              <a:rPr lang="en-US"/>
              <a:t>ROBOT PROGRAMMING</a:t>
            </a:r>
          </a:p>
        </p:txBody>
      </p:sp>
      <p:sp>
        <p:nvSpPr>
          <p:cNvPr id="32771" name="Rectangle 3"/>
          <p:cNvSpPr>
            <a:spLocks noGrp="1" noChangeArrowheads="1"/>
          </p:cNvSpPr>
          <p:nvPr>
            <p:ph type="body" idx="1"/>
          </p:nvPr>
        </p:nvSpPr>
        <p:spPr>
          <a:noFill/>
        </p:spPr>
        <p:txBody>
          <a:bodyPr lIns="92075" tIns="46038" rIns="92075" bIns="46038"/>
          <a:lstStyle/>
          <a:p>
            <a:pPr eaLnBrk="1" hangingPunct="1"/>
            <a:r>
              <a:rPr lang="en-US"/>
              <a:t>Typically performed using one of the following</a:t>
            </a:r>
          </a:p>
          <a:p>
            <a:pPr lvl="1" eaLnBrk="1" hangingPunct="1"/>
            <a:r>
              <a:rPr lang="en-US"/>
              <a:t>On line</a:t>
            </a:r>
          </a:p>
          <a:p>
            <a:pPr lvl="2" eaLnBrk="1" hangingPunct="1"/>
            <a:r>
              <a:rPr lang="en-US"/>
              <a:t>teach pendant</a:t>
            </a:r>
          </a:p>
          <a:p>
            <a:pPr lvl="2" eaLnBrk="1" hangingPunct="1"/>
            <a:r>
              <a:rPr lang="en-US"/>
              <a:t>lead through programming</a:t>
            </a:r>
          </a:p>
          <a:p>
            <a:pPr lvl="1" eaLnBrk="1" hangingPunct="1"/>
            <a:r>
              <a:rPr lang="en-US"/>
              <a:t>Off line</a:t>
            </a:r>
          </a:p>
          <a:p>
            <a:pPr lvl="2" eaLnBrk="1" hangingPunct="1"/>
            <a:r>
              <a:rPr lang="en-US"/>
              <a:t>robot programming languages</a:t>
            </a:r>
          </a:p>
          <a:p>
            <a:pPr lvl="2" eaLnBrk="1" hangingPunct="1"/>
            <a:r>
              <a:rPr lang="en-US"/>
              <a:t>task level programming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p:spPr>
        <p:txBody>
          <a:bodyPr lIns="92075" tIns="46038" rIns="92075" bIns="46038"/>
          <a:lstStyle/>
          <a:p>
            <a:pPr eaLnBrk="1" hangingPunct="1"/>
            <a:r>
              <a:rPr lang="en-US"/>
              <a:t>Use of Teach Pendant</a:t>
            </a:r>
          </a:p>
        </p:txBody>
      </p:sp>
      <p:sp>
        <p:nvSpPr>
          <p:cNvPr id="33795" name="Rectangle 3"/>
          <p:cNvSpPr>
            <a:spLocks noGrp="1" noChangeArrowheads="1"/>
          </p:cNvSpPr>
          <p:nvPr>
            <p:ph type="body" idx="1"/>
          </p:nvPr>
        </p:nvSpPr>
        <p:spPr>
          <a:noFill/>
        </p:spPr>
        <p:txBody>
          <a:bodyPr lIns="92075" tIns="46038" rIns="92075" bIns="46038"/>
          <a:lstStyle/>
          <a:p>
            <a:pPr eaLnBrk="1" hangingPunct="1">
              <a:lnSpc>
                <a:spcPct val="90000"/>
              </a:lnSpc>
            </a:pPr>
            <a:r>
              <a:rPr lang="en-US"/>
              <a:t>hand held device with switches used to control the robot motions</a:t>
            </a:r>
          </a:p>
          <a:p>
            <a:pPr eaLnBrk="1" hangingPunct="1">
              <a:lnSpc>
                <a:spcPct val="90000"/>
              </a:lnSpc>
            </a:pPr>
            <a:r>
              <a:rPr lang="en-US"/>
              <a:t>End points are recorded in controller memory</a:t>
            </a:r>
          </a:p>
          <a:p>
            <a:pPr eaLnBrk="1" hangingPunct="1">
              <a:lnSpc>
                <a:spcPct val="90000"/>
              </a:lnSpc>
            </a:pPr>
            <a:r>
              <a:rPr lang="en-US"/>
              <a:t>sequentially played back to execute robot actions</a:t>
            </a:r>
          </a:p>
          <a:p>
            <a:pPr eaLnBrk="1" hangingPunct="1">
              <a:lnSpc>
                <a:spcPct val="90000"/>
              </a:lnSpc>
            </a:pPr>
            <a:r>
              <a:rPr lang="en-US"/>
              <a:t>trajectory determined by robot controller</a:t>
            </a:r>
          </a:p>
          <a:p>
            <a:pPr eaLnBrk="1" hangingPunct="1">
              <a:lnSpc>
                <a:spcPct val="90000"/>
              </a:lnSpc>
            </a:pPr>
            <a:r>
              <a:rPr lang="en-US"/>
              <a:t>suited for point to point control applications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noFill/>
        </p:spPr>
        <p:txBody>
          <a:bodyPr lIns="92075" tIns="46038" rIns="92075" bIns="46038"/>
          <a:lstStyle/>
          <a:p>
            <a:pPr eaLnBrk="1" hangingPunct="1"/>
            <a:r>
              <a:rPr lang="en-US"/>
              <a:t>Easy to use, no special programming skills required</a:t>
            </a:r>
          </a:p>
          <a:p>
            <a:pPr eaLnBrk="1" hangingPunct="1"/>
            <a:r>
              <a:rPr lang="en-US"/>
              <a:t>Useful when programming robots for wide range of repetitive tasks for long production runs</a:t>
            </a:r>
          </a:p>
          <a:p>
            <a:pPr eaLnBrk="1" hangingPunct="1"/>
            <a:r>
              <a:rPr lang="en-US"/>
              <a:t>RAPID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lIns="92075" tIns="46038" rIns="92075" bIns="46038"/>
          <a:lstStyle/>
          <a:p>
            <a:pPr eaLnBrk="1" hangingPunct="1"/>
            <a:r>
              <a:rPr lang="en-US"/>
              <a:t>Lead Through Programming</a:t>
            </a:r>
          </a:p>
        </p:txBody>
      </p:sp>
      <p:sp>
        <p:nvSpPr>
          <p:cNvPr id="35843" name="Rectangle 3"/>
          <p:cNvSpPr>
            <a:spLocks noGrp="1" noChangeArrowheads="1"/>
          </p:cNvSpPr>
          <p:nvPr>
            <p:ph type="body" idx="1"/>
          </p:nvPr>
        </p:nvSpPr>
        <p:spPr>
          <a:noFill/>
        </p:spPr>
        <p:txBody>
          <a:bodyPr lIns="92075" tIns="46038" rIns="92075" bIns="46038"/>
          <a:lstStyle/>
          <a:p>
            <a:pPr eaLnBrk="1" hangingPunct="1">
              <a:lnSpc>
                <a:spcPct val="90000"/>
              </a:lnSpc>
            </a:pPr>
            <a:r>
              <a:rPr lang="en-US"/>
              <a:t>lead the robot physically through the required sequence of motions</a:t>
            </a:r>
          </a:p>
          <a:p>
            <a:pPr eaLnBrk="1" hangingPunct="1">
              <a:lnSpc>
                <a:spcPct val="90000"/>
              </a:lnSpc>
            </a:pPr>
            <a:r>
              <a:rPr lang="en-US"/>
              <a:t>trajectory and endpoints are recorded, using a sampling routine which records points at 60-80 times a second</a:t>
            </a:r>
          </a:p>
          <a:p>
            <a:pPr eaLnBrk="1" hangingPunct="1">
              <a:lnSpc>
                <a:spcPct val="90000"/>
              </a:lnSpc>
            </a:pPr>
            <a:r>
              <a:rPr lang="en-US"/>
              <a:t>when played back results in a smooth continuous motion</a:t>
            </a:r>
          </a:p>
          <a:p>
            <a:pPr eaLnBrk="1" hangingPunct="1">
              <a:lnSpc>
                <a:spcPct val="90000"/>
              </a:lnSpc>
            </a:pPr>
            <a:r>
              <a:rPr lang="en-US"/>
              <a:t>large memory requirements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p:spPr>
        <p:txBody>
          <a:bodyPr lIns="92075" tIns="46038" rIns="92075" bIns="46038"/>
          <a:lstStyle/>
          <a:p>
            <a:pPr eaLnBrk="1" hangingPunct="1"/>
            <a:r>
              <a:rPr lang="en-US"/>
              <a:t>Programming Languages</a:t>
            </a:r>
          </a:p>
        </p:txBody>
      </p:sp>
      <p:sp>
        <p:nvSpPr>
          <p:cNvPr id="36867" name="Rectangle 3"/>
          <p:cNvSpPr>
            <a:spLocks noGrp="1" noChangeArrowheads="1"/>
          </p:cNvSpPr>
          <p:nvPr>
            <p:ph type="body" idx="1"/>
          </p:nvPr>
        </p:nvSpPr>
        <p:spPr>
          <a:noFill/>
        </p:spPr>
        <p:txBody>
          <a:bodyPr lIns="92075" tIns="46038" rIns="92075" bIns="46038"/>
          <a:lstStyle/>
          <a:p>
            <a:pPr eaLnBrk="1" hangingPunct="1"/>
            <a:r>
              <a:rPr lang="en-US"/>
              <a:t>Motivation</a:t>
            </a:r>
          </a:p>
          <a:p>
            <a:pPr lvl="1" eaLnBrk="1" hangingPunct="1"/>
            <a:r>
              <a:rPr lang="en-US"/>
              <a:t>need to interface robot control system to external sensors, to provide “real time” changes based on sensory equipment</a:t>
            </a:r>
          </a:p>
          <a:p>
            <a:pPr lvl="1" eaLnBrk="1" hangingPunct="1"/>
            <a:r>
              <a:rPr lang="en-US"/>
              <a:t>computing based on geometry of environment</a:t>
            </a:r>
          </a:p>
          <a:p>
            <a:pPr lvl="1" eaLnBrk="1" hangingPunct="1"/>
            <a:r>
              <a:rPr lang="en-US"/>
              <a:t>ability to interface with CAD/CAM systems</a:t>
            </a:r>
          </a:p>
          <a:p>
            <a:pPr lvl="1" eaLnBrk="1" hangingPunct="1"/>
            <a:r>
              <a:rPr lang="en-US"/>
              <a:t>meaningful task descriptions</a:t>
            </a:r>
          </a:p>
          <a:p>
            <a:pPr lvl="1" eaLnBrk="1" hangingPunct="1"/>
            <a:r>
              <a:rPr lang="en-US"/>
              <a:t>off-line programming capability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noFill/>
        </p:spPr>
        <p:txBody>
          <a:bodyPr lIns="92075" tIns="46038" rIns="92075" bIns="46038"/>
          <a:lstStyle/>
          <a:p>
            <a:pPr eaLnBrk="1" hangingPunct="1"/>
            <a:r>
              <a:rPr lang="en-US"/>
              <a:t>Large number of robot languages available</a:t>
            </a:r>
          </a:p>
          <a:p>
            <a:pPr lvl="1" eaLnBrk="1" hangingPunct="1"/>
            <a:r>
              <a:rPr lang="en-US"/>
              <a:t>AML, VAL, AL, RAIL, RobotStudio, etc. (200+)</a:t>
            </a:r>
          </a:p>
          <a:p>
            <a:pPr eaLnBrk="1" hangingPunct="1"/>
            <a:r>
              <a:rPr lang="en-US"/>
              <a:t>Each robot manufacturer has their own robot programming language</a:t>
            </a:r>
          </a:p>
          <a:p>
            <a:pPr eaLnBrk="1" hangingPunct="1"/>
            <a:r>
              <a:rPr lang="en-US"/>
              <a:t>No standards exist</a:t>
            </a:r>
          </a:p>
          <a:p>
            <a:pPr eaLnBrk="1" hangingPunct="1"/>
            <a:r>
              <a:rPr lang="en-US"/>
              <a:t>Portability of programs virtually non-existent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In-class Exercise</a:t>
            </a:r>
          </a:p>
        </p:txBody>
      </p:sp>
      <p:sp>
        <p:nvSpPr>
          <p:cNvPr id="38915" name="Rectangle 3"/>
          <p:cNvSpPr>
            <a:spLocks noGrp="1" noChangeArrowheads="1"/>
          </p:cNvSpPr>
          <p:nvPr>
            <p:ph type="body" idx="1"/>
          </p:nvPr>
        </p:nvSpPr>
        <p:spPr/>
        <p:txBody>
          <a:bodyPr/>
          <a:lstStyle/>
          <a:p>
            <a:pPr eaLnBrk="1" hangingPunct="1">
              <a:lnSpc>
                <a:spcPct val="90000"/>
              </a:lnSpc>
            </a:pPr>
            <a:r>
              <a:rPr lang="en-US"/>
              <a:t>As a group, discuss an activity that you think could be automated by using a robot.</a:t>
            </a:r>
          </a:p>
          <a:p>
            <a:pPr eaLnBrk="1" hangingPunct="1">
              <a:lnSpc>
                <a:spcPct val="90000"/>
              </a:lnSpc>
            </a:pPr>
            <a:r>
              <a:rPr lang="en-US"/>
              <a:t>Define the tasks that the robot will perform.</a:t>
            </a:r>
          </a:p>
          <a:p>
            <a:pPr eaLnBrk="1" hangingPunct="1">
              <a:lnSpc>
                <a:spcPct val="90000"/>
              </a:lnSpc>
            </a:pPr>
            <a:r>
              <a:rPr lang="en-US"/>
              <a:t>What kind of special tooling is required? Sketch if you will use any.</a:t>
            </a:r>
          </a:p>
          <a:p>
            <a:pPr eaLnBrk="1" hangingPunct="1">
              <a:lnSpc>
                <a:spcPct val="90000"/>
              </a:lnSpc>
            </a:pPr>
            <a:r>
              <a:rPr lang="en-US"/>
              <a:t>Can the activity be justified economically? Show your development – do not simply say yes or no.</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TotalTime>
  <Words>1474</Words>
  <Application>Microsoft Office PowerPoint</Application>
  <PresentationFormat>On-screen Show (4:3)</PresentationFormat>
  <Paragraphs>209</Paragraphs>
  <Slides>37</Slides>
  <Notes>37</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Default Design</vt:lpstr>
      <vt:lpstr>Introduction to Robotics</vt:lpstr>
      <vt:lpstr>Agenda</vt:lpstr>
      <vt:lpstr>Robotics Timeline</vt:lpstr>
      <vt:lpstr>Robot Classification</vt:lpstr>
      <vt:lpstr>ROBOT</vt:lpstr>
      <vt:lpstr>Robot Accessories</vt:lpstr>
      <vt:lpstr>Accessories</vt:lpstr>
      <vt:lpstr>Robot Configurations</vt:lpstr>
      <vt:lpstr>Cartesian Robot - Work Envelope</vt:lpstr>
      <vt:lpstr>Robot Configurations (cont’d)</vt:lpstr>
      <vt:lpstr>Cylindrical Robot - Work Envelope</vt:lpstr>
      <vt:lpstr>Robot Configurations (cont’d)</vt:lpstr>
      <vt:lpstr>Spherical Robot - Work Envelope</vt:lpstr>
      <vt:lpstr>Robot Configurations (cont’d)</vt:lpstr>
      <vt:lpstr>Robot Configurations (cont’d)</vt:lpstr>
      <vt:lpstr>Robot Configurations</vt:lpstr>
      <vt:lpstr>Reference Frames</vt:lpstr>
      <vt:lpstr>Robot Reference Frames</vt:lpstr>
      <vt:lpstr>Work Envelope concept</vt:lpstr>
      <vt:lpstr>PowerPoint Presentation</vt:lpstr>
      <vt:lpstr>PowerPoint Presentation</vt:lpstr>
      <vt:lpstr>Exercise Readiness Assessment Test   A.K.A. RAT</vt:lpstr>
      <vt:lpstr>WRIST</vt:lpstr>
      <vt:lpstr>WRIST MOTIONS</vt:lpstr>
      <vt:lpstr>CONTROL METHODS</vt:lpstr>
      <vt:lpstr>PowerPoint Presentation</vt:lpstr>
      <vt:lpstr>PowerPoint Presentation</vt:lpstr>
      <vt:lpstr>Point-to-Point Control</vt:lpstr>
      <vt:lpstr>PowerPoint Presentation</vt:lpstr>
      <vt:lpstr>Continuous Path Controlled</vt:lpstr>
      <vt:lpstr>ROBOT PROGRAMMING</vt:lpstr>
      <vt:lpstr>Use of Teach Pendant</vt:lpstr>
      <vt:lpstr>PowerPoint Presentation</vt:lpstr>
      <vt:lpstr>Lead Through Programming</vt:lpstr>
      <vt:lpstr>Programming Languages</vt:lpstr>
      <vt:lpstr>PowerPoint Presentation</vt:lpstr>
      <vt:lpstr>In-class Exercise</vt:lpstr>
    </vt:vector>
  </TitlesOfParts>
  <Company>PSU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Robotics</dc:title>
  <dc:creator>IE</dc:creator>
  <cp:lastModifiedBy>Febin Suresh</cp:lastModifiedBy>
  <cp:revision>17</cp:revision>
  <dcterms:created xsi:type="dcterms:W3CDTF">2002-09-10T02:38:39Z</dcterms:created>
  <dcterms:modified xsi:type="dcterms:W3CDTF">2023-12-16T16:23:48Z</dcterms:modified>
</cp:coreProperties>
</file>