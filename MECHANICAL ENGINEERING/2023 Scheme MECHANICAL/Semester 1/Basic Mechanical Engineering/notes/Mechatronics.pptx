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4" r:id="rId11"/>
    <p:sldId id="266" r:id="rId12"/>
    <p:sldId id="265" r:id="rId13"/>
    <p:sldId id="275" r:id="rId14"/>
    <p:sldId id="276" r:id="rId15"/>
    <p:sldId id="267" r:id="rId16"/>
    <p:sldId id="268" r:id="rId17"/>
    <p:sldId id="269" r:id="rId18"/>
    <p:sldId id="270" r:id="rId19"/>
    <p:sldId id="271" r:id="rId20"/>
    <p:sldId id="272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tableStyles" Target="tableStyle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A496B-0E82-4273-9325-B2D5B7C282ED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5D666-90E2-4703-B829-07D61D71D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1671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A496B-0E82-4273-9325-B2D5B7C282ED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5D666-90E2-4703-B829-07D61D71D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812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A496B-0E82-4273-9325-B2D5B7C282ED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5D666-90E2-4703-B829-07D61D71D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985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A496B-0E82-4273-9325-B2D5B7C282ED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5D666-90E2-4703-B829-07D61D71D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414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A496B-0E82-4273-9325-B2D5B7C282ED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5D666-90E2-4703-B829-07D61D71D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26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A496B-0E82-4273-9325-B2D5B7C282ED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5D666-90E2-4703-B829-07D61D71D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908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A496B-0E82-4273-9325-B2D5B7C282ED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5D666-90E2-4703-B829-07D61D71D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625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A496B-0E82-4273-9325-B2D5B7C282ED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5D666-90E2-4703-B829-07D61D71D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10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A496B-0E82-4273-9325-B2D5B7C282ED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5D666-90E2-4703-B829-07D61D71D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33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A496B-0E82-4273-9325-B2D5B7C282ED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5D666-90E2-4703-B829-07D61D71D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876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A496B-0E82-4273-9325-B2D5B7C282ED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5D666-90E2-4703-B829-07D61D71D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056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A496B-0E82-4273-9325-B2D5B7C282ED}" type="datetimeFigureOut">
              <a:rPr lang="en-IN" smtClean="0"/>
              <a:t>05-11-2023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5D666-90E2-4703-B829-07D61D71D5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277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Mechatronics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- Introduction -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0185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Mechatronics?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word Mechatronics is composed of “mecha” from mechanical  and the “tronics” from electronics.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FF0000"/>
                </a:solidFill>
              </a:rPr>
              <a:t>Mecha</a:t>
            </a:r>
            <a:r>
              <a:rPr lang="en-US" dirty="0"/>
              <a:t>nical + Elec</a:t>
            </a:r>
            <a:r>
              <a:rPr lang="en-US" dirty="0">
                <a:solidFill>
                  <a:srgbClr val="FF0000"/>
                </a:solidFill>
              </a:rPr>
              <a:t>tronics</a:t>
            </a:r>
            <a:r>
              <a:rPr lang="en-US" dirty="0"/>
              <a:t> = </a:t>
            </a:r>
            <a:r>
              <a:rPr lang="en-US" dirty="0">
                <a:solidFill>
                  <a:srgbClr val="FF0000"/>
                </a:solidFill>
              </a:rPr>
              <a:t>Mechatronics</a:t>
            </a:r>
          </a:p>
          <a:p>
            <a:r>
              <a:rPr lang="en-US" dirty="0"/>
              <a:t>The term mechatronics was coined by  Tetsuro Mori, a senior Japanese engineer at Yasakawa Company in 1969.</a:t>
            </a:r>
          </a:p>
          <a:p>
            <a:r>
              <a:rPr lang="en-US" dirty="0"/>
              <a:t>Mechatronics is </a:t>
            </a:r>
            <a:r>
              <a:rPr lang="en-US" dirty="0">
                <a:solidFill>
                  <a:srgbClr val="FF0000"/>
                </a:solidFill>
              </a:rPr>
              <a:t>synergic integration of mechanical engineering, electronics engineering, control engineering and computer science</a:t>
            </a:r>
            <a:r>
              <a:rPr lang="en-US" dirty="0"/>
              <a:t>.</a:t>
            </a:r>
          </a:p>
          <a:p>
            <a:r>
              <a:rPr lang="en-US" dirty="0"/>
              <a:t>A mechatronic system is a computer controlled mechanical system.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5656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7379" y="477261"/>
            <a:ext cx="6362404" cy="599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499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0072" y="982134"/>
            <a:ext cx="7925112" cy="507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966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 of a Mechatronic System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US" dirty="0">
                <a:solidFill>
                  <a:srgbClr val="FF0000"/>
                </a:solidFill>
              </a:rPr>
              <a:t>Sensing</a:t>
            </a:r>
          </a:p>
          <a:p>
            <a:pPr marL="914400" lvl="2" indent="0">
              <a:buNone/>
            </a:pPr>
            <a:r>
              <a:rPr lang="en-US" sz="2800" dirty="0"/>
              <a:t>(a) Sensors</a:t>
            </a:r>
          </a:p>
          <a:p>
            <a:pPr marL="0" indent="0">
              <a:buNone/>
            </a:pPr>
            <a:r>
              <a:rPr lang="en-US" dirty="0"/>
              <a:t>	(b) Signal Conditioning</a:t>
            </a:r>
          </a:p>
          <a:p>
            <a:pPr marL="0" indent="0">
              <a:buNone/>
            </a:pPr>
            <a:r>
              <a:rPr lang="en-US" dirty="0"/>
              <a:t>	(c) Analog-to-Digital and Digital-to-Analog Conversion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dirty="0">
                <a:solidFill>
                  <a:srgbClr val="FF0000"/>
                </a:solidFill>
              </a:rPr>
              <a:t>Control</a:t>
            </a:r>
          </a:p>
          <a:p>
            <a:pPr marL="0" indent="0">
              <a:buNone/>
            </a:pPr>
            <a:r>
              <a:rPr lang="en-US" dirty="0"/>
              <a:t>	(a) Open Loop and Closed Loop Control</a:t>
            </a:r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dirty="0">
                <a:solidFill>
                  <a:srgbClr val="FF0000"/>
                </a:solidFill>
              </a:rPr>
              <a:t>Action</a:t>
            </a:r>
          </a:p>
          <a:p>
            <a:pPr marL="0" indent="0">
              <a:buNone/>
            </a:pPr>
            <a:r>
              <a:rPr lang="en-US" dirty="0"/>
              <a:t>	(a) Drive Circuits</a:t>
            </a:r>
          </a:p>
          <a:p>
            <a:pPr marL="0" indent="0">
              <a:buNone/>
            </a:pPr>
            <a:r>
              <a:rPr lang="en-US" dirty="0"/>
              <a:t>	(b) Actuators</a:t>
            </a:r>
          </a:p>
          <a:p>
            <a:pPr marL="0" indent="0">
              <a:buNone/>
            </a:pPr>
            <a:r>
              <a:rPr lang="en-US" dirty="0"/>
              <a:t>	(c) Motors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8445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7818" y="722489"/>
            <a:ext cx="8020248" cy="5510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00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a Mechatronic System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Mechanical</a:t>
            </a:r>
          </a:p>
          <a:p>
            <a:r>
              <a:rPr lang="en-US" dirty="0"/>
              <a:t>Electronics</a:t>
            </a:r>
          </a:p>
          <a:p>
            <a:r>
              <a:rPr lang="en-US" dirty="0"/>
              <a:t>Sensors</a:t>
            </a:r>
          </a:p>
          <a:p>
            <a:r>
              <a:rPr lang="en-US" dirty="0"/>
              <a:t>Actuators</a:t>
            </a:r>
          </a:p>
          <a:p>
            <a:r>
              <a:rPr lang="en-US" dirty="0"/>
              <a:t>Control</a:t>
            </a:r>
          </a:p>
          <a:p>
            <a:r>
              <a:rPr lang="en-US" dirty="0"/>
              <a:t>Computing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3797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a Mechatronic System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mechatronic system has at its core a </a:t>
            </a:r>
            <a:r>
              <a:rPr lang="en-US" dirty="0">
                <a:solidFill>
                  <a:srgbClr val="FF0000"/>
                </a:solidFill>
              </a:rPr>
              <a:t>mechanical system </a:t>
            </a:r>
            <a:r>
              <a:rPr lang="en-US" dirty="0"/>
              <a:t>which needs to be commanded or controlled by a </a:t>
            </a:r>
            <a:r>
              <a:rPr lang="en-US" dirty="0">
                <a:solidFill>
                  <a:srgbClr val="FF0000"/>
                </a:solidFill>
              </a:rPr>
              <a:t>controller.</a:t>
            </a:r>
          </a:p>
          <a:p>
            <a:r>
              <a:rPr lang="en-US" dirty="0"/>
              <a:t>The controller needs information about the state of the system. This information is obtained from </a:t>
            </a:r>
            <a:r>
              <a:rPr lang="en-US" dirty="0">
                <a:solidFill>
                  <a:srgbClr val="FF0000"/>
                </a:solidFill>
              </a:rPr>
              <a:t>sensors.</a:t>
            </a:r>
          </a:p>
          <a:p>
            <a:r>
              <a:rPr lang="en-US" dirty="0"/>
              <a:t>In many cases, the signals produced by the sensors are not in a form ready to be read by the controller and need some signal conditioning operations performed on them. </a:t>
            </a:r>
          </a:p>
          <a:p>
            <a:r>
              <a:rPr lang="en-US" dirty="0"/>
              <a:t>The conditioned, sensed signals are then converted to a digital form by </a:t>
            </a:r>
            <a:r>
              <a:rPr lang="en-US" dirty="0">
                <a:solidFill>
                  <a:srgbClr val="FF0000"/>
                </a:solidFill>
              </a:rPr>
              <a:t>Analog-to-Digital Convertor (ADC) </a:t>
            </a:r>
            <a:r>
              <a:rPr lang="en-US" dirty="0"/>
              <a:t>and are then sent to the controller.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4487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a Mechatronic System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controller is the ‘</a:t>
            </a:r>
            <a:r>
              <a:rPr lang="en-US" dirty="0">
                <a:solidFill>
                  <a:srgbClr val="FF0000"/>
                </a:solidFill>
              </a:rPr>
              <a:t>mind</a:t>
            </a:r>
            <a:r>
              <a:rPr lang="en-US" dirty="0"/>
              <a:t>' of the mechatronic system, which processes user commands and sensed signals to generate command signals to be sent to the </a:t>
            </a:r>
            <a:r>
              <a:rPr lang="en-US" dirty="0">
                <a:solidFill>
                  <a:srgbClr val="FF0000"/>
                </a:solidFill>
              </a:rPr>
              <a:t>actuators</a:t>
            </a:r>
            <a:r>
              <a:rPr lang="en-US" dirty="0"/>
              <a:t> in the system.</a:t>
            </a:r>
          </a:p>
          <a:p>
            <a:r>
              <a:rPr lang="en-US" dirty="0">
                <a:solidFill>
                  <a:srgbClr val="FF0000"/>
                </a:solidFill>
              </a:rPr>
              <a:t>Actuators</a:t>
            </a:r>
            <a:r>
              <a:rPr lang="en-US" dirty="0"/>
              <a:t> are devices that can convert electrical energy to mechanical energy.</a:t>
            </a:r>
          </a:p>
          <a:p>
            <a:r>
              <a:rPr lang="en-US" dirty="0"/>
              <a:t>The user commands are obtained from a variety of devices including command buttons, graphical user interfaces (GUIs), touch screens, or pads.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9410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elements of control system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control system consists of several elements where each element  performs a particular task.</a:t>
            </a:r>
          </a:p>
          <a:p>
            <a:r>
              <a:rPr lang="en-US" dirty="0"/>
              <a:t>These elements are </a:t>
            </a:r>
            <a:r>
              <a:rPr lang="en-US" dirty="0">
                <a:solidFill>
                  <a:srgbClr val="FF0000"/>
                </a:solidFill>
              </a:rPr>
              <a:t>connected in proper sequence and facilitates signal to flow through them</a:t>
            </a:r>
          </a:p>
          <a:p>
            <a:r>
              <a:rPr lang="en-US" dirty="0"/>
              <a:t>Different control actions are performed by these elements </a:t>
            </a:r>
            <a:r>
              <a:rPr lang="en-US" dirty="0">
                <a:solidFill>
                  <a:srgbClr val="FF0000"/>
                </a:solidFill>
              </a:rPr>
              <a:t>to obtain a desired output.</a:t>
            </a:r>
          </a:p>
          <a:p>
            <a:r>
              <a:rPr lang="en-US" dirty="0"/>
              <a:t>Basic elements of control system depends upon the type of control system.</a:t>
            </a:r>
          </a:p>
          <a:p>
            <a:r>
              <a:rPr lang="en-US" dirty="0"/>
              <a:t>Main types of control system are:</a:t>
            </a:r>
          </a:p>
          <a:p>
            <a:pPr marL="0" indent="0">
              <a:buNone/>
            </a:pPr>
            <a:r>
              <a:rPr lang="en-US" dirty="0"/>
              <a:t>	A. </a:t>
            </a:r>
            <a:r>
              <a:rPr lang="en-US" dirty="0">
                <a:solidFill>
                  <a:srgbClr val="FF0000"/>
                </a:solidFill>
              </a:rPr>
              <a:t>open loop </a:t>
            </a:r>
            <a:r>
              <a:rPr lang="en-US" dirty="0"/>
              <a:t>control system and</a:t>
            </a:r>
          </a:p>
          <a:p>
            <a:pPr marL="0" indent="0">
              <a:buNone/>
            </a:pPr>
            <a:r>
              <a:rPr lang="en-US" dirty="0"/>
              <a:t>	B. </a:t>
            </a:r>
            <a:r>
              <a:rPr lang="en-US" dirty="0">
                <a:solidFill>
                  <a:srgbClr val="FF0000"/>
                </a:solidFill>
              </a:rPr>
              <a:t>closed loop </a:t>
            </a:r>
            <a:r>
              <a:rPr lang="en-US" dirty="0"/>
              <a:t>control system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3891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&amp; Closed Loop System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some cases, the command signals are sent to the actuators </a:t>
            </a:r>
            <a:r>
              <a:rPr lang="en-US" b="1" dirty="0"/>
              <a:t>without utilizing any feedback</a:t>
            </a:r>
            <a:r>
              <a:rPr lang="en-US" dirty="0"/>
              <a:t> information from the sensors. This is called </a:t>
            </a:r>
            <a:r>
              <a:rPr lang="en-US" dirty="0">
                <a:solidFill>
                  <a:srgbClr val="FF0000"/>
                </a:solidFill>
              </a:rPr>
              <a:t>open-loop system</a:t>
            </a:r>
            <a:r>
              <a:rPr lang="en-US" dirty="0"/>
              <a:t>, and for it to work, this </a:t>
            </a:r>
            <a:r>
              <a:rPr lang="en-US" b="1" dirty="0"/>
              <a:t>requires a good calibration </a:t>
            </a:r>
            <a:r>
              <a:rPr lang="en-US" dirty="0"/>
              <a:t>between the input and output of the system.</a:t>
            </a:r>
          </a:p>
          <a:p>
            <a:r>
              <a:rPr lang="en-US" dirty="0"/>
              <a:t>The more common mode of operation is the </a:t>
            </a:r>
            <a:r>
              <a:rPr lang="en-US" dirty="0">
                <a:solidFill>
                  <a:srgbClr val="FF0000"/>
                </a:solidFill>
              </a:rPr>
              <a:t>closed-loop mode </a:t>
            </a:r>
            <a:r>
              <a:rPr lang="en-US" dirty="0"/>
              <a:t>in which the command signals sent to the actuators </a:t>
            </a:r>
            <a:r>
              <a:rPr lang="en-US" b="1" dirty="0"/>
              <a:t>utilize the feedback </a:t>
            </a:r>
            <a:r>
              <a:rPr lang="en-US" dirty="0"/>
              <a:t>information from the sensors. This mode of operation </a:t>
            </a:r>
            <a:r>
              <a:rPr lang="en-US" b="1" dirty="0"/>
              <a:t>does not require calibration information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9339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3792" y="767644"/>
            <a:ext cx="6772118" cy="578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394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loop control system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36914"/>
            <a:ext cx="10515600" cy="4351338"/>
          </a:xfrm>
        </p:spPr>
        <p:txBody>
          <a:bodyPr/>
          <a:lstStyle/>
          <a:p>
            <a:r>
              <a:rPr lang="en-US" dirty="0"/>
              <a:t>Open loop system is a control system in which the </a:t>
            </a:r>
            <a:r>
              <a:rPr lang="en-US" dirty="0">
                <a:solidFill>
                  <a:srgbClr val="FF0000"/>
                </a:solidFill>
              </a:rPr>
              <a:t>output is dependent on the input</a:t>
            </a:r>
            <a:r>
              <a:rPr lang="en-US" dirty="0"/>
              <a:t> but the </a:t>
            </a:r>
            <a:r>
              <a:rPr lang="en-US" dirty="0">
                <a:solidFill>
                  <a:srgbClr val="FF0000"/>
                </a:solidFill>
              </a:rPr>
              <a:t>input or controlling action is independent of the output </a:t>
            </a:r>
            <a:r>
              <a:rPr lang="en-US" dirty="0"/>
              <a:t>or change in the output.</a:t>
            </a:r>
          </a:p>
          <a:p>
            <a:r>
              <a:rPr lang="en-US" dirty="0"/>
              <a:t>It is relatively </a:t>
            </a:r>
            <a:r>
              <a:rPr lang="en-US" dirty="0">
                <a:solidFill>
                  <a:srgbClr val="FF0000"/>
                </a:solidFill>
              </a:rPr>
              <a:t>simple, low cost, easy </a:t>
            </a:r>
            <a:r>
              <a:rPr lang="en-US" dirty="0"/>
              <a:t>to understand and maintain stability and reliability is relatively good.</a:t>
            </a:r>
          </a:p>
          <a:p>
            <a:r>
              <a:rPr lang="en-US" dirty="0"/>
              <a:t>Its disadvantages are </a:t>
            </a:r>
            <a:r>
              <a:rPr lang="en-US" dirty="0">
                <a:solidFill>
                  <a:srgbClr val="FF0000"/>
                </a:solidFill>
              </a:rPr>
              <a:t>inaccuracy, slow in response</a:t>
            </a:r>
            <a:r>
              <a:rPr lang="en-US" dirty="0"/>
              <a:t>, no optimized control.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8356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Closed loop system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disadvantages of open-loop systems, namely sensitivity to disturbances and inability to correct for these disturbances, may be </a:t>
            </a:r>
            <a:r>
              <a:rPr lang="en-US" dirty="0">
                <a:solidFill>
                  <a:srgbClr val="FF0000"/>
                </a:solidFill>
              </a:rPr>
              <a:t>overcome in closed-loop systems</a:t>
            </a:r>
            <a:r>
              <a:rPr lang="en-US" dirty="0"/>
              <a:t>.</a:t>
            </a:r>
          </a:p>
          <a:p>
            <a:r>
              <a:rPr lang="en-US" dirty="0"/>
              <a:t>The closed-loop system compensates for disturbances by measuring the output response, f</a:t>
            </a:r>
            <a:r>
              <a:rPr lang="en-US" dirty="0">
                <a:solidFill>
                  <a:srgbClr val="FF0000"/>
                </a:solidFill>
              </a:rPr>
              <a:t>eeding that measurement back through a feedback path</a:t>
            </a:r>
            <a:r>
              <a:rPr lang="en-US" dirty="0"/>
              <a:t>, and </a:t>
            </a:r>
            <a:r>
              <a:rPr lang="en-US" dirty="0">
                <a:solidFill>
                  <a:srgbClr val="FF0000"/>
                </a:solidFill>
              </a:rPr>
              <a:t>comparing that response </a:t>
            </a:r>
            <a:r>
              <a:rPr lang="en-US" dirty="0"/>
              <a:t>to the input at the summing junction.</a:t>
            </a:r>
          </a:p>
          <a:p>
            <a:r>
              <a:rPr lang="en-US" dirty="0"/>
              <a:t>Closed-loop systems, then, have the obvious advantage of </a:t>
            </a:r>
            <a:r>
              <a:rPr lang="en-US" dirty="0">
                <a:solidFill>
                  <a:srgbClr val="FF0000"/>
                </a:solidFill>
              </a:rPr>
              <a:t>greater accuracy</a:t>
            </a:r>
            <a:r>
              <a:rPr lang="en-US" dirty="0"/>
              <a:t> than open-loop systems. They are </a:t>
            </a:r>
            <a:r>
              <a:rPr lang="en-US" dirty="0">
                <a:solidFill>
                  <a:srgbClr val="FF0000"/>
                </a:solidFill>
              </a:rPr>
              <a:t>less sensitive to noise</a:t>
            </a:r>
            <a:r>
              <a:rPr lang="en-US" dirty="0"/>
              <a:t>, disturbances, and changes in the environment.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1480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Mechatronics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Every computer controlled system has four basic functional blocks: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1. A process to be controlled</a:t>
            </a:r>
          </a:p>
          <a:p>
            <a:pPr marL="0" indent="0">
              <a:buNone/>
            </a:pPr>
            <a:r>
              <a:rPr lang="en-US" dirty="0"/>
              <a:t>2. Sensors</a:t>
            </a:r>
          </a:p>
          <a:p>
            <a:pPr marL="0" indent="0">
              <a:buNone/>
            </a:pPr>
            <a:r>
              <a:rPr lang="en-US" dirty="0"/>
              <a:t>3. Actuators</a:t>
            </a:r>
          </a:p>
          <a:p>
            <a:pPr marL="0" indent="0">
              <a:buNone/>
            </a:pPr>
            <a:r>
              <a:rPr lang="en-US" dirty="0"/>
              <a:t>4. Controller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06832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Mechatronics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analogy between a human controlled system and computer control system is shown in figure.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206" y="2918958"/>
            <a:ext cx="6363588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012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Mechatronics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a process is controlled and powered by a human operator, the operator </a:t>
            </a:r>
            <a:r>
              <a:rPr lang="en-US" dirty="0">
                <a:solidFill>
                  <a:srgbClr val="FF0000"/>
                </a:solidFill>
              </a:rPr>
              <a:t>observes</a:t>
            </a:r>
            <a:r>
              <a:rPr lang="en-US" dirty="0"/>
              <a:t> the behavior of the system (i.e. </a:t>
            </a:r>
            <a:r>
              <a:rPr lang="en-US" dirty="0">
                <a:solidFill>
                  <a:srgbClr val="FF0000"/>
                </a:solidFill>
              </a:rPr>
              <a:t>using visual observation</a:t>
            </a:r>
            <a:r>
              <a:rPr lang="en-US" dirty="0"/>
              <a:t>), then </a:t>
            </a:r>
            <a:r>
              <a:rPr lang="en-US" dirty="0">
                <a:solidFill>
                  <a:srgbClr val="FF0000"/>
                </a:solidFill>
              </a:rPr>
              <a:t>makes a decision </a:t>
            </a:r>
            <a:r>
              <a:rPr lang="en-US" dirty="0"/>
              <a:t>regarding what action to take, then using his </a:t>
            </a:r>
            <a:r>
              <a:rPr lang="en-US" dirty="0">
                <a:solidFill>
                  <a:srgbClr val="FF0000"/>
                </a:solidFill>
              </a:rPr>
              <a:t>muscular power </a:t>
            </a:r>
            <a:r>
              <a:rPr lang="en-US" dirty="0"/>
              <a:t>takes a particular control action.</a:t>
            </a:r>
          </a:p>
          <a:p>
            <a:pPr marL="0" indent="0">
              <a:buNone/>
            </a:pPr>
            <a:r>
              <a:rPr lang="en-US" dirty="0"/>
              <a:t>One could view the outcome of the decision making process as a control or decision signal, and the action of the muscles as the actuator signal which is the amplified version of the control (or decision) signal.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17900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Mechatronics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same functionalities of a control system can be automated by use of a digital computer as shown in the figure.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847" y="2830129"/>
            <a:ext cx="7522306" cy="334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0497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Mechatronics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sensors replace the eyes</a:t>
            </a:r>
            <a:r>
              <a:rPr lang="en-US" dirty="0"/>
              <a:t>, the </a:t>
            </a:r>
            <a:r>
              <a:rPr lang="en-US" dirty="0">
                <a:solidFill>
                  <a:srgbClr val="FF0000"/>
                </a:solidFill>
              </a:rPr>
              <a:t>actuators replace the muscles</a:t>
            </a:r>
            <a:r>
              <a:rPr lang="en-US" dirty="0"/>
              <a:t>, and the </a:t>
            </a:r>
            <a:r>
              <a:rPr lang="en-US" dirty="0">
                <a:solidFill>
                  <a:srgbClr val="FF0000"/>
                </a:solidFill>
              </a:rPr>
              <a:t>computer replaces the human brain</a:t>
            </a:r>
          </a:p>
          <a:p>
            <a:r>
              <a:rPr lang="en-US" dirty="0"/>
              <a:t>Every mechatronic system has some sensors to measure the status of the process variables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sensors are the "eyes</a:t>
            </a:r>
            <a:r>
              <a:rPr lang="en-US" dirty="0"/>
              <a:t>" of a computer controlled system</a:t>
            </a:r>
          </a:p>
          <a:p>
            <a:r>
              <a:rPr lang="en-US" dirty="0">
                <a:solidFill>
                  <a:srgbClr val="FF0000"/>
                </a:solidFill>
              </a:rPr>
              <a:t>Actuators are the "muscles</a:t>
            </a:r>
            <a:r>
              <a:rPr lang="en-US" dirty="0"/>
              <a:t>" of a computer controlled system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38171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1305" y="1761495"/>
            <a:ext cx="10021658" cy="383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0583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Smart consumer products</a:t>
            </a:r>
            <a:r>
              <a:rPr lang="en-IN" dirty="0"/>
              <a:t>: home security, camera, microwave oven, toaster, dish washer, laundry washer-dryer, climate control units, etc.</a:t>
            </a:r>
          </a:p>
          <a:p>
            <a:r>
              <a:rPr lang="en-IN" dirty="0">
                <a:solidFill>
                  <a:srgbClr val="FF0000"/>
                </a:solidFill>
              </a:rPr>
              <a:t>Medical</a:t>
            </a:r>
            <a:r>
              <a:rPr lang="en-IN" dirty="0"/>
              <a:t>: implant-devices, assisted surgery, haptic, etc.</a:t>
            </a:r>
          </a:p>
          <a:p>
            <a:r>
              <a:rPr lang="en-IN" dirty="0">
                <a:solidFill>
                  <a:srgbClr val="FF0000"/>
                </a:solidFill>
              </a:rPr>
              <a:t>Defence</a:t>
            </a:r>
            <a:r>
              <a:rPr lang="en-IN" dirty="0"/>
              <a:t>: unmanned air, ground, and underwater vehicles, jet engines, etc.</a:t>
            </a:r>
          </a:p>
          <a:p>
            <a:r>
              <a:rPr lang="en-IN" dirty="0">
                <a:solidFill>
                  <a:srgbClr val="FF0000"/>
                </a:solidFill>
              </a:rPr>
              <a:t>Manufacturing</a:t>
            </a:r>
            <a:r>
              <a:rPr lang="en-IN" dirty="0"/>
              <a:t>: robotics, machines, processes, etc.</a:t>
            </a:r>
          </a:p>
          <a:p>
            <a:r>
              <a:rPr lang="en-IN" dirty="0">
                <a:solidFill>
                  <a:srgbClr val="FF0000"/>
                </a:solidFill>
              </a:rPr>
              <a:t>Automotive</a:t>
            </a:r>
            <a:r>
              <a:rPr lang="en-IN" dirty="0"/>
              <a:t>: climate control, antilock brake, active suspension, cruise control, air bags, engine management, safety, etc.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8021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859</Words>
  <Application>Microsoft Office PowerPoint</Application>
  <PresentationFormat>Widescreen</PresentationFormat>
  <Paragraphs>79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Mechatronics</vt:lpstr>
      <vt:lpstr>What is Mechatronics?</vt:lpstr>
      <vt:lpstr>PowerPoint Presentation</vt:lpstr>
      <vt:lpstr>PowerPoint Presentation</vt:lpstr>
      <vt:lpstr>Modules of a Mechatronic System</vt:lpstr>
      <vt:lpstr>PowerPoint Presentation</vt:lpstr>
      <vt:lpstr>Components of a Mechatronic System</vt:lpstr>
      <vt:lpstr>Components of a Mechatronic System</vt:lpstr>
      <vt:lpstr>Components of a Mechatronic System</vt:lpstr>
      <vt:lpstr>Basic elements of control system</vt:lpstr>
      <vt:lpstr>Open &amp; Closed Loop System</vt:lpstr>
      <vt:lpstr>PowerPoint Presentation</vt:lpstr>
      <vt:lpstr>Open loop control system</vt:lpstr>
      <vt:lpstr>Closed loop system</vt:lpstr>
      <vt:lpstr>Introduction to Mechatronics</vt:lpstr>
      <vt:lpstr>Introduction to Mechatronics</vt:lpstr>
      <vt:lpstr>Introduction to Mechatronics</vt:lpstr>
      <vt:lpstr>Introduction to Mechatronics</vt:lpstr>
      <vt:lpstr>Introduction to Mechatronics</vt:lpstr>
      <vt:lpstr>PowerPoint Presentation</vt:lpstr>
      <vt:lpstr>Applications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Mechatronics</dc:title>
  <dc:creator>User</dc:creator>
  <cp:lastModifiedBy>Febin Suresh</cp:lastModifiedBy>
  <cp:revision>16</cp:revision>
  <dcterms:created xsi:type="dcterms:W3CDTF">2023-11-05T15:56:36Z</dcterms:created>
  <dcterms:modified xsi:type="dcterms:W3CDTF">2023-11-05T18:14:09Z</dcterms:modified>
</cp:coreProperties>
</file>