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2"/>
  </p:notesMasterIdLst>
  <p:sldIdLst>
    <p:sldId id="256" r:id="rId3"/>
    <p:sldId id="259" r:id="rId4"/>
    <p:sldId id="351" r:id="rId5"/>
    <p:sldId id="292" r:id="rId6"/>
    <p:sldId id="293" r:id="rId7"/>
    <p:sldId id="263" r:id="rId8"/>
    <p:sldId id="362" r:id="rId9"/>
    <p:sldId id="294" r:id="rId10"/>
    <p:sldId id="344" r:id="rId11"/>
    <p:sldId id="345" r:id="rId12"/>
    <p:sldId id="352" r:id="rId13"/>
    <p:sldId id="353" r:id="rId14"/>
    <p:sldId id="354" r:id="rId15"/>
    <p:sldId id="355" r:id="rId16"/>
    <p:sldId id="356" r:id="rId17"/>
    <p:sldId id="357" r:id="rId18"/>
    <p:sldId id="358" r:id="rId19"/>
    <p:sldId id="346" r:id="rId20"/>
    <p:sldId id="299" r:id="rId21"/>
    <p:sldId id="359" r:id="rId22"/>
    <p:sldId id="360" r:id="rId23"/>
    <p:sldId id="338" r:id="rId24"/>
    <p:sldId id="339" r:id="rId25"/>
    <p:sldId id="350" r:id="rId26"/>
    <p:sldId id="340" r:id="rId27"/>
    <p:sldId id="361" r:id="rId28"/>
    <p:sldId id="342" r:id="rId29"/>
    <p:sldId id="343" r:id="rId30"/>
    <p:sldId id="286"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Default Section" id="{6783F166-5A9A-4CF9-9FA4-6982EACCBE6A}">
          <p14:sldIdLst>
            <p14:sldId id="256"/>
          </p14:sldIdLst>
        </p14:section>
        <p14:section name="Untitled Section" id="{9A36CBE5-C24B-4A73-B92F-56512DA6D0AA}">
          <p14:sldIdLst>
            <p14:sldId id="259"/>
            <p14:sldId id="351"/>
            <p14:sldId id="292"/>
            <p14:sldId id="293"/>
            <p14:sldId id="263"/>
            <p14:sldId id="362"/>
            <p14:sldId id="294"/>
            <p14:sldId id="344"/>
            <p14:sldId id="345"/>
            <p14:sldId id="352"/>
            <p14:sldId id="353"/>
            <p14:sldId id="354"/>
            <p14:sldId id="355"/>
            <p14:sldId id="356"/>
            <p14:sldId id="357"/>
            <p14:sldId id="358"/>
            <p14:sldId id="346"/>
            <p14:sldId id="299"/>
            <p14:sldId id="359"/>
            <p14:sldId id="360"/>
            <p14:sldId id="338"/>
            <p14:sldId id="339"/>
            <p14:sldId id="350"/>
            <p14:sldId id="340"/>
            <p14:sldId id="361"/>
            <p14:sldId id="342"/>
            <p14:sldId id="343"/>
            <p14:sldId id="286"/>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64A2"/>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722" autoAdjust="0"/>
    <p:restoredTop sz="94660"/>
  </p:normalViewPr>
  <p:slideViewPr>
    <p:cSldViewPr>
      <p:cViewPr varScale="1">
        <p:scale>
          <a:sx n="91" d="100"/>
          <a:sy n="91" d="100"/>
        </p:scale>
        <p:origin x="-1656" y="-114"/>
      </p:cViewPr>
      <p:guideLst>
        <p:guide orient="horz" pos="2160"/>
        <p:guide pos="2880"/>
      </p:guideLst>
    </p:cSldViewPr>
  </p:slideViewPr>
  <p:notesTextViewPr>
    <p:cViewPr>
      <p:scale>
        <a:sx n="1" d="1"/>
        <a:sy n="1" d="1"/>
      </p:scale>
      <p:origin x="0" y="0"/>
    </p:cViewPr>
  </p:notesTextViewPr>
  <p:notesViewPr>
    <p:cSldViewPr>
      <p:cViewPr>
        <p:scale>
          <a:sx n="100" d="100"/>
          <a:sy n="100" d="100"/>
        </p:scale>
        <p:origin x="-1890" y="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2F59EA-F9C4-4AA5-868C-28B75A8ED153}" type="datetimeFigureOut">
              <a:rPr lang="en-IN" smtClean="0"/>
              <a:pPr/>
              <a:t>08-08-2023</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Intro</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07B1-311C-440B-8FE0-43B52FF6ACA7}" type="slidenum">
              <a:rPr lang="en-IN" smtClean="0"/>
              <a:pPr/>
              <a:t>‹#›</a:t>
            </a:fld>
            <a:endParaRPr lang="en-IN"/>
          </a:p>
        </p:txBody>
      </p:sp>
    </p:spTree>
    <p:extLst>
      <p:ext uri="{BB962C8B-B14F-4D97-AF65-F5344CB8AC3E}">
        <p14:creationId xmlns:p14="http://schemas.microsoft.com/office/powerpoint/2010/main" xmlns="" val="2195726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A87407B1-311C-440B-8FE0-43B52FF6ACA7}" type="slidenum">
              <a:rPr lang="en-IN" smtClean="0"/>
              <a:pPr/>
              <a:t>1</a:t>
            </a:fld>
            <a:endParaRPr lang="en-IN"/>
          </a:p>
        </p:txBody>
      </p:sp>
    </p:spTree>
    <p:extLst>
      <p:ext uri="{BB962C8B-B14F-4D97-AF65-F5344CB8AC3E}">
        <p14:creationId xmlns:p14="http://schemas.microsoft.com/office/powerpoint/2010/main" xmlns="" val="737587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7407B1-311C-440B-8FE0-43B52FF6ACA7}" type="slidenum">
              <a:rPr lang="en-IN" smtClean="0"/>
              <a:pPr/>
              <a:t>29</a:t>
            </a:fld>
            <a:endParaRPr lang="en-IN"/>
          </a:p>
        </p:txBody>
      </p:sp>
    </p:spTree>
    <p:extLst>
      <p:ext uri="{BB962C8B-B14F-4D97-AF65-F5344CB8AC3E}">
        <p14:creationId xmlns:p14="http://schemas.microsoft.com/office/powerpoint/2010/main" xmlns="" val="2335820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7" name="TextBox 6"/>
          <p:cNvSpPr txBox="1"/>
          <p:nvPr userDrawn="1"/>
        </p:nvSpPr>
        <p:spPr>
          <a:xfrm>
            <a:off x="0" y="6143644"/>
            <a:ext cx="9144000" cy="369332"/>
          </a:xfrm>
          <a:prstGeom prst="rect">
            <a:avLst/>
          </a:prstGeom>
          <a:noFill/>
        </p:spPr>
        <p:txBody>
          <a:bodyPr wrap="square" rtlCol="0">
            <a:spAutoFit/>
          </a:bodyPr>
          <a:lstStyle/>
          <a:p>
            <a:pPr algn="ctr"/>
            <a:r>
              <a:rPr lang="en-IN" sz="1800" b="1" dirty="0">
                <a:solidFill>
                  <a:schemeClr val="bg1"/>
                </a:solidFill>
              </a:rPr>
              <a:t>Autodesk Fusion 360: A Power Guide for Beginners and Intermediate Users (6</a:t>
            </a:r>
            <a:r>
              <a:rPr lang="en-IN" sz="1800" b="1" baseline="30000" dirty="0">
                <a:solidFill>
                  <a:schemeClr val="bg1"/>
                </a:solidFill>
              </a:rPr>
              <a:t>th</a:t>
            </a:r>
            <a:r>
              <a:rPr lang="en-IN" sz="1800" b="1" dirty="0">
                <a:solidFill>
                  <a:schemeClr val="bg1"/>
                </a:solidFill>
              </a:rPr>
              <a:t> Edition)</a:t>
            </a:r>
          </a:p>
        </p:txBody>
      </p:sp>
      <p:sp>
        <p:nvSpPr>
          <p:cNvPr id="8" name="TextBox 7"/>
          <p:cNvSpPr txBox="1"/>
          <p:nvPr userDrawn="1"/>
        </p:nvSpPr>
        <p:spPr>
          <a:xfrm>
            <a:off x="0" y="6457890"/>
            <a:ext cx="9144000" cy="400110"/>
          </a:xfrm>
          <a:prstGeom prst="rect">
            <a:avLst/>
          </a:prstGeom>
          <a:noFill/>
        </p:spPr>
        <p:txBody>
          <a:bodyPr wrap="square" rtlCol="0">
            <a:spAutoFit/>
          </a:bodyPr>
          <a:lstStyle/>
          <a:p>
            <a:pPr algn="ctr"/>
            <a:r>
              <a:rPr lang="en-IN" sz="2000" dirty="0">
                <a:solidFill>
                  <a:schemeClr val="bg1"/>
                </a:solidFill>
              </a:rPr>
              <a:t>www.cadartifex.com 	 	info@cadartifex.com</a:t>
            </a:r>
          </a:p>
        </p:txBody>
      </p:sp>
      <p:sp>
        <p:nvSpPr>
          <p:cNvPr id="10" name="TextBox 9"/>
          <p:cNvSpPr txBox="1"/>
          <p:nvPr userDrawn="1"/>
        </p:nvSpPr>
        <p:spPr>
          <a:xfrm>
            <a:off x="1259632" y="44624"/>
            <a:ext cx="5302414" cy="400110"/>
          </a:xfrm>
          <a:prstGeom prst="rect">
            <a:avLst/>
          </a:prstGeom>
          <a:noFill/>
        </p:spPr>
        <p:txBody>
          <a:bodyPr wrap="none" rtlCol="0">
            <a:spAutoFit/>
          </a:bodyPr>
          <a:lstStyle/>
          <a:p>
            <a:r>
              <a:rPr lang="en-IN" sz="2000" b="1" dirty="0">
                <a:solidFill>
                  <a:schemeClr val="bg1"/>
                </a:solidFill>
              </a:rPr>
              <a:t>Chapter 4: Applying Constraints and Dimensions</a:t>
            </a:r>
          </a:p>
        </p:txBody>
      </p:sp>
    </p:spTree>
    <p:extLst>
      <p:ext uri="{BB962C8B-B14F-4D97-AF65-F5344CB8AC3E}">
        <p14:creationId xmlns:p14="http://schemas.microsoft.com/office/powerpoint/2010/main" xmlns="" val="928207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userDrawn="1"/>
        </p:nvSpPr>
        <p:spPr>
          <a:xfrm>
            <a:off x="0" y="6143644"/>
            <a:ext cx="9144000" cy="369332"/>
          </a:xfrm>
          <a:prstGeom prst="rect">
            <a:avLst/>
          </a:prstGeom>
          <a:noFill/>
        </p:spPr>
        <p:txBody>
          <a:bodyPr wrap="square" rtlCol="0">
            <a:spAutoFit/>
          </a:bodyPr>
          <a:lstStyle/>
          <a:p>
            <a:pPr algn="ctr"/>
            <a:r>
              <a:rPr lang="en-IN" sz="1800" b="1" dirty="0">
                <a:solidFill>
                  <a:schemeClr val="bg1"/>
                </a:solidFill>
              </a:rPr>
              <a:t>Autodesk Fusion 360: A Power Guide for Beginners and Intermediate Users (6</a:t>
            </a:r>
            <a:r>
              <a:rPr lang="en-IN" sz="1800" b="1" baseline="30000" dirty="0">
                <a:solidFill>
                  <a:schemeClr val="bg1"/>
                </a:solidFill>
              </a:rPr>
              <a:t>th</a:t>
            </a:r>
            <a:r>
              <a:rPr lang="en-IN" sz="1800" b="1" dirty="0">
                <a:solidFill>
                  <a:schemeClr val="bg1"/>
                </a:solidFill>
              </a:rPr>
              <a:t> Edition)</a:t>
            </a:r>
          </a:p>
        </p:txBody>
      </p:sp>
      <p:sp>
        <p:nvSpPr>
          <p:cNvPr id="8" name="TextBox 7"/>
          <p:cNvSpPr txBox="1"/>
          <p:nvPr userDrawn="1"/>
        </p:nvSpPr>
        <p:spPr>
          <a:xfrm>
            <a:off x="0" y="6457890"/>
            <a:ext cx="9144000" cy="400110"/>
          </a:xfrm>
          <a:prstGeom prst="rect">
            <a:avLst/>
          </a:prstGeom>
          <a:noFill/>
        </p:spPr>
        <p:txBody>
          <a:bodyPr wrap="square" rtlCol="0">
            <a:spAutoFit/>
          </a:bodyPr>
          <a:lstStyle/>
          <a:p>
            <a:pPr algn="ctr"/>
            <a:r>
              <a:rPr lang="en-IN" sz="2000" dirty="0">
                <a:solidFill>
                  <a:schemeClr val="bg1"/>
                </a:solidFill>
              </a:rPr>
              <a:t>www.cadartifex.com 	 	info@cadartifex.com</a:t>
            </a:r>
          </a:p>
        </p:txBody>
      </p:sp>
      <p:sp>
        <p:nvSpPr>
          <p:cNvPr id="9" name="TextBox 8"/>
          <p:cNvSpPr txBox="1"/>
          <p:nvPr userDrawn="1"/>
        </p:nvSpPr>
        <p:spPr>
          <a:xfrm>
            <a:off x="1259632" y="44624"/>
            <a:ext cx="5302414" cy="400110"/>
          </a:xfrm>
          <a:prstGeom prst="rect">
            <a:avLst/>
          </a:prstGeom>
          <a:noFill/>
        </p:spPr>
        <p:txBody>
          <a:bodyPr wrap="none" rtlCol="0">
            <a:spAutoFit/>
          </a:bodyPr>
          <a:lstStyle/>
          <a:p>
            <a:r>
              <a:rPr lang="en-IN" sz="2000" b="1" dirty="0">
                <a:solidFill>
                  <a:schemeClr val="bg1"/>
                </a:solidFill>
              </a:rPr>
              <a:t>Chapter 4: Applying Constraints and Dimensions</a:t>
            </a:r>
          </a:p>
        </p:txBody>
      </p:sp>
    </p:spTree>
    <p:extLst>
      <p:ext uri="{BB962C8B-B14F-4D97-AF65-F5344CB8AC3E}">
        <p14:creationId xmlns:p14="http://schemas.microsoft.com/office/powerpoint/2010/main" xmlns="" val="1428168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2636809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688807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3330553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3204811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4062399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2050878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165974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2307452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777103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F607628-59D9-4DAE-B459-188AF83C6DF5}" type="datetimeFigureOut">
              <a:rPr lang="en-US" smtClean="0"/>
              <a:pPr/>
              <a:t>8/8/2023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607628-59D9-4DAE-B459-188AF83C6DF5}" type="datetimeFigureOut">
              <a:rPr lang="en-US" smtClean="0"/>
              <a:pPr/>
              <a:t>8/8/2023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607628-59D9-4DAE-B459-188AF83C6DF5}" type="datetimeFigureOut">
              <a:rPr lang="en-US" smtClean="0"/>
              <a:pPr/>
              <a:t>8/8/2023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F607628-59D9-4DAE-B459-188AF83C6DF5}" type="datetimeFigureOut">
              <a:rPr lang="en-US" smtClean="0"/>
              <a:pPr/>
              <a:t>8/8/2023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F607628-59D9-4DAE-B459-188AF83C6DF5}" type="datetimeFigureOut">
              <a:rPr lang="en-US" smtClean="0"/>
              <a:pPr/>
              <a:t>8/8/2023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F607628-59D9-4DAE-B459-188AF83C6DF5}" type="datetimeFigureOut">
              <a:rPr lang="en-US" smtClean="0"/>
              <a:pPr/>
              <a:t>8/8/2023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607628-59D9-4DAE-B459-188AF83C6DF5}" type="datetimeFigureOut">
              <a:rPr lang="en-US" smtClean="0"/>
              <a:pPr/>
              <a:t>8/8/2023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607628-59D9-4DAE-B459-188AF83C6DF5}" type="datetimeFigureOut">
              <a:rPr lang="en-US" smtClean="0"/>
              <a:pPr/>
              <a:t>8/8/2023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607628-59D9-4DAE-B459-188AF83C6DF5}" type="datetimeFigureOut">
              <a:rPr lang="en-US" smtClean="0"/>
              <a:pPr/>
              <a:t>8/8/2023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607628-59D9-4DAE-B459-188AF83C6DF5}" type="datetimeFigureOut">
              <a:rPr lang="en-US" smtClean="0"/>
              <a:pPr/>
              <a:t>8/8/2023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607628-59D9-4DAE-B459-188AF83C6DF5}" type="datetimeFigureOut">
              <a:rPr lang="en-US" smtClean="0"/>
              <a:pPr/>
              <a:t>8/8/2023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xmlns="" val="2983567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607628-59D9-4DAE-B459-188AF83C6DF5}" type="datetimeFigureOut">
              <a:rPr lang="en-US" smtClean="0"/>
              <a:pPr/>
              <a:t>8/8/2023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BC0CC5-0EA3-4E40-A1C6-AF2C48F7C7B9}"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1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47664" y="939622"/>
            <a:ext cx="6408712" cy="430887"/>
          </a:xfrm>
          <a:prstGeom prst="rect">
            <a:avLst/>
          </a:prstGeom>
          <a:noFill/>
        </p:spPr>
        <p:txBody>
          <a:bodyPr wrap="square" rtlCol="0">
            <a:spAutoFit/>
          </a:bodyPr>
          <a:lstStyle/>
          <a:p>
            <a:r>
              <a:rPr lang="en-IN" sz="2200" b="1" dirty="0">
                <a:solidFill>
                  <a:srgbClr val="002060"/>
                </a:solidFill>
              </a:rPr>
              <a:t>In this chapter, the following topics will be discussed:</a:t>
            </a:r>
          </a:p>
        </p:txBody>
      </p:sp>
      <p:sp>
        <p:nvSpPr>
          <p:cNvPr id="9" name="TextBox 8"/>
          <p:cNvSpPr txBox="1"/>
          <p:nvPr/>
        </p:nvSpPr>
        <p:spPr>
          <a:xfrm>
            <a:off x="1547664" y="1397675"/>
            <a:ext cx="6167038" cy="2031325"/>
          </a:xfrm>
          <a:prstGeom prst="rect">
            <a:avLst/>
          </a:prstGeom>
          <a:noFill/>
        </p:spPr>
        <p:txBody>
          <a:bodyPr wrap="square" rtlCol="0">
            <a:spAutoFit/>
          </a:bodyPr>
          <a:lstStyle/>
          <a:p>
            <a:r>
              <a:rPr lang="en-IN" dirty="0"/>
              <a:t>• Working with Constraints</a:t>
            </a:r>
          </a:p>
          <a:p>
            <a:r>
              <a:rPr lang="en-IN" dirty="0"/>
              <a:t>• Applying Constraints</a:t>
            </a:r>
          </a:p>
          <a:p>
            <a:r>
              <a:rPr lang="en-IN" dirty="0"/>
              <a:t>• Controlling the Display of Constraints</a:t>
            </a:r>
          </a:p>
          <a:p>
            <a:r>
              <a:rPr lang="en-IN" dirty="0"/>
              <a:t>• Applying Dimensions</a:t>
            </a:r>
          </a:p>
          <a:p>
            <a:r>
              <a:rPr lang="en-IN" dirty="0"/>
              <a:t>• Modifying/Editing Dimensions </a:t>
            </a:r>
          </a:p>
          <a:p>
            <a:r>
              <a:rPr lang="en-IN" dirty="0"/>
              <a:t>• Working with Different States of a Sketch</a:t>
            </a:r>
          </a:p>
          <a:p>
            <a:r>
              <a:rPr lang="en-IN" dirty="0"/>
              <a:t>• Working with SKETCH PALETTE </a:t>
            </a:r>
          </a:p>
        </p:txBody>
      </p:sp>
    </p:spTree>
    <p:extLst>
      <p:ext uri="{BB962C8B-B14F-4D97-AF65-F5344CB8AC3E}">
        <p14:creationId xmlns:p14="http://schemas.microsoft.com/office/powerpoint/2010/main" xmlns="" val="2136074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47664" y="939622"/>
            <a:ext cx="4608512" cy="430887"/>
          </a:xfrm>
          <a:prstGeom prst="rect">
            <a:avLst/>
          </a:prstGeom>
          <a:noFill/>
        </p:spPr>
        <p:txBody>
          <a:bodyPr wrap="square" rtlCol="0">
            <a:spAutoFit/>
          </a:bodyPr>
          <a:lstStyle/>
          <a:p>
            <a:r>
              <a:rPr lang="en-IN" sz="2200" b="1" dirty="0">
                <a:solidFill>
                  <a:srgbClr val="002060"/>
                </a:solidFill>
              </a:rPr>
              <a:t>Working with Constraints</a:t>
            </a:r>
          </a:p>
        </p:txBody>
      </p:sp>
      <p:sp>
        <p:nvSpPr>
          <p:cNvPr id="7" name="TextBox 6"/>
          <p:cNvSpPr txBox="1"/>
          <p:nvPr/>
        </p:nvSpPr>
        <p:spPr>
          <a:xfrm>
            <a:off x="1547664" y="1353542"/>
            <a:ext cx="6912768" cy="1477328"/>
          </a:xfrm>
          <a:prstGeom prst="rect">
            <a:avLst/>
          </a:prstGeom>
          <a:noFill/>
        </p:spPr>
        <p:txBody>
          <a:bodyPr wrap="square" rtlCol="0">
            <a:spAutoFit/>
          </a:bodyPr>
          <a:lstStyle/>
          <a:p>
            <a:r>
              <a:rPr lang="en-US" dirty="0"/>
              <a:t>Constraints are used for restricting the degrees of freedom of a sketch. You can apply constraints on a sketch entity, between sketch entities, and between sketch entities and planes, axes, edges, or vertices. Some of the constraints such as horizontal, vertical, and coincident are applied automatically while drawing sketch entities. </a:t>
            </a:r>
            <a:endParaRPr lang="en-IN" dirty="0"/>
          </a:p>
        </p:txBody>
      </p:sp>
      <p:pic>
        <p:nvPicPr>
          <p:cNvPr id="4" name="Picture 3">
            <a:extLst>
              <a:ext uri="{FF2B5EF4-FFF2-40B4-BE49-F238E27FC236}">
                <a16:creationId xmlns:a16="http://schemas.microsoft.com/office/drawing/2014/main" xmlns="" id="{DC631F1A-5C69-5096-DFF8-8542B245D07D}"/>
              </a:ext>
            </a:extLst>
          </p:cNvPr>
          <p:cNvPicPr>
            <a:picLocks noChangeAspect="1"/>
          </p:cNvPicPr>
          <p:nvPr/>
        </p:nvPicPr>
        <p:blipFill>
          <a:blip r:embed="rId2"/>
          <a:stretch>
            <a:fillRect/>
          </a:stretch>
        </p:blipFill>
        <p:spPr>
          <a:xfrm>
            <a:off x="1259632" y="3244790"/>
            <a:ext cx="6332512" cy="2123038"/>
          </a:xfrm>
          <a:prstGeom prst="rect">
            <a:avLst/>
          </a:prstGeom>
        </p:spPr>
      </p:pic>
    </p:spTree>
    <p:extLst>
      <p:ext uri="{BB962C8B-B14F-4D97-AF65-F5344CB8AC3E}">
        <p14:creationId xmlns:p14="http://schemas.microsoft.com/office/powerpoint/2010/main" xmlns="" val="3243060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47664" y="939622"/>
            <a:ext cx="4608512" cy="4632037"/>
          </a:xfrm>
          <a:prstGeom prst="rect">
            <a:avLst/>
          </a:prstGeom>
          <a:noFill/>
        </p:spPr>
        <p:txBody>
          <a:bodyPr wrap="square" rtlCol="0">
            <a:spAutoFit/>
          </a:bodyPr>
          <a:lstStyle/>
          <a:p>
            <a:r>
              <a:rPr lang="fr-FR" b="1" dirty="0">
                <a:solidFill>
                  <a:srgbClr val="002060"/>
                </a:solidFill>
              </a:rPr>
              <a:t>Horizontal </a:t>
            </a:r>
            <a:r>
              <a:rPr lang="fr-FR" b="1" dirty="0" err="1">
                <a:solidFill>
                  <a:srgbClr val="002060"/>
                </a:solidFill>
              </a:rPr>
              <a:t>Constraint</a:t>
            </a:r>
            <a:endParaRPr lang="fr-FR" b="1" dirty="0">
              <a:solidFill>
                <a:srgbClr val="002060"/>
              </a:solidFill>
            </a:endParaRPr>
          </a:p>
          <a:p>
            <a:endParaRPr lang="fr-FR" sz="600" b="1" dirty="0">
              <a:solidFill>
                <a:srgbClr val="002060"/>
              </a:solidFill>
            </a:endParaRPr>
          </a:p>
          <a:p>
            <a:r>
              <a:rPr lang="fr-FR" b="1" dirty="0">
                <a:solidFill>
                  <a:srgbClr val="002060"/>
                </a:solidFill>
              </a:rPr>
              <a:t>Vertical </a:t>
            </a:r>
            <a:r>
              <a:rPr lang="fr-FR" b="1" dirty="0" err="1">
                <a:solidFill>
                  <a:srgbClr val="002060"/>
                </a:solidFill>
              </a:rPr>
              <a:t>Constraint</a:t>
            </a:r>
            <a:endParaRPr lang="fr-FR" b="1" dirty="0">
              <a:solidFill>
                <a:srgbClr val="002060"/>
              </a:solidFill>
            </a:endParaRPr>
          </a:p>
          <a:p>
            <a:endParaRPr lang="fr-FR" sz="500" b="1" dirty="0">
              <a:solidFill>
                <a:srgbClr val="002060"/>
              </a:solidFill>
            </a:endParaRPr>
          </a:p>
          <a:p>
            <a:r>
              <a:rPr lang="fr-FR" b="1" dirty="0" err="1">
                <a:solidFill>
                  <a:srgbClr val="002060"/>
                </a:solidFill>
              </a:rPr>
              <a:t>Coincident</a:t>
            </a:r>
            <a:r>
              <a:rPr lang="fr-FR" b="1" dirty="0">
                <a:solidFill>
                  <a:srgbClr val="002060"/>
                </a:solidFill>
              </a:rPr>
              <a:t> </a:t>
            </a:r>
            <a:r>
              <a:rPr lang="fr-FR" b="1" dirty="0" err="1">
                <a:solidFill>
                  <a:srgbClr val="002060"/>
                </a:solidFill>
              </a:rPr>
              <a:t>Constraint</a:t>
            </a:r>
            <a:endParaRPr lang="fr-FR" b="1" dirty="0">
              <a:solidFill>
                <a:srgbClr val="002060"/>
              </a:solidFill>
            </a:endParaRPr>
          </a:p>
          <a:p>
            <a:endParaRPr lang="fr-FR" sz="500" b="1" dirty="0">
              <a:solidFill>
                <a:srgbClr val="002060"/>
              </a:solidFill>
            </a:endParaRPr>
          </a:p>
          <a:p>
            <a:r>
              <a:rPr lang="fr-FR" b="1" dirty="0" err="1">
                <a:solidFill>
                  <a:srgbClr val="002060"/>
                </a:solidFill>
              </a:rPr>
              <a:t>Collinear</a:t>
            </a:r>
            <a:r>
              <a:rPr lang="fr-FR" b="1" dirty="0">
                <a:solidFill>
                  <a:srgbClr val="002060"/>
                </a:solidFill>
              </a:rPr>
              <a:t> </a:t>
            </a:r>
            <a:r>
              <a:rPr lang="fr-FR" b="1" dirty="0" err="1">
                <a:solidFill>
                  <a:srgbClr val="002060"/>
                </a:solidFill>
              </a:rPr>
              <a:t>Constraint</a:t>
            </a:r>
            <a:endParaRPr lang="fr-FR" b="1" dirty="0">
              <a:solidFill>
                <a:srgbClr val="002060"/>
              </a:solidFill>
            </a:endParaRPr>
          </a:p>
          <a:p>
            <a:endParaRPr lang="fr-FR" sz="500" b="1" dirty="0">
              <a:solidFill>
                <a:srgbClr val="002060"/>
              </a:solidFill>
            </a:endParaRPr>
          </a:p>
          <a:p>
            <a:r>
              <a:rPr lang="fr-FR" b="1" dirty="0" err="1">
                <a:solidFill>
                  <a:srgbClr val="002060"/>
                </a:solidFill>
              </a:rPr>
              <a:t>Perpendicular</a:t>
            </a:r>
            <a:r>
              <a:rPr lang="fr-FR" b="1" dirty="0">
                <a:solidFill>
                  <a:srgbClr val="002060"/>
                </a:solidFill>
              </a:rPr>
              <a:t> </a:t>
            </a:r>
            <a:r>
              <a:rPr lang="fr-FR" b="1" dirty="0" err="1">
                <a:solidFill>
                  <a:srgbClr val="002060"/>
                </a:solidFill>
              </a:rPr>
              <a:t>Constraint</a:t>
            </a:r>
            <a:endParaRPr lang="fr-FR" b="1" dirty="0">
              <a:solidFill>
                <a:srgbClr val="002060"/>
              </a:solidFill>
            </a:endParaRPr>
          </a:p>
          <a:p>
            <a:endParaRPr lang="fr-FR" sz="500" b="1" dirty="0">
              <a:solidFill>
                <a:srgbClr val="002060"/>
              </a:solidFill>
            </a:endParaRPr>
          </a:p>
          <a:p>
            <a:r>
              <a:rPr lang="fr-FR" b="1" dirty="0" err="1">
                <a:solidFill>
                  <a:srgbClr val="002060"/>
                </a:solidFill>
              </a:rPr>
              <a:t>Parallel</a:t>
            </a:r>
            <a:r>
              <a:rPr lang="fr-FR" b="1" dirty="0">
                <a:solidFill>
                  <a:srgbClr val="002060"/>
                </a:solidFill>
              </a:rPr>
              <a:t> </a:t>
            </a:r>
            <a:r>
              <a:rPr lang="fr-FR" b="1" dirty="0" err="1">
                <a:solidFill>
                  <a:srgbClr val="002060"/>
                </a:solidFill>
              </a:rPr>
              <a:t>Constraint</a:t>
            </a:r>
            <a:endParaRPr lang="fr-FR" b="1" dirty="0">
              <a:solidFill>
                <a:srgbClr val="002060"/>
              </a:solidFill>
            </a:endParaRPr>
          </a:p>
          <a:p>
            <a:endParaRPr lang="fr-FR" sz="500" b="1" dirty="0">
              <a:solidFill>
                <a:srgbClr val="002060"/>
              </a:solidFill>
            </a:endParaRPr>
          </a:p>
          <a:p>
            <a:r>
              <a:rPr lang="fr-FR" b="1" dirty="0">
                <a:solidFill>
                  <a:srgbClr val="002060"/>
                </a:solidFill>
              </a:rPr>
              <a:t>Tangent </a:t>
            </a:r>
            <a:r>
              <a:rPr lang="fr-FR" b="1" dirty="0" err="1">
                <a:solidFill>
                  <a:srgbClr val="002060"/>
                </a:solidFill>
              </a:rPr>
              <a:t>Constraint</a:t>
            </a:r>
            <a:endParaRPr lang="fr-FR" b="1" dirty="0">
              <a:solidFill>
                <a:srgbClr val="002060"/>
              </a:solidFill>
            </a:endParaRPr>
          </a:p>
          <a:p>
            <a:endParaRPr lang="fr-FR" sz="500" b="1" dirty="0">
              <a:solidFill>
                <a:srgbClr val="002060"/>
              </a:solidFill>
            </a:endParaRPr>
          </a:p>
          <a:p>
            <a:r>
              <a:rPr lang="fr-FR" b="1" dirty="0" err="1">
                <a:solidFill>
                  <a:srgbClr val="002060"/>
                </a:solidFill>
              </a:rPr>
              <a:t>Concentric</a:t>
            </a:r>
            <a:r>
              <a:rPr lang="fr-FR" b="1" dirty="0">
                <a:solidFill>
                  <a:srgbClr val="002060"/>
                </a:solidFill>
              </a:rPr>
              <a:t> </a:t>
            </a:r>
            <a:r>
              <a:rPr lang="fr-FR" b="1" dirty="0" err="1">
                <a:solidFill>
                  <a:srgbClr val="002060"/>
                </a:solidFill>
              </a:rPr>
              <a:t>Constraint</a:t>
            </a:r>
            <a:endParaRPr lang="fr-FR" b="1" dirty="0">
              <a:solidFill>
                <a:srgbClr val="002060"/>
              </a:solidFill>
            </a:endParaRPr>
          </a:p>
          <a:p>
            <a:endParaRPr lang="fr-FR" sz="500" b="1" dirty="0">
              <a:solidFill>
                <a:srgbClr val="002060"/>
              </a:solidFill>
            </a:endParaRPr>
          </a:p>
          <a:p>
            <a:r>
              <a:rPr lang="fr-FR" b="1" dirty="0" err="1">
                <a:solidFill>
                  <a:srgbClr val="002060"/>
                </a:solidFill>
              </a:rPr>
              <a:t>Equal</a:t>
            </a:r>
            <a:r>
              <a:rPr lang="fr-FR" b="1" dirty="0">
                <a:solidFill>
                  <a:srgbClr val="002060"/>
                </a:solidFill>
              </a:rPr>
              <a:t> </a:t>
            </a:r>
            <a:r>
              <a:rPr lang="fr-FR" b="1" dirty="0" err="1">
                <a:solidFill>
                  <a:srgbClr val="002060"/>
                </a:solidFill>
              </a:rPr>
              <a:t>Constraint</a:t>
            </a:r>
            <a:endParaRPr lang="fr-FR" b="1" dirty="0">
              <a:solidFill>
                <a:srgbClr val="002060"/>
              </a:solidFill>
            </a:endParaRPr>
          </a:p>
          <a:p>
            <a:endParaRPr lang="fr-FR" sz="500" b="1" dirty="0">
              <a:solidFill>
                <a:srgbClr val="002060"/>
              </a:solidFill>
            </a:endParaRPr>
          </a:p>
          <a:p>
            <a:r>
              <a:rPr lang="fr-FR" b="1" dirty="0" err="1">
                <a:solidFill>
                  <a:srgbClr val="002060"/>
                </a:solidFill>
              </a:rPr>
              <a:t>Midpoint</a:t>
            </a:r>
            <a:r>
              <a:rPr lang="fr-FR" b="1" dirty="0">
                <a:solidFill>
                  <a:srgbClr val="002060"/>
                </a:solidFill>
              </a:rPr>
              <a:t> </a:t>
            </a:r>
            <a:r>
              <a:rPr lang="fr-FR" b="1" dirty="0" err="1">
                <a:solidFill>
                  <a:srgbClr val="002060"/>
                </a:solidFill>
              </a:rPr>
              <a:t>Constraint</a:t>
            </a:r>
            <a:endParaRPr lang="fr-FR" b="1" dirty="0">
              <a:solidFill>
                <a:srgbClr val="002060"/>
              </a:solidFill>
            </a:endParaRPr>
          </a:p>
          <a:p>
            <a:endParaRPr lang="fr-FR" sz="500" b="1" dirty="0">
              <a:solidFill>
                <a:srgbClr val="002060"/>
              </a:solidFill>
            </a:endParaRPr>
          </a:p>
          <a:p>
            <a:r>
              <a:rPr lang="fr-FR" b="1" dirty="0" err="1">
                <a:solidFill>
                  <a:srgbClr val="002060"/>
                </a:solidFill>
              </a:rPr>
              <a:t>Symmetry</a:t>
            </a:r>
            <a:r>
              <a:rPr lang="fr-FR" b="1" dirty="0">
                <a:solidFill>
                  <a:srgbClr val="002060"/>
                </a:solidFill>
              </a:rPr>
              <a:t> </a:t>
            </a:r>
            <a:r>
              <a:rPr lang="fr-FR" b="1" dirty="0" err="1">
                <a:solidFill>
                  <a:srgbClr val="002060"/>
                </a:solidFill>
              </a:rPr>
              <a:t>Constraint</a:t>
            </a:r>
            <a:endParaRPr lang="fr-FR" b="1" dirty="0">
              <a:solidFill>
                <a:srgbClr val="002060"/>
              </a:solidFill>
            </a:endParaRPr>
          </a:p>
          <a:p>
            <a:endParaRPr lang="fr-FR" sz="500" b="1" dirty="0">
              <a:solidFill>
                <a:srgbClr val="002060"/>
              </a:solidFill>
            </a:endParaRPr>
          </a:p>
          <a:p>
            <a:r>
              <a:rPr lang="fr-FR" b="1" dirty="0" err="1">
                <a:solidFill>
                  <a:srgbClr val="002060"/>
                </a:solidFill>
              </a:rPr>
              <a:t>Curvature</a:t>
            </a:r>
            <a:r>
              <a:rPr lang="fr-FR" b="1" dirty="0">
                <a:solidFill>
                  <a:srgbClr val="002060"/>
                </a:solidFill>
              </a:rPr>
              <a:t> </a:t>
            </a:r>
            <a:r>
              <a:rPr lang="fr-FR" b="1" dirty="0" err="1">
                <a:solidFill>
                  <a:srgbClr val="002060"/>
                </a:solidFill>
              </a:rPr>
              <a:t>Constraint</a:t>
            </a:r>
            <a:endParaRPr lang="fr-FR" b="1" dirty="0">
              <a:solidFill>
                <a:srgbClr val="002060"/>
              </a:solidFill>
            </a:endParaRPr>
          </a:p>
          <a:p>
            <a:endParaRPr lang="fr-FR" sz="500" b="1" dirty="0">
              <a:solidFill>
                <a:srgbClr val="002060"/>
              </a:solidFill>
            </a:endParaRPr>
          </a:p>
          <a:p>
            <a:r>
              <a:rPr lang="fr-FR" b="1" dirty="0" err="1">
                <a:solidFill>
                  <a:srgbClr val="002060"/>
                </a:solidFill>
              </a:rPr>
              <a:t>Fix</a:t>
            </a:r>
            <a:r>
              <a:rPr lang="fr-FR" b="1" dirty="0">
                <a:solidFill>
                  <a:srgbClr val="002060"/>
                </a:solidFill>
              </a:rPr>
              <a:t> </a:t>
            </a:r>
            <a:r>
              <a:rPr lang="fr-FR" b="1" dirty="0" err="1">
                <a:solidFill>
                  <a:srgbClr val="002060"/>
                </a:solidFill>
              </a:rPr>
              <a:t>Constraint</a:t>
            </a:r>
            <a:endParaRPr lang="en-IN" b="1" dirty="0">
              <a:solidFill>
                <a:srgbClr val="002060"/>
              </a:solidFill>
            </a:endParaRPr>
          </a:p>
        </p:txBody>
      </p:sp>
    </p:spTree>
    <p:extLst>
      <p:ext uri="{BB962C8B-B14F-4D97-AF65-F5344CB8AC3E}">
        <p14:creationId xmlns:p14="http://schemas.microsoft.com/office/powerpoint/2010/main" xmlns="" val="3243060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480" y="857232"/>
            <a:ext cx="5760640" cy="430887"/>
          </a:xfrm>
          <a:prstGeom prst="rect">
            <a:avLst/>
          </a:prstGeom>
          <a:noFill/>
        </p:spPr>
        <p:txBody>
          <a:bodyPr wrap="square" rtlCol="0">
            <a:spAutoFit/>
          </a:bodyPr>
          <a:lstStyle/>
          <a:p>
            <a:r>
              <a:rPr lang="en-IN" sz="2200" b="1" dirty="0">
                <a:solidFill>
                  <a:srgbClr val="002060"/>
                </a:solidFill>
              </a:rPr>
              <a:t>Applying Constraints</a:t>
            </a:r>
          </a:p>
        </p:txBody>
      </p:sp>
      <p:sp>
        <p:nvSpPr>
          <p:cNvPr id="6" name="TextBox 5"/>
          <p:cNvSpPr txBox="1"/>
          <p:nvPr/>
        </p:nvSpPr>
        <p:spPr>
          <a:xfrm>
            <a:off x="1714480" y="1291224"/>
            <a:ext cx="7128792" cy="923330"/>
          </a:xfrm>
          <a:prstGeom prst="rect">
            <a:avLst/>
          </a:prstGeom>
          <a:noFill/>
        </p:spPr>
        <p:txBody>
          <a:bodyPr wrap="square" rtlCol="0">
            <a:spAutoFit/>
          </a:bodyPr>
          <a:lstStyle/>
          <a:p>
            <a:r>
              <a:rPr lang="en-US" sz="1800" b="0" i="0" u="none" strike="noStrike" baseline="0" dirty="0">
                <a:solidFill>
                  <a:srgbClr val="221E1F"/>
                </a:solidFill>
                <a:latin typeface="Ideal Sans"/>
              </a:rPr>
              <a:t>In Fusion 360, you can apply constraints by using the constraints tools available in the CONSTRAINTS panel of the SKETCH contextual tab in the Toolbar.</a:t>
            </a:r>
            <a:endParaRPr lang="en-IN" dirty="0"/>
          </a:p>
        </p:txBody>
      </p:sp>
      <p:pic>
        <p:nvPicPr>
          <p:cNvPr id="5" name="Picture 4">
            <a:extLst>
              <a:ext uri="{FF2B5EF4-FFF2-40B4-BE49-F238E27FC236}">
                <a16:creationId xmlns:a16="http://schemas.microsoft.com/office/drawing/2014/main" xmlns="" id="{F06BA79C-736A-5154-647C-DECC71A1AA17}"/>
              </a:ext>
            </a:extLst>
          </p:cNvPr>
          <p:cNvPicPr>
            <a:picLocks noChangeAspect="1"/>
          </p:cNvPicPr>
          <p:nvPr/>
        </p:nvPicPr>
        <p:blipFill>
          <a:blip r:embed="rId2"/>
          <a:stretch>
            <a:fillRect/>
          </a:stretch>
        </p:blipFill>
        <p:spPr>
          <a:xfrm>
            <a:off x="1495942" y="2348880"/>
            <a:ext cx="6810887" cy="1808541"/>
          </a:xfrm>
          <a:prstGeom prst="rect">
            <a:avLst/>
          </a:prstGeom>
        </p:spPr>
      </p:pic>
    </p:spTree>
    <p:extLst>
      <p:ext uri="{BB962C8B-B14F-4D97-AF65-F5344CB8AC3E}">
        <p14:creationId xmlns:p14="http://schemas.microsoft.com/office/powerpoint/2010/main" xmlns="" val="728204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85852" y="1071546"/>
            <a:ext cx="7128792" cy="923330"/>
          </a:xfrm>
          <a:prstGeom prst="rect">
            <a:avLst/>
          </a:prstGeom>
          <a:noFill/>
        </p:spPr>
        <p:txBody>
          <a:bodyPr wrap="square" rtlCol="0">
            <a:spAutoFit/>
          </a:bodyPr>
          <a:lstStyle/>
          <a:p>
            <a:r>
              <a:rPr lang="en-US" sz="1800" b="0" i="0" u="none" strike="noStrike" baseline="0" dirty="0">
                <a:solidFill>
                  <a:srgbClr val="221E1F"/>
                </a:solidFill>
                <a:latin typeface="Ideal Sans"/>
              </a:rPr>
              <a:t>For example, to apply a concentric constraint between an arc and a circle, click on the Concentric tool in the CONSTRAINTS panel. Next, click on the arc and then the circle in the drawing area one by one.</a:t>
            </a:r>
            <a:endParaRPr lang="en-IN" dirty="0"/>
          </a:p>
        </p:txBody>
      </p:sp>
      <p:sp>
        <p:nvSpPr>
          <p:cNvPr id="8" name="Rectangle 7"/>
          <p:cNvSpPr/>
          <p:nvPr/>
        </p:nvSpPr>
        <p:spPr>
          <a:xfrm>
            <a:off x="1285852" y="4572008"/>
            <a:ext cx="6572296" cy="1200329"/>
          </a:xfrm>
          <a:prstGeom prst="rect">
            <a:avLst/>
          </a:prstGeom>
        </p:spPr>
        <p:txBody>
          <a:bodyPr wrap="square">
            <a:spAutoFit/>
          </a:bodyPr>
          <a:lstStyle/>
          <a:p>
            <a:pPr algn="just"/>
            <a:r>
              <a:rPr lang="en-IN" i="1" dirty="0"/>
              <a:t>TIP: </a:t>
            </a:r>
            <a:r>
              <a:rPr lang="en-US" sz="1800" b="0" i="1" u="none" strike="noStrike" baseline="0" dirty="0">
                <a:solidFill>
                  <a:srgbClr val="221E1F"/>
                </a:solidFill>
                <a:latin typeface="Ideal Sans"/>
              </a:rPr>
              <a:t>Most of the time, the second selected entity moves to fulfil the applied constraint condition. However, sometimes due to the other applied constraints, the first selected entity moves to fulfil the constraint condition.</a:t>
            </a:r>
            <a:endParaRPr lang="en-IN" i="1" dirty="0"/>
          </a:p>
        </p:txBody>
      </p:sp>
      <p:pic>
        <p:nvPicPr>
          <p:cNvPr id="4" name="Picture 3">
            <a:extLst>
              <a:ext uri="{FF2B5EF4-FFF2-40B4-BE49-F238E27FC236}">
                <a16:creationId xmlns:a16="http://schemas.microsoft.com/office/drawing/2014/main" xmlns="" id="{2195F6DB-0E12-5BDD-E094-1FD539CFC710}"/>
              </a:ext>
            </a:extLst>
          </p:cNvPr>
          <p:cNvPicPr>
            <a:picLocks noChangeAspect="1"/>
          </p:cNvPicPr>
          <p:nvPr/>
        </p:nvPicPr>
        <p:blipFill>
          <a:blip r:embed="rId2"/>
          <a:stretch>
            <a:fillRect/>
          </a:stretch>
        </p:blipFill>
        <p:spPr>
          <a:xfrm>
            <a:off x="2149963" y="2190377"/>
            <a:ext cx="4844073" cy="2030237"/>
          </a:xfrm>
          <a:prstGeom prst="rect">
            <a:avLst/>
          </a:prstGeom>
        </p:spPr>
      </p:pic>
    </p:spTree>
    <p:extLst>
      <p:ext uri="{BB962C8B-B14F-4D97-AF65-F5344CB8AC3E}">
        <p14:creationId xmlns:p14="http://schemas.microsoft.com/office/powerpoint/2010/main" xmlns="" val="421474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10EBFCDD-0488-19AA-F481-C494377FDEF8}"/>
              </a:ext>
            </a:extLst>
          </p:cNvPr>
          <p:cNvPicPr>
            <a:picLocks noChangeAspect="1"/>
          </p:cNvPicPr>
          <p:nvPr/>
        </p:nvPicPr>
        <p:blipFill>
          <a:blip r:embed="rId2"/>
          <a:stretch>
            <a:fillRect/>
          </a:stretch>
        </p:blipFill>
        <p:spPr>
          <a:xfrm>
            <a:off x="1619672" y="1340768"/>
            <a:ext cx="6239846" cy="1224136"/>
          </a:xfrm>
          <a:prstGeom prst="rect">
            <a:avLst/>
          </a:prstGeom>
        </p:spPr>
      </p:pic>
      <p:pic>
        <p:nvPicPr>
          <p:cNvPr id="7" name="Picture 6">
            <a:extLst>
              <a:ext uri="{FF2B5EF4-FFF2-40B4-BE49-F238E27FC236}">
                <a16:creationId xmlns:a16="http://schemas.microsoft.com/office/drawing/2014/main" xmlns="" id="{F6E577A5-E9C6-E71C-124D-87AFA6C7D86E}"/>
              </a:ext>
            </a:extLst>
          </p:cNvPr>
          <p:cNvPicPr>
            <a:picLocks noChangeAspect="1"/>
          </p:cNvPicPr>
          <p:nvPr/>
        </p:nvPicPr>
        <p:blipFill>
          <a:blip r:embed="rId3"/>
          <a:stretch>
            <a:fillRect/>
          </a:stretch>
        </p:blipFill>
        <p:spPr>
          <a:xfrm>
            <a:off x="2209800" y="3048000"/>
            <a:ext cx="4746848" cy="2033049"/>
          </a:xfrm>
          <a:prstGeom prst="rect">
            <a:avLst/>
          </a:prstGeom>
        </p:spPr>
      </p:pic>
    </p:spTree>
    <p:extLst>
      <p:ext uri="{BB962C8B-B14F-4D97-AF65-F5344CB8AC3E}">
        <p14:creationId xmlns:p14="http://schemas.microsoft.com/office/powerpoint/2010/main" xmlns="" val="3224784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447800" y="1219200"/>
            <a:ext cx="7128792" cy="646331"/>
          </a:xfrm>
          <a:prstGeom prst="rect">
            <a:avLst/>
          </a:prstGeom>
          <a:noFill/>
        </p:spPr>
        <p:txBody>
          <a:bodyPr wrap="square" rtlCol="0">
            <a:spAutoFit/>
          </a:bodyPr>
          <a:lstStyle/>
          <a:p>
            <a:pPr algn="just"/>
            <a:r>
              <a:rPr lang="en-US" i="1" dirty="0"/>
              <a:t>TIP: </a:t>
            </a:r>
            <a:r>
              <a:rPr lang="en-US" sz="1800" b="0" i="1" u="none" strike="noStrike" baseline="0" dirty="0">
                <a:solidFill>
                  <a:srgbClr val="221E1F"/>
                </a:solidFill>
                <a:latin typeface="Ideal Sans"/>
              </a:rPr>
              <a:t>You can also apply a constraint between the selected entities by using the Marking Menu. </a:t>
            </a:r>
            <a:endParaRPr lang="en-IN" i="1" dirty="0"/>
          </a:p>
        </p:txBody>
      </p:sp>
      <p:pic>
        <p:nvPicPr>
          <p:cNvPr id="4" name="Picture 3">
            <a:extLst>
              <a:ext uri="{FF2B5EF4-FFF2-40B4-BE49-F238E27FC236}">
                <a16:creationId xmlns:a16="http://schemas.microsoft.com/office/drawing/2014/main" xmlns="" id="{9D7CB3E1-A8CB-47F7-88BD-84DA2576B7D9}"/>
              </a:ext>
            </a:extLst>
          </p:cNvPr>
          <p:cNvPicPr>
            <a:picLocks noChangeAspect="1"/>
          </p:cNvPicPr>
          <p:nvPr/>
        </p:nvPicPr>
        <p:blipFill>
          <a:blip r:embed="rId2"/>
          <a:stretch>
            <a:fillRect/>
          </a:stretch>
        </p:blipFill>
        <p:spPr>
          <a:xfrm>
            <a:off x="3505200" y="2286000"/>
            <a:ext cx="2183594" cy="3053867"/>
          </a:xfrm>
          <a:prstGeom prst="rect">
            <a:avLst/>
          </a:prstGeom>
        </p:spPr>
      </p:pic>
    </p:spTree>
    <p:extLst>
      <p:ext uri="{BB962C8B-B14F-4D97-AF65-F5344CB8AC3E}">
        <p14:creationId xmlns:p14="http://schemas.microsoft.com/office/powerpoint/2010/main" xmlns="" val="1742129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714480" y="857232"/>
            <a:ext cx="5760640" cy="430887"/>
          </a:xfrm>
          <a:prstGeom prst="rect">
            <a:avLst/>
          </a:prstGeom>
          <a:noFill/>
        </p:spPr>
        <p:txBody>
          <a:bodyPr wrap="square" rtlCol="0">
            <a:spAutoFit/>
          </a:bodyPr>
          <a:lstStyle/>
          <a:p>
            <a:r>
              <a:rPr lang="en-IN" sz="2200" b="1" dirty="0">
                <a:solidFill>
                  <a:srgbClr val="002060"/>
                </a:solidFill>
              </a:rPr>
              <a:t>Controlling the Display of Constraints</a:t>
            </a:r>
          </a:p>
        </p:txBody>
      </p:sp>
      <p:sp>
        <p:nvSpPr>
          <p:cNvPr id="15" name="TextBox 14"/>
          <p:cNvSpPr txBox="1"/>
          <p:nvPr/>
        </p:nvSpPr>
        <p:spPr>
          <a:xfrm>
            <a:off x="1714480" y="1291224"/>
            <a:ext cx="6972320" cy="646331"/>
          </a:xfrm>
          <a:prstGeom prst="rect">
            <a:avLst/>
          </a:prstGeom>
          <a:noFill/>
        </p:spPr>
        <p:txBody>
          <a:bodyPr wrap="square" rtlCol="0">
            <a:spAutoFit/>
          </a:bodyPr>
          <a:lstStyle/>
          <a:p>
            <a:r>
              <a:rPr lang="en-IN" dirty="0"/>
              <a:t>You can control the visibility of the applied constraints in the drawing area. </a:t>
            </a:r>
          </a:p>
        </p:txBody>
      </p:sp>
      <p:sp>
        <p:nvSpPr>
          <p:cNvPr id="8" name="Rectangle 7"/>
          <p:cNvSpPr/>
          <p:nvPr/>
        </p:nvSpPr>
        <p:spPr>
          <a:xfrm>
            <a:off x="1447800" y="5181600"/>
            <a:ext cx="7108926" cy="646331"/>
          </a:xfrm>
          <a:prstGeom prst="rect">
            <a:avLst/>
          </a:prstGeom>
        </p:spPr>
        <p:txBody>
          <a:bodyPr wrap="square">
            <a:spAutoFit/>
          </a:bodyPr>
          <a:lstStyle/>
          <a:p>
            <a:pPr algn="just"/>
            <a:r>
              <a:rPr lang="en-IN" i="1" dirty="0"/>
              <a:t>NOTE: </a:t>
            </a:r>
            <a:r>
              <a:rPr lang="en-US" sz="1800" b="0" i="1" u="none" strike="noStrike" baseline="0" dirty="0">
                <a:solidFill>
                  <a:srgbClr val="221E1F"/>
                </a:solidFill>
                <a:latin typeface="Ideal Sans"/>
              </a:rPr>
              <a:t>You can also delete an already applied constraint by selecting it in the drawing area and then pressing the DELETE key.</a:t>
            </a:r>
            <a:endParaRPr lang="en-IN" i="1" dirty="0"/>
          </a:p>
        </p:txBody>
      </p:sp>
      <p:pic>
        <p:nvPicPr>
          <p:cNvPr id="3" name="Picture 2">
            <a:extLst>
              <a:ext uri="{FF2B5EF4-FFF2-40B4-BE49-F238E27FC236}">
                <a16:creationId xmlns:a16="http://schemas.microsoft.com/office/drawing/2014/main" xmlns="" id="{D3F865C9-57F5-9918-B6E1-2027C80FF3D8}"/>
              </a:ext>
            </a:extLst>
          </p:cNvPr>
          <p:cNvPicPr>
            <a:picLocks noChangeAspect="1"/>
          </p:cNvPicPr>
          <p:nvPr/>
        </p:nvPicPr>
        <p:blipFill>
          <a:blip r:embed="rId2"/>
          <a:stretch>
            <a:fillRect/>
          </a:stretch>
        </p:blipFill>
        <p:spPr>
          <a:xfrm>
            <a:off x="3810000" y="1828799"/>
            <a:ext cx="1997412" cy="3352801"/>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714480" y="857232"/>
            <a:ext cx="5760640" cy="430887"/>
          </a:xfrm>
          <a:prstGeom prst="rect">
            <a:avLst/>
          </a:prstGeom>
          <a:noFill/>
        </p:spPr>
        <p:txBody>
          <a:bodyPr wrap="square" rtlCol="0">
            <a:spAutoFit/>
          </a:bodyPr>
          <a:lstStyle/>
          <a:p>
            <a:r>
              <a:rPr lang="en-IN" sz="2200" b="1" dirty="0">
                <a:solidFill>
                  <a:srgbClr val="002060"/>
                </a:solidFill>
              </a:rPr>
              <a:t>Applying Dimensions</a:t>
            </a:r>
          </a:p>
        </p:txBody>
      </p:sp>
      <p:sp>
        <p:nvSpPr>
          <p:cNvPr id="15" name="TextBox 14"/>
          <p:cNvSpPr txBox="1"/>
          <p:nvPr/>
        </p:nvSpPr>
        <p:spPr>
          <a:xfrm>
            <a:off x="1714480" y="1291224"/>
            <a:ext cx="6786610" cy="923330"/>
          </a:xfrm>
          <a:prstGeom prst="rect">
            <a:avLst/>
          </a:prstGeom>
          <a:noFill/>
        </p:spPr>
        <p:txBody>
          <a:bodyPr wrap="square" rtlCol="0">
            <a:spAutoFit/>
          </a:bodyPr>
          <a:lstStyle/>
          <a:p>
            <a:r>
              <a:rPr lang="en-US" sz="1800" b="0" i="0" u="none" strike="noStrike" baseline="0" dirty="0">
                <a:solidFill>
                  <a:srgbClr val="221E1F"/>
                </a:solidFill>
                <a:latin typeface="Ideal Sans"/>
              </a:rPr>
              <a:t>Once a sketch has been drawn and the required geometric constraints have been applied, you need to apply the required dimensions to the sketch.</a:t>
            </a:r>
            <a:endParaRPr lang="en-IN" dirty="0"/>
          </a:p>
        </p:txBody>
      </p:sp>
      <p:sp>
        <p:nvSpPr>
          <p:cNvPr id="10" name="Rectangle 9"/>
          <p:cNvSpPr/>
          <p:nvPr/>
        </p:nvSpPr>
        <p:spPr>
          <a:xfrm>
            <a:off x="1071538" y="5334000"/>
            <a:ext cx="7386662" cy="646331"/>
          </a:xfrm>
          <a:prstGeom prst="rect">
            <a:avLst/>
          </a:prstGeom>
        </p:spPr>
        <p:txBody>
          <a:bodyPr wrap="square">
            <a:spAutoFit/>
          </a:bodyPr>
          <a:lstStyle/>
          <a:p>
            <a:r>
              <a:rPr lang="en-US" sz="1800" b="0" i="0" u="none" strike="noStrike" baseline="0" dirty="0">
                <a:solidFill>
                  <a:srgbClr val="221E1F"/>
                </a:solidFill>
                <a:latin typeface="Ideal Sans"/>
              </a:rPr>
              <a:t>The Sketch Dimension tool is used for applying dimensions, depending upon the type of entity selected.</a:t>
            </a:r>
            <a:endParaRPr lang="en-IN" dirty="0"/>
          </a:p>
        </p:txBody>
      </p:sp>
      <p:pic>
        <p:nvPicPr>
          <p:cNvPr id="3" name="Picture 2">
            <a:extLst>
              <a:ext uri="{FF2B5EF4-FFF2-40B4-BE49-F238E27FC236}">
                <a16:creationId xmlns:a16="http://schemas.microsoft.com/office/drawing/2014/main" xmlns="" id="{7C2D5FD8-1A21-4483-BD77-21FFEC9E580E}"/>
              </a:ext>
            </a:extLst>
          </p:cNvPr>
          <p:cNvPicPr>
            <a:picLocks noChangeAspect="1"/>
          </p:cNvPicPr>
          <p:nvPr/>
        </p:nvPicPr>
        <p:blipFill>
          <a:blip r:embed="rId2"/>
          <a:stretch>
            <a:fillRect/>
          </a:stretch>
        </p:blipFill>
        <p:spPr>
          <a:xfrm>
            <a:off x="1736577" y="2211339"/>
            <a:ext cx="2107769" cy="2983424"/>
          </a:xfrm>
          <a:prstGeom prst="rect">
            <a:avLst/>
          </a:prstGeom>
        </p:spPr>
      </p:pic>
      <p:pic>
        <p:nvPicPr>
          <p:cNvPr id="7" name="Picture 6">
            <a:extLst>
              <a:ext uri="{FF2B5EF4-FFF2-40B4-BE49-F238E27FC236}">
                <a16:creationId xmlns:a16="http://schemas.microsoft.com/office/drawing/2014/main" xmlns="" id="{0823B921-C9BF-FA4B-3DF2-6B8A3BDEF92F}"/>
              </a:ext>
            </a:extLst>
          </p:cNvPr>
          <p:cNvPicPr>
            <a:picLocks noChangeAspect="1"/>
          </p:cNvPicPr>
          <p:nvPr/>
        </p:nvPicPr>
        <p:blipFill>
          <a:blip r:embed="rId3"/>
          <a:stretch>
            <a:fillRect/>
          </a:stretch>
        </p:blipFill>
        <p:spPr>
          <a:xfrm>
            <a:off x="5299656" y="2449055"/>
            <a:ext cx="2882685" cy="1580827"/>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71604" y="785794"/>
            <a:ext cx="5760640" cy="400110"/>
          </a:xfrm>
          <a:prstGeom prst="rect">
            <a:avLst/>
          </a:prstGeom>
          <a:noFill/>
        </p:spPr>
        <p:txBody>
          <a:bodyPr wrap="square" rtlCol="0">
            <a:spAutoFit/>
          </a:bodyPr>
          <a:lstStyle/>
          <a:p>
            <a:r>
              <a:rPr lang="en-IN" sz="2000" b="1" dirty="0">
                <a:solidFill>
                  <a:srgbClr val="002060"/>
                </a:solidFill>
              </a:rPr>
              <a:t>Applying a Horizontal Dimension</a:t>
            </a:r>
          </a:p>
        </p:txBody>
      </p:sp>
      <p:sp>
        <p:nvSpPr>
          <p:cNvPr id="9" name="Rectangle 8"/>
          <p:cNvSpPr/>
          <p:nvPr/>
        </p:nvSpPr>
        <p:spPr>
          <a:xfrm>
            <a:off x="1500166" y="4071942"/>
            <a:ext cx="6429420" cy="1200329"/>
          </a:xfrm>
          <a:prstGeom prst="rect">
            <a:avLst/>
          </a:prstGeom>
        </p:spPr>
        <p:txBody>
          <a:bodyPr wrap="square">
            <a:spAutoFit/>
          </a:bodyPr>
          <a:lstStyle/>
          <a:p>
            <a:pPr algn="just"/>
            <a:r>
              <a:rPr lang="en-IN" i="1" dirty="0"/>
              <a:t>TIP: </a:t>
            </a:r>
            <a:r>
              <a:rPr lang="en-US" sz="1800" b="0" i="1" u="none" strike="noStrike" baseline="0" dirty="0">
                <a:solidFill>
                  <a:srgbClr val="221E1F"/>
                </a:solidFill>
                <a:latin typeface="Ideal Sans"/>
              </a:rPr>
              <a:t>After selecting an inclined entity or two sketch points, if you move the cursor in a direction other than vertically up or down, then notice that the vertical or aligned dimension gets attached to the cursor.</a:t>
            </a:r>
            <a:endParaRPr lang="en-IN" i="1" dirty="0"/>
          </a:p>
        </p:txBody>
      </p:sp>
      <p:pic>
        <p:nvPicPr>
          <p:cNvPr id="4" name="Picture 3">
            <a:extLst>
              <a:ext uri="{FF2B5EF4-FFF2-40B4-BE49-F238E27FC236}">
                <a16:creationId xmlns:a16="http://schemas.microsoft.com/office/drawing/2014/main" xmlns="" id="{71E04522-52AA-431D-7962-9B0ECFD3510F}"/>
              </a:ext>
            </a:extLst>
          </p:cNvPr>
          <p:cNvPicPr>
            <a:picLocks noChangeAspect="1"/>
          </p:cNvPicPr>
          <p:nvPr/>
        </p:nvPicPr>
        <p:blipFill>
          <a:blip r:embed="rId2"/>
          <a:stretch>
            <a:fillRect/>
          </a:stretch>
        </p:blipFill>
        <p:spPr>
          <a:xfrm>
            <a:off x="1585291" y="1451051"/>
            <a:ext cx="6191995" cy="2131303"/>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71604" y="785794"/>
            <a:ext cx="5760640" cy="400110"/>
          </a:xfrm>
          <a:prstGeom prst="rect">
            <a:avLst/>
          </a:prstGeom>
          <a:noFill/>
        </p:spPr>
        <p:txBody>
          <a:bodyPr wrap="square" rtlCol="0">
            <a:spAutoFit/>
          </a:bodyPr>
          <a:lstStyle/>
          <a:p>
            <a:r>
              <a:rPr lang="en-IN" sz="2000" b="1" dirty="0">
                <a:solidFill>
                  <a:srgbClr val="002060"/>
                </a:solidFill>
              </a:rPr>
              <a:t>Applying a Vertical Dimension</a:t>
            </a:r>
          </a:p>
        </p:txBody>
      </p:sp>
      <p:sp>
        <p:nvSpPr>
          <p:cNvPr id="6" name="TextBox 5"/>
          <p:cNvSpPr txBox="1"/>
          <p:nvPr/>
        </p:nvSpPr>
        <p:spPr>
          <a:xfrm>
            <a:off x="1643042" y="3143248"/>
            <a:ext cx="5760640" cy="400110"/>
          </a:xfrm>
          <a:prstGeom prst="rect">
            <a:avLst/>
          </a:prstGeom>
          <a:noFill/>
        </p:spPr>
        <p:txBody>
          <a:bodyPr wrap="square" rtlCol="0">
            <a:spAutoFit/>
          </a:bodyPr>
          <a:lstStyle/>
          <a:p>
            <a:r>
              <a:rPr lang="en-IN" sz="2000" b="1" dirty="0">
                <a:solidFill>
                  <a:srgbClr val="002060"/>
                </a:solidFill>
              </a:rPr>
              <a:t>Applying an Aligned Dimension</a:t>
            </a:r>
          </a:p>
        </p:txBody>
      </p:sp>
      <p:pic>
        <p:nvPicPr>
          <p:cNvPr id="7" name="Picture 6">
            <a:extLst>
              <a:ext uri="{FF2B5EF4-FFF2-40B4-BE49-F238E27FC236}">
                <a16:creationId xmlns:a16="http://schemas.microsoft.com/office/drawing/2014/main" xmlns="" id="{D225A9D2-8FB6-3B51-466B-19FC815F3E7D}"/>
              </a:ext>
            </a:extLst>
          </p:cNvPr>
          <p:cNvPicPr>
            <a:picLocks noChangeAspect="1"/>
          </p:cNvPicPr>
          <p:nvPr/>
        </p:nvPicPr>
        <p:blipFill>
          <a:blip r:embed="rId2"/>
          <a:stretch>
            <a:fillRect/>
          </a:stretch>
        </p:blipFill>
        <p:spPr>
          <a:xfrm>
            <a:off x="1571604" y="1149881"/>
            <a:ext cx="5578098" cy="1699894"/>
          </a:xfrm>
          <a:prstGeom prst="rect">
            <a:avLst/>
          </a:prstGeom>
        </p:spPr>
      </p:pic>
      <p:pic>
        <p:nvPicPr>
          <p:cNvPr id="9" name="Picture 8">
            <a:extLst>
              <a:ext uri="{FF2B5EF4-FFF2-40B4-BE49-F238E27FC236}">
                <a16:creationId xmlns:a16="http://schemas.microsoft.com/office/drawing/2014/main" xmlns="" id="{6C6DA405-CB29-6C3C-224A-D3E68669B8EB}"/>
              </a:ext>
            </a:extLst>
          </p:cNvPr>
          <p:cNvPicPr>
            <a:picLocks noChangeAspect="1"/>
          </p:cNvPicPr>
          <p:nvPr/>
        </p:nvPicPr>
        <p:blipFill>
          <a:blip r:embed="rId3"/>
          <a:stretch>
            <a:fillRect/>
          </a:stretch>
        </p:blipFill>
        <p:spPr>
          <a:xfrm>
            <a:off x="1187624" y="3927564"/>
            <a:ext cx="4180234" cy="1858910"/>
          </a:xfrm>
          <a:prstGeom prst="rect">
            <a:avLst/>
          </a:prstGeom>
        </p:spPr>
      </p:pic>
      <p:pic>
        <p:nvPicPr>
          <p:cNvPr id="11" name="Picture 10">
            <a:extLst>
              <a:ext uri="{FF2B5EF4-FFF2-40B4-BE49-F238E27FC236}">
                <a16:creationId xmlns:a16="http://schemas.microsoft.com/office/drawing/2014/main" xmlns="" id="{5DE7B65E-17E1-CED5-2D9E-1AC7FAEC2475}"/>
              </a:ext>
            </a:extLst>
          </p:cNvPr>
          <p:cNvPicPr>
            <a:picLocks noChangeAspect="1"/>
          </p:cNvPicPr>
          <p:nvPr/>
        </p:nvPicPr>
        <p:blipFill>
          <a:blip r:embed="rId4"/>
          <a:stretch>
            <a:fillRect/>
          </a:stretch>
        </p:blipFill>
        <p:spPr>
          <a:xfrm>
            <a:off x="5613912" y="3429000"/>
            <a:ext cx="2342464" cy="2384900"/>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71604" y="785794"/>
            <a:ext cx="5760640" cy="400110"/>
          </a:xfrm>
          <a:prstGeom prst="rect">
            <a:avLst/>
          </a:prstGeom>
          <a:noFill/>
        </p:spPr>
        <p:txBody>
          <a:bodyPr wrap="square" rtlCol="0">
            <a:spAutoFit/>
          </a:bodyPr>
          <a:lstStyle/>
          <a:p>
            <a:r>
              <a:rPr lang="en-IN" sz="2000" b="1" dirty="0">
                <a:solidFill>
                  <a:srgbClr val="002060"/>
                </a:solidFill>
              </a:rPr>
              <a:t>Applying an Angular Dimension</a:t>
            </a:r>
          </a:p>
        </p:txBody>
      </p:sp>
      <p:pic>
        <p:nvPicPr>
          <p:cNvPr id="6" name="Picture 5">
            <a:extLst>
              <a:ext uri="{FF2B5EF4-FFF2-40B4-BE49-F238E27FC236}">
                <a16:creationId xmlns:a16="http://schemas.microsoft.com/office/drawing/2014/main" xmlns="" id="{BA00230A-9E5D-0011-439F-7DF75A8F52F2}"/>
              </a:ext>
            </a:extLst>
          </p:cNvPr>
          <p:cNvPicPr>
            <a:picLocks noChangeAspect="1"/>
          </p:cNvPicPr>
          <p:nvPr/>
        </p:nvPicPr>
        <p:blipFill>
          <a:blip r:embed="rId2"/>
          <a:stretch>
            <a:fillRect/>
          </a:stretch>
        </p:blipFill>
        <p:spPr>
          <a:xfrm>
            <a:off x="2993584" y="1160342"/>
            <a:ext cx="3647680" cy="1619999"/>
          </a:xfrm>
          <a:prstGeom prst="rect">
            <a:avLst/>
          </a:prstGeom>
        </p:spPr>
      </p:pic>
      <p:pic>
        <p:nvPicPr>
          <p:cNvPr id="8" name="Picture 7">
            <a:extLst>
              <a:ext uri="{FF2B5EF4-FFF2-40B4-BE49-F238E27FC236}">
                <a16:creationId xmlns:a16="http://schemas.microsoft.com/office/drawing/2014/main" xmlns="" id="{76AD4FA6-D39D-B49F-C7A2-64147577A5B7}"/>
              </a:ext>
            </a:extLst>
          </p:cNvPr>
          <p:cNvPicPr>
            <a:picLocks noChangeAspect="1"/>
          </p:cNvPicPr>
          <p:nvPr/>
        </p:nvPicPr>
        <p:blipFill>
          <a:blip r:embed="rId3"/>
          <a:stretch>
            <a:fillRect/>
          </a:stretch>
        </p:blipFill>
        <p:spPr>
          <a:xfrm>
            <a:off x="1969513" y="2872855"/>
            <a:ext cx="4372106" cy="1361651"/>
          </a:xfrm>
          <a:prstGeom prst="rect">
            <a:avLst/>
          </a:prstGeom>
        </p:spPr>
      </p:pic>
      <p:pic>
        <p:nvPicPr>
          <p:cNvPr id="10" name="Picture 9">
            <a:extLst>
              <a:ext uri="{FF2B5EF4-FFF2-40B4-BE49-F238E27FC236}">
                <a16:creationId xmlns:a16="http://schemas.microsoft.com/office/drawing/2014/main" xmlns="" id="{05DBCFAC-BA43-74F0-A7D1-2D2883540CB3}"/>
              </a:ext>
            </a:extLst>
          </p:cNvPr>
          <p:cNvPicPr>
            <a:picLocks noChangeAspect="1"/>
          </p:cNvPicPr>
          <p:nvPr/>
        </p:nvPicPr>
        <p:blipFill>
          <a:blip r:embed="rId4"/>
          <a:stretch>
            <a:fillRect/>
          </a:stretch>
        </p:blipFill>
        <p:spPr>
          <a:xfrm>
            <a:off x="2730927" y="4327020"/>
            <a:ext cx="2849277" cy="1476760"/>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71604" y="785794"/>
            <a:ext cx="5760640" cy="400110"/>
          </a:xfrm>
          <a:prstGeom prst="rect">
            <a:avLst/>
          </a:prstGeom>
          <a:noFill/>
        </p:spPr>
        <p:txBody>
          <a:bodyPr wrap="square" rtlCol="0">
            <a:spAutoFit/>
          </a:bodyPr>
          <a:lstStyle/>
          <a:p>
            <a:r>
              <a:rPr lang="en-IN" sz="2000" b="1" dirty="0">
                <a:solidFill>
                  <a:srgbClr val="002060"/>
                </a:solidFill>
              </a:rPr>
              <a:t>Applying a Diameter Dimension</a:t>
            </a:r>
          </a:p>
        </p:txBody>
      </p:sp>
      <p:sp>
        <p:nvSpPr>
          <p:cNvPr id="7" name="Rectangle 6"/>
          <p:cNvSpPr/>
          <p:nvPr/>
        </p:nvSpPr>
        <p:spPr>
          <a:xfrm>
            <a:off x="1785918" y="3714752"/>
            <a:ext cx="6215106" cy="923330"/>
          </a:xfrm>
          <a:prstGeom prst="rect">
            <a:avLst/>
          </a:prstGeom>
        </p:spPr>
        <p:txBody>
          <a:bodyPr wrap="square">
            <a:spAutoFit/>
          </a:bodyPr>
          <a:lstStyle/>
          <a:p>
            <a:r>
              <a:rPr lang="en-IN" i="1" dirty="0"/>
              <a:t>NOTE: </a:t>
            </a:r>
            <a:r>
              <a:rPr lang="en-US" sz="1800" b="0" i="1" u="none" strike="noStrike" baseline="0" dirty="0">
                <a:solidFill>
                  <a:srgbClr val="221E1F"/>
                </a:solidFill>
                <a:latin typeface="Ideal Sans"/>
              </a:rPr>
              <a:t>By default, the diameter dimension is applied to a circle. However, you can also apply a radius dimension to a circle</a:t>
            </a:r>
            <a:r>
              <a:rPr lang="en-US" sz="1800" b="0" i="1" u="none" strike="noStrike" baseline="0" dirty="0" smtClean="0">
                <a:solidFill>
                  <a:srgbClr val="221E1F"/>
                </a:solidFill>
                <a:latin typeface="Ideal Sans"/>
              </a:rPr>
              <a:t>.</a:t>
            </a:r>
            <a:endParaRPr lang="en-IN" i="1" dirty="0"/>
          </a:p>
        </p:txBody>
      </p:sp>
      <p:pic>
        <p:nvPicPr>
          <p:cNvPr id="4" name="Picture 3">
            <a:extLst>
              <a:ext uri="{FF2B5EF4-FFF2-40B4-BE49-F238E27FC236}">
                <a16:creationId xmlns:a16="http://schemas.microsoft.com/office/drawing/2014/main" xmlns="" id="{039341D5-C6F0-8CA2-ECC5-629F38212B0F}"/>
              </a:ext>
            </a:extLst>
          </p:cNvPr>
          <p:cNvPicPr>
            <a:picLocks noChangeAspect="1"/>
          </p:cNvPicPr>
          <p:nvPr/>
        </p:nvPicPr>
        <p:blipFill>
          <a:blip r:embed="rId2"/>
          <a:stretch>
            <a:fillRect/>
          </a:stretch>
        </p:blipFill>
        <p:spPr>
          <a:xfrm>
            <a:off x="3129459" y="1463718"/>
            <a:ext cx="2885082" cy="1679530"/>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71604" y="785794"/>
            <a:ext cx="5760640" cy="400110"/>
          </a:xfrm>
          <a:prstGeom prst="rect">
            <a:avLst/>
          </a:prstGeom>
          <a:noFill/>
        </p:spPr>
        <p:txBody>
          <a:bodyPr wrap="square" rtlCol="0">
            <a:spAutoFit/>
          </a:bodyPr>
          <a:lstStyle/>
          <a:p>
            <a:r>
              <a:rPr lang="en-IN" sz="2000" b="1" dirty="0">
                <a:solidFill>
                  <a:srgbClr val="002060"/>
                </a:solidFill>
              </a:rPr>
              <a:t>Applying a Radius Dimension</a:t>
            </a:r>
          </a:p>
        </p:txBody>
      </p:sp>
      <p:sp>
        <p:nvSpPr>
          <p:cNvPr id="7" name="Rectangle 6"/>
          <p:cNvSpPr/>
          <p:nvPr/>
        </p:nvSpPr>
        <p:spPr>
          <a:xfrm>
            <a:off x="1785918" y="3714752"/>
            <a:ext cx="6314474" cy="923330"/>
          </a:xfrm>
          <a:prstGeom prst="rect">
            <a:avLst/>
          </a:prstGeom>
        </p:spPr>
        <p:txBody>
          <a:bodyPr wrap="square">
            <a:spAutoFit/>
          </a:bodyPr>
          <a:lstStyle/>
          <a:p>
            <a:pPr algn="just"/>
            <a:r>
              <a:rPr lang="en-IN" i="1" dirty="0"/>
              <a:t>NOTE: </a:t>
            </a:r>
            <a:r>
              <a:rPr lang="en-US" sz="1800" b="0" i="1" u="none" strike="noStrike" baseline="0" dirty="0">
                <a:solidFill>
                  <a:srgbClr val="221E1F"/>
                </a:solidFill>
                <a:latin typeface="Ideal Sans"/>
              </a:rPr>
              <a:t>By default, the radius dimension is applied to an arc. However, you can also apply the diameter dimension to an arc. </a:t>
            </a:r>
            <a:endParaRPr lang="en-IN" i="1" dirty="0"/>
          </a:p>
        </p:txBody>
      </p:sp>
      <p:pic>
        <p:nvPicPr>
          <p:cNvPr id="4" name="Picture 3">
            <a:extLst>
              <a:ext uri="{FF2B5EF4-FFF2-40B4-BE49-F238E27FC236}">
                <a16:creationId xmlns:a16="http://schemas.microsoft.com/office/drawing/2014/main" xmlns="" id="{D3121BBA-D629-1689-E419-BAA03B197A58}"/>
              </a:ext>
            </a:extLst>
          </p:cNvPr>
          <p:cNvPicPr>
            <a:picLocks noChangeAspect="1"/>
          </p:cNvPicPr>
          <p:nvPr/>
        </p:nvPicPr>
        <p:blipFill>
          <a:blip r:embed="rId2"/>
          <a:stretch>
            <a:fillRect/>
          </a:stretch>
        </p:blipFill>
        <p:spPr>
          <a:xfrm>
            <a:off x="3275856" y="1542326"/>
            <a:ext cx="2762376" cy="1600922"/>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71604" y="785794"/>
            <a:ext cx="5760640" cy="400110"/>
          </a:xfrm>
          <a:prstGeom prst="rect">
            <a:avLst/>
          </a:prstGeom>
          <a:noFill/>
        </p:spPr>
        <p:txBody>
          <a:bodyPr wrap="square" rtlCol="0">
            <a:spAutoFit/>
          </a:bodyPr>
          <a:lstStyle/>
          <a:p>
            <a:r>
              <a:rPr lang="en-IN" sz="2000" b="1" dirty="0">
                <a:solidFill>
                  <a:srgbClr val="002060"/>
                </a:solidFill>
              </a:rPr>
              <a:t>Applying a Linear Diameter Dimension</a:t>
            </a:r>
          </a:p>
        </p:txBody>
      </p:sp>
      <p:sp>
        <p:nvSpPr>
          <p:cNvPr id="5" name="Rectangle 4">
            <a:extLst>
              <a:ext uri="{FF2B5EF4-FFF2-40B4-BE49-F238E27FC236}">
                <a16:creationId xmlns:a16="http://schemas.microsoft.com/office/drawing/2014/main" xmlns="" id="{029829A7-07C6-4824-9EF7-66C3C837B232}"/>
              </a:ext>
            </a:extLst>
          </p:cNvPr>
          <p:cNvSpPr/>
          <p:nvPr/>
        </p:nvSpPr>
        <p:spPr>
          <a:xfrm>
            <a:off x="293046" y="4591976"/>
            <a:ext cx="5863130" cy="1200329"/>
          </a:xfrm>
          <a:prstGeom prst="rect">
            <a:avLst/>
          </a:prstGeom>
        </p:spPr>
        <p:txBody>
          <a:bodyPr wrap="square">
            <a:spAutoFit/>
          </a:bodyPr>
          <a:lstStyle/>
          <a:p>
            <a:pPr algn="just"/>
            <a:r>
              <a:rPr lang="en-IN" i="1" dirty="0"/>
              <a:t>NOTE: </a:t>
            </a:r>
            <a:r>
              <a:rPr lang="en-US" sz="1800" b="0" i="1" u="none" strike="noStrike" baseline="0" dirty="0">
                <a:solidFill>
                  <a:srgbClr val="221E1F"/>
                </a:solidFill>
                <a:latin typeface="Ideal Sans"/>
              </a:rPr>
              <a:t>If a centerline is selected as the revolving axis of the sketch, then on selecting the second linear sketch entity, the linear diameter dimension gets automatically attached to the </a:t>
            </a:r>
            <a:r>
              <a:rPr lang="en-US" sz="1800" b="0" i="1" u="none" strike="noStrike" baseline="0" dirty="0" smtClean="0">
                <a:solidFill>
                  <a:srgbClr val="221E1F"/>
                </a:solidFill>
                <a:latin typeface="Ideal Sans"/>
              </a:rPr>
              <a:t>cursor.</a:t>
            </a:r>
            <a:endParaRPr lang="en-IN" i="1" dirty="0"/>
          </a:p>
        </p:txBody>
      </p:sp>
      <p:pic>
        <p:nvPicPr>
          <p:cNvPr id="6" name="Picture 5">
            <a:extLst>
              <a:ext uri="{FF2B5EF4-FFF2-40B4-BE49-F238E27FC236}">
                <a16:creationId xmlns:a16="http://schemas.microsoft.com/office/drawing/2014/main" xmlns="" id="{35328CD6-A1AE-99E4-D62B-0E0D0E939DF0}"/>
              </a:ext>
            </a:extLst>
          </p:cNvPr>
          <p:cNvPicPr>
            <a:picLocks noChangeAspect="1"/>
          </p:cNvPicPr>
          <p:nvPr/>
        </p:nvPicPr>
        <p:blipFill>
          <a:blip r:embed="rId2"/>
          <a:stretch>
            <a:fillRect/>
          </a:stretch>
        </p:blipFill>
        <p:spPr>
          <a:xfrm>
            <a:off x="1122506" y="1472338"/>
            <a:ext cx="5021451" cy="2805193"/>
          </a:xfrm>
          <a:prstGeom prst="rect">
            <a:avLst/>
          </a:prstGeom>
        </p:spPr>
      </p:pic>
      <p:pic>
        <p:nvPicPr>
          <p:cNvPr id="8" name="Picture 7">
            <a:extLst>
              <a:ext uri="{FF2B5EF4-FFF2-40B4-BE49-F238E27FC236}">
                <a16:creationId xmlns:a16="http://schemas.microsoft.com/office/drawing/2014/main" xmlns="" id="{E55F6EEE-D234-F4D9-6D41-1D1DF4CE6D5C}"/>
              </a:ext>
            </a:extLst>
          </p:cNvPr>
          <p:cNvPicPr>
            <a:picLocks noChangeAspect="1"/>
          </p:cNvPicPr>
          <p:nvPr/>
        </p:nvPicPr>
        <p:blipFill>
          <a:blip r:embed="rId3"/>
          <a:stretch>
            <a:fillRect/>
          </a:stretch>
        </p:blipFill>
        <p:spPr>
          <a:xfrm>
            <a:off x="6465229" y="3400630"/>
            <a:ext cx="2014780" cy="2216258"/>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71604" y="1000108"/>
            <a:ext cx="5760640" cy="430887"/>
          </a:xfrm>
          <a:prstGeom prst="rect">
            <a:avLst/>
          </a:prstGeom>
          <a:noFill/>
        </p:spPr>
        <p:txBody>
          <a:bodyPr wrap="square" rtlCol="0">
            <a:spAutoFit/>
          </a:bodyPr>
          <a:lstStyle/>
          <a:p>
            <a:r>
              <a:rPr lang="en-IN" sz="2200" b="1" dirty="0">
                <a:solidFill>
                  <a:srgbClr val="002060"/>
                </a:solidFill>
              </a:rPr>
              <a:t>Modifying/Editing Dimensions</a:t>
            </a:r>
          </a:p>
        </p:txBody>
      </p:sp>
      <p:sp>
        <p:nvSpPr>
          <p:cNvPr id="5" name="Rectangle 4"/>
          <p:cNvSpPr/>
          <p:nvPr/>
        </p:nvSpPr>
        <p:spPr>
          <a:xfrm>
            <a:off x="1571604" y="1428736"/>
            <a:ext cx="7072362" cy="646331"/>
          </a:xfrm>
          <a:prstGeom prst="rect">
            <a:avLst/>
          </a:prstGeom>
        </p:spPr>
        <p:txBody>
          <a:bodyPr wrap="square">
            <a:spAutoFit/>
          </a:bodyPr>
          <a:lstStyle/>
          <a:p>
            <a:r>
              <a:rPr lang="en-IN" dirty="0"/>
              <a:t>After applying dimensions, you may need to modify them due to changes in the design, revisions in the design, and so on. </a:t>
            </a:r>
          </a:p>
        </p:txBody>
      </p:sp>
      <p:pic>
        <p:nvPicPr>
          <p:cNvPr id="3" name="Picture 2">
            <a:extLst>
              <a:ext uri="{FF2B5EF4-FFF2-40B4-BE49-F238E27FC236}">
                <a16:creationId xmlns:a16="http://schemas.microsoft.com/office/drawing/2014/main" xmlns="" id="{CE94BE76-2EAB-BBB1-7A31-235AD3D6DD52}"/>
              </a:ext>
            </a:extLst>
          </p:cNvPr>
          <p:cNvPicPr>
            <a:picLocks noChangeAspect="1"/>
          </p:cNvPicPr>
          <p:nvPr/>
        </p:nvPicPr>
        <p:blipFill>
          <a:blip r:embed="rId2"/>
          <a:stretch>
            <a:fillRect/>
          </a:stretch>
        </p:blipFill>
        <p:spPr>
          <a:xfrm>
            <a:off x="2503084" y="2675754"/>
            <a:ext cx="4137832" cy="1506492"/>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71604" y="785794"/>
            <a:ext cx="5760640" cy="430887"/>
          </a:xfrm>
          <a:prstGeom prst="rect">
            <a:avLst/>
          </a:prstGeom>
          <a:noFill/>
        </p:spPr>
        <p:txBody>
          <a:bodyPr wrap="square" rtlCol="0">
            <a:spAutoFit/>
          </a:bodyPr>
          <a:lstStyle/>
          <a:p>
            <a:r>
              <a:rPr lang="en-IN" sz="2200" b="1" dirty="0">
                <a:solidFill>
                  <a:srgbClr val="002060"/>
                </a:solidFill>
              </a:rPr>
              <a:t>Working with Different States of a Sketch</a:t>
            </a:r>
          </a:p>
        </p:txBody>
      </p:sp>
      <p:sp>
        <p:nvSpPr>
          <p:cNvPr id="5" name="Rectangle 4"/>
          <p:cNvSpPr/>
          <p:nvPr/>
        </p:nvSpPr>
        <p:spPr>
          <a:xfrm>
            <a:off x="1571604" y="1214422"/>
            <a:ext cx="7072362" cy="369332"/>
          </a:xfrm>
          <a:prstGeom prst="rect">
            <a:avLst/>
          </a:prstGeom>
        </p:spPr>
        <p:txBody>
          <a:bodyPr wrap="square">
            <a:spAutoFit/>
          </a:bodyPr>
          <a:lstStyle/>
          <a:p>
            <a:r>
              <a:rPr lang="en-US" sz="1800" b="0" i="0" u="none" strike="noStrike" baseline="0" dirty="0">
                <a:solidFill>
                  <a:srgbClr val="221E1F"/>
                </a:solidFill>
                <a:latin typeface="Ideal Sans"/>
              </a:rPr>
              <a:t>In Fusion 360, a sketch can be either under defined or fully defined.</a:t>
            </a:r>
            <a:endParaRPr lang="en-IN" dirty="0"/>
          </a:p>
        </p:txBody>
      </p:sp>
      <p:sp>
        <p:nvSpPr>
          <p:cNvPr id="6" name="TextBox 5"/>
          <p:cNvSpPr txBox="1"/>
          <p:nvPr/>
        </p:nvSpPr>
        <p:spPr>
          <a:xfrm>
            <a:off x="1571604" y="1714488"/>
            <a:ext cx="5760640" cy="400110"/>
          </a:xfrm>
          <a:prstGeom prst="rect">
            <a:avLst/>
          </a:prstGeom>
          <a:noFill/>
        </p:spPr>
        <p:txBody>
          <a:bodyPr wrap="square" rtlCol="0">
            <a:spAutoFit/>
          </a:bodyPr>
          <a:lstStyle/>
          <a:p>
            <a:r>
              <a:rPr lang="en-IN" sz="2000" b="1" dirty="0">
                <a:solidFill>
                  <a:srgbClr val="002060"/>
                </a:solidFill>
              </a:rPr>
              <a:t>Under Defined Sketch</a:t>
            </a:r>
          </a:p>
        </p:txBody>
      </p:sp>
      <p:sp>
        <p:nvSpPr>
          <p:cNvPr id="8" name="TextBox 7"/>
          <p:cNvSpPr txBox="1"/>
          <p:nvPr/>
        </p:nvSpPr>
        <p:spPr>
          <a:xfrm>
            <a:off x="1428728" y="3774048"/>
            <a:ext cx="5760640" cy="400110"/>
          </a:xfrm>
          <a:prstGeom prst="rect">
            <a:avLst/>
          </a:prstGeom>
          <a:noFill/>
        </p:spPr>
        <p:txBody>
          <a:bodyPr wrap="square" rtlCol="0">
            <a:spAutoFit/>
          </a:bodyPr>
          <a:lstStyle/>
          <a:p>
            <a:r>
              <a:rPr lang="en-IN" sz="2000" b="1" dirty="0">
                <a:solidFill>
                  <a:srgbClr val="002060"/>
                </a:solidFill>
              </a:rPr>
              <a:t>Fully Defined Sketch</a:t>
            </a:r>
          </a:p>
        </p:txBody>
      </p:sp>
      <p:pic>
        <p:nvPicPr>
          <p:cNvPr id="9" name="Picture 8">
            <a:extLst>
              <a:ext uri="{FF2B5EF4-FFF2-40B4-BE49-F238E27FC236}">
                <a16:creationId xmlns:a16="http://schemas.microsoft.com/office/drawing/2014/main" xmlns="" id="{8D40287D-853F-14B5-802C-329BE8706744}"/>
              </a:ext>
            </a:extLst>
          </p:cNvPr>
          <p:cNvPicPr>
            <a:picLocks noChangeAspect="1"/>
          </p:cNvPicPr>
          <p:nvPr/>
        </p:nvPicPr>
        <p:blipFill>
          <a:blip r:embed="rId2"/>
          <a:stretch>
            <a:fillRect/>
          </a:stretch>
        </p:blipFill>
        <p:spPr>
          <a:xfrm>
            <a:off x="3351544" y="2081359"/>
            <a:ext cx="2200759" cy="1627322"/>
          </a:xfrm>
          <a:prstGeom prst="rect">
            <a:avLst/>
          </a:prstGeom>
        </p:spPr>
      </p:pic>
      <p:pic>
        <p:nvPicPr>
          <p:cNvPr id="11" name="Picture 10">
            <a:extLst>
              <a:ext uri="{FF2B5EF4-FFF2-40B4-BE49-F238E27FC236}">
                <a16:creationId xmlns:a16="http://schemas.microsoft.com/office/drawing/2014/main" xmlns="" id="{331C6625-A634-58AE-FAD9-6B1B4DB8B4F3}"/>
              </a:ext>
            </a:extLst>
          </p:cNvPr>
          <p:cNvPicPr>
            <a:picLocks noChangeAspect="1"/>
          </p:cNvPicPr>
          <p:nvPr/>
        </p:nvPicPr>
        <p:blipFill>
          <a:blip r:embed="rId3"/>
          <a:stretch>
            <a:fillRect/>
          </a:stretch>
        </p:blipFill>
        <p:spPr>
          <a:xfrm>
            <a:off x="2258566" y="4205848"/>
            <a:ext cx="2138766" cy="1511085"/>
          </a:xfrm>
          <a:prstGeom prst="rect">
            <a:avLst/>
          </a:prstGeom>
        </p:spPr>
      </p:pic>
      <p:pic>
        <p:nvPicPr>
          <p:cNvPr id="13" name="Picture 12">
            <a:extLst>
              <a:ext uri="{FF2B5EF4-FFF2-40B4-BE49-F238E27FC236}">
                <a16:creationId xmlns:a16="http://schemas.microsoft.com/office/drawing/2014/main" xmlns="" id="{092AB181-E623-58D8-E9B6-8A8A4FCB939C}"/>
              </a:ext>
            </a:extLst>
          </p:cNvPr>
          <p:cNvPicPr>
            <a:picLocks noChangeAspect="1"/>
          </p:cNvPicPr>
          <p:nvPr/>
        </p:nvPicPr>
        <p:blipFill>
          <a:blip r:embed="rId4"/>
          <a:stretch>
            <a:fillRect/>
          </a:stretch>
        </p:blipFill>
        <p:spPr>
          <a:xfrm>
            <a:off x="5555056" y="4116732"/>
            <a:ext cx="1921790" cy="1689315"/>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7290" y="1142984"/>
            <a:ext cx="7000924" cy="1200329"/>
          </a:xfrm>
          <a:prstGeom prst="rect">
            <a:avLst/>
          </a:prstGeom>
        </p:spPr>
        <p:txBody>
          <a:bodyPr wrap="square">
            <a:spAutoFit/>
          </a:bodyPr>
          <a:lstStyle/>
          <a:p>
            <a:pPr algn="just"/>
            <a:r>
              <a:rPr lang="en-IN" i="1" dirty="0"/>
              <a:t>NOTE: </a:t>
            </a:r>
            <a:r>
              <a:rPr lang="en-US" sz="1800" b="0" i="0" u="none" strike="noStrike" baseline="0" dirty="0">
                <a:solidFill>
                  <a:srgbClr val="221E1F"/>
                </a:solidFill>
                <a:latin typeface="Ideal Sans"/>
              </a:rPr>
              <a:t>When you apply a dimension to a fully defined sketch, the Over-constrained sketch message window appears, informing you that adding this dimension would over-constrain the sketch and suggests applying it as the driven dimension.</a:t>
            </a:r>
            <a:endParaRPr lang="en-IN" i="1" dirty="0"/>
          </a:p>
        </p:txBody>
      </p:sp>
      <p:pic>
        <p:nvPicPr>
          <p:cNvPr id="6" name="Picture 5">
            <a:extLst>
              <a:ext uri="{FF2B5EF4-FFF2-40B4-BE49-F238E27FC236}">
                <a16:creationId xmlns:a16="http://schemas.microsoft.com/office/drawing/2014/main" xmlns="" id="{09A38F94-2B9B-BEA9-091F-FF0667863426}"/>
              </a:ext>
            </a:extLst>
          </p:cNvPr>
          <p:cNvPicPr>
            <a:picLocks noChangeAspect="1"/>
          </p:cNvPicPr>
          <p:nvPr/>
        </p:nvPicPr>
        <p:blipFill>
          <a:blip r:embed="rId2"/>
          <a:stretch>
            <a:fillRect/>
          </a:stretch>
        </p:blipFill>
        <p:spPr>
          <a:xfrm>
            <a:off x="2915816" y="2370128"/>
            <a:ext cx="3171440" cy="1592272"/>
          </a:xfrm>
          <a:prstGeom prst="rect">
            <a:avLst/>
          </a:prstGeom>
        </p:spPr>
      </p:pic>
      <p:pic>
        <p:nvPicPr>
          <p:cNvPr id="8" name="Picture 7">
            <a:extLst>
              <a:ext uri="{FF2B5EF4-FFF2-40B4-BE49-F238E27FC236}">
                <a16:creationId xmlns:a16="http://schemas.microsoft.com/office/drawing/2014/main" xmlns="" id="{33FC865B-15A2-76B1-C8C5-2454E6B37D96}"/>
              </a:ext>
            </a:extLst>
          </p:cNvPr>
          <p:cNvPicPr>
            <a:picLocks noChangeAspect="1"/>
          </p:cNvPicPr>
          <p:nvPr/>
        </p:nvPicPr>
        <p:blipFill>
          <a:blip r:embed="rId3"/>
          <a:stretch>
            <a:fillRect/>
          </a:stretch>
        </p:blipFill>
        <p:spPr>
          <a:xfrm>
            <a:off x="2771800" y="4134189"/>
            <a:ext cx="3781586" cy="1580827"/>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7290" y="1428736"/>
            <a:ext cx="7128792" cy="369332"/>
          </a:xfrm>
          <a:prstGeom prst="rect">
            <a:avLst/>
          </a:prstGeom>
          <a:noFill/>
        </p:spPr>
        <p:txBody>
          <a:bodyPr wrap="square" rtlCol="0">
            <a:spAutoFit/>
          </a:bodyPr>
          <a:lstStyle/>
          <a:p>
            <a:r>
              <a:rPr lang="en-US" sz="1800" b="0" i="0" u="none" strike="noStrike" baseline="0" dirty="0">
                <a:solidFill>
                  <a:srgbClr val="221E1F"/>
                </a:solidFill>
                <a:latin typeface="Ideal Sans"/>
              </a:rPr>
              <a:t>The SKETCH PALETTE dialog box appears every time a sketch is active.</a:t>
            </a:r>
            <a:endParaRPr lang="en-IN" dirty="0"/>
          </a:p>
        </p:txBody>
      </p:sp>
      <p:sp>
        <p:nvSpPr>
          <p:cNvPr id="5" name="TextBox 4"/>
          <p:cNvSpPr txBox="1"/>
          <p:nvPr/>
        </p:nvSpPr>
        <p:spPr>
          <a:xfrm>
            <a:off x="1357290" y="1071546"/>
            <a:ext cx="5760640" cy="430887"/>
          </a:xfrm>
          <a:prstGeom prst="rect">
            <a:avLst/>
          </a:prstGeom>
          <a:noFill/>
        </p:spPr>
        <p:txBody>
          <a:bodyPr wrap="square" rtlCol="0">
            <a:spAutoFit/>
          </a:bodyPr>
          <a:lstStyle/>
          <a:p>
            <a:r>
              <a:rPr lang="en-IN" sz="2200" b="1" dirty="0">
                <a:solidFill>
                  <a:srgbClr val="002060"/>
                </a:solidFill>
              </a:rPr>
              <a:t>Working with SKETCH PALETTE</a:t>
            </a:r>
          </a:p>
        </p:txBody>
      </p:sp>
      <p:pic>
        <p:nvPicPr>
          <p:cNvPr id="3" name="Picture 2">
            <a:extLst>
              <a:ext uri="{FF2B5EF4-FFF2-40B4-BE49-F238E27FC236}">
                <a16:creationId xmlns:a16="http://schemas.microsoft.com/office/drawing/2014/main" xmlns="" id="{B17B12EC-586F-5CF9-0651-6AF4CA395835}"/>
              </a:ext>
            </a:extLst>
          </p:cNvPr>
          <p:cNvPicPr>
            <a:picLocks noChangeAspect="1"/>
          </p:cNvPicPr>
          <p:nvPr/>
        </p:nvPicPr>
        <p:blipFill>
          <a:blip r:embed="rId2"/>
          <a:stretch>
            <a:fillRect/>
          </a:stretch>
        </p:blipFill>
        <p:spPr>
          <a:xfrm>
            <a:off x="3471735" y="1988840"/>
            <a:ext cx="2200529" cy="3693746"/>
          </a:xfrm>
          <a:prstGeom prst="rect">
            <a:avLst/>
          </a:prstGeom>
        </p:spPr>
      </p:pic>
    </p:spTree>
    <p:extLst>
      <p:ext uri="{BB962C8B-B14F-4D97-AF65-F5344CB8AC3E}">
        <p14:creationId xmlns:p14="http://schemas.microsoft.com/office/powerpoint/2010/main" xmlns="" val="1234090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57290" y="1000108"/>
            <a:ext cx="5760640" cy="400110"/>
          </a:xfrm>
          <a:prstGeom prst="rect">
            <a:avLst/>
          </a:prstGeom>
          <a:noFill/>
        </p:spPr>
        <p:txBody>
          <a:bodyPr wrap="square" rtlCol="0">
            <a:spAutoFit/>
          </a:bodyPr>
          <a:lstStyle/>
          <a:p>
            <a:r>
              <a:rPr lang="en-IN" sz="2000" b="1" dirty="0">
                <a:solidFill>
                  <a:srgbClr val="002060"/>
                </a:solidFill>
              </a:rPr>
              <a:t>Look At</a:t>
            </a:r>
          </a:p>
        </p:txBody>
      </p:sp>
      <p:sp>
        <p:nvSpPr>
          <p:cNvPr id="6" name="TextBox 5"/>
          <p:cNvSpPr txBox="1"/>
          <p:nvPr/>
        </p:nvSpPr>
        <p:spPr>
          <a:xfrm>
            <a:off x="1357290" y="1416594"/>
            <a:ext cx="5760640" cy="400110"/>
          </a:xfrm>
          <a:prstGeom prst="rect">
            <a:avLst/>
          </a:prstGeom>
          <a:noFill/>
        </p:spPr>
        <p:txBody>
          <a:bodyPr wrap="square" rtlCol="0">
            <a:spAutoFit/>
          </a:bodyPr>
          <a:lstStyle/>
          <a:p>
            <a:r>
              <a:rPr lang="en-IN" sz="2000" b="1" dirty="0">
                <a:solidFill>
                  <a:srgbClr val="002060"/>
                </a:solidFill>
              </a:rPr>
              <a:t>Slice</a:t>
            </a:r>
          </a:p>
        </p:txBody>
      </p:sp>
      <p:sp>
        <p:nvSpPr>
          <p:cNvPr id="7" name="TextBox 6"/>
          <p:cNvSpPr txBox="1"/>
          <p:nvPr/>
        </p:nvSpPr>
        <p:spPr>
          <a:xfrm>
            <a:off x="1357290" y="3786190"/>
            <a:ext cx="5760640" cy="400110"/>
          </a:xfrm>
          <a:prstGeom prst="rect">
            <a:avLst/>
          </a:prstGeom>
          <a:noFill/>
        </p:spPr>
        <p:txBody>
          <a:bodyPr wrap="square" rtlCol="0">
            <a:spAutoFit/>
          </a:bodyPr>
          <a:lstStyle/>
          <a:p>
            <a:r>
              <a:rPr lang="en-IN" sz="2000" b="1" dirty="0">
                <a:solidFill>
                  <a:srgbClr val="002060"/>
                </a:solidFill>
              </a:rPr>
              <a:t>Show Profile</a:t>
            </a:r>
          </a:p>
        </p:txBody>
      </p:sp>
      <p:pic>
        <p:nvPicPr>
          <p:cNvPr id="8" name="Picture 7">
            <a:extLst>
              <a:ext uri="{FF2B5EF4-FFF2-40B4-BE49-F238E27FC236}">
                <a16:creationId xmlns:a16="http://schemas.microsoft.com/office/drawing/2014/main" xmlns="" id="{0A0214AD-F70E-6517-FB9E-E3D633DC8884}"/>
              </a:ext>
            </a:extLst>
          </p:cNvPr>
          <p:cNvPicPr>
            <a:picLocks noChangeAspect="1"/>
          </p:cNvPicPr>
          <p:nvPr/>
        </p:nvPicPr>
        <p:blipFill>
          <a:blip r:embed="rId2"/>
          <a:stretch>
            <a:fillRect/>
          </a:stretch>
        </p:blipFill>
        <p:spPr>
          <a:xfrm>
            <a:off x="1941496" y="1642109"/>
            <a:ext cx="5176434" cy="1968285"/>
          </a:xfrm>
          <a:prstGeom prst="rect">
            <a:avLst/>
          </a:prstGeom>
        </p:spPr>
      </p:pic>
      <p:pic>
        <p:nvPicPr>
          <p:cNvPr id="10" name="Picture 9">
            <a:extLst>
              <a:ext uri="{FF2B5EF4-FFF2-40B4-BE49-F238E27FC236}">
                <a16:creationId xmlns:a16="http://schemas.microsoft.com/office/drawing/2014/main" xmlns="" id="{686CC143-A9DC-0481-7CE2-477D78DC3E87}"/>
              </a:ext>
            </a:extLst>
          </p:cNvPr>
          <p:cNvPicPr>
            <a:picLocks noChangeAspect="1"/>
          </p:cNvPicPr>
          <p:nvPr/>
        </p:nvPicPr>
        <p:blipFill>
          <a:blip r:embed="rId3"/>
          <a:stretch>
            <a:fillRect/>
          </a:stretch>
        </p:blipFill>
        <p:spPr>
          <a:xfrm>
            <a:off x="3057374" y="4076527"/>
            <a:ext cx="4060556" cy="1565329"/>
          </a:xfrm>
          <a:prstGeom prst="rect">
            <a:avLst/>
          </a:prstGeom>
        </p:spPr>
      </p:pic>
    </p:spTree>
    <p:extLst>
      <p:ext uri="{BB962C8B-B14F-4D97-AF65-F5344CB8AC3E}">
        <p14:creationId xmlns:p14="http://schemas.microsoft.com/office/powerpoint/2010/main" xmlns="" val="1234090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57290" y="1000108"/>
            <a:ext cx="5760640" cy="400110"/>
          </a:xfrm>
          <a:prstGeom prst="rect">
            <a:avLst/>
          </a:prstGeom>
          <a:noFill/>
        </p:spPr>
        <p:txBody>
          <a:bodyPr wrap="square" rtlCol="0">
            <a:spAutoFit/>
          </a:bodyPr>
          <a:lstStyle/>
          <a:p>
            <a:r>
              <a:rPr lang="en-IN" sz="2000" b="1" dirty="0">
                <a:solidFill>
                  <a:srgbClr val="002060"/>
                </a:solidFill>
              </a:rPr>
              <a:t>Show Points</a:t>
            </a:r>
          </a:p>
        </p:txBody>
      </p:sp>
      <p:sp>
        <p:nvSpPr>
          <p:cNvPr id="6" name="TextBox 5"/>
          <p:cNvSpPr txBox="1"/>
          <p:nvPr/>
        </p:nvSpPr>
        <p:spPr>
          <a:xfrm>
            <a:off x="1357290" y="1416594"/>
            <a:ext cx="5760640" cy="400110"/>
          </a:xfrm>
          <a:prstGeom prst="rect">
            <a:avLst/>
          </a:prstGeom>
          <a:noFill/>
        </p:spPr>
        <p:txBody>
          <a:bodyPr wrap="square" rtlCol="0">
            <a:spAutoFit/>
          </a:bodyPr>
          <a:lstStyle/>
          <a:p>
            <a:r>
              <a:rPr lang="en-IN" sz="2000" b="1" dirty="0">
                <a:solidFill>
                  <a:srgbClr val="002060"/>
                </a:solidFill>
              </a:rPr>
              <a:t>Show Dimensions</a:t>
            </a:r>
          </a:p>
        </p:txBody>
      </p:sp>
      <p:sp>
        <p:nvSpPr>
          <p:cNvPr id="7" name="TextBox 6"/>
          <p:cNvSpPr txBox="1"/>
          <p:nvPr/>
        </p:nvSpPr>
        <p:spPr>
          <a:xfrm>
            <a:off x="1357290" y="2774923"/>
            <a:ext cx="5760640" cy="400110"/>
          </a:xfrm>
          <a:prstGeom prst="rect">
            <a:avLst/>
          </a:prstGeom>
          <a:noFill/>
        </p:spPr>
        <p:txBody>
          <a:bodyPr wrap="square" rtlCol="0">
            <a:spAutoFit/>
          </a:bodyPr>
          <a:lstStyle/>
          <a:p>
            <a:r>
              <a:rPr lang="en-IN" sz="2000" b="1" dirty="0">
                <a:solidFill>
                  <a:srgbClr val="002060"/>
                </a:solidFill>
              </a:rPr>
              <a:t>3D Sketch</a:t>
            </a:r>
          </a:p>
        </p:txBody>
      </p:sp>
      <p:sp>
        <p:nvSpPr>
          <p:cNvPr id="8" name="Rectangle 7"/>
          <p:cNvSpPr/>
          <p:nvPr/>
        </p:nvSpPr>
        <p:spPr>
          <a:xfrm>
            <a:off x="1357290" y="3207262"/>
            <a:ext cx="6929486" cy="646331"/>
          </a:xfrm>
          <a:prstGeom prst="rect">
            <a:avLst/>
          </a:prstGeom>
        </p:spPr>
        <p:txBody>
          <a:bodyPr wrap="square">
            <a:spAutoFit/>
          </a:bodyPr>
          <a:lstStyle/>
          <a:p>
            <a:r>
              <a:rPr lang="en-US" dirty="0"/>
              <a:t>On selecting the 3D Sketch check box, you can create a 3D sketch by using the sketching tools such as Line and Spline. </a:t>
            </a:r>
            <a:endParaRPr lang="en-IN" dirty="0"/>
          </a:p>
        </p:txBody>
      </p:sp>
      <p:sp>
        <p:nvSpPr>
          <p:cNvPr id="9" name="TextBox 8"/>
          <p:cNvSpPr txBox="1"/>
          <p:nvPr/>
        </p:nvSpPr>
        <p:spPr>
          <a:xfrm>
            <a:off x="1357290" y="1875418"/>
            <a:ext cx="5760640" cy="400110"/>
          </a:xfrm>
          <a:prstGeom prst="rect">
            <a:avLst/>
          </a:prstGeom>
          <a:noFill/>
        </p:spPr>
        <p:txBody>
          <a:bodyPr wrap="square" rtlCol="0">
            <a:spAutoFit/>
          </a:bodyPr>
          <a:lstStyle/>
          <a:p>
            <a:r>
              <a:rPr lang="en-IN" sz="2000" b="1" dirty="0">
                <a:solidFill>
                  <a:srgbClr val="002060"/>
                </a:solidFill>
              </a:rPr>
              <a:t>Show Constraints</a:t>
            </a:r>
          </a:p>
        </p:txBody>
      </p:sp>
      <p:sp>
        <p:nvSpPr>
          <p:cNvPr id="10" name="TextBox 9"/>
          <p:cNvSpPr txBox="1"/>
          <p:nvPr/>
        </p:nvSpPr>
        <p:spPr>
          <a:xfrm>
            <a:off x="1334639" y="2311928"/>
            <a:ext cx="5760640" cy="400110"/>
          </a:xfrm>
          <a:prstGeom prst="rect">
            <a:avLst/>
          </a:prstGeom>
          <a:noFill/>
        </p:spPr>
        <p:txBody>
          <a:bodyPr wrap="square" rtlCol="0">
            <a:spAutoFit/>
          </a:bodyPr>
          <a:lstStyle/>
          <a:p>
            <a:r>
              <a:rPr lang="en-IN" sz="2000" b="1" dirty="0">
                <a:solidFill>
                  <a:srgbClr val="002060"/>
                </a:solidFill>
              </a:rPr>
              <a:t>Show Projected Geometries</a:t>
            </a:r>
          </a:p>
        </p:txBody>
      </p:sp>
    </p:spTree>
    <p:extLst>
      <p:ext uri="{BB962C8B-B14F-4D97-AF65-F5344CB8AC3E}">
        <p14:creationId xmlns:p14="http://schemas.microsoft.com/office/powerpoint/2010/main" xmlns="" val="1234090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923330"/>
          </a:xfrm>
          <a:prstGeom prst="rect">
            <a:avLst/>
          </a:prstGeom>
          <a:noFill/>
        </p:spPr>
        <p:txBody>
          <a:bodyPr wrap="square" rtlCol="0">
            <a:spAutoFit/>
          </a:bodyPr>
          <a:lstStyle/>
          <a:p>
            <a:r>
              <a:rPr lang="en-IN" dirty="0"/>
              <a:t>Draw the sketch shown in the figure and make it fully defined by applying all dimensions and constraints. The model shown in this figure is for your reference only. All dimensions are in mm.</a:t>
            </a:r>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Tutorial 1</a:t>
            </a:r>
          </a:p>
        </p:txBody>
      </p:sp>
      <p:sp>
        <p:nvSpPr>
          <p:cNvPr id="8" name="Rectangle 2"/>
          <p:cNvSpPr>
            <a:spLocks noChangeArrowheads="1"/>
          </p:cNvSpPr>
          <p:nvPr/>
        </p:nvSpPr>
        <p:spPr bwMode="auto">
          <a:xfrm>
            <a:off x="1500166" y="5572140"/>
            <a:ext cx="6048375" cy="369888"/>
          </a:xfrm>
          <a:prstGeom prst="rect">
            <a:avLst/>
          </a:prstGeom>
          <a:noFill/>
          <a:ln w="9525">
            <a:noFill/>
            <a:miter lim="800000"/>
            <a:headEnd/>
            <a:tailEnd/>
          </a:ln>
        </p:spPr>
        <p:txBody>
          <a:bodyPr>
            <a:spAutoFit/>
          </a:bodyPr>
          <a:lstStyle/>
          <a:p>
            <a:r>
              <a:rPr lang="en-IN" i="1">
                <a:solidFill>
                  <a:srgbClr val="C00000"/>
                </a:solidFill>
                <a:latin typeface="Calibri" pitchFamily="34" charset="0"/>
              </a:rPr>
              <a:t>To create this tutorial, follow the steps given in the textbook.</a:t>
            </a:r>
          </a:p>
        </p:txBody>
      </p:sp>
      <p:pic>
        <p:nvPicPr>
          <p:cNvPr id="18434" name="Picture 2"/>
          <p:cNvPicPr>
            <a:picLocks noChangeAspect="1" noChangeArrowheads="1"/>
          </p:cNvPicPr>
          <p:nvPr/>
        </p:nvPicPr>
        <p:blipFill>
          <a:blip r:embed="rId2"/>
          <a:srcRect/>
          <a:stretch>
            <a:fillRect/>
          </a:stretch>
        </p:blipFill>
        <p:spPr bwMode="auto">
          <a:xfrm>
            <a:off x="1214414" y="2643182"/>
            <a:ext cx="7370763" cy="2333625"/>
          </a:xfrm>
          <a:prstGeom prst="rect">
            <a:avLst/>
          </a:prstGeom>
          <a:noFill/>
          <a:ln w="9525">
            <a:noFill/>
            <a:miter lim="800000"/>
            <a:headEnd/>
            <a:tailEnd/>
          </a:ln>
          <a:effectLst/>
        </p:spPr>
      </p:pic>
    </p:spTree>
    <p:extLst>
      <p:ext uri="{BB962C8B-B14F-4D97-AF65-F5344CB8AC3E}">
        <p14:creationId xmlns:p14="http://schemas.microsoft.com/office/powerpoint/2010/main" xmlns="" val="2141824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923330"/>
          </a:xfrm>
          <a:prstGeom prst="rect">
            <a:avLst/>
          </a:prstGeom>
          <a:noFill/>
        </p:spPr>
        <p:txBody>
          <a:bodyPr wrap="square" rtlCol="0">
            <a:spAutoFit/>
          </a:bodyPr>
          <a:lstStyle/>
          <a:p>
            <a:r>
              <a:rPr lang="en-IN" dirty="0"/>
              <a:t>Draw the sketch shown in the figure and make it fully defined by applying the dimensions and constraints. The model shown in this figure is for your reference only. All dimensions are in mm.</a:t>
            </a:r>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Tutorial 2</a:t>
            </a:r>
          </a:p>
        </p:txBody>
      </p:sp>
      <p:sp>
        <p:nvSpPr>
          <p:cNvPr id="8" name="Rectangle 2"/>
          <p:cNvSpPr>
            <a:spLocks noChangeArrowheads="1"/>
          </p:cNvSpPr>
          <p:nvPr/>
        </p:nvSpPr>
        <p:spPr bwMode="auto">
          <a:xfrm>
            <a:off x="1500166" y="5572140"/>
            <a:ext cx="6048375" cy="369888"/>
          </a:xfrm>
          <a:prstGeom prst="rect">
            <a:avLst/>
          </a:prstGeom>
          <a:noFill/>
          <a:ln w="9525">
            <a:noFill/>
            <a:miter lim="800000"/>
            <a:headEnd/>
            <a:tailEnd/>
          </a:ln>
        </p:spPr>
        <p:txBody>
          <a:bodyPr>
            <a:spAutoFit/>
          </a:bodyPr>
          <a:lstStyle/>
          <a:p>
            <a:r>
              <a:rPr lang="en-IN" i="1">
                <a:solidFill>
                  <a:srgbClr val="C00000"/>
                </a:solidFill>
                <a:latin typeface="Calibri" pitchFamily="34" charset="0"/>
              </a:rPr>
              <a:t>To create this tutorial, follow the steps given in the textbook.</a:t>
            </a:r>
          </a:p>
        </p:txBody>
      </p:sp>
      <p:pic>
        <p:nvPicPr>
          <p:cNvPr id="19458" name="Picture 2"/>
          <p:cNvPicPr>
            <a:picLocks noChangeAspect="1" noChangeArrowheads="1"/>
          </p:cNvPicPr>
          <p:nvPr/>
        </p:nvPicPr>
        <p:blipFill>
          <a:blip r:embed="rId2"/>
          <a:srcRect/>
          <a:stretch>
            <a:fillRect/>
          </a:stretch>
        </p:blipFill>
        <p:spPr bwMode="auto">
          <a:xfrm>
            <a:off x="1714480" y="2428868"/>
            <a:ext cx="6037279" cy="3003952"/>
          </a:xfrm>
          <a:prstGeom prst="rect">
            <a:avLst/>
          </a:prstGeom>
          <a:noFill/>
          <a:ln w="9525">
            <a:noFill/>
            <a:miter lim="800000"/>
            <a:headEnd/>
            <a:tailEnd/>
          </a:ln>
          <a:effectLst/>
        </p:spPr>
      </p:pic>
    </p:spTree>
    <p:extLst>
      <p:ext uri="{BB962C8B-B14F-4D97-AF65-F5344CB8AC3E}">
        <p14:creationId xmlns:p14="http://schemas.microsoft.com/office/powerpoint/2010/main" xmlns="" val="2141824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923330"/>
          </a:xfrm>
          <a:prstGeom prst="rect">
            <a:avLst/>
          </a:prstGeom>
          <a:noFill/>
        </p:spPr>
        <p:txBody>
          <a:bodyPr wrap="square" rtlCol="0">
            <a:spAutoFit/>
          </a:bodyPr>
          <a:lstStyle/>
          <a:p>
            <a:r>
              <a:rPr lang="en-IN" dirty="0"/>
              <a:t>Draw the sketch shown in the figure and make it fully defined by applying all dimensions and constraints. The model shown in this figure is for your reference only. All dimensions are in mm.</a:t>
            </a:r>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Tutorial 3</a:t>
            </a:r>
          </a:p>
        </p:txBody>
      </p:sp>
      <p:sp>
        <p:nvSpPr>
          <p:cNvPr id="8" name="Rectangle 2"/>
          <p:cNvSpPr>
            <a:spLocks noChangeArrowheads="1"/>
          </p:cNvSpPr>
          <p:nvPr/>
        </p:nvSpPr>
        <p:spPr bwMode="auto">
          <a:xfrm>
            <a:off x="1500166" y="5572140"/>
            <a:ext cx="6048375" cy="369888"/>
          </a:xfrm>
          <a:prstGeom prst="rect">
            <a:avLst/>
          </a:prstGeom>
          <a:noFill/>
          <a:ln w="9525">
            <a:noFill/>
            <a:miter lim="800000"/>
            <a:headEnd/>
            <a:tailEnd/>
          </a:ln>
        </p:spPr>
        <p:txBody>
          <a:bodyPr>
            <a:spAutoFit/>
          </a:bodyPr>
          <a:lstStyle/>
          <a:p>
            <a:r>
              <a:rPr lang="en-IN" i="1">
                <a:solidFill>
                  <a:srgbClr val="C00000"/>
                </a:solidFill>
                <a:latin typeface="Calibri" pitchFamily="34" charset="0"/>
              </a:rPr>
              <a:t>To create this tutorial, follow the steps given in the textbook.</a:t>
            </a:r>
          </a:p>
        </p:txBody>
      </p:sp>
      <p:pic>
        <p:nvPicPr>
          <p:cNvPr id="20482" name="Picture 2"/>
          <p:cNvPicPr>
            <a:picLocks noChangeAspect="1" noChangeArrowheads="1"/>
          </p:cNvPicPr>
          <p:nvPr/>
        </p:nvPicPr>
        <p:blipFill>
          <a:blip r:embed="rId2"/>
          <a:srcRect/>
          <a:stretch>
            <a:fillRect/>
          </a:stretch>
        </p:blipFill>
        <p:spPr bwMode="auto">
          <a:xfrm>
            <a:off x="1428728" y="2500306"/>
            <a:ext cx="6527639" cy="2857520"/>
          </a:xfrm>
          <a:prstGeom prst="rect">
            <a:avLst/>
          </a:prstGeom>
          <a:noFill/>
          <a:ln w="9525">
            <a:noFill/>
            <a:miter lim="800000"/>
            <a:headEnd/>
            <a:tailEnd/>
          </a:ln>
          <a:effectLst/>
        </p:spPr>
      </p:pic>
    </p:spTree>
    <p:extLst>
      <p:ext uri="{BB962C8B-B14F-4D97-AF65-F5344CB8AC3E}">
        <p14:creationId xmlns:p14="http://schemas.microsoft.com/office/powerpoint/2010/main" xmlns="" val="2141824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923330"/>
          </a:xfrm>
          <a:prstGeom prst="rect">
            <a:avLst/>
          </a:prstGeom>
          <a:noFill/>
        </p:spPr>
        <p:txBody>
          <a:bodyPr wrap="square" rtlCol="0">
            <a:spAutoFit/>
          </a:bodyPr>
          <a:lstStyle/>
          <a:p>
            <a:r>
              <a:rPr lang="en-IN" dirty="0"/>
              <a:t>Draw a sketch of the model shown in the figure. You need to apply constraints and dimensions to make it fully defined. The model shown in the figure is for your reference only. All dimensions are in mm.</a:t>
            </a:r>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Hands-on Test Drive 1</a:t>
            </a:r>
          </a:p>
        </p:txBody>
      </p:sp>
      <p:pic>
        <p:nvPicPr>
          <p:cNvPr id="21506" name="Picture 2"/>
          <p:cNvPicPr>
            <a:picLocks noChangeAspect="1" noChangeArrowheads="1"/>
          </p:cNvPicPr>
          <p:nvPr/>
        </p:nvPicPr>
        <p:blipFill>
          <a:blip r:embed="rId2"/>
          <a:srcRect/>
          <a:stretch>
            <a:fillRect/>
          </a:stretch>
        </p:blipFill>
        <p:spPr bwMode="auto">
          <a:xfrm>
            <a:off x="2071670" y="2571744"/>
            <a:ext cx="5162550" cy="2771775"/>
          </a:xfrm>
          <a:prstGeom prst="rect">
            <a:avLst/>
          </a:prstGeom>
          <a:noFill/>
          <a:ln w="9525">
            <a:noFill/>
            <a:miter lim="800000"/>
            <a:headEnd/>
            <a:tailEnd/>
          </a:ln>
          <a:effectLst/>
        </p:spPr>
      </p:pic>
    </p:spTree>
    <p:extLst>
      <p:ext uri="{BB962C8B-B14F-4D97-AF65-F5344CB8AC3E}">
        <p14:creationId xmlns:p14="http://schemas.microsoft.com/office/powerpoint/2010/main" xmlns="" val="2141824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923330"/>
          </a:xfrm>
          <a:prstGeom prst="rect">
            <a:avLst/>
          </a:prstGeom>
          <a:noFill/>
        </p:spPr>
        <p:txBody>
          <a:bodyPr wrap="square" rtlCol="0">
            <a:spAutoFit/>
          </a:bodyPr>
          <a:lstStyle/>
          <a:p>
            <a:r>
              <a:rPr lang="en-IN" dirty="0"/>
              <a:t>Draw a sketch of the model shown in the figure. You need to apply dimensions to make it fully defined. The model shown in the figure is for your reference only. All dimensions are in mm.</a:t>
            </a:r>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Hands-on Test Drive 2</a:t>
            </a:r>
          </a:p>
        </p:txBody>
      </p:sp>
      <p:pic>
        <p:nvPicPr>
          <p:cNvPr id="22530" name="Picture 2"/>
          <p:cNvPicPr>
            <a:picLocks noChangeAspect="1" noChangeArrowheads="1"/>
          </p:cNvPicPr>
          <p:nvPr/>
        </p:nvPicPr>
        <p:blipFill>
          <a:blip r:embed="rId2"/>
          <a:srcRect/>
          <a:stretch>
            <a:fillRect/>
          </a:stretch>
        </p:blipFill>
        <p:spPr bwMode="auto">
          <a:xfrm>
            <a:off x="1785918" y="2428868"/>
            <a:ext cx="6442071" cy="2624173"/>
          </a:xfrm>
          <a:prstGeom prst="rect">
            <a:avLst/>
          </a:prstGeom>
          <a:noFill/>
          <a:ln w="9525">
            <a:noFill/>
            <a:miter lim="800000"/>
            <a:headEnd/>
            <a:tailEnd/>
          </a:ln>
          <a:effectLst/>
        </p:spPr>
      </p:pic>
    </p:spTree>
    <p:extLst>
      <p:ext uri="{BB962C8B-B14F-4D97-AF65-F5344CB8AC3E}">
        <p14:creationId xmlns:p14="http://schemas.microsoft.com/office/powerpoint/2010/main" xmlns="" val="2141824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87118" cy="2308324"/>
          </a:xfrm>
          <a:prstGeom prst="rect">
            <a:avLst/>
          </a:prstGeom>
          <a:noFill/>
        </p:spPr>
        <p:txBody>
          <a:bodyPr wrap="square" rtlCol="0">
            <a:spAutoFit/>
          </a:bodyPr>
          <a:lstStyle/>
          <a:p>
            <a:r>
              <a:rPr lang="en-US" sz="1800" b="0" i="0" u="none" strike="noStrike" baseline="0" dirty="0">
                <a:solidFill>
                  <a:srgbClr val="000000"/>
                </a:solidFill>
              </a:rPr>
              <a:t>This chapter introduced the concept of fully defined sketches encompassing the application of constraints and dimensions. Various types of constraints and methods for application of constraints and dimensions to sketch entities were discussed, in addition to the methods for controlling the display of applied constraints and modifying or editing the dimensions of sketch entities. The chapter also introduced the different states of a sketch and various tools of the SKETCH PALETTE dialog box.</a:t>
            </a:r>
            <a:endParaRPr lang="en-IN" dirty="0"/>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Summary</a:t>
            </a:r>
          </a:p>
        </p:txBody>
      </p:sp>
    </p:spTree>
    <p:extLst>
      <p:ext uri="{BB962C8B-B14F-4D97-AF65-F5344CB8AC3E}">
        <p14:creationId xmlns:p14="http://schemas.microsoft.com/office/powerpoint/2010/main" xmlns="" val="2141824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4524315"/>
          </a:xfrm>
          <a:prstGeom prst="rect">
            <a:avLst/>
          </a:prstGeom>
          <a:noFill/>
        </p:spPr>
        <p:txBody>
          <a:bodyPr wrap="square" rtlCol="0">
            <a:spAutoFit/>
          </a:bodyPr>
          <a:lstStyle/>
          <a:p>
            <a:pPr marL="285750" indent="-285750" algn="just">
              <a:buFont typeface="Arial" panose="020B0604020202020204" pitchFamily="34" charset="0"/>
              <a:buChar char="•"/>
            </a:pPr>
            <a:r>
              <a:rPr lang="en-US" sz="1800" b="0" i="0" u="none" strike="noStrike" baseline="0" dirty="0">
                <a:solidFill>
                  <a:srgbClr val="000000"/>
                </a:solidFill>
              </a:rPr>
              <a:t>The ________ constraint is used for coinciding a sketch point on to a line, an arc, or an elliptical entity.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You can control the display or visibility of the applied constraints by using the ________ check box of the SKETCH PALETTE dialog box.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The ________ dimension is applied to a sketch representing revolve features.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All degrees of freedom of a ______ sketch are fixed.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You can apply constraints by using the constraints tools available in the ______ panel of the SKETCH contextual tab.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The ______ tool is used for applying dimension, depending upon the type of entity selected. </a:t>
            </a:r>
            <a:endParaRPr lang="en-IN" dirty="0"/>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Questions</a:t>
            </a:r>
          </a:p>
        </p:txBody>
      </p:sp>
    </p:spTree>
    <p:extLst>
      <p:ext uri="{BB962C8B-B14F-4D97-AF65-F5344CB8AC3E}">
        <p14:creationId xmlns:p14="http://schemas.microsoft.com/office/powerpoint/2010/main" xmlns="" val="2141824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246046"/>
            <a:ext cx="7143800" cy="3970318"/>
          </a:xfrm>
          <a:prstGeom prst="rect">
            <a:avLst/>
          </a:prstGeom>
          <a:noFill/>
        </p:spPr>
        <p:txBody>
          <a:bodyPr wrap="square" rtlCol="0">
            <a:spAutoFit/>
          </a:bodyPr>
          <a:lstStyle/>
          <a:p>
            <a:pPr marL="285750" indent="-285750" algn="just">
              <a:buFont typeface="Arial" panose="020B0604020202020204" pitchFamily="34" charset="0"/>
              <a:buChar char="•"/>
            </a:pPr>
            <a:r>
              <a:rPr lang="en-US" sz="1800" b="0" i="0" u="none" strike="noStrike" baseline="0" dirty="0">
                <a:solidFill>
                  <a:srgbClr val="000000"/>
                </a:solidFill>
              </a:rPr>
              <a:t>The ______ tool is used for changing the orientation of the sketching plane normal to the viewing direction.</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The ______ check box of the SKETCH PALETTE dialog box is used for cutting the object by using the sketching plane of the sketch.</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You cannot modify the dimensions once they have been applied. (True/False)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You cannot delete the constraints that have already been applied between the selected entities. (True/False)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Constraints are used for restricting some degrees of freedom of a sketch. (True/False) </a:t>
            </a:r>
            <a:endParaRPr lang="en-IN" dirty="0"/>
          </a:p>
        </p:txBody>
      </p:sp>
    </p:spTree>
    <p:extLst>
      <p:ext uri="{BB962C8B-B14F-4D97-AF65-F5344CB8AC3E}">
        <p14:creationId xmlns:p14="http://schemas.microsoft.com/office/powerpoint/2010/main" xmlns="" val="4093298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1280</TotalTime>
  <Words>1189</Words>
  <Application>Microsoft Office PowerPoint</Application>
  <PresentationFormat>On-screen Show (4:3)</PresentationFormat>
  <Paragraphs>113</Paragraphs>
  <Slides>29</Slides>
  <Notes>2</Notes>
  <HiddenSlides>0</HiddenSlides>
  <MMClips>0</MMClips>
  <ScaleCrop>false</ScaleCrop>
  <HeadingPairs>
    <vt:vector size="4" baseType="variant">
      <vt:variant>
        <vt:lpstr>Theme</vt:lpstr>
      </vt:variant>
      <vt:variant>
        <vt:i4>2</vt:i4>
      </vt:variant>
      <vt:variant>
        <vt:lpstr>Slide Titles</vt:lpstr>
      </vt:variant>
      <vt:variant>
        <vt:i4>29</vt:i4>
      </vt:variant>
    </vt:vector>
  </HeadingPairs>
  <TitlesOfParts>
    <vt:vector size="31" baseType="lpstr">
      <vt:lpstr>Office Theme</vt:lpstr>
      <vt:lpstr>Custom Design</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Cognizant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CADArtifex</dc:creator>
  <cp:lastModifiedBy>CADArtifex</cp:lastModifiedBy>
  <cp:revision>349</cp:revision>
  <dcterms:created xsi:type="dcterms:W3CDTF">2015-08-21T14:49:37Z</dcterms:created>
  <dcterms:modified xsi:type="dcterms:W3CDTF">2023-08-08T06:56:56Z</dcterms:modified>
</cp:coreProperties>
</file>