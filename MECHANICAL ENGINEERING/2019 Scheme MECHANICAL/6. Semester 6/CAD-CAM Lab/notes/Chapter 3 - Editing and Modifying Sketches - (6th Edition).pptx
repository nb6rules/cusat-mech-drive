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10.xml" ContentType="application/vnd.openxmlformats-officedocument.presentationml.slideLayout+xml"/>
  <Default Extension="tiff" ContentType="image/tif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6"/>
  </p:notesMasterIdLst>
  <p:sldIdLst>
    <p:sldId id="256" r:id="rId3"/>
    <p:sldId id="259" r:id="rId4"/>
    <p:sldId id="260" r:id="rId5"/>
    <p:sldId id="262" r:id="rId6"/>
    <p:sldId id="292" r:id="rId7"/>
    <p:sldId id="293" r:id="rId8"/>
    <p:sldId id="263" r:id="rId9"/>
    <p:sldId id="294" r:id="rId10"/>
    <p:sldId id="344" r:id="rId11"/>
    <p:sldId id="345" r:id="rId12"/>
    <p:sldId id="351" r:id="rId13"/>
    <p:sldId id="346" r:id="rId14"/>
    <p:sldId id="295" r:id="rId15"/>
    <p:sldId id="347" r:id="rId16"/>
    <p:sldId id="296" r:id="rId17"/>
    <p:sldId id="299" r:id="rId18"/>
    <p:sldId id="300" r:id="rId19"/>
    <p:sldId id="264" r:id="rId20"/>
    <p:sldId id="301" r:id="rId21"/>
    <p:sldId id="353" r:id="rId22"/>
    <p:sldId id="354" r:id="rId23"/>
    <p:sldId id="355" r:id="rId24"/>
    <p:sldId id="356" r:id="rId25"/>
    <p:sldId id="348" r:id="rId26"/>
    <p:sldId id="349" r:id="rId27"/>
    <p:sldId id="338" r:id="rId28"/>
    <p:sldId id="339" r:id="rId29"/>
    <p:sldId id="350" r:id="rId30"/>
    <p:sldId id="340" r:id="rId31"/>
    <p:sldId id="352" r:id="rId32"/>
    <p:sldId id="342" r:id="rId33"/>
    <p:sldId id="343" r:id="rId34"/>
    <p:sldId id="286"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Default Section" id="{6783F166-5A9A-4CF9-9FA4-6982EACCBE6A}">
          <p14:sldIdLst>
            <p14:sldId id="256"/>
          </p14:sldIdLst>
        </p14:section>
        <p14:section name="Untitled Section" id="{9A36CBE5-C24B-4A73-B92F-56512DA6D0AA}">
          <p14:sldIdLst>
            <p14:sldId id="259"/>
            <p14:sldId id="260"/>
            <p14:sldId id="262"/>
            <p14:sldId id="292"/>
            <p14:sldId id="293"/>
            <p14:sldId id="263"/>
            <p14:sldId id="294"/>
            <p14:sldId id="344"/>
            <p14:sldId id="345"/>
            <p14:sldId id="351"/>
            <p14:sldId id="346"/>
            <p14:sldId id="295"/>
            <p14:sldId id="347"/>
            <p14:sldId id="296"/>
            <p14:sldId id="299"/>
            <p14:sldId id="300"/>
            <p14:sldId id="264"/>
            <p14:sldId id="301"/>
            <p14:sldId id="353"/>
            <p14:sldId id="354"/>
            <p14:sldId id="355"/>
            <p14:sldId id="356"/>
            <p14:sldId id="348"/>
            <p14:sldId id="349"/>
            <p14:sldId id="338"/>
            <p14:sldId id="339"/>
            <p14:sldId id="350"/>
            <p14:sldId id="340"/>
            <p14:sldId id="352"/>
            <p14:sldId id="342"/>
            <p14:sldId id="343"/>
            <p14:sldId id="286"/>
          </p14:sldIdLst>
        </p14:section>
      </p14:sectionLst>
    </p:ex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64A2"/>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9722" autoAdjust="0"/>
    <p:restoredTop sz="94660"/>
  </p:normalViewPr>
  <p:slideViewPr>
    <p:cSldViewPr>
      <p:cViewPr varScale="1">
        <p:scale>
          <a:sx n="91" d="100"/>
          <a:sy n="91" d="100"/>
        </p:scale>
        <p:origin x="-1656" y="-114"/>
      </p:cViewPr>
      <p:guideLst>
        <p:guide orient="horz" pos="2160"/>
        <p:guide pos="2880"/>
      </p:guideLst>
    </p:cSldViewPr>
  </p:slideViewPr>
  <p:notesTextViewPr>
    <p:cViewPr>
      <p:scale>
        <a:sx n="1" d="1"/>
        <a:sy n="1" d="1"/>
      </p:scale>
      <p:origin x="0" y="0"/>
    </p:cViewPr>
  </p:notesTextViewPr>
  <p:notesViewPr>
    <p:cSldViewPr>
      <p:cViewPr>
        <p:scale>
          <a:sx n="100" d="100"/>
          <a:sy n="100" d="100"/>
        </p:scale>
        <p:origin x="-1890" y="0"/>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2F59EA-F9C4-4AA5-868C-28B75A8ED153}" type="datetimeFigureOut">
              <a:rPr lang="en-IN" smtClean="0"/>
              <a:pPr/>
              <a:t>08-08-2023</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Intro</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07B1-311C-440B-8FE0-43B52FF6ACA7}" type="slidenum">
              <a:rPr lang="en-IN" smtClean="0"/>
              <a:pPr/>
              <a:t>‹#›</a:t>
            </a:fld>
            <a:endParaRPr lang="en-IN"/>
          </a:p>
        </p:txBody>
      </p:sp>
    </p:spTree>
    <p:extLst>
      <p:ext uri="{BB962C8B-B14F-4D97-AF65-F5344CB8AC3E}">
        <p14:creationId xmlns:p14="http://schemas.microsoft.com/office/powerpoint/2010/main" xmlns="" val="21957269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a:p>
        </p:txBody>
      </p:sp>
      <p:sp>
        <p:nvSpPr>
          <p:cNvPr id="4" name="Slide Number Placeholder 3"/>
          <p:cNvSpPr>
            <a:spLocks noGrp="1"/>
          </p:cNvSpPr>
          <p:nvPr>
            <p:ph type="sldNum" sz="quarter" idx="10"/>
          </p:nvPr>
        </p:nvSpPr>
        <p:spPr/>
        <p:txBody>
          <a:bodyPr/>
          <a:lstStyle/>
          <a:p>
            <a:fld id="{A87407B1-311C-440B-8FE0-43B52FF6ACA7}" type="slidenum">
              <a:rPr lang="en-IN" smtClean="0"/>
              <a:pPr/>
              <a:t>1</a:t>
            </a:fld>
            <a:endParaRPr lang="en-IN"/>
          </a:p>
        </p:txBody>
      </p:sp>
    </p:spTree>
    <p:extLst>
      <p:ext uri="{BB962C8B-B14F-4D97-AF65-F5344CB8AC3E}">
        <p14:creationId xmlns:p14="http://schemas.microsoft.com/office/powerpoint/2010/main" xmlns="" val="2576572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7407B1-311C-440B-8FE0-43B52FF6ACA7}" type="slidenum">
              <a:rPr lang="en-IN" smtClean="0"/>
              <a:pPr/>
              <a:t>33</a:t>
            </a:fld>
            <a:endParaRPr lang="en-IN"/>
          </a:p>
        </p:txBody>
      </p:sp>
    </p:spTree>
    <p:extLst>
      <p:ext uri="{BB962C8B-B14F-4D97-AF65-F5344CB8AC3E}">
        <p14:creationId xmlns:p14="http://schemas.microsoft.com/office/powerpoint/2010/main" xmlns="" val="23358207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7" name="TextBox 6"/>
          <p:cNvSpPr txBox="1"/>
          <p:nvPr userDrawn="1"/>
        </p:nvSpPr>
        <p:spPr>
          <a:xfrm>
            <a:off x="0" y="6143644"/>
            <a:ext cx="9144000" cy="369332"/>
          </a:xfrm>
          <a:prstGeom prst="rect">
            <a:avLst/>
          </a:prstGeom>
          <a:noFill/>
        </p:spPr>
        <p:txBody>
          <a:bodyPr wrap="square" rtlCol="0">
            <a:spAutoFit/>
          </a:bodyPr>
          <a:lstStyle/>
          <a:p>
            <a:pPr algn="ctr"/>
            <a:r>
              <a:rPr lang="en-IN" sz="1800" b="1" dirty="0">
                <a:solidFill>
                  <a:schemeClr val="bg1"/>
                </a:solidFill>
              </a:rPr>
              <a:t>Autodesk Fusion 360: A Power Guide for Beginners and Intermediate Users (6</a:t>
            </a:r>
            <a:r>
              <a:rPr lang="en-IN" sz="1800" b="1" baseline="30000" dirty="0">
                <a:solidFill>
                  <a:schemeClr val="bg1"/>
                </a:solidFill>
              </a:rPr>
              <a:t>th</a:t>
            </a:r>
            <a:r>
              <a:rPr lang="en-IN" sz="1800" b="1" dirty="0">
                <a:solidFill>
                  <a:schemeClr val="bg1"/>
                </a:solidFill>
              </a:rPr>
              <a:t> Edition)</a:t>
            </a:r>
          </a:p>
        </p:txBody>
      </p:sp>
      <p:sp>
        <p:nvSpPr>
          <p:cNvPr id="8" name="TextBox 7"/>
          <p:cNvSpPr txBox="1"/>
          <p:nvPr userDrawn="1"/>
        </p:nvSpPr>
        <p:spPr>
          <a:xfrm>
            <a:off x="0" y="6457890"/>
            <a:ext cx="9144000" cy="400110"/>
          </a:xfrm>
          <a:prstGeom prst="rect">
            <a:avLst/>
          </a:prstGeom>
          <a:noFill/>
        </p:spPr>
        <p:txBody>
          <a:bodyPr wrap="square" rtlCol="0">
            <a:spAutoFit/>
          </a:bodyPr>
          <a:lstStyle/>
          <a:p>
            <a:pPr algn="ctr"/>
            <a:r>
              <a:rPr lang="en-IN" sz="2000" dirty="0">
                <a:solidFill>
                  <a:schemeClr val="bg1"/>
                </a:solidFill>
              </a:rPr>
              <a:t>www.cadartifex.com 	 	info@cadartifex.com</a:t>
            </a:r>
          </a:p>
        </p:txBody>
      </p:sp>
      <p:sp>
        <p:nvSpPr>
          <p:cNvPr id="10" name="TextBox 9"/>
          <p:cNvSpPr txBox="1"/>
          <p:nvPr userDrawn="1"/>
        </p:nvSpPr>
        <p:spPr>
          <a:xfrm>
            <a:off x="1259632" y="44624"/>
            <a:ext cx="4670317" cy="400110"/>
          </a:xfrm>
          <a:prstGeom prst="rect">
            <a:avLst/>
          </a:prstGeom>
          <a:noFill/>
        </p:spPr>
        <p:txBody>
          <a:bodyPr wrap="none" rtlCol="0">
            <a:spAutoFit/>
          </a:bodyPr>
          <a:lstStyle/>
          <a:p>
            <a:r>
              <a:rPr lang="en-IN" sz="2000" b="1" dirty="0">
                <a:solidFill>
                  <a:schemeClr val="bg1"/>
                </a:solidFill>
              </a:rPr>
              <a:t>Chapter 3: Editing and Modifying Sketches</a:t>
            </a:r>
          </a:p>
        </p:txBody>
      </p:sp>
    </p:spTree>
    <p:extLst>
      <p:ext uri="{BB962C8B-B14F-4D97-AF65-F5344CB8AC3E}">
        <p14:creationId xmlns:p14="http://schemas.microsoft.com/office/powerpoint/2010/main" xmlns="" val="928207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TextBox 6"/>
          <p:cNvSpPr txBox="1"/>
          <p:nvPr userDrawn="1"/>
        </p:nvSpPr>
        <p:spPr>
          <a:xfrm>
            <a:off x="0" y="6143644"/>
            <a:ext cx="9144000" cy="369332"/>
          </a:xfrm>
          <a:prstGeom prst="rect">
            <a:avLst/>
          </a:prstGeom>
          <a:noFill/>
        </p:spPr>
        <p:txBody>
          <a:bodyPr wrap="square" rtlCol="0">
            <a:spAutoFit/>
          </a:bodyPr>
          <a:lstStyle/>
          <a:p>
            <a:pPr algn="ctr"/>
            <a:r>
              <a:rPr lang="en-IN" sz="1800" b="1" dirty="0">
                <a:solidFill>
                  <a:schemeClr val="bg1"/>
                </a:solidFill>
              </a:rPr>
              <a:t>Autodesk Fusion 360: A Power Guide for Beginners and Intermediate Users (6</a:t>
            </a:r>
            <a:r>
              <a:rPr lang="en-IN" sz="1800" b="1" baseline="30000" dirty="0">
                <a:solidFill>
                  <a:schemeClr val="bg1"/>
                </a:solidFill>
              </a:rPr>
              <a:t>th</a:t>
            </a:r>
            <a:r>
              <a:rPr lang="en-IN" sz="1800" b="1" dirty="0">
                <a:solidFill>
                  <a:schemeClr val="bg1"/>
                </a:solidFill>
              </a:rPr>
              <a:t> Edition)</a:t>
            </a:r>
          </a:p>
        </p:txBody>
      </p:sp>
      <p:sp>
        <p:nvSpPr>
          <p:cNvPr id="8" name="TextBox 7"/>
          <p:cNvSpPr txBox="1"/>
          <p:nvPr userDrawn="1"/>
        </p:nvSpPr>
        <p:spPr>
          <a:xfrm>
            <a:off x="0" y="6457890"/>
            <a:ext cx="9144000" cy="400110"/>
          </a:xfrm>
          <a:prstGeom prst="rect">
            <a:avLst/>
          </a:prstGeom>
          <a:noFill/>
        </p:spPr>
        <p:txBody>
          <a:bodyPr wrap="square" rtlCol="0">
            <a:spAutoFit/>
          </a:bodyPr>
          <a:lstStyle/>
          <a:p>
            <a:pPr algn="ctr"/>
            <a:r>
              <a:rPr lang="en-IN" sz="2000" dirty="0">
                <a:solidFill>
                  <a:schemeClr val="bg1"/>
                </a:solidFill>
              </a:rPr>
              <a:t>www.cadartifex.com 	 	info@cadartifex.com</a:t>
            </a:r>
          </a:p>
        </p:txBody>
      </p:sp>
      <p:sp>
        <p:nvSpPr>
          <p:cNvPr id="9" name="TextBox 8"/>
          <p:cNvSpPr txBox="1"/>
          <p:nvPr userDrawn="1"/>
        </p:nvSpPr>
        <p:spPr>
          <a:xfrm>
            <a:off x="1259632" y="44624"/>
            <a:ext cx="4670317" cy="400110"/>
          </a:xfrm>
          <a:prstGeom prst="rect">
            <a:avLst/>
          </a:prstGeom>
          <a:noFill/>
        </p:spPr>
        <p:txBody>
          <a:bodyPr wrap="none" rtlCol="0">
            <a:spAutoFit/>
          </a:bodyPr>
          <a:lstStyle/>
          <a:p>
            <a:r>
              <a:rPr lang="en-IN" sz="2000" b="1" dirty="0">
                <a:solidFill>
                  <a:schemeClr val="bg1"/>
                </a:solidFill>
              </a:rPr>
              <a:t>Chapter 3: Editing and Modifying Sketches</a:t>
            </a:r>
          </a:p>
        </p:txBody>
      </p:sp>
    </p:spTree>
    <p:extLst>
      <p:ext uri="{BB962C8B-B14F-4D97-AF65-F5344CB8AC3E}">
        <p14:creationId xmlns:p14="http://schemas.microsoft.com/office/powerpoint/2010/main" xmlns="" val="14281689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018EFA92-5063-4058-9822-C8308247FC20}" type="datetimeFigureOut">
              <a:rPr lang="en-IN" smtClean="0"/>
              <a:pPr/>
              <a:t>08-08-2023</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5B82656-3008-461D-816E-072790193685}" type="slidenum">
              <a:rPr lang="en-IN" smtClean="0"/>
              <a:pPr/>
              <a:t>‹#›</a:t>
            </a:fld>
            <a:endParaRPr lang="en-IN"/>
          </a:p>
        </p:txBody>
      </p:sp>
    </p:spTree>
    <p:extLst>
      <p:ext uri="{BB962C8B-B14F-4D97-AF65-F5344CB8AC3E}">
        <p14:creationId xmlns:p14="http://schemas.microsoft.com/office/powerpoint/2010/main" xmlns="" val="2636809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018EFA92-5063-4058-9822-C8308247FC20}" type="datetimeFigureOut">
              <a:rPr lang="en-IN" smtClean="0"/>
              <a:pPr/>
              <a:t>08-08-2023</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A5B82656-3008-461D-816E-072790193685}" type="slidenum">
              <a:rPr lang="en-IN" smtClean="0"/>
              <a:pPr/>
              <a:t>‹#›</a:t>
            </a:fld>
            <a:endParaRPr lang="en-IN"/>
          </a:p>
        </p:txBody>
      </p:sp>
    </p:spTree>
    <p:extLst>
      <p:ext uri="{BB962C8B-B14F-4D97-AF65-F5344CB8AC3E}">
        <p14:creationId xmlns:p14="http://schemas.microsoft.com/office/powerpoint/2010/main" xmlns="" val="688807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018EFA92-5063-4058-9822-C8308247FC20}" type="datetimeFigureOut">
              <a:rPr lang="en-IN" smtClean="0"/>
              <a:pPr/>
              <a:t>08-08-2023</a:t>
            </a:fld>
            <a:endParaRPr lang="en-IN"/>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IN"/>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A5B82656-3008-461D-816E-072790193685}" type="slidenum">
              <a:rPr lang="en-IN" smtClean="0"/>
              <a:pPr/>
              <a:t>‹#›</a:t>
            </a:fld>
            <a:endParaRPr lang="en-IN"/>
          </a:p>
        </p:txBody>
      </p:sp>
    </p:spTree>
    <p:extLst>
      <p:ext uri="{BB962C8B-B14F-4D97-AF65-F5344CB8AC3E}">
        <p14:creationId xmlns:p14="http://schemas.microsoft.com/office/powerpoint/2010/main" xmlns="" val="3330553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018EFA92-5063-4058-9822-C8308247FC20}" type="datetimeFigureOut">
              <a:rPr lang="en-IN" smtClean="0"/>
              <a:pPr/>
              <a:t>08-08-2023</a:t>
            </a:fld>
            <a:endParaRPr lang="en-IN"/>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endParaRPr lang="en-IN"/>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A5B82656-3008-461D-816E-072790193685}" type="slidenum">
              <a:rPr lang="en-IN" smtClean="0"/>
              <a:pPr/>
              <a:t>‹#›</a:t>
            </a:fld>
            <a:endParaRPr lang="en-IN"/>
          </a:p>
        </p:txBody>
      </p:sp>
    </p:spTree>
    <p:extLst>
      <p:ext uri="{BB962C8B-B14F-4D97-AF65-F5344CB8AC3E}">
        <p14:creationId xmlns:p14="http://schemas.microsoft.com/office/powerpoint/2010/main" xmlns="" val="3204811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018EFA92-5063-4058-9822-C8308247FC20}" type="datetimeFigureOut">
              <a:rPr lang="en-IN" smtClean="0"/>
              <a:pPr/>
              <a:t>08-08-2023</a:t>
            </a:fld>
            <a:endParaRPr lang="en-IN"/>
          </a:p>
        </p:txBody>
      </p:sp>
      <p:sp>
        <p:nvSpPr>
          <p:cNvPr id="3" name="Footer Placeholder 2"/>
          <p:cNvSpPr>
            <a:spLocks noGrp="1"/>
          </p:cNvSpPr>
          <p:nvPr>
            <p:ph type="ftr" sz="quarter" idx="11"/>
          </p:nvPr>
        </p:nvSpPr>
        <p:spPr>
          <a:xfrm>
            <a:off x="3124200" y="6356350"/>
            <a:ext cx="2895600" cy="365125"/>
          </a:xfrm>
          <a:prstGeom prst="rect">
            <a:avLst/>
          </a:prstGeom>
        </p:spPr>
        <p:txBody>
          <a:bodyPr/>
          <a:lstStyle/>
          <a:p>
            <a:endParaRPr lang="en-IN"/>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A5B82656-3008-461D-816E-072790193685}" type="slidenum">
              <a:rPr lang="en-IN" smtClean="0"/>
              <a:pPr/>
              <a:t>‹#›</a:t>
            </a:fld>
            <a:endParaRPr lang="en-IN"/>
          </a:p>
        </p:txBody>
      </p:sp>
    </p:spTree>
    <p:extLst>
      <p:ext uri="{BB962C8B-B14F-4D97-AF65-F5344CB8AC3E}">
        <p14:creationId xmlns:p14="http://schemas.microsoft.com/office/powerpoint/2010/main" xmlns="" val="4062399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018EFA92-5063-4058-9822-C8308247FC20}" type="datetimeFigureOut">
              <a:rPr lang="en-IN" smtClean="0"/>
              <a:pPr/>
              <a:t>08-08-2023</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A5B82656-3008-461D-816E-072790193685}" type="slidenum">
              <a:rPr lang="en-IN" smtClean="0"/>
              <a:pPr/>
              <a:t>‹#›</a:t>
            </a:fld>
            <a:endParaRPr lang="en-IN"/>
          </a:p>
        </p:txBody>
      </p:sp>
    </p:spTree>
    <p:extLst>
      <p:ext uri="{BB962C8B-B14F-4D97-AF65-F5344CB8AC3E}">
        <p14:creationId xmlns:p14="http://schemas.microsoft.com/office/powerpoint/2010/main" xmlns="" val="2050878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018EFA92-5063-4058-9822-C8308247FC20}" type="datetimeFigureOut">
              <a:rPr lang="en-IN" smtClean="0"/>
              <a:pPr/>
              <a:t>08-08-2023</a:t>
            </a:fld>
            <a:endParaRPr lang="en-IN"/>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IN"/>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A5B82656-3008-461D-816E-072790193685}" type="slidenum">
              <a:rPr lang="en-IN" smtClean="0"/>
              <a:pPr/>
              <a:t>‹#›</a:t>
            </a:fld>
            <a:endParaRPr lang="en-IN"/>
          </a:p>
        </p:txBody>
      </p:sp>
    </p:spTree>
    <p:extLst>
      <p:ext uri="{BB962C8B-B14F-4D97-AF65-F5344CB8AC3E}">
        <p14:creationId xmlns:p14="http://schemas.microsoft.com/office/powerpoint/2010/main" xmlns="" val="1659746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018EFA92-5063-4058-9822-C8308247FC20}" type="datetimeFigureOut">
              <a:rPr lang="en-IN" smtClean="0"/>
              <a:pPr/>
              <a:t>08-08-2023</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5B82656-3008-461D-816E-072790193685}" type="slidenum">
              <a:rPr lang="en-IN" smtClean="0"/>
              <a:pPr/>
              <a:t>‹#›</a:t>
            </a:fld>
            <a:endParaRPr lang="en-IN"/>
          </a:p>
        </p:txBody>
      </p:sp>
    </p:spTree>
    <p:extLst>
      <p:ext uri="{BB962C8B-B14F-4D97-AF65-F5344CB8AC3E}">
        <p14:creationId xmlns:p14="http://schemas.microsoft.com/office/powerpoint/2010/main" xmlns="" val="2307452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018EFA92-5063-4058-9822-C8308247FC20}" type="datetimeFigureOut">
              <a:rPr lang="en-IN" smtClean="0"/>
              <a:pPr/>
              <a:t>08-08-2023</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A5B82656-3008-461D-816E-072790193685}" type="slidenum">
              <a:rPr lang="en-IN" smtClean="0"/>
              <a:pPr/>
              <a:t>‹#›</a:t>
            </a:fld>
            <a:endParaRPr lang="en-IN"/>
          </a:p>
        </p:txBody>
      </p:sp>
    </p:spTree>
    <p:extLst>
      <p:ext uri="{BB962C8B-B14F-4D97-AF65-F5344CB8AC3E}">
        <p14:creationId xmlns:p14="http://schemas.microsoft.com/office/powerpoint/2010/main" xmlns="" val="7771032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F607628-59D9-4DAE-B459-188AF83C6DF5}" type="datetimeFigureOut">
              <a:rPr lang="en-US" smtClean="0"/>
              <a:pPr/>
              <a:t>8/8/2023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F607628-59D9-4DAE-B459-188AF83C6DF5}" type="datetimeFigureOut">
              <a:rPr lang="en-US" smtClean="0"/>
              <a:pPr/>
              <a:t>8/8/2023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607628-59D9-4DAE-B459-188AF83C6DF5}" type="datetimeFigureOut">
              <a:rPr lang="en-US" smtClean="0"/>
              <a:pPr/>
              <a:t>8/8/2023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F607628-59D9-4DAE-B459-188AF83C6DF5}" type="datetimeFigureOut">
              <a:rPr lang="en-US" smtClean="0"/>
              <a:pPr/>
              <a:t>8/8/2023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F607628-59D9-4DAE-B459-188AF83C6DF5}" type="datetimeFigureOut">
              <a:rPr lang="en-US" smtClean="0"/>
              <a:pPr/>
              <a:t>8/8/2023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F607628-59D9-4DAE-B459-188AF83C6DF5}" type="datetimeFigureOut">
              <a:rPr lang="en-US" smtClean="0"/>
              <a:pPr/>
              <a:t>8/8/2023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607628-59D9-4DAE-B459-188AF83C6DF5}" type="datetimeFigureOut">
              <a:rPr lang="en-US" smtClean="0"/>
              <a:pPr/>
              <a:t>8/8/2023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F607628-59D9-4DAE-B459-188AF83C6DF5}" type="datetimeFigureOut">
              <a:rPr lang="en-US" smtClean="0"/>
              <a:pPr/>
              <a:t>8/8/2023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F607628-59D9-4DAE-B459-188AF83C6DF5}" type="datetimeFigureOut">
              <a:rPr lang="en-US" smtClean="0"/>
              <a:pPr/>
              <a:t>8/8/2023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F607628-59D9-4DAE-B459-188AF83C6DF5}" type="datetimeFigureOut">
              <a:rPr lang="en-US" smtClean="0"/>
              <a:pPr/>
              <a:t>8/8/2023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F607628-59D9-4DAE-B459-188AF83C6DF5}" type="datetimeFigureOut">
              <a:rPr lang="en-US" smtClean="0"/>
              <a:pPr/>
              <a:t>8/8/2023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BC0CC5-0EA3-4E40-A1C6-AF2C48F7C7B9}"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xmlns="" val="2983567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607628-59D9-4DAE-B459-188AF83C6DF5}" type="datetimeFigureOut">
              <a:rPr lang="en-US" smtClean="0"/>
              <a:pPr/>
              <a:t>8/8/2023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BC0CC5-0EA3-4E40-A1C6-AF2C48F7C7B9}"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2.xml"/><Relationship Id="rId4" Type="http://schemas.openxmlformats.org/officeDocument/2006/relationships/image" Target="../media/image6.emf"/></Relationships>
</file>

<file path=ppt/slides/_rels/slide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 Id="rId4" Type="http://schemas.openxmlformats.org/officeDocument/2006/relationships/image" Target="../media/image15.emf"/></Relationships>
</file>

<file path=ppt/slides/_rels/slide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4.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7.emf"/><Relationship Id="rId1" Type="http://schemas.openxmlformats.org/officeDocument/2006/relationships/slideLayout" Target="../slideLayouts/slideLayout2.xml"/><Relationship Id="rId4" Type="http://schemas.openxmlformats.org/officeDocument/2006/relationships/image" Target="../media/image39.emf"/></Relationships>
</file>

<file path=ppt/slides/_rels/slide22.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slideLayout" Target="../slideLayouts/slideLayout2.xml"/><Relationship Id="rId4" Type="http://schemas.openxmlformats.org/officeDocument/2006/relationships/image" Target="../media/image46.emf"/></Relationships>
</file>

<file path=ppt/slides/_rels/slide25.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2.tif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547664" y="939622"/>
            <a:ext cx="6480720" cy="430887"/>
          </a:xfrm>
          <a:prstGeom prst="rect">
            <a:avLst/>
          </a:prstGeom>
          <a:noFill/>
        </p:spPr>
        <p:txBody>
          <a:bodyPr wrap="square" rtlCol="0">
            <a:spAutoFit/>
          </a:bodyPr>
          <a:lstStyle/>
          <a:p>
            <a:r>
              <a:rPr lang="en-IN" sz="2200" b="1" dirty="0">
                <a:solidFill>
                  <a:srgbClr val="002060"/>
                </a:solidFill>
              </a:rPr>
              <a:t>In this chapter, the following topics will be discussed:</a:t>
            </a:r>
          </a:p>
        </p:txBody>
      </p:sp>
      <p:sp>
        <p:nvSpPr>
          <p:cNvPr id="9" name="TextBox 8"/>
          <p:cNvSpPr txBox="1"/>
          <p:nvPr/>
        </p:nvSpPr>
        <p:spPr>
          <a:xfrm>
            <a:off x="1619672" y="1521631"/>
            <a:ext cx="3738146" cy="2862322"/>
          </a:xfrm>
          <a:prstGeom prst="rect">
            <a:avLst/>
          </a:prstGeom>
          <a:noFill/>
        </p:spPr>
        <p:txBody>
          <a:bodyPr wrap="square" rtlCol="0">
            <a:spAutoFit/>
          </a:bodyPr>
          <a:lstStyle/>
          <a:p>
            <a:r>
              <a:rPr lang="en-IN" dirty="0"/>
              <a:t>• Trimming Sketch Entities</a:t>
            </a:r>
          </a:p>
          <a:p>
            <a:r>
              <a:rPr lang="en-IN" dirty="0"/>
              <a:t>• Extending Sketch Entities</a:t>
            </a:r>
          </a:p>
          <a:p>
            <a:r>
              <a:rPr lang="en-IN" dirty="0"/>
              <a:t>• Offsetting Sketch Entities </a:t>
            </a:r>
          </a:p>
          <a:p>
            <a:r>
              <a:rPr lang="en-IN" dirty="0"/>
              <a:t>• Creating Construction Entities</a:t>
            </a:r>
          </a:p>
          <a:p>
            <a:r>
              <a:rPr lang="en-IN" dirty="0"/>
              <a:t>• Mirroring Sketch Entities</a:t>
            </a:r>
          </a:p>
          <a:p>
            <a:r>
              <a:rPr lang="en-IN" dirty="0"/>
              <a:t>• Patterning Sketch Entities</a:t>
            </a:r>
          </a:p>
          <a:p>
            <a:r>
              <a:rPr lang="en-IN" dirty="0"/>
              <a:t>• Creating a Sketch Fillet</a:t>
            </a:r>
          </a:p>
          <a:p>
            <a:r>
              <a:rPr lang="en-IN" dirty="0"/>
              <a:t>• Creating a Sketch Chamfer</a:t>
            </a:r>
          </a:p>
          <a:p>
            <a:r>
              <a:rPr lang="en-IN" dirty="0"/>
              <a:t>• Scaling Sketch Entities</a:t>
            </a:r>
          </a:p>
          <a:p>
            <a:r>
              <a:rPr lang="en-IN" dirty="0"/>
              <a:t>• Breaking Sketch Entities</a:t>
            </a:r>
          </a:p>
        </p:txBody>
      </p:sp>
    </p:spTree>
    <p:extLst>
      <p:ext uri="{BB962C8B-B14F-4D97-AF65-F5344CB8AC3E}">
        <p14:creationId xmlns:p14="http://schemas.microsoft.com/office/powerpoint/2010/main" xmlns="" val="2136074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75656" y="665352"/>
            <a:ext cx="4608512" cy="430887"/>
          </a:xfrm>
          <a:prstGeom prst="rect">
            <a:avLst/>
          </a:prstGeom>
          <a:noFill/>
        </p:spPr>
        <p:txBody>
          <a:bodyPr wrap="square" rtlCol="0">
            <a:spAutoFit/>
          </a:bodyPr>
          <a:lstStyle/>
          <a:p>
            <a:r>
              <a:rPr lang="en-IN" sz="2200" b="1" dirty="0">
                <a:solidFill>
                  <a:srgbClr val="002060"/>
                </a:solidFill>
              </a:rPr>
              <a:t>Trimming Sketch Entities</a:t>
            </a:r>
          </a:p>
        </p:txBody>
      </p:sp>
      <p:sp>
        <p:nvSpPr>
          <p:cNvPr id="7" name="TextBox 6"/>
          <p:cNvSpPr txBox="1"/>
          <p:nvPr/>
        </p:nvSpPr>
        <p:spPr>
          <a:xfrm>
            <a:off x="1475656" y="1079272"/>
            <a:ext cx="6912768" cy="646331"/>
          </a:xfrm>
          <a:prstGeom prst="rect">
            <a:avLst/>
          </a:prstGeom>
          <a:noFill/>
        </p:spPr>
        <p:txBody>
          <a:bodyPr wrap="square" rtlCol="0">
            <a:spAutoFit/>
          </a:bodyPr>
          <a:lstStyle/>
          <a:p>
            <a:r>
              <a:rPr lang="en-IN" dirty="0"/>
              <a:t>You can trim the unwanted sketch entities to their nearest intersection by using the Trim tool.</a:t>
            </a:r>
          </a:p>
        </p:txBody>
      </p:sp>
      <p:pic>
        <p:nvPicPr>
          <p:cNvPr id="4" name="Picture 3">
            <a:extLst>
              <a:ext uri="{FF2B5EF4-FFF2-40B4-BE49-F238E27FC236}">
                <a16:creationId xmlns:a16="http://schemas.microsoft.com/office/drawing/2014/main" xmlns="" id="{164C12D9-4FFF-CC06-4AAC-1191F291CF8C}"/>
              </a:ext>
            </a:extLst>
          </p:cNvPr>
          <p:cNvPicPr>
            <a:picLocks noChangeAspect="1"/>
          </p:cNvPicPr>
          <p:nvPr/>
        </p:nvPicPr>
        <p:blipFill>
          <a:blip r:embed="rId2"/>
          <a:stretch>
            <a:fillRect/>
          </a:stretch>
        </p:blipFill>
        <p:spPr>
          <a:xfrm>
            <a:off x="1664735" y="1835290"/>
            <a:ext cx="5814529" cy="1427519"/>
          </a:xfrm>
          <a:prstGeom prst="rect">
            <a:avLst/>
          </a:prstGeom>
        </p:spPr>
      </p:pic>
      <p:pic>
        <p:nvPicPr>
          <p:cNvPr id="8" name="Picture 7">
            <a:extLst>
              <a:ext uri="{FF2B5EF4-FFF2-40B4-BE49-F238E27FC236}">
                <a16:creationId xmlns:a16="http://schemas.microsoft.com/office/drawing/2014/main" xmlns="" id="{009F4339-E4AC-5911-0B97-4D900E80A09B}"/>
              </a:ext>
            </a:extLst>
          </p:cNvPr>
          <p:cNvPicPr>
            <a:picLocks noChangeAspect="1"/>
          </p:cNvPicPr>
          <p:nvPr/>
        </p:nvPicPr>
        <p:blipFill>
          <a:blip r:embed="rId3"/>
          <a:stretch>
            <a:fillRect/>
          </a:stretch>
        </p:blipFill>
        <p:spPr>
          <a:xfrm>
            <a:off x="2483768" y="3595192"/>
            <a:ext cx="3874576" cy="2131017"/>
          </a:xfrm>
          <a:prstGeom prst="rect">
            <a:avLst/>
          </a:prstGeom>
        </p:spPr>
      </p:pic>
    </p:spTree>
    <p:extLst>
      <p:ext uri="{BB962C8B-B14F-4D97-AF65-F5344CB8AC3E}">
        <p14:creationId xmlns:p14="http://schemas.microsoft.com/office/powerpoint/2010/main" xmlns="" val="3243060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E70B9514-B5A2-1691-8F55-5129AF867296}"/>
              </a:ext>
            </a:extLst>
          </p:cNvPr>
          <p:cNvPicPr>
            <a:picLocks noChangeAspect="1"/>
          </p:cNvPicPr>
          <p:nvPr/>
        </p:nvPicPr>
        <p:blipFill>
          <a:blip r:embed="rId2"/>
          <a:stretch>
            <a:fillRect/>
          </a:stretch>
        </p:blipFill>
        <p:spPr>
          <a:xfrm>
            <a:off x="1403648" y="1222249"/>
            <a:ext cx="2944678" cy="1766807"/>
          </a:xfrm>
          <a:prstGeom prst="rect">
            <a:avLst/>
          </a:prstGeom>
        </p:spPr>
      </p:pic>
      <p:pic>
        <p:nvPicPr>
          <p:cNvPr id="8" name="Picture 7">
            <a:extLst>
              <a:ext uri="{FF2B5EF4-FFF2-40B4-BE49-F238E27FC236}">
                <a16:creationId xmlns:a16="http://schemas.microsoft.com/office/drawing/2014/main" xmlns="" id="{699514AA-4B9C-8F7E-C41C-E8567F85243B}"/>
              </a:ext>
            </a:extLst>
          </p:cNvPr>
          <p:cNvPicPr>
            <a:picLocks noChangeAspect="1"/>
          </p:cNvPicPr>
          <p:nvPr/>
        </p:nvPicPr>
        <p:blipFill>
          <a:blip r:embed="rId3"/>
          <a:stretch>
            <a:fillRect/>
          </a:stretch>
        </p:blipFill>
        <p:spPr>
          <a:xfrm>
            <a:off x="4795676" y="846577"/>
            <a:ext cx="2684375" cy="1722473"/>
          </a:xfrm>
          <a:prstGeom prst="rect">
            <a:avLst/>
          </a:prstGeom>
        </p:spPr>
      </p:pic>
      <p:pic>
        <p:nvPicPr>
          <p:cNvPr id="10" name="Picture 9">
            <a:extLst>
              <a:ext uri="{FF2B5EF4-FFF2-40B4-BE49-F238E27FC236}">
                <a16:creationId xmlns:a16="http://schemas.microsoft.com/office/drawing/2014/main" xmlns="" id="{E434229A-0456-950E-DD55-BDB5EBD655F1}"/>
              </a:ext>
            </a:extLst>
          </p:cNvPr>
          <p:cNvPicPr>
            <a:picLocks noChangeAspect="1"/>
          </p:cNvPicPr>
          <p:nvPr/>
        </p:nvPicPr>
        <p:blipFill>
          <a:blip r:embed="rId4"/>
          <a:stretch>
            <a:fillRect/>
          </a:stretch>
        </p:blipFill>
        <p:spPr>
          <a:xfrm>
            <a:off x="3441587" y="3496863"/>
            <a:ext cx="2899147" cy="1584176"/>
          </a:xfrm>
          <a:prstGeom prst="rect">
            <a:avLst/>
          </a:prstGeom>
        </p:spPr>
      </p:pic>
    </p:spTree>
    <p:extLst>
      <p:ext uri="{BB962C8B-B14F-4D97-AF65-F5344CB8AC3E}">
        <p14:creationId xmlns:p14="http://schemas.microsoft.com/office/powerpoint/2010/main" xmlns="" val="2073188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47664" y="928670"/>
            <a:ext cx="7128792" cy="1200329"/>
          </a:xfrm>
          <a:prstGeom prst="rect">
            <a:avLst/>
          </a:prstGeom>
          <a:noFill/>
        </p:spPr>
        <p:txBody>
          <a:bodyPr wrap="square" rtlCol="0">
            <a:spAutoFit/>
          </a:bodyPr>
          <a:lstStyle/>
          <a:p>
            <a:r>
              <a:rPr lang="en-IN" dirty="0"/>
              <a:t>In addition to trimming the entities by clicking the left mouse button, you can also drag the cursor over the entities to be trimmed. For doing so, after activating the Trim tool, drag the cursor over the entities to be trimmed by pressing and holding the left mouse button.</a:t>
            </a:r>
          </a:p>
        </p:txBody>
      </p:sp>
      <p:sp>
        <p:nvSpPr>
          <p:cNvPr id="7" name="Rectangle 6"/>
          <p:cNvSpPr/>
          <p:nvPr/>
        </p:nvSpPr>
        <p:spPr>
          <a:xfrm>
            <a:off x="1428728" y="4714884"/>
            <a:ext cx="6572296" cy="646331"/>
          </a:xfrm>
          <a:prstGeom prst="rect">
            <a:avLst/>
          </a:prstGeom>
        </p:spPr>
        <p:txBody>
          <a:bodyPr wrap="square">
            <a:spAutoFit/>
          </a:bodyPr>
          <a:lstStyle/>
          <a:p>
            <a:r>
              <a:rPr lang="en-IN" i="1" dirty="0"/>
              <a:t>NOTE: If an intersection is not detected in the entity to be trimmed, then the entity will be deleted from the sketch.</a:t>
            </a:r>
          </a:p>
        </p:txBody>
      </p:sp>
      <p:pic>
        <p:nvPicPr>
          <p:cNvPr id="5" name="Picture 4">
            <a:extLst>
              <a:ext uri="{FF2B5EF4-FFF2-40B4-BE49-F238E27FC236}">
                <a16:creationId xmlns:a16="http://schemas.microsoft.com/office/drawing/2014/main" xmlns="" id="{E631E453-9CA0-CF51-A65F-250A4A03082D}"/>
              </a:ext>
            </a:extLst>
          </p:cNvPr>
          <p:cNvPicPr>
            <a:picLocks noChangeAspect="1"/>
          </p:cNvPicPr>
          <p:nvPr/>
        </p:nvPicPr>
        <p:blipFill>
          <a:blip r:embed="rId2"/>
          <a:stretch>
            <a:fillRect/>
          </a:stretch>
        </p:blipFill>
        <p:spPr>
          <a:xfrm>
            <a:off x="1736084" y="2408545"/>
            <a:ext cx="2658090" cy="2026793"/>
          </a:xfrm>
          <a:prstGeom prst="rect">
            <a:avLst/>
          </a:prstGeom>
        </p:spPr>
      </p:pic>
      <p:pic>
        <p:nvPicPr>
          <p:cNvPr id="9" name="Picture 8">
            <a:extLst>
              <a:ext uri="{FF2B5EF4-FFF2-40B4-BE49-F238E27FC236}">
                <a16:creationId xmlns:a16="http://schemas.microsoft.com/office/drawing/2014/main" xmlns="" id="{D6FD3DDB-A357-91B4-7CB9-BBA5566B8E88}"/>
              </a:ext>
            </a:extLst>
          </p:cNvPr>
          <p:cNvPicPr>
            <a:picLocks noChangeAspect="1"/>
          </p:cNvPicPr>
          <p:nvPr/>
        </p:nvPicPr>
        <p:blipFill>
          <a:blip r:embed="rId3"/>
          <a:stretch>
            <a:fillRect/>
          </a:stretch>
        </p:blipFill>
        <p:spPr>
          <a:xfrm>
            <a:off x="4671195" y="2408545"/>
            <a:ext cx="3549604" cy="2098443"/>
          </a:xfrm>
          <a:prstGeom prst="rect">
            <a:avLst/>
          </a:prstGeom>
        </p:spPr>
      </p:pic>
    </p:spTree>
    <p:extLst>
      <p:ext uri="{BB962C8B-B14F-4D97-AF65-F5344CB8AC3E}">
        <p14:creationId xmlns:p14="http://schemas.microsoft.com/office/powerpoint/2010/main" xmlns="" val="2603072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14480" y="857232"/>
            <a:ext cx="5760640" cy="430887"/>
          </a:xfrm>
          <a:prstGeom prst="rect">
            <a:avLst/>
          </a:prstGeom>
          <a:noFill/>
        </p:spPr>
        <p:txBody>
          <a:bodyPr wrap="square" rtlCol="0">
            <a:spAutoFit/>
          </a:bodyPr>
          <a:lstStyle/>
          <a:p>
            <a:r>
              <a:rPr lang="en-IN" sz="2200" b="1" dirty="0">
                <a:solidFill>
                  <a:srgbClr val="002060"/>
                </a:solidFill>
              </a:rPr>
              <a:t>Extending Sketch Entities</a:t>
            </a:r>
          </a:p>
        </p:txBody>
      </p:sp>
      <p:sp>
        <p:nvSpPr>
          <p:cNvPr id="6" name="TextBox 5"/>
          <p:cNvSpPr txBox="1"/>
          <p:nvPr/>
        </p:nvSpPr>
        <p:spPr>
          <a:xfrm>
            <a:off x="1714480" y="1291224"/>
            <a:ext cx="7128792" cy="646331"/>
          </a:xfrm>
          <a:prstGeom prst="rect">
            <a:avLst/>
          </a:prstGeom>
          <a:noFill/>
        </p:spPr>
        <p:txBody>
          <a:bodyPr wrap="square" rtlCol="0">
            <a:spAutoFit/>
          </a:bodyPr>
          <a:lstStyle/>
          <a:p>
            <a:r>
              <a:rPr lang="en-IN" dirty="0"/>
              <a:t>You can extend sketch entities up to their nearest intersection by using the Extend tool.</a:t>
            </a:r>
          </a:p>
        </p:txBody>
      </p:sp>
      <p:pic>
        <p:nvPicPr>
          <p:cNvPr id="7" name="Picture 6">
            <a:extLst>
              <a:ext uri="{FF2B5EF4-FFF2-40B4-BE49-F238E27FC236}">
                <a16:creationId xmlns:a16="http://schemas.microsoft.com/office/drawing/2014/main" xmlns="" id="{A35D8AE6-FC5C-FD03-5C6F-9D1528AB5163}"/>
              </a:ext>
            </a:extLst>
          </p:cNvPr>
          <p:cNvPicPr>
            <a:picLocks noChangeAspect="1"/>
          </p:cNvPicPr>
          <p:nvPr/>
        </p:nvPicPr>
        <p:blipFill>
          <a:blip r:embed="rId2"/>
          <a:stretch>
            <a:fillRect/>
          </a:stretch>
        </p:blipFill>
        <p:spPr>
          <a:xfrm>
            <a:off x="1461746" y="2636912"/>
            <a:ext cx="3133054" cy="1848867"/>
          </a:xfrm>
          <a:prstGeom prst="rect">
            <a:avLst/>
          </a:prstGeom>
        </p:spPr>
      </p:pic>
      <p:pic>
        <p:nvPicPr>
          <p:cNvPr id="9" name="Picture 8">
            <a:extLst>
              <a:ext uri="{FF2B5EF4-FFF2-40B4-BE49-F238E27FC236}">
                <a16:creationId xmlns:a16="http://schemas.microsoft.com/office/drawing/2014/main" xmlns="" id="{56F10BCD-8044-ED35-D04A-D6BFCB1D566C}"/>
              </a:ext>
            </a:extLst>
          </p:cNvPr>
          <p:cNvPicPr>
            <a:picLocks noChangeAspect="1"/>
          </p:cNvPicPr>
          <p:nvPr/>
        </p:nvPicPr>
        <p:blipFill>
          <a:blip r:embed="rId3"/>
          <a:stretch>
            <a:fillRect/>
          </a:stretch>
        </p:blipFill>
        <p:spPr>
          <a:xfrm>
            <a:off x="4932040" y="2656830"/>
            <a:ext cx="3133054" cy="1870041"/>
          </a:xfrm>
          <a:prstGeom prst="rect">
            <a:avLst/>
          </a:prstGeom>
        </p:spPr>
      </p:pic>
    </p:spTree>
    <p:extLst>
      <p:ext uri="{BB962C8B-B14F-4D97-AF65-F5344CB8AC3E}">
        <p14:creationId xmlns:p14="http://schemas.microsoft.com/office/powerpoint/2010/main" xmlns="" val="728204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285852" y="1214422"/>
            <a:ext cx="7128792" cy="646331"/>
          </a:xfrm>
          <a:prstGeom prst="rect">
            <a:avLst/>
          </a:prstGeom>
          <a:noFill/>
        </p:spPr>
        <p:txBody>
          <a:bodyPr wrap="square" rtlCol="0">
            <a:spAutoFit/>
          </a:bodyPr>
          <a:lstStyle/>
          <a:p>
            <a:r>
              <a:rPr lang="en-US" dirty="0"/>
              <a:t>You can access the Extend tool in the MODIFY drop-down menu in the SKETCH contextual tab of the Toolbar.</a:t>
            </a:r>
            <a:endParaRPr lang="en-IN" dirty="0"/>
          </a:p>
        </p:txBody>
      </p:sp>
      <p:pic>
        <p:nvPicPr>
          <p:cNvPr id="4" name="Picture 3">
            <a:extLst>
              <a:ext uri="{FF2B5EF4-FFF2-40B4-BE49-F238E27FC236}">
                <a16:creationId xmlns:a16="http://schemas.microsoft.com/office/drawing/2014/main" xmlns="" id="{A150CE29-11EC-41E0-F3C8-9B70F0D75B96}"/>
              </a:ext>
            </a:extLst>
          </p:cNvPr>
          <p:cNvPicPr>
            <a:picLocks noChangeAspect="1"/>
          </p:cNvPicPr>
          <p:nvPr/>
        </p:nvPicPr>
        <p:blipFill>
          <a:blip r:embed="rId2"/>
          <a:stretch>
            <a:fillRect/>
          </a:stretch>
        </p:blipFill>
        <p:spPr>
          <a:xfrm>
            <a:off x="827584" y="2304721"/>
            <a:ext cx="3502617" cy="2255003"/>
          </a:xfrm>
          <a:prstGeom prst="rect">
            <a:avLst/>
          </a:prstGeom>
        </p:spPr>
      </p:pic>
      <p:pic>
        <p:nvPicPr>
          <p:cNvPr id="8" name="Picture 7">
            <a:extLst>
              <a:ext uri="{FF2B5EF4-FFF2-40B4-BE49-F238E27FC236}">
                <a16:creationId xmlns:a16="http://schemas.microsoft.com/office/drawing/2014/main" xmlns="" id="{975F43EE-F2B6-F640-9806-E64D58E257F9}"/>
              </a:ext>
            </a:extLst>
          </p:cNvPr>
          <p:cNvPicPr>
            <a:picLocks noChangeAspect="1"/>
          </p:cNvPicPr>
          <p:nvPr/>
        </p:nvPicPr>
        <p:blipFill>
          <a:blip r:embed="rId3"/>
          <a:stretch>
            <a:fillRect/>
          </a:stretch>
        </p:blipFill>
        <p:spPr>
          <a:xfrm>
            <a:off x="4427984" y="2204864"/>
            <a:ext cx="3657600" cy="2038027"/>
          </a:xfrm>
          <a:prstGeom prst="rect">
            <a:avLst/>
          </a:prstGeom>
        </p:spPr>
      </p:pic>
    </p:spTree>
    <p:extLst>
      <p:ext uri="{BB962C8B-B14F-4D97-AF65-F5344CB8AC3E}">
        <p14:creationId xmlns:p14="http://schemas.microsoft.com/office/powerpoint/2010/main" xmlns="" val="421474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691680" y="764704"/>
            <a:ext cx="5760640" cy="430887"/>
          </a:xfrm>
          <a:prstGeom prst="rect">
            <a:avLst/>
          </a:prstGeom>
          <a:noFill/>
        </p:spPr>
        <p:txBody>
          <a:bodyPr wrap="square" rtlCol="0">
            <a:spAutoFit/>
          </a:bodyPr>
          <a:lstStyle/>
          <a:p>
            <a:r>
              <a:rPr lang="en-IN" sz="2200" b="1" dirty="0">
                <a:solidFill>
                  <a:srgbClr val="002060"/>
                </a:solidFill>
              </a:rPr>
              <a:t>Offsetting Sketch Entities</a:t>
            </a:r>
          </a:p>
        </p:txBody>
      </p:sp>
      <p:sp>
        <p:nvSpPr>
          <p:cNvPr id="8" name="TextBox 7"/>
          <p:cNvSpPr txBox="1"/>
          <p:nvPr/>
        </p:nvSpPr>
        <p:spPr>
          <a:xfrm>
            <a:off x="1691680" y="1198696"/>
            <a:ext cx="7128792" cy="646331"/>
          </a:xfrm>
          <a:prstGeom prst="rect">
            <a:avLst/>
          </a:prstGeom>
          <a:noFill/>
        </p:spPr>
        <p:txBody>
          <a:bodyPr wrap="square" rtlCol="0">
            <a:spAutoFit/>
          </a:bodyPr>
          <a:lstStyle/>
          <a:p>
            <a:r>
              <a:rPr lang="en-US" sz="1800" b="0" i="0" u="none" strike="noStrike" baseline="0" dirty="0">
                <a:solidFill>
                  <a:srgbClr val="221E1F"/>
                </a:solidFill>
                <a:latin typeface="Ideal Sans"/>
              </a:rPr>
              <a:t>You can offset the entities of a sketch or the edges of a feature at a specified offset distance by using the Offset tool. </a:t>
            </a:r>
            <a:endParaRPr lang="en-IN" dirty="0"/>
          </a:p>
        </p:txBody>
      </p:sp>
      <p:pic>
        <p:nvPicPr>
          <p:cNvPr id="6" name="Picture 5">
            <a:extLst>
              <a:ext uri="{FF2B5EF4-FFF2-40B4-BE49-F238E27FC236}">
                <a16:creationId xmlns:a16="http://schemas.microsoft.com/office/drawing/2014/main" xmlns="" id="{331F20D8-3D00-1748-F4AC-A9AD13C7B15A}"/>
              </a:ext>
            </a:extLst>
          </p:cNvPr>
          <p:cNvPicPr>
            <a:picLocks noChangeAspect="1"/>
          </p:cNvPicPr>
          <p:nvPr/>
        </p:nvPicPr>
        <p:blipFill>
          <a:blip r:embed="rId2"/>
          <a:stretch>
            <a:fillRect/>
          </a:stretch>
        </p:blipFill>
        <p:spPr>
          <a:xfrm>
            <a:off x="3491880" y="2004225"/>
            <a:ext cx="2520458" cy="1530278"/>
          </a:xfrm>
          <a:prstGeom prst="rect">
            <a:avLst/>
          </a:prstGeom>
        </p:spPr>
      </p:pic>
      <p:pic>
        <p:nvPicPr>
          <p:cNvPr id="10" name="Picture 9">
            <a:extLst>
              <a:ext uri="{FF2B5EF4-FFF2-40B4-BE49-F238E27FC236}">
                <a16:creationId xmlns:a16="http://schemas.microsoft.com/office/drawing/2014/main" xmlns="" id="{70117130-5263-BCFB-3000-A0855226668F}"/>
              </a:ext>
            </a:extLst>
          </p:cNvPr>
          <p:cNvPicPr>
            <a:picLocks noChangeAspect="1"/>
          </p:cNvPicPr>
          <p:nvPr/>
        </p:nvPicPr>
        <p:blipFill>
          <a:blip r:embed="rId3"/>
          <a:stretch>
            <a:fillRect/>
          </a:stretch>
        </p:blipFill>
        <p:spPr>
          <a:xfrm>
            <a:off x="1581708" y="3658117"/>
            <a:ext cx="2990292" cy="2200000"/>
          </a:xfrm>
          <a:prstGeom prst="rect">
            <a:avLst/>
          </a:prstGeom>
        </p:spPr>
      </p:pic>
      <p:pic>
        <p:nvPicPr>
          <p:cNvPr id="12" name="Picture 11">
            <a:extLst>
              <a:ext uri="{FF2B5EF4-FFF2-40B4-BE49-F238E27FC236}">
                <a16:creationId xmlns:a16="http://schemas.microsoft.com/office/drawing/2014/main" xmlns="" id="{E4512B8F-B5F5-9925-F1BF-4AC26D60300F}"/>
              </a:ext>
            </a:extLst>
          </p:cNvPr>
          <p:cNvPicPr>
            <a:picLocks noChangeAspect="1"/>
          </p:cNvPicPr>
          <p:nvPr/>
        </p:nvPicPr>
        <p:blipFill>
          <a:blip r:embed="rId4"/>
          <a:stretch>
            <a:fillRect/>
          </a:stretch>
        </p:blipFill>
        <p:spPr>
          <a:xfrm>
            <a:off x="5004049" y="3693701"/>
            <a:ext cx="3001904" cy="2164416"/>
          </a:xfrm>
          <a:prstGeom prst="rect">
            <a:avLst/>
          </a:prstGeom>
        </p:spPr>
      </p:pic>
    </p:spTree>
    <p:extLst>
      <p:ext uri="{BB962C8B-B14F-4D97-AF65-F5344CB8AC3E}">
        <p14:creationId xmlns:p14="http://schemas.microsoft.com/office/powerpoint/2010/main" xmlns="" val="32247845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714480" y="857232"/>
            <a:ext cx="5760640" cy="430887"/>
          </a:xfrm>
          <a:prstGeom prst="rect">
            <a:avLst/>
          </a:prstGeom>
          <a:noFill/>
        </p:spPr>
        <p:txBody>
          <a:bodyPr wrap="square" rtlCol="0">
            <a:spAutoFit/>
          </a:bodyPr>
          <a:lstStyle/>
          <a:p>
            <a:r>
              <a:rPr lang="en-IN" sz="2200" b="1" dirty="0">
                <a:solidFill>
                  <a:srgbClr val="002060"/>
                </a:solidFill>
              </a:rPr>
              <a:t>Creating Construction Entities</a:t>
            </a:r>
          </a:p>
        </p:txBody>
      </p:sp>
      <p:sp>
        <p:nvSpPr>
          <p:cNvPr id="15" name="TextBox 14"/>
          <p:cNvSpPr txBox="1"/>
          <p:nvPr/>
        </p:nvSpPr>
        <p:spPr>
          <a:xfrm>
            <a:off x="1714480" y="1291224"/>
            <a:ext cx="6786610" cy="923330"/>
          </a:xfrm>
          <a:prstGeom prst="rect">
            <a:avLst/>
          </a:prstGeom>
          <a:noFill/>
        </p:spPr>
        <p:txBody>
          <a:bodyPr wrap="square" rtlCol="0">
            <a:spAutoFit/>
          </a:bodyPr>
          <a:lstStyle/>
          <a:p>
            <a:r>
              <a:rPr lang="en-US" sz="1800" b="0" i="0" u="none" strike="noStrike" baseline="0" dirty="0">
                <a:solidFill>
                  <a:srgbClr val="221E1F"/>
                </a:solidFill>
                <a:latin typeface="Ideal Sans"/>
              </a:rPr>
              <a:t>In Fusion 360, you can activate the construction mode for creating construction entities in the drawing area by using the Construction tool in the </a:t>
            </a:r>
            <a:r>
              <a:rPr lang="en-US" sz="1800" b="0" i="0" u="none" strike="noStrike" baseline="0" dirty="0" err="1">
                <a:solidFill>
                  <a:srgbClr val="221E1F"/>
                </a:solidFill>
                <a:latin typeface="Ideal Sans"/>
              </a:rPr>
              <a:t>Linetype</a:t>
            </a:r>
            <a:r>
              <a:rPr lang="en-US" sz="1800" b="0" i="0" u="none" strike="noStrike" baseline="0" dirty="0">
                <a:solidFill>
                  <a:srgbClr val="221E1F"/>
                </a:solidFill>
                <a:latin typeface="Ideal Sans"/>
              </a:rPr>
              <a:t> area of the SKETCH PALETTE dialog box.</a:t>
            </a:r>
            <a:endParaRPr lang="en-IN" dirty="0"/>
          </a:p>
        </p:txBody>
      </p:sp>
      <p:pic>
        <p:nvPicPr>
          <p:cNvPr id="3" name="Picture 2">
            <a:extLst>
              <a:ext uri="{FF2B5EF4-FFF2-40B4-BE49-F238E27FC236}">
                <a16:creationId xmlns:a16="http://schemas.microsoft.com/office/drawing/2014/main" xmlns="" id="{E4482148-F7AC-B276-43C8-F2189C343F17}"/>
              </a:ext>
            </a:extLst>
          </p:cNvPr>
          <p:cNvPicPr>
            <a:picLocks noChangeAspect="1"/>
          </p:cNvPicPr>
          <p:nvPr/>
        </p:nvPicPr>
        <p:blipFill>
          <a:blip r:embed="rId2"/>
          <a:stretch>
            <a:fillRect/>
          </a:stretch>
        </p:blipFill>
        <p:spPr>
          <a:xfrm>
            <a:off x="1475656" y="2514599"/>
            <a:ext cx="1869859" cy="3138693"/>
          </a:xfrm>
          <a:prstGeom prst="rect">
            <a:avLst/>
          </a:prstGeom>
        </p:spPr>
      </p:pic>
      <p:pic>
        <p:nvPicPr>
          <p:cNvPr id="6" name="Picture 5">
            <a:extLst>
              <a:ext uri="{FF2B5EF4-FFF2-40B4-BE49-F238E27FC236}">
                <a16:creationId xmlns:a16="http://schemas.microsoft.com/office/drawing/2014/main" xmlns="" id="{65C3174D-C349-7787-6C4F-7F0435B95A34}"/>
              </a:ext>
            </a:extLst>
          </p:cNvPr>
          <p:cNvPicPr>
            <a:picLocks noChangeAspect="1"/>
          </p:cNvPicPr>
          <p:nvPr/>
        </p:nvPicPr>
        <p:blipFill>
          <a:blip r:embed="rId3"/>
          <a:stretch>
            <a:fillRect/>
          </a:stretch>
        </p:blipFill>
        <p:spPr>
          <a:xfrm>
            <a:off x="3629719" y="2692830"/>
            <a:ext cx="2169763" cy="1472339"/>
          </a:xfrm>
          <a:prstGeom prst="rect">
            <a:avLst/>
          </a:prstGeom>
        </p:spPr>
      </p:pic>
      <p:pic>
        <p:nvPicPr>
          <p:cNvPr id="8" name="Picture 7">
            <a:extLst>
              <a:ext uri="{FF2B5EF4-FFF2-40B4-BE49-F238E27FC236}">
                <a16:creationId xmlns:a16="http://schemas.microsoft.com/office/drawing/2014/main" xmlns="" id="{75FAE33A-FD14-32DE-5295-CE12E49648D2}"/>
              </a:ext>
            </a:extLst>
          </p:cNvPr>
          <p:cNvPicPr>
            <a:picLocks noChangeAspect="1"/>
          </p:cNvPicPr>
          <p:nvPr/>
        </p:nvPicPr>
        <p:blipFill>
          <a:blip r:embed="rId4"/>
          <a:stretch>
            <a:fillRect/>
          </a:stretch>
        </p:blipFill>
        <p:spPr>
          <a:xfrm>
            <a:off x="6156176" y="2721197"/>
            <a:ext cx="2169763" cy="1472339"/>
          </a:xfrm>
          <a:prstGeom prst="rect">
            <a:avLst/>
          </a:prstGeom>
        </p:spPr>
      </p:pic>
    </p:spTree>
    <p:extLst>
      <p:ext uri="{BB962C8B-B14F-4D97-AF65-F5344CB8AC3E}">
        <p14:creationId xmlns:p14="http://schemas.microsoft.com/office/powerpoint/2010/main" xmlns="" val="481701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714480" y="857232"/>
            <a:ext cx="5760640" cy="430887"/>
          </a:xfrm>
          <a:prstGeom prst="rect">
            <a:avLst/>
          </a:prstGeom>
          <a:noFill/>
        </p:spPr>
        <p:txBody>
          <a:bodyPr wrap="square" rtlCol="0">
            <a:spAutoFit/>
          </a:bodyPr>
          <a:lstStyle/>
          <a:p>
            <a:r>
              <a:rPr lang="en-IN" sz="2200" b="1" dirty="0">
                <a:solidFill>
                  <a:srgbClr val="002060"/>
                </a:solidFill>
              </a:rPr>
              <a:t>Mirroring Sketch Entities</a:t>
            </a:r>
          </a:p>
        </p:txBody>
      </p:sp>
      <p:sp>
        <p:nvSpPr>
          <p:cNvPr id="15" name="TextBox 14"/>
          <p:cNvSpPr txBox="1"/>
          <p:nvPr/>
        </p:nvSpPr>
        <p:spPr>
          <a:xfrm>
            <a:off x="1714480" y="1291224"/>
            <a:ext cx="6961976" cy="923330"/>
          </a:xfrm>
          <a:prstGeom prst="rect">
            <a:avLst/>
          </a:prstGeom>
          <a:noFill/>
        </p:spPr>
        <p:txBody>
          <a:bodyPr wrap="square" rtlCol="0">
            <a:spAutoFit/>
          </a:bodyPr>
          <a:lstStyle/>
          <a:p>
            <a:r>
              <a:rPr lang="en-US" sz="1800" b="0" i="0" u="none" strike="noStrike" baseline="0" dirty="0">
                <a:solidFill>
                  <a:srgbClr val="221E1F"/>
                </a:solidFill>
                <a:latin typeface="Ideal Sans"/>
              </a:rPr>
              <a:t>You can mirror sketch entities about a mirroring line by using the Mirror tool of the CREATE drop-down menu in the SKETCH contextual tab of the Toolbar.</a:t>
            </a:r>
            <a:endParaRPr lang="en-IN" dirty="0"/>
          </a:p>
        </p:txBody>
      </p:sp>
      <p:sp>
        <p:nvSpPr>
          <p:cNvPr id="9" name="Rectangle 8"/>
          <p:cNvSpPr/>
          <p:nvPr/>
        </p:nvSpPr>
        <p:spPr>
          <a:xfrm>
            <a:off x="1214414" y="4549676"/>
            <a:ext cx="6858048" cy="923330"/>
          </a:xfrm>
          <a:prstGeom prst="rect">
            <a:avLst/>
          </a:prstGeom>
        </p:spPr>
        <p:txBody>
          <a:bodyPr wrap="square">
            <a:spAutoFit/>
          </a:bodyPr>
          <a:lstStyle/>
          <a:p>
            <a:pPr algn="l"/>
            <a:r>
              <a:rPr lang="en-IN" i="1" dirty="0"/>
              <a:t>NOTE: </a:t>
            </a:r>
            <a:r>
              <a:rPr lang="en-US" sz="1800" b="0" i="0" u="none" strike="noStrike" baseline="0" dirty="0">
                <a:solidFill>
                  <a:srgbClr val="221E1F"/>
                </a:solidFill>
                <a:latin typeface="Ideal Sans"/>
              </a:rPr>
              <a:t>When you mirror entities, a symmetric relation is applied between the original entities and the mirrored entities with respect to the mirroring line. </a:t>
            </a:r>
            <a:endParaRPr lang="en-IN" i="1" dirty="0"/>
          </a:p>
        </p:txBody>
      </p:sp>
      <p:pic>
        <p:nvPicPr>
          <p:cNvPr id="5" name="Picture 4">
            <a:extLst>
              <a:ext uri="{FF2B5EF4-FFF2-40B4-BE49-F238E27FC236}">
                <a16:creationId xmlns:a16="http://schemas.microsoft.com/office/drawing/2014/main" xmlns="" id="{B041F1FE-E8AE-E8FE-D5ED-5BD804FE045A}"/>
              </a:ext>
            </a:extLst>
          </p:cNvPr>
          <p:cNvPicPr>
            <a:picLocks noChangeAspect="1"/>
          </p:cNvPicPr>
          <p:nvPr/>
        </p:nvPicPr>
        <p:blipFill>
          <a:blip r:embed="rId2"/>
          <a:stretch>
            <a:fillRect/>
          </a:stretch>
        </p:blipFill>
        <p:spPr>
          <a:xfrm>
            <a:off x="1714480" y="2523765"/>
            <a:ext cx="2479729" cy="1720312"/>
          </a:xfrm>
          <a:prstGeom prst="rect">
            <a:avLst/>
          </a:prstGeom>
        </p:spPr>
      </p:pic>
      <p:pic>
        <p:nvPicPr>
          <p:cNvPr id="7" name="Picture 6">
            <a:extLst>
              <a:ext uri="{FF2B5EF4-FFF2-40B4-BE49-F238E27FC236}">
                <a16:creationId xmlns:a16="http://schemas.microsoft.com/office/drawing/2014/main" xmlns="" id="{3997B0A1-2370-4DEE-9830-79606D254937}"/>
              </a:ext>
            </a:extLst>
          </p:cNvPr>
          <p:cNvPicPr>
            <a:picLocks noChangeAspect="1"/>
          </p:cNvPicPr>
          <p:nvPr/>
        </p:nvPicPr>
        <p:blipFill>
          <a:blip r:embed="rId3"/>
          <a:stretch>
            <a:fillRect/>
          </a:stretch>
        </p:blipFill>
        <p:spPr>
          <a:xfrm>
            <a:off x="5344760" y="2632253"/>
            <a:ext cx="2727702" cy="1611824"/>
          </a:xfrm>
          <a:prstGeom prst="rect">
            <a:avLst/>
          </a:prstGeom>
        </p:spPr>
      </p:pic>
    </p:spTree>
    <p:extLst>
      <p:ext uri="{BB962C8B-B14F-4D97-AF65-F5344CB8AC3E}">
        <p14:creationId xmlns:p14="http://schemas.microsoft.com/office/powerpoint/2010/main" xmlns="" val="481701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1571604" y="785794"/>
            <a:ext cx="5760640" cy="430887"/>
          </a:xfrm>
          <a:prstGeom prst="rect">
            <a:avLst/>
          </a:prstGeom>
          <a:noFill/>
        </p:spPr>
        <p:txBody>
          <a:bodyPr wrap="square" rtlCol="0">
            <a:spAutoFit/>
          </a:bodyPr>
          <a:lstStyle/>
          <a:p>
            <a:r>
              <a:rPr lang="en-IN" sz="2200" b="1" dirty="0">
                <a:solidFill>
                  <a:srgbClr val="002060"/>
                </a:solidFill>
              </a:rPr>
              <a:t>Patterning Sketch Entities</a:t>
            </a:r>
          </a:p>
        </p:txBody>
      </p:sp>
      <p:sp>
        <p:nvSpPr>
          <p:cNvPr id="15" name="TextBox 14"/>
          <p:cNvSpPr txBox="1"/>
          <p:nvPr/>
        </p:nvSpPr>
        <p:spPr>
          <a:xfrm>
            <a:off x="1571604" y="1219786"/>
            <a:ext cx="6786610" cy="923330"/>
          </a:xfrm>
          <a:prstGeom prst="rect">
            <a:avLst/>
          </a:prstGeom>
          <a:noFill/>
        </p:spPr>
        <p:txBody>
          <a:bodyPr wrap="square" rtlCol="0">
            <a:spAutoFit/>
          </a:bodyPr>
          <a:lstStyle/>
          <a:p>
            <a:r>
              <a:rPr lang="en-US" sz="1800" b="0" i="0" u="none" strike="noStrike" baseline="0" dirty="0">
                <a:solidFill>
                  <a:srgbClr val="221E1F"/>
                </a:solidFill>
                <a:latin typeface="Ideal Sans"/>
              </a:rPr>
              <a:t>In Fusion 360, you can create rectangular and circular patterns of sketch entities by using the Rectangular Pattern and Circular Pattern tools, respectively. </a:t>
            </a:r>
            <a:endParaRPr lang="en-IN" dirty="0"/>
          </a:p>
        </p:txBody>
      </p:sp>
      <p:sp>
        <p:nvSpPr>
          <p:cNvPr id="7" name="TextBox 6"/>
          <p:cNvSpPr txBox="1"/>
          <p:nvPr/>
        </p:nvSpPr>
        <p:spPr>
          <a:xfrm>
            <a:off x="1590187" y="2780928"/>
            <a:ext cx="5760640" cy="400110"/>
          </a:xfrm>
          <a:prstGeom prst="rect">
            <a:avLst/>
          </a:prstGeom>
          <a:noFill/>
        </p:spPr>
        <p:txBody>
          <a:bodyPr wrap="square" rtlCol="0">
            <a:spAutoFit/>
          </a:bodyPr>
          <a:lstStyle/>
          <a:p>
            <a:r>
              <a:rPr lang="en-IN" sz="2000" b="1" dirty="0">
                <a:solidFill>
                  <a:srgbClr val="002060"/>
                </a:solidFill>
              </a:rPr>
              <a:t>Rectangular Pattern Tool</a:t>
            </a:r>
          </a:p>
        </p:txBody>
      </p:sp>
      <p:sp>
        <p:nvSpPr>
          <p:cNvPr id="8" name="TextBox 7"/>
          <p:cNvSpPr txBox="1"/>
          <p:nvPr/>
        </p:nvSpPr>
        <p:spPr>
          <a:xfrm>
            <a:off x="1593744" y="3170033"/>
            <a:ext cx="6786610" cy="646331"/>
          </a:xfrm>
          <a:prstGeom prst="rect">
            <a:avLst/>
          </a:prstGeom>
          <a:noFill/>
        </p:spPr>
        <p:txBody>
          <a:bodyPr wrap="square" rtlCol="0">
            <a:spAutoFit/>
          </a:bodyPr>
          <a:lstStyle/>
          <a:p>
            <a:r>
              <a:rPr lang="en-US" sz="1800" b="0" i="0" u="none" strike="noStrike" baseline="0" dirty="0">
                <a:solidFill>
                  <a:srgbClr val="221E1F"/>
                </a:solidFill>
                <a:latin typeface="Ideal Sans"/>
              </a:rPr>
              <a:t>The Rectangular Pattern tool is used for creating multiple instances of one or more sketch entities in linear directions. </a:t>
            </a:r>
            <a:endParaRPr lang="en-IN" dirty="0"/>
          </a:p>
        </p:txBody>
      </p:sp>
    </p:spTree>
    <p:extLst>
      <p:ext uri="{BB962C8B-B14F-4D97-AF65-F5344CB8AC3E}">
        <p14:creationId xmlns:p14="http://schemas.microsoft.com/office/powerpoint/2010/main" xmlns="" val="481701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2F3226D2-373C-A869-EA82-4FE33E6B4975}"/>
              </a:ext>
            </a:extLst>
          </p:cNvPr>
          <p:cNvPicPr>
            <a:picLocks noChangeAspect="1"/>
          </p:cNvPicPr>
          <p:nvPr/>
        </p:nvPicPr>
        <p:blipFill>
          <a:blip r:embed="rId2"/>
          <a:stretch>
            <a:fillRect/>
          </a:stretch>
        </p:blipFill>
        <p:spPr>
          <a:xfrm>
            <a:off x="1475656" y="1412776"/>
            <a:ext cx="2770493" cy="3721694"/>
          </a:xfrm>
          <a:prstGeom prst="rect">
            <a:avLst/>
          </a:prstGeom>
        </p:spPr>
      </p:pic>
      <p:pic>
        <p:nvPicPr>
          <p:cNvPr id="9" name="Picture 8">
            <a:extLst>
              <a:ext uri="{FF2B5EF4-FFF2-40B4-BE49-F238E27FC236}">
                <a16:creationId xmlns:a16="http://schemas.microsoft.com/office/drawing/2014/main" xmlns="" id="{94947FFB-42DF-5698-FE40-8E36C899CEC8}"/>
              </a:ext>
            </a:extLst>
          </p:cNvPr>
          <p:cNvPicPr>
            <a:picLocks noChangeAspect="1"/>
          </p:cNvPicPr>
          <p:nvPr/>
        </p:nvPicPr>
        <p:blipFill>
          <a:blip r:embed="rId3"/>
          <a:stretch>
            <a:fillRect/>
          </a:stretch>
        </p:blipFill>
        <p:spPr>
          <a:xfrm>
            <a:off x="5652120" y="1407738"/>
            <a:ext cx="2160356" cy="3111941"/>
          </a:xfrm>
          <a:prstGeom prst="rect">
            <a:avLst/>
          </a:prstGeom>
        </p:spPr>
      </p:pic>
    </p:spTree>
    <p:extLst>
      <p:ext uri="{BB962C8B-B14F-4D97-AF65-F5344CB8AC3E}">
        <p14:creationId xmlns:p14="http://schemas.microsoft.com/office/powerpoint/2010/main" xmlns="" val="36213376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1000100" y="4286256"/>
            <a:ext cx="6929486" cy="646331"/>
          </a:xfrm>
          <a:prstGeom prst="rect">
            <a:avLst/>
          </a:prstGeom>
        </p:spPr>
        <p:txBody>
          <a:bodyPr wrap="square">
            <a:spAutoFit/>
          </a:bodyPr>
          <a:lstStyle/>
          <a:p>
            <a:r>
              <a:rPr lang="en-IN" i="1" dirty="0"/>
              <a:t>NOTE: The number of pattern instances specified in the Quantity field is counted along with the parent or original instance. </a:t>
            </a:r>
            <a:endParaRPr lang="en-IN" dirty="0"/>
          </a:p>
        </p:txBody>
      </p:sp>
      <p:pic>
        <p:nvPicPr>
          <p:cNvPr id="5" name="Picture 4">
            <a:extLst>
              <a:ext uri="{FF2B5EF4-FFF2-40B4-BE49-F238E27FC236}">
                <a16:creationId xmlns:a16="http://schemas.microsoft.com/office/drawing/2014/main" xmlns="" id="{32AB21EC-1FDB-0C28-9FE4-6E8B41EFCDB2}"/>
              </a:ext>
            </a:extLst>
          </p:cNvPr>
          <p:cNvPicPr>
            <a:picLocks noChangeAspect="1"/>
          </p:cNvPicPr>
          <p:nvPr/>
        </p:nvPicPr>
        <p:blipFill>
          <a:blip r:embed="rId2"/>
          <a:stretch>
            <a:fillRect/>
          </a:stretch>
        </p:blipFill>
        <p:spPr>
          <a:xfrm>
            <a:off x="1475656" y="1002721"/>
            <a:ext cx="2998101" cy="2480824"/>
          </a:xfrm>
          <a:prstGeom prst="rect">
            <a:avLst/>
          </a:prstGeom>
        </p:spPr>
      </p:pic>
      <p:pic>
        <p:nvPicPr>
          <p:cNvPr id="7" name="Picture 6">
            <a:extLst>
              <a:ext uri="{FF2B5EF4-FFF2-40B4-BE49-F238E27FC236}">
                <a16:creationId xmlns:a16="http://schemas.microsoft.com/office/drawing/2014/main" xmlns="" id="{63814243-4EE7-10FB-C0F3-02898A47B600}"/>
              </a:ext>
            </a:extLst>
          </p:cNvPr>
          <p:cNvPicPr>
            <a:picLocks noChangeAspect="1"/>
          </p:cNvPicPr>
          <p:nvPr/>
        </p:nvPicPr>
        <p:blipFill>
          <a:blip r:embed="rId3"/>
          <a:stretch>
            <a:fillRect/>
          </a:stretch>
        </p:blipFill>
        <p:spPr>
          <a:xfrm>
            <a:off x="5148064" y="1124744"/>
            <a:ext cx="2998101" cy="2358801"/>
          </a:xfrm>
          <a:prstGeom prst="rect">
            <a:avLst/>
          </a:prstGeom>
        </p:spPr>
      </p:pic>
    </p:spTree>
    <p:extLst>
      <p:ext uri="{BB962C8B-B14F-4D97-AF65-F5344CB8AC3E}">
        <p14:creationId xmlns:p14="http://schemas.microsoft.com/office/powerpoint/2010/main" xmlns="" val="4817012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1B164112-9EC7-3DD2-8CD2-D567803E283C}"/>
              </a:ext>
            </a:extLst>
          </p:cNvPr>
          <p:cNvPicPr>
            <a:picLocks noChangeAspect="1"/>
          </p:cNvPicPr>
          <p:nvPr/>
        </p:nvPicPr>
        <p:blipFill>
          <a:blip r:embed="rId2"/>
          <a:stretch>
            <a:fillRect/>
          </a:stretch>
        </p:blipFill>
        <p:spPr>
          <a:xfrm>
            <a:off x="1115616" y="1628800"/>
            <a:ext cx="3684057" cy="3058781"/>
          </a:xfrm>
          <a:prstGeom prst="rect">
            <a:avLst/>
          </a:prstGeom>
        </p:spPr>
      </p:pic>
      <p:pic>
        <p:nvPicPr>
          <p:cNvPr id="7" name="Picture 6">
            <a:extLst>
              <a:ext uri="{FF2B5EF4-FFF2-40B4-BE49-F238E27FC236}">
                <a16:creationId xmlns:a16="http://schemas.microsoft.com/office/drawing/2014/main" xmlns="" id="{F247BF28-BFB4-D0F9-49B3-7DC592712E1E}"/>
              </a:ext>
            </a:extLst>
          </p:cNvPr>
          <p:cNvPicPr>
            <a:picLocks noChangeAspect="1"/>
          </p:cNvPicPr>
          <p:nvPr/>
        </p:nvPicPr>
        <p:blipFill>
          <a:blip r:embed="rId3"/>
          <a:stretch>
            <a:fillRect/>
          </a:stretch>
        </p:blipFill>
        <p:spPr>
          <a:xfrm>
            <a:off x="5148064" y="1628800"/>
            <a:ext cx="3531289" cy="2095490"/>
          </a:xfrm>
          <a:prstGeom prst="rect">
            <a:avLst/>
          </a:prstGeom>
        </p:spPr>
      </p:pic>
    </p:spTree>
    <p:extLst>
      <p:ext uri="{BB962C8B-B14F-4D97-AF65-F5344CB8AC3E}">
        <p14:creationId xmlns:p14="http://schemas.microsoft.com/office/powerpoint/2010/main" xmlns="" val="3990419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674F4678-005C-20FC-81A7-79340CBA3ABE}"/>
              </a:ext>
            </a:extLst>
          </p:cNvPr>
          <p:cNvPicPr>
            <a:picLocks noChangeAspect="1"/>
          </p:cNvPicPr>
          <p:nvPr/>
        </p:nvPicPr>
        <p:blipFill>
          <a:blip r:embed="rId2"/>
          <a:stretch>
            <a:fillRect/>
          </a:stretch>
        </p:blipFill>
        <p:spPr>
          <a:xfrm>
            <a:off x="3275856" y="836711"/>
            <a:ext cx="3426569" cy="2080417"/>
          </a:xfrm>
          <a:prstGeom prst="rect">
            <a:avLst/>
          </a:prstGeom>
        </p:spPr>
      </p:pic>
      <p:pic>
        <p:nvPicPr>
          <p:cNvPr id="7" name="Picture 6">
            <a:extLst>
              <a:ext uri="{FF2B5EF4-FFF2-40B4-BE49-F238E27FC236}">
                <a16:creationId xmlns:a16="http://schemas.microsoft.com/office/drawing/2014/main" xmlns="" id="{0BAD76A9-13A2-0B8C-1D8F-8B5669340817}"/>
              </a:ext>
            </a:extLst>
          </p:cNvPr>
          <p:cNvPicPr>
            <a:picLocks noChangeAspect="1"/>
          </p:cNvPicPr>
          <p:nvPr/>
        </p:nvPicPr>
        <p:blipFill>
          <a:blip r:embed="rId3"/>
          <a:stretch>
            <a:fillRect/>
          </a:stretch>
        </p:blipFill>
        <p:spPr>
          <a:xfrm>
            <a:off x="2555776" y="3110546"/>
            <a:ext cx="4895100" cy="2080418"/>
          </a:xfrm>
          <a:prstGeom prst="rect">
            <a:avLst/>
          </a:prstGeom>
        </p:spPr>
      </p:pic>
    </p:spTree>
    <p:extLst>
      <p:ext uri="{BB962C8B-B14F-4D97-AF65-F5344CB8AC3E}">
        <p14:creationId xmlns:p14="http://schemas.microsoft.com/office/powerpoint/2010/main" xmlns="" val="39904191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500166" y="1142984"/>
            <a:ext cx="6786610" cy="923330"/>
          </a:xfrm>
          <a:prstGeom prst="rect">
            <a:avLst/>
          </a:prstGeom>
          <a:noFill/>
        </p:spPr>
        <p:txBody>
          <a:bodyPr wrap="square" rtlCol="0">
            <a:spAutoFit/>
          </a:bodyPr>
          <a:lstStyle/>
          <a:p>
            <a:pPr algn="l"/>
            <a:r>
              <a:rPr lang="en-IN" i="1" dirty="0"/>
              <a:t>NOTE: </a:t>
            </a:r>
            <a:r>
              <a:rPr lang="en-US" sz="1800" b="0" i="0" u="none" strike="noStrike" baseline="0" dirty="0">
                <a:solidFill>
                  <a:srgbClr val="221E1F"/>
                </a:solidFill>
                <a:latin typeface="Ideal Sans"/>
              </a:rPr>
              <a:t>To edit the parameters of an already created rectangular pattern, click on the symbol of rectangular pattern that appears near the parent entity in the drawing area.</a:t>
            </a:r>
            <a:endParaRPr lang="en-IN" i="1" dirty="0"/>
          </a:p>
        </p:txBody>
      </p:sp>
      <p:pic>
        <p:nvPicPr>
          <p:cNvPr id="6" name="Picture 5">
            <a:extLst>
              <a:ext uri="{FF2B5EF4-FFF2-40B4-BE49-F238E27FC236}">
                <a16:creationId xmlns:a16="http://schemas.microsoft.com/office/drawing/2014/main" xmlns="" id="{C2466B1C-F4EE-C124-9A58-77D5DD154DFC}"/>
              </a:ext>
            </a:extLst>
          </p:cNvPr>
          <p:cNvPicPr>
            <a:picLocks noChangeAspect="1"/>
          </p:cNvPicPr>
          <p:nvPr/>
        </p:nvPicPr>
        <p:blipFill>
          <a:blip r:embed="rId2"/>
          <a:stretch>
            <a:fillRect/>
          </a:stretch>
        </p:blipFill>
        <p:spPr>
          <a:xfrm>
            <a:off x="2717645" y="2394041"/>
            <a:ext cx="3708710" cy="2391697"/>
          </a:xfrm>
          <a:prstGeom prst="rect">
            <a:avLst/>
          </a:prstGeom>
        </p:spPr>
      </p:pic>
    </p:spTree>
    <p:extLst>
      <p:ext uri="{BB962C8B-B14F-4D97-AF65-F5344CB8AC3E}">
        <p14:creationId xmlns:p14="http://schemas.microsoft.com/office/powerpoint/2010/main" xmlns="" val="4345446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57290" y="1428736"/>
            <a:ext cx="7128792" cy="646331"/>
          </a:xfrm>
          <a:prstGeom prst="rect">
            <a:avLst/>
          </a:prstGeom>
          <a:noFill/>
        </p:spPr>
        <p:txBody>
          <a:bodyPr wrap="square" rtlCol="0">
            <a:spAutoFit/>
          </a:bodyPr>
          <a:lstStyle/>
          <a:p>
            <a:r>
              <a:rPr lang="en-US" sz="1800" b="0" i="0" u="none" strike="noStrike" baseline="0" dirty="0">
                <a:solidFill>
                  <a:srgbClr val="221E1F"/>
                </a:solidFill>
                <a:latin typeface="Ideal Sans"/>
              </a:rPr>
              <a:t>The Circular Pattern tool is used for creating multiple instances of one or more sketch entities in a circular manner about a center point. </a:t>
            </a:r>
            <a:endParaRPr lang="en-IN" dirty="0"/>
          </a:p>
        </p:txBody>
      </p:sp>
      <p:sp>
        <p:nvSpPr>
          <p:cNvPr id="5" name="TextBox 4"/>
          <p:cNvSpPr txBox="1"/>
          <p:nvPr/>
        </p:nvSpPr>
        <p:spPr>
          <a:xfrm>
            <a:off x="1357290" y="1071546"/>
            <a:ext cx="5760640" cy="400110"/>
          </a:xfrm>
          <a:prstGeom prst="rect">
            <a:avLst/>
          </a:prstGeom>
          <a:noFill/>
        </p:spPr>
        <p:txBody>
          <a:bodyPr wrap="square" rtlCol="0">
            <a:spAutoFit/>
          </a:bodyPr>
          <a:lstStyle/>
          <a:p>
            <a:r>
              <a:rPr lang="en-IN" sz="2000" b="1" dirty="0">
                <a:solidFill>
                  <a:srgbClr val="002060"/>
                </a:solidFill>
              </a:rPr>
              <a:t>Circular Pattern Tool</a:t>
            </a:r>
          </a:p>
        </p:txBody>
      </p:sp>
      <p:pic>
        <p:nvPicPr>
          <p:cNvPr id="3" name="Picture 2">
            <a:extLst>
              <a:ext uri="{FF2B5EF4-FFF2-40B4-BE49-F238E27FC236}">
                <a16:creationId xmlns:a16="http://schemas.microsoft.com/office/drawing/2014/main" xmlns="" id="{E2A752AD-5EAC-C750-D67B-8E45CAC19CEC}"/>
              </a:ext>
            </a:extLst>
          </p:cNvPr>
          <p:cNvPicPr>
            <a:picLocks noChangeAspect="1"/>
          </p:cNvPicPr>
          <p:nvPr/>
        </p:nvPicPr>
        <p:blipFill>
          <a:blip r:embed="rId2"/>
          <a:stretch>
            <a:fillRect/>
          </a:stretch>
        </p:blipFill>
        <p:spPr>
          <a:xfrm>
            <a:off x="3051103" y="2686657"/>
            <a:ext cx="3041794" cy="1484686"/>
          </a:xfrm>
          <a:prstGeom prst="rect">
            <a:avLst/>
          </a:prstGeom>
        </p:spPr>
      </p:pic>
    </p:spTree>
    <p:extLst>
      <p:ext uri="{BB962C8B-B14F-4D97-AF65-F5344CB8AC3E}">
        <p14:creationId xmlns:p14="http://schemas.microsoft.com/office/powerpoint/2010/main" xmlns="" val="1234090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285852" y="4357694"/>
            <a:ext cx="6643734" cy="646331"/>
          </a:xfrm>
          <a:prstGeom prst="rect">
            <a:avLst/>
          </a:prstGeom>
        </p:spPr>
        <p:txBody>
          <a:bodyPr wrap="square">
            <a:spAutoFit/>
          </a:bodyPr>
          <a:lstStyle/>
          <a:p>
            <a:pPr algn="just"/>
            <a:r>
              <a:rPr lang="en-IN" i="1" dirty="0"/>
              <a:t>NOTE: </a:t>
            </a:r>
            <a:r>
              <a:rPr lang="en-US" sz="1800" b="0" i="1" u="none" strike="noStrike" baseline="0" dirty="0">
                <a:solidFill>
                  <a:srgbClr val="221E1F"/>
                </a:solidFill>
                <a:latin typeface="Ideal Sans"/>
              </a:rPr>
              <a:t>The number of pattern instances specified in the Quantity field is counted along with the parent or original instance. </a:t>
            </a:r>
            <a:endParaRPr lang="en-IN" i="1" dirty="0"/>
          </a:p>
        </p:txBody>
      </p:sp>
      <p:pic>
        <p:nvPicPr>
          <p:cNvPr id="5" name="Picture 4">
            <a:extLst>
              <a:ext uri="{FF2B5EF4-FFF2-40B4-BE49-F238E27FC236}">
                <a16:creationId xmlns:a16="http://schemas.microsoft.com/office/drawing/2014/main" xmlns="" id="{A5A6BDE7-4B7C-FAFA-F286-E35AC41307E3}"/>
              </a:ext>
            </a:extLst>
          </p:cNvPr>
          <p:cNvPicPr>
            <a:picLocks noChangeAspect="1"/>
          </p:cNvPicPr>
          <p:nvPr/>
        </p:nvPicPr>
        <p:blipFill>
          <a:blip r:embed="rId2"/>
          <a:stretch>
            <a:fillRect/>
          </a:stretch>
        </p:blipFill>
        <p:spPr>
          <a:xfrm>
            <a:off x="1475656" y="1299977"/>
            <a:ext cx="3253300" cy="2288035"/>
          </a:xfrm>
          <a:prstGeom prst="rect">
            <a:avLst/>
          </a:prstGeom>
        </p:spPr>
      </p:pic>
      <p:pic>
        <p:nvPicPr>
          <p:cNvPr id="8" name="Picture 7">
            <a:extLst>
              <a:ext uri="{FF2B5EF4-FFF2-40B4-BE49-F238E27FC236}">
                <a16:creationId xmlns:a16="http://schemas.microsoft.com/office/drawing/2014/main" xmlns="" id="{D91A6325-370E-0398-3B5F-6E12BF81D50A}"/>
              </a:ext>
            </a:extLst>
          </p:cNvPr>
          <p:cNvPicPr>
            <a:picLocks noChangeAspect="1"/>
          </p:cNvPicPr>
          <p:nvPr/>
        </p:nvPicPr>
        <p:blipFill>
          <a:blip r:embed="rId3"/>
          <a:stretch>
            <a:fillRect/>
          </a:stretch>
        </p:blipFill>
        <p:spPr>
          <a:xfrm>
            <a:off x="5225001" y="1296762"/>
            <a:ext cx="2704585" cy="2243089"/>
          </a:xfrm>
          <a:prstGeom prst="rect">
            <a:avLst/>
          </a:prstGeom>
        </p:spPr>
      </p:pic>
    </p:spTree>
    <p:extLst>
      <p:ext uri="{BB962C8B-B14F-4D97-AF65-F5344CB8AC3E}">
        <p14:creationId xmlns:p14="http://schemas.microsoft.com/office/powerpoint/2010/main" xmlns="" val="36501958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714480" y="1071546"/>
            <a:ext cx="7128792" cy="646331"/>
          </a:xfrm>
          <a:prstGeom prst="rect">
            <a:avLst/>
          </a:prstGeom>
          <a:noFill/>
        </p:spPr>
        <p:txBody>
          <a:bodyPr wrap="square" rtlCol="0">
            <a:spAutoFit/>
          </a:bodyPr>
          <a:lstStyle/>
          <a:p>
            <a:pPr algn="l"/>
            <a:r>
              <a:rPr lang="en-IN" i="1" dirty="0"/>
              <a:t>NOTE: </a:t>
            </a:r>
            <a:r>
              <a:rPr lang="en-US" sz="1800" b="0" i="1" u="none" strike="noStrike" baseline="0" dirty="0">
                <a:solidFill>
                  <a:srgbClr val="221E1F"/>
                </a:solidFill>
                <a:latin typeface="Ideal Sans"/>
              </a:rPr>
              <a:t>To edit the parameters of the already created circular pattern, click on the symbol of circular pattern that appears in the drawing area.</a:t>
            </a:r>
            <a:endParaRPr lang="en-IN" i="1" dirty="0"/>
          </a:p>
        </p:txBody>
      </p:sp>
      <p:pic>
        <p:nvPicPr>
          <p:cNvPr id="4" name="Picture 3">
            <a:extLst>
              <a:ext uri="{FF2B5EF4-FFF2-40B4-BE49-F238E27FC236}">
                <a16:creationId xmlns:a16="http://schemas.microsoft.com/office/drawing/2014/main" xmlns="" id="{66815B50-4F20-A697-6261-64FE67B91598}"/>
              </a:ext>
            </a:extLst>
          </p:cNvPr>
          <p:cNvPicPr>
            <a:picLocks noChangeAspect="1"/>
          </p:cNvPicPr>
          <p:nvPr/>
        </p:nvPicPr>
        <p:blipFill>
          <a:blip r:embed="rId2"/>
          <a:stretch>
            <a:fillRect/>
          </a:stretch>
        </p:blipFill>
        <p:spPr>
          <a:xfrm>
            <a:off x="3208148" y="2557220"/>
            <a:ext cx="3278945" cy="2095916"/>
          </a:xfrm>
          <a:prstGeom prst="rect">
            <a:avLst/>
          </a:prstGeom>
        </p:spPr>
      </p:pic>
    </p:spTree>
    <p:extLst>
      <p:ext uri="{BB962C8B-B14F-4D97-AF65-F5344CB8AC3E}">
        <p14:creationId xmlns:p14="http://schemas.microsoft.com/office/powerpoint/2010/main" xmlns="" val="17165715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14480" y="928670"/>
            <a:ext cx="5760640" cy="430887"/>
          </a:xfrm>
          <a:prstGeom prst="rect">
            <a:avLst/>
          </a:prstGeom>
          <a:noFill/>
        </p:spPr>
        <p:txBody>
          <a:bodyPr wrap="square" rtlCol="0">
            <a:spAutoFit/>
          </a:bodyPr>
          <a:lstStyle/>
          <a:p>
            <a:r>
              <a:rPr lang="en-IN" sz="2200" b="1" dirty="0">
                <a:solidFill>
                  <a:srgbClr val="002060"/>
                </a:solidFill>
              </a:rPr>
              <a:t>Creating a Sketch Fillet</a:t>
            </a:r>
          </a:p>
        </p:txBody>
      </p:sp>
      <p:sp>
        <p:nvSpPr>
          <p:cNvPr id="6" name="TextBox 5"/>
          <p:cNvSpPr txBox="1"/>
          <p:nvPr/>
        </p:nvSpPr>
        <p:spPr>
          <a:xfrm>
            <a:off x="1714480" y="1291224"/>
            <a:ext cx="7128792" cy="646331"/>
          </a:xfrm>
          <a:prstGeom prst="rect">
            <a:avLst/>
          </a:prstGeom>
          <a:noFill/>
        </p:spPr>
        <p:txBody>
          <a:bodyPr wrap="square" rtlCol="0">
            <a:spAutoFit/>
          </a:bodyPr>
          <a:lstStyle/>
          <a:p>
            <a:r>
              <a:rPr lang="en-US" sz="1800" b="0" i="0" u="none" strike="noStrike" baseline="0" dirty="0">
                <a:solidFill>
                  <a:srgbClr val="221E1F"/>
                </a:solidFill>
                <a:latin typeface="Ideal Sans"/>
              </a:rPr>
              <a:t>A sketch fillet is used for removing the corner at the intersection of two sketch entities (lines or arcs) by creating a tangent arc of constant radius.</a:t>
            </a:r>
            <a:endParaRPr lang="en-IN" dirty="0"/>
          </a:p>
        </p:txBody>
      </p:sp>
      <p:pic>
        <p:nvPicPr>
          <p:cNvPr id="4" name="Picture 3">
            <a:extLst>
              <a:ext uri="{FF2B5EF4-FFF2-40B4-BE49-F238E27FC236}">
                <a16:creationId xmlns:a16="http://schemas.microsoft.com/office/drawing/2014/main" xmlns="" id="{7A9A6D25-4143-EBFF-F7B4-9B912760DFAB}"/>
              </a:ext>
            </a:extLst>
          </p:cNvPr>
          <p:cNvPicPr>
            <a:picLocks noChangeAspect="1"/>
          </p:cNvPicPr>
          <p:nvPr/>
        </p:nvPicPr>
        <p:blipFill>
          <a:blip r:embed="rId2"/>
          <a:stretch>
            <a:fillRect/>
          </a:stretch>
        </p:blipFill>
        <p:spPr>
          <a:xfrm>
            <a:off x="2329165" y="1958565"/>
            <a:ext cx="5145437" cy="2076773"/>
          </a:xfrm>
          <a:prstGeom prst="rect">
            <a:avLst/>
          </a:prstGeom>
        </p:spPr>
      </p:pic>
      <p:pic>
        <p:nvPicPr>
          <p:cNvPr id="9" name="Picture 8">
            <a:extLst>
              <a:ext uri="{FF2B5EF4-FFF2-40B4-BE49-F238E27FC236}">
                <a16:creationId xmlns:a16="http://schemas.microsoft.com/office/drawing/2014/main" xmlns="" id="{F3D6755B-50A0-4A38-A6E1-347C9231758C}"/>
              </a:ext>
            </a:extLst>
          </p:cNvPr>
          <p:cNvPicPr>
            <a:picLocks noChangeAspect="1"/>
          </p:cNvPicPr>
          <p:nvPr/>
        </p:nvPicPr>
        <p:blipFill>
          <a:blip r:embed="rId3"/>
          <a:stretch>
            <a:fillRect/>
          </a:stretch>
        </p:blipFill>
        <p:spPr>
          <a:xfrm>
            <a:off x="3059832" y="3861048"/>
            <a:ext cx="3254644" cy="1906292"/>
          </a:xfrm>
          <a:prstGeom prst="rect">
            <a:avLst/>
          </a:prstGeom>
        </p:spPr>
      </p:pic>
    </p:spTree>
    <p:extLst>
      <p:ext uri="{BB962C8B-B14F-4D97-AF65-F5344CB8AC3E}">
        <p14:creationId xmlns:p14="http://schemas.microsoft.com/office/powerpoint/2010/main" xmlns="" val="17369174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14480" y="928670"/>
            <a:ext cx="5760640" cy="430887"/>
          </a:xfrm>
          <a:prstGeom prst="rect">
            <a:avLst/>
          </a:prstGeom>
          <a:noFill/>
        </p:spPr>
        <p:txBody>
          <a:bodyPr wrap="square" rtlCol="0">
            <a:spAutoFit/>
          </a:bodyPr>
          <a:lstStyle/>
          <a:p>
            <a:r>
              <a:rPr lang="en-IN" sz="2200" b="1" dirty="0">
                <a:solidFill>
                  <a:srgbClr val="002060"/>
                </a:solidFill>
              </a:rPr>
              <a:t>Creating a Sketch Chamfer</a:t>
            </a:r>
          </a:p>
        </p:txBody>
      </p:sp>
      <p:sp>
        <p:nvSpPr>
          <p:cNvPr id="6" name="TextBox 5"/>
          <p:cNvSpPr txBox="1"/>
          <p:nvPr/>
        </p:nvSpPr>
        <p:spPr>
          <a:xfrm>
            <a:off x="1714480" y="1291224"/>
            <a:ext cx="7128792" cy="646331"/>
          </a:xfrm>
          <a:prstGeom prst="rect">
            <a:avLst/>
          </a:prstGeom>
          <a:noFill/>
        </p:spPr>
        <p:txBody>
          <a:bodyPr wrap="square" rtlCol="0">
            <a:spAutoFit/>
          </a:bodyPr>
          <a:lstStyle/>
          <a:p>
            <a:r>
              <a:rPr lang="en-US" sz="1800" b="0" i="0" u="none" strike="noStrike" baseline="0" dirty="0">
                <a:solidFill>
                  <a:srgbClr val="221E1F"/>
                </a:solidFill>
                <a:latin typeface="Ideal Sans"/>
              </a:rPr>
              <a:t>A sketch chamfer is a beveled corner created at the intersection of any two non-parallel line entities.</a:t>
            </a:r>
            <a:endParaRPr lang="en-IN" dirty="0"/>
          </a:p>
        </p:txBody>
      </p:sp>
      <p:pic>
        <p:nvPicPr>
          <p:cNvPr id="3" name="Picture 2">
            <a:extLst>
              <a:ext uri="{FF2B5EF4-FFF2-40B4-BE49-F238E27FC236}">
                <a16:creationId xmlns:a16="http://schemas.microsoft.com/office/drawing/2014/main" xmlns="" id="{4062662C-AD56-3ACF-E218-11E7FC64FE56}"/>
              </a:ext>
            </a:extLst>
          </p:cNvPr>
          <p:cNvPicPr>
            <a:picLocks noChangeAspect="1"/>
          </p:cNvPicPr>
          <p:nvPr/>
        </p:nvPicPr>
        <p:blipFill>
          <a:blip r:embed="rId2"/>
          <a:stretch>
            <a:fillRect/>
          </a:stretch>
        </p:blipFill>
        <p:spPr>
          <a:xfrm>
            <a:off x="1979712" y="2300109"/>
            <a:ext cx="5382849" cy="2119496"/>
          </a:xfrm>
          <a:prstGeom prst="rect">
            <a:avLst/>
          </a:prstGeom>
        </p:spPr>
      </p:pic>
    </p:spTree>
    <p:extLst>
      <p:ext uri="{BB962C8B-B14F-4D97-AF65-F5344CB8AC3E}">
        <p14:creationId xmlns:p14="http://schemas.microsoft.com/office/powerpoint/2010/main" xmlns="" val="24154792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14480" y="928670"/>
            <a:ext cx="5760640" cy="400110"/>
          </a:xfrm>
          <a:prstGeom prst="rect">
            <a:avLst/>
          </a:prstGeom>
          <a:noFill/>
        </p:spPr>
        <p:txBody>
          <a:bodyPr wrap="square" rtlCol="0">
            <a:spAutoFit/>
          </a:bodyPr>
          <a:lstStyle/>
          <a:p>
            <a:r>
              <a:rPr lang="en-IN" sz="2000" b="1" dirty="0">
                <a:solidFill>
                  <a:srgbClr val="002060"/>
                </a:solidFill>
              </a:rPr>
              <a:t>Equal Distance Chamfer</a:t>
            </a:r>
          </a:p>
        </p:txBody>
      </p:sp>
      <p:sp>
        <p:nvSpPr>
          <p:cNvPr id="6" name="TextBox 5"/>
          <p:cNvSpPr txBox="1"/>
          <p:nvPr/>
        </p:nvSpPr>
        <p:spPr>
          <a:xfrm>
            <a:off x="1714480" y="1291224"/>
            <a:ext cx="7128792" cy="646331"/>
          </a:xfrm>
          <a:prstGeom prst="rect">
            <a:avLst/>
          </a:prstGeom>
          <a:noFill/>
        </p:spPr>
        <p:txBody>
          <a:bodyPr wrap="square" rtlCol="0">
            <a:spAutoFit/>
          </a:bodyPr>
          <a:lstStyle/>
          <a:p>
            <a:r>
              <a:rPr lang="en-US" sz="1800" b="0" i="0" u="none" strike="noStrike" baseline="0" dirty="0">
                <a:solidFill>
                  <a:srgbClr val="221E1F"/>
                </a:solidFill>
                <a:latin typeface="Ideal Sans"/>
              </a:rPr>
              <a:t>The Equal Distance Chamfer tool is used for creating a chamfer at an equal distance from the intersection of both the selected line entities. </a:t>
            </a:r>
            <a:endParaRPr lang="en-IN" dirty="0"/>
          </a:p>
        </p:txBody>
      </p:sp>
      <p:pic>
        <p:nvPicPr>
          <p:cNvPr id="4" name="Picture 3">
            <a:extLst>
              <a:ext uri="{FF2B5EF4-FFF2-40B4-BE49-F238E27FC236}">
                <a16:creationId xmlns:a16="http://schemas.microsoft.com/office/drawing/2014/main" xmlns="" id="{626ED815-79ED-CEB9-275C-63E441422258}"/>
              </a:ext>
            </a:extLst>
          </p:cNvPr>
          <p:cNvPicPr>
            <a:picLocks noChangeAspect="1"/>
          </p:cNvPicPr>
          <p:nvPr/>
        </p:nvPicPr>
        <p:blipFill>
          <a:blip r:embed="rId2"/>
          <a:stretch>
            <a:fillRect/>
          </a:stretch>
        </p:blipFill>
        <p:spPr>
          <a:xfrm>
            <a:off x="873579" y="2300109"/>
            <a:ext cx="3275856" cy="2392659"/>
          </a:xfrm>
          <a:prstGeom prst="rect">
            <a:avLst/>
          </a:prstGeom>
        </p:spPr>
      </p:pic>
      <p:pic>
        <p:nvPicPr>
          <p:cNvPr id="9" name="Picture 8">
            <a:extLst>
              <a:ext uri="{FF2B5EF4-FFF2-40B4-BE49-F238E27FC236}">
                <a16:creationId xmlns:a16="http://schemas.microsoft.com/office/drawing/2014/main" xmlns="" id="{1C633089-06B2-D385-64DA-EFB026403A82}"/>
              </a:ext>
            </a:extLst>
          </p:cNvPr>
          <p:cNvPicPr>
            <a:picLocks noChangeAspect="1"/>
          </p:cNvPicPr>
          <p:nvPr/>
        </p:nvPicPr>
        <p:blipFill>
          <a:blip r:embed="rId3"/>
          <a:stretch>
            <a:fillRect/>
          </a:stretch>
        </p:blipFill>
        <p:spPr>
          <a:xfrm>
            <a:off x="4530456" y="2229231"/>
            <a:ext cx="4308529" cy="1565329"/>
          </a:xfrm>
          <a:prstGeom prst="rect">
            <a:avLst/>
          </a:prstGeom>
        </p:spPr>
      </p:pic>
      <p:pic>
        <p:nvPicPr>
          <p:cNvPr id="12" name="Picture 11">
            <a:extLst>
              <a:ext uri="{FF2B5EF4-FFF2-40B4-BE49-F238E27FC236}">
                <a16:creationId xmlns:a16="http://schemas.microsoft.com/office/drawing/2014/main" xmlns="" id="{05E9AAAD-82BD-9239-C91E-8A141110D1E2}"/>
              </a:ext>
            </a:extLst>
          </p:cNvPr>
          <p:cNvPicPr>
            <a:picLocks noChangeAspect="1"/>
          </p:cNvPicPr>
          <p:nvPr/>
        </p:nvPicPr>
        <p:blipFill>
          <a:blip r:embed="rId4"/>
          <a:stretch>
            <a:fillRect/>
          </a:stretch>
        </p:blipFill>
        <p:spPr>
          <a:xfrm>
            <a:off x="4594800" y="4086236"/>
            <a:ext cx="2882685" cy="1766807"/>
          </a:xfrm>
          <a:prstGeom prst="rect">
            <a:avLst/>
          </a:prstGeom>
        </p:spPr>
      </p:pic>
    </p:spTree>
    <p:extLst>
      <p:ext uri="{BB962C8B-B14F-4D97-AF65-F5344CB8AC3E}">
        <p14:creationId xmlns:p14="http://schemas.microsoft.com/office/powerpoint/2010/main" xmlns="" val="841229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14480" y="928670"/>
            <a:ext cx="5760640" cy="400110"/>
          </a:xfrm>
          <a:prstGeom prst="rect">
            <a:avLst/>
          </a:prstGeom>
          <a:noFill/>
        </p:spPr>
        <p:txBody>
          <a:bodyPr wrap="square" rtlCol="0">
            <a:spAutoFit/>
          </a:bodyPr>
          <a:lstStyle/>
          <a:p>
            <a:r>
              <a:rPr lang="en-IN" sz="2000" b="1" dirty="0">
                <a:solidFill>
                  <a:srgbClr val="002060"/>
                </a:solidFill>
              </a:rPr>
              <a:t>Distance and Angle Chamfer</a:t>
            </a:r>
          </a:p>
        </p:txBody>
      </p:sp>
      <p:sp>
        <p:nvSpPr>
          <p:cNvPr id="6" name="TextBox 5"/>
          <p:cNvSpPr txBox="1"/>
          <p:nvPr/>
        </p:nvSpPr>
        <p:spPr>
          <a:xfrm>
            <a:off x="1714480" y="1291224"/>
            <a:ext cx="7128792" cy="923330"/>
          </a:xfrm>
          <a:prstGeom prst="rect">
            <a:avLst/>
          </a:prstGeom>
          <a:noFill/>
        </p:spPr>
        <p:txBody>
          <a:bodyPr wrap="square" rtlCol="0">
            <a:spAutoFit/>
          </a:bodyPr>
          <a:lstStyle/>
          <a:p>
            <a:r>
              <a:rPr lang="en-US" sz="1800" b="0" i="0" u="none" strike="noStrike" baseline="0" dirty="0">
                <a:solidFill>
                  <a:srgbClr val="221E1F"/>
                </a:solidFill>
                <a:latin typeface="Ideal Sans"/>
              </a:rPr>
              <a:t>The Distance and Angle Chamfer tool is used for creating a chamfer by specifying an angle from the first selected line entity and a distance from its intersection with the second selected line entity. </a:t>
            </a:r>
            <a:endParaRPr lang="en-IN" dirty="0"/>
          </a:p>
        </p:txBody>
      </p:sp>
      <p:pic>
        <p:nvPicPr>
          <p:cNvPr id="3" name="Picture 2">
            <a:extLst>
              <a:ext uri="{FF2B5EF4-FFF2-40B4-BE49-F238E27FC236}">
                <a16:creationId xmlns:a16="http://schemas.microsoft.com/office/drawing/2014/main" xmlns="" id="{15DDAA84-2AF4-8765-61AB-4312979C555B}"/>
              </a:ext>
            </a:extLst>
          </p:cNvPr>
          <p:cNvPicPr>
            <a:picLocks noChangeAspect="1"/>
          </p:cNvPicPr>
          <p:nvPr/>
        </p:nvPicPr>
        <p:blipFill>
          <a:blip r:embed="rId2"/>
          <a:stretch>
            <a:fillRect/>
          </a:stretch>
        </p:blipFill>
        <p:spPr>
          <a:xfrm>
            <a:off x="1127506" y="2755792"/>
            <a:ext cx="4911340" cy="2236057"/>
          </a:xfrm>
          <a:prstGeom prst="rect">
            <a:avLst/>
          </a:prstGeom>
        </p:spPr>
      </p:pic>
      <p:pic>
        <p:nvPicPr>
          <p:cNvPr id="8" name="Picture 7">
            <a:extLst>
              <a:ext uri="{FF2B5EF4-FFF2-40B4-BE49-F238E27FC236}">
                <a16:creationId xmlns:a16="http://schemas.microsoft.com/office/drawing/2014/main" xmlns="" id="{E1638A61-4EBB-86FE-1E62-CA283AA14C64}"/>
              </a:ext>
            </a:extLst>
          </p:cNvPr>
          <p:cNvPicPr>
            <a:picLocks noChangeAspect="1"/>
          </p:cNvPicPr>
          <p:nvPr/>
        </p:nvPicPr>
        <p:blipFill>
          <a:blip r:embed="rId3"/>
          <a:stretch>
            <a:fillRect/>
          </a:stretch>
        </p:blipFill>
        <p:spPr>
          <a:xfrm>
            <a:off x="6126767" y="2648759"/>
            <a:ext cx="2696705" cy="1673817"/>
          </a:xfrm>
          <a:prstGeom prst="rect">
            <a:avLst/>
          </a:prstGeom>
        </p:spPr>
      </p:pic>
    </p:spTree>
    <p:extLst>
      <p:ext uri="{BB962C8B-B14F-4D97-AF65-F5344CB8AC3E}">
        <p14:creationId xmlns:p14="http://schemas.microsoft.com/office/powerpoint/2010/main" xmlns="" val="23800389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14480" y="928670"/>
            <a:ext cx="5760640" cy="400110"/>
          </a:xfrm>
          <a:prstGeom prst="rect">
            <a:avLst/>
          </a:prstGeom>
          <a:noFill/>
        </p:spPr>
        <p:txBody>
          <a:bodyPr wrap="square" rtlCol="0">
            <a:spAutoFit/>
          </a:bodyPr>
          <a:lstStyle/>
          <a:p>
            <a:r>
              <a:rPr lang="en-IN" sz="2000" b="1" dirty="0">
                <a:solidFill>
                  <a:srgbClr val="002060"/>
                </a:solidFill>
              </a:rPr>
              <a:t>Two Distance Chamfer</a:t>
            </a:r>
          </a:p>
        </p:txBody>
      </p:sp>
      <p:sp>
        <p:nvSpPr>
          <p:cNvPr id="6" name="TextBox 5"/>
          <p:cNvSpPr txBox="1"/>
          <p:nvPr/>
        </p:nvSpPr>
        <p:spPr>
          <a:xfrm>
            <a:off x="1714480" y="1291224"/>
            <a:ext cx="7128792" cy="646331"/>
          </a:xfrm>
          <a:prstGeom prst="rect">
            <a:avLst/>
          </a:prstGeom>
          <a:noFill/>
        </p:spPr>
        <p:txBody>
          <a:bodyPr wrap="square" rtlCol="0">
            <a:spAutoFit/>
          </a:bodyPr>
          <a:lstStyle/>
          <a:p>
            <a:r>
              <a:rPr lang="en-US" sz="1800" b="0" i="0" u="none" strike="noStrike" baseline="0" dirty="0">
                <a:solidFill>
                  <a:srgbClr val="221E1F"/>
                </a:solidFill>
                <a:latin typeface="Ideal Sans"/>
              </a:rPr>
              <a:t>The Two Distance Chamfer tool is used for creating a chamfer by specifying different distance values from the intersection of each selected line entity. </a:t>
            </a:r>
            <a:endParaRPr lang="en-IN" dirty="0"/>
          </a:p>
        </p:txBody>
      </p:sp>
      <p:pic>
        <p:nvPicPr>
          <p:cNvPr id="4" name="Picture 3">
            <a:extLst>
              <a:ext uri="{FF2B5EF4-FFF2-40B4-BE49-F238E27FC236}">
                <a16:creationId xmlns:a16="http://schemas.microsoft.com/office/drawing/2014/main" xmlns="" id="{DE1820B2-CF3C-3429-338C-F20867A5D0FB}"/>
              </a:ext>
            </a:extLst>
          </p:cNvPr>
          <p:cNvPicPr>
            <a:picLocks noChangeAspect="1"/>
          </p:cNvPicPr>
          <p:nvPr/>
        </p:nvPicPr>
        <p:blipFill>
          <a:blip r:embed="rId2"/>
          <a:stretch>
            <a:fillRect/>
          </a:stretch>
        </p:blipFill>
        <p:spPr>
          <a:xfrm>
            <a:off x="1187624" y="2708920"/>
            <a:ext cx="3949973" cy="1874408"/>
          </a:xfrm>
          <a:prstGeom prst="rect">
            <a:avLst/>
          </a:prstGeom>
        </p:spPr>
      </p:pic>
      <p:pic>
        <p:nvPicPr>
          <p:cNvPr id="9" name="Picture 8">
            <a:extLst>
              <a:ext uri="{FF2B5EF4-FFF2-40B4-BE49-F238E27FC236}">
                <a16:creationId xmlns:a16="http://schemas.microsoft.com/office/drawing/2014/main" xmlns="" id="{2DB51856-E6E2-3F38-56FE-13B49270A1EA}"/>
              </a:ext>
            </a:extLst>
          </p:cNvPr>
          <p:cNvPicPr>
            <a:picLocks noChangeAspect="1"/>
          </p:cNvPicPr>
          <p:nvPr/>
        </p:nvPicPr>
        <p:blipFill>
          <a:blip r:embed="rId3"/>
          <a:stretch>
            <a:fillRect/>
          </a:stretch>
        </p:blipFill>
        <p:spPr>
          <a:xfrm>
            <a:off x="5580112" y="2707652"/>
            <a:ext cx="2867872" cy="1649026"/>
          </a:xfrm>
          <a:prstGeom prst="rect">
            <a:avLst/>
          </a:prstGeom>
        </p:spPr>
      </p:pic>
    </p:spTree>
    <p:extLst>
      <p:ext uri="{BB962C8B-B14F-4D97-AF65-F5344CB8AC3E}">
        <p14:creationId xmlns:p14="http://schemas.microsoft.com/office/powerpoint/2010/main" xmlns="" val="21027371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14480" y="782441"/>
            <a:ext cx="5760640" cy="430887"/>
          </a:xfrm>
          <a:prstGeom prst="rect">
            <a:avLst/>
          </a:prstGeom>
          <a:noFill/>
        </p:spPr>
        <p:txBody>
          <a:bodyPr wrap="square" rtlCol="0">
            <a:spAutoFit/>
          </a:bodyPr>
          <a:lstStyle/>
          <a:p>
            <a:r>
              <a:rPr lang="en-IN" sz="2200" b="1" dirty="0">
                <a:solidFill>
                  <a:srgbClr val="002060"/>
                </a:solidFill>
              </a:rPr>
              <a:t>Scaling Sketch Entities</a:t>
            </a:r>
          </a:p>
        </p:txBody>
      </p:sp>
      <p:sp>
        <p:nvSpPr>
          <p:cNvPr id="6" name="TextBox 5"/>
          <p:cNvSpPr txBox="1"/>
          <p:nvPr/>
        </p:nvSpPr>
        <p:spPr>
          <a:xfrm>
            <a:off x="1714480" y="1144995"/>
            <a:ext cx="7128792" cy="646331"/>
          </a:xfrm>
          <a:prstGeom prst="rect">
            <a:avLst/>
          </a:prstGeom>
          <a:noFill/>
        </p:spPr>
        <p:txBody>
          <a:bodyPr wrap="square" rtlCol="0">
            <a:spAutoFit/>
          </a:bodyPr>
          <a:lstStyle/>
          <a:p>
            <a:r>
              <a:rPr lang="en-IN" dirty="0"/>
              <a:t>You can increase or decrease the scale of sketch entities by using the Sketch Scale tool.</a:t>
            </a:r>
          </a:p>
        </p:txBody>
      </p:sp>
      <p:pic>
        <p:nvPicPr>
          <p:cNvPr id="7" name="Picture 6">
            <a:extLst>
              <a:ext uri="{FF2B5EF4-FFF2-40B4-BE49-F238E27FC236}">
                <a16:creationId xmlns:a16="http://schemas.microsoft.com/office/drawing/2014/main" xmlns="" id="{A474B707-D8AF-A0C0-9FB1-A573F798F908}"/>
              </a:ext>
            </a:extLst>
          </p:cNvPr>
          <p:cNvPicPr>
            <a:picLocks noChangeAspect="1"/>
          </p:cNvPicPr>
          <p:nvPr/>
        </p:nvPicPr>
        <p:blipFill>
          <a:blip r:embed="rId2"/>
          <a:stretch>
            <a:fillRect/>
          </a:stretch>
        </p:blipFill>
        <p:spPr>
          <a:xfrm>
            <a:off x="3779912" y="2067077"/>
            <a:ext cx="2344545" cy="1395563"/>
          </a:xfrm>
          <a:prstGeom prst="rect">
            <a:avLst/>
          </a:prstGeom>
        </p:spPr>
      </p:pic>
      <p:pic>
        <p:nvPicPr>
          <p:cNvPr id="10" name="Picture 9">
            <a:extLst>
              <a:ext uri="{FF2B5EF4-FFF2-40B4-BE49-F238E27FC236}">
                <a16:creationId xmlns:a16="http://schemas.microsoft.com/office/drawing/2014/main" xmlns="" id="{A3BD914F-3372-68F6-0512-443F273E827C}"/>
              </a:ext>
            </a:extLst>
          </p:cNvPr>
          <p:cNvPicPr>
            <a:picLocks noChangeAspect="1"/>
          </p:cNvPicPr>
          <p:nvPr/>
        </p:nvPicPr>
        <p:blipFill>
          <a:blip r:embed="rId3"/>
          <a:stretch>
            <a:fillRect/>
          </a:stretch>
        </p:blipFill>
        <p:spPr>
          <a:xfrm>
            <a:off x="964343" y="3755185"/>
            <a:ext cx="3967566" cy="1890793"/>
          </a:xfrm>
          <a:prstGeom prst="rect">
            <a:avLst/>
          </a:prstGeom>
        </p:spPr>
      </p:pic>
      <p:pic>
        <p:nvPicPr>
          <p:cNvPr id="12" name="Picture 11">
            <a:extLst>
              <a:ext uri="{FF2B5EF4-FFF2-40B4-BE49-F238E27FC236}">
                <a16:creationId xmlns:a16="http://schemas.microsoft.com/office/drawing/2014/main" xmlns="" id="{8861F0DF-9A04-0F3A-D8C4-3A728B82206C}"/>
              </a:ext>
            </a:extLst>
          </p:cNvPr>
          <p:cNvPicPr>
            <a:picLocks noChangeAspect="1"/>
          </p:cNvPicPr>
          <p:nvPr/>
        </p:nvPicPr>
        <p:blipFill>
          <a:blip r:embed="rId4"/>
          <a:stretch>
            <a:fillRect/>
          </a:stretch>
        </p:blipFill>
        <p:spPr>
          <a:xfrm>
            <a:off x="4970512" y="3738391"/>
            <a:ext cx="3533614" cy="1735810"/>
          </a:xfrm>
          <a:prstGeom prst="rect">
            <a:avLst/>
          </a:prstGeom>
        </p:spPr>
      </p:pic>
    </p:spTree>
    <p:extLst>
      <p:ext uri="{BB962C8B-B14F-4D97-AF65-F5344CB8AC3E}">
        <p14:creationId xmlns:p14="http://schemas.microsoft.com/office/powerpoint/2010/main" xmlns="" val="17369174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14480" y="928670"/>
            <a:ext cx="5760640" cy="430887"/>
          </a:xfrm>
          <a:prstGeom prst="rect">
            <a:avLst/>
          </a:prstGeom>
          <a:noFill/>
        </p:spPr>
        <p:txBody>
          <a:bodyPr wrap="square" rtlCol="0">
            <a:spAutoFit/>
          </a:bodyPr>
          <a:lstStyle/>
          <a:p>
            <a:r>
              <a:rPr lang="en-IN" sz="2200" b="1" dirty="0">
                <a:solidFill>
                  <a:srgbClr val="002060"/>
                </a:solidFill>
              </a:rPr>
              <a:t>Breaking Sketch Entities</a:t>
            </a:r>
          </a:p>
        </p:txBody>
      </p:sp>
      <p:sp>
        <p:nvSpPr>
          <p:cNvPr id="6" name="TextBox 5"/>
          <p:cNvSpPr txBox="1"/>
          <p:nvPr/>
        </p:nvSpPr>
        <p:spPr>
          <a:xfrm>
            <a:off x="1714480" y="1291224"/>
            <a:ext cx="7128792" cy="923330"/>
          </a:xfrm>
          <a:prstGeom prst="rect">
            <a:avLst/>
          </a:prstGeom>
          <a:noFill/>
        </p:spPr>
        <p:txBody>
          <a:bodyPr wrap="square" rtlCol="0">
            <a:spAutoFit/>
          </a:bodyPr>
          <a:lstStyle/>
          <a:p>
            <a:r>
              <a:rPr lang="en-US" sz="1800" b="0" i="0" u="none" strike="noStrike" baseline="0" dirty="0">
                <a:solidFill>
                  <a:srgbClr val="221E1F"/>
                </a:solidFill>
                <a:latin typeface="Ideal Sans"/>
              </a:rPr>
              <a:t>In Fusion 360, you can break a sketch entity into two or more segments at its intersection with other entities by using the Break tool of the MODIFY drop-down menu. </a:t>
            </a:r>
            <a:endParaRPr lang="en-IN" dirty="0"/>
          </a:p>
        </p:txBody>
      </p:sp>
      <p:pic>
        <p:nvPicPr>
          <p:cNvPr id="8" name="Picture 7">
            <a:extLst>
              <a:ext uri="{FF2B5EF4-FFF2-40B4-BE49-F238E27FC236}">
                <a16:creationId xmlns:a16="http://schemas.microsoft.com/office/drawing/2014/main" xmlns="" id="{44C76148-895A-BD95-F583-EA8A4DA3236F}"/>
              </a:ext>
            </a:extLst>
          </p:cNvPr>
          <p:cNvPicPr>
            <a:picLocks noChangeAspect="1"/>
          </p:cNvPicPr>
          <p:nvPr/>
        </p:nvPicPr>
        <p:blipFill>
          <a:blip r:embed="rId2"/>
          <a:stretch>
            <a:fillRect/>
          </a:stretch>
        </p:blipFill>
        <p:spPr>
          <a:xfrm>
            <a:off x="2771800" y="2839425"/>
            <a:ext cx="3805518" cy="2356826"/>
          </a:xfrm>
          <a:prstGeom prst="rect">
            <a:avLst/>
          </a:prstGeom>
        </p:spPr>
      </p:pic>
    </p:spTree>
    <p:extLst>
      <p:ext uri="{BB962C8B-B14F-4D97-AF65-F5344CB8AC3E}">
        <p14:creationId xmlns:p14="http://schemas.microsoft.com/office/powerpoint/2010/main" xmlns="" val="17369174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57290" y="1428736"/>
            <a:ext cx="6858048" cy="646331"/>
          </a:xfrm>
          <a:prstGeom prst="rect">
            <a:avLst/>
          </a:prstGeom>
          <a:noFill/>
        </p:spPr>
        <p:txBody>
          <a:bodyPr wrap="square" rtlCol="0">
            <a:spAutoFit/>
          </a:bodyPr>
          <a:lstStyle/>
          <a:p>
            <a:r>
              <a:rPr lang="en-US" sz="1800" b="0" i="0" u="none" strike="noStrike" baseline="0" dirty="0">
                <a:solidFill>
                  <a:srgbClr val="221E1F"/>
                </a:solidFill>
                <a:latin typeface="Ideal Sans"/>
              </a:rPr>
              <a:t>Draw the sketch of the model, as shown in Figure 3.52. The dimensions and the model shown in this figure are for your reference only. </a:t>
            </a:r>
            <a:endParaRPr lang="en-IN" dirty="0"/>
          </a:p>
        </p:txBody>
      </p:sp>
      <p:sp>
        <p:nvSpPr>
          <p:cNvPr id="9" name="TextBox 8"/>
          <p:cNvSpPr txBox="1"/>
          <p:nvPr/>
        </p:nvSpPr>
        <p:spPr>
          <a:xfrm>
            <a:off x="1357290" y="1000108"/>
            <a:ext cx="5760640" cy="430887"/>
          </a:xfrm>
          <a:prstGeom prst="rect">
            <a:avLst/>
          </a:prstGeom>
          <a:noFill/>
        </p:spPr>
        <p:txBody>
          <a:bodyPr wrap="square" rtlCol="0">
            <a:spAutoFit/>
          </a:bodyPr>
          <a:lstStyle/>
          <a:p>
            <a:r>
              <a:rPr lang="en-IN" sz="2200" b="1" dirty="0">
                <a:solidFill>
                  <a:srgbClr val="002060"/>
                </a:solidFill>
              </a:rPr>
              <a:t>Tutorial 1</a:t>
            </a:r>
          </a:p>
        </p:txBody>
      </p:sp>
      <p:sp>
        <p:nvSpPr>
          <p:cNvPr id="8" name="Rectangle 2"/>
          <p:cNvSpPr>
            <a:spLocks noChangeArrowheads="1"/>
          </p:cNvSpPr>
          <p:nvPr/>
        </p:nvSpPr>
        <p:spPr bwMode="auto">
          <a:xfrm>
            <a:off x="1500166" y="5572140"/>
            <a:ext cx="6048375" cy="369888"/>
          </a:xfrm>
          <a:prstGeom prst="rect">
            <a:avLst/>
          </a:prstGeom>
          <a:noFill/>
          <a:ln w="9525">
            <a:noFill/>
            <a:miter lim="800000"/>
            <a:headEnd/>
            <a:tailEnd/>
          </a:ln>
        </p:spPr>
        <p:txBody>
          <a:bodyPr>
            <a:spAutoFit/>
          </a:bodyPr>
          <a:lstStyle/>
          <a:p>
            <a:r>
              <a:rPr lang="en-IN" i="1">
                <a:solidFill>
                  <a:srgbClr val="C00000"/>
                </a:solidFill>
                <a:latin typeface="Calibri" pitchFamily="34" charset="0"/>
              </a:rPr>
              <a:t>To create this tutorial, follow the steps given in the textbook.</a:t>
            </a:r>
          </a:p>
        </p:txBody>
      </p:sp>
      <p:pic>
        <p:nvPicPr>
          <p:cNvPr id="20482" name="Picture 2"/>
          <p:cNvPicPr>
            <a:picLocks noChangeAspect="1" noChangeArrowheads="1"/>
          </p:cNvPicPr>
          <p:nvPr/>
        </p:nvPicPr>
        <p:blipFill>
          <a:blip r:embed="rId2"/>
          <a:srcRect/>
          <a:stretch>
            <a:fillRect/>
          </a:stretch>
        </p:blipFill>
        <p:spPr bwMode="auto">
          <a:xfrm>
            <a:off x="1500166" y="2500306"/>
            <a:ext cx="6134100" cy="2524125"/>
          </a:xfrm>
          <a:prstGeom prst="rect">
            <a:avLst/>
          </a:prstGeom>
          <a:noFill/>
          <a:ln w="9525">
            <a:noFill/>
            <a:miter lim="800000"/>
            <a:headEnd/>
            <a:tailEnd/>
          </a:ln>
          <a:effectLst/>
        </p:spPr>
      </p:pic>
    </p:spTree>
    <p:extLst>
      <p:ext uri="{BB962C8B-B14F-4D97-AF65-F5344CB8AC3E}">
        <p14:creationId xmlns:p14="http://schemas.microsoft.com/office/powerpoint/2010/main" xmlns="" val="2141824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57290" y="1428736"/>
            <a:ext cx="6858048" cy="646331"/>
          </a:xfrm>
          <a:prstGeom prst="rect">
            <a:avLst/>
          </a:prstGeom>
          <a:noFill/>
        </p:spPr>
        <p:txBody>
          <a:bodyPr wrap="square" rtlCol="0">
            <a:spAutoFit/>
          </a:bodyPr>
          <a:lstStyle/>
          <a:p>
            <a:r>
              <a:rPr lang="en-IN" dirty="0"/>
              <a:t>Draw the sketch of the model, as shown in the figure. The dimensions and the model shown in the figure are for your reference only. </a:t>
            </a:r>
          </a:p>
        </p:txBody>
      </p:sp>
      <p:sp>
        <p:nvSpPr>
          <p:cNvPr id="9" name="TextBox 8"/>
          <p:cNvSpPr txBox="1"/>
          <p:nvPr/>
        </p:nvSpPr>
        <p:spPr>
          <a:xfrm>
            <a:off x="1357290" y="1000108"/>
            <a:ext cx="5760640" cy="430887"/>
          </a:xfrm>
          <a:prstGeom prst="rect">
            <a:avLst/>
          </a:prstGeom>
          <a:noFill/>
        </p:spPr>
        <p:txBody>
          <a:bodyPr wrap="square" rtlCol="0">
            <a:spAutoFit/>
          </a:bodyPr>
          <a:lstStyle/>
          <a:p>
            <a:r>
              <a:rPr lang="en-IN" sz="2200" b="1" dirty="0">
                <a:solidFill>
                  <a:srgbClr val="002060"/>
                </a:solidFill>
              </a:rPr>
              <a:t>Tutorial 2</a:t>
            </a:r>
          </a:p>
        </p:txBody>
      </p:sp>
      <p:sp>
        <p:nvSpPr>
          <p:cNvPr id="8" name="Rectangle 2"/>
          <p:cNvSpPr>
            <a:spLocks noChangeArrowheads="1"/>
          </p:cNvSpPr>
          <p:nvPr/>
        </p:nvSpPr>
        <p:spPr bwMode="auto">
          <a:xfrm>
            <a:off x="1500166" y="5572140"/>
            <a:ext cx="6048375" cy="369888"/>
          </a:xfrm>
          <a:prstGeom prst="rect">
            <a:avLst/>
          </a:prstGeom>
          <a:noFill/>
          <a:ln w="9525">
            <a:noFill/>
            <a:miter lim="800000"/>
            <a:headEnd/>
            <a:tailEnd/>
          </a:ln>
        </p:spPr>
        <p:txBody>
          <a:bodyPr>
            <a:spAutoFit/>
          </a:bodyPr>
          <a:lstStyle/>
          <a:p>
            <a:r>
              <a:rPr lang="en-IN" i="1">
                <a:solidFill>
                  <a:srgbClr val="C00000"/>
                </a:solidFill>
                <a:latin typeface="Calibri" pitchFamily="34" charset="0"/>
              </a:rPr>
              <a:t>To create this tutorial, follow the steps given in the textbook.</a:t>
            </a:r>
          </a:p>
        </p:txBody>
      </p:sp>
      <p:pic>
        <p:nvPicPr>
          <p:cNvPr id="21506" name="Picture 2"/>
          <p:cNvPicPr>
            <a:picLocks noChangeAspect="1" noChangeArrowheads="1"/>
          </p:cNvPicPr>
          <p:nvPr/>
        </p:nvPicPr>
        <p:blipFill>
          <a:blip r:embed="rId2"/>
          <a:srcRect/>
          <a:stretch>
            <a:fillRect/>
          </a:stretch>
        </p:blipFill>
        <p:spPr bwMode="auto">
          <a:xfrm>
            <a:off x="1571604" y="2428868"/>
            <a:ext cx="6532555" cy="2717653"/>
          </a:xfrm>
          <a:prstGeom prst="rect">
            <a:avLst/>
          </a:prstGeom>
          <a:noFill/>
          <a:ln w="9525">
            <a:noFill/>
            <a:miter lim="800000"/>
            <a:headEnd/>
            <a:tailEnd/>
          </a:ln>
          <a:effectLst/>
        </p:spPr>
      </p:pic>
    </p:spTree>
    <p:extLst>
      <p:ext uri="{BB962C8B-B14F-4D97-AF65-F5344CB8AC3E}">
        <p14:creationId xmlns:p14="http://schemas.microsoft.com/office/powerpoint/2010/main" xmlns="" val="21418243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57290" y="1428736"/>
            <a:ext cx="6858048" cy="923330"/>
          </a:xfrm>
          <a:prstGeom prst="rect">
            <a:avLst/>
          </a:prstGeom>
          <a:noFill/>
        </p:spPr>
        <p:txBody>
          <a:bodyPr wrap="square" rtlCol="0">
            <a:spAutoFit/>
          </a:bodyPr>
          <a:lstStyle/>
          <a:p>
            <a:r>
              <a:rPr lang="en-IN" dirty="0"/>
              <a:t>Draw the sketch of the model shown in the figure. The dimensions and the model shown in the figure are for your reference only. All dimensions are in mm.</a:t>
            </a:r>
          </a:p>
        </p:txBody>
      </p:sp>
      <p:sp>
        <p:nvSpPr>
          <p:cNvPr id="9" name="TextBox 8"/>
          <p:cNvSpPr txBox="1"/>
          <p:nvPr/>
        </p:nvSpPr>
        <p:spPr>
          <a:xfrm>
            <a:off x="1357290" y="1000108"/>
            <a:ext cx="5760640" cy="430887"/>
          </a:xfrm>
          <a:prstGeom prst="rect">
            <a:avLst/>
          </a:prstGeom>
          <a:noFill/>
        </p:spPr>
        <p:txBody>
          <a:bodyPr wrap="square" rtlCol="0">
            <a:spAutoFit/>
          </a:bodyPr>
          <a:lstStyle/>
          <a:p>
            <a:r>
              <a:rPr lang="en-IN" sz="2200" b="1" dirty="0">
                <a:solidFill>
                  <a:srgbClr val="002060"/>
                </a:solidFill>
              </a:rPr>
              <a:t>Tutorial 3</a:t>
            </a:r>
          </a:p>
        </p:txBody>
      </p:sp>
      <p:sp>
        <p:nvSpPr>
          <p:cNvPr id="8" name="Rectangle 2"/>
          <p:cNvSpPr>
            <a:spLocks noChangeArrowheads="1"/>
          </p:cNvSpPr>
          <p:nvPr/>
        </p:nvSpPr>
        <p:spPr bwMode="auto">
          <a:xfrm>
            <a:off x="1500166" y="5572140"/>
            <a:ext cx="6048375" cy="369888"/>
          </a:xfrm>
          <a:prstGeom prst="rect">
            <a:avLst/>
          </a:prstGeom>
          <a:noFill/>
          <a:ln w="9525">
            <a:noFill/>
            <a:miter lim="800000"/>
            <a:headEnd/>
            <a:tailEnd/>
          </a:ln>
        </p:spPr>
        <p:txBody>
          <a:bodyPr>
            <a:spAutoFit/>
          </a:bodyPr>
          <a:lstStyle/>
          <a:p>
            <a:r>
              <a:rPr lang="en-IN" i="1">
                <a:solidFill>
                  <a:srgbClr val="C00000"/>
                </a:solidFill>
                <a:latin typeface="Calibri" pitchFamily="34" charset="0"/>
              </a:rPr>
              <a:t>To create this tutorial, follow the steps given in the textbook.</a:t>
            </a:r>
          </a:p>
        </p:txBody>
      </p:sp>
      <p:pic>
        <p:nvPicPr>
          <p:cNvPr id="22530" name="Picture 2"/>
          <p:cNvPicPr>
            <a:picLocks noChangeAspect="1" noChangeArrowheads="1"/>
          </p:cNvPicPr>
          <p:nvPr/>
        </p:nvPicPr>
        <p:blipFill>
          <a:blip r:embed="rId2"/>
          <a:srcRect/>
          <a:stretch>
            <a:fillRect/>
          </a:stretch>
        </p:blipFill>
        <p:spPr bwMode="auto">
          <a:xfrm>
            <a:off x="1357290" y="2500306"/>
            <a:ext cx="6837359" cy="2285468"/>
          </a:xfrm>
          <a:prstGeom prst="rect">
            <a:avLst/>
          </a:prstGeom>
          <a:noFill/>
          <a:ln w="9525">
            <a:noFill/>
            <a:miter lim="800000"/>
            <a:headEnd/>
            <a:tailEnd/>
          </a:ln>
          <a:effectLst/>
        </p:spPr>
      </p:pic>
    </p:spTree>
    <p:extLst>
      <p:ext uri="{BB962C8B-B14F-4D97-AF65-F5344CB8AC3E}">
        <p14:creationId xmlns:p14="http://schemas.microsoft.com/office/powerpoint/2010/main" xmlns="" val="21418243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57290" y="1428736"/>
            <a:ext cx="6858048" cy="646331"/>
          </a:xfrm>
          <a:prstGeom prst="rect">
            <a:avLst/>
          </a:prstGeom>
          <a:noFill/>
        </p:spPr>
        <p:txBody>
          <a:bodyPr wrap="square" rtlCol="0">
            <a:spAutoFit/>
          </a:bodyPr>
          <a:lstStyle/>
          <a:p>
            <a:r>
              <a:rPr lang="en-IN" dirty="0"/>
              <a:t>Draw the sketch of the model shown in the figure. The dimensions and the model are for your reference only. All dimensions are in mm.</a:t>
            </a:r>
          </a:p>
        </p:txBody>
      </p:sp>
      <p:sp>
        <p:nvSpPr>
          <p:cNvPr id="9" name="TextBox 8"/>
          <p:cNvSpPr txBox="1"/>
          <p:nvPr/>
        </p:nvSpPr>
        <p:spPr>
          <a:xfrm>
            <a:off x="1357290" y="1000108"/>
            <a:ext cx="5760640" cy="430887"/>
          </a:xfrm>
          <a:prstGeom prst="rect">
            <a:avLst/>
          </a:prstGeom>
          <a:noFill/>
        </p:spPr>
        <p:txBody>
          <a:bodyPr wrap="square" rtlCol="0">
            <a:spAutoFit/>
          </a:bodyPr>
          <a:lstStyle/>
          <a:p>
            <a:r>
              <a:rPr lang="en-IN" sz="2200" b="1" dirty="0">
                <a:solidFill>
                  <a:srgbClr val="002060"/>
                </a:solidFill>
              </a:rPr>
              <a:t>Hands-on Test Drive 1</a:t>
            </a:r>
          </a:p>
        </p:txBody>
      </p:sp>
      <p:pic>
        <p:nvPicPr>
          <p:cNvPr id="23554" name="Picture 2"/>
          <p:cNvPicPr>
            <a:picLocks noChangeAspect="1" noChangeArrowheads="1"/>
          </p:cNvPicPr>
          <p:nvPr/>
        </p:nvPicPr>
        <p:blipFill>
          <a:blip r:embed="rId2"/>
          <a:srcRect/>
          <a:stretch>
            <a:fillRect/>
          </a:stretch>
        </p:blipFill>
        <p:spPr bwMode="auto">
          <a:xfrm>
            <a:off x="1214414" y="2285992"/>
            <a:ext cx="6761163" cy="3200400"/>
          </a:xfrm>
          <a:prstGeom prst="rect">
            <a:avLst/>
          </a:prstGeom>
          <a:noFill/>
          <a:ln w="9525">
            <a:noFill/>
            <a:miter lim="800000"/>
            <a:headEnd/>
            <a:tailEnd/>
          </a:ln>
          <a:effectLst/>
        </p:spPr>
      </p:pic>
    </p:spTree>
    <p:extLst>
      <p:ext uri="{BB962C8B-B14F-4D97-AF65-F5344CB8AC3E}">
        <p14:creationId xmlns:p14="http://schemas.microsoft.com/office/powerpoint/2010/main" xmlns="" val="21418243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57290" y="1428736"/>
            <a:ext cx="6858048" cy="646331"/>
          </a:xfrm>
          <a:prstGeom prst="rect">
            <a:avLst/>
          </a:prstGeom>
          <a:noFill/>
        </p:spPr>
        <p:txBody>
          <a:bodyPr wrap="square" rtlCol="0">
            <a:spAutoFit/>
          </a:bodyPr>
          <a:lstStyle/>
          <a:p>
            <a:r>
              <a:rPr lang="en-IN" dirty="0"/>
              <a:t>Draw the sketch of the model shown in the figure. The dimensions and the model are for your reference only. All dimensions are in mm.</a:t>
            </a:r>
          </a:p>
        </p:txBody>
      </p:sp>
      <p:sp>
        <p:nvSpPr>
          <p:cNvPr id="9" name="TextBox 8"/>
          <p:cNvSpPr txBox="1"/>
          <p:nvPr/>
        </p:nvSpPr>
        <p:spPr>
          <a:xfrm>
            <a:off x="1357290" y="1000108"/>
            <a:ext cx="5760640" cy="430887"/>
          </a:xfrm>
          <a:prstGeom prst="rect">
            <a:avLst/>
          </a:prstGeom>
          <a:noFill/>
        </p:spPr>
        <p:txBody>
          <a:bodyPr wrap="square" rtlCol="0">
            <a:spAutoFit/>
          </a:bodyPr>
          <a:lstStyle/>
          <a:p>
            <a:r>
              <a:rPr lang="en-IN" sz="2200" b="1" dirty="0">
                <a:solidFill>
                  <a:srgbClr val="002060"/>
                </a:solidFill>
              </a:rPr>
              <a:t>Hands-on Test Drive 2</a:t>
            </a:r>
          </a:p>
        </p:txBody>
      </p:sp>
      <p:pic>
        <p:nvPicPr>
          <p:cNvPr id="2" name="Picture 1"/>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063615" y="2348880"/>
            <a:ext cx="5445398" cy="3316635"/>
          </a:xfrm>
          <a:prstGeom prst="rect">
            <a:avLst/>
          </a:prstGeom>
        </p:spPr>
      </p:pic>
    </p:spTree>
    <p:extLst>
      <p:ext uri="{BB962C8B-B14F-4D97-AF65-F5344CB8AC3E}">
        <p14:creationId xmlns:p14="http://schemas.microsoft.com/office/powerpoint/2010/main" xmlns="" val="25695094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57290" y="1428736"/>
            <a:ext cx="6527078" cy="2308324"/>
          </a:xfrm>
          <a:prstGeom prst="rect">
            <a:avLst/>
          </a:prstGeom>
          <a:noFill/>
        </p:spPr>
        <p:txBody>
          <a:bodyPr wrap="square" rtlCol="0">
            <a:spAutoFit/>
          </a:bodyPr>
          <a:lstStyle/>
          <a:p>
            <a:pPr algn="just"/>
            <a:r>
              <a:rPr lang="en-US" sz="1800" b="0" i="0" u="none" strike="noStrike" baseline="0" dirty="0">
                <a:solidFill>
                  <a:srgbClr val="221E1F"/>
                </a:solidFill>
                <a:latin typeface="Ideal Sans"/>
              </a:rPr>
              <a:t>This chapter introduced various editing and modifying operations by using various editing tools such as Trim, Extend, Offset, Mirror, Rectangular Pattern, Circular Pattern, Fillet, and Chamfer. The pattern tools discussed in this chapter allow you to create rectangular and circular sketch patterns. It also described the method for creating construction sketch entities by using the Construction tool and breaking sketch entities by using the Break tool. </a:t>
            </a:r>
            <a:endParaRPr lang="en-IN" dirty="0"/>
          </a:p>
        </p:txBody>
      </p:sp>
      <p:sp>
        <p:nvSpPr>
          <p:cNvPr id="9" name="TextBox 8"/>
          <p:cNvSpPr txBox="1"/>
          <p:nvPr/>
        </p:nvSpPr>
        <p:spPr>
          <a:xfrm>
            <a:off x="1357290" y="1000108"/>
            <a:ext cx="5760640" cy="430887"/>
          </a:xfrm>
          <a:prstGeom prst="rect">
            <a:avLst/>
          </a:prstGeom>
          <a:noFill/>
        </p:spPr>
        <p:txBody>
          <a:bodyPr wrap="square" rtlCol="0">
            <a:spAutoFit/>
          </a:bodyPr>
          <a:lstStyle/>
          <a:p>
            <a:r>
              <a:rPr lang="en-IN" sz="2200" b="1" dirty="0">
                <a:solidFill>
                  <a:srgbClr val="002060"/>
                </a:solidFill>
              </a:rPr>
              <a:t>Summary</a:t>
            </a:r>
          </a:p>
        </p:txBody>
      </p:sp>
    </p:spTree>
    <p:extLst>
      <p:ext uri="{BB962C8B-B14F-4D97-AF65-F5344CB8AC3E}">
        <p14:creationId xmlns:p14="http://schemas.microsoft.com/office/powerpoint/2010/main" xmlns="" val="21418243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57290" y="1428736"/>
            <a:ext cx="6858048" cy="4524315"/>
          </a:xfrm>
          <a:prstGeom prst="rect">
            <a:avLst/>
          </a:prstGeom>
          <a:noFill/>
        </p:spPr>
        <p:txBody>
          <a:bodyPr wrap="square" rtlCol="0">
            <a:spAutoFit/>
          </a:bodyPr>
          <a:lstStyle/>
          <a:p>
            <a:pPr marL="285750" indent="-285750" algn="just">
              <a:buFont typeface="Arial" panose="020B0604020202020204" pitchFamily="34" charset="0"/>
              <a:buChar char="•"/>
            </a:pPr>
            <a:r>
              <a:rPr lang="en-US" sz="1800" b="0" i="0" u="none" strike="noStrike" baseline="0" dirty="0">
                <a:solidFill>
                  <a:srgbClr val="000000"/>
                </a:solidFill>
              </a:rPr>
              <a:t>The ________ tool is used for offsetting sketch entities at a specified offset distance. </a:t>
            </a:r>
          </a:p>
          <a:p>
            <a:pPr marL="285750" indent="-285750" algn="just">
              <a:buFont typeface="Arial" panose="020B0604020202020204" pitchFamily="34" charset="0"/>
              <a:buChar char="•"/>
            </a:pPr>
            <a:endParaRPr lang="en-US" dirty="0">
              <a:solidFill>
                <a:srgbClr val="000000"/>
              </a:solidFill>
            </a:endParaRPr>
          </a:p>
          <a:p>
            <a:pPr marL="285750" indent="-285750" algn="just">
              <a:buFont typeface="Arial" panose="020B0604020202020204" pitchFamily="34" charset="0"/>
              <a:buChar char="•"/>
            </a:pPr>
            <a:r>
              <a:rPr lang="en-US" sz="1800" b="0" i="0" u="none" strike="noStrike" baseline="0" dirty="0">
                <a:solidFill>
                  <a:srgbClr val="000000"/>
                </a:solidFill>
              </a:rPr>
              <a:t>You can increase or decrease the scale of sketch entities by using the ________ tool. </a:t>
            </a:r>
          </a:p>
          <a:p>
            <a:pPr marL="285750" indent="-285750" algn="just">
              <a:buFont typeface="Arial" panose="020B0604020202020204" pitchFamily="34" charset="0"/>
              <a:buChar char="•"/>
            </a:pPr>
            <a:endParaRPr lang="en-US" dirty="0">
              <a:solidFill>
                <a:srgbClr val="000000"/>
              </a:solidFill>
            </a:endParaRPr>
          </a:p>
          <a:p>
            <a:pPr marL="285750" indent="-285750" algn="just">
              <a:buFont typeface="Arial" panose="020B0604020202020204" pitchFamily="34" charset="0"/>
              <a:buChar char="•"/>
            </a:pPr>
            <a:r>
              <a:rPr lang="en-US" sz="1800" b="0" i="0" u="none" strike="noStrike" baseline="0" dirty="0">
                <a:solidFill>
                  <a:srgbClr val="000000"/>
                </a:solidFill>
              </a:rPr>
              <a:t>While offsetting sketch entities, if you select the ______ check box in the OFFSET dialog box, all the contiguous entities of the selected entity get automatically selected. </a:t>
            </a:r>
          </a:p>
          <a:p>
            <a:pPr marL="285750" indent="-285750" algn="just">
              <a:buFont typeface="Arial" panose="020B0604020202020204" pitchFamily="34" charset="0"/>
              <a:buChar char="•"/>
            </a:pPr>
            <a:endParaRPr lang="en-US" dirty="0">
              <a:solidFill>
                <a:srgbClr val="000000"/>
              </a:solidFill>
            </a:endParaRPr>
          </a:p>
          <a:p>
            <a:pPr marL="285750" indent="-285750" algn="just">
              <a:buFont typeface="Arial" panose="020B0604020202020204" pitchFamily="34" charset="0"/>
              <a:buChar char="•"/>
            </a:pPr>
            <a:r>
              <a:rPr lang="en-US" sz="1800" b="0" i="0" u="none" strike="noStrike" baseline="0" dirty="0">
                <a:solidFill>
                  <a:srgbClr val="000000"/>
                </a:solidFill>
              </a:rPr>
              <a:t>You can trim the unwanted sketch entities to their nearest intersection by using the ________ tool. </a:t>
            </a:r>
          </a:p>
          <a:p>
            <a:pPr marL="285750" indent="-285750" algn="just">
              <a:buFont typeface="Arial" panose="020B0604020202020204" pitchFamily="34" charset="0"/>
              <a:buChar char="•"/>
            </a:pPr>
            <a:endParaRPr lang="en-US" dirty="0">
              <a:solidFill>
                <a:srgbClr val="000000"/>
              </a:solidFill>
            </a:endParaRPr>
          </a:p>
          <a:p>
            <a:pPr marL="285750" indent="-285750" algn="just">
              <a:buFont typeface="Arial" panose="020B0604020202020204" pitchFamily="34" charset="0"/>
              <a:buChar char="•"/>
            </a:pPr>
            <a:r>
              <a:rPr lang="en-US" sz="1800" b="0" i="0" u="none" strike="noStrike" baseline="0" dirty="0">
                <a:solidFill>
                  <a:srgbClr val="000000"/>
                </a:solidFill>
              </a:rPr>
              <a:t>On activating the ________ tool in the </a:t>
            </a:r>
            <a:r>
              <a:rPr lang="en-US" sz="1800" b="0" i="0" u="none" strike="noStrike" baseline="0" dirty="0" err="1">
                <a:solidFill>
                  <a:srgbClr val="000000"/>
                </a:solidFill>
              </a:rPr>
              <a:t>Linetype</a:t>
            </a:r>
            <a:r>
              <a:rPr lang="en-US" sz="1800" b="0" i="0" u="none" strike="noStrike" baseline="0" dirty="0">
                <a:solidFill>
                  <a:srgbClr val="000000"/>
                </a:solidFill>
              </a:rPr>
              <a:t> area of the SKETCH PALETTE dialog box, you can create construction entities in the drawing area. </a:t>
            </a:r>
            <a:endParaRPr lang="en-IN" dirty="0"/>
          </a:p>
        </p:txBody>
      </p:sp>
      <p:sp>
        <p:nvSpPr>
          <p:cNvPr id="9" name="TextBox 8"/>
          <p:cNvSpPr txBox="1"/>
          <p:nvPr/>
        </p:nvSpPr>
        <p:spPr>
          <a:xfrm>
            <a:off x="1357290" y="1000108"/>
            <a:ext cx="5760640" cy="430887"/>
          </a:xfrm>
          <a:prstGeom prst="rect">
            <a:avLst/>
          </a:prstGeom>
          <a:noFill/>
        </p:spPr>
        <p:txBody>
          <a:bodyPr wrap="square" rtlCol="0">
            <a:spAutoFit/>
          </a:bodyPr>
          <a:lstStyle/>
          <a:p>
            <a:r>
              <a:rPr lang="en-IN" sz="2200" b="1" dirty="0">
                <a:solidFill>
                  <a:srgbClr val="002060"/>
                </a:solidFill>
              </a:rPr>
              <a:t>Questions</a:t>
            </a:r>
          </a:p>
        </p:txBody>
      </p:sp>
    </p:spTree>
    <p:extLst>
      <p:ext uri="{BB962C8B-B14F-4D97-AF65-F5344CB8AC3E}">
        <p14:creationId xmlns:p14="http://schemas.microsoft.com/office/powerpoint/2010/main" xmlns="" val="21418243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57290" y="1246046"/>
            <a:ext cx="7143800" cy="2862322"/>
          </a:xfrm>
          <a:prstGeom prst="rect">
            <a:avLst/>
          </a:prstGeom>
          <a:noFill/>
        </p:spPr>
        <p:txBody>
          <a:bodyPr wrap="square" rtlCol="0">
            <a:spAutoFit/>
          </a:bodyPr>
          <a:lstStyle/>
          <a:p>
            <a:pPr marL="285750" indent="-285750" algn="just">
              <a:buFont typeface="Arial" panose="020B0604020202020204" pitchFamily="34" charset="0"/>
              <a:buChar char="•"/>
            </a:pPr>
            <a:r>
              <a:rPr lang="en-US" sz="1800" b="0" i="0" u="none" strike="noStrike" baseline="0" dirty="0">
                <a:solidFill>
                  <a:srgbClr val="000000"/>
                </a:solidFill>
              </a:rPr>
              <a:t>The ________ tool is used for breaking a sketch entity into two or more than two segments at its point of intersection with other entities. </a:t>
            </a:r>
          </a:p>
          <a:p>
            <a:pPr marL="285750" indent="-285750" algn="just">
              <a:buFont typeface="Arial" panose="020B0604020202020204" pitchFamily="34" charset="0"/>
              <a:buChar char="•"/>
            </a:pPr>
            <a:endParaRPr lang="en-US" dirty="0">
              <a:solidFill>
                <a:srgbClr val="000000"/>
              </a:solidFill>
            </a:endParaRPr>
          </a:p>
          <a:p>
            <a:pPr marL="285750" indent="-285750" algn="just">
              <a:buFont typeface="Arial" panose="020B0604020202020204" pitchFamily="34" charset="0"/>
              <a:buChar char="•"/>
            </a:pPr>
            <a:r>
              <a:rPr lang="en-US" sz="1800" b="0" i="0" u="none" strike="noStrike" baseline="0" dirty="0">
                <a:solidFill>
                  <a:srgbClr val="000000"/>
                </a:solidFill>
              </a:rPr>
              <a:t>The ________ tool is used for extending sketch entities up to their nearest intersection.</a:t>
            </a:r>
          </a:p>
          <a:p>
            <a:pPr marL="285750" indent="-285750" algn="just">
              <a:buFont typeface="Arial" panose="020B0604020202020204" pitchFamily="34" charset="0"/>
              <a:buChar char="•"/>
            </a:pPr>
            <a:endParaRPr lang="en-US" dirty="0">
              <a:solidFill>
                <a:srgbClr val="000000"/>
              </a:solidFill>
            </a:endParaRPr>
          </a:p>
          <a:p>
            <a:pPr marL="285750" indent="-285750" algn="just">
              <a:buFont typeface="Arial" panose="020B0604020202020204" pitchFamily="34" charset="0"/>
              <a:buChar char="•"/>
            </a:pPr>
            <a:r>
              <a:rPr lang="en-US" sz="1800" b="0" i="0" u="none" strike="noStrike" baseline="0" dirty="0">
                <a:solidFill>
                  <a:srgbClr val="000000"/>
                </a:solidFill>
              </a:rPr>
              <a:t>The number of pattern instances specified in the Quantity field include the parent or original instance selected to pattern. (True/False) </a:t>
            </a:r>
          </a:p>
          <a:p>
            <a:pPr marL="285750" indent="-285750" algn="just">
              <a:buFont typeface="Arial" panose="020B0604020202020204" pitchFamily="34" charset="0"/>
              <a:buChar char="•"/>
            </a:pPr>
            <a:endParaRPr lang="en-US" dirty="0">
              <a:solidFill>
                <a:srgbClr val="000000"/>
              </a:solidFill>
            </a:endParaRPr>
          </a:p>
          <a:p>
            <a:pPr marL="285750" indent="-285750" algn="just">
              <a:buFont typeface="Arial" panose="020B0604020202020204" pitchFamily="34" charset="0"/>
              <a:buChar char="•"/>
            </a:pPr>
            <a:r>
              <a:rPr lang="en-US" sz="1800" b="0" i="0" u="none" strike="noStrike" baseline="0" dirty="0">
                <a:solidFill>
                  <a:srgbClr val="000000"/>
                </a:solidFill>
              </a:rPr>
              <a:t>You cannot recall the skipped pattern instances. (True/False) </a:t>
            </a:r>
            <a:endParaRPr lang="en-IN" dirty="0"/>
          </a:p>
        </p:txBody>
      </p:sp>
    </p:spTree>
    <p:extLst>
      <p:ext uri="{BB962C8B-B14F-4D97-AF65-F5344CB8AC3E}">
        <p14:creationId xmlns:p14="http://schemas.microsoft.com/office/powerpoint/2010/main" xmlns="" val="40932980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1049</TotalTime>
  <Words>1158</Words>
  <Application>Microsoft Office PowerPoint</Application>
  <PresentationFormat>On-screen Show (4:3)</PresentationFormat>
  <Paragraphs>83</Paragraphs>
  <Slides>33</Slides>
  <Notes>2</Notes>
  <HiddenSlides>0</HiddenSlides>
  <MMClips>0</MMClips>
  <ScaleCrop>false</ScaleCrop>
  <HeadingPairs>
    <vt:vector size="4" baseType="variant">
      <vt:variant>
        <vt:lpstr>Theme</vt:lpstr>
      </vt:variant>
      <vt:variant>
        <vt:i4>2</vt:i4>
      </vt:variant>
      <vt:variant>
        <vt:lpstr>Slide Titles</vt:lpstr>
      </vt:variant>
      <vt:variant>
        <vt:i4>33</vt:i4>
      </vt:variant>
    </vt:vector>
  </HeadingPairs>
  <TitlesOfParts>
    <vt:vector size="35" baseType="lpstr">
      <vt:lpstr>Office Theme</vt:lpstr>
      <vt:lpstr>Custom Design</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Cognizant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CADArtifex</dc:creator>
  <cp:lastModifiedBy>CADArtifex</cp:lastModifiedBy>
  <cp:revision>344</cp:revision>
  <dcterms:created xsi:type="dcterms:W3CDTF">2015-08-21T14:49:37Z</dcterms:created>
  <dcterms:modified xsi:type="dcterms:W3CDTF">2023-08-08T06:54:00Z</dcterms:modified>
</cp:coreProperties>
</file>