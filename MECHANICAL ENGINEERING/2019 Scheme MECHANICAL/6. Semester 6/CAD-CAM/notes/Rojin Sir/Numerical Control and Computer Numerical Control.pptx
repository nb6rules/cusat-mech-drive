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70" r:id="rId8"/>
    <p:sldId id="262" r:id="rId9"/>
    <p:sldId id="263" r:id="rId10"/>
    <p:sldId id="264" r:id="rId11"/>
    <p:sldId id="265" r:id="rId12"/>
    <p:sldId id="269" r:id="rId13"/>
    <p:sldId id="266" r:id="rId14"/>
    <p:sldId id="267" r:id="rId15"/>
    <p:sldId id="268" r:id="rId16"/>
    <p:sldId id="278" r:id="rId17"/>
    <p:sldId id="271" r:id="rId18"/>
    <p:sldId id="272"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 id="300" r:id="rId41"/>
    <p:sldId id="301" r:id="rId42"/>
    <p:sldId id="302" r:id="rId43"/>
    <p:sldId id="303" r:id="rId44"/>
    <p:sldId id="304" r:id="rId45"/>
    <p:sldId id="305" r:id="rId46"/>
    <p:sldId id="276" r:id="rId47"/>
    <p:sldId id="306" r:id="rId48"/>
    <p:sldId id="277" r:id="rId49"/>
    <p:sldId id="307" r:id="rId50"/>
    <p:sldId id="308" r:id="rId51"/>
    <p:sldId id="309" r:id="rId52"/>
    <p:sldId id="310" r:id="rId53"/>
    <p:sldId id="311" r:id="rId54"/>
    <p:sldId id="312"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90C332D-6A2F-4992-87E8-358277998BA1}">
          <p14:sldIdLst>
            <p14:sldId id="256"/>
            <p14:sldId id="257"/>
            <p14:sldId id="258"/>
            <p14:sldId id="259"/>
            <p14:sldId id="260"/>
            <p14:sldId id="261"/>
            <p14:sldId id="270"/>
            <p14:sldId id="262"/>
            <p14:sldId id="263"/>
            <p14:sldId id="264"/>
            <p14:sldId id="265"/>
            <p14:sldId id="269"/>
            <p14:sldId id="266"/>
            <p14:sldId id="267"/>
            <p14:sldId id="268"/>
            <p14:sldId id="278"/>
            <p14:sldId id="271"/>
            <p14:sldId id="272"/>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276"/>
            <p14:sldId id="306"/>
            <p14:sldId id="277"/>
            <p14:sldId id="307"/>
            <p14:sldId id="308"/>
            <p14:sldId id="309"/>
            <p14:sldId id="310"/>
            <p14:sldId id="311"/>
            <p14:sldId id="31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9" d="100"/>
          <a:sy n="79" d="100"/>
        </p:scale>
        <p:origin x="773" y="1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D2BC5-BFAB-CA2A-6D46-1127DDBC91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4172767-AE76-3F6F-ED92-FB85351A43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B370A74-7A97-5407-36F1-906060572A6D}"/>
              </a:ext>
            </a:extLst>
          </p:cNvPr>
          <p:cNvSpPr>
            <a:spLocks noGrp="1"/>
          </p:cNvSpPr>
          <p:nvPr>
            <p:ph type="dt" sz="half" idx="10"/>
          </p:nvPr>
        </p:nvSpPr>
        <p:spPr/>
        <p:txBody>
          <a:bodyPr/>
          <a:lstStyle/>
          <a:p>
            <a:fld id="{C945D6F0-587D-4069-A7CD-DC763BBA7717}" type="datetimeFigureOut">
              <a:rPr lang="en-IN" smtClean="0"/>
              <a:t>10-05-2024</a:t>
            </a:fld>
            <a:endParaRPr lang="en-IN"/>
          </a:p>
        </p:txBody>
      </p:sp>
      <p:sp>
        <p:nvSpPr>
          <p:cNvPr id="5" name="Footer Placeholder 4">
            <a:extLst>
              <a:ext uri="{FF2B5EF4-FFF2-40B4-BE49-F238E27FC236}">
                <a16:creationId xmlns:a16="http://schemas.microsoft.com/office/drawing/2014/main" id="{444CEABB-A10A-54D9-E410-A723D22AEF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0C3C6E-F2FF-1DAB-6511-0805CF82382F}"/>
              </a:ext>
            </a:extLst>
          </p:cNvPr>
          <p:cNvSpPr>
            <a:spLocks noGrp="1"/>
          </p:cNvSpPr>
          <p:nvPr>
            <p:ph type="sldNum" sz="quarter" idx="12"/>
          </p:nvPr>
        </p:nvSpPr>
        <p:spPr/>
        <p:txBody>
          <a:bodyPr/>
          <a:lstStyle/>
          <a:p>
            <a:fld id="{A808074F-7644-4AF4-9757-A9EFB334C1A4}" type="slidenum">
              <a:rPr lang="en-IN" smtClean="0"/>
              <a:t>‹#›</a:t>
            </a:fld>
            <a:endParaRPr lang="en-IN"/>
          </a:p>
        </p:txBody>
      </p:sp>
    </p:spTree>
    <p:extLst>
      <p:ext uri="{BB962C8B-B14F-4D97-AF65-F5344CB8AC3E}">
        <p14:creationId xmlns:p14="http://schemas.microsoft.com/office/powerpoint/2010/main" val="1788798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66558-807C-B22E-4764-BEBFEB557AB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D46C765-B389-62F6-4D4E-93E419BC05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52A570-25FD-ABD7-26BB-43F1CCCBCAAE}"/>
              </a:ext>
            </a:extLst>
          </p:cNvPr>
          <p:cNvSpPr>
            <a:spLocks noGrp="1"/>
          </p:cNvSpPr>
          <p:nvPr>
            <p:ph type="dt" sz="half" idx="10"/>
          </p:nvPr>
        </p:nvSpPr>
        <p:spPr/>
        <p:txBody>
          <a:bodyPr/>
          <a:lstStyle/>
          <a:p>
            <a:fld id="{C945D6F0-587D-4069-A7CD-DC763BBA7717}" type="datetimeFigureOut">
              <a:rPr lang="en-IN" smtClean="0"/>
              <a:t>10-05-2024</a:t>
            </a:fld>
            <a:endParaRPr lang="en-IN"/>
          </a:p>
        </p:txBody>
      </p:sp>
      <p:sp>
        <p:nvSpPr>
          <p:cNvPr id="5" name="Footer Placeholder 4">
            <a:extLst>
              <a:ext uri="{FF2B5EF4-FFF2-40B4-BE49-F238E27FC236}">
                <a16:creationId xmlns:a16="http://schemas.microsoft.com/office/drawing/2014/main" id="{D964F3EF-AB96-E48C-5194-81F0F5A40E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D4D73C-BCFF-08A9-021A-02BF330A6727}"/>
              </a:ext>
            </a:extLst>
          </p:cNvPr>
          <p:cNvSpPr>
            <a:spLocks noGrp="1"/>
          </p:cNvSpPr>
          <p:nvPr>
            <p:ph type="sldNum" sz="quarter" idx="12"/>
          </p:nvPr>
        </p:nvSpPr>
        <p:spPr/>
        <p:txBody>
          <a:bodyPr/>
          <a:lstStyle/>
          <a:p>
            <a:fld id="{A808074F-7644-4AF4-9757-A9EFB334C1A4}" type="slidenum">
              <a:rPr lang="en-IN" smtClean="0"/>
              <a:t>‹#›</a:t>
            </a:fld>
            <a:endParaRPr lang="en-IN"/>
          </a:p>
        </p:txBody>
      </p:sp>
    </p:spTree>
    <p:extLst>
      <p:ext uri="{BB962C8B-B14F-4D97-AF65-F5344CB8AC3E}">
        <p14:creationId xmlns:p14="http://schemas.microsoft.com/office/powerpoint/2010/main" val="1754007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8D20E-8B18-3EB9-35D7-3181E2BA2D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50966DD-D683-4BC9-E34B-851CD44472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D5F823-A3B4-E632-943F-369FAB28E95B}"/>
              </a:ext>
            </a:extLst>
          </p:cNvPr>
          <p:cNvSpPr>
            <a:spLocks noGrp="1"/>
          </p:cNvSpPr>
          <p:nvPr>
            <p:ph type="dt" sz="half" idx="10"/>
          </p:nvPr>
        </p:nvSpPr>
        <p:spPr/>
        <p:txBody>
          <a:bodyPr/>
          <a:lstStyle/>
          <a:p>
            <a:fld id="{C945D6F0-587D-4069-A7CD-DC763BBA7717}" type="datetimeFigureOut">
              <a:rPr lang="en-IN" smtClean="0"/>
              <a:t>10-05-2024</a:t>
            </a:fld>
            <a:endParaRPr lang="en-IN"/>
          </a:p>
        </p:txBody>
      </p:sp>
      <p:sp>
        <p:nvSpPr>
          <p:cNvPr id="5" name="Footer Placeholder 4">
            <a:extLst>
              <a:ext uri="{FF2B5EF4-FFF2-40B4-BE49-F238E27FC236}">
                <a16:creationId xmlns:a16="http://schemas.microsoft.com/office/drawing/2014/main" id="{89B4474B-BF30-9084-FC01-76F1E8367C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9EEE67-8BEB-895A-6C3F-BEECA66BC5AD}"/>
              </a:ext>
            </a:extLst>
          </p:cNvPr>
          <p:cNvSpPr>
            <a:spLocks noGrp="1"/>
          </p:cNvSpPr>
          <p:nvPr>
            <p:ph type="sldNum" sz="quarter" idx="12"/>
          </p:nvPr>
        </p:nvSpPr>
        <p:spPr/>
        <p:txBody>
          <a:bodyPr/>
          <a:lstStyle/>
          <a:p>
            <a:fld id="{A808074F-7644-4AF4-9757-A9EFB334C1A4}" type="slidenum">
              <a:rPr lang="en-IN" smtClean="0"/>
              <a:t>‹#›</a:t>
            </a:fld>
            <a:endParaRPr lang="en-IN"/>
          </a:p>
        </p:txBody>
      </p:sp>
    </p:spTree>
    <p:extLst>
      <p:ext uri="{BB962C8B-B14F-4D97-AF65-F5344CB8AC3E}">
        <p14:creationId xmlns:p14="http://schemas.microsoft.com/office/powerpoint/2010/main" val="18538536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927CB-ED88-6A72-E98F-2214ADB45A7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FE17B69-3981-FAEC-DB63-D33C0601222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FBBDF23-DD17-B22E-D616-7E8093B959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6AF5786-5EA4-A665-3AD6-B0FFE380BAE5}"/>
              </a:ext>
            </a:extLst>
          </p:cNvPr>
          <p:cNvSpPr>
            <a:spLocks noGrp="1"/>
          </p:cNvSpPr>
          <p:nvPr>
            <p:ph type="dt" sz="half" idx="10"/>
          </p:nvPr>
        </p:nvSpPr>
        <p:spPr/>
        <p:txBody>
          <a:bodyPr/>
          <a:lstStyle/>
          <a:p>
            <a:fld id="{C945D6F0-587D-4069-A7CD-DC763BBA7717}" type="datetimeFigureOut">
              <a:rPr lang="en-IN" smtClean="0"/>
              <a:t>10-05-2024</a:t>
            </a:fld>
            <a:endParaRPr lang="en-IN"/>
          </a:p>
        </p:txBody>
      </p:sp>
      <p:sp>
        <p:nvSpPr>
          <p:cNvPr id="6" name="Footer Placeholder 5">
            <a:extLst>
              <a:ext uri="{FF2B5EF4-FFF2-40B4-BE49-F238E27FC236}">
                <a16:creationId xmlns:a16="http://schemas.microsoft.com/office/drawing/2014/main" id="{17A0CAC4-2D46-3CD6-58C9-9F004CB79F0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53F8F57-5DF6-888F-3350-05620D6008F1}"/>
              </a:ext>
            </a:extLst>
          </p:cNvPr>
          <p:cNvSpPr>
            <a:spLocks noGrp="1"/>
          </p:cNvSpPr>
          <p:nvPr>
            <p:ph type="sldNum" sz="quarter" idx="12"/>
          </p:nvPr>
        </p:nvSpPr>
        <p:spPr/>
        <p:txBody>
          <a:bodyPr/>
          <a:lstStyle/>
          <a:p>
            <a:fld id="{A808074F-7644-4AF4-9757-A9EFB334C1A4}" type="slidenum">
              <a:rPr lang="en-IN" smtClean="0"/>
              <a:t>‹#›</a:t>
            </a:fld>
            <a:endParaRPr lang="en-IN"/>
          </a:p>
        </p:txBody>
      </p:sp>
    </p:spTree>
    <p:extLst>
      <p:ext uri="{BB962C8B-B14F-4D97-AF65-F5344CB8AC3E}">
        <p14:creationId xmlns:p14="http://schemas.microsoft.com/office/powerpoint/2010/main" val="2757513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73206-ED56-0D28-33A3-F03E17BCB2C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4CADF6F-D829-CFD7-601F-BCB839504E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ACC40C-EBEE-96B0-2B16-B9D3012949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ED6B5AF-2B27-73C7-3A06-2F82FC0B8D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AD5F890-32A8-8EA2-5B7D-0822656422A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5DF4F98-897A-117C-ED37-B28663A62302}"/>
              </a:ext>
            </a:extLst>
          </p:cNvPr>
          <p:cNvSpPr>
            <a:spLocks noGrp="1"/>
          </p:cNvSpPr>
          <p:nvPr>
            <p:ph type="dt" sz="half" idx="10"/>
          </p:nvPr>
        </p:nvSpPr>
        <p:spPr/>
        <p:txBody>
          <a:bodyPr/>
          <a:lstStyle/>
          <a:p>
            <a:fld id="{C945D6F0-587D-4069-A7CD-DC763BBA7717}" type="datetimeFigureOut">
              <a:rPr lang="en-IN" smtClean="0"/>
              <a:t>10-05-2024</a:t>
            </a:fld>
            <a:endParaRPr lang="en-IN"/>
          </a:p>
        </p:txBody>
      </p:sp>
      <p:sp>
        <p:nvSpPr>
          <p:cNvPr id="8" name="Footer Placeholder 7">
            <a:extLst>
              <a:ext uri="{FF2B5EF4-FFF2-40B4-BE49-F238E27FC236}">
                <a16:creationId xmlns:a16="http://schemas.microsoft.com/office/drawing/2014/main" id="{1E1A59D0-3D5E-93C2-C480-A07285D9D83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6EF4741-7825-698F-8468-675AD649CD44}"/>
              </a:ext>
            </a:extLst>
          </p:cNvPr>
          <p:cNvSpPr>
            <a:spLocks noGrp="1"/>
          </p:cNvSpPr>
          <p:nvPr>
            <p:ph type="sldNum" sz="quarter" idx="12"/>
          </p:nvPr>
        </p:nvSpPr>
        <p:spPr/>
        <p:txBody>
          <a:bodyPr/>
          <a:lstStyle/>
          <a:p>
            <a:fld id="{A808074F-7644-4AF4-9757-A9EFB334C1A4}" type="slidenum">
              <a:rPr lang="en-IN" smtClean="0"/>
              <a:t>‹#›</a:t>
            </a:fld>
            <a:endParaRPr lang="en-IN"/>
          </a:p>
        </p:txBody>
      </p:sp>
    </p:spTree>
    <p:extLst>
      <p:ext uri="{BB962C8B-B14F-4D97-AF65-F5344CB8AC3E}">
        <p14:creationId xmlns:p14="http://schemas.microsoft.com/office/powerpoint/2010/main" val="2905533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89BE4-9781-9941-24CC-67B8F2BA1C1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135E7EB-1132-C6CB-F366-0254B7B34424}"/>
              </a:ext>
            </a:extLst>
          </p:cNvPr>
          <p:cNvSpPr>
            <a:spLocks noGrp="1"/>
          </p:cNvSpPr>
          <p:nvPr>
            <p:ph type="dt" sz="half" idx="10"/>
          </p:nvPr>
        </p:nvSpPr>
        <p:spPr/>
        <p:txBody>
          <a:bodyPr/>
          <a:lstStyle/>
          <a:p>
            <a:fld id="{C945D6F0-587D-4069-A7CD-DC763BBA7717}" type="datetimeFigureOut">
              <a:rPr lang="en-IN" smtClean="0"/>
              <a:t>10-05-2024</a:t>
            </a:fld>
            <a:endParaRPr lang="en-IN"/>
          </a:p>
        </p:txBody>
      </p:sp>
      <p:sp>
        <p:nvSpPr>
          <p:cNvPr id="4" name="Footer Placeholder 3">
            <a:extLst>
              <a:ext uri="{FF2B5EF4-FFF2-40B4-BE49-F238E27FC236}">
                <a16:creationId xmlns:a16="http://schemas.microsoft.com/office/drawing/2014/main" id="{204ED69C-1E58-676B-7935-60E6271EEEC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CF3042F-1013-21D3-351E-40D21A10DAAC}"/>
              </a:ext>
            </a:extLst>
          </p:cNvPr>
          <p:cNvSpPr>
            <a:spLocks noGrp="1"/>
          </p:cNvSpPr>
          <p:nvPr>
            <p:ph type="sldNum" sz="quarter" idx="12"/>
          </p:nvPr>
        </p:nvSpPr>
        <p:spPr/>
        <p:txBody>
          <a:bodyPr/>
          <a:lstStyle/>
          <a:p>
            <a:fld id="{A808074F-7644-4AF4-9757-A9EFB334C1A4}" type="slidenum">
              <a:rPr lang="en-IN" smtClean="0"/>
              <a:t>‹#›</a:t>
            </a:fld>
            <a:endParaRPr lang="en-IN"/>
          </a:p>
        </p:txBody>
      </p:sp>
    </p:spTree>
    <p:extLst>
      <p:ext uri="{BB962C8B-B14F-4D97-AF65-F5344CB8AC3E}">
        <p14:creationId xmlns:p14="http://schemas.microsoft.com/office/powerpoint/2010/main" val="717894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B6BEF8-39B2-9B4F-E6D4-B4728FFFB502}"/>
              </a:ext>
            </a:extLst>
          </p:cNvPr>
          <p:cNvSpPr>
            <a:spLocks noGrp="1"/>
          </p:cNvSpPr>
          <p:nvPr>
            <p:ph type="dt" sz="half" idx="10"/>
          </p:nvPr>
        </p:nvSpPr>
        <p:spPr/>
        <p:txBody>
          <a:bodyPr/>
          <a:lstStyle/>
          <a:p>
            <a:fld id="{C945D6F0-587D-4069-A7CD-DC763BBA7717}" type="datetimeFigureOut">
              <a:rPr lang="en-IN" smtClean="0"/>
              <a:t>10-05-2024</a:t>
            </a:fld>
            <a:endParaRPr lang="en-IN"/>
          </a:p>
        </p:txBody>
      </p:sp>
      <p:sp>
        <p:nvSpPr>
          <p:cNvPr id="3" name="Footer Placeholder 2">
            <a:extLst>
              <a:ext uri="{FF2B5EF4-FFF2-40B4-BE49-F238E27FC236}">
                <a16:creationId xmlns:a16="http://schemas.microsoft.com/office/drawing/2014/main" id="{F44CB62F-F561-70FB-05DA-AC2624D00AD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B6E44F4-4A21-2947-DBD1-E8E9394BAD0D}"/>
              </a:ext>
            </a:extLst>
          </p:cNvPr>
          <p:cNvSpPr>
            <a:spLocks noGrp="1"/>
          </p:cNvSpPr>
          <p:nvPr>
            <p:ph type="sldNum" sz="quarter" idx="12"/>
          </p:nvPr>
        </p:nvSpPr>
        <p:spPr/>
        <p:txBody>
          <a:bodyPr/>
          <a:lstStyle/>
          <a:p>
            <a:fld id="{A808074F-7644-4AF4-9757-A9EFB334C1A4}" type="slidenum">
              <a:rPr lang="en-IN" smtClean="0"/>
              <a:t>‹#›</a:t>
            </a:fld>
            <a:endParaRPr lang="en-IN"/>
          </a:p>
        </p:txBody>
      </p:sp>
    </p:spTree>
    <p:extLst>
      <p:ext uri="{BB962C8B-B14F-4D97-AF65-F5344CB8AC3E}">
        <p14:creationId xmlns:p14="http://schemas.microsoft.com/office/powerpoint/2010/main" val="42272155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0C12F-7A4C-9869-5BA1-7DA46D1213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845B6C4-F807-BC0A-7354-8C653FD50C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F819CDE-11B1-24C3-5810-3BB296655F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2F596B-422E-4287-A166-568F7A2E4BFE}"/>
              </a:ext>
            </a:extLst>
          </p:cNvPr>
          <p:cNvSpPr>
            <a:spLocks noGrp="1"/>
          </p:cNvSpPr>
          <p:nvPr>
            <p:ph type="dt" sz="half" idx="10"/>
          </p:nvPr>
        </p:nvSpPr>
        <p:spPr/>
        <p:txBody>
          <a:bodyPr/>
          <a:lstStyle/>
          <a:p>
            <a:fld id="{C945D6F0-587D-4069-A7CD-DC763BBA7717}" type="datetimeFigureOut">
              <a:rPr lang="en-IN" smtClean="0"/>
              <a:t>10-05-2024</a:t>
            </a:fld>
            <a:endParaRPr lang="en-IN"/>
          </a:p>
        </p:txBody>
      </p:sp>
      <p:sp>
        <p:nvSpPr>
          <p:cNvPr id="6" name="Footer Placeholder 5">
            <a:extLst>
              <a:ext uri="{FF2B5EF4-FFF2-40B4-BE49-F238E27FC236}">
                <a16:creationId xmlns:a16="http://schemas.microsoft.com/office/drawing/2014/main" id="{CD92801D-AF72-B55E-1FB8-30A0F47EC7D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41D712A-8358-9984-0A6D-C679E28ABC88}"/>
              </a:ext>
            </a:extLst>
          </p:cNvPr>
          <p:cNvSpPr>
            <a:spLocks noGrp="1"/>
          </p:cNvSpPr>
          <p:nvPr>
            <p:ph type="sldNum" sz="quarter" idx="12"/>
          </p:nvPr>
        </p:nvSpPr>
        <p:spPr/>
        <p:txBody>
          <a:bodyPr/>
          <a:lstStyle/>
          <a:p>
            <a:fld id="{A808074F-7644-4AF4-9757-A9EFB334C1A4}" type="slidenum">
              <a:rPr lang="en-IN" smtClean="0"/>
              <a:t>‹#›</a:t>
            </a:fld>
            <a:endParaRPr lang="en-IN"/>
          </a:p>
        </p:txBody>
      </p:sp>
    </p:spTree>
    <p:extLst>
      <p:ext uri="{BB962C8B-B14F-4D97-AF65-F5344CB8AC3E}">
        <p14:creationId xmlns:p14="http://schemas.microsoft.com/office/powerpoint/2010/main" val="36661985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89EDB-6864-7AF0-968A-C6FBF4CB60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5060705-D32F-BD83-A3CE-9EB940774A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424445A-DD48-2D33-E199-CF2CF95430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9C4F1E-4BD1-D948-464A-F24793CC31E9}"/>
              </a:ext>
            </a:extLst>
          </p:cNvPr>
          <p:cNvSpPr>
            <a:spLocks noGrp="1"/>
          </p:cNvSpPr>
          <p:nvPr>
            <p:ph type="dt" sz="half" idx="10"/>
          </p:nvPr>
        </p:nvSpPr>
        <p:spPr/>
        <p:txBody>
          <a:bodyPr/>
          <a:lstStyle/>
          <a:p>
            <a:fld id="{C945D6F0-587D-4069-A7CD-DC763BBA7717}" type="datetimeFigureOut">
              <a:rPr lang="en-IN" smtClean="0"/>
              <a:t>10-05-2024</a:t>
            </a:fld>
            <a:endParaRPr lang="en-IN"/>
          </a:p>
        </p:txBody>
      </p:sp>
      <p:sp>
        <p:nvSpPr>
          <p:cNvPr id="6" name="Footer Placeholder 5">
            <a:extLst>
              <a:ext uri="{FF2B5EF4-FFF2-40B4-BE49-F238E27FC236}">
                <a16:creationId xmlns:a16="http://schemas.microsoft.com/office/drawing/2014/main" id="{DCDE9D09-D721-754A-08C9-B75D8A7A8FC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08BACE5-E7DB-C162-745D-16BA5A99FD1C}"/>
              </a:ext>
            </a:extLst>
          </p:cNvPr>
          <p:cNvSpPr>
            <a:spLocks noGrp="1"/>
          </p:cNvSpPr>
          <p:nvPr>
            <p:ph type="sldNum" sz="quarter" idx="12"/>
          </p:nvPr>
        </p:nvSpPr>
        <p:spPr/>
        <p:txBody>
          <a:bodyPr/>
          <a:lstStyle/>
          <a:p>
            <a:fld id="{A808074F-7644-4AF4-9757-A9EFB334C1A4}" type="slidenum">
              <a:rPr lang="en-IN" smtClean="0"/>
              <a:t>‹#›</a:t>
            </a:fld>
            <a:endParaRPr lang="en-IN"/>
          </a:p>
        </p:txBody>
      </p:sp>
    </p:spTree>
    <p:extLst>
      <p:ext uri="{BB962C8B-B14F-4D97-AF65-F5344CB8AC3E}">
        <p14:creationId xmlns:p14="http://schemas.microsoft.com/office/powerpoint/2010/main" val="2878004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1C3CC-7E34-7FC4-A472-3AFEBAD283F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9E3B34B-C039-70BB-0DF3-AFC38C7851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B38B13-F171-01CE-2316-D20FCA4F370B}"/>
              </a:ext>
            </a:extLst>
          </p:cNvPr>
          <p:cNvSpPr>
            <a:spLocks noGrp="1"/>
          </p:cNvSpPr>
          <p:nvPr>
            <p:ph type="dt" sz="half" idx="10"/>
          </p:nvPr>
        </p:nvSpPr>
        <p:spPr/>
        <p:txBody>
          <a:bodyPr/>
          <a:lstStyle/>
          <a:p>
            <a:fld id="{C945D6F0-587D-4069-A7CD-DC763BBA7717}" type="datetimeFigureOut">
              <a:rPr lang="en-IN" smtClean="0"/>
              <a:t>10-05-2024</a:t>
            </a:fld>
            <a:endParaRPr lang="en-IN"/>
          </a:p>
        </p:txBody>
      </p:sp>
      <p:sp>
        <p:nvSpPr>
          <p:cNvPr id="5" name="Footer Placeholder 4">
            <a:extLst>
              <a:ext uri="{FF2B5EF4-FFF2-40B4-BE49-F238E27FC236}">
                <a16:creationId xmlns:a16="http://schemas.microsoft.com/office/drawing/2014/main" id="{F65AEB77-0753-A0F1-CB24-48BF496BB4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3AF424-1EDC-1B22-D47D-F84228A8E3CD}"/>
              </a:ext>
            </a:extLst>
          </p:cNvPr>
          <p:cNvSpPr>
            <a:spLocks noGrp="1"/>
          </p:cNvSpPr>
          <p:nvPr>
            <p:ph type="sldNum" sz="quarter" idx="12"/>
          </p:nvPr>
        </p:nvSpPr>
        <p:spPr/>
        <p:txBody>
          <a:bodyPr/>
          <a:lstStyle/>
          <a:p>
            <a:fld id="{A808074F-7644-4AF4-9757-A9EFB334C1A4}" type="slidenum">
              <a:rPr lang="en-IN" smtClean="0"/>
              <a:t>‹#›</a:t>
            </a:fld>
            <a:endParaRPr lang="en-IN"/>
          </a:p>
        </p:txBody>
      </p:sp>
    </p:spTree>
    <p:extLst>
      <p:ext uri="{BB962C8B-B14F-4D97-AF65-F5344CB8AC3E}">
        <p14:creationId xmlns:p14="http://schemas.microsoft.com/office/powerpoint/2010/main" val="2456178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85FB5D-1D1C-4E2C-7C6A-F22B1D7F45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73FCF17-96B7-1591-BEEB-BDC4730790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71FC4A-F0EE-B3A2-3C6B-E1F99C6746E2}"/>
              </a:ext>
            </a:extLst>
          </p:cNvPr>
          <p:cNvSpPr>
            <a:spLocks noGrp="1"/>
          </p:cNvSpPr>
          <p:nvPr>
            <p:ph type="dt" sz="half" idx="10"/>
          </p:nvPr>
        </p:nvSpPr>
        <p:spPr/>
        <p:txBody>
          <a:bodyPr/>
          <a:lstStyle/>
          <a:p>
            <a:fld id="{C945D6F0-587D-4069-A7CD-DC763BBA7717}" type="datetimeFigureOut">
              <a:rPr lang="en-IN" smtClean="0"/>
              <a:t>10-05-2024</a:t>
            </a:fld>
            <a:endParaRPr lang="en-IN"/>
          </a:p>
        </p:txBody>
      </p:sp>
      <p:sp>
        <p:nvSpPr>
          <p:cNvPr id="5" name="Footer Placeholder 4">
            <a:extLst>
              <a:ext uri="{FF2B5EF4-FFF2-40B4-BE49-F238E27FC236}">
                <a16:creationId xmlns:a16="http://schemas.microsoft.com/office/drawing/2014/main" id="{682848D0-2EE9-1EAA-6CB5-268E89C8FC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412927-718B-2483-50B3-3546C94ECA85}"/>
              </a:ext>
            </a:extLst>
          </p:cNvPr>
          <p:cNvSpPr>
            <a:spLocks noGrp="1"/>
          </p:cNvSpPr>
          <p:nvPr>
            <p:ph type="sldNum" sz="quarter" idx="12"/>
          </p:nvPr>
        </p:nvSpPr>
        <p:spPr/>
        <p:txBody>
          <a:bodyPr/>
          <a:lstStyle/>
          <a:p>
            <a:fld id="{A808074F-7644-4AF4-9757-A9EFB334C1A4}" type="slidenum">
              <a:rPr lang="en-IN" smtClean="0"/>
              <a:t>‹#›</a:t>
            </a:fld>
            <a:endParaRPr lang="en-IN"/>
          </a:p>
        </p:txBody>
      </p:sp>
    </p:spTree>
    <p:extLst>
      <p:ext uri="{BB962C8B-B14F-4D97-AF65-F5344CB8AC3E}">
        <p14:creationId xmlns:p14="http://schemas.microsoft.com/office/powerpoint/2010/main" val="1190008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AE8E97-305F-82F9-5ACA-2E97BCC264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54F8A8E-006A-569A-F6DE-D00E0E0106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08540A-4D74-DDF6-E06C-048E42903F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45D6F0-587D-4069-A7CD-DC763BBA7717}" type="datetimeFigureOut">
              <a:rPr lang="en-IN" smtClean="0"/>
              <a:t>10-05-2024</a:t>
            </a:fld>
            <a:endParaRPr lang="en-IN"/>
          </a:p>
        </p:txBody>
      </p:sp>
      <p:sp>
        <p:nvSpPr>
          <p:cNvPr id="5" name="Footer Placeholder 4">
            <a:extLst>
              <a:ext uri="{FF2B5EF4-FFF2-40B4-BE49-F238E27FC236}">
                <a16:creationId xmlns:a16="http://schemas.microsoft.com/office/drawing/2014/main" id="{2120B98E-7DF6-1535-5934-ABE97AF105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2ADFD65-D602-0B6A-587E-378C3A90B6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08074F-7644-4AF4-9757-A9EFB334C1A4}" type="slidenum">
              <a:rPr lang="en-IN" smtClean="0"/>
              <a:t>‹#›</a:t>
            </a:fld>
            <a:endParaRPr lang="en-IN"/>
          </a:p>
        </p:txBody>
      </p:sp>
    </p:spTree>
    <p:extLst>
      <p:ext uri="{BB962C8B-B14F-4D97-AF65-F5344CB8AC3E}">
        <p14:creationId xmlns:p14="http://schemas.microsoft.com/office/powerpoint/2010/main" val="24715913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gif"/><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gi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B933E-A300-7958-87DA-C5576A4B604B}"/>
              </a:ext>
            </a:extLst>
          </p:cNvPr>
          <p:cNvSpPr>
            <a:spLocks noGrp="1"/>
          </p:cNvSpPr>
          <p:nvPr>
            <p:ph type="ctrTitle"/>
          </p:nvPr>
        </p:nvSpPr>
        <p:spPr>
          <a:xfrm>
            <a:off x="1319719" y="-787400"/>
            <a:ext cx="9144000" cy="2387600"/>
          </a:xfrm>
        </p:spPr>
        <p:txBody>
          <a:bodyPr/>
          <a:lstStyle/>
          <a:p>
            <a:r>
              <a:rPr lang="en-IN" dirty="0"/>
              <a:t>Numerical Control</a:t>
            </a:r>
          </a:p>
        </p:txBody>
      </p:sp>
      <p:sp>
        <p:nvSpPr>
          <p:cNvPr id="3" name="Subtitle 2">
            <a:extLst>
              <a:ext uri="{FF2B5EF4-FFF2-40B4-BE49-F238E27FC236}">
                <a16:creationId xmlns:a16="http://schemas.microsoft.com/office/drawing/2014/main" id="{D69762BC-5F57-097D-9AFB-BF825BBC2A93}"/>
              </a:ext>
            </a:extLst>
          </p:cNvPr>
          <p:cNvSpPr>
            <a:spLocks noGrp="1"/>
          </p:cNvSpPr>
          <p:nvPr>
            <p:ph type="subTitle" idx="1"/>
          </p:nvPr>
        </p:nvSpPr>
        <p:spPr/>
        <p:txBody>
          <a:bodyPr/>
          <a:lstStyle/>
          <a:p>
            <a:endParaRPr lang="en-IN"/>
          </a:p>
        </p:txBody>
      </p:sp>
      <p:pic>
        <p:nvPicPr>
          <p:cNvPr id="1026" name="Picture 2" descr="CNC Router — A Basic Introduction | by Roctech CNC Router | Medium">
            <a:extLst>
              <a:ext uri="{FF2B5EF4-FFF2-40B4-BE49-F238E27FC236}">
                <a16:creationId xmlns:a16="http://schemas.microsoft.com/office/drawing/2014/main" id="{A7D67BB9-EE76-BAC7-D20F-493DC45B4B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0222" y="1979039"/>
            <a:ext cx="8073957" cy="484437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anufacturing a Basic DVD Storage Unit - Batch Production">
            <a:extLst>
              <a:ext uri="{FF2B5EF4-FFF2-40B4-BE49-F238E27FC236}">
                <a16:creationId xmlns:a16="http://schemas.microsoft.com/office/drawing/2014/main" id="{0B870F7E-2B60-DB10-DAD9-29B3BE9A08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158" y="2348419"/>
            <a:ext cx="5238750"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0561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416E8-5DDD-B0D2-D9F4-7F76A8F483AF}"/>
              </a:ext>
            </a:extLst>
          </p:cNvPr>
          <p:cNvSpPr>
            <a:spLocks noGrp="1"/>
          </p:cNvSpPr>
          <p:nvPr>
            <p:ph type="title"/>
          </p:nvPr>
        </p:nvSpPr>
        <p:spPr>
          <a:xfrm>
            <a:off x="838200" y="18255"/>
            <a:ext cx="10515600" cy="1325563"/>
          </a:xfrm>
        </p:spPr>
        <p:txBody>
          <a:bodyPr>
            <a:normAutofit/>
          </a:bodyPr>
          <a:lstStyle/>
          <a:p>
            <a:pPr algn="ctr"/>
            <a:r>
              <a:rPr lang="en-IN" sz="4000" dirty="0">
                <a:latin typeface="Times New Roman" panose="02020603050405020304" pitchFamily="18" charset="0"/>
                <a:cs typeface="Times New Roman" panose="02020603050405020304" pitchFamily="18" charset="0"/>
              </a:rPr>
              <a:t>Numerical Control</a:t>
            </a:r>
          </a:p>
        </p:txBody>
      </p:sp>
      <p:sp>
        <p:nvSpPr>
          <p:cNvPr id="3" name="Content Placeholder 2">
            <a:extLst>
              <a:ext uri="{FF2B5EF4-FFF2-40B4-BE49-F238E27FC236}">
                <a16:creationId xmlns:a16="http://schemas.microsoft.com/office/drawing/2014/main" id="{8998DD02-302C-8313-D4DA-9760B5EF7059}"/>
              </a:ext>
            </a:extLst>
          </p:cNvPr>
          <p:cNvSpPr>
            <a:spLocks noGrp="1"/>
          </p:cNvSpPr>
          <p:nvPr>
            <p:ph idx="1"/>
          </p:nvPr>
        </p:nvSpPr>
        <p:spPr>
          <a:xfrm>
            <a:off x="612843" y="1343818"/>
            <a:ext cx="11147897" cy="4351338"/>
          </a:xfrm>
        </p:spPr>
        <p:txBody>
          <a:bodyPr>
            <a:normAutofit/>
          </a:bodyPr>
          <a:lstStyle/>
          <a:p>
            <a:pPr algn="just"/>
            <a:r>
              <a:rPr lang="en-US" sz="2600" dirty="0">
                <a:latin typeface="Times New Roman" panose="02020603050405020304" pitchFamily="18" charset="0"/>
                <a:cs typeface="Times New Roman" panose="02020603050405020304" pitchFamily="18" charset="0"/>
              </a:rPr>
              <a:t>a form of programmable automation in which the process is controlled by numbers, letters, and symbols</a:t>
            </a:r>
          </a:p>
          <a:p>
            <a:pPr algn="just"/>
            <a:r>
              <a:rPr lang="en-US" sz="2600" dirty="0">
                <a:latin typeface="Times New Roman" panose="02020603050405020304" pitchFamily="18" charset="0"/>
                <a:cs typeface="Times New Roman" panose="02020603050405020304" pitchFamily="18" charset="0"/>
              </a:rPr>
              <a:t>a program of instructions designed for a particular work-part or job</a:t>
            </a:r>
          </a:p>
          <a:p>
            <a:pPr algn="just"/>
            <a:r>
              <a:rPr lang="en-IN" sz="2600" b="0" i="0" u="none" strike="noStrike" baseline="0" dirty="0">
                <a:latin typeface="Times New Roman" panose="02020603050405020304" pitchFamily="18" charset="0"/>
                <a:cs typeface="Times New Roman" panose="02020603050405020304" pitchFamily="18" charset="0"/>
              </a:rPr>
              <a:t>When the</a:t>
            </a:r>
            <a:r>
              <a:rPr lang="en-US" sz="2600" b="0" i="0" u="none" strike="noStrike" baseline="0" dirty="0">
                <a:latin typeface="Times New Roman" panose="02020603050405020304" pitchFamily="18" charset="0"/>
                <a:cs typeface="Times New Roman" panose="02020603050405020304" pitchFamily="18" charset="0"/>
              </a:rPr>
              <a:t> job changes, the program of instructions is changed. </a:t>
            </a:r>
          </a:p>
          <a:p>
            <a:pPr algn="just"/>
            <a:r>
              <a:rPr lang="en-US" sz="2600" b="0" i="0" u="none" strike="noStrike" baseline="0" dirty="0">
                <a:latin typeface="Times New Roman" panose="02020603050405020304" pitchFamily="18" charset="0"/>
                <a:cs typeface="Times New Roman" panose="02020603050405020304" pitchFamily="18" charset="0"/>
              </a:rPr>
              <a:t>This capability to change the program for each new job is what gives NC its flexibility</a:t>
            </a:r>
          </a:p>
          <a:p>
            <a:pPr algn="just"/>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64063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09643-A24F-9326-FA72-90589538336D}"/>
              </a:ext>
            </a:extLst>
          </p:cNvPr>
          <p:cNvSpPr>
            <a:spLocks noGrp="1"/>
          </p:cNvSpPr>
          <p:nvPr>
            <p:ph type="title"/>
          </p:nvPr>
        </p:nvSpPr>
        <p:spPr>
          <a:xfrm>
            <a:off x="838200" y="-116682"/>
            <a:ext cx="10515600" cy="1325563"/>
          </a:xfrm>
        </p:spPr>
        <p:txBody>
          <a:bodyPr>
            <a:normAutofit/>
          </a:bodyPr>
          <a:lstStyle/>
          <a:p>
            <a:pPr algn="ctr"/>
            <a:r>
              <a:rPr lang="en-US" sz="3200" dirty="0">
                <a:latin typeface="Arial" panose="020B0604020202020204" pitchFamily="34" charset="0"/>
                <a:cs typeface="Arial" panose="020B0604020202020204" pitchFamily="34" charset="0"/>
              </a:rPr>
              <a:t>BASIC COMPONENTS OF AN NC SYSTEM</a:t>
            </a:r>
            <a:endParaRPr lang="en-IN" sz="32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D635842C-A02B-93B4-7545-8E3BE7AC2E81}"/>
              </a:ext>
            </a:extLst>
          </p:cNvPr>
          <p:cNvSpPr>
            <a:spLocks noGrp="1"/>
          </p:cNvSpPr>
          <p:nvPr>
            <p:ph idx="1"/>
          </p:nvPr>
        </p:nvSpPr>
        <p:spPr>
          <a:xfrm>
            <a:off x="838200" y="1446246"/>
            <a:ext cx="10515600" cy="4351338"/>
          </a:xfrm>
        </p:spPr>
        <p:txBody>
          <a:bodyPr/>
          <a:lstStyle/>
          <a:p>
            <a:pPr marL="0" indent="0">
              <a:buNone/>
            </a:pPr>
            <a:r>
              <a:rPr lang="en-US" dirty="0">
                <a:latin typeface="Times New Roman" panose="02020603050405020304" pitchFamily="18" charset="0"/>
                <a:cs typeface="Times New Roman" panose="02020603050405020304" pitchFamily="18" charset="0"/>
              </a:rPr>
              <a:t>1. Program of instructions</a:t>
            </a:r>
          </a:p>
          <a:p>
            <a:pPr marL="0" indent="0">
              <a:buNone/>
            </a:pPr>
            <a:r>
              <a:rPr lang="en-US" dirty="0">
                <a:latin typeface="Times New Roman" panose="02020603050405020304" pitchFamily="18" charset="0"/>
                <a:cs typeface="Times New Roman" panose="02020603050405020304" pitchFamily="18" charset="0"/>
              </a:rPr>
              <a:t>2. Controller unit, also called a machine control unit (MCU)</a:t>
            </a:r>
          </a:p>
          <a:p>
            <a:pPr marL="0" indent="0">
              <a:buNone/>
            </a:pPr>
            <a:r>
              <a:rPr lang="en-US" dirty="0">
                <a:latin typeface="Times New Roman" panose="02020603050405020304" pitchFamily="18" charset="0"/>
                <a:cs typeface="Times New Roman" panose="02020603050405020304" pitchFamily="18" charset="0"/>
              </a:rPr>
              <a:t>3. Machine tool or other controlled process</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F17179E-A523-938F-93F3-F6230F4D4DBE}"/>
              </a:ext>
            </a:extLst>
          </p:cNvPr>
          <p:cNvPicPr>
            <a:picLocks noChangeAspect="1"/>
          </p:cNvPicPr>
          <p:nvPr/>
        </p:nvPicPr>
        <p:blipFill>
          <a:blip r:embed="rId2"/>
          <a:stretch>
            <a:fillRect/>
          </a:stretch>
        </p:blipFill>
        <p:spPr>
          <a:xfrm>
            <a:off x="2967037" y="3429000"/>
            <a:ext cx="6257925" cy="2895600"/>
          </a:xfrm>
          <a:prstGeom prst="rect">
            <a:avLst/>
          </a:prstGeom>
        </p:spPr>
      </p:pic>
    </p:spTree>
    <p:extLst>
      <p:ext uri="{BB962C8B-B14F-4D97-AF65-F5344CB8AC3E}">
        <p14:creationId xmlns:p14="http://schemas.microsoft.com/office/powerpoint/2010/main" val="4199608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F6624-BEFA-E153-842F-CECDAE19F3AE}"/>
              </a:ext>
            </a:extLst>
          </p:cNvPr>
          <p:cNvSpPr>
            <a:spLocks noGrp="1"/>
          </p:cNvSpPr>
          <p:nvPr>
            <p:ph type="title"/>
          </p:nvPr>
        </p:nvSpPr>
        <p:spPr>
          <a:xfrm>
            <a:off x="838200" y="102478"/>
            <a:ext cx="10515600" cy="1325563"/>
          </a:xfrm>
        </p:spPr>
        <p:txBody>
          <a:bodyPr/>
          <a:lstStyle/>
          <a:p>
            <a:pPr algn="ctr"/>
            <a:r>
              <a:rPr lang="en-US" sz="3600" dirty="0">
                <a:latin typeface="Arial" panose="020B0604020202020204" pitchFamily="34" charset="0"/>
                <a:cs typeface="Arial" panose="020B0604020202020204" pitchFamily="34" charset="0"/>
              </a:rPr>
              <a:t>1. Program of instructions</a:t>
            </a:r>
            <a:br>
              <a:rPr lang="en-US" dirty="0"/>
            </a:br>
            <a:endParaRPr lang="en-IN" dirty="0"/>
          </a:p>
        </p:txBody>
      </p:sp>
      <p:sp>
        <p:nvSpPr>
          <p:cNvPr id="3" name="Content Placeholder 2">
            <a:extLst>
              <a:ext uri="{FF2B5EF4-FFF2-40B4-BE49-F238E27FC236}">
                <a16:creationId xmlns:a16="http://schemas.microsoft.com/office/drawing/2014/main" id="{1ED8DAF4-3411-6D22-B1FB-2EEDD8213944}"/>
              </a:ext>
            </a:extLst>
          </p:cNvPr>
          <p:cNvSpPr>
            <a:spLocks noGrp="1"/>
          </p:cNvSpPr>
          <p:nvPr>
            <p:ph idx="1"/>
          </p:nvPr>
        </p:nvSpPr>
        <p:spPr>
          <a:xfrm>
            <a:off x="535021" y="1060315"/>
            <a:ext cx="11167353" cy="5116648"/>
          </a:xfrm>
        </p:spPr>
        <p:txBody>
          <a:bodyPr>
            <a:normAutofit/>
          </a:bodyPr>
          <a:lstStyle/>
          <a:p>
            <a:pPr algn="just"/>
            <a:r>
              <a:rPr lang="en-US" sz="2600" b="0" i="0" u="none" strike="noStrike" baseline="0" dirty="0">
                <a:latin typeface="Times New Roman" panose="02020603050405020304" pitchFamily="18" charset="0"/>
                <a:cs typeface="Times New Roman" panose="02020603050405020304" pitchFamily="18" charset="0"/>
              </a:rPr>
              <a:t>The program of instructions is the detailed step-by-step set of directions which tell the machine tool what to do. </a:t>
            </a:r>
          </a:p>
          <a:p>
            <a:pPr algn="just"/>
            <a:r>
              <a:rPr lang="en-US" sz="2600" b="0" i="0" u="none" strike="noStrike" baseline="0" dirty="0">
                <a:latin typeface="Times New Roman" panose="02020603050405020304" pitchFamily="18" charset="0"/>
                <a:cs typeface="Times New Roman" panose="02020603050405020304" pitchFamily="18" charset="0"/>
              </a:rPr>
              <a:t>It is coded in numerical or symbolic form on some type of input medium that can be interpreted by the controller unit. </a:t>
            </a:r>
          </a:p>
          <a:p>
            <a:pPr algn="just"/>
            <a:r>
              <a:rPr lang="en-US" sz="2600" b="0" i="1" u="none" strike="noStrike" baseline="0" dirty="0">
                <a:solidFill>
                  <a:srgbClr val="FF0000"/>
                </a:solidFill>
                <a:latin typeface="Times New Roman" panose="02020603050405020304" pitchFamily="18" charset="0"/>
                <a:cs typeface="Times New Roman" panose="02020603050405020304" pitchFamily="18" charset="0"/>
              </a:rPr>
              <a:t>The part program is converted into a sequence of machine tool actions by means of the input medium, which contains the program the controller unit, which interprets the input medium. </a:t>
            </a:r>
          </a:p>
          <a:p>
            <a:pPr algn="just"/>
            <a:r>
              <a:rPr lang="en-US" sz="2600" b="0" i="0" u="sng" strike="noStrike" baseline="0" dirty="0">
                <a:latin typeface="Times New Roman" panose="02020603050405020304" pitchFamily="18" charset="0"/>
                <a:cs typeface="Times New Roman" panose="02020603050405020304" pitchFamily="18" charset="0"/>
              </a:rPr>
              <a:t>The controller unit and the input medium must be compatible </a:t>
            </a:r>
            <a:r>
              <a:rPr lang="en-US" sz="2600" b="0" i="0" u="none" strike="noStrike" baseline="0" dirty="0">
                <a:latin typeface="Times New Roman" panose="02020603050405020304" pitchFamily="18" charset="0"/>
                <a:cs typeface="Times New Roman" panose="02020603050405020304" pitchFamily="18" charset="0"/>
              </a:rPr>
              <a:t>- the input medium uses coded symbols which represent the part program, and the controller unit must be capable of reading those symbols</a:t>
            </a:r>
          </a:p>
          <a:p>
            <a:pPr algn="just"/>
            <a:endParaRPr lang="en-US" sz="2600" b="0" i="0" u="none" strike="noStrike" baseline="0" dirty="0">
              <a:latin typeface="Times New Roman" panose="02020603050405020304" pitchFamily="18" charset="0"/>
              <a:cs typeface="Times New Roman" panose="02020603050405020304" pitchFamily="18" charset="0"/>
            </a:endParaRPr>
          </a:p>
          <a:p>
            <a:pPr algn="just"/>
            <a:endParaRPr lang="en-US" sz="2600" dirty="0">
              <a:latin typeface="Times New Roman" panose="02020603050405020304" pitchFamily="18" charset="0"/>
              <a:cs typeface="Times New Roman" panose="02020603050405020304" pitchFamily="18" charset="0"/>
            </a:endParaRPr>
          </a:p>
          <a:p>
            <a:pPr marL="0" indent="0" algn="just">
              <a:buNone/>
            </a:pP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596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B5011-B0EA-4632-5568-F37D5A8BBF7A}"/>
              </a:ext>
            </a:extLst>
          </p:cNvPr>
          <p:cNvSpPr>
            <a:spLocks noGrp="1"/>
          </p:cNvSpPr>
          <p:nvPr>
            <p:ph type="title"/>
          </p:nvPr>
        </p:nvSpPr>
        <p:spPr>
          <a:xfrm>
            <a:off x="0" y="-121258"/>
            <a:ext cx="10515600" cy="1249667"/>
          </a:xfrm>
        </p:spPr>
        <p:txBody>
          <a:bodyPr/>
          <a:lstStyle/>
          <a:p>
            <a:r>
              <a:rPr lang="en-US" sz="2800" dirty="0">
                <a:latin typeface="Arial" panose="020B0604020202020204" pitchFamily="34" charset="0"/>
                <a:cs typeface="Arial" panose="020B0604020202020204" pitchFamily="34" charset="0"/>
              </a:rPr>
              <a:t>PUNCHED TAPE IN NC</a:t>
            </a:r>
            <a:br>
              <a:rPr lang="en-US" dirty="0"/>
            </a:br>
            <a:endParaRPr lang="en-IN" dirty="0"/>
          </a:p>
        </p:txBody>
      </p:sp>
      <p:sp>
        <p:nvSpPr>
          <p:cNvPr id="3" name="Content Placeholder 2">
            <a:extLst>
              <a:ext uri="{FF2B5EF4-FFF2-40B4-BE49-F238E27FC236}">
                <a16:creationId xmlns:a16="http://schemas.microsoft.com/office/drawing/2014/main" id="{C283C6C2-41D9-E36C-34F7-304D1D2D5A26}"/>
              </a:ext>
            </a:extLst>
          </p:cNvPr>
          <p:cNvSpPr>
            <a:spLocks noGrp="1"/>
          </p:cNvSpPr>
          <p:nvPr>
            <p:ph idx="1"/>
          </p:nvPr>
        </p:nvSpPr>
        <p:spPr>
          <a:xfrm>
            <a:off x="0" y="0"/>
            <a:ext cx="6399691" cy="4351338"/>
          </a:xfrm>
        </p:spPr>
        <p:txBody>
          <a:bodyPr>
            <a:noAutofit/>
          </a:bodyPr>
          <a:lstStyle/>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a:t>
            </a:r>
            <a:r>
              <a:rPr lang="en-US" sz="2400" b="0" i="0" u="none" strike="noStrike" baseline="0" dirty="0">
                <a:latin typeface="Times New Roman" panose="02020603050405020304" pitchFamily="18" charset="0"/>
                <a:cs typeface="Times New Roman" panose="02020603050405020304" pitchFamily="18" charset="0"/>
              </a:rPr>
              <a:t>here are eight regular columns of holes running in the lengthwise direction of the tape. </a:t>
            </a:r>
          </a:p>
          <a:p>
            <a:pPr algn="just"/>
            <a:r>
              <a:rPr lang="en-US" sz="2400" b="0" i="0" u="none" strike="noStrike" baseline="0" dirty="0">
                <a:latin typeface="Times New Roman" panose="02020603050405020304" pitchFamily="18" charset="0"/>
                <a:cs typeface="Times New Roman" panose="02020603050405020304" pitchFamily="18" charset="0"/>
              </a:rPr>
              <a:t>There is also a ninth column of holes between the third and fourth regular columns. However, these are smaller and are used as sprocket holes for feeding the tape.</a:t>
            </a:r>
          </a:p>
          <a:p>
            <a:pPr algn="just"/>
            <a:r>
              <a:rPr lang="en-US" sz="2400" dirty="0">
                <a:latin typeface="Times New Roman" panose="02020603050405020304" pitchFamily="18" charset="0"/>
                <a:cs typeface="Times New Roman" panose="02020603050405020304" pitchFamily="18" charset="0"/>
              </a:rPr>
              <a:t>T</a:t>
            </a:r>
            <a:r>
              <a:rPr lang="en-US" sz="2400" b="0" i="0" u="none" strike="noStrike" baseline="0" dirty="0">
                <a:latin typeface="Times New Roman" panose="02020603050405020304" pitchFamily="18" charset="0"/>
                <a:cs typeface="Times New Roman" panose="02020603050405020304" pitchFamily="18" charset="0"/>
              </a:rPr>
              <a:t>he coding of the tape is provided by either the presence or absence of a hole in the various positions. </a:t>
            </a:r>
          </a:p>
          <a:p>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3670745-29BE-E62D-9438-5F5106EF88FF}"/>
              </a:ext>
            </a:extLst>
          </p:cNvPr>
          <p:cNvPicPr>
            <a:picLocks noChangeAspect="1"/>
          </p:cNvPicPr>
          <p:nvPr/>
        </p:nvPicPr>
        <p:blipFill>
          <a:blip r:embed="rId2"/>
          <a:stretch>
            <a:fillRect/>
          </a:stretch>
        </p:blipFill>
        <p:spPr>
          <a:xfrm>
            <a:off x="6604465" y="136096"/>
            <a:ext cx="5587535" cy="3874253"/>
          </a:xfrm>
          <a:prstGeom prst="rect">
            <a:avLst/>
          </a:prstGeom>
        </p:spPr>
      </p:pic>
      <p:sp>
        <p:nvSpPr>
          <p:cNvPr id="5" name="TextBox 4">
            <a:extLst>
              <a:ext uri="{FF2B5EF4-FFF2-40B4-BE49-F238E27FC236}">
                <a16:creationId xmlns:a16="http://schemas.microsoft.com/office/drawing/2014/main" id="{A3B2E55E-491C-04B7-E175-7F6D41C13C21}"/>
              </a:ext>
            </a:extLst>
          </p:cNvPr>
          <p:cNvSpPr txBox="1"/>
          <p:nvPr/>
        </p:nvSpPr>
        <p:spPr>
          <a:xfrm>
            <a:off x="0" y="4010349"/>
            <a:ext cx="12192000" cy="2954655"/>
          </a:xfrm>
          <a:prstGeom prst="rect">
            <a:avLst/>
          </a:prstGeom>
          <a:noFill/>
        </p:spPr>
        <p:txBody>
          <a:bodyPr wrap="square" rtlCol="0">
            <a:spAutoFit/>
          </a:bodyPr>
          <a:lstStyle/>
          <a:p>
            <a:pPr marL="285750" indent="-285750" algn="just">
              <a:buFont typeface="Arial" panose="020B0604020202020204" pitchFamily="34" charset="0"/>
              <a:buChar char="•"/>
            </a:pPr>
            <a:r>
              <a:rPr lang="en-US" sz="2400" b="0" i="0" u="none" strike="noStrike" baseline="0" dirty="0">
                <a:latin typeface="Times New Roman" panose="02020603050405020304" pitchFamily="18" charset="0"/>
                <a:cs typeface="Times New Roman" panose="02020603050405020304" pitchFamily="18" charset="0"/>
              </a:rPr>
              <a:t>Because there are two possible conditions for each position—either the presence or absence of a hole—this coding system is called the binary code.</a:t>
            </a:r>
          </a:p>
          <a:p>
            <a:pPr marL="285750" indent="-285750" algn="just">
              <a:buFont typeface="Arial" panose="020B0604020202020204" pitchFamily="34" charset="0"/>
              <a:buChar char="•"/>
            </a:pPr>
            <a:r>
              <a:rPr lang="en-US" sz="2400" b="0" i="0" u="none" strike="noStrike" baseline="0" dirty="0">
                <a:latin typeface="Times New Roman" panose="02020603050405020304" pitchFamily="18" charset="0"/>
                <a:cs typeface="Times New Roman" panose="02020603050405020304" pitchFamily="18" charset="0"/>
              </a:rPr>
              <a:t> The NC tape coding system is used to code not only numbers, but also alphabetical letters and other symbols.</a:t>
            </a:r>
          </a:p>
          <a:p>
            <a:pPr marL="285750" indent="-285750" algn="just">
              <a:buFont typeface="Arial" panose="020B0604020202020204" pitchFamily="34" charset="0"/>
              <a:buChar char="•"/>
            </a:pPr>
            <a:r>
              <a:rPr lang="en-US" sz="2400" b="0" i="0" u="none" strike="noStrike" baseline="0" dirty="0">
                <a:latin typeface="Times New Roman" panose="02020603050405020304" pitchFamily="18" charset="0"/>
                <a:cs typeface="Times New Roman" panose="02020603050405020304" pitchFamily="18" charset="0"/>
              </a:rPr>
              <a:t>Eight columns provide more than enough binary digits to define any of the required symbols.</a:t>
            </a:r>
          </a:p>
          <a:p>
            <a:pPr marL="285750" indent="-285750" algn="just">
              <a:buFont typeface="Arial" panose="020B0604020202020204" pitchFamily="34" charset="0"/>
              <a:buChar char="•"/>
            </a:pPr>
            <a:r>
              <a:rPr lang="en-US" sz="2400" b="0" i="0" u="none" strike="noStrike" baseline="0" dirty="0">
                <a:latin typeface="Times New Roman" panose="02020603050405020304" pitchFamily="18" charset="0"/>
                <a:cs typeface="Times New Roman" panose="02020603050405020304" pitchFamily="18" charset="0"/>
              </a:rPr>
              <a:t>A character is a combination of bits, which represents a letter, number, or other symbol. </a:t>
            </a:r>
          </a:p>
          <a:p>
            <a:pPr marL="285750" indent="-285750" algn="just">
              <a:buFont typeface="Arial" panose="020B0604020202020204" pitchFamily="34" charset="0"/>
              <a:buChar char="•"/>
            </a:pPr>
            <a:r>
              <a:rPr lang="en-US" sz="2400" b="0" i="0" u="none" strike="noStrike" baseline="0" dirty="0">
                <a:latin typeface="Times New Roman" panose="02020603050405020304" pitchFamily="18" charset="0"/>
                <a:cs typeface="Times New Roman" panose="02020603050405020304" pitchFamily="18" charset="0"/>
              </a:rPr>
              <a:t>A word is a collection of characters used to form part of an instruction.</a:t>
            </a:r>
            <a:endParaRPr lang="en-US" sz="24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1861245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97889-2D4F-40A5-8BBF-AA3EBDF76808}"/>
              </a:ext>
            </a:extLst>
          </p:cNvPr>
          <p:cNvSpPr>
            <a:spLocks noGrp="1"/>
          </p:cNvSpPr>
          <p:nvPr>
            <p:ph type="title"/>
          </p:nvPr>
        </p:nvSpPr>
        <p:spPr>
          <a:xfrm>
            <a:off x="0" y="-315811"/>
            <a:ext cx="10515600" cy="1325563"/>
          </a:xfrm>
        </p:spPr>
        <p:txBody>
          <a:bodyPr>
            <a:normAutofit/>
          </a:bodyPr>
          <a:lstStyle/>
          <a:p>
            <a:r>
              <a:rPr lang="en-US" sz="3200" dirty="0">
                <a:latin typeface="Times-Roman"/>
              </a:rPr>
              <a:t>P</a:t>
            </a:r>
            <a:r>
              <a:rPr lang="en-US" sz="3200" b="0" i="0" u="none" strike="noStrike" baseline="0" dirty="0">
                <a:latin typeface="Times-Roman"/>
              </a:rPr>
              <a:t>reparing the punched tape</a:t>
            </a:r>
            <a:endParaRPr lang="en-IN" sz="3200" dirty="0"/>
          </a:p>
        </p:txBody>
      </p:sp>
      <p:sp>
        <p:nvSpPr>
          <p:cNvPr id="3" name="Content Placeholder 2">
            <a:extLst>
              <a:ext uri="{FF2B5EF4-FFF2-40B4-BE49-F238E27FC236}">
                <a16:creationId xmlns:a16="http://schemas.microsoft.com/office/drawing/2014/main" id="{FA78B012-3D63-9C13-E3AD-574D6E6DBEE8}"/>
              </a:ext>
            </a:extLst>
          </p:cNvPr>
          <p:cNvSpPr>
            <a:spLocks noGrp="1"/>
          </p:cNvSpPr>
          <p:nvPr>
            <p:ph idx="1"/>
          </p:nvPr>
        </p:nvSpPr>
        <p:spPr>
          <a:xfrm>
            <a:off x="98897" y="554240"/>
            <a:ext cx="6545093" cy="4351338"/>
          </a:xfrm>
        </p:spPr>
        <p:txBody>
          <a:bodyPr>
            <a:noAutofit/>
          </a:bodyPr>
          <a:lstStyle/>
          <a:p>
            <a:pPr algn="just"/>
            <a:r>
              <a:rPr lang="en-US" sz="2400" b="0" i="0" u="none" strike="noStrike" baseline="0" dirty="0">
                <a:latin typeface="Times-Roman"/>
              </a:rPr>
              <a:t>There are two basic methods of preparing the punched tape. </a:t>
            </a:r>
          </a:p>
          <a:p>
            <a:pPr algn="just"/>
            <a:r>
              <a:rPr lang="en-US" sz="2400" b="0" i="0" u="none" strike="noStrike" baseline="0" dirty="0">
                <a:latin typeface="Times-Roman"/>
              </a:rPr>
              <a:t>The first method is associated with manual part programming and involves the use of a typewriterlike device. </a:t>
            </a:r>
          </a:p>
          <a:p>
            <a:pPr algn="just"/>
            <a:r>
              <a:rPr lang="en-US" sz="2400" b="0" i="0" u="none" strike="noStrike" baseline="0" dirty="0">
                <a:latin typeface="Times-Roman"/>
              </a:rPr>
              <a:t>After the last instruction has been read into the controller, the tape is rewound back to the start of the program to be ready for the next </a:t>
            </a:r>
            <a:r>
              <a:rPr lang="en-IN" sz="2400" b="0" i="0" u="none" strike="noStrike" baseline="0" dirty="0">
                <a:latin typeface="Times-Roman"/>
              </a:rPr>
              <a:t>work-part.</a:t>
            </a:r>
            <a:endParaRPr lang="en-IN" sz="2400" dirty="0"/>
          </a:p>
        </p:txBody>
      </p:sp>
      <p:pic>
        <p:nvPicPr>
          <p:cNvPr id="4" name="Picture 3">
            <a:extLst>
              <a:ext uri="{FF2B5EF4-FFF2-40B4-BE49-F238E27FC236}">
                <a16:creationId xmlns:a16="http://schemas.microsoft.com/office/drawing/2014/main" id="{F5550BA5-8455-ABA9-6C10-429B7407B6CC}"/>
              </a:ext>
            </a:extLst>
          </p:cNvPr>
          <p:cNvPicPr>
            <a:picLocks noChangeAspect="1"/>
          </p:cNvPicPr>
          <p:nvPr/>
        </p:nvPicPr>
        <p:blipFill rotWithShape="1">
          <a:blip r:embed="rId2"/>
          <a:srcRect l="11478" r="1228"/>
          <a:stretch/>
        </p:blipFill>
        <p:spPr>
          <a:xfrm>
            <a:off x="6820709" y="0"/>
            <a:ext cx="5371291" cy="2933700"/>
          </a:xfrm>
          <a:prstGeom prst="rect">
            <a:avLst/>
          </a:prstGeom>
        </p:spPr>
      </p:pic>
      <p:sp>
        <p:nvSpPr>
          <p:cNvPr id="5" name="TextBox 4">
            <a:extLst>
              <a:ext uri="{FF2B5EF4-FFF2-40B4-BE49-F238E27FC236}">
                <a16:creationId xmlns:a16="http://schemas.microsoft.com/office/drawing/2014/main" id="{310924B2-9F49-BAD2-CC2A-BEB32C2E54B6}"/>
              </a:ext>
            </a:extLst>
          </p:cNvPr>
          <p:cNvSpPr txBox="1"/>
          <p:nvPr/>
        </p:nvSpPr>
        <p:spPr>
          <a:xfrm>
            <a:off x="98896" y="3715966"/>
            <a:ext cx="11994206" cy="3323987"/>
          </a:xfrm>
          <a:prstGeom prst="rect">
            <a:avLst/>
          </a:prstGeom>
          <a:noFill/>
        </p:spPr>
        <p:txBody>
          <a:bodyPr wrap="square" rtlCol="0">
            <a:spAutoFit/>
          </a:bodyPr>
          <a:lstStyle/>
          <a:p>
            <a:pPr marL="285750" indent="-285750" algn="just">
              <a:buFont typeface="Arial" panose="020B0604020202020204" pitchFamily="34" charset="0"/>
              <a:buChar char="•"/>
            </a:pPr>
            <a:r>
              <a:rPr lang="en-US" sz="2400" b="0" i="0" u="none" strike="noStrike" baseline="0" dirty="0">
                <a:latin typeface="Times-Roman"/>
              </a:rPr>
              <a:t>The second method is used with computer-assisted part programming  - by this approach, the tape is prepared directly by the computer using a device called a tape </a:t>
            </a:r>
            <a:r>
              <a:rPr lang="en-IN" sz="2400" b="0" i="0" u="none" strike="noStrike" baseline="0" dirty="0">
                <a:latin typeface="Times-Roman"/>
              </a:rPr>
              <a:t>punch.</a:t>
            </a:r>
          </a:p>
          <a:p>
            <a:pPr marL="285750" indent="-285750" algn="just">
              <a:buFont typeface="Arial" panose="020B0604020202020204" pitchFamily="34" charset="0"/>
              <a:buChar char="•"/>
            </a:pPr>
            <a:r>
              <a:rPr lang="en-IN" sz="2400" b="0" i="0" u="none" strike="noStrike" baseline="0" dirty="0">
                <a:latin typeface="Times-Roman"/>
              </a:rPr>
              <a:t>During </a:t>
            </a:r>
            <a:r>
              <a:rPr lang="en-US" sz="2400" b="0" i="0" u="none" strike="noStrike" baseline="0" dirty="0">
                <a:latin typeface="Times-Roman"/>
              </a:rPr>
              <a:t>production on a conventional NC machine, the tape is fed through the tape reader</a:t>
            </a:r>
            <a:r>
              <a:rPr lang="en-IN" sz="2400" dirty="0">
                <a:latin typeface="Times-Roman"/>
              </a:rPr>
              <a:t> </a:t>
            </a:r>
            <a:r>
              <a:rPr lang="en-US" sz="2400" b="0" i="0" u="none" strike="noStrike" baseline="0" dirty="0">
                <a:latin typeface="Times-Roman"/>
              </a:rPr>
              <a:t>once for each workpiece. </a:t>
            </a:r>
          </a:p>
          <a:p>
            <a:pPr marL="285750" indent="-285750" algn="just">
              <a:buFont typeface="Arial" panose="020B0604020202020204" pitchFamily="34" charset="0"/>
              <a:buChar char="•"/>
            </a:pPr>
            <a:r>
              <a:rPr lang="en-US" sz="2400" b="0" i="0" u="none" strike="noStrike" baseline="0" dirty="0">
                <a:latin typeface="Times-Roman"/>
              </a:rPr>
              <a:t>It is advanced through the tape reader one instruction at a time. </a:t>
            </a:r>
          </a:p>
          <a:p>
            <a:pPr marL="285750" indent="-285750" algn="just">
              <a:buFont typeface="Arial" panose="020B0604020202020204" pitchFamily="34" charset="0"/>
              <a:buChar char="•"/>
            </a:pPr>
            <a:r>
              <a:rPr lang="en-US" sz="2400" b="0" i="0" u="none" strike="noStrike" baseline="0" dirty="0">
                <a:latin typeface="Times-Roman"/>
              </a:rPr>
              <a:t>While the machine tool is performing one instruction, the next instruction is being read into the controller unit's data buffer. </a:t>
            </a:r>
          </a:p>
          <a:p>
            <a:pPr marL="285750" indent="-285750" algn="just">
              <a:buFont typeface="Arial" panose="020B0604020202020204" pitchFamily="34" charset="0"/>
              <a:buChar char="•"/>
            </a:pPr>
            <a:r>
              <a:rPr lang="en-US" sz="2400" b="0" i="0" u="none" strike="noStrike" baseline="0" dirty="0">
                <a:latin typeface="Times-Roman"/>
              </a:rPr>
              <a:t>This makes the operation of the NC system more efficient. </a:t>
            </a:r>
          </a:p>
          <a:p>
            <a:endParaRPr lang="en-IN" dirty="0"/>
          </a:p>
        </p:txBody>
      </p:sp>
    </p:spTree>
    <p:extLst>
      <p:ext uri="{BB962C8B-B14F-4D97-AF65-F5344CB8AC3E}">
        <p14:creationId xmlns:p14="http://schemas.microsoft.com/office/powerpoint/2010/main" val="479479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1EFC4-5476-1DA1-A401-5639E17DF96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125CA03-0C9D-9C6B-79DD-CB95B58D120C}"/>
              </a:ext>
            </a:extLst>
          </p:cNvPr>
          <p:cNvSpPr>
            <a:spLocks noGrp="1"/>
          </p:cNvSpPr>
          <p:nvPr>
            <p:ph idx="1"/>
          </p:nvPr>
        </p:nvSpPr>
        <p:spPr/>
        <p:txBody>
          <a:bodyPr/>
          <a:lstStyle/>
          <a:p>
            <a:endParaRPr lang="en-IN" dirty="0"/>
          </a:p>
        </p:txBody>
      </p:sp>
      <p:pic>
        <p:nvPicPr>
          <p:cNvPr id="3074" name="Picture 2" descr="Definition of paper tape | PCMag">
            <a:extLst>
              <a:ext uri="{FF2B5EF4-FFF2-40B4-BE49-F238E27FC236}">
                <a16:creationId xmlns:a16="http://schemas.microsoft.com/office/drawing/2014/main" id="{2CC191D9-6486-7275-5238-8927F4344D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588" y="209337"/>
            <a:ext cx="5729997" cy="260075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istory (1846): Punched Tape - StorageNewsletter">
            <a:extLst>
              <a:ext uri="{FF2B5EF4-FFF2-40B4-BE49-F238E27FC236}">
                <a16:creationId xmlns:a16="http://schemas.microsoft.com/office/drawing/2014/main" id="{A1C8B982-9B42-5B20-7654-84CA331B21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1823" y="3191939"/>
            <a:ext cx="5343525" cy="335280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Binary Bracelets | Discovery Place Nature">
            <a:extLst>
              <a:ext uri="{FF2B5EF4-FFF2-40B4-BE49-F238E27FC236}">
                <a16:creationId xmlns:a16="http://schemas.microsoft.com/office/drawing/2014/main" id="{AE9154B1-FB23-9D67-CC1D-768AC5B110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23125" y="0"/>
            <a:ext cx="496887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25885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A69E1-6B15-DE32-41D0-BB260154FE57}"/>
              </a:ext>
            </a:extLst>
          </p:cNvPr>
          <p:cNvSpPr>
            <a:spLocks noGrp="1"/>
          </p:cNvSpPr>
          <p:nvPr>
            <p:ph type="title"/>
          </p:nvPr>
        </p:nvSpPr>
        <p:spPr>
          <a:xfrm>
            <a:off x="838200" y="-276900"/>
            <a:ext cx="10515600" cy="1325563"/>
          </a:xfrm>
        </p:spPr>
        <p:txBody>
          <a:bodyPr>
            <a:normAutofit/>
          </a:bodyPr>
          <a:lstStyle/>
          <a:p>
            <a:pPr algn="ctr"/>
            <a:r>
              <a:rPr lang="en-US" sz="3600" dirty="0">
                <a:latin typeface="Times New Roman" panose="02020603050405020304" pitchFamily="18" charset="0"/>
                <a:cs typeface="Times New Roman" panose="02020603050405020304" pitchFamily="18" charset="0"/>
              </a:rPr>
              <a:t>2. </a:t>
            </a:r>
            <a:r>
              <a:rPr lang="en-IN" sz="3600" b="0" i="0" u="none" strike="noStrike" baseline="0" dirty="0">
                <a:latin typeface="Times New Roman" panose="02020603050405020304" pitchFamily="18" charset="0"/>
                <a:cs typeface="Times New Roman" panose="02020603050405020304" pitchFamily="18" charset="0"/>
              </a:rPr>
              <a:t>Controller unit</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769EADD-ED75-811B-58FF-16A90D6CC1E7}"/>
              </a:ext>
            </a:extLst>
          </p:cNvPr>
          <p:cNvSpPr>
            <a:spLocks noGrp="1"/>
          </p:cNvSpPr>
          <p:nvPr>
            <p:ph idx="1"/>
          </p:nvPr>
        </p:nvSpPr>
        <p:spPr>
          <a:xfrm>
            <a:off x="194553" y="961114"/>
            <a:ext cx="11585643" cy="7433857"/>
          </a:xfrm>
        </p:spPr>
        <p:txBody>
          <a:bodyPr>
            <a:normAutofit/>
          </a:bodyPr>
          <a:lstStyle/>
          <a:p>
            <a:pPr algn="just"/>
            <a:r>
              <a:rPr lang="en-US" sz="2600" b="0" i="0" u="none" strike="noStrike" baseline="0" dirty="0">
                <a:latin typeface="Times New Roman" panose="02020603050405020304" pitchFamily="18" charset="0"/>
                <a:cs typeface="Times New Roman" panose="02020603050405020304" pitchFamily="18" charset="0"/>
              </a:rPr>
              <a:t>The second basic component of the NC system is the controller unit. </a:t>
            </a:r>
          </a:p>
          <a:p>
            <a:pPr algn="just"/>
            <a:r>
              <a:rPr lang="en-US" sz="2600" b="0" i="0" u="none" strike="noStrike" baseline="0" dirty="0">
                <a:latin typeface="Times New Roman" panose="02020603050405020304" pitchFamily="18" charset="0"/>
                <a:cs typeface="Times New Roman" panose="02020603050405020304" pitchFamily="18" charset="0"/>
              </a:rPr>
              <a:t>This consists of the electronics and hardware that read and interpret the program of instructions and convert it into mechanical actions of the machine tool. </a:t>
            </a:r>
          </a:p>
          <a:p>
            <a:pPr algn="just"/>
            <a:r>
              <a:rPr lang="en-US" sz="2600" b="0" i="0" u="none" strike="noStrike" baseline="0" dirty="0">
                <a:latin typeface="Times New Roman" panose="02020603050405020304" pitchFamily="18" charset="0"/>
                <a:cs typeface="Times New Roman" panose="02020603050405020304" pitchFamily="18" charset="0"/>
              </a:rPr>
              <a:t>The typical elements of a conventional NC controller unit include </a:t>
            </a:r>
          </a:p>
          <a:p>
            <a:pPr lvl="2" algn="just"/>
            <a:r>
              <a:rPr lang="en-US" sz="2400" dirty="0">
                <a:latin typeface="Times New Roman" panose="02020603050405020304" pitchFamily="18" charset="0"/>
                <a:cs typeface="Times New Roman" panose="02020603050405020304" pitchFamily="18" charset="0"/>
              </a:rPr>
              <a:t>T</a:t>
            </a:r>
            <a:r>
              <a:rPr lang="en-US" sz="2400" b="0" i="0" u="none" strike="noStrike" baseline="0" dirty="0">
                <a:latin typeface="Times New Roman" panose="02020603050405020304" pitchFamily="18" charset="0"/>
                <a:cs typeface="Times New Roman" panose="02020603050405020304" pitchFamily="18" charset="0"/>
              </a:rPr>
              <a:t>he tape reader</a:t>
            </a:r>
          </a:p>
          <a:p>
            <a:pPr lvl="2" algn="just"/>
            <a:r>
              <a:rPr lang="en-US" sz="2400" b="0" i="0" u="none" strike="noStrike" baseline="0" dirty="0">
                <a:latin typeface="Times New Roman" panose="02020603050405020304" pitchFamily="18" charset="0"/>
                <a:cs typeface="Times New Roman" panose="02020603050405020304" pitchFamily="18" charset="0"/>
              </a:rPr>
              <a:t>a data buffer</a:t>
            </a:r>
          </a:p>
          <a:p>
            <a:pPr lvl="2" algn="just"/>
            <a:r>
              <a:rPr lang="en-US" sz="2400" dirty="0">
                <a:latin typeface="Times New Roman" panose="02020603050405020304" pitchFamily="18" charset="0"/>
                <a:cs typeface="Times New Roman" panose="02020603050405020304" pitchFamily="18" charset="0"/>
              </a:rPr>
              <a:t>S</a:t>
            </a:r>
            <a:r>
              <a:rPr lang="en-US" sz="2400" b="0" i="0" u="none" strike="noStrike" baseline="0" dirty="0">
                <a:latin typeface="Times New Roman" panose="02020603050405020304" pitchFamily="18" charset="0"/>
                <a:cs typeface="Times New Roman" panose="02020603050405020304" pitchFamily="18" charset="0"/>
              </a:rPr>
              <a:t>ignal output channels to the machine tool</a:t>
            </a:r>
          </a:p>
          <a:p>
            <a:pPr lvl="2" algn="just"/>
            <a:r>
              <a:rPr lang="en-US" sz="2400" dirty="0">
                <a:latin typeface="Times New Roman" panose="02020603050405020304" pitchFamily="18" charset="0"/>
                <a:cs typeface="Times New Roman" panose="02020603050405020304" pitchFamily="18" charset="0"/>
              </a:rPr>
              <a:t>F</a:t>
            </a:r>
            <a:r>
              <a:rPr lang="en-US" sz="2400" b="0" i="0" u="none" strike="noStrike" baseline="0" dirty="0">
                <a:latin typeface="Times New Roman" panose="02020603050405020304" pitchFamily="18" charset="0"/>
                <a:cs typeface="Times New Roman" panose="02020603050405020304" pitchFamily="18" charset="0"/>
              </a:rPr>
              <a:t>eedback channels from the machine tool</a:t>
            </a:r>
          </a:p>
          <a:p>
            <a:pPr lvl="2" algn="just"/>
            <a:r>
              <a:rPr lang="en-US" sz="2400" dirty="0">
                <a:latin typeface="Times New Roman" panose="02020603050405020304" pitchFamily="18" charset="0"/>
                <a:cs typeface="Times New Roman" panose="02020603050405020304" pitchFamily="18" charset="0"/>
              </a:rPr>
              <a:t>T</a:t>
            </a:r>
            <a:r>
              <a:rPr lang="en-US" sz="2400" b="0" i="0" u="none" strike="noStrike" baseline="0" dirty="0">
                <a:latin typeface="Times New Roman" panose="02020603050405020304" pitchFamily="18" charset="0"/>
                <a:cs typeface="Times New Roman" panose="02020603050405020304" pitchFamily="18" charset="0"/>
              </a:rPr>
              <a:t>he sequence controls to coordinate the overall operation of the foregoing elements.</a:t>
            </a:r>
          </a:p>
        </p:txBody>
      </p:sp>
    </p:spTree>
    <p:extLst>
      <p:ext uri="{BB962C8B-B14F-4D97-AF65-F5344CB8AC3E}">
        <p14:creationId xmlns:p14="http://schemas.microsoft.com/office/powerpoint/2010/main" val="7435997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3276A7-2430-4CD0-6D35-79CF2024BBEC}"/>
              </a:ext>
            </a:extLst>
          </p:cNvPr>
          <p:cNvSpPr>
            <a:spLocks noGrp="1"/>
          </p:cNvSpPr>
          <p:nvPr>
            <p:ph idx="1"/>
          </p:nvPr>
        </p:nvSpPr>
        <p:spPr>
          <a:xfrm>
            <a:off x="126460" y="515566"/>
            <a:ext cx="11858017" cy="6527260"/>
          </a:xfrm>
        </p:spPr>
        <p:txBody>
          <a:bodyPr>
            <a:normAutofit fontScale="55000" lnSpcReduction="20000"/>
          </a:bodyPr>
          <a:lstStyle/>
          <a:p>
            <a:pPr algn="just"/>
            <a:r>
              <a:rPr lang="en-US" sz="4200" b="0" i="0" u="sng" strike="noStrike" baseline="0" dirty="0">
                <a:solidFill>
                  <a:srgbClr val="FF0000"/>
                </a:solidFill>
                <a:latin typeface="Times New Roman" panose="02020603050405020304" pitchFamily="18" charset="0"/>
                <a:cs typeface="Times New Roman" panose="02020603050405020304" pitchFamily="18" charset="0"/>
              </a:rPr>
              <a:t>The tape reader </a:t>
            </a:r>
            <a:r>
              <a:rPr lang="en-US" sz="4200" b="0" i="0" u="none" strike="noStrike" baseline="0" dirty="0">
                <a:latin typeface="Times New Roman" panose="02020603050405020304" pitchFamily="18" charset="0"/>
                <a:cs typeface="Times New Roman" panose="02020603050405020304" pitchFamily="18" charset="0"/>
              </a:rPr>
              <a:t>is an electromechanical device for winding and reading the punched tape containing the program of instructions. </a:t>
            </a:r>
          </a:p>
          <a:p>
            <a:pPr algn="just"/>
            <a:r>
              <a:rPr lang="en-US" sz="4200" b="0" i="0" u="none" strike="noStrike" baseline="0" dirty="0">
                <a:latin typeface="Times New Roman" panose="02020603050405020304" pitchFamily="18" charset="0"/>
                <a:cs typeface="Times New Roman" panose="02020603050405020304" pitchFamily="18" charset="0"/>
              </a:rPr>
              <a:t>The data contained on the tape are read into the </a:t>
            </a:r>
            <a:r>
              <a:rPr lang="en-US" sz="4200" b="0" i="0" u="sng" strike="noStrike" baseline="0" dirty="0">
                <a:solidFill>
                  <a:srgbClr val="FF0000"/>
                </a:solidFill>
                <a:latin typeface="Times New Roman" panose="02020603050405020304" pitchFamily="18" charset="0"/>
                <a:cs typeface="Times New Roman" panose="02020603050405020304" pitchFamily="18" charset="0"/>
              </a:rPr>
              <a:t>data buffer</a:t>
            </a:r>
          </a:p>
          <a:p>
            <a:pPr algn="just"/>
            <a:r>
              <a:rPr lang="en-US" sz="4200" b="0" i="0" u="none" strike="noStrike" baseline="0" dirty="0">
                <a:latin typeface="Times New Roman" panose="02020603050405020304" pitchFamily="18" charset="0"/>
                <a:cs typeface="Times New Roman" panose="02020603050405020304" pitchFamily="18" charset="0"/>
              </a:rPr>
              <a:t>The purpose of this device is to store the input instructions in logical blocks of information. </a:t>
            </a:r>
          </a:p>
          <a:p>
            <a:pPr algn="just"/>
            <a:r>
              <a:rPr lang="en-US" sz="4200" b="0" i="0" u="none" strike="noStrike" baseline="0" dirty="0">
                <a:latin typeface="Times New Roman" panose="02020603050405020304" pitchFamily="18" charset="0"/>
                <a:cs typeface="Times New Roman" panose="02020603050405020304" pitchFamily="18" charset="0"/>
              </a:rPr>
              <a:t>A block of information usually represents one complete step in the sequence of processing elements.</a:t>
            </a:r>
          </a:p>
          <a:p>
            <a:pPr lvl="1" algn="just"/>
            <a:r>
              <a:rPr lang="en-US" sz="3800" b="0" i="0" u="none" strike="noStrike" baseline="0" dirty="0">
                <a:latin typeface="Times New Roman" panose="02020603050405020304" pitchFamily="18" charset="0"/>
                <a:cs typeface="Times New Roman" panose="02020603050405020304" pitchFamily="18" charset="0"/>
              </a:rPr>
              <a:t> For example, one block may be the data required to move the machine table to a certain position and drill a hole at that location.</a:t>
            </a:r>
          </a:p>
          <a:p>
            <a:pPr algn="just"/>
            <a:r>
              <a:rPr lang="en-US" sz="4200" b="0" i="0" u="sng" strike="noStrike" baseline="0" dirty="0">
                <a:solidFill>
                  <a:srgbClr val="FF0000"/>
                </a:solidFill>
                <a:latin typeface="Times New Roman" panose="02020603050405020304" pitchFamily="18" charset="0"/>
                <a:cs typeface="Times New Roman" panose="02020603050405020304" pitchFamily="18" charset="0"/>
              </a:rPr>
              <a:t>The signal output channels</a:t>
            </a:r>
            <a:r>
              <a:rPr lang="en-US" sz="4200" b="0" i="0" u="none" strike="noStrike" baseline="0" dirty="0">
                <a:latin typeface="Times New Roman" panose="02020603050405020304" pitchFamily="18" charset="0"/>
                <a:cs typeface="Times New Roman" panose="02020603050405020304" pitchFamily="18" charset="0"/>
              </a:rPr>
              <a:t> are connected to the servomotors and other controls in the machine tool. </a:t>
            </a:r>
          </a:p>
          <a:p>
            <a:pPr algn="just"/>
            <a:r>
              <a:rPr lang="en-US" sz="4200" b="0" i="0" u="none" strike="noStrike" baseline="0" dirty="0">
                <a:latin typeface="Times New Roman" panose="02020603050405020304" pitchFamily="18" charset="0"/>
                <a:cs typeface="Times New Roman" panose="02020603050405020304" pitchFamily="18" charset="0"/>
              </a:rPr>
              <a:t>Through these channels, the instructions are </a:t>
            </a:r>
            <a:r>
              <a:rPr lang="en-US" sz="4200" b="0" i="1" u="none" strike="noStrike" baseline="0" dirty="0">
                <a:latin typeface="Times New Roman" panose="02020603050405020304" pitchFamily="18" charset="0"/>
                <a:cs typeface="Times New Roman" panose="02020603050405020304" pitchFamily="18" charset="0"/>
              </a:rPr>
              <a:t>sent to the machine tool from the controller unit</a:t>
            </a:r>
            <a:r>
              <a:rPr lang="en-US" sz="4200" b="0" i="0" u="none" strike="noStrike" baseline="0" dirty="0">
                <a:latin typeface="Times New Roman" panose="02020603050405020304" pitchFamily="18" charset="0"/>
                <a:cs typeface="Times New Roman" panose="02020603050405020304" pitchFamily="18" charset="0"/>
              </a:rPr>
              <a:t> </a:t>
            </a:r>
          </a:p>
          <a:p>
            <a:pPr algn="just"/>
            <a:r>
              <a:rPr lang="en-US" sz="4200" b="0" i="0" u="none" strike="noStrike" baseline="0" dirty="0">
                <a:latin typeface="Times New Roman" panose="02020603050405020304" pitchFamily="18" charset="0"/>
                <a:cs typeface="Times New Roman" panose="02020603050405020304" pitchFamily="18" charset="0"/>
              </a:rPr>
              <a:t>To make certain that the instructions have been properly executed by the machine, feedback data are sent back to the controller via the </a:t>
            </a:r>
            <a:r>
              <a:rPr lang="en-US" sz="4200" b="0" i="0" u="sng" strike="noStrike" baseline="0" dirty="0">
                <a:solidFill>
                  <a:srgbClr val="FF0000"/>
                </a:solidFill>
                <a:latin typeface="Times New Roman" panose="02020603050405020304" pitchFamily="18" charset="0"/>
                <a:cs typeface="Times New Roman" panose="02020603050405020304" pitchFamily="18" charset="0"/>
              </a:rPr>
              <a:t>feedback channels</a:t>
            </a:r>
            <a:r>
              <a:rPr lang="en-US" sz="4200" b="0" i="0" u="none" strike="noStrike" baseline="0" dirty="0">
                <a:latin typeface="Times New Roman" panose="02020603050405020304" pitchFamily="18" charset="0"/>
                <a:cs typeface="Times New Roman" panose="02020603050405020304" pitchFamily="18" charset="0"/>
              </a:rPr>
              <a:t>. </a:t>
            </a:r>
          </a:p>
          <a:p>
            <a:pPr algn="just"/>
            <a:r>
              <a:rPr lang="en-US" sz="4200" b="0" i="0" u="none" strike="noStrike" baseline="0" dirty="0">
                <a:latin typeface="Times New Roman" panose="02020603050405020304" pitchFamily="18" charset="0"/>
                <a:cs typeface="Times New Roman" panose="02020603050405020304" pitchFamily="18" charset="0"/>
              </a:rPr>
              <a:t>The most important function of this return loop is to assure that the table and work-part have been properly located with respect to the </a:t>
            </a:r>
            <a:r>
              <a:rPr lang="en-IN" sz="4200" b="0" i="0" u="none" strike="noStrike" baseline="0" dirty="0">
                <a:latin typeface="Times New Roman" panose="02020603050405020304" pitchFamily="18" charset="0"/>
                <a:cs typeface="Times New Roman" panose="02020603050405020304" pitchFamily="18" charset="0"/>
              </a:rPr>
              <a:t>tool.</a:t>
            </a:r>
          </a:p>
          <a:p>
            <a:pPr algn="just"/>
            <a:r>
              <a:rPr lang="en-US" sz="4200" b="0" i="0" u="sng" strike="noStrike" baseline="0" dirty="0">
                <a:solidFill>
                  <a:srgbClr val="FF0000"/>
                </a:solidFill>
                <a:latin typeface="Times New Roman" panose="02020603050405020304" pitchFamily="18" charset="0"/>
                <a:cs typeface="Times New Roman" panose="02020603050405020304" pitchFamily="18" charset="0"/>
              </a:rPr>
              <a:t>Sequence controls</a:t>
            </a:r>
            <a:r>
              <a:rPr lang="en-US" sz="4200" b="0" i="0" u="none" strike="noStrike" baseline="0" dirty="0">
                <a:latin typeface="Times New Roman" panose="02020603050405020304" pitchFamily="18" charset="0"/>
                <a:cs typeface="Times New Roman" panose="02020603050405020304" pitchFamily="18" charset="0"/>
              </a:rPr>
              <a:t> coordinate the activities of the other elements of the controller unit. </a:t>
            </a:r>
          </a:p>
          <a:p>
            <a:pPr algn="just"/>
            <a:r>
              <a:rPr lang="en-US" sz="4200" b="0" i="0" u="none" strike="noStrike" baseline="0" dirty="0">
                <a:latin typeface="Times New Roman" panose="02020603050405020304" pitchFamily="18" charset="0"/>
                <a:cs typeface="Times New Roman" panose="02020603050405020304" pitchFamily="18" charset="0"/>
              </a:rPr>
              <a:t>The tape reader is actuated to read data into the buffer from the tape, signals are sent to and from the machine tool, and so on. - These types of operations must be synchronized and this is the function of the sequence controls.</a:t>
            </a:r>
            <a:endParaRPr lang="en-IN" sz="4200"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8220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BAC46-6434-EACA-352B-EBE5471993BC}"/>
              </a:ext>
            </a:extLst>
          </p:cNvPr>
          <p:cNvSpPr>
            <a:spLocks noGrp="1"/>
          </p:cNvSpPr>
          <p:nvPr>
            <p:ph type="title"/>
          </p:nvPr>
        </p:nvSpPr>
        <p:spPr>
          <a:xfrm>
            <a:off x="838200" y="-247717"/>
            <a:ext cx="10515600" cy="1325563"/>
          </a:xfrm>
        </p:spPr>
        <p:txBody>
          <a:bodyPr>
            <a:normAutofit/>
          </a:bodyPr>
          <a:lstStyle/>
          <a:p>
            <a:pPr algn="ctr"/>
            <a:r>
              <a:rPr lang="en-US" sz="3000" dirty="0">
                <a:latin typeface="Times New Roman" panose="02020603050405020304" pitchFamily="18" charset="0"/>
                <a:cs typeface="Times New Roman" panose="02020603050405020304" pitchFamily="18" charset="0"/>
              </a:rPr>
              <a:t>3. </a:t>
            </a:r>
            <a:r>
              <a:rPr lang="en-IN" sz="3000" b="0" i="0" u="none" strike="noStrike" baseline="0" dirty="0">
                <a:latin typeface="Times New Roman" panose="02020603050405020304" pitchFamily="18" charset="0"/>
                <a:cs typeface="Times New Roman" panose="02020603050405020304" pitchFamily="18" charset="0"/>
              </a:rPr>
              <a:t>Machine tool</a:t>
            </a:r>
            <a:endParaRPr lang="en-IN" sz="3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4F0694C-F604-CEE8-FDC9-3E8B4984BD70}"/>
              </a:ext>
            </a:extLst>
          </p:cNvPr>
          <p:cNvSpPr>
            <a:spLocks noGrp="1"/>
          </p:cNvSpPr>
          <p:nvPr>
            <p:ph idx="1"/>
          </p:nvPr>
        </p:nvSpPr>
        <p:spPr>
          <a:xfrm>
            <a:off x="330739" y="1077846"/>
            <a:ext cx="11585643" cy="4351338"/>
          </a:xfrm>
        </p:spPr>
        <p:txBody>
          <a:bodyPr>
            <a:normAutofit/>
          </a:bodyPr>
          <a:lstStyle/>
          <a:p>
            <a:pPr algn="just"/>
            <a:r>
              <a:rPr lang="en-US" sz="2600" b="0" i="0" u="none" strike="noStrike" baseline="0" dirty="0">
                <a:latin typeface="Times New Roman" panose="02020603050405020304" pitchFamily="18" charset="0"/>
                <a:cs typeface="Times New Roman" panose="02020603050405020304" pitchFamily="18" charset="0"/>
              </a:rPr>
              <a:t>The third basic component of an NC system is the machine tool or other controlled process. </a:t>
            </a:r>
          </a:p>
          <a:p>
            <a:pPr algn="just"/>
            <a:r>
              <a:rPr lang="en-US" sz="2600" b="0" i="0" u="none" strike="noStrike" baseline="0" dirty="0">
                <a:latin typeface="Times New Roman" panose="02020603050405020304" pitchFamily="18" charset="0"/>
                <a:cs typeface="Times New Roman" panose="02020603050405020304" pitchFamily="18" charset="0"/>
              </a:rPr>
              <a:t>It </a:t>
            </a:r>
            <a:r>
              <a:rPr lang="en-US" sz="2600" dirty="0">
                <a:latin typeface="Times New Roman" panose="02020603050405020304" pitchFamily="18" charset="0"/>
                <a:cs typeface="Times New Roman" panose="02020603050405020304" pitchFamily="18" charset="0"/>
              </a:rPr>
              <a:t>is </a:t>
            </a:r>
            <a:r>
              <a:rPr lang="en-US" sz="2600" b="0" i="0" u="none" strike="noStrike" baseline="0" dirty="0">
                <a:latin typeface="Times New Roman" panose="02020603050405020304" pitchFamily="18" charset="0"/>
                <a:cs typeface="Times New Roman" panose="02020603050405020304" pitchFamily="18" charset="0"/>
              </a:rPr>
              <a:t>capable of performing a variety of different operations: drilling, tapping, reaming, milling, and boring</a:t>
            </a:r>
          </a:p>
          <a:p>
            <a:pPr algn="just"/>
            <a:r>
              <a:rPr lang="en-IN" sz="2600" b="0" i="0" u="none" strike="noStrike" baseline="0" dirty="0">
                <a:latin typeface="Times New Roman" panose="02020603050405020304" pitchFamily="18" charset="0"/>
                <a:cs typeface="Times New Roman" panose="02020603050405020304" pitchFamily="18" charset="0"/>
              </a:rPr>
              <a:t>A variety of machining </a:t>
            </a:r>
            <a:r>
              <a:rPr lang="en-US" sz="2600" b="0" i="0" u="none" strike="noStrike" baseline="0" dirty="0">
                <a:latin typeface="Times New Roman" panose="02020603050405020304" pitchFamily="18" charset="0"/>
                <a:cs typeface="Times New Roman" panose="02020603050405020304" pitchFamily="18" charset="0"/>
              </a:rPr>
              <a:t>operations means that a variety of cutting tools are required.</a:t>
            </a:r>
          </a:p>
          <a:p>
            <a:pPr algn="just"/>
            <a:r>
              <a:rPr lang="en-US" sz="2600" b="0" i="0" u="none" strike="noStrike" baseline="0" dirty="0">
                <a:latin typeface="Times New Roman" panose="02020603050405020304" pitchFamily="18" charset="0"/>
                <a:cs typeface="Times New Roman" panose="02020603050405020304" pitchFamily="18" charset="0"/>
              </a:rPr>
              <a:t> The tools are kept in a tool drum or other holding device. When the tape calls a particular tool, the drum rotates to position the tool for insertion into the spindle.</a:t>
            </a:r>
          </a:p>
          <a:p>
            <a:pPr algn="just"/>
            <a:r>
              <a:rPr lang="en-US" sz="2600" b="0" i="0" u="none" strike="noStrike" baseline="0" dirty="0">
                <a:latin typeface="Times New Roman" panose="02020603050405020304" pitchFamily="18" charset="0"/>
                <a:cs typeface="Times New Roman" panose="02020603050405020304" pitchFamily="18" charset="0"/>
              </a:rPr>
              <a:t>The automatic tool changer then grasps the tool and places it into the spindle chuck.</a:t>
            </a: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16384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0D906-54DF-049A-A47E-0187CBE5ABE0}"/>
              </a:ext>
            </a:extLst>
          </p:cNvPr>
          <p:cNvSpPr>
            <a:spLocks noGrp="1"/>
          </p:cNvSpPr>
          <p:nvPr>
            <p:ph type="title"/>
          </p:nvPr>
        </p:nvSpPr>
        <p:spPr>
          <a:xfrm>
            <a:off x="838200" y="-315811"/>
            <a:ext cx="10515600" cy="1325563"/>
          </a:xfrm>
        </p:spPr>
        <p:txBody>
          <a:bodyPr>
            <a:normAutofit/>
          </a:bodyPr>
          <a:lstStyle/>
          <a:p>
            <a:pPr algn="ctr"/>
            <a:r>
              <a:rPr lang="en-IN" sz="3000" i="0" u="none" strike="noStrike" baseline="0" dirty="0">
                <a:latin typeface="Times New Roman" panose="02020603050405020304" pitchFamily="18" charset="0"/>
                <a:cs typeface="Times New Roman" panose="02020603050405020304" pitchFamily="18" charset="0"/>
              </a:rPr>
              <a:t>NC Procedure</a:t>
            </a:r>
            <a:endParaRPr lang="en-IN" sz="3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5997973-EF6D-8C4F-AA8A-9BB1524C7CF9}"/>
              </a:ext>
            </a:extLst>
          </p:cNvPr>
          <p:cNvSpPr>
            <a:spLocks noGrp="1"/>
          </p:cNvSpPr>
          <p:nvPr>
            <p:ph idx="1"/>
          </p:nvPr>
        </p:nvSpPr>
        <p:spPr>
          <a:xfrm>
            <a:off x="328308" y="651753"/>
            <a:ext cx="11535384" cy="5739318"/>
          </a:xfrm>
        </p:spPr>
        <p:txBody>
          <a:bodyPr>
            <a:noAutofit/>
          </a:bodyPr>
          <a:lstStyle/>
          <a:p>
            <a:pPr marL="0" indent="0" algn="just">
              <a:buNone/>
            </a:pPr>
            <a:r>
              <a:rPr lang="en-US" sz="2400" b="0" i="0" u="none" strike="noStrike" baseline="0" dirty="0">
                <a:latin typeface="Times New Roman" panose="02020603050405020304" pitchFamily="18" charset="0"/>
                <a:cs typeface="Times New Roman" panose="02020603050405020304" pitchFamily="18" charset="0"/>
              </a:rPr>
              <a:t>To utilize numerical control in manufacturing, the following steps must be accomplished.</a:t>
            </a:r>
          </a:p>
          <a:p>
            <a:pPr marL="342900" indent="-342900" algn="just">
              <a:buAutoNum type="arabicPeriod"/>
            </a:pPr>
            <a:r>
              <a:rPr lang="en-US" sz="2400" b="0" i="1" u="none" strike="noStrike" baseline="0" dirty="0">
                <a:latin typeface="Times New Roman" panose="02020603050405020304" pitchFamily="18" charset="0"/>
                <a:cs typeface="Times New Roman" panose="02020603050405020304" pitchFamily="18" charset="0"/>
              </a:rPr>
              <a:t>Process planning. </a:t>
            </a:r>
          </a:p>
          <a:p>
            <a:pPr lvl="2" algn="just"/>
            <a:r>
              <a:rPr lang="en-US" b="0" i="0" u="none" strike="noStrike" baseline="0" dirty="0">
                <a:latin typeface="Times New Roman" panose="02020603050405020304" pitchFamily="18" charset="0"/>
                <a:cs typeface="Times New Roman" panose="02020603050405020304" pitchFamily="18" charset="0"/>
              </a:rPr>
              <a:t>The engineering drawing of the work-part must be interpreted in terms of the manufacturing processes to be used. </a:t>
            </a:r>
          </a:p>
          <a:p>
            <a:pPr lvl="2" algn="just"/>
            <a:r>
              <a:rPr lang="en-US" b="0" i="0" u="none" strike="noStrike" baseline="0" dirty="0">
                <a:latin typeface="Times New Roman" panose="02020603050405020304" pitchFamily="18" charset="0"/>
                <a:cs typeface="Times New Roman" panose="02020603050405020304" pitchFamily="18" charset="0"/>
              </a:rPr>
              <a:t>This step is referred to as process planning and it is concerned with the preparation of a </a:t>
            </a:r>
            <a:r>
              <a:rPr lang="en-US" b="0" i="0" u="none" strike="noStrike" baseline="0" dirty="0">
                <a:solidFill>
                  <a:srgbClr val="FF0000"/>
                </a:solidFill>
                <a:latin typeface="Times New Roman" panose="02020603050405020304" pitchFamily="18" charset="0"/>
                <a:cs typeface="Times New Roman" panose="02020603050405020304" pitchFamily="18" charset="0"/>
              </a:rPr>
              <a:t>route sheet</a:t>
            </a:r>
            <a:r>
              <a:rPr lang="en-US" b="0" i="0" u="none" strike="noStrike" baseline="0" dirty="0">
                <a:latin typeface="Times New Roman" panose="02020603050405020304" pitchFamily="18" charset="0"/>
                <a:cs typeface="Times New Roman" panose="02020603050405020304" pitchFamily="18" charset="0"/>
              </a:rPr>
              <a:t>. </a:t>
            </a:r>
          </a:p>
          <a:p>
            <a:pPr lvl="2" algn="just"/>
            <a:r>
              <a:rPr lang="en-US" b="0" i="0" u="none" strike="noStrike" baseline="0" dirty="0">
                <a:latin typeface="Times New Roman" panose="02020603050405020304" pitchFamily="18" charset="0"/>
                <a:cs typeface="Times New Roman" panose="02020603050405020304" pitchFamily="18" charset="0"/>
              </a:rPr>
              <a:t>The route sheet is a listing of the sequence of operations which must be performed on the work-part. </a:t>
            </a:r>
          </a:p>
          <a:p>
            <a:pPr lvl="2" algn="just"/>
            <a:r>
              <a:rPr lang="en-US" b="0" i="0" u="none" strike="noStrike" baseline="0" dirty="0">
                <a:latin typeface="Times New Roman" panose="02020603050405020304" pitchFamily="18" charset="0"/>
                <a:cs typeface="Times New Roman" panose="02020603050405020304" pitchFamily="18" charset="0"/>
              </a:rPr>
              <a:t>It is called a route sheet because it also </a:t>
            </a:r>
            <a:r>
              <a:rPr lang="en-US" b="0" i="1" u="none" strike="noStrike" baseline="0" dirty="0">
                <a:solidFill>
                  <a:srgbClr val="FF0000"/>
                </a:solidFill>
                <a:latin typeface="Times New Roman" panose="02020603050405020304" pitchFamily="18" charset="0"/>
                <a:cs typeface="Times New Roman" panose="02020603050405020304" pitchFamily="18" charset="0"/>
              </a:rPr>
              <a:t>lists the machines through which the part must be routed in order to accomplish the sequence of operations</a:t>
            </a:r>
            <a:endParaRPr lang="en-US" i="1" dirty="0">
              <a:solidFill>
                <a:srgbClr val="FF0000"/>
              </a:solidFill>
              <a:latin typeface="Times New Roman" panose="02020603050405020304" pitchFamily="18" charset="0"/>
              <a:cs typeface="Times New Roman" panose="02020603050405020304" pitchFamily="18" charset="0"/>
            </a:endParaRPr>
          </a:p>
          <a:p>
            <a:pPr marL="0" lvl="1" indent="0" algn="just">
              <a:buNone/>
            </a:pPr>
            <a:r>
              <a:rPr lang="en-IN" b="0" i="0" u="none" strike="noStrike" baseline="0" dirty="0">
                <a:latin typeface="Times New Roman" panose="02020603050405020304" pitchFamily="18" charset="0"/>
                <a:cs typeface="Times New Roman" panose="02020603050405020304" pitchFamily="18" charset="0"/>
              </a:rPr>
              <a:t>2. </a:t>
            </a:r>
            <a:r>
              <a:rPr lang="en-IN" b="0" i="1" u="none" strike="noStrike" baseline="0" dirty="0">
                <a:latin typeface="Times New Roman" panose="02020603050405020304" pitchFamily="18" charset="0"/>
                <a:cs typeface="Times New Roman" panose="02020603050405020304" pitchFamily="18" charset="0"/>
              </a:rPr>
              <a:t>Part programming</a:t>
            </a:r>
          </a:p>
          <a:p>
            <a:pPr lvl="2" algn="just"/>
            <a:r>
              <a:rPr lang="en-IN" b="0" i="0" u="none" strike="noStrike" baseline="0" dirty="0">
                <a:latin typeface="Times New Roman" panose="02020603050405020304" pitchFamily="18" charset="0"/>
                <a:cs typeface="Times New Roman" panose="02020603050405020304" pitchFamily="18" charset="0"/>
              </a:rPr>
              <a:t>Manual part programming</a:t>
            </a:r>
          </a:p>
          <a:p>
            <a:pPr lvl="2" algn="just"/>
            <a:r>
              <a:rPr lang="en-IN" b="0" i="0" u="none" strike="noStrike" baseline="0" dirty="0">
                <a:latin typeface="Times New Roman" panose="02020603050405020304" pitchFamily="18" charset="0"/>
                <a:cs typeface="Times New Roman" panose="02020603050405020304" pitchFamily="18" charset="0"/>
              </a:rPr>
              <a:t>Computer-assisted part programming</a:t>
            </a:r>
          </a:p>
          <a:p>
            <a:pPr marL="0" indent="0" algn="just">
              <a:buNone/>
            </a:pPr>
            <a:r>
              <a:rPr lang="en-US" sz="2400" b="0" i="0" u="none" strike="noStrike" baseline="0" dirty="0">
                <a:latin typeface="Times New Roman" panose="02020603050405020304" pitchFamily="18" charset="0"/>
                <a:cs typeface="Times New Roman" panose="02020603050405020304" pitchFamily="18" charset="0"/>
              </a:rPr>
              <a:t>3. </a:t>
            </a:r>
            <a:r>
              <a:rPr lang="en-US" sz="2400" b="0" i="1" u="none" strike="noStrike" baseline="0" dirty="0">
                <a:latin typeface="Times New Roman" panose="02020603050405020304" pitchFamily="18" charset="0"/>
                <a:cs typeface="Times New Roman" panose="02020603050405020304" pitchFamily="18" charset="0"/>
              </a:rPr>
              <a:t>Tape preparation. </a:t>
            </a:r>
          </a:p>
          <a:p>
            <a:pPr lvl="2" algn="just"/>
            <a:r>
              <a:rPr lang="en-US" b="0" i="0" u="none" strike="noStrike" baseline="0" dirty="0">
                <a:latin typeface="Times New Roman" panose="02020603050405020304" pitchFamily="18" charset="0"/>
                <a:cs typeface="Times New Roman" panose="02020603050405020304" pitchFamily="18" charset="0"/>
              </a:rPr>
              <a:t>A punched tape is prepared from the part programmer’s </a:t>
            </a:r>
            <a:r>
              <a:rPr lang="en-IN" b="0" i="0" u="none" strike="noStrike" baseline="0" dirty="0">
                <a:latin typeface="Times New Roman" panose="02020603050405020304" pitchFamily="18" charset="0"/>
                <a:cs typeface="Times New Roman" panose="02020603050405020304" pitchFamily="18" charset="0"/>
              </a:rPr>
              <a:t>NC process plan</a:t>
            </a:r>
          </a:p>
          <a:p>
            <a:pPr marL="0" lvl="1" indent="0" algn="just">
              <a:buNone/>
            </a:pPr>
            <a:r>
              <a:rPr lang="en-IN" b="0" i="0" u="none" strike="noStrike" baseline="0" dirty="0">
                <a:latin typeface="Times New Roman" panose="02020603050405020304" pitchFamily="18" charset="0"/>
                <a:cs typeface="Times New Roman" panose="02020603050405020304" pitchFamily="18" charset="0"/>
              </a:rPr>
              <a:t>4. </a:t>
            </a:r>
            <a:r>
              <a:rPr lang="en-IN" b="0" i="1" u="none" strike="noStrike" baseline="0" dirty="0">
                <a:latin typeface="Times New Roman" panose="02020603050405020304" pitchFamily="18" charset="0"/>
                <a:cs typeface="Times New Roman" panose="02020603050405020304" pitchFamily="18" charset="0"/>
              </a:rPr>
              <a:t>Tape verification</a:t>
            </a:r>
          </a:p>
          <a:p>
            <a:pPr marL="0" lvl="1" indent="0" algn="just">
              <a:buNone/>
            </a:pPr>
            <a:r>
              <a:rPr lang="en-IN" b="0" i="0" u="none" strike="noStrike" baseline="0" dirty="0">
                <a:latin typeface="Times New Roman" panose="02020603050405020304" pitchFamily="18" charset="0"/>
                <a:cs typeface="Times New Roman" panose="02020603050405020304" pitchFamily="18" charset="0"/>
              </a:rPr>
              <a:t>5. </a:t>
            </a:r>
            <a:r>
              <a:rPr lang="en-IN" b="0" i="1" u="none" strike="noStrike" baseline="0" dirty="0">
                <a:latin typeface="Times New Roman" panose="02020603050405020304" pitchFamily="18" charset="0"/>
                <a:cs typeface="Times New Roman" panose="02020603050405020304" pitchFamily="18" charset="0"/>
              </a:rPr>
              <a:t>Production</a:t>
            </a:r>
            <a:endParaRPr lang="en-US" b="0" i="0" u="none" strike="noStrike" baseline="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846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C947C-B13E-937E-8EC6-04F3EA179D17}"/>
              </a:ext>
            </a:extLst>
          </p:cNvPr>
          <p:cNvSpPr>
            <a:spLocks noGrp="1"/>
          </p:cNvSpPr>
          <p:nvPr>
            <p:ph type="title"/>
          </p:nvPr>
        </p:nvSpPr>
        <p:spPr>
          <a:xfrm>
            <a:off x="935476" y="18255"/>
            <a:ext cx="10515600" cy="1325563"/>
          </a:xfrm>
        </p:spPr>
        <p:txBody>
          <a:bodyPr>
            <a:normAutofit/>
          </a:bodyPr>
          <a:lstStyle/>
          <a:p>
            <a:pPr algn="ctr"/>
            <a:r>
              <a:rPr lang="en-US" sz="3200" b="0" i="0" u="none" strike="noStrike" baseline="0" dirty="0">
                <a:latin typeface="Arial" panose="020B0604020202020204" pitchFamily="34" charset="0"/>
                <a:cs typeface="Arial" panose="020B0604020202020204" pitchFamily="34" charset="0"/>
              </a:rPr>
              <a:t>Absolute positioning and incremental positioning</a:t>
            </a:r>
            <a:endParaRPr lang="en-IN" sz="6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B90BF669-A1C5-20C9-6261-9C28C0C1F466}"/>
              </a:ext>
            </a:extLst>
          </p:cNvPr>
          <p:cNvSpPr>
            <a:spLocks noGrp="1"/>
          </p:cNvSpPr>
          <p:nvPr>
            <p:ph idx="1"/>
          </p:nvPr>
        </p:nvSpPr>
        <p:spPr/>
        <p:txBody>
          <a:bodyPr/>
          <a:lstStyle/>
          <a:p>
            <a:endParaRPr lang="en-IN" dirty="0"/>
          </a:p>
        </p:txBody>
      </p:sp>
      <p:pic>
        <p:nvPicPr>
          <p:cNvPr id="4" name="Picture 3">
            <a:extLst>
              <a:ext uri="{FF2B5EF4-FFF2-40B4-BE49-F238E27FC236}">
                <a16:creationId xmlns:a16="http://schemas.microsoft.com/office/drawing/2014/main" id="{92690993-2CB8-F5FE-5692-8EDC5C6A9372}"/>
              </a:ext>
            </a:extLst>
          </p:cNvPr>
          <p:cNvPicPr>
            <a:picLocks noChangeAspect="1"/>
          </p:cNvPicPr>
          <p:nvPr/>
        </p:nvPicPr>
        <p:blipFill>
          <a:blip r:embed="rId2"/>
          <a:stretch>
            <a:fillRect/>
          </a:stretch>
        </p:blipFill>
        <p:spPr>
          <a:xfrm>
            <a:off x="3157629" y="1581539"/>
            <a:ext cx="5626448" cy="4595424"/>
          </a:xfrm>
          <a:prstGeom prst="rect">
            <a:avLst/>
          </a:prstGeom>
        </p:spPr>
      </p:pic>
    </p:spTree>
    <p:extLst>
      <p:ext uri="{BB962C8B-B14F-4D97-AF65-F5344CB8AC3E}">
        <p14:creationId xmlns:p14="http://schemas.microsoft.com/office/powerpoint/2010/main" val="1355674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34837-91CB-F0EE-1B2E-949B2031263E}"/>
              </a:ext>
            </a:extLst>
          </p:cNvPr>
          <p:cNvSpPr>
            <a:spLocks noGrp="1"/>
          </p:cNvSpPr>
          <p:nvPr>
            <p:ph type="title"/>
          </p:nvPr>
        </p:nvSpPr>
        <p:spPr>
          <a:xfrm>
            <a:off x="838200" y="-481688"/>
            <a:ext cx="10515600" cy="1325563"/>
          </a:xfrm>
        </p:spPr>
        <p:txBody>
          <a:bodyPr>
            <a:normAutofit/>
          </a:bodyPr>
          <a:lstStyle/>
          <a:p>
            <a:pPr algn="ctr"/>
            <a:r>
              <a:rPr lang="en-IN" sz="2800" i="0" u="none" strike="noStrike" baseline="0" dirty="0">
                <a:solidFill>
                  <a:srgbClr val="FF0000"/>
                </a:solidFill>
                <a:latin typeface="Times New Roman" panose="02020603050405020304" pitchFamily="18" charset="0"/>
                <a:cs typeface="Times New Roman" panose="02020603050405020304" pitchFamily="18" charset="0"/>
              </a:rPr>
              <a:t>NC MOTION CONTROL SYSTEMS</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6DBA2FA-72E6-C59E-704D-57566363DF65}"/>
              </a:ext>
            </a:extLst>
          </p:cNvPr>
          <p:cNvSpPr>
            <a:spLocks noGrp="1"/>
          </p:cNvSpPr>
          <p:nvPr>
            <p:ph idx="1"/>
          </p:nvPr>
        </p:nvSpPr>
        <p:spPr>
          <a:xfrm>
            <a:off x="0" y="278369"/>
            <a:ext cx="8385243" cy="4351338"/>
          </a:xfrm>
        </p:spPr>
        <p:txBody>
          <a:bodyPr>
            <a:noAutofit/>
          </a:bodyPr>
          <a:lstStyle/>
          <a:p>
            <a:pPr marL="0" indent="0" algn="just">
              <a:buNone/>
            </a:pPr>
            <a:r>
              <a:rPr lang="en-US" sz="2400" b="0" i="0" u="none" strike="noStrike" baseline="0" dirty="0">
                <a:latin typeface="Times New Roman" panose="02020603050405020304" pitchFamily="18" charset="0"/>
                <a:cs typeface="Times New Roman" panose="02020603050405020304" pitchFamily="18" charset="0"/>
              </a:rPr>
              <a:t>In order to accomplish the machining process, the cutting tool and workpiece must be moved relative to each other</a:t>
            </a:r>
          </a:p>
          <a:p>
            <a:pPr marL="0" indent="0" algn="just">
              <a:buNone/>
            </a:pPr>
            <a:r>
              <a:rPr lang="en-US" sz="2400" dirty="0">
                <a:latin typeface="Times New Roman" panose="02020603050405020304" pitchFamily="18" charset="0"/>
                <a:cs typeface="Times New Roman" panose="02020603050405020304" pitchFamily="18" charset="0"/>
              </a:rPr>
              <a:t>T</a:t>
            </a:r>
            <a:r>
              <a:rPr lang="en-US" sz="2400" b="0" i="0" u="none" strike="noStrike" baseline="0" dirty="0">
                <a:latin typeface="Times New Roman" panose="02020603050405020304" pitchFamily="18" charset="0"/>
                <a:cs typeface="Times New Roman" panose="02020603050405020304" pitchFamily="18" charset="0"/>
              </a:rPr>
              <a:t>here are three basic types of motion control </a:t>
            </a:r>
            <a:r>
              <a:rPr lang="en-IN" sz="2400" b="0" i="0" u="none" strike="noStrike" baseline="0" dirty="0">
                <a:latin typeface="Times New Roman" panose="02020603050405020304" pitchFamily="18" charset="0"/>
                <a:cs typeface="Times New Roman" panose="02020603050405020304" pitchFamily="18" charset="0"/>
              </a:rPr>
              <a:t>systems:</a:t>
            </a:r>
          </a:p>
          <a:p>
            <a:pPr marL="0" indent="0" algn="just">
              <a:buNone/>
            </a:pPr>
            <a:r>
              <a:rPr lang="en-IN" sz="2400" b="0" i="0" u="none" strike="noStrike" baseline="0" dirty="0">
                <a:solidFill>
                  <a:srgbClr val="FF0000"/>
                </a:solidFill>
                <a:latin typeface="Times New Roman" panose="02020603050405020304" pitchFamily="18" charset="0"/>
                <a:cs typeface="Times New Roman" panose="02020603050405020304" pitchFamily="18" charset="0"/>
              </a:rPr>
              <a:t>Point-to-point NC</a:t>
            </a:r>
            <a:r>
              <a:rPr lang="en-IN" sz="2400" dirty="0">
                <a:solidFill>
                  <a:srgbClr val="FF0000"/>
                </a:solidFill>
                <a:latin typeface="Times New Roman" panose="02020603050405020304" pitchFamily="18" charset="0"/>
                <a:cs typeface="Times New Roman" panose="02020603050405020304" pitchFamily="18" charset="0"/>
              </a:rPr>
              <a:t>: </a:t>
            </a:r>
          </a:p>
          <a:p>
            <a:pPr lvl="1" algn="just"/>
            <a:r>
              <a:rPr lang="en-IN" sz="2200" b="0" i="0" u="none" strike="noStrike" baseline="0" dirty="0">
                <a:latin typeface="Times New Roman" panose="02020603050405020304" pitchFamily="18" charset="0"/>
                <a:cs typeface="Times New Roman" panose="02020603050405020304" pitchFamily="18" charset="0"/>
              </a:rPr>
              <a:t>In PTP, the </a:t>
            </a:r>
            <a:r>
              <a:rPr lang="en-US" sz="2200" b="0" i="0" u="none" strike="noStrike" baseline="0" dirty="0">
                <a:latin typeface="Times New Roman" panose="02020603050405020304" pitchFamily="18" charset="0"/>
                <a:cs typeface="Times New Roman" panose="02020603050405020304" pitchFamily="18" charset="0"/>
              </a:rPr>
              <a:t>objective of the machine tool control system is to move the cutting tool to a predefined l</a:t>
            </a:r>
            <a:r>
              <a:rPr lang="en-IN" sz="2200" b="0" i="0" u="none" strike="noStrike" baseline="0" dirty="0" err="1">
                <a:latin typeface="Times New Roman" panose="02020603050405020304" pitchFamily="18" charset="0"/>
                <a:cs typeface="Times New Roman" panose="02020603050405020304" pitchFamily="18" charset="0"/>
              </a:rPr>
              <a:t>ocation</a:t>
            </a:r>
            <a:endParaRPr lang="en-IN" sz="2200" b="0" i="0" u="none" strike="noStrike" baseline="0" dirty="0">
              <a:latin typeface="Times New Roman" panose="02020603050405020304" pitchFamily="18" charset="0"/>
              <a:cs typeface="Times New Roman" panose="02020603050405020304" pitchFamily="18" charset="0"/>
            </a:endParaRPr>
          </a:p>
          <a:p>
            <a:pPr lvl="1" algn="just"/>
            <a:r>
              <a:rPr lang="en-US" sz="2200" b="0" i="0" u="none" strike="noStrike" baseline="0" dirty="0">
                <a:latin typeface="Times New Roman" panose="02020603050405020304" pitchFamily="18" charset="0"/>
                <a:cs typeface="Times New Roman" panose="02020603050405020304" pitchFamily="18" charset="0"/>
              </a:rPr>
              <a:t>The speed or path by which this movement is accomplished is not </a:t>
            </a:r>
            <a:r>
              <a:rPr lang="en-IN" sz="2200" dirty="0">
                <a:latin typeface="Times New Roman" panose="02020603050405020304" pitchFamily="18" charset="0"/>
                <a:cs typeface="Times New Roman" panose="02020603050405020304" pitchFamily="18" charset="0"/>
              </a:rPr>
              <a:t>i</a:t>
            </a:r>
            <a:r>
              <a:rPr lang="en-IN" sz="2200" b="0" i="0" u="none" strike="noStrike" baseline="0" dirty="0">
                <a:latin typeface="Times New Roman" panose="02020603050405020304" pitchFamily="18" charset="0"/>
                <a:cs typeface="Times New Roman" panose="02020603050405020304" pitchFamily="18" charset="0"/>
              </a:rPr>
              <a:t>mportant</a:t>
            </a:r>
            <a:endParaRPr lang="en-IN" sz="2200" dirty="0">
              <a:latin typeface="Times New Roman" panose="02020603050405020304" pitchFamily="18" charset="0"/>
              <a:cs typeface="Times New Roman" panose="02020603050405020304" pitchFamily="18" charset="0"/>
            </a:endParaRPr>
          </a:p>
          <a:p>
            <a:pPr lvl="1" algn="just"/>
            <a:r>
              <a:rPr lang="en-US" sz="2200" b="0" i="0" u="none" strike="noStrike" baseline="0" dirty="0">
                <a:latin typeface="Times New Roman" panose="02020603050405020304" pitchFamily="18" charset="0"/>
                <a:cs typeface="Times New Roman" panose="02020603050405020304" pitchFamily="18" charset="0"/>
              </a:rPr>
              <a:t>Once the tool reaches the desired location, the machining operation is performed at that position.</a:t>
            </a:r>
          </a:p>
          <a:p>
            <a:pPr lvl="1" algn="just"/>
            <a:r>
              <a:rPr lang="en-US" sz="2200" b="0" i="0" u="none" strike="noStrike" baseline="0" dirty="0">
                <a:latin typeface="Times New Roman" panose="02020603050405020304" pitchFamily="18" charset="0"/>
                <a:cs typeface="Times New Roman" panose="02020603050405020304" pitchFamily="18" charset="0"/>
              </a:rPr>
              <a:t>NC drill is a good example of PTP systems</a:t>
            </a:r>
          </a:p>
          <a:p>
            <a:pPr marL="0" indent="0" algn="just">
              <a:buNone/>
            </a:pPr>
            <a:endParaRPr lang="en-IN" sz="26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C4F47A6-B9EE-0D50-E4D6-57A4D671CA6C}"/>
              </a:ext>
            </a:extLst>
          </p:cNvPr>
          <p:cNvSpPr txBox="1"/>
          <p:nvPr/>
        </p:nvSpPr>
        <p:spPr>
          <a:xfrm>
            <a:off x="0" y="4088011"/>
            <a:ext cx="9445557" cy="2769989"/>
          </a:xfrm>
          <a:prstGeom prst="rect">
            <a:avLst/>
          </a:prstGeom>
          <a:noFill/>
        </p:spPr>
        <p:txBody>
          <a:bodyPr wrap="square" rtlCol="0">
            <a:spAutoFit/>
          </a:bodyPr>
          <a:lstStyle/>
          <a:p>
            <a:pPr marL="0" indent="0" algn="just">
              <a:buNone/>
            </a:pPr>
            <a:r>
              <a:rPr lang="en-IN" sz="2400" b="0" i="0" u="none" strike="noStrike" baseline="0" dirty="0">
                <a:solidFill>
                  <a:srgbClr val="FF0000"/>
                </a:solidFill>
                <a:latin typeface="Times New Roman" panose="02020603050405020304" pitchFamily="18" charset="0"/>
                <a:cs typeface="Times New Roman" panose="02020603050405020304" pitchFamily="18" charset="0"/>
              </a:rPr>
              <a:t>Straight-cut NC</a:t>
            </a:r>
            <a:endParaRPr lang="en-US" sz="2400" dirty="0">
              <a:solidFill>
                <a:srgbClr val="FF0000"/>
              </a:solidFill>
              <a:latin typeface="Times New Roman" panose="02020603050405020304" pitchFamily="18" charset="0"/>
              <a:cs typeface="Times New Roman" panose="02020603050405020304" pitchFamily="18" charset="0"/>
            </a:endParaRPr>
          </a:p>
          <a:p>
            <a:pPr marL="447675" lvl="1" indent="-342900" algn="just">
              <a:buFont typeface="Arial" panose="020B0604020202020204" pitchFamily="34" charset="0"/>
              <a:buChar char="•"/>
            </a:pPr>
            <a:r>
              <a:rPr lang="en-US" sz="2200" b="0" i="0" u="none" strike="noStrike" baseline="0" dirty="0">
                <a:latin typeface="Times New Roman" panose="02020603050405020304" pitchFamily="18" charset="0"/>
                <a:cs typeface="Times New Roman" panose="02020603050405020304" pitchFamily="18" charset="0"/>
              </a:rPr>
              <a:t>Straight-cut control systems are </a:t>
            </a:r>
            <a:r>
              <a:rPr lang="en-US" sz="2200" b="0" i="0" u="none" strike="noStrike" baseline="0" dirty="0">
                <a:highlight>
                  <a:srgbClr val="FFFF00"/>
                </a:highlight>
                <a:latin typeface="Times New Roman" panose="02020603050405020304" pitchFamily="18" charset="0"/>
                <a:cs typeface="Times New Roman" panose="02020603050405020304" pitchFamily="18" charset="0"/>
              </a:rPr>
              <a:t>capable of moving the cutting tool </a:t>
            </a:r>
          </a:p>
          <a:p>
            <a:pPr marL="447675" lvl="1" indent="-342900" algn="just"/>
            <a:r>
              <a:rPr lang="en-US" sz="2200" dirty="0">
                <a:highlight>
                  <a:srgbClr val="FFFF00"/>
                </a:highlight>
                <a:latin typeface="Times New Roman" panose="02020603050405020304" pitchFamily="18" charset="0"/>
                <a:cs typeface="Times New Roman" panose="02020603050405020304" pitchFamily="18" charset="0"/>
              </a:rPr>
              <a:t>     </a:t>
            </a:r>
            <a:r>
              <a:rPr lang="en-US" sz="2200" b="0" i="0" u="none" strike="noStrike" baseline="0" dirty="0">
                <a:highlight>
                  <a:srgbClr val="FFFF00"/>
                </a:highlight>
                <a:latin typeface="Times New Roman" panose="02020603050405020304" pitchFamily="18" charset="0"/>
                <a:cs typeface="Times New Roman" panose="02020603050405020304" pitchFamily="18" charset="0"/>
              </a:rPr>
              <a:t>parallel to one of the major axes</a:t>
            </a:r>
            <a:r>
              <a:rPr lang="en-US" sz="2200" b="0" i="0" u="none" strike="noStrike" baseline="0" dirty="0">
                <a:latin typeface="Times New Roman" panose="02020603050405020304" pitchFamily="18" charset="0"/>
                <a:cs typeface="Times New Roman" panose="02020603050405020304" pitchFamily="18" charset="0"/>
              </a:rPr>
              <a:t> at a controlled rate suitable for machining.</a:t>
            </a:r>
          </a:p>
          <a:p>
            <a:pPr marL="447675" lvl="1" indent="-342900" algn="just">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A</a:t>
            </a:r>
            <a:r>
              <a:rPr lang="en-IN" sz="2200" b="0" i="0" u="none" strike="noStrike" baseline="0" dirty="0">
                <a:latin typeface="Times New Roman" panose="02020603050405020304" pitchFamily="18" charset="0"/>
                <a:cs typeface="Times New Roman" panose="02020603050405020304" pitchFamily="18" charset="0"/>
              </a:rPr>
              <a:t>ppropriate for performing milling operations</a:t>
            </a:r>
          </a:p>
          <a:p>
            <a:pPr marL="447675" lvl="1" indent="-342900" algn="just">
              <a:buFont typeface="Arial" panose="020B0604020202020204" pitchFamily="34" charset="0"/>
              <a:buChar char="•"/>
            </a:pPr>
            <a:r>
              <a:rPr lang="en-US" sz="2200" b="0" i="0" u="none" strike="noStrike" baseline="0" dirty="0">
                <a:latin typeface="Times New Roman" panose="02020603050405020304" pitchFamily="18" charset="0"/>
                <a:cs typeface="Times New Roman" panose="02020603050405020304" pitchFamily="18" charset="0"/>
              </a:rPr>
              <a:t>it is </a:t>
            </a:r>
            <a:r>
              <a:rPr lang="en-US" sz="2200" b="0" i="0" u="none" strike="noStrike" baseline="0" dirty="0">
                <a:highlight>
                  <a:srgbClr val="FFFF00"/>
                </a:highlight>
                <a:latin typeface="Times New Roman" panose="02020603050405020304" pitchFamily="18" charset="0"/>
                <a:cs typeface="Times New Roman" panose="02020603050405020304" pitchFamily="18" charset="0"/>
              </a:rPr>
              <a:t>not possible to combine movements in more than a single axis direction</a:t>
            </a:r>
            <a:r>
              <a:rPr lang="en-US" sz="2200" b="0" i="0" u="none" strike="noStrike" baseline="0" dirty="0">
                <a:latin typeface="Times New Roman" panose="02020603050405020304" pitchFamily="18" charset="0"/>
                <a:cs typeface="Times New Roman" panose="02020603050405020304" pitchFamily="18" charset="0"/>
              </a:rPr>
              <a:t>. Therefore, angular cuts on the workpiece would not be possible.</a:t>
            </a:r>
          </a:p>
          <a:p>
            <a:pPr marL="447675" lvl="1" indent="-342900" algn="just">
              <a:buFont typeface="Arial" panose="020B0604020202020204" pitchFamily="34" charset="0"/>
              <a:buChar char="•"/>
            </a:pPr>
            <a:r>
              <a:rPr lang="en-US" sz="2200" b="0" i="0" u="none" strike="noStrike" baseline="0" dirty="0">
                <a:latin typeface="Times New Roman" panose="02020603050405020304" pitchFamily="18" charset="0"/>
                <a:cs typeface="Times New Roman" panose="02020603050405020304" pitchFamily="18" charset="0"/>
              </a:rPr>
              <a:t>An example of a-straight-cut operation is shown </a:t>
            </a:r>
            <a:r>
              <a:rPr lang="en-IN" sz="2200" b="0" i="0" u="none" strike="noStrike" baseline="0" dirty="0">
                <a:latin typeface="Times New Roman" panose="02020603050405020304" pitchFamily="18" charset="0"/>
                <a:cs typeface="Times New Roman" panose="02020603050405020304" pitchFamily="18" charset="0"/>
              </a:rPr>
              <a:t>in Figure</a:t>
            </a:r>
            <a:endParaRPr lang="en-US" sz="2200" b="0" i="0" u="none" strike="noStrike" baseline="0" dirty="0">
              <a:latin typeface="Times New Roman" panose="02020603050405020304" pitchFamily="18" charset="0"/>
              <a:cs typeface="Times New Roman" panose="02020603050405020304" pitchFamily="18" charset="0"/>
            </a:endParaRPr>
          </a:p>
          <a:p>
            <a:endParaRPr lang="en-IN" dirty="0"/>
          </a:p>
        </p:txBody>
      </p:sp>
      <p:pic>
        <p:nvPicPr>
          <p:cNvPr id="6" name="Picture 5">
            <a:extLst>
              <a:ext uri="{FF2B5EF4-FFF2-40B4-BE49-F238E27FC236}">
                <a16:creationId xmlns:a16="http://schemas.microsoft.com/office/drawing/2014/main" id="{1C477BDF-7CDF-A841-AC99-9F630CFDC8D8}"/>
              </a:ext>
            </a:extLst>
          </p:cNvPr>
          <p:cNvPicPr>
            <a:picLocks noChangeAspect="1"/>
          </p:cNvPicPr>
          <p:nvPr/>
        </p:nvPicPr>
        <p:blipFill>
          <a:blip r:embed="rId2"/>
          <a:stretch>
            <a:fillRect/>
          </a:stretch>
        </p:blipFill>
        <p:spPr>
          <a:xfrm>
            <a:off x="8896079" y="3805994"/>
            <a:ext cx="3295921" cy="1695045"/>
          </a:xfrm>
          <a:prstGeom prst="rect">
            <a:avLst/>
          </a:prstGeom>
        </p:spPr>
      </p:pic>
      <p:pic>
        <p:nvPicPr>
          <p:cNvPr id="7" name="Picture 6">
            <a:extLst>
              <a:ext uri="{FF2B5EF4-FFF2-40B4-BE49-F238E27FC236}">
                <a16:creationId xmlns:a16="http://schemas.microsoft.com/office/drawing/2014/main" id="{DC4C390B-C452-9649-9D94-82709F986012}"/>
              </a:ext>
            </a:extLst>
          </p:cNvPr>
          <p:cNvPicPr>
            <a:picLocks noChangeAspect="1"/>
          </p:cNvPicPr>
          <p:nvPr/>
        </p:nvPicPr>
        <p:blipFill>
          <a:blip r:embed="rId3"/>
          <a:stretch>
            <a:fillRect/>
          </a:stretch>
        </p:blipFill>
        <p:spPr>
          <a:xfrm>
            <a:off x="8286750" y="364442"/>
            <a:ext cx="3905250" cy="2505075"/>
          </a:xfrm>
          <a:prstGeom prst="rect">
            <a:avLst/>
          </a:prstGeom>
        </p:spPr>
      </p:pic>
    </p:spTree>
    <p:extLst>
      <p:ext uri="{BB962C8B-B14F-4D97-AF65-F5344CB8AC3E}">
        <p14:creationId xmlns:p14="http://schemas.microsoft.com/office/powerpoint/2010/main" val="2902076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72010-8172-A0EF-AC9A-812D0D622357}"/>
              </a:ext>
            </a:extLst>
          </p:cNvPr>
          <p:cNvSpPr>
            <a:spLocks noGrp="1"/>
          </p:cNvSpPr>
          <p:nvPr>
            <p:ph type="title"/>
          </p:nvPr>
        </p:nvSpPr>
        <p:spPr>
          <a:xfrm>
            <a:off x="-2305101" y="306759"/>
            <a:ext cx="10515600" cy="1325563"/>
          </a:xfrm>
        </p:spPr>
        <p:txBody>
          <a:bodyPr>
            <a:normAutofit/>
          </a:bodyPr>
          <a:lstStyle/>
          <a:p>
            <a:pPr algn="ctr"/>
            <a:r>
              <a:rPr lang="en-IN" sz="2800" i="0" u="none" strike="noStrike" baseline="0" dirty="0">
                <a:solidFill>
                  <a:srgbClr val="FF0000"/>
                </a:solidFill>
                <a:latin typeface="Times New Roman" panose="02020603050405020304" pitchFamily="18" charset="0"/>
                <a:cs typeface="Times New Roman" panose="02020603050405020304" pitchFamily="18" charset="0"/>
              </a:rPr>
              <a:t>NC MOTION CONTROL SYSTEMS</a:t>
            </a:r>
            <a:endParaRPr lang="en-IN" sz="2800" dirty="0"/>
          </a:p>
        </p:txBody>
      </p:sp>
      <p:sp>
        <p:nvSpPr>
          <p:cNvPr id="3" name="Content Placeholder 2">
            <a:extLst>
              <a:ext uri="{FF2B5EF4-FFF2-40B4-BE49-F238E27FC236}">
                <a16:creationId xmlns:a16="http://schemas.microsoft.com/office/drawing/2014/main" id="{273196B0-3B62-0394-3E87-B3590238272D}"/>
              </a:ext>
            </a:extLst>
          </p:cNvPr>
          <p:cNvSpPr>
            <a:spLocks noGrp="1"/>
          </p:cNvSpPr>
          <p:nvPr>
            <p:ph idx="1"/>
          </p:nvPr>
        </p:nvSpPr>
        <p:spPr>
          <a:xfrm>
            <a:off x="128081" y="2916761"/>
            <a:ext cx="12063919" cy="4351338"/>
          </a:xfrm>
        </p:spPr>
        <p:txBody>
          <a:bodyPr>
            <a:noAutofit/>
          </a:bodyPr>
          <a:lstStyle/>
          <a:p>
            <a:pPr marL="0" indent="0" algn="just">
              <a:buNone/>
            </a:pPr>
            <a:r>
              <a:rPr lang="en-IN" sz="2400" i="0" u="none" strike="noStrike" baseline="0" dirty="0">
                <a:solidFill>
                  <a:srgbClr val="FF0000"/>
                </a:solidFill>
                <a:latin typeface="Times New Roman" panose="02020603050405020304" pitchFamily="18" charset="0"/>
                <a:cs typeface="Times New Roman" panose="02020603050405020304" pitchFamily="18" charset="0"/>
              </a:rPr>
              <a:t>Contouring NC:</a:t>
            </a:r>
          </a:p>
          <a:p>
            <a:pPr algn="just"/>
            <a:r>
              <a:rPr lang="en-US" sz="2400" b="0" i="0" u="none" strike="noStrike" baseline="0" dirty="0">
                <a:latin typeface="Times New Roman" panose="02020603050405020304" pitchFamily="18" charset="0"/>
                <a:cs typeface="Times New Roman" panose="02020603050405020304" pitchFamily="18" charset="0"/>
              </a:rPr>
              <a:t>Contouring is the most complex, the most flexible, and the most expensive type of </a:t>
            </a:r>
            <a:r>
              <a:rPr lang="en-IN" sz="2400" b="0" i="0" u="none" strike="noStrike" baseline="0" dirty="0">
                <a:latin typeface="Times New Roman" panose="02020603050405020304" pitchFamily="18" charset="0"/>
                <a:cs typeface="Times New Roman" panose="02020603050405020304" pitchFamily="18" charset="0"/>
              </a:rPr>
              <a:t>tool control</a:t>
            </a:r>
            <a:endParaRPr lang="en-IN" sz="2400" dirty="0">
              <a:latin typeface="Times New Roman" panose="02020603050405020304" pitchFamily="18" charset="0"/>
              <a:cs typeface="Times New Roman" panose="02020603050405020304" pitchFamily="18" charset="0"/>
            </a:endParaRPr>
          </a:p>
          <a:p>
            <a:pPr algn="just"/>
            <a:r>
              <a:rPr lang="en-US" sz="2400" b="0" i="0" u="none" strike="noStrike" baseline="0" dirty="0">
                <a:latin typeface="Times New Roman" panose="02020603050405020304" pitchFamily="18" charset="0"/>
                <a:cs typeface="Times New Roman" panose="02020603050405020304" pitchFamily="18" charset="0"/>
              </a:rPr>
              <a:t>It is </a:t>
            </a:r>
            <a:r>
              <a:rPr lang="en-US" sz="2400" b="0" i="0" u="none" strike="noStrike" baseline="0" dirty="0">
                <a:highlight>
                  <a:srgbClr val="FFFF00"/>
                </a:highlight>
                <a:latin typeface="Times New Roman" panose="02020603050405020304" pitchFamily="18" charset="0"/>
                <a:cs typeface="Times New Roman" panose="02020603050405020304" pitchFamily="18" charset="0"/>
              </a:rPr>
              <a:t>capable of performing both PTP and straight-cut operations</a:t>
            </a:r>
            <a:endParaRPr lang="en-IN" sz="2400" b="0" i="0" u="none" strike="noStrike" baseline="0" dirty="0">
              <a:highlight>
                <a:srgbClr val="FFFF00"/>
              </a:highlight>
              <a:latin typeface="Times New Roman" panose="02020603050405020304" pitchFamily="18" charset="0"/>
              <a:cs typeface="Times New Roman" panose="02020603050405020304" pitchFamily="18" charset="0"/>
            </a:endParaRPr>
          </a:p>
          <a:p>
            <a:pPr algn="just"/>
            <a:r>
              <a:rPr lang="en-US" sz="2400" b="0" i="0" u="none" strike="noStrike" baseline="0" dirty="0">
                <a:latin typeface="Times New Roman" panose="02020603050405020304" pitchFamily="18" charset="0"/>
                <a:cs typeface="Times New Roman" panose="02020603050405020304" pitchFamily="18" charset="0"/>
              </a:rPr>
              <a:t>In addition, </a:t>
            </a:r>
            <a:r>
              <a:rPr lang="en-US" sz="2400" b="0" i="0" u="none" strike="noStrike" baseline="0" dirty="0">
                <a:highlight>
                  <a:srgbClr val="FFFF00"/>
                </a:highlight>
                <a:latin typeface="Times New Roman" panose="02020603050405020304" pitchFamily="18" charset="0"/>
                <a:cs typeface="Times New Roman" panose="02020603050405020304" pitchFamily="18" charset="0"/>
              </a:rPr>
              <a:t>simultaneous control of more than one axis movement</a:t>
            </a:r>
            <a:r>
              <a:rPr lang="en-US" sz="2400" b="0" i="0" u="none" strike="noStrike" baseline="0" dirty="0">
                <a:latin typeface="Times New Roman" panose="02020603050405020304" pitchFamily="18" charset="0"/>
                <a:cs typeface="Times New Roman" panose="02020603050405020304" pitchFamily="18" charset="0"/>
              </a:rPr>
              <a:t> of the machine </a:t>
            </a:r>
            <a:r>
              <a:rPr lang="en-IN" sz="2400" b="0" i="0" u="none" strike="noStrike" baseline="0" dirty="0">
                <a:latin typeface="Times New Roman" panose="02020603050405020304" pitchFamily="18" charset="0"/>
                <a:cs typeface="Times New Roman" panose="02020603050405020304" pitchFamily="18" charset="0"/>
              </a:rPr>
              <a:t>tool</a:t>
            </a:r>
            <a:endParaRPr lang="en-IN" sz="2400" dirty="0">
              <a:latin typeface="Times New Roman" panose="02020603050405020304" pitchFamily="18" charset="0"/>
              <a:cs typeface="Times New Roman" panose="02020603050405020304" pitchFamily="18" charset="0"/>
            </a:endParaRPr>
          </a:p>
          <a:p>
            <a:pPr algn="just"/>
            <a:r>
              <a:rPr lang="en-US" sz="2400" b="0" i="0" u="none" strike="noStrike" baseline="0" dirty="0">
                <a:latin typeface="Times New Roman" panose="02020603050405020304" pitchFamily="18" charset="0"/>
                <a:cs typeface="Times New Roman" panose="02020603050405020304" pitchFamily="18" charset="0"/>
              </a:rPr>
              <a:t>The path of the </a:t>
            </a:r>
            <a:r>
              <a:rPr lang="en-US" sz="2400" b="0" i="0" u="none" strike="noStrike" baseline="0" dirty="0">
                <a:highlight>
                  <a:srgbClr val="FFFF00"/>
                </a:highlight>
                <a:latin typeface="Times New Roman" panose="02020603050405020304" pitchFamily="18" charset="0"/>
                <a:cs typeface="Times New Roman" panose="02020603050405020304" pitchFamily="18" charset="0"/>
              </a:rPr>
              <a:t>cutter is continuously controlled to generate the desired </a:t>
            </a:r>
            <a:r>
              <a:rPr lang="en-IN" sz="2400" b="0" i="0" u="none" strike="noStrike" baseline="0" dirty="0">
                <a:highlight>
                  <a:srgbClr val="FFFF00"/>
                </a:highlight>
                <a:latin typeface="Times New Roman" panose="02020603050405020304" pitchFamily="18" charset="0"/>
                <a:cs typeface="Times New Roman" panose="02020603050405020304" pitchFamily="18" charset="0"/>
              </a:rPr>
              <a:t>geometry</a:t>
            </a:r>
            <a:r>
              <a:rPr lang="en-IN" sz="2400" b="0" i="0" u="none" strike="noStrike" baseline="0" dirty="0">
                <a:latin typeface="Times New Roman" panose="02020603050405020304" pitchFamily="18" charset="0"/>
                <a:cs typeface="Times New Roman" panose="02020603050405020304" pitchFamily="18" charset="0"/>
              </a:rPr>
              <a:t> of the workpiece</a:t>
            </a:r>
          </a:p>
          <a:p>
            <a:pPr algn="just"/>
            <a:r>
              <a:rPr lang="en-US" sz="2400" b="0" i="0" u="none" strike="noStrike" baseline="0" dirty="0">
                <a:latin typeface="Times New Roman" panose="02020603050405020304" pitchFamily="18" charset="0"/>
                <a:cs typeface="Times New Roman" panose="02020603050405020304" pitchFamily="18" charset="0"/>
              </a:rPr>
              <a:t>For this reason, contouring systems are also called </a:t>
            </a:r>
            <a:r>
              <a:rPr lang="en-IN" sz="2400" b="0" i="0" u="sng" strike="noStrike" baseline="0" dirty="0">
                <a:latin typeface="Times New Roman" panose="02020603050405020304" pitchFamily="18" charset="0"/>
                <a:cs typeface="Times New Roman" panose="02020603050405020304" pitchFamily="18" charset="0"/>
              </a:rPr>
              <a:t>continuous-path NC systems</a:t>
            </a:r>
            <a:r>
              <a:rPr lang="en-IN" sz="2400" b="0" i="0" u="none" strike="noStrike" baseline="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US" sz="2400" b="0" i="0" u="none" strike="noStrike" baseline="0" dirty="0">
                <a:latin typeface="Times New Roman" panose="02020603050405020304" pitchFamily="18" charset="0"/>
                <a:cs typeface="Times New Roman" panose="02020603050405020304" pitchFamily="18" charset="0"/>
              </a:rPr>
              <a:t>Straight or plane surfaces at any orientation, </a:t>
            </a:r>
            <a:r>
              <a:rPr lang="en-US" sz="2400" b="0" i="0" u="none" strike="noStrike" baseline="0" dirty="0">
                <a:highlight>
                  <a:srgbClr val="FFFF00"/>
                </a:highlight>
                <a:latin typeface="Times New Roman" panose="02020603050405020304" pitchFamily="18" charset="0"/>
                <a:cs typeface="Times New Roman" panose="02020603050405020304" pitchFamily="18" charset="0"/>
              </a:rPr>
              <a:t>circular paths, conical shapes are possible </a:t>
            </a:r>
            <a:r>
              <a:rPr lang="en-IN" sz="2400" b="0" i="0" u="none" strike="noStrike" baseline="0" dirty="0">
                <a:highlight>
                  <a:srgbClr val="FFFF00"/>
                </a:highlight>
                <a:latin typeface="Times New Roman" panose="02020603050405020304" pitchFamily="18" charset="0"/>
                <a:cs typeface="Times New Roman" panose="02020603050405020304" pitchFamily="18" charset="0"/>
              </a:rPr>
              <a:t>under contouring control</a:t>
            </a:r>
            <a:endParaRPr lang="en-IN" sz="2400" dirty="0">
              <a:highlight>
                <a:srgbClr val="FFFF00"/>
              </a:highlight>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E84D0BA-C016-46BC-E2E5-4F1307D118D6}"/>
              </a:ext>
            </a:extLst>
          </p:cNvPr>
          <p:cNvPicPr>
            <a:picLocks noChangeAspect="1"/>
          </p:cNvPicPr>
          <p:nvPr/>
        </p:nvPicPr>
        <p:blipFill>
          <a:blip r:embed="rId2"/>
          <a:stretch>
            <a:fillRect/>
          </a:stretch>
        </p:blipFill>
        <p:spPr>
          <a:xfrm>
            <a:off x="5777317" y="0"/>
            <a:ext cx="6162675" cy="2971800"/>
          </a:xfrm>
          <a:prstGeom prst="rect">
            <a:avLst/>
          </a:prstGeom>
        </p:spPr>
      </p:pic>
    </p:spTree>
    <p:extLst>
      <p:ext uri="{BB962C8B-B14F-4D97-AF65-F5344CB8AC3E}">
        <p14:creationId xmlns:p14="http://schemas.microsoft.com/office/powerpoint/2010/main" val="27188707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4D553-4B13-853E-14F6-AC57DC455793}"/>
              </a:ext>
            </a:extLst>
          </p:cNvPr>
          <p:cNvSpPr>
            <a:spLocks noGrp="1"/>
          </p:cNvSpPr>
          <p:nvPr>
            <p:ph type="title"/>
          </p:nvPr>
        </p:nvSpPr>
        <p:spPr/>
        <p:txBody>
          <a:bodyPr>
            <a:normAutofit/>
          </a:bodyPr>
          <a:lstStyle/>
          <a:p>
            <a:r>
              <a:rPr lang="en-IN" sz="2800" b="0" i="0" u="none" strike="noStrike" baseline="0" dirty="0">
                <a:latin typeface="Arial" panose="020B0604020202020204" pitchFamily="34" charset="0"/>
                <a:cs typeface="Arial" panose="020B0604020202020204" pitchFamily="34" charset="0"/>
              </a:rPr>
              <a:t>    Advantages of NC				Disadvantages of NC</a:t>
            </a:r>
            <a:endParaRPr lang="en-IN" sz="60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F5F686-8824-3058-5E19-F6202EF6E008}"/>
              </a:ext>
            </a:extLst>
          </p:cNvPr>
          <p:cNvSpPr>
            <a:spLocks noGrp="1"/>
          </p:cNvSpPr>
          <p:nvPr>
            <p:ph sz="half" idx="1"/>
          </p:nvPr>
        </p:nvSpPr>
        <p:spPr/>
        <p:txBody>
          <a:bodyPr>
            <a:normAutofit/>
          </a:bodyPr>
          <a:lstStyle/>
          <a:p>
            <a:pPr marL="342900" indent="-342900">
              <a:buAutoNum type="arabicPeriod"/>
            </a:pPr>
            <a:r>
              <a:rPr lang="en-IN" sz="2400" b="0" i="1" u="none" strike="noStrike" baseline="0" dirty="0">
                <a:latin typeface="Times-Italic"/>
              </a:rPr>
              <a:t>Reduced nonproductive time</a:t>
            </a:r>
          </a:p>
          <a:p>
            <a:pPr marL="0" indent="0">
              <a:buNone/>
            </a:pPr>
            <a:r>
              <a:rPr lang="en-IN" sz="2400" b="0" i="0" u="none" strike="noStrike" baseline="0" dirty="0">
                <a:latin typeface="Times-Roman"/>
              </a:rPr>
              <a:t>2. </a:t>
            </a:r>
            <a:r>
              <a:rPr lang="en-IN" sz="2400" b="0" i="1" u="none" strike="noStrike" baseline="0" dirty="0">
                <a:latin typeface="Times-Italic"/>
              </a:rPr>
              <a:t>Reduced fixturing</a:t>
            </a:r>
            <a:endParaRPr lang="en-IN" sz="2400" i="1" dirty="0">
              <a:latin typeface="Times-Italic"/>
            </a:endParaRPr>
          </a:p>
          <a:p>
            <a:pPr marL="0" indent="0">
              <a:buNone/>
            </a:pPr>
            <a:r>
              <a:rPr lang="en-US" sz="2400" b="0" i="0" u="none" strike="noStrike" baseline="0" dirty="0">
                <a:latin typeface="Times-Roman"/>
              </a:rPr>
              <a:t>3. </a:t>
            </a:r>
            <a:r>
              <a:rPr lang="en-US" sz="2400" b="0" i="1" u="none" strike="noStrike" baseline="0" dirty="0">
                <a:latin typeface="Times-Italic"/>
              </a:rPr>
              <a:t>Reduced manufacturing lead time</a:t>
            </a:r>
            <a:endParaRPr lang="en-IN" sz="2400" b="0" i="1" u="none" strike="noStrike" baseline="0" dirty="0">
              <a:latin typeface="Times-Italic"/>
            </a:endParaRPr>
          </a:p>
          <a:p>
            <a:pPr marL="0" indent="0">
              <a:buNone/>
            </a:pPr>
            <a:r>
              <a:rPr lang="en-IN" sz="2400" b="0" i="0" u="none" strike="noStrike" baseline="0" dirty="0">
                <a:latin typeface="Times-Roman"/>
              </a:rPr>
              <a:t>4. </a:t>
            </a:r>
            <a:r>
              <a:rPr lang="en-IN" sz="2400" b="0" i="1" u="none" strike="noStrike" baseline="0" dirty="0">
                <a:latin typeface="Times-Italic"/>
              </a:rPr>
              <a:t>Greater manufacturing flexibility</a:t>
            </a:r>
            <a:endParaRPr lang="en-IN" sz="2400" i="1" dirty="0">
              <a:latin typeface="Times-Italic"/>
            </a:endParaRPr>
          </a:p>
          <a:p>
            <a:pPr marL="0" indent="0">
              <a:buNone/>
            </a:pPr>
            <a:r>
              <a:rPr lang="en-IN" sz="2400" b="0" i="1" u="none" strike="noStrike" baseline="0" dirty="0">
                <a:latin typeface="Times-Italic"/>
              </a:rPr>
              <a:t>5. Improved quality control</a:t>
            </a:r>
          </a:p>
          <a:p>
            <a:pPr marL="0" indent="0">
              <a:buNone/>
            </a:pPr>
            <a:r>
              <a:rPr lang="en-IN" sz="2400" b="0" i="0" u="none" strike="noStrike" baseline="0" dirty="0">
                <a:latin typeface="Times-Roman"/>
              </a:rPr>
              <a:t>6. </a:t>
            </a:r>
            <a:r>
              <a:rPr lang="en-IN" sz="2400" b="0" i="1" u="none" strike="noStrike" baseline="0" dirty="0">
                <a:latin typeface="Times-Italic"/>
              </a:rPr>
              <a:t>Reduced inventory</a:t>
            </a:r>
          </a:p>
          <a:p>
            <a:pPr marL="0" indent="0">
              <a:buNone/>
            </a:pPr>
            <a:r>
              <a:rPr lang="en-US" sz="2400" b="0" i="0" u="none" strike="noStrike" baseline="0" dirty="0">
                <a:latin typeface="Times-Roman"/>
              </a:rPr>
              <a:t>7. </a:t>
            </a:r>
            <a:r>
              <a:rPr lang="en-US" sz="2400" b="0" i="1" u="none" strike="noStrike" baseline="0" dirty="0">
                <a:latin typeface="Times-Italic"/>
              </a:rPr>
              <a:t>Reduced floor space requirement</a:t>
            </a:r>
            <a:endParaRPr lang="en-IN" sz="3600" dirty="0"/>
          </a:p>
        </p:txBody>
      </p:sp>
      <p:sp>
        <p:nvSpPr>
          <p:cNvPr id="4" name="Content Placeholder 3">
            <a:extLst>
              <a:ext uri="{FF2B5EF4-FFF2-40B4-BE49-F238E27FC236}">
                <a16:creationId xmlns:a16="http://schemas.microsoft.com/office/drawing/2014/main" id="{AFF43BA9-67B9-844D-FC7A-DB5F4BC4DA9C}"/>
              </a:ext>
            </a:extLst>
          </p:cNvPr>
          <p:cNvSpPr>
            <a:spLocks noGrp="1"/>
          </p:cNvSpPr>
          <p:nvPr>
            <p:ph sz="half" idx="2"/>
          </p:nvPr>
        </p:nvSpPr>
        <p:spPr>
          <a:xfrm>
            <a:off x="6512668" y="1825625"/>
            <a:ext cx="5181600" cy="4351338"/>
          </a:xfrm>
        </p:spPr>
        <p:txBody>
          <a:bodyPr/>
          <a:lstStyle/>
          <a:p>
            <a:pPr marL="342900" indent="-342900">
              <a:buAutoNum type="arabicPeriod"/>
            </a:pPr>
            <a:r>
              <a:rPr lang="en-IN" sz="2400" b="0" i="1" u="none" strike="noStrike" baseline="0" dirty="0">
                <a:latin typeface="Times-Italic"/>
              </a:rPr>
              <a:t>Higher investment</a:t>
            </a:r>
          </a:p>
          <a:p>
            <a:pPr marL="0" indent="0">
              <a:buNone/>
            </a:pPr>
            <a:r>
              <a:rPr lang="en-IN" sz="2400" b="0" i="1" u="none" strike="noStrike" baseline="0" dirty="0">
                <a:latin typeface="Times-Italic"/>
              </a:rPr>
              <a:t>2. Higher maintenance cost</a:t>
            </a:r>
            <a:endParaRPr lang="en-IN" sz="2400" i="1" dirty="0">
              <a:latin typeface="Times-Italic"/>
            </a:endParaRPr>
          </a:p>
          <a:p>
            <a:pPr marL="0" indent="0">
              <a:buNone/>
            </a:pPr>
            <a:r>
              <a:rPr lang="en-US" sz="2400" b="0" i="0" u="none" strike="noStrike" baseline="0" dirty="0">
                <a:latin typeface="Times-Roman"/>
              </a:rPr>
              <a:t>3. </a:t>
            </a:r>
            <a:r>
              <a:rPr lang="en-US" sz="2400" b="0" i="1" u="none" strike="noStrike" baseline="0" dirty="0">
                <a:latin typeface="Times-Italic"/>
              </a:rPr>
              <a:t>Finding and/or training NC personnel</a:t>
            </a:r>
            <a:endParaRPr lang="en-IN" sz="2400" b="0" i="1" u="none" strike="noStrike" baseline="0" dirty="0">
              <a:latin typeface="Times-Italic"/>
            </a:endParaRPr>
          </a:p>
          <a:p>
            <a:pPr marL="0" indent="0">
              <a:buNone/>
            </a:pPr>
            <a:endParaRPr lang="en-IN" dirty="0"/>
          </a:p>
        </p:txBody>
      </p:sp>
      <p:pic>
        <p:nvPicPr>
          <p:cNvPr id="2050" name="Picture 2" descr="M-Code for CNC: What is it? M-Code vs. G-Code, Benefits, FAQ">
            <a:extLst>
              <a:ext uri="{FF2B5EF4-FFF2-40B4-BE49-F238E27FC236}">
                <a16:creationId xmlns:a16="http://schemas.microsoft.com/office/drawing/2014/main" id="{60391BFE-A188-AE26-DE22-743870F6EAE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204" t="1379" r="1669" b="6766"/>
          <a:stretch/>
        </p:blipFill>
        <p:spPr bwMode="auto">
          <a:xfrm>
            <a:off x="7571362" y="4348264"/>
            <a:ext cx="4620638" cy="25097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66475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1632E-9EF2-D9F3-3720-FC7016571A7C}"/>
              </a:ext>
            </a:extLst>
          </p:cNvPr>
          <p:cNvSpPr>
            <a:spLocks noGrp="1"/>
          </p:cNvSpPr>
          <p:nvPr>
            <p:ph type="title"/>
          </p:nvPr>
        </p:nvSpPr>
        <p:spPr>
          <a:xfrm>
            <a:off x="1023026" y="-256922"/>
            <a:ext cx="10515600" cy="1325563"/>
          </a:xfrm>
        </p:spPr>
        <p:txBody>
          <a:bodyPr>
            <a:normAutofit/>
          </a:bodyPr>
          <a:lstStyle/>
          <a:p>
            <a:pPr algn="ctr"/>
            <a:r>
              <a:rPr lang="en-US" sz="3600" dirty="0">
                <a:latin typeface="Arial" panose="020B0604020202020204" pitchFamily="34" charset="0"/>
                <a:cs typeface="Arial" panose="020B0604020202020204" pitchFamily="34" charset="0"/>
              </a:rPr>
              <a:t>Computer Controls in NC</a:t>
            </a:r>
            <a:endParaRPr lang="en-IN" sz="3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08F0028-485A-912C-7F01-DBDDD3402633}"/>
              </a:ext>
            </a:extLst>
          </p:cNvPr>
          <p:cNvSpPr>
            <a:spLocks noGrp="1"/>
          </p:cNvSpPr>
          <p:nvPr>
            <p:ph idx="1"/>
          </p:nvPr>
        </p:nvSpPr>
        <p:spPr>
          <a:xfrm>
            <a:off x="488004" y="942046"/>
            <a:ext cx="11215991" cy="4351338"/>
          </a:xfrm>
        </p:spPr>
        <p:txBody>
          <a:bodyPr/>
          <a:lstStyle/>
          <a:p>
            <a:pPr marL="0" indent="0" algn="just">
              <a:buNone/>
            </a:pPr>
            <a:r>
              <a:rPr lang="en-US" i="1" dirty="0">
                <a:latin typeface="Times New Roman" panose="02020603050405020304" pitchFamily="18" charset="0"/>
                <a:cs typeface="Times New Roman" panose="02020603050405020304" pitchFamily="18" charset="0"/>
              </a:rPr>
              <a:t>The computer is being used to refine and improve the NC part programming procedure through interactive graphics and voice programming</a:t>
            </a:r>
            <a:endParaRPr lang="en-IN" i="1" dirty="0">
              <a:latin typeface="Times New Roman" panose="02020603050405020304" pitchFamily="18" charset="0"/>
              <a:cs typeface="Times New Roman" panose="02020603050405020304" pitchFamily="18" charset="0"/>
            </a:endParaRPr>
          </a:p>
        </p:txBody>
      </p:sp>
      <p:pic>
        <p:nvPicPr>
          <p:cNvPr id="4" name="Picture 2" descr="CNC Router — A Basic Introduction | by Roctech CNC Router | Medium">
            <a:extLst>
              <a:ext uri="{FF2B5EF4-FFF2-40B4-BE49-F238E27FC236}">
                <a16:creationId xmlns:a16="http://schemas.microsoft.com/office/drawing/2014/main" id="{606DC395-0C0D-B591-8799-095ADA1C9B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0222" y="1979039"/>
            <a:ext cx="8073957" cy="484437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Manufacturing a Basic DVD Storage Unit - Batch Production">
            <a:extLst>
              <a:ext uri="{FF2B5EF4-FFF2-40B4-BE49-F238E27FC236}">
                <a16:creationId xmlns:a16="http://schemas.microsoft.com/office/drawing/2014/main" id="{C7F3947A-0DAD-8550-0BF2-33B9390FDE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158" y="2348419"/>
            <a:ext cx="5238750"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63337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FEEA370-ADA8-C485-5A78-3884CFE8B87E}"/>
              </a:ext>
            </a:extLst>
          </p:cNvPr>
          <p:cNvSpPr>
            <a:spLocks noGrp="1"/>
          </p:cNvSpPr>
          <p:nvPr>
            <p:ph type="title"/>
          </p:nvPr>
        </p:nvSpPr>
        <p:spPr>
          <a:xfrm>
            <a:off x="1099226" y="-81960"/>
            <a:ext cx="10515600" cy="1325563"/>
          </a:xfrm>
        </p:spPr>
        <p:txBody>
          <a:bodyPr>
            <a:normAutofit/>
          </a:bodyPr>
          <a:lstStyle/>
          <a:p>
            <a:pPr algn="ctr"/>
            <a:r>
              <a:rPr lang="en-IN" sz="3200" i="0" u="none" strike="noStrike" baseline="0" dirty="0">
                <a:latin typeface="Arial" panose="020B0604020202020204" pitchFamily="34" charset="0"/>
                <a:cs typeface="Arial" panose="020B0604020202020204" pitchFamily="34" charset="0"/>
              </a:rPr>
              <a:t>PROBLEMS WITH CONVENTIONAL NC</a:t>
            </a:r>
            <a:endParaRPr lang="en-IN" sz="6600" dirty="0">
              <a:latin typeface="Arial" panose="020B0604020202020204" pitchFamily="34" charset="0"/>
              <a:cs typeface="Arial" panose="020B0604020202020204" pitchFamily="34" charset="0"/>
            </a:endParaRPr>
          </a:p>
        </p:txBody>
      </p:sp>
      <p:sp>
        <p:nvSpPr>
          <p:cNvPr id="6" name="Content Placeholder 5">
            <a:extLst>
              <a:ext uri="{FF2B5EF4-FFF2-40B4-BE49-F238E27FC236}">
                <a16:creationId xmlns:a16="http://schemas.microsoft.com/office/drawing/2014/main" id="{10E7B0F2-73B6-DF38-1125-CE89279AEF68}"/>
              </a:ext>
            </a:extLst>
          </p:cNvPr>
          <p:cNvSpPr>
            <a:spLocks noGrp="1"/>
          </p:cNvSpPr>
          <p:nvPr>
            <p:ph idx="1"/>
          </p:nvPr>
        </p:nvSpPr>
        <p:spPr>
          <a:xfrm>
            <a:off x="556098" y="1253330"/>
            <a:ext cx="11058728" cy="4573537"/>
          </a:xfrm>
        </p:spPr>
        <p:txBody>
          <a:bodyPr>
            <a:noAutofit/>
          </a:bodyPr>
          <a:lstStyle/>
          <a:p>
            <a:pPr marL="0" indent="0" algn="just">
              <a:buNone/>
            </a:pPr>
            <a:r>
              <a:rPr lang="en-IN" sz="2400" b="0" i="0" u="none" strike="noStrike" baseline="0" dirty="0">
                <a:latin typeface="Times New Roman" panose="02020603050405020304" pitchFamily="18" charset="0"/>
                <a:cs typeface="Times New Roman" panose="02020603050405020304" pitchFamily="18" charset="0"/>
              </a:rPr>
              <a:t>1. </a:t>
            </a:r>
            <a:r>
              <a:rPr lang="en-IN" sz="2400" b="0" i="1" u="none" strike="noStrike" baseline="0" dirty="0">
                <a:latin typeface="Times New Roman" panose="02020603050405020304" pitchFamily="18" charset="0"/>
                <a:cs typeface="Times New Roman" panose="02020603050405020304" pitchFamily="18" charset="0"/>
              </a:rPr>
              <a:t>Part programming mistakes.</a:t>
            </a:r>
          </a:p>
          <a:p>
            <a:pPr marL="0" indent="0" algn="just">
              <a:buNone/>
            </a:pPr>
            <a:r>
              <a:rPr lang="en-US" sz="2400" b="0" i="0" u="none" strike="noStrike" baseline="0" dirty="0">
                <a:latin typeface="Times New Roman" panose="02020603050405020304" pitchFamily="18" charset="0"/>
                <a:cs typeface="Times New Roman" panose="02020603050405020304" pitchFamily="18" charset="0"/>
              </a:rPr>
              <a:t>2. </a:t>
            </a:r>
            <a:r>
              <a:rPr lang="en-US" sz="2400" b="0" i="1" u="none" strike="noStrike" baseline="0" dirty="0">
                <a:latin typeface="Times New Roman" panose="02020603050405020304" pitchFamily="18" charset="0"/>
                <a:cs typeface="Times New Roman" panose="02020603050405020304" pitchFamily="18" charset="0"/>
              </a:rPr>
              <a:t>Nonoptimal speeds and feeds - </a:t>
            </a:r>
            <a:r>
              <a:rPr lang="en-IN" sz="2400" b="0" i="0" u="none" strike="noStrike" baseline="0" dirty="0">
                <a:latin typeface="Times New Roman" panose="02020603050405020304" pitchFamily="18" charset="0"/>
                <a:cs typeface="Times New Roman" panose="02020603050405020304" pitchFamily="18" charset="0"/>
              </a:rPr>
              <a:t>In conventional numerical control, the </a:t>
            </a:r>
            <a:r>
              <a:rPr lang="en-US" sz="2400" b="0" i="0" u="none" strike="noStrike" baseline="0" dirty="0">
                <a:latin typeface="Times New Roman" panose="02020603050405020304" pitchFamily="18" charset="0"/>
                <a:cs typeface="Times New Roman" panose="02020603050405020304" pitchFamily="18" charset="0"/>
              </a:rPr>
              <a:t>control system does not provide the opportunity to make changes in speeds and feeds during the cutting process</a:t>
            </a:r>
          </a:p>
          <a:p>
            <a:pPr marL="0" indent="0" algn="just">
              <a:buNone/>
            </a:pPr>
            <a:r>
              <a:rPr lang="en-IN" sz="2400" b="0" i="0" u="none" strike="noStrike" baseline="0" dirty="0">
                <a:latin typeface="Times New Roman" panose="02020603050405020304" pitchFamily="18" charset="0"/>
                <a:cs typeface="Times New Roman" panose="02020603050405020304" pitchFamily="18" charset="0"/>
              </a:rPr>
              <a:t>3. </a:t>
            </a:r>
            <a:r>
              <a:rPr lang="en-IN" sz="2400" b="0" i="1" u="none" strike="noStrike" baseline="0" dirty="0">
                <a:latin typeface="Times New Roman" panose="02020603050405020304" pitchFamily="18" charset="0"/>
                <a:cs typeface="Times New Roman" panose="02020603050405020304" pitchFamily="18" charset="0"/>
              </a:rPr>
              <a:t>Punched tape - </a:t>
            </a:r>
            <a:r>
              <a:rPr lang="en-US" sz="2400" b="0" i="1" u="none" strike="noStrike" baseline="0" dirty="0">
                <a:latin typeface="Times New Roman" panose="02020603050405020304" pitchFamily="18" charset="0"/>
                <a:cs typeface="Times New Roman" panose="02020603050405020304" pitchFamily="18" charset="0"/>
              </a:rPr>
              <a:t>Paper tape is especially fragile, and its susceptibility to wear and tear causes </a:t>
            </a:r>
            <a:r>
              <a:rPr lang="en-US" sz="2400" b="0" i="0" u="none" strike="noStrike" baseline="0" dirty="0">
                <a:latin typeface="Times New Roman" panose="02020603050405020304" pitchFamily="18" charset="0"/>
                <a:cs typeface="Times New Roman" panose="02020603050405020304" pitchFamily="18" charset="0"/>
              </a:rPr>
              <a:t>unreliable NC component for repeated use in the shop</a:t>
            </a:r>
            <a:endParaRPr lang="en-US" sz="2400" dirty="0">
              <a:latin typeface="Times New Roman" panose="02020603050405020304" pitchFamily="18" charset="0"/>
              <a:cs typeface="Times New Roman" panose="02020603050405020304" pitchFamily="18" charset="0"/>
            </a:endParaRPr>
          </a:p>
          <a:p>
            <a:pPr marL="0" indent="0" algn="just">
              <a:buNone/>
            </a:pPr>
            <a:r>
              <a:rPr lang="en-IN" sz="2400" b="0" i="0" u="none" strike="noStrike" baseline="0" dirty="0">
                <a:latin typeface="Times New Roman" panose="02020603050405020304" pitchFamily="18" charset="0"/>
                <a:cs typeface="Times New Roman" panose="02020603050405020304" pitchFamily="18" charset="0"/>
              </a:rPr>
              <a:t>4. </a:t>
            </a:r>
            <a:r>
              <a:rPr lang="en-IN" sz="2400" b="0" i="1" u="none" strike="noStrike" baseline="0" dirty="0">
                <a:latin typeface="Times New Roman" panose="02020603050405020304" pitchFamily="18" charset="0"/>
                <a:cs typeface="Times New Roman" panose="02020603050405020304" pitchFamily="18" charset="0"/>
              </a:rPr>
              <a:t>Tape read</a:t>
            </a:r>
            <a:r>
              <a:rPr lang="en-IN" sz="2400" i="1" dirty="0">
                <a:latin typeface="Times New Roman" panose="02020603050405020304" pitchFamily="18" charset="0"/>
                <a:cs typeface="Times New Roman" panose="02020603050405020304" pitchFamily="18" charset="0"/>
              </a:rPr>
              <a:t>er - </a:t>
            </a:r>
            <a:r>
              <a:rPr lang="en-IN" sz="2400" b="0" i="0" u="none" strike="noStrike" baseline="0" dirty="0">
                <a:latin typeface="Times New Roman" panose="02020603050405020304" pitchFamily="18" charset="0"/>
                <a:cs typeface="Times New Roman" panose="02020603050405020304" pitchFamily="18" charset="0"/>
              </a:rPr>
              <a:t>least reliable hardware component of the machine</a:t>
            </a:r>
            <a:endParaRPr lang="en-US" sz="2400" b="0" i="1" u="none" strike="noStrike" baseline="0" dirty="0">
              <a:latin typeface="Times New Roman" panose="02020603050405020304" pitchFamily="18" charset="0"/>
              <a:cs typeface="Times New Roman" panose="02020603050405020304" pitchFamily="18" charset="0"/>
            </a:endParaRPr>
          </a:p>
          <a:p>
            <a:pPr marL="0" indent="0" algn="just">
              <a:buNone/>
            </a:pPr>
            <a:r>
              <a:rPr lang="en-US" sz="2400" b="0" i="0" u="none" strike="noStrike" baseline="0" dirty="0">
                <a:latin typeface="Times New Roman" panose="02020603050405020304" pitchFamily="18" charset="0"/>
                <a:cs typeface="Times New Roman" panose="02020603050405020304" pitchFamily="18" charset="0"/>
              </a:rPr>
              <a:t>5. </a:t>
            </a:r>
            <a:r>
              <a:rPr lang="en-US" sz="2400" b="0" i="1" u="none" strike="noStrike" baseline="0" dirty="0">
                <a:latin typeface="Times New Roman" panose="02020603050405020304" pitchFamily="18" charset="0"/>
                <a:cs typeface="Times New Roman" panose="02020603050405020304" pitchFamily="18" charset="0"/>
              </a:rPr>
              <a:t>Controller. </a:t>
            </a:r>
            <a:r>
              <a:rPr lang="en-US" sz="2400" b="0" i="0" u="none" strike="noStrike" baseline="0" dirty="0">
                <a:latin typeface="Times New Roman" panose="02020603050405020304" pitchFamily="18" charset="0"/>
                <a:cs typeface="Times New Roman" panose="02020603050405020304" pitchFamily="18" charset="0"/>
              </a:rPr>
              <a:t>The conventional NC controller unit is hard-wired, control features cannot be easily altered to incorporate improvements </a:t>
            </a:r>
            <a:r>
              <a:rPr lang="en-IN" sz="2400" b="0" i="0" u="none" strike="noStrike" baseline="0" dirty="0">
                <a:latin typeface="Times New Roman" panose="02020603050405020304" pitchFamily="18" charset="0"/>
                <a:cs typeface="Times New Roman" panose="02020603050405020304" pitchFamily="18" charset="0"/>
              </a:rPr>
              <a:t>into the unit</a:t>
            </a:r>
            <a:r>
              <a:rPr lang="en-IN" sz="2400" dirty="0">
                <a:latin typeface="Times New Roman" panose="02020603050405020304" pitchFamily="18" charset="0"/>
                <a:cs typeface="Times New Roman" panose="02020603050405020304" pitchFamily="18" charset="0"/>
              </a:rPr>
              <a:t> - </a:t>
            </a:r>
            <a:r>
              <a:rPr lang="en-US" sz="2400" b="0" i="0" u="none" strike="noStrike" baseline="0" dirty="0">
                <a:latin typeface="Times New Roman" panose="02020603050405020304" pitchFamily="18" charset="0"/>
                <a:cs typeface="Times New Roman" panose="02020603050405020304" pitchFamily="18" charset="0"/>
              </a:rPr>
              <a:t>Use of a computer as the control device would provide the flexibility to make improvements (becomes software)</a:t>
            </a:r>
            <a:endParaRPr lang="en-IN" sz="2400" b="0" i="0" u="none" strike="noStrike" baseline="0" dirty="0">
              <a:latin typeface="Times New Roman" panose="02020603050405020304" pitchFamily="18" charset="0"/>
              <a:cs typeface="Times New Roman" panose="02020603050405020304" pitchFamily="18" charset="0"/>
            </a:endParaRPr>
          </a:p>
          <a:p>
            <a:pPr marL="0" indent="0" algn="just">
              <a:buNone/>
            </a:pPr>
            <a:r>
              <a:rPr lang="en-US" sz="2400" b="0" i="0" u="none" strike="noStrike" baseline="0" dirty="0">
                <a:latin typeface="Times New Roman" panose="02020603050405020304" pitchFamily="18" charset="0"/>
                <a:cs typeface="Times New Roman" panose="02020603050405020304" pitchFamily="18" charset="0"/>
              </a:rPr>
              <a:t>6. </a:t>
            </a:r>
            <a:r>
              <a:rPr lang="en-US" sz="2400" b="0" i="1" u="none" strike="noStrike" baseline="0" dirty="0">
                <a:latin typeface="Times New Roman" panose="02020603050405020304" pitchFamily="18" charset="0"/>
                <a:cs typeface="Times New Roman" panose="02020603050405020304" pitchFamily="18" charset="0"/>
              </a:rPr>
              <a:t>Management information. </a:t>
            </a:r>
            <a:r>
              <a:rPr lang="en-US" sz="2400" b="0" i="0" u="none" strike="noStrike" baseline="0" dirty="0">
                <a:latin typeface="Times New Roman" panose="02020603050405020304" pitchFamily="18" charset="0"/>
                <a:cs typeface="Times New Roman" panose="02020603050405020304" pitchFamily="18" charset="0"/>
              </a:rPr>
              <a:t>The conventional NC system is not equipped to provide timely information on operational performance to management</a:t>
            </a:r>
            <a:endParaRPr lang="en-US" sz="2400" b="0" i="1" u="none" strike="noStrike" baseline="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92903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EBA2C-F0A9-BE5E-A77B-3A51970C07FE}"/>
              </a:ext>
            </a:extLst>
          </p:cNvPr>
          <p:cNvSpPr>
            <a:spLocks noGrp="1"/>
          </p:cNvSpPr>
          <p:nvPr>
            <p:ph type="title"/>
          </p:nvPr>
        </p:nvSpPr>
        <p:spPr>
          <a:xfrm>
            <a:off x="250588" y="148821"/>
            <a:ext cx="10515600" cy="1325563"/>
          </a:xfrm>
        </p:spPr>
        <p:txBody>
          <a:bodyPr>
            <a:normAutofit fontScale="90000"/>
          </a:bodyPr>
          <a:lstStyle/>
          <a:p>
            <a:r>
              <a:rPr lang="en-IN" sz="3200" b="1" i="0" u="none" strike="noStrike" baseline="0" dirty="0">
                <a:latin typeface="Arial" panose="020B0604020202020204" pitchFamily="34" charset="0"/>
                <a:cs typeface="Arial" panose="020B0604020202020204" pitchFamily="34" charset="0"/>
              </a:rPr>
              <a:t>COMPUTER </a:t>
            </a:r>
            <a:br>
              <a:rPr lang="en-IN" sz="3200" b="1" i="0" u="none" strike="noStrike" baseline="0" dirty="0">
                <a:latin typeface="Arial" panose="020B0604020202020204" pitchFamily="34" charset="0"/>
                <a:cs typeface="Arial" panose="020B0604020202020204" pitchFamily="34" charset="0"/>
              </a:rPr>
            </a:br>
            <a:r>
              <a:rPr lang="en-IN" sz="3200" b="1" i="0" u="none" strike="noStrike" baseline="0" dirty="0">
                <a:latin typeface="Arial" panose="020B0604020202020204" pitchFamily="34" charset="0"/>
                <a:cs typeface="Arial" panose="020B0604020202020204" pitchFamily="34" charset="0"/>
              </a:rPr>
              <a:t>NUMERICAL </a:t>
            </a:r>
            <a:br>
              <a:rPr lang="en-IN" sz="3200" b="1" i="0" u="none" strike="noStrike" baseline="0" dirty="0">
                <a:latin typeface="Arial" panose="020B0604020202020204" pitchFamily="34" charset="0"/>
                <a:cs typeface="Arial" panose="020B0604020202020204" pitchFamily="34" charset="0"/>
              </a:rPr>
            </a:br>
            <a:r>
              <a:rPr lang="en-IN" sz="3200" b="1" i="0" u="none" strike="noStrike" baseline="0" dirty="0">
                <a:latin typeface="Arial" panose="020B0604020202020204" pitchFamily="34" charset="0"/>
                <a:cs typeface="Arial" panose="020B0604020202020204" pitchFamily="34" charset="0"/>
              </a:rPr>
              <a:t>CONTROL</a:t>
            </a:r>
            <a:endParaRPr lang="en-IN" sz="32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2847A39E-CA53-8238-580F-A35820214927}"/>
              </a:ext>
            </a:extLst>
          </p:cNvPr>
          <p:cNvSpPr>
            <a:spLocks noGrp="1"/>
          </p:cNvSpPr>
          <p:nvPr>
            <p:ph idx="1"/>
          </p:nvPr>
        </p:nvSpPr>
        <p:spPr>
          <a:xfrm>
            <a:off x="0" y="2092663"/>
            <a:ext cx="12192000" cy="5495926"/>
          </a:xfrm>
        </p:spPr>
        <p:txBody>
          <a:bodyPr>
            <a:noAutofit/>
          </a:bodyPr>
          <a:lstStyle/>
          <a:p>
            <a:pPr algn="just"/>
            <a:r>
              <a:rPr lang="en-US" sz="2400" dirty="0">
                <a:latin typeface="Times New Roman" panose="02020603050405020304" pitchFamily="18" charset="0"/>
                <a:cs typeface="Times New Roman" panose="02020603050405020304" pitchFamily="18" charset="0"/>
              </a:rPr>
              <a:t>Computer numerical control is an NC system that utilizes a dedicated, stored program computer to perform some or all of the basic numerical control functions.</a:t>
            </a:r>
          </a:p>
          <a:p>
            <a:pPr algn="just"/>
            <a:r>
              <a:rPr lang="en-US" sz="2400" dirty="0">
                <a:latin typeface="Times New Roman" panose="02020603050405020304" pitchFamily="18" charset="0"/>
                <a:cs typeface="Times New Roman" panose="02020603050405020304" pitchFamily="18" charset="0"/>
              </a:rPr>
              <a:t>Part programs are initially entered in a similar manner.</a:t>
            </a:r>
          </a:p>
          <a:p>
            <a:pPr algn="just"/>
            <a:r>
              <a:rPr lang="en-US" sz="2400" dirty="0">
                <a:latin typeface="Times New Roman" panose="02020603050405020304" pitchFamily="18" charset="0"/>
                <a:cs typeface="Times New Roman" panose="02020603050405020304" pitchFamily="18" charset="0"/>
              </a:rPr>
              <a:t>Punched tape readers are still the common device to input the part program into the system. </a:t>
            </a:r>
          </a:p>
          <a:p>
            <a:pPr algn="just"/>
            <a:r>
              <a:rPr lang="en-US" sz="2400" dirty="0">
                <a:latin typeface="Times New Roman" panose="02020603050405020304" pitchFamily="18" charset="0"/>
                <a:cs typeface="Times New Roman" panose="02020603050405020304" pitchFamily="18" charset="0"/>
              </a:rPr>
              <a:t>However, in conventional numerical control, the punched tape is cycled through the reader for every workpiece in the batch. </a:t>
            </a:r>
          </a:p>
          <a:p>
            <a:pPr algn="just"/>
            <a:r>
              <a:rPr lang="en-US" sz="2400" dirty="0">
                <a:latin typeface="Times New Roman" panose="02020603050405020304" pitchFamily="18" charset="0"/>
                <a:cs typeface="Times New Roman" panose="02020603050405020304" pitchFamily="18" charset="0"/>
              </a:rPr>
              <a:t>With CNC, the program is entered once and then stored in the computer memory. </a:t>
            </a:r>
          </a:p>
          <a:p>
            <a:pPr algn="just"/>
            <a:r>
              <a:rPr lang="en-US" sz="2400" dirty="0">
                <a:latin typeface="Times New Roman" panose="02020603050405020304" pitchFamily="18" charset="0"/>
                <a:cs typeface="Times New Roman" panose="02020603050405020304" pitchFamily="18" charset="0"/>
              </a:rPr>
              <a:t>Thus the tape reader is used only for the original loading of the part program and data. </a:t>
            </a:r>
          </a:p>
          <a:p>
            <a:pPr algn="just"/>
            <a:r>
              <a:rPr lang="en-US" sz="2400" dirty="0">
                <a:latin typeface="Times New Roman" panose="02020603050405020304" pitchFamily="18" charset="0"/>
                <a:cs typeface="Times New Roman" panose="02020603050405020304" pitchFamily="18" charset="0"/>
              </a:rPr>
              <a:t>Compared to regular NC, CNC offers additional flexibility and computational capability.</a:t>
            </a:r>
          </a:p>
          <a:p>
            <a:pPr algn="just"/>
            <a:r>
              <a:rPr lang="en-IN" sz="2400" b="0" i="0" u="none" strike="noStrike" baseline="0" dirty="0">
                <a:latin typeface="Times New Roman" panose="02020603050405020304" pitchFamily="18" charset="0"/>
                <a:cs typeface="Times New Roman" panose="02020603050405020304" pitchFamily="18" charset="0"/>
              </a:rPr>
              <a:t>New system </a:t>
            </a:r>
            <a:r>
              <a:rPr lang="en-US" sz="2400" b="0" i="0" u="none" strike="noStrike" baseline="0" dirty="0">
                <a:latin typeface="Times New Roman" panose="02020603050405020304" pitchFamily="18" charset="0"/>
                <a:cs typeface="Times New Roman" panose="02020603050405020304" pitchFamily="18" charset="0"/>
              </a:rPr>
              <a:t>options can be incorporated into the CNC controller simply by reprogramming</a:t>
            </a:r>
          </a:p>
          <a:p>
            <a:pPr algn="just"/>
            <a:r>
              <a:rPr lang="en-US" sz="2400" b="0" i="0" u="none" strike="noStrike" baseline="0" dirty="0">
                <a:latin typeface="Times New Roman" panose="02020603050405020304" pitchFamily="18" charset="0"/>
                <a:cs typeface="Times New Roman" panose="02020603050405020304" pitchFamily="18" charset="0"/>
              </a:rPr>
              <a:t>Because of this reprogramming capacity, CNC is often referred to by the term "soft-wired" NC</a:t>
            </a: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B00A0B0-F1E5-D554-57BF-79A933F09D48}"/>
              </a:ext>
            </a:extLst>
          </p:cNvPr>
          <p:cNvPicPr>
            <a:picLocks noChangeAspect="1"/>
          </p:cNvPicPr>
          <p:nvPr/>
        </p:nvPicPr>
        <p:blipFill>
          <a:blip r:embed="rId2"/>
          <a:stretch>
            <a:fillRect/>
          </a:stretch>
        </p:blipFill>
        <p:spPr>
          <a:xfrm>
            <a:off x="4435813" y="1"/>
            <a:ext cx="7756187" cy="1869220"/>
          </a:xfrm>
          <a:prstGeom prst="rect">
            <a:avLst/>
          </a:prstGeom>
        </p:spPr>
      </p:pic>
    </p:spTree>
    <p:extLst>
      <p:ext uri="{BB962C8B-B14F-4D97-AF65-F5344CB8AC3E}">
        <p14:creationId xmlns:p14="http://schemas.microsoft.com/office/powerpoint/2010/main" val="32133293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23F28-B36E-AC04-4046-AFE6AD359257}"/>
              </a:ext>
            </a:extLst>
          </p:cNvPr>
          <p:cNvSpPr>
            <a:spLocks noGrp="1"/>
          </p:cNvSpPr>
          <p:nvPr>
            <p:ph type="title"/>
          </p:nvPr>
        </p:nvSpPr>
        <p:spPr>
          <a:xfrm>
            <a:off x="838200" y="-208806"/>
            <a:ext cx="10515600" cy="1325563"/>
          </a:xfrm>
        </p:spPr>
        <p:txBody>
          <a:bodyPr>
            <a:normAutofit/>
          </a:bodyPr>
          <a:lstStyle/>
          <a:p>
            <a:pPr algn="ctr"/>
            <a:r>
              <a:rPr lang="en-IN" sz="3600" dirty="0">
                <a:latin typeface="Arial" panose="020B0604020202020204" pitchFamily="34" charset="0"/>
                <a:cs typeface="Arial" panose="020B0604020202020204" pitchFamily="34" charset="0"/>
              </a:rPr>
              <a:t>Functions of CNC</a:t>
            </a:r>
          </a:p>
        </p:txBody>
      </p:sp>
      <p:sp>
        <p:nvSpPr>
          <p:cNvPr id="3" name="Content Placeholder 2">
            <a:extLst>
              <a:ext uri="{FF2B5EF4-FFF2-40B4-BE49-F238E27FC236}">
                <a16:creationId xmlns:a16="http://schemas.microsoft.com/office/drawing/2014/main" id="{0C0A5668-950C-0E51-4DE9-2E36C8781B3F}"/>
              </a:ext>
            </a:extLst>
          </p:cNvPr>
          <p:cNvSpPr>
            <a:spLocks noGrp="1"/>
          </p:cNvSpPr>
          <p:nvPr>
            <p:ph idx="1"/>
          </p:nvPr>
        </p:nvSpPr>
        <p:spPr>
          <a:xfrm>
            <a:off x="356681" y="1253331"/>
            <a:ext cx="11478638" cy="4351338"/>
          </a:xfrm>
        </p:spPr>
        <p:txBody>
          <a:bodyPr>
            <a:normAutofit/>
          </a:bodyPr>
          <a:lstStyle/>
          <a:p>
            <a:pPr algn="just"/>
            <a:r>
              <a:rPr lang="en-US" sz="2600" dirty="0">
                <a:latin typeface="Times New Roman" panose="02020603050405020304" pitchFamily="18" charset="0"/>
                <a:cs typeface="Times New Roman" panose="02020603050405020304" pitchFamily="18" charset="0"/>
              </a:rPr>
              <a:t>There are a number of functions which CNC is designed to perform.</a:t>
            </a:r>
          </a:p>
          <a:p>
            <a:pPr algn="just"/>
            <a:r>
              <a:rPr lang="en-US" sz="2600" dirty="0">
                <a:latin typeface="Times New Roman" panose="02020603050405020304" pitchFamily="18" charset="0"/>
                <a:cs typeface="Times New Roman" panose="02020603050405020304" pitchFamily="18" charset="0"/>
              </a:rPr>
              <a:t>Several of these functions would be either impossible or very difficult to accomplish with conventional NC. </a:t>
            </a:r>
          </a:p>
          <a:p>
            <a:pPr marL="0" indent="0" algn="just">
              <a:buNone/>
            </a:pPr>
            <a:endParaRPr lang="en-US" sz="2600" dirty="0">
              <a:latin typeface="Times New Roman" panose="02020603050405020304" pitchFamily="18" charset="0"/>
              <a:cs typeface="Times New Roman" panose="02020603050405020304" pitchFamily="18" charset="0"/>
            </a:endParaRPr>
          </a:p>
          <a:p>
            <a:pPr marL="0" indent="0" algn="just">
              <a:buNone/>
            </a:pPr>
            <a:r>
              <a:rPr lang="en-US" sz="2600" dirty="0">
                <a:latin typeface="Times New Roman" panose="02020603050405020304" pitchFamily="18" charset="0"/>
                <a:cs typeface="Times New Roman" panose="02020603050405020304" pitchFamily="18" charset="0"/>
              </a:rPr>
              <a:t>The principal functions of CNC are:</a:t>
            </a:r>
          </a:p>
          <a:p>
            <a:pPr marL="457200" lvl="1" indent="0" algn="just">
              <a:buNone/>
            </a:pPr>
            <a:r>
              <a:rPr lang="en-US" sz="2200" dirty="0">
                <a:latin typeface="Times New Roman" panose="02020603050405020304" pitchFamily="18" charset="0"/>
                <a:cs typeface="Times New Roman" panose="02020603050405020304" pitchFamily="18" charset="0"/>
              </a:rPr>
              <a:t>1. Machine tool control</a:t>
            </a:r>
          </a:p>
          <a:p>
            <a:pPr marL="457200" lvl="1" indent="0" algn="just">
              <a:buNone/>
            </a:pPr>
            <a:r>
              <a:rPr lang="en-US" sz="2200" dirty="0">
                <a:latin typeface="Times New Roman" panose="02020603050405020304" pitchFamily="18" charset="0"/>
                <a:cs typeface="Times New Roman" panose="02020603050405020304" pitchFamily="18" charset="0"/>
              </a:rPr>
              <a:t>2. In-process compensation</a:t>
            </a:r>
          </a:p>
          <a:p>
            <a:pPr marL="457200" lvl="1" indent="0" algn="just">
              <a:buNone/>
            </a:pPr>
            <a:r>
              <a:rPr lang="en-US" sz="2200" dirty="0">
                <a:latin typeface="Times New Roman" panose="02020603050405020304" pitchFamily="18" charset="0"/>
                <a:cs typeface="Times New Roman" panose="02020603050405020304" pitchFamily="18" charset="0"/>
              </a:rPr>
              <a:t>3. Improved programming and operating features</a:t>
            </a:r>
          </a:p>
          <a:p>
            <a:pPr marL="457200" lvl="1" indent="0" algn="just">
              <a:buNone/>
            </a:pPr>
            <a:r>
              <a:rPr lang="en-US" sz="2200" dirty="0">
                <a:latin typeface="Times New Roman" panose="02020603050405020304" pitchFamily="18" charset="0"/>
                <a:cs typeface="Times New Roman" panose="02020603050405020304" pitchFamily="18" charset="0"/>
              </a:rPr>
              <a:t>4. Diagnostics</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99592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58181-1C7A-7308-740C-875323F48743}"/>
              </a:ext>
            </a:extLst>
          </p:cNvPr>
          <p:cNvSpPr>
            <a:spLocks noGrp="1"/>
          </p:cNvSpPr>
          <p:nvPr>
            <p:ph type="title"/>
          </p:nvPr>
        </p:nvSpPr>
        <p:spPr>
          <a:xfrm>
            <a:off x="721468" y="-237989"/>
            <a:ext cx="10515600" cy="1325563"/>
          </a:xfrm>
        </p:spPr>
        <p:txBody>
          <a:bodyPr>
            <a:normAutofit/>
          </a:bodyPr>
          <a:lstStyle/>
          <a:p>
            <a:pPr algn="ctr"/>
            <a:r>
              <a:rPr lang="en-IN" sz="3200" dirty="0">
                <a:latin typeface="Arial" panose="020B0604020202020204" pitchFamily="34" charset="0"/>
                <a:cs typeface="Arial" panose="020B0604020202020204" pitchFamily="34" charset="0"/>
              </a:rPr>
              <a:t>MACHINE TOOL CONTROL</a:t>
            </a:r>
          </a:p>
        </p:txBody>
      </p:sp>
      <p:sp>
        <p:nvSpPr>
          <p:cNvPr id="3" name="Content Placeholder 2">
            <a:extLst>
              <a:ext uri="{FF2B5EF4-FFF2-40B4-BE49-F238E27FC236}">
                <a16:creationId xmlns:a16="http://schemas.microsoft.com/office/drawing/2014/main" id="{D41C3894-2A34-7179-7C4F-AF145793FFE9}"/>
              </a:ext>
            </a:extLst>
          </p:cNvPr>
          <p:cNvSpPr>
            <a:spLocks noGrp="1"/>
          </p:cNvSpPr>
          <p:nvPr>
            <p:ph idx="1"/>
          </p:nvPr>
        </p:nvSpPr>
        <p:spPr>
          <a:xfrm>
            <a:off x="554477" y="1087574"/>
            <a:ext cx="11196536" cy="5089389"/>
          </a:xfrm>
        </p:spPr>
        <p:txBody>
          <a:bodyPr>
            <a:noAutofit/>
          </a:bodyPr>
          <a:lstStyle/>
          <a:p>
            <a:pPr algn="just"/>
            <a:r>
              <a:rPr lang="en-US" sz="2400" dirty="0">
                <a:latin typeface="Times New Roman" panose="02020603050405020304" pitchFamily="18" charset="0"/>
                <a:cs typeface="Times New Roman" panose="02020603050405020304" pitchFamily="18" charset="0"/>
              </a:rPr>
              <a:t>The primary function of the CNC system is control of the machine tool. </a:t>
            </a:r>
          </a:p>
          <a:p>
            <a:pPr lvl="1" algn="just"/>
            <a:r>
              <a:rPr lang="en-US" sz="2000" dirty="0">
                <a:latin typeface="Times New Roman" panose="02020603050405020304" pitchFamily="18" charset="0"/>
                <a:cs typeface="Times New Roman" panose="02020603050405020304" pitchFamily="18" charset="0"/>
              </a:rPr>
              <a:t>This involves conversion of the part program instructions into machine tool motions through the computer interface and servosystem</a:t>
            </a:r>
          </a:p>
          <a:p>
            <a:pPr algn="just"/>
            <a:r>
              <a:rPr lang="en-IN" sz="2400" dirty="0">
                <a:latin typeface="Times New Roman" panose="02020603050405020304" pitchFamily="18" charset="0"/>
                <a:cs typeface="Times New Roman" panose="02020603050405020304" pitchFamily="18" charset="0"/>
              </a:rPr>
              <a:t>T</a:t>
            </a:r>
            <a:r>
              <a:rPr lang="en-IN" sz="2400" b="0" i="0" u="none" strike="noStrike" baseline="0" dirty="0">
                <a:latin typeface="Times New Roman" panose="02020603050405020304" pitchFamily="18" charset="0"/>
                <a:cs typeface="Times New Roman" panose="02020603050405020304" pitchFamily="18" charset="0"/>
              </a:rPr>
              <a:t>he controller </a:t>
            </a:r>
            <a:r>
              <a:rPr lang="en-US" sz="2400" b="0" i="0" u="none" strike="noStrike" baseline="0" dirty="0">
                <a:latin typeface="Times New Roman" panose="02020603050405020304" pitchFamily="18" charset="0"/>
                <a:cs typeface="Times New Roman" panose="02020603050405020304" pitchFamily="18" charset="0"/>
              </a:rPr>
              <a:t>consists of the </a:t>
            </a:r>
            <a:r>
              <a:rPr lang="en-US" sz="2400" b="0" i="0" u="sng" strike="noStrike" baseline="0" dirty="0">
                <a:solidFill>
                  <a:srgbClr val="FF0000"/>
                </a:solidFill>
                <a:latin typeface="Times New Roman" panose="02020603050405020304" pitchFamily="18" charset="0"/>
                <a:cs typeface="Times New Roman" panose="02020603050405020304" pitchFamily="18" charset="0"/>
              </a:rPr>
              <a:t>soft-wired </a:t>
            </a:r>
            <a:r>
              <a:rPr lang="en-US" sz="2400" u="sng" dirty="0">
                <a:solidFill>
                  <a:srgbClr val="FF0000"/>
                </a:solidFill>
                <a:latin typeface="Times New Roman" panose="02020603050405020304" pitchFamily="18" charset="0"/>
                <a:cs typeface="Times New Roman" panose="02020603050405020304" pitchFamily="18" charset="0"/>
              </a:rPr>
              <a:t>controller unit</a:t>
            </a:r>
            <a:r>
              <a:rPr lang="en-US" sz="2400" dirty="0">
                <a:latin typeface="Times New Roman" panose="02020603050405020304" pitchFamily="18" charset="0"/>
                <a:cs typeface="Times New Roman" panose="02020603050405020304" pitchFamily="18" charset="0"/>
              </a:rPr>
              <a:t> and</a:t>
            </a:r>
            <a:r>
              <a:rPr lang="en-US" sz="2400" b="0" i="0" u="none" strike="noStrike" baseline="0" dirty="0">
                <a:latin typeface="Times New Roman" panose="02020603050405020304" pitchFamily="18" charset="0"/>
                <a:cs typeface="Times New Roman" panose="02020603050405020304" pitchFamily="18" charset="0"/>
              </a:rPr>
              <a:t> </a:t>
            </a:r>
            <a:r>
              <a:rPr lang="en-US" sz="2400" b="0" i="0" u="sng" strike="noStrike" baseline="0" dirty="0">
                <a:solidFill>
                  <a:srgbClr val="FF0000"/>
                </a:solidFill>
                <a:latin typeface="Times New Roman" panose="02020603050405020304" pitchFamily="18" charset="0"/>
                <a:cs typeface="Times New Roman" panose="02020603050405020304" pitchFamily="18" charset="0"/>
              </a:rPr>
              <a:t>hard-wired </a:t>
            </a:r>
            <a:r>
              <a:rPr lang="en-US" sz="2400" u="sng" dirty="0">
                <a:solidFill>
                  <a:srgbClr val="FF0000"/>
                </a:solidFill>
                <a:latin typeface="Times New Roman" panose="02020603050405020304" pitchFamily="18" charset="0"/>
                <a:cs typeface="Times New Roman" panose="02020603050405020304" pitchFamily="18" charset="0"/>
              </a:rPr>
              <a:t>controller unit </a:t>
            </a:r>
            <a:r>
              <a:rPr lang="en-US" sz="2400" dirty="0">
                <a:latin typeface="Times New Roman" panose="02020603050405020304" pitchFamily="18" charset="0"/>
                <a:cs typeface="Times New Roman" panose="02020603050405020304" pitchFamily="18" charset="0"/>
              </a:rPr>
              <a:t>(</a:t>
            </a:r>
            <a:r>
              <a:rPr lang="en-IN" sz="2400" b="0" i="0" u="none" strike="noStrike" baseline="0" dirty="0">
                <a:latin typeface="Times New Roman" panose="02020603050405020304" pitchFamily="18" charset="0"/>
                <a:cs typeface="Times New Roman" panose="02020603050405020304" pitchFamily="18" charset="0"/>
              </a:rPr>
              <a:t>logic circuits or data buffer blocks)</a:t>
            </a:r>
            <a:endParaRPr lang="en-US" sz="2400" dirty="0">
              <a:latin typeface="Times New Roman" panose="02020603050405020304" pitchFamily="18" charset="0"/>
              <a:cs typeface="Times New Roman" panose="02020603050405020304" pitchFamily="18" charset="0"/>
            </a:endParaRPr>
          </a:p>
          <a:p>
            <a:pPr lvl="1" algn="just"/>
            <a:r>
              <a:rPr lang="en-US" sz="2000" dirty="0">
                <a:latin typeface="Times New Roman" panose="02020603050405020304" pitchFamily="18" charset="0"/>
                <a:cs typeface="Times New Roman" panose="02020603050405020304" pitchFamily="18" charset="0"/>
              </a:rPr>
              <a:t>The capability to conveniently incorporate a variety of control features into the soft-wired controller unit is the main advantage of CNC. </a:t>
            </a:r>
          </a:p>
          <a:p>
            <a:pPr lvl="1" algn="just"/>
            <a:r>
              <a:rPr lang="en-US" sz="2000" dirty="0">
                <a:latin typeface="Times New Roman" panose="02020603050405020304" pitchFamily="18" charset="0"/>
                <a:cs typeface="Times New Roman" panose="02020603050405020304" pitchFamily="18" charset="0"/>
              </a:rPr>
              <a:t>Some of the control functions, such as circular interpolation, can be accomplished more efficiently with hard-wired controller unit</a:t>
            </a: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Two alternative controller designs in CNC:</a:t>
            </a:r>
          </a:p>
          <a:p>
            <a:pPr marL="457200" lvl="1" indent="0" algn="just">
              <a:buNone/>
            </a:pPr>
            <a:r>
              <a:rPr lang="en-US" sz="2000" dirty="0">
                <a:latin typeface="Times New Roman" panose="02020603050405020304" pitchFamily="18" charset="0"/>
                <a:cs typeface="Times New Roman" panose="02020603050405020304" pitchFamily="18" charset="0"/>
              </a:rPr>
              <a:t>1. Hybrid CNC</a:t>
            </a:r>
          </a:p>
          <a:p>
            <a:pPr marL="457200" lvl="1" indent="0" algn="just">
              <a:buNone/>
            </a:pPr>
            <a:r>
              <a:rPr lang="en-US" sz="2000" dirty="0">
                <a:latin typeface="Times New Roman" panose="02020603050405020304" pitchFamily="18" charset="0"/>
                <a:cs typeface="Times New Roman" panose="02020603050405020304" pitchFamily="18" charset="0"/>
              </a:rPr>
              <a:t>2. Straight CNC</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28550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0FACA-CCFE-3B37-4A49-B3E45F879B8C}"/>
              </a:ext>
            </a:extLst>
          </p:cNvPr>
          <p:cNvSpPr>
            <a:spLocks noGrp="1"/>
          </p:cNvSpPr>
          <p:nvPr>
            <p:ph type="title"/>
          </p:nvPr>
        </p:nvSpPr>
        <p:spPr>
          <a:xfrm>
            <a:off x="838200" y="316487"/>
            <a:ext cx="10515600" cy="1325563"/>
          </a:xfrm>
        </p:spPr>
        <p:txBody>
          <a:bodyPr>
            <a:normAutofit fontScale="90000"/>
          </a:bodyPr>
          <a:lstStyle/>
          <a:p>
            <a:pPr algn="ctr"/>
            <a:r>
              <a:rPr lang="en-IN" sz="4000" b="0" i="0" u="none" strike="noStrike" baseline="0" dirty="0">
                <a:latin typeface="Arial" panose="020B0604020202020204" pitchFamily="34" charset="0"/>
                <a:cs typeface="Arial" panose="020B0604020202020204" pitchFamily="34" charset="0"/>
              </a:rPr>
              <a:t>Hybrid CNC and Straight CNC</a:t>
            </a:r>
            <a:br>
              <a:rPr lang="en-US" sz="4400" b="0" i="0" u="none" strike="noStrike" baseline="0" dirty="0">
                <a:latin typeface="Times-Roman"/>
              </a:rPr>
            </a:br>
            <a:br>
              <a:rPr lang="en-US" dirty="0"/>
            </a:br>
            <a:endParaRPr lang="en-IN" dirty="0"/>
          </a:p>
        </p:txBody>
      </p:sp>
      <p:sp>
        <p:nvSpPr>
          <p:cNvPr id="3" name="Content Placeholder 2">
            <a:extLst>
              <a:ext uri="{FF2B5EF4-FFF2-40B4-BE49-F238E27FC236}">
                <a16:creationId xmlns:a16="http://schemas.microsoft.com/office/drawing/2014/main" id="{BC000D58-9EDD-62A7-8B03-583CC2905E6F}"/>
              </a:ext>
            </a:extLst>
          </p:cNvPr>
          <p:cNvSpPr>
            <a:spLocks noGrp="1"/>
          </p:cNvSpPr>
          <p:nvPr>
            <p:ph idx="1"/>
          </p:nvPr>
        </p:nvSpPr>
        <p:spPr>
          <a:xfrm>
            <a:off x="0" y="1060316"/>
            <a:ext cx="7315200" cy="5680953"/>
          </a:xfrm>
        </p:spPr>
        <p:txBody>
          <a:bodyPr>
            <a:normAutofit/>
          </a:bodyPr>
          <a:lstStyle/>
          <a:p>
            <a:pPr marL="0" indent="0" algn="just">
              <a:buNone/>
            </a:pPr>
            <a:r>
              <a:rPr lang="en-IN" sz="2400" b="0" i="0" u="none" strike="noStrike" baseline="0" dirty="0">
                <a:latin typeface="Times New Roman" panose="02020603050405020304" pitchFamily="18" charset="0"/>
                <a:cs typeface="Times New Roman" panose="02020603050405020304" pitchFamily="18" charset="0"/>
              </a:rPr>
              <a:t>Hybrid CNC</a:t>
            </a:r>
            <a:endParaRPr lang="en-US" sz="2400" dirty="0">
              <a:latin typeface="Times New Roman" panose="02020603050405020304" pitchFamily="18" charset="0"/>
              <a:cs typeface="Times New Roman" panose="02020603050405020304" pitchFamily="18" charset="0"/>
            </a:endParaRPr>
          </a:p>
          <a:p>
            <a:pPr lvl="1" algn="just"/>
            <a:r>
              <a:rPr lang="en-US" sz="2000" dirty="0">
                <a:latin typeface="Times New Roman" panose="02020603050405020304" pitchFamily="18" charset="0"/>
                <a:cs typeface="Times New Roman" panose="02020603050405020304" pitchFamily="18" charset="0"/>
              </a:rPr>
              <a:t>hard-wired controller performs feed rate generation and circular interpolation. </a:t>
            </a:r>
          </a:p>
          <a:p>
            <a:pPr lvl="1" algn="just"/>
            <a:r>
              <a:rPr lang="en-US" sz="2000" dirty="0">
                <a:latin typeface="Times New Roman" panose="02020603050405020304" pitchFamily="18" charset="0"/>
                <a:cs typeface="Times New Roman" panose="02020603050405020304" pitchFamily="18" charset="0"/>
              </a:rPr>
              <a:t>soft-wired controller performs remaining control functions</a:t>
            </a:r>
          </a:p>
          <a:p>
            <a:pPr lvl="1" algn="just"/>
            <a:endParaRPr lang="en-US" sz="2000" dirty="0">
              <a:latin typeface="Times New Roman" panose="02020603050405020304" pitchFamily="18" charset="0"/>
              <a:cs typeface="Times New Roman" panose="02020603050405020304" pitchFamily="18" charset="0"/>
            </a:endParaRPr>
          </a:p>
          <a:p>
            <a:pPr marL="457200" lvl="1" indent="0" algn="just">
              <a:buNone/>
            </a:pPr>
            <a:endParaRPr lang="en-US" sz="2000" dirty="0">
              <a:latin typeface="Times New Roman" panose="02020603050405020304" pitchFamily="18" charset="0"/>
              <a:cs typeface="Times New Roman" panose="02020603050405020304" pitchFamily="18" charset="0"/>
            </a:endParaRPr>
          </a:p>
          <a:p>
            <a:pPr marL="457200" lvl="1"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IN" sz="2400" b="0" i="0" u="none" strike="noStrike" baseline="0" dirty="0">
                <a:latin typeface="Times New Roman" panose="02020603050405020304" pitchFamily="18" charset="0"/>
                <a:cs typeface="Times New Roman" panose="02020603050405020304" pitchFamily="18" charset="0"/>
              </a:rPr>
              <a:t>Straight CNC</a:t>
            </a:r>
            <a:endParaRPr lang="en-US" sz="2400" b="0" i="0" u="none" strike="noStrike" baseline="0" dirty="0">
              <a:latin typeface="Times New Roman" panose="02020603050405020304" pitchFamily="18" charset="0"/>
              <a:cs typeface="Times New Roman" panose="02020603050405020304" pitchFamily="18" charset="0"/>
            </a:endParaRPr>
          </a:p>
          <a:p>
            <a:pPr lvl="1" algn="just"/>
            <a:r>
              <a:rPr lang="en-US" sz="2000" b="0" i="0" u="none" strike="noStrike" baseline="0" dirty="0">
                <a:latin typeface="Times New Roman" panose="02020603050405020304" pitchFamily="18" charset="0"/>
                <a:cs typeface="Times New Roman" panose="02020603050405020304" pitchFamily="18" charset="0"/>
              </a:rPr>
              <a:t>Computer (soft-wired controller) performs all the NC functions such as Interpolation, tool position feedback</a:t>
            </a:r>
          </a:p>
          <a:p>
            <a:pPr lvl="1" algn="just"/>
            <a:r>
              <a:rPr lang="en-US" sz="2000" b="0" i="0" u="none" strike="noStrike" baseline="0" dirty="0">
                <a:latin typeface="Times New Roman" panose="02020603050405020304" pitchFamily="18" charset="0"/>
                <a:cs typeface="Times New Roman" panose="02020603050405020304" pitchFamily="18" charset="0"/>
              </a:rPr>
              <a:t>hard-wired controller required to interface the computer with the machine tool and the operator's console. Interpolation, tool position feedback, and</a:t>
            </a:r>
          </a:p>
          <a:p>
            <a:pPr lvl="1" algn="just"/>
            <a:r>
              <a:rPr lang="en-US" sz="2000" b="0" i="0" u="none" strike="noStrike" baseline="0" dirty="0">
                <a:latin typeface="Times New Roman" panose="02020603050405020304" pitchFamily="18" charset="0"/>
                <a:cs typeface="Times New Roman" panose="02020603050405020304" pitchFamily="18" charset="0"/>
              </a:rPr>
              <a:t>the computer required in a straight CNC system must be more powerful than that needed </a:t>
            </a:r>
            <a:r>
              <a:rPr lang="en-IN" sz="2000" b="0" i="0" u="none" strike="noStrike" baseline="0" dirty="0">
                <a:latin typeface="Times New Roman" panose="02020603050405020304" pitchFamily="18" charset="0"/>
                <a:cs typeface="Times New Roman" panose="02020603050405020304" pitchFamily="18" charset="0"/>
              </a:rPr>
              <a:t>for a hybrid system</a:t>
            </a:r>
            <a:endParaRPr lang="en-US"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4AA54D8-E80F-ED4F-4233-476F430E0740}"/>
              </a:ext>
            </a:extLst>
          </p:cNvPr>
          <p:cNvPicPr>
            <a:picLocks noChangeAspect="1"/>
          </p:cNvPicPr>
          <p:nvPr/>
        </p:nvPicPr>
        <p:blipFill>
          <a:blip r:embed="rId2"/>
          <a:stretch>
            <a:fillRect/>
          </a:stretch>
        </p:blipFill>
        <p:spPr>
          <a:xfrm>
            <a:off x="7568119" y="979268"/>
            <a:ext cx="4623881" cy="2320936"/>
          </a:xfrm>
          <a:prstGeom prst="rect">
            <a:avLst/>
          </a:prstGeom>
        </p:spPr>
      </p:pic>
      <p:pic>
        <p:nvPicPr>
          <p:cNvPr id="5" name="Picture 4">
            <a:extLst>
              <a:ext uri="{FF2B5EF4-FFF2-40B4-BE49-F238E27FC236}">
                <a16:creationId xmlns:a16="http://schemas.microsoft.com/office/drawing/2014/main" id="{19D4A936-4257-DED6-18C5-5E132BBAF125}"/>
              </a:ext>
            </a:extLst>
          </p:cNvPr>
          <p:cNvPicPr>
            <a:picLocks noChangeAspect="1"/>
          </p:cNvPicPr>
          <p:nvPr/>
        </p:nvPicPr>
        <p:blipFill>
          <a:blip r:embed="rId3"/>
          <a:stretch>
            <a:fillRect/>
          </a:stretch>
        </p:blipFill>
        <p:spPr>
          <a:xfrm>
            <a:off x="7386637" y="4932581"/>
            <a:ext cx="4733925" cy="1933575"/>
          </a:xfrm>
          <a:prstGeom prst="rect">
            <a:avLst/>
          </a:prstGeom>
        </p:spPr>
      </p:pic>
    </p:spTree>
    <p:extLst>
      <p:ext uri="{BB962C8B-B14F-4D97-AF65-F5344CB8AC3E}">
        <p14:creationId xmlns:p14="http://schemas.microsoft.com/office/powerpoint/2010/main" val="14853677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E5053-2AEC-B051-02EC-137EC9E9F40F}"/>
              </a:ext>
            </a:extLst>
          </p:cNvPr>
          <p:cNvSpPr>
            <a:spLocks noGrp="1"/>
          </p:cNvSpPr>
          <p:nvPr>
            <p:ph type="title"/>
          </p:nvPr>
        </p:nvSpPr>
        <p:spPr>
          <a:xfrm>
            <a:off x="838200" y="0"/>
            <a:ext cx="10515600" cy="1325563"/>
          </a:xfrm>
        </p:spPr>
        <p:txBody>
          <a:bodyPr>
            <a:normAutofit/>
          </a:bodyPr>
          <a:lstStyle/>
          <a:p>
            <a:pPr algn="ctr"/>
            <a:r>
              <a:rPr lang="en-US" sz="3200" dirty="0">
                <a:latin typeface="Arial" panose="020B0604020202020204" pitchFamily="34" charset="0"/>
                <a:cs typeface="Arial" panose="020B0604020202020204" pitchFamily="34" charset="0"/>
              </a:rPr>
              <a:t>IN-PROCESS COMPENSATION</a:t>
            </a:r>
            <a:endParaRPr lang="en-IN" sz="32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7A8C8FF0-1690-76B5-CE96-C79EFAC2B8EB}"/>
              </a:ext>
            </a:extLst>
          </p:cNvPr>
          <p:cNvSpPr>
            <a:spLocks noGrp="1"/>
          </p:cNvSpPr>
          <p:nvPr>
            <p:ph idx="1"/>
          </p:nvPr>
        </p:nvSpPr>
        <p:spPr>
          <a:xfrm>
            <a:off x="486383" y="1429966"/>
            <a:ext cx="11556460" cy="4746997"/>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IN-PROCESS COMPENSATION - dynamic correction of the machine tool motions for changes or errors which occur during processing. </a:t>
            </a:r>
          </a:p>
          <a:p>
            <a:pPr marL="0" indent="0" algn="just">
              <a:buNone/>
            </a:pPr>
            <a:r>
              <a:rPr lang="en-US" sz="2400" dirty="0">
                <a:latin typeface="Times New Roman" panose="02020603050405020304" pitchFamily="18" charset="0"/>
                <a:cs typeface="Times New Roman" panose="02020603050405020304" pitchFamily="18" charset="0"/>
              </a:rPr>
              <a:t>Some of the CNC in-process compensation are:</a:t>
            </a:r>
          </a:p>
          <a:p>
            <a:pPr lvl="1" algn="just"/>
            <a:r>
              <a:rPr lang="en-US" dirty="0">
                <a:latin typeface="Times New Roman" panose="02020603050405020304" pitchFamily="18" charset="0"/>
                <a:cs typeface="Times New Roman" panose="02020603050405020304" pitchFamily="18" charset="0"/>
              </a:rPr>
              <a:t>Adjustments for errors sensed by in-process inspection</a:t>
            </a:r>
          </a:p>
          <a:p>
            <a:pPr lvl="1" algn="just"/>
            <a:r>
              <a:rPr lang="en-US" dirty="0">
                <a:latin typeface="Times New Roman" panose="02020603050405020304" pitchFamily="18" charset="0"/>
                <a:cs typeface="Times New Roman" panose="02020603050405020304" pitchFamily="18" charset="0"/>
              </a:rPr>
              <a:t>Re-computation of axis positions when an inspection probe is used to locate a datum reference on a work-part</a:t>
            </a:r>
          </a:p>
          <a:p>
            <a:pPr lvl="1" algn="just"/>
            <a:r>
              <a:rPr lang="en-US" dirty="0">
                <a:latin typeface="Times New Roman" panose="02020603050405020304" pitchFamily="18" charset="0"/>
                <a:cs typeface="Times New Roman" panose="02020603050405020304" pitchFamily="18" charset="0"/>
              </a:rPr>
              <a:t>Offset adjustments for tool radius and length</a:t>
            </a:r>
          </a:p>
          <a:p>
            <a:pPr lvl="1" algn="just"/>
            <a:r>
              <a:rPr lang="en-US" dirty="0">
                <a:latin typeface="Times New Roman" panose="02020603050405020304" pitchFamily="18" charset="0"/>
                <a:cs typeface="Times New Roman" panose="02020603050405020304" pitchFamily="18" charset="0"/>
              </a:rPr>
              <a:t>Adaptive control adjustments to speed and/or feed</a:t>
            </a:r>
          </a:p>
        </p:txBody>
      </p:sp>
    </p:spTree>
    <p:extLst>
      <p:ext uri="{BB962C8B-B14F-4D97-AF65-F5344CB8AC3E}">
        <p14:creationId xmlns:p14="http://schemas.microsoft.com/office/powerpoint/2010/main" val="17296264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1146E-9D10-1C2C-EB6A-493FCB7FF3E2}"/>
              </a:ext>
            </a:extLst>
          </p:cNvPr>
          <p:cNvSpPr>
            <a:spLocks noGrp="1"/>
          </p:cNvSpPr>
          <p:nvPr>
            <p:ph type="title"/>
          </p:nvPr>
        </p:nvSpPr>
        <p:spPr>
          <a:xfrm>
            <a:off x="838200" y="18255"/>
            <a:ext cx="10515600" cy="1325563"/>
          </a:xfrm>
        </p:spPr>
        <p:txBody>
          <a:bodyPr>
            <a:noAutofit/>
          </a:bodyPr>
          <a:lstStyle/>
          <a:p>
            <a:pPr algn="ctr"/>
            <a:r>
              <a:rPr lang="en-US" sz="2800" b="0" i="0" u="none" strike="noStrike" baseline="0" dirty="0">
                <a:latin typeface="Arial" panose="020B0604020202020204" pitchFamily="34" charset="0"/>
                <a:cs typeface="Arial" panose="020B0604020202020204" pitchFamily="34" charset="0"/>
              </a:rPr>
              <a:t>IMPROVED PROGRAMMING AND OPERATING FEATURES </a:t>
            </a:r>
            <a:br>
              <a:rPr lang="en-US" sz="2800" b="0" i="0" u="none" strike="noStrike" baseline="0" dirty="0">
                <a:latin typeface="Arial" panose="020B0604020202020204" pitchFamily="34" charset="0"/>
                <a:cs typeface="Arial" panose="020B0604020202020204" pitchFamily="34" charset="0"/>
              </a:rPr>
            </a:br>
            <a:r>
              <a:rPr lang="en-US" sz="2800" b="0" i="0" u="none" strike="noStrike" baseline="0" dirty="0">
                <a:latin typeface="Arial" panose="020B0604020202020204" pitchFamily="34" charset="0"/>
                <a:cs typeface="Arial" panose="020B0604020202020204" pitchFamily="34" charset="0"/>
              </a:rPr>
              <a:t>and </a:t>
            </a:r>
            <a:br>
              <a:rPr lang="en-US" sz="2800" b="0" i="0" u="none" strike="noStrike" baseline="0" dirty="0">
                <a:latin typeface="Arial" panose="020B0604020202020204" pitchFamily="34" charset="0"/>
                <a:cs typeface="Arial" panose="020B0604020202020204" pitchFamily="34" charset="0"/>
              </a:rPr>
            </a:br>
            <a:r>
              <a:rPr lang="en-US" sz="2800" b="0" i="0" u="none" strike="noStrike" baseline="0" dirty="0">
                <a:latin typeface="Arial" panose="020B0604020202020204" pitchFamily="34" charset="0"/>
                <a:cs typeface="Arial" panose="020B0604020202020204" pitchFamily="34" charset="0"/>
              </a:rPr>
              <a:t>DIAGNOSTICS</a:t>
            </a:r>
            <a:endParaRPr lang="en-IN" sz="28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43FD4B17-6844-3093-210E-7D08920F1257}"/>
              </a:ext>
            </a:extLst>
          </p:cNvPr>
          <p:cNvSpPr>
            <a:spLocks noGrp="1"/>
          </p:cNvSpPr>
          <p:nvPr>
            <p:ph idx="1"/>
          </p:nvPr>
        </p:nvSpPr>
        <p:spPr>
          <a:xfrm>
            <a:off x="672830" y="1631072"/>
            <a:ext cx="10515600" cy="4351338"/>
          </a:xfrm>
        </p:spPr>
        <p:txBody>
          <a:bodyPr>
            <a:noAutofit/>
          </a:bodyPr>
          <a:lstStyle/>
          <a:p>
            <a:pPr marL="0" indent="0" algn="just">
              <a:buNone/>
            </a:pPr>
            <a:r>
              <a:rPr lang="en-US" sz="2400" b="0" i="0" u="none" strike="noStrike" baseline="0" dirty="0">
                <a:latin typeface="Times New Roman" panose="02020603050405020304" pitchFamily="18" charset="0"/>
                <a:cs typeface="Times New Roman" panose="02020603050405020304" pitchFamily="18" charset="0"/>
              </a:rPr>
              <a:t>IMPROVED PROGRAMMING AND OPERATING FEATURES - The flexibility of soft-wired control has permitted the introduction of many convenient programming and operating features</a:t>
            </a:r>
          </a:p>
          <a:p>
            <a:pPr lvl="1" algn="just"/>
            <a:r>
              <a:rPr lang="en-US" sz="2000" b="0" i="0" u="none" strike="noStrike" baseline="0" dirty="0">
                <a:latin typeface="Times New Roman" panose="02020603050405020304" pitchFamily="18" charset="0"/>
                <a:cs typeface="Times New Roman" panose="02020603050405020304" pitchFamily="18" charset="0"/>
              </a:rPr>
              <a:t>Editing of part programs at the machine. </a:t>
            </a:r>
          </a:p>
          <a:p>
            <a:pPr lvl="1" algn="just"/>
            <a:r>
              <a:rPr lang="en-US" sz="2000" b="0" i="0" u="none" strike="noStrike" baseline="0" dirty="0">
                <a:latin typeface="Times New Roman" panose="02020603050405020304" pitchFamily="18" charset="0"/>
                <a:cs typeface="Times New Roman" panose="02020603050405020304" pitchFamily="18" charset="0"/>
              </a:rPr>
              <a:t>Graphic display of the tool path to verify the tape.</a:t>
            </a:r>
          </a:p>
          <a:p>
            <a:pPr lvl="1" algn="just"/>
            <a:r>
              <a:rPr lang="en-US" sz="2000" b="0" i="0" u="none" strike="noStrike" baseline="0" dirty="0">
                <a:latin typeface="Times New Roman" panose="02020603050405020304" pitchFamily="18" charset="0"/>
                <a:cs typeface="Times New Roman" panose="02020603050405020304" pitchFamily="18" charset="0"/>
              </a:rPr>
              <a:t>Various types of interpolation: circular, parabolic, and cubic interpolation.</a:t>
            </a:r>
          </a:p>
          <a:p>
            <a:pPr lvl="1" algn="just"/>
            <a:r>
              <a:rPr lang="en-US" sz="2000" b="0" i="0" u="none" strike="noStrike" baseline="0" dirty="0">
                <a:latin typeface="Times New Roman" panose="02020603050405020304" pitchFamily="18" charset="0"/>
                <a:cs typeface="Times New Roman" panose="02020603050405020304" pitchFamily="18" charset="0"/>
              </a:rPr>
              <a:t>Support of both U.S. customary units and metric units (International System)</a:t>
            </a:r>
          </a:p>
          <a:p>
            <a:pPr algn="just"/>
            <a:endParaRPr lang="en-US" sz="2400" b="0" i="0" u="none" strike="noStrike" baseline="0" dirty="0">
              <a:latin typeface="Times New Roman" panose="02020603050405020304" pitchFamily="18" charset="0"/>
              <a:cs typeface="Times New Roman" panose="02020603050405020304" pitchFamily="18" charset="0"/>
            </a:endParaRPr>
          </a:p>
          <a:p>
            <a:pPr marL="0" indent="0" algn="just">
              <a:buNone/>
            </a:pPr>
            <a:r>
              <a:rPr lang="en-US" sz="2400" b="0" i="0" u="none" strike="noStrike" baseline="0" dirty="0">
                <a:latin typeface="Times New Roman" panose="02020603050405020304" pitchFamily="18" charset="0"/>
                <a:cs typeface="Times New Roman" panose="02020603050405020304" pitchFamily="18" charset="0"/>
              </a:rPr>
              <a:t>DIAGNOSTICS</a:t>
            </a:r>
            <a:r>
              <a:rPr lang="en-US" sz="2400" dirty="0">
                <a:latin typeface="Times New Roman" panose="02020603050405020304" pitchFamily="18" charset="0"/>
                <a:cs typeface="Times New Roman" panose="02020603050405020304" pitchFamily="18" charset="0"/>
              </a:rPr>
              <a:t> - </a:t>
            </a:r>
            <a:r>
              <a:rPr lang="en-US" sz="2400" b="0" i="0" u="none" strike="noStrike" baseline="0" dirty="0">
                <a:latin typeface="Times New Roman" panose="02020603050405020304" pitchFamily="18" charset="0"/>
                <a:cs typeface="Times New Roman" panose="02020603050405020304" pitchFamily="18" charset="0"/>
              </a:rPr>
              <a:t> NC machine tools are complex and expensive systems</a:t>
            </a:r>
          </a:p>
          <a:p>
            <a:pPr marL="457200" lvl="1" indent="0" algn="just">
              <a:buNone/>
            </a:pPr>
            <a:r>
              <a:rPr lang="en-US" sz="2000" b="0" i="0" u="none" strike="noStrike" baseline="0" dirty="0">
                <a:latin typeface="Times New Roman" panose="02020603050405020304" pitchFamily="18" charset="0"/>
                <a:cs typeface="Times New Roman" panose="02020603050405020304" pitchFamily="18" charset="0"/>
              </a:rPr>
              <a:t>The complexity increases the risk of component failures which lead to system downtime. Therefore avoid downtime as much as possible.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38725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D25BF-C533-0B4C-F00B-9210D2391DD3}"/>
              </a:ext>
            </a:extLst>
          </p:cNvPr>
          <p:cNvSpPr>
            <a:spLocks noGrp="1"/>
          </p:cNvSpPr>
          <p:nvPr>
            <p:ph type="title"/>
          </p:nvPr>
        </p:nvSpPr>
        <p:spPr>
          <a:xfrm>
            <a:off x="838200" y="-228262"/>
            <a:ext cx="10515600" cy="1325563"/>
          </a:xfrm>
        </p:spPr>
        <p:txBody>
          <a:bodyPr>
            <a:normAutofit/>
          </a:bodyPr>
          <a:lstStyle/>
          <a:p>
            <a:pPr algn="ctr"/>
            <a:r>
              <a:rPr lang="en-IN" sz="3200" b="0" i="0" u="none" strike="noStrike" baseline="0" dirty="0">
                <a:latin typeface="Arial" panose="020B0604020202020204" pitchFamily="34" charset="0"/>
                <a:cs typeface="Arial" panose="020B0604020202020204" pitchFamily="34" charset="0"/>
              </a:rPr>
              <a:t>ADVANTAGES OF CNC</a:t>
            </a:r>
            <a:endParaRPr lang="en-IN" sz="6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6F6D8EB7-0563-9F07-14AE-3E271647A09D}"/>
              </a:ext>
            </a:extLst>
          </p:cNvPr>
          <p:cNvSpPr>
            <a:spLocks noGrp="1"/>
          </p:cNvSpPr>
          <p:nvPr>
            <p:ph idx="1"/>
          </p:nvPr>
        </p:nvSpPr>
        <p:spPr>
          <a:xfrm>
            <a:off x="653374" y="1183599"/>
            <a:ext cx="10700425" cy="4604358"/>
          </a:xfrm>
        </p:spPr>
        <p:txBody>
          <a:bodyPr>
            <a:normAutofit/>
          </a:bodyPr>
          <a:lstStyle/>
          <a:p>
            <a:pPr marL="0" indent="0">
              <a:buNone/>
            </a:pPr>
            <a:r>
              <a:rPr lang="en-US" sz="2400" b="0" i="1" u="none" strike="noStrike" baseline="0" dirty="0">
                <a:latin typeface="Times New Roman" panose="02020603050405020304" pitchFamily="18" charset="0"/>
                <a:cs typeface="Times New Roman" panose="02020603050405020304" pitchFamily="18" charset="0"/>
              </a:rPr>
              <a:t>1. The part program tape and tape reader are used only once</a:t>
            </a:r>
          </a:p>
          <a:p>
            <a:pPr marL="0" indent="0">
              <a:buNone/>
            </a:pPr>
            <a:r>
              <a:rPr lang="en-US" sz="2400" b="0" i="0" u="none" strike="noStrike" baseline="0" dirty="0">
                <a:latin typeface="Times New Roman" panose="02020603050405020304" pitchFamily="18" charset="0"/>
                <a:cs typeface="Times New Roman" panose="02020603050405020304" pitchFamily="18" charset="0"/>
              </a:rPr>
              <a:t>2. </a:t>
            </a:r>
            <a:r>
              <a:rPr lang="en-US" sz="2400" b="0" i="1" u="none" strike="noStrike" baseline="0" dirty="0">
                <a:latin typeface="Times New Roman" panose="02020603050405020304" pitchFamily="18" charset="0"/>
                <a:cs typeface="Times New Roman" panose="02020603050405020304" pitchFamily="18" charset="0"/>
              </a:rPr>
              <a:t>Tape editing at the machine site</a:t>
            </a:r>
            <a:endParaRPr lang="en-US" sz="2400" i="1" dirty="0">
              <a:latin typeface="Times New Roman" panose="02020603050405020304" pitchFamily="18" charset="0"/>
              <a:cs typeface="Times New Roman" panose="02020603050405020304" pitchFamily="18" charset="0"/>
            </a:endParaRPr>
          </a:p>
          <a:p>
            <a:pPr marL="0" indent="0">
              <a:buNone/>
            </a:pPr>
            <a:r>
              <a:rPr lang="en-IN" sz="2400" b="0" i="0" u="none" strike="noStrike" baseline="0" dirty="0">
                <a:latin typeface="Times New Roman" panose="02020603050405020304" pitchFamily="18" charset="0"/>
                <a:cs typeface="Times New Roman" panose="02020603050405020304" pitchFamily="18" charset="0"/>
              </a:rPr>
              <a:t>3. </a:t>
            </a:r>
            <a:r>
              <a:rPr lang="en-IN" sz="2400" b="0" i="1" u="none" strike="noStrike" baseline="0" dirty="0">
                <a:latin typeface="Times New Roman" panose="02020603050405020304" pitchFamily="18" charset="0"/>
                <a:cs typeface="Times New Roman" panose="02020603050405020304" pitchFamily="18" charset="0"/>
              </a:rPr>
              <a:t>Metric conversion</a:t>
            </a:r>
            <a:endParaRPr lang="en-US" sz="2400" b="0" i="1" u="none" strike="noStrike" baseline="0" dirty="0">
              <a:latin typeface="Times New Roman" panose="02020603050405020304" pitchFamily="18" charset="0"/>
              <a:cs typeface="Times New Roman" panose="02020603050405020304" pitchFamily="18" charset="0"/>
            </a:endParaRPr>
          </a:p>
          <a:p>
            <a:pPr marL="0" indent="0">
              <a:buNone/>
            </a:pPr>
            <a:r>
              <a:rPr lang="en-IN" sz="2400" b="0" i="0" u="none" strike="noStrike" baseline="0" dirty="0">
                <a:latin typeface="Times New Roman" panose="02020603050405020304" pitchFamily="18" charset="0"/>
                <a:cs typeface="Times New Roman" panose="02020603050405020304" pitchFamily="18" charset="0"/>
              </a:rPr>
              <a:t>4. </a:t>
            </a:r>
            <a:r>
              <a:rPr lang="en-IN" sz="2400" b="0" i="1" u="none" strike="noStrike" baseline="0" dirty="0">
                <a:latin typeface="Times New Roman" panose="02020603050405020304" pitchFamily="18" charset="0"/>
                <a:cs typeface="Times New Roman" panose="02020603050405020304" pitchFamily="18" charset="0"/>
              </a:rPr>
              <a:t>Greater flexibility</a:t>
            </a:r>
            <a:endParaRPr lang="en-US" sz="2400" i="1" dirty="0">
              <a:latin typeface="Times New Roman" panose="02020603050405020304" pitchFamily="18" charset="0"/>
              <a:cs typeface="Times New Roman" panose="02020603050405020304" pitchFamily="18" charset="0"/>
            </a:endParaRPr>
          </a:p>
          <a:p>
            <a:pPr marL="0" indent="0">
              <a:buNone/>
            </a:pPr>
            <a:r>
              <a:rPr lang="en-IN" sz="2400" b="0" i="0" u="none" strike="noStrike" baseline="0" dirty="0">
                <a:latin typeface="Times New Roman" panose="02020603050405020304" pitchFamily="18" charset="0"/>
                <a:cs typeface="Times New Roman" panose="02020603050405020304" pitchFamily="18" charset="0"/>
              </a:rPr>
              <a:t>5. </a:t>
            </a:r>
            <a:r>
              <a:rPr lang="en-IN" sz="2400" b="0" i="1" u="none" strike="noStrike" baseline="0" dirty="0">
                <a:latin typeface="Times New Roman" panose="02020603050405020304" pitchFamily="18" charset="0"/>
                <a:cs typeface="Times New Roman" panose="02020603050405020304" pitchFamily="18" charset="0"/>
              </a:rPr>
              <a:t>User-written programs</a:t>
            </a:r>
            <a:endParaRPr lang="en-US" sz="2400" b="0" i="1" u="none" strike="noStrike" baseline="0" dirty="0">
              <a:latin typeface="Times New Roman" panose="02020603050405020304" pitchFamily="18" charset="0"/>
              <a:cs typeface="Times New Roman" panose="02020603050405020304" pitchFamily="18" charset="0"/>
            </a:endParaRPr>
          </a:p>
          <a:p>
            <a:pPr marL="0" indent="0">
              <a:buNone/>
            </a:pPr>
            <a:r>
              <a:rPr lang="en-IN" sz="2400" b="0" i="0" u="none" strike="noStrike" baseline="0" dirty="0">
                <a:latin typeface="Times New Roman" panose="02020603050405020304" pitchFamily="18" charset="0"/>
                <a:cs typeface="Times New Roman" panose="02020603050405020304" pitchFamily="18" charset="0"/>
              </a:rPr>
              <a:t>6. </a:t>
            </a:r>
            <a:r>
              <a:rPr lang="en-IN" sz="2400" b="0" i="1" u="none" strike="noStrike" baseline="0" dirty="0">
                <a:latin typeface="Times New Roman" panose="02020603050405020304" pitchFamily="18" charset="0"/>
                <a:cs typeface="Times New Roman" panose="02020603050405020304" pitchFamily="18" charset="0"/>
              </a:rPr>
              <a:t>Total manufacturing system</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35929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5401B-3416-93FB-01CF-EDCE91F69907}"/>
              </a:ext>
            </a:extLst>
          </p:cNvPr>
          <p:cNvSpPr>
            <a:spLocks noGrp="1"/>
          </p:cNvSpPr>
          <p:nvPr>
            <p:ph type="title"/>
          </p:nvPr>
        </p:nvSpPr>
        <p:spPr>
          <a:xfrm>
            <a:off x="838200" y="112206"/>
            <a:ext cx="10515600" cy="1325563"/>
          </a:xfrm>
        </p:spPr>
        <p:txBody>
          <a:bodyPr>
            <a:normAutofit/>
          </a:bodyPr>
          <a:lstStyle/>
          <a:p>
            <a:pPr algn="ctr"/>
            <a:r>
              <a:rPr lang="en-IN" sz="3600" dirty="0">
                <a:latin typeface="Arial" panose="020B0604020202020204" pitchFamily="34" charset="0"/>
                <a:cs typeface="Arial" panose="020B0604020202020204" pitchFamily="34" charset="0"/>
              </a:rPr>
              <a:t>Computer-assisted Part Programming</a:t>
            </a:r>
          </a:p>
        </p:txBody>
      </p:sp>
      <p:sp>
        <p:nvSpPr>
          <p:cNvPr id="3" name="Content Placeholder 2">
            <a:extLst>
              <a:ext uri="{FF2B5EF4-FFF2-40B4-BE49-F238E27FC236}">
                <a16:creationId xmlns:a16="http://schemas.microsoft.com/office/drawing/2014/main" id="{A4189A4B-7F1F-F0F2-6292-554FC52416BF}"/>
              </a:ext>
            </a:extLst>
          </p:cNvPr>
          <p:cNvSpPr>
            <a:spLocks noGrp="1"/>
          </p:cNvSpPr>
          <p:nvPr>
            <p:ph idx="1"/>
          </p:nvPr>
        </p:nvSpPr>
        <p:spPr>
          <a:xfrm>
            <a:off x="437745" y="1253331"/>
            <a:ext cx="11468911" cy="4351338"/>
          </a:xfrm>
        </p:spPr>
        <p:txBody>
          <a:bodyPr>
            <a:normAutofit/>
          </a:bodyPr>
          <a:lstStyle/>
          <a:p>
            <a:pPr algn="just"/>
            <a:r>
              <a:rPr lang="en-US" sz="2600" dirty="0">
                <a:latin typeface="Times New Roman" panose="02020603050405020304" pitchFamily="18" charset="0"/>
                <a:cs typeface="Times New Roman" panose="02020603050405020304" pitchFamily="18" charset="0"/>
              </a:rPr>
              <a:t>Employ the high-speed </a:t>
            </a:r>
            <a:r>
              <a:rPr lang="en-US" sz="2600" u="sng" dirty="0">
                <a:latin typeface="Times New Roman" panose="02020603050405020304" pitchFamily="18" charset="0"/>
                <a:cs typeface="Times New Roman" panose="02020603050405020304" pitchFamily="18" charset="0"/>
              </a:rPr>
              <a:t>digital computer to assist in the part programming process</a:t>
            </a:r>
            <a:r>
              <a:rPr lang="en-US" sz="2600" dirty="0">
                <a:latin typeface="Times New Roman" panose="02020603050405020304" pitchFamily="18" charset="0"/>
                <a:cs typeface="Times New Roman" panose="02020603050405020304" pitchFamily="18" charset="0"/>
              </a:rPr>
              <a:t>. </a:t>
            </a:r>
          </a:p>
          <a:p>
            <a:pPr algn="just"/>
            <a:r>
              <a:rPr lang="en-US" sz="2600" dirty="0">
                <a:latin typeface="Times New Roman" panose="02020603050405020304" pitchFamily="18" charset="0"/>
                <a:cs typeface="Times New Roman" panose="02020603050405020304" pitchFamily="18" charset="0"/>
              </a:rPr>
              <a:t>Many part-programming language systems have been developed to perform automatically most of the calculations which the programmer would otherwise be forced to do.</a:t>
            </a:r>
          </a:p>
          <a:p>
            <a:pPr algn="just"/>
            <a:r>
              <a:rPr lang="en-US" sz="2600" dirty="0">
                <a:latin typeface="Times New Roman" panose="02020603050405020304" pitchFamily="18" charset="0"/>
                <a:cs typeface="Times New Roman" panose="02020603050405020304" pitchFamily="18" charset="0"/>
              </a:rPr>
              <a:t>This saves time and results in a more accurate and more efficient part program.</a:t>
            </a:r>
            <a:endParaRPr lang="en-IN" sz="2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0820216-3DA2-A7AC-6872-CECAF21463BE}"/>
              </a:ext>
            </a:extLst>
          </p:cNvPr>
          <p:cNvPicPr>
            <a:picLocks noChangeAspect="1"/>
          </p:cNvPicPr>
          <p:nvPr/>
        </p:nvPicPr>
        <p:blipFill>
          <a:blip r:embed="rId2"/>
          <a:stretch>
            <a:fillRect/>
          </a:stretch>
        </p:blipFill>
        <p:spPr>
          <a:xfrm>
            <a:off x="3472774" y="3429000"/>
            <a:ext cx="5603132" cy="3230116"/>
          </a:xfrm>
          <a:prstGeom prst="rect">
            <a:avLst/>
          </a:prstGeom>
        </p:spPr>
      </p:pic>
    </p:spTree>
    <p:extLst>
      <p:ext uri="{BB962C8B-B14F-4D97-AF65-F5344CB8AC3E}">
        <p14:creationId xmlns:p14="http://schemas.microsoft.com/office/powerpoint/2010/main" val="31247583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1FF78-17B9-7BEC-8D6D-FCFA66666E79}"/>
              </a:ext>
            </a:extLst>
          </p:cNvPr>
          <p:cNvSpPr>
            <a:spLocks noGrp="1"/>
          </p:cNvSpPr>
          <p:nvPr>
            <p:ph type="title"/>
          </p:nvPr>
        </p:nvSpPr>
        <p:spPr>
          <a:xfrm>
            <a:off x="847117" y="-194553"/>
            <a:ext cx="10515600" cy="1325563"/>
          </a:xfrm>
        </p:spPr>
        <p:txBody>
          <a:bodyPr>
            <a:normAutofit/>
          </a:bodyPr>
          <a:lstStyle/>
          <a:p>
            <a:pPr algn="ctr"/>
            <a:r>
              <a:rPr lang="en-IN" sz="3600" dirty="0">
                <a:latin typeface="Arial" panose="020B0604020202020204" pitchFamily="34" charset="0"/>
                <a:cs typeface="Arial" panose="020B0604020202020204" pitchFamily="34" charset="0"/>
              </a:rPr>
              <a:t>Computer-assisted Part Programming</a:t>
            </a:r>
            <a:endParaRPr lang="en-IN" sz="3600" dirty="0"/>
          </a:p>
        </p:txBody>
      </p:sp>
      <p:sp>
        <p:nvSpPr>
          <p:cNvPr id="3" name="Content Placeholder 2">
            <a:extLst>
              <a:ext uri="{FF2B5EF4-FFF2-40B4-BE49-F238E27FC236}">
                <a16:creationId xmlns:a16="http://schemas.microsoft.com/office/drawing/2014/main" id="{DF483A14-CCB5-3C0D-9ECA-172EE868B8B6}"/>
              </a:ext>
            </a:extLst>
          </p:cNvPr>
          <p:cNvSpPr>
            <a:spLocks noGrp="1"/>
          </p:cNvSpPr>
          <p:nvPr>
            <p:ph idx="1"/>
          </p:nvPr>
        </p:nvSpPr>
        <p:spPr>
          <a:xfrm>
            <a:off x="351817" y="862586"/>
            <a:ext cx="11506200" cy="5810588"/>
          </a:xfrm>
        </p:spPr>
        <p:txBody>
          <a:bodyPr>
            <a:noAutofit/>
          </a:bodyPr>
          <a:lstStyle/>
          <a:p>
            <a:pPr marL="0" indent="0" algn="just">
              <a:buNone/>
            </a:pPr>
            <a:r>
              <a:rPr lang="en-US" sz="2600" b="1" u="sng" dirty="0">
                <a:solidFill>
                  <a:srgbClr val="FF0000"/>
                </a:solidFill>
                <a:latin typeface="Times New Roman" panose="02020603050405020304" pitchFamily="18" charset="0"/>
                <a:cs typeface="Times New Roman" panose="02020603050405020304" pitchFamily="18" charset="0"/>
              </a:rPr>
              <a:t>The part programmer's job</a:t>
            </a:r>
          </a:p>
          <a:p>
            <a:pPr marL="0" indent="0" algn="just">
              <a:buNone/>
            </a:pPr>
            <a:r>
              <a:rPr lang="en-US" sz="2600" dirty="0">
                <a:latin typeface="Times New Roman" panose="02020603050405020304" pitchFamily="18" charset="0"/>
                <a:cs typeface="Times New Roman" panose="02020603050405020304" pitchFamily="18" charset="0"/>
              </a:rPr>
              <a:t>The part programmer's responsibility in computer-assisted part programming consists of two basic steps:</a:t>
            </a:r>
          </a:p>
          <a:p>
            <a:pPr marL="457200" lvl="1" indent="0" algn="just">
              <a:buNone/>
            </a:pPr>
            <a:r>
              <a:rPr lang="en-US" sz="2200" dirty="0">
                <a:latin typeface="Times New Roman" panose="02020603050405020304" pitchFamily="18" charset="0"/>
                <a:cs typeface="Times New Roman" panose="02020603050405020304" pitchFamily="18" charset="0"/>
              </a:rPr>
              <a:t>1. Defining the </a:t>
            </a:r>
            <a:r>
              <a:rPr lang="en-US" sz="2200" dirty="0" err="1">
                <a:latin typeface="Times New Roman" panose="02020603050405020304" pitchFamily="18" charset="0"/>
                <a:cs typeface="Times New Roman" panose="02020603050405020304" pitchFamily="18" charset="0"/>
              </a:rPr>
              <a:t>workpart</a:t>
            </a:r>
            <a:r>
              <a:rPr lang="en-US" sz="2200" dirty="0">
                <a:latin typeface="Times New Roman" panose="02020603050405020304" pitchFamily="18" charset="0"/>
                <a:cs typeface="Times New Roman" panose="02020603050405020304" pitchFamily="18" charset="0"/>
              </a:rPr>
              <a:t> geometry</a:t>
            </a:r>
          </a:p>
          <a:p>
            <a:pPr marL="457200" lvl="1" indent="0" algn="just">
              <a:buNone/>
            </a:pPr>
            <a:r>
              <a:rPr lang="en-US" sz="2200" dirty="0">
                <a:latin typeface="Times New Roman" panose="02020603050405020304" pitchFamily="18" charset="0"/>
                <a:cs typeface="Times New Roman" panose="02020603050405020304" pitchFamily="18" charset="0"/>
              </a:rPr>
              <a:t>2. Specifying the operation sequence and tool path</a:t>
            </a:r>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It is the part programmer's task to enumerate the elements out of which the part is composed.</a:t>
            </a:r>
          </a:p>
          <a:p>
            <a:pPr algn="just"/>
            <a:r>
              <a:rPr lang="en-US" sz="2600" dirty="0">
                <a:latin typeface="Times New Roman" panose="02020603050405020304" pitchFamily="18" charset="0"/>
                <a:cs typeface="Times New Roman" panose="02020603050405020304" pitchFamily="18" charset="0"/>
              </a:rPr>
              <a:t>Each geometric element must be identified and the dimensions and location of the element explicitly defined.</a:t>
            </a:r>
          </a:p>
          <a:p>
            <a:pPr algn="just"/>
            <a:r>
              <a:rPr lang="en-US" sz="2600" dirty="0">
                <a:latin typeface="Times New Roman" panose="02020603050405020304" pitchFamily="18" charset="0"/>
                <a:cs typeface="Times New Roman" panose="02020603050405020304" pitchFamily="18" charset="0"/>
              </a:rPr>
              <a:t>After defining the work-part geometry, the programmer must next construct the path that the cutter will follow to machine the part. </a:t>
            </a:r>
          </a:p>
          <a:p>
            <a:pPr algn="just"/>
            <a:r>
              <a:rPr lang="en-US" sz="2600" dirty="0">
                <a:latin typeface="Times New Roman" panose="02020603050405020304" pitchFamily="18" charset="0"/>
                <a:cs typeface="Times New Roman" panose="02020603050405020304" pitchFamily="18" charset="0"/>
              </a:rPr>
              <a:t>This tool path specification involves a detailed step-by-step sequence of cutter moves</a:t>
            </a:r>
          </a:p>
        </p:txBody>
      </p:sp>
    </p:spTree>
    <p:extLst>
      <p:ext uri="{BB962C8B-B14F-4D97-AF65-F5344CB8AC3E}">
        <p14:creationId xmlns:p14="http://schemas.microsoft.com/office/powerpoint/2010/main" val="38578772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ACD9A-3003-8A69-34B1-06ADAEEED11D}"/>
              </a:ext>
            </a:extLst>
          </p:cNvPr>
          <p:cNvSpPr>
            <a:spLocks noGrp="1"/>
          </p:cNvSpPr>
          <p:nvPr>
            <p:ph type="title"/>
          </p:nvPr>
        </p:nvSpPr>
        <p:spPr>
          <a:xfrm>
            <a:off x="916021" y="-169896"/>
            <a:ext cx="10515600" cy="1325563"/>
          </a:xfrm>
        </p:spPr>
        <p:txBody>
          <a:bodyPr>
            <a:normAutofit/>
          </a:bodyPr>
          <a:lstStyle/>
          <a:p>
            <a:pPr algn="ctr"/>
            <a:r>
              <a:rPr lang="en-IN" sz="3600" dirty="0">
                <a:latin typeface="Arial" panose="020B0604020202020204" pitchFamily="34" charset="0"/>
                <a:cs typeface="Arial" panose="020B0604020202020204" pitchFamily="34" charset="0"/>
              </a:rPr>
              <a:t>Computer-assisted Part Programming</a:t>
            </a:r>
            <a:endParaRPr lang="en-IN" sz="3600" dirty="0"/>
          </a:p>
        </p:txBody>
      </p:sp>
      <p:sp>
        <p:nvSpPr>
          <p:cNvPr id="3" name="Content Placeholder 2">
            <a:extLst>
              <a:ext uri="{FF2B5EF4-FFF2-40B4-BE49-F238E27FC236}">
                <a16:creationId xmlns:a16="http://schemas.microsoft.com/office/drawing/2014/main" id="{5952B5DC-2C01-50B6-EAF0-C10DD7ADA476}"/>
              </a:ext>
            </a:extLst>
          </p:cNvPr>
          <p:cNvSpPr>
            <a:spLocks noGrp="1"/>
          </p:cNvSpPr>
          <p:nvPr>
            <p:ph idx="1"/>
          </p:nvPr>
        </p:nvSpPr>
        <p:spPr>
          <a:xfrm>
            <a:off x="408562" y="972766"/>
            <a:ext cx="11371634" cy="5690681"/>
          </a:xfrm>
        </p:spPr>
        <p:txBody>
          <a:bodyPr>
            <a:normAutofit lnSpcReduction="10000"/>
          </a:bodyPr>
          <a:lstStyle/>
          <a:p>
            <a:pPr marL="0" indent="0" algn="just">
              <a:buNone/>
            </a:pPr>
            <a:r>
              <a:rPr lang="en-US" b="1" u="sng" dirty="0">
                <a:solidFill>
                  <a:srgbClr val="FF0000"/>
                </a:solidFill>
                <a:latin typeface="Times New Roman" panose="02020603050405020304" pitchFamily="18" charset="0"/>
                <a:cs typeface="Times New Roman" panose="02020603050405020304" pitchFamily="18" charset="0"/>
              </a:rPr>
              <a:t>The computer's job</a:t>
            </a:r>
          </a:p>
          <a:p>
            <a:pPr marL="0" indent="0" algn="just">
              <a:buNone/>
            </a:pPr>
            <a:r>
              <a:rPr lang="en-US" dirty="0">
                <a:latin typeface="Times New Roman" panose="02020603050405020304" pitchFamily="18" charset="0"/>
                <a:cs typeface="Times New Roman" panose="02020603050405020304" pitchFamily="18" charset="0"/>
              </a:rPr>
              <a:t>The computer's job in computer-assisted part programming consists of the following steps:</a:t>
            </a:r>
          </a:p>
          <a:p>
            <a:pPr marL="457200" lvl="1" indent="0" algn="just">
              <a:buNone/>
            </a:pPr>
            <a:r>
              <a:rPr lang="en-US" dirty="0">
                <a:latin typeface="Times New Roman" panose="02020603050405020304" pitchFamily="18" charset="0"/>
                <a:cs typeface="Times New Roman" panose="02020603050405020304" pitchFamily="18" charset="0"/>
              </a:rPr>
              <a:t>1. Input translation</a:t>
            </a:r>
          </a:p>
          <a:p>
            <a:pPr marL="457200" lvl="1" indent="0" algn="just">
              <a:buNone/>
            </a:pPr>
            <a:r>
              <a:rPr lang="en-US" dirty="0">
                <a:latin typeface="Times New Roman" panose="02020603050405020304" pitchFamily="18" charset="0"/>
                <a:cs typeface="Times New Roman" panose="02020603050405020304" pitchFamily="18" charset="0"/>
              </a:rPr>
              <a:t>2. Arithmetic calculations</a:t>
            </a:r>
          </a:p>
          <a:p>
            <a:pPr marL="457200" lvl="1" indent="0" algn="just">
              <a:buNone/>
            </a:pPr>
            <a:r>
              <a:rPr lang="en-US" dirty="0">
                <a:latin typeface="Times New Roman" panose="02020603050405020304" pitchFamily="18" charset="0"/>
                <a:cs typeface="Times New Roman" panose="02020603050405020304" pitchFamily="18" charset="0"/>
              </a:rPr>
              <a:t>3. Cutter offset computation</a:t>
            </a:r>
          </a:p>
          <a:p>
            <a:pPr marL="457200" lvl="1" indent="0" algn="just">
              <a:buNone/>
            </a:pPr>
            <a:r>
              <a:rPr lang="en-US" dirty="0">
                <a:latin typeface="Times New Roman" panose="02020603050405020304" pitchFamily="18" charset="0"/>
                <a:cs typeface="Times New Roman" panose="02020603050405020304" pitchFamily="18" charset="0"/>
              </a:rPr>
              <a:t>4. Postprocessor</a:t>
            </a:r>
          </a:p>
          <a:p>
            <a:pPr algn="just"/>
            <a:r>
              <a:rPr lang="en-US" dirty="0">
                <a:latin typeface="Times New Roman" panose="02020603050405020304" pitchFamily="18" charset="0"/>
                <a:cs typeface="Times New Roman" panose="02020603050405020304" pitchFamily="18" charset="0"/>
              </a:rPr>
              <a:t>The part programmer enters the program written in the APT or other language. The </a:t>
            </a:r>
            <a:r>
              <a:rPr lang="en-US" i="1" u="sng" dirty="0">
                <a:solidFill>
                  <a:srgbClr val="FF0000"/>
                </a:solidFill>
                <a:latin typeface="Times New Roman" panose="02020603050405020304" pitchFamily="18" charset="0"/>
                <a:cs typeface="Times New Roman" panose="02020603050405020304" pitchFamily="18" charset="0"/>
              </a:rPr>
              <a:t>input translation</a:t>
            </a:r>
            <a:r>
              <a:rPr lang="en-US" i="1" dirty="0">
                <a:latin typeface="Times New Roman" panose="02020603050405020304" pitchFamily="18" charset="0"/>
                <a:cs typeface="Times New Roman" panose="02020603050405020304" pitchFamily="18" charset="0"/>
              </a:rPr>
              <a:t> component converts the coded instructions contained in the program into computer-usable form</a:t>
            </a:r>
            <a:r>
              <a:rPr lang="en-US" dirty="0">
                <a:latin typeface="Times New Roman" panose="02020603050405020304" pitchFamily="18" charset="0"/>
                <a:cs typeface="Times New Roman" panose="02020603050405020304" pitchFamily="18" charset="0"/>
              </a:rPr>
              <a:t>, preparatory to further processing.</a:t>
            </a:r>
          </a:p>
          <a:p>
            <a:pPr algn="just"/>
            <a:r>
              <a:rPr lang="en-US" dirty="0">
                <a:latin typeface="Times New Roman" panose="02020603050405020304" pitchFamily="18" charset="0"/>
                <a:cs typeface="Times New Roman" panose="02020603050405020304" pitchFamily="18" charset="0"/>
              </a:rPr>
              <a:t>The </a:t>
            </a:r>
            <a:r>
              <a:rPr lang="en-US" u="sng" dirty="0">
                <a:solidFill>
                  <a:srgbClr val="FF0000"/>
                </a:solidFill>
                <a:latin typeface="Times New Roman" panose="02020603050405020304" pitchFamily="18" charset="0"/>
                <a:cs typeface="Times New Roman" panose="02020603050405020304" pitchFamily="18" charset="0"/>
              </a:rPr>
              <a:t>arithmetic calculations </a:t>
            </a:r>
            <a:r>
              <a:rPr lang="en-US" dirty="0">
                <a:latin typeface="Times New Roman" panose="02020603050405020304" pitchFamily="18" charset="0"/>
                <a:cs typeface="Times New Roman" panose="02020603050405020304" pitchFamily="18" charset="0"/>
              </a:rPr>
              <a:t>unit of the system consists of </a:t>
            </a:r>
            <a:r>
              <a:rPr lang="en-US" i="1" dirty="0">
                <a:latin typeface="Times New Roman" panose="02020603050405020304" pitchFamily="18" charset="0"/>
                <a:cs typeface="Times New Roman" panose="02020603050405020304" pitchFamily="18" charset="0"/>
              </a:rPr>
              <a:t>a comprehensive set of subroutines for solving the mathematics required to generate the part surface</a:t>
            </a:r>
            <a:r>
              <a:rPr lang="en-US" dirty="0">
                <a:latin typeface="Times New Roman" panose="02020603050405020304" pitchFamily="18" charset="0"/>
                <a:cs typeface="Times New Roman" panose="02020603050405020304" pitchFamily="18" charset="0"/>
              </a:rPr>
              <a:t>. Includes time-consuming geometry and trigonometry calculations, to concentrate on the work-part processing.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18267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FD92F-1540-EFFA-B392-FC9B3E489B0E}"/>
              </a:ext>
            </a:extLst>
          </p:cNvPr>
          <p:cNvSpPr>
            <a:spLocks noGrp="1"/>
          </p:cNvSpPr>
          <p:nvPr>
            <p:ph type="title"/>
          </p:nvPr>
        </p:nvSpPr>
        <p:spPr>
          <a:xfrm>
            <a:off x="1003571" y="-218534"/>
            <a:ext cx="10515600" cy="1325563"/>
          </a:xfrm>
        </p:spPr>
        <p:txBody>
          <a:bodyPr>
            <a:normAutofit/>
          </a:bodyPr>
          <a:lstStyle/>
          <a:p>
            <a:pPr algn="ctr"/>
            <a:r>
              <a:rPr lang="en-IN" sz="3600" dirty="0">
                <a:latin typeface="Arial" panose="020B0604020202020204" pitchFamily="34" charset="0"/>
                <a:cs typeface="Arial" panose="020B0604020202020204" pitchFamily="34" charset="0"/>
              </a:rPr>
              <a:t>Computer-assisted Part Programming</a:t>
            </a:r>
            <a:endParaRPr lang="en-IN" sz="3600" dirty="0"/>
          </a:p>
        </p:txBody>
      </p:sp>
      <p:sp>
        <p:nvSpPr>
          <p:cNvPr id="3" name="Content Placeholder 2">
            <a:extLst>
              <a:ext uri="{FF2B5EF4-FFF2-40B4-BE49-F238E27FC236}">
                <a16:creationId xmlns:a16="http://schemas.microsoft.com/office/drawing/2014/main" id="{A77F2600-5A8E-3557-6BF6-521901F69FF6}"/>
              </a:ext>
            </a:extLst>
          </p:cNvPr>
          <p:cNvSpPr>
            <a:spLocks noGrp="1"/>
          </p:cNvSpPr>
          <p:nvPr>
            <p:ph idx="1"/>
          </p:nvPr>
        </p:nvSpPr>
        <p:spPr>
          <a:xfrm>
            <a:off x="136187" y="1107028"/>
            <a:ext cx="9289915" cy="5575873"/>
          </a:xfrm>
        </p:spPr>
        <p:txBody>
          <a:bodyPr>
            <a:normAutofit/>
          </a:bodyPr>
          <a:lstStyle/>
          <a:p>
            <a:pPr algn="just"/>
            <a:r>
              <a:rPr lang="en-US" sz="2400" dirty="0">
                <a:latin typeface="Times New Roman" panose="02020603050405020304" pitchFamily="18" charset="0"/>
                <a:cs typeface="Times New Roman" panose="02020603050405020304" pitchFamily="18" charset="0"/>
              </a:rPr>
              <a:t>The important task of the part programmer is that of constructing the tool path.</a:t>
            </a:r>
          </a:p>
          <a:p>
            <a:pPr algn="just"/>
            <a:r>
              <a:rPr lang="en-US" sz="2400" dirty="0">
                <a:latin typeface="Times New Roman" panose="02020603050405020304" pitchFamily="18" charset="0"/>
                <a:cs typeface="Times New Roman" panose="02020603050405020304" pitchFamily="18" charset="0"/>
              </a:rPr>
              <a:t>The actual tool path is different from the part outline because the tool path is defined as the path taken by the center of the cutter. </a:t>
            </a:r>
          </a:p>
          <a:p>
            <a:pPr algn="just"/>
            <a:r>
              <a:rPr lang="en-US" sz="2400" dirty="0">
                <a:latin typeface="Times New Roman" panose="02020603050405020304" pitchFamily="18" charset="0"/>
                <a:cs typeface="Times New Roman" panose="02020603050405020304" pitchFamily="18" charset="0"/>
              </a:rPr>
              <a:t>The purpose of the </a:t>
            </a:r>
            <a:r>
              <a:rPr lang="en-US" sz="2400" b="1" u="sng" dirty="0">
                <a:solidFill>
                  <a:srgbClr val="FF0000"/>
                </a:solidFill>
                <a:latin typeface="Times New Roman" panose="02020603050405020304" pitchFamily="18" charset="0"/>
                <a:cs typeface="Times New Roman" panose="02020603050405020304" pitchFamily="18" charset="0"/>
              </a:rPr>
              <a:t>cutter offset computations</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is to offset the tool path from the desired part surface by the radius of the cutter. This means that the part programmer can define the exact part outline in the geometry statements. </a:t>
            </a:r>
          </a:p>
          <a:p>
            <a:pPr algn="just"/>
            <a:r>
              <a:rPr lang="en-US" sz="2400" dirty="0">
                <a:latin typeface="Times New Roman" panose="02020603050405020304" pitchFamily="18" charset="0"/>
                <a:cs typeface="Times New Roman" panose="02020603050405020304" pitchFamily="18" charset="0"/>
              </a:rPr>
              <a:t>NC machine tool systems are different. They have different features and capabilities. They use different NC tape formats. </a:t>
            </a:r>
          </a:p>
          <a:p>
            <a:pPr algn="just"/>
            <a:r>
              <a:rPr lang="en-US" sz="2400" dirty="0">
                <a:latin typeface="Times New Roman" panose="02020603050405020304" pitchFamily="18" charset="0"/>
                <a:cs typeface="Times New Roman" panose="02020603050405020304" pitchFamily="18" charset="0"/>
              </a:rPr>
              <a:t>The final task of the computer in computer-assisted part programming is to take the general instructions and make them specific to a particular machine tool system.</a:t>
            </a:r>
          </a:p>
          <a:p>
            <a:pPr algn="just"/>
            <a:r>
              <a:rPr lang="en-US" sz="2400" dirty="0">
                <a:latin typeface="Times New Roman" panose="02020603050405020304" pitchFamily="18" charset="0"/>
                <a:cs typeface="Times New Roman" panose="02020603050405020304" pitchFamily="18" charset="0"/>
              </a:rPr>
              <a:t>The unit that performs this task is called a </a:t>
            </a:r>
            <a:r>
              <a:rPr lang="en-US" sz="2400" b="1" u="sng" dirty="0">
                <a:solidFill>
                  <a:srgbClr val="FF0000"/>
                </a:solidFill>
                <a:latin typeface="Times New Roman" panose="02020603050405020304" pitchFamily="18" charset="0"/>
                <a:cs typeface="Times New Roman" panose="02020603050405020304" pitchFamily="18" charset="0"/>
              </a:rPr>
              <a:t>postprocessor</a:t>
            </a:r>
            <a:r>
              <a:rPr lang="en-US" sz="2400" dirty="0">
                <a:latin typeface="Times New Roman" panose="02020603050405020304" pitchFamily="18" charset="0"/>
                <a:cs typeface="Times New Roman" panose="02020603050405020304" pitchFamily="18" charset="0"/>
              </a:rPr>
              <a:t>.</a:t>
            </a:r>
          </a:p>
        </p:txBody>
      </p:sp>
      <p:pic>
        <p:nvPicPr>
          <p:cNvPr id="4" name="Picture 3">
            <a:extLst>
              <a:ext uri="{FF2B5EF4-FFF2-40B4-BE49-F238E27FC236}">
                <a16:creationId xmlns:a16="http://schemas.microsoft.com/office/drawing/2014/main" id="{2691A3E2-5D59-1FF0-EDB8-15498B5F8099}"/>
              </a:ext>
            </a:extLst>
          </p:cNvPr>
          <p:cNvPicPr>
            <a:picLocks noChangeAspect="1"/>
          </p:cNvPicPr>
          <p:nvPr/>
        </p:nvPicPr>
        <p:blipFill>
          <a:blip r:embed="rId2"/>
          <a:stretch>
            <a:fillRect/>
          </a:stretch>
        </p:blipFill>
        <p:spPr>
          <a:xfrm>
            <a:off x="9298157" y="681037"/>
            <a:ext cx="2893843" cy="2149712"/>
          </a:xfrm>
          <a:prstGeom prst="rect">
            <a:avLst/>
          </a:prstGeom>
        </p:spPr>
      </p:pic>
    </p:spTree>
    <p:extLst>
      <p:ext uri="{BB962C8B-B14F-4D97-AF65-F5344CB8AC3E}">
        <p14:creationId xmlns:p14="http://schemas.microsoft.com/office/powerpoint/2010/main" val="32914598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9A01B-41C9-0833-B50F-02F5EB1030BE}"/>
              </a:ext>
            </a:extLst>
          </p:cNvPr>
          <p:cNvSpPr>
            <a:spLocks noGrp="1"/>
          </p:cNvSpPr>
          <p:nvPr>
            <p:ph type="title"/>
          </p:nvPr>
        </p:nvSpPr>
        <p:spPr>
          <a:xfrm>
            <a:off x="838200" y="-257445"/>
            <a:ext cx="10515600" cy="1325563"/>
          </a:xfrm>
        </p:spPr>
        <p:txBody>
          <a:bodyPr>
            <a:normAutofit/>
          </a:bodyPr>
          <a:lstStyle/>
          <a:p>
            <a:pPr algn="ctr"/>
            <a:r>
              <a:rPr lang="en-IN" sz="3600" dirty="0">
                <a:latin typeface="Arial" panose="020B0604020202020204" pitchFamily="34" charset="0"/>
                <a:cs typeface="Arial" panose="020B0604020202020204" pitchFamily="34" charset="0"/>
              </a:rPr>
              <a:t>NC part programming languages</a:t>
            </a:r>
          </a:p>
        </p:txBody>
      </p:sp>
      <p:sp>
        <p:nvSpPr>
          <p:cNvPr id="3" name="Content Placeholder 2">
            <a:extLst>
              <a:ext uri="{FF2B5EF4-FFF2-40B4-BE49-F238E27FC236}">
                <a16:creationId xmlns:a16="http://schemas.microsoft.com/office/drawing/2014/main" id="{0B844CED-6507-D002-2A9D-9BA9BDEBA164}"/>
              </a:ext>
            </a:extLst>
          </p:cNvPr>
          <p:cNvSpPr>
            <a:spLocks noGrp="1"/>
          </p:cNvSpPr>
          <p:nvPr>
            <p:ph idx="1"/>
          </p:nvPr>
        </p:nvSpPr>
        <p:spPr>
          <a:xfrm>
            <a:off x="505839" y="1068118"/>
            <a:ext cx="11352178" cy="5108845"/>
          </a:xfrm>
        </p:spPr>
        <p:txBody>
          <a:bodyPr>
            <a:noAutofit/>
          </a:bodyPr>
          <a:lstStyle/>
          <a:p>
            <a:r>
              <a:rPr lang="en-US" sz="2400" dirty="0">
                <a:latin typeface="Times New Roman" panose="02020603050405020304" pitchFamily="18" charset="0"/>
                <a:cs typeface="Times New Roman" panose="02020603050405020304" pitchFamily="18" charset="0"/>
              </a:rPr>
              <a:t>APT (Automatically Programmed Tools) - The product developed by of the MIT developmental work on NC programming systems in June 1956 and it was first used in production around 1959</a:t>
            </a:r>
          </a:p>
          <a:p>
            <a:r>
              <a:rPr lang="en-IN" sz="2400" b="0" i="1" u="none" strike="noStrike" baseline="0" dirty="0">
                <a:latin typeface="Times New Roman" panose="02020603050405020304" pitchFamily="18" charset="0"/>
                <a:cs typeface="Times New Roman" panose="02020603050405020304" pitchFamily="18" charset="0"/>
              </a:rPr>
              <a:t>ADAPT</a:t>
            </a:r>
            <a:endParaRPr lang="en-US" sz="2400" b="0" i="1" u="none" strike="noStrike" baseline="0" dirty="0">
              <a:latin typeface="Times New Roman" panose="02020603050405020304" pitchFamily="18" charset="0"/>
              <a:cs typeface="Times New Roman" panose="02020603050405020304" pitchFamily="18" charset="0"/>
            </a:endParaRPr>
          </a:p>
          <a:p>
            <a:r>
              <a:rPr lang="en-US" sz="2400" b="0" i="1" u="none" strike="noStrike" baseline="0" dirty="0">
                <a:latin typeface="Times New Roman" panose="02020603050405020304" pitchFamily="18" charset="0"/>
                <a:cs typeface="Times New Roman" panose="02020603050405020304" pitchFamily="18" charset="0"/>
              </a:rPr>
              <a:t>EXAPT (Extended subset of APT)</a:t>
            </a:r>
          </a:p>
          <a:p>
            <a:r>
              <a:rPr lang="en-IN" sz="2400" b="0" i="1" u="none" strike="noStrike" baseline="0" dirty="0">
                <a:latin typeface="Times New Roman" panose="02020603050405020304" pitchFamily="18" charset="0"/>
                <a:cs typeface="Times New Roman" panose="02020603050405020304" pitchFamily="18" charset="0"/>
              </a:rPr>
              <a:t>UNIAPT</a:t>
            </a:r>
          </a:p>
          <a:p>
            <a:r>
              <a:rPr lang="en-US" sz="2400" b="0" i="1" u="none" strike="noStrike" baseline="0" dirty="0">
                <a:latin typeface="Times New Roman" panose="02020603050405020304" pitchFamily="18" charset="0"/>
                <a:cs typeface="Times New Roman" panose="02020603050405020304" pitchFamily="18" charset="0"/>
              </a:rPr>
              <a:t>SPLIT (Sundstrand Processing Language Internally Translated)</a:t>
            </a:r>
          </a:p>
          <a:p>
            <a:r>
              <a:rPr lang="en-IN" sz="2400" b="0" i="1" u="none" strike="noStrike" baseline="0" dirty="0">
                <a:latin typeface="Times New Roman" panose="02020603050405020304" pitchFamily="18" charset="0"/>
                <a:cs typeface="Times New Roman" panose="02020603050405020304" pitchFamily="18" charset="0"/>
              </a:rPr>
              <a:t>COMPACT II</a:t>
            </a:r>
            <a:endParaRPr lang="en-US" sz="2400" i="1" dirty="0">
              <a:latin typeface="Times New Roman" panose="02020603050405020304" pitchFamily="18" charset="0"/>
              <a:cs typeface="Times New Roman" panose="02020603050405020304" pitchFamily="18" charset="0"/>
            </a:endParaRPr>
          </a:p>
          <a:p>
            <a:r>
              <a:rPr lang="en-IN" sz="2400" b="0" i="1" u="none" strike="noStrike" baseline="0" dirty="0">
                <a:latin typeface="Times New Roman" panose="02020603050405020304" pitchFamily="18" charset="0"/>
                <a:cs typeface="Times New Roman" panose="02020603050405020304" pitchFamily="18" charset="0"/>
              </a:rPr>
              <a:t>PROMPT</a:t>
            </a:r>
            <a:endParaRPr lang="en-US" sz="2400" b="0" i="1" u="none" strike="noStrike" baseline="0" dirty="0">
              <a:latin typeface="Times New Roman" panose="02020603050405020304" pitchFamily="18" charset="0"/>
              <a:cs typeface="Times New Roman" panose="02020603050405020304" pitchFamily="18" charset="0"/>
            </a:endParaRPr>
          </a:p>
          <a:p>
            <a:r>
              <a:rPr lang="en-IN" sz="2400" b="0" i="1" u="none" strike="noStrike" baseline="0" dirty="0">
                <a:latin typeface="Times New Roman" panose="02020603050405020304" pitchFamily="18" charset="0"/>
                <a:cs typeface="Times New Roman" panose="02020603050405020304" pitchFamily="18" charset="0"/>
              </a:rPr>
              <a:t>CINTURNII</a:t>
            </a:r>
          </a:p>
          <a:p>
            <a:pPr marL="0" indent="0">
              <a:buNone/>
            </a:pPr>
            <a:endParaRPr lang="en-IN" sz="2400" i="1" dirty="0">
              <a:latin typeface="Times New Roman" panose="02020603050405020304" pitchFamily="18" charset="0"/>
              <a:cs typeface="Times New Roman" panose="02020603050405020304" pitchFamily="18" charset="0"/>
            </a:endParaRPr>
          </a:p>
          <a:p>
            <a:pPr marL="0" indent="0">
              <a:buNone/>
            </a:pPr>
            <a:r>
              <a:rPr lang="en-IN" sz="2400" i="1" dirty="0">
                <a:latin typeface="Times New Roman" panose="02020603050405020304" pitchFamily="18" charset="0"/>
                <a:cs typeface="Times New Roman" panose="02020603050405020304" pitchFamily="18" charset="0"/>
              </a:rPr>
              <a:t>Reference: </a:t>
            </a:r>
            <a:r>
              <a:rPr lang="en-US" sz="2400" i="1" dirty="0">
                <a:latin typeface="Times New Roman" panose="02020603050405020304" pitchFamily="18" charset="0"/>
                <a:cs typeface="Times New Roman" panose="02020603050405020304" pitchFamily="18" charset="0"/>
              </a:rPr>
              <a:t>Numerical Control, The Beginnings of CAM – CAD/CAM by M. P. Groover</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81549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72E1-3888-A81F-7A2F-AA58B7659A15}"/>
              </a:ext>
            </a:extLst>
          </p:cNvPr>
          <p:cNvSpPr>
            <a:spLocks noGrp="1"/>
          </p:cNvSpPr>
          <p:nvPr>
            <p:ph type="title"/>
          </p:nvPr>
        </p:nvSpPr>
        <p:spPr>
          <a:xfrm>
            <a:off x="838200" y="-111530"/>
            <a:ext cx="10515600" cy="1325563"/>
          </a:xfrm>
        </p:spPr>
        <p:txBody>
          <a:bodyPr>
            <a:normAutofit/>
          </a:bodyPr>
          <a:lstStyle/>
          <a:p>
            <a:pPr algn="ctr"/>
            <a:r>
              <a:rPr lang="en-IN" sz="3600" dirty="0">
                <a:latin typeface="Arial" panose="020B0604020202020204" pitchFamily="34" charset="0"/>
                <a:cs typeface="Arial" panose="020B0604020202020204" pitchFamily="34" charset="0"/>
              </a:rPr>
              <a:t>The APT Language</a:t>
            </a:r>
          </a:p>
        </p:txBody>
      </p:sp>
      <p:sp>
        <p:nvSpPr>
          <p:cNvPr id="3" name="Content Placeholder 2">
            <a:extLst>
              <a:ext uri="{FF2B5EF4-FFF2-40B4-BE49-F238E27FC236}">
                <a16:creationId xmlns:a16="http://schemas.microsoft.com/office/drawing/2014/main" id="{DA7EE670-31D0-478D-6B34-3F23C1967A2F}"/>
              </a:ext>
            </a:extLst>
          </p:cNvPr>
          <p:cNvSpPr>
            <a:spLocks noGrp="1"/>
          </p:cNvSpPr>
          <p:nvPr>
            <p:ph idx="1"/>
          </p:nvPr>
        </p:nvSpPr>
        <p:spPr>
          <a:xfrm>
            <a:off x="311285" y="1214033"/>
            <a:ext cx="11439728" cy="4962930"/>
          </a:xfrm>
        </p:spPr>
        <p:txBody>
          <a:bodyPr>
            <a:normAutofit/>
          </a:bodyPr>
          <a:lstStyle/>
          <a:p>
            <a:pPr algn="just"/>
            <a:r>
              <a:rPr lang="en-US" dirty="0">
                <a:latin typeface="Times New Roman" panose="02020603050405020304" pitchFamily="18" charset="0"/>
                <a:cs typeface="Times New Roman" panose="02020603050405020304" pitchFamily="18" charset="0"/>
              </a:rPr>
              <a:t> APT language is English-like statements and to show how they are used to command the cutting tool through its sequence of machining operations.</a:t>
            </a:r>
          </a:p>
          <a:p>
            <a:pPr marL="0" indent="0" algn="just">
              <a:buNone/>
            </a:pPr>
            <a:endParaRPr lang="en-US" dirty="0">
              <a:latin typeface="Times New Roman" panose="02020603050405020304" pitchFamily="18" charset="0"/>
              <a:cs typeface="Times New Roman" panose="02020603050405020304" pitchFamily="18" charset="0"/>
            </a:endParaRPr>
          </a:p>
          <a:p>
            <a:pPr marL="971550" lvl="1" indent="-514350" algn="just">
              <a:buAutoNum type="arabicPeriod"/>
            </a:pPr>
            <a:r>
              <a:rPr lang="en-US" dirty="0">
                <a:latin typeface="Times New Roman" panose="02020603050405020304" pitchFamily="18" charset="0"/>
                <a:cs typeface="Times New Roman" panose="02020603050405020304" pitchFamily="18" charset="0"/>
              </a:rPr>
              <a:t>Geometry statements - These define the geometric elements that comprise the work-part</a:t>
            </a:r>
          </a:p>
          <a:p>
            <a:pPr marL="971550" lvl="1" indent="-514350" algn="just">
              <a:buAutoNum type="arabicPeriod"/>
            </a:pPr>
            <a:r>
              <a:rPr lang="en-US" dirty="0">
                <a:latin typeface="Times New Roman" panose="02020603050405020304" pitchFamily="18" charset="0"/>
                <a:cs typeface="Times New Roman" panose="02020603050405020304" pitchFamily="18" charset="0"/>
              </a:rPr>
              <a:t>Motion statements - These are used to describe the path taken by the cutting tool.</a:t>
            </a:r>
          </a:p>
          <a:p>
            <a:pPr marL="457200" lvl="1" indent="0" algn="just">
              <a:buNone/>
            </a:pPr>
            <a:r>
              <a:rPr lang="en-US" dirty="0">
                <a:latin typeface="Times New Roman" panose="02020603050405020304" pitchFamily="18" charset="0"/>
                <a:cs typeface="Times New Roman" panose="02020603050405020304" pitchFamily="18" charset="0"/>
              </a:rPr>
              <a:t>3.   Postprocessor statements - They are used to specify feeds and speeds and to actuate   	other features of the machine.</a:t>
            </a:r>
          </a:p>
          <a:p>
            <a:pPr marL="457200" lvl="1" indent="0" algn="just">
              <a:buNone/>
            </a:pPr>
            <a:r>
              <a:rPr lang="en-US" dirty="0">
                <a:latin typeface="Times New Roman" panose="02020603050405020304" pitchFamily="18" charset="0"/>
                <a:cs typeface="Times New Roman" panose="02020603050405020304" pitchFamily="18" charset="0"/>
              </a:rPr>
              <a:t>4. Auxiliary statements - These are miscellaneous statements used to identify the part, 	tool, tolerances, and so on.</a:t>
            </a:r>
          </a:p>
        </p:txBody>
      </p:sp>
    </p:spTree>
    <p:extLst>
      <p:ext uri="{BB962C8B-B14F-4D97-AF65-F5344CB8AC3E}">
        <p14:creationId xmlns:p14="http://schemas.microsoft.com/office/powerpoint/2010/main" val="36524070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0D260-2937-6D47-0DFA-59B744A6EB58}"/>
              </a:ext>
            </a:extLst>
          </p:cNvPr>
          <p:cNvSpPr>
            <a:spLocks noGrp="1"/>
          </p:cNvSpPr>
          <p:nvPr>
            <p:ph type="title"/>
          </p:nvPr>
        </p:nvSpPr>
        <p:spPr>
          <a:xfrm>
            <a:off x="838200" y="248393"/>
            <a:ext cx="10515600" cy="1325563"/>
          </a:xfrm>
        </p:spPr>
        <p:txBody>
          <a:bodyPr>
            <a:normAutofit fontScale="90000"/>
          </a:bodyPr>
          <a:lstStyle/>
          <a:p>
            <a:pPr algn="ctr"/>
            <a:r>
              <a:rPr lang="en-IN" sz="3200" b="0" i="0" u="none" strike="noStrike" baseline="0" dirty="0">
                <a:latin typeface="Arial" panose="020B0604020202020204" pitchFamily="34" charset="0"/>
                <a:cs typeface="Arial" panose="020B0604020202020204" pitchFamily="34" charset="0"/>
              </a:rPr>
              <a:t>Geometry statements - </a:t>
            </a:r>
            <a:r>
              <a:rPr lang="en-US" sz="3100" i="1" dirty="0">
                <a:latin typeface="Times New Roman" panose="02020603050405020304" pitchFamily="18" charset="0"/>
                <a:cs typeface="Times New Roman" panose="02020603050405020304" pitchFamily="18" charset="0"/>
              </a:rPr>
              <a:t>The definition of the work-part elements</a:t>
            </a:r>
            <a:br>
              <a:rPr lang="en-US" sz="6600" i="1" dirty="0">
                <a:latin typeface="Times New Roman" panose="02020603050405020304" pitchFamily="18" charset="0"/>
                <a:cs typeface="Times New Roman" panose="02020603050405020304" pitchFamily="18" charset="0"/>
              </a:rPr>
            </a:br>
            <a:endParaRPr lang="en-IN" sz="6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A9EA122-7129-37CC-7375-B6553CC3821A}"/>
              </a:ext>
            </a:extLst>
          </p:cNvPr>
          <p:cNvSpPr>
            <a:spLocks noGrp="1"/>
          </p:cNvSpPr>
          <p:nvPr>
            <p:ph idx="1"/>
          </p:nvPr>
        </p:nvSpPr>
        <p:spPr>
          <a:xfrm>
            <a:off x="486383" y="1058390"/>
            <a:ext cx="11293813" cy="4351338"/>
          </a:xfrm>
        </p:spPr>
        <p:txBody>
          <a:bodyPr>
            <a:noAutofit/>
          </a:bodyPr>
          <a:lstStyle/>
          <a:p>
            <a:pPr algn="just"/>
            <a:r>
              <a:rPr lang="en-US" sz="2600" b="0" i="0" u="none" strike="noStrike" baseline="0" dirty="0">
                <a:latin typeface="Times New Roman" panose="02020603050405020304" pitchFamily="18" charset="0"/>
                <a:cs typeface="Times New Roman" panose="02020603050405020304" pitchFamily="18" charset="0"/>
              </a:rPr>
              <a:t>The general form of an APT geometry statement is this:</a:t>
            </a:r>
          </a:p>
          <a:p>
            <a:pPr marL="0" indent="0" algn="ctr">
              <a:buNone/>
            </a:pPr>
            <a:r>
              <a:rPr lang="en-US" sz="2600" b="0" i="0" u="none" strike="noStrike" baseline="0" dirty="0">
                <a:latin typeface="Times New Roman" panose="02020603050405020304" pitchFamily="18" charset="0"/>
                <a:cs typeface="Times New Roman" panose="02020603050405020304" pitchFamily="18" charset="0"/>
              </a:rPr>
              <a:t>		symbol = geometry type/descriptive data</a:t>
            </a:r>
          </a:p>
          <a:p>
            <a:pPr marL="0" indent="0" algn="ctr">
              <a:buNone/>
            </a:pPr>
            <a:r>
              <a:rPr lang="en-IN" sz="2600" b="0" i="0" u="none" strike="noStrike" baseline="0" dirty="0">
                <a:latin typeface="Times New Roman" panose="02020603050405020304" pitchFamily="18" charset="0"/>
                <a:cs typeface="Times New Roman" panose="02020603050405020304" pitchFamily="18" charset="0"/>
              </a:rPr>
              <a:t>		PI = POINT/5.0, 4.0, 0.0</a:t>
            </a:r>
          </a:p>
          <a:p>
            <a:pPr marL="0" indent="0" algn="just">
              <a:buNone/>
            </a:pPr>
            <a:r>
              <a:rPr lang="en-US" sz="2600" b="0" i="0" u="none" strike="noStrike" baseline="0" dirty="0">
                <a:latin typeface="Times New Roman" panose="02020603050405020304" pitchFamily="18" charset="0"/>
                <a:cs typeface="Times New Roman" panose="02020603050405020304" pitchFamily="18" charset="0"/>
              </a:rPr>
              <a:t>The statement is made up of three sections. </a:t>
            </a:r>
          </a:p>
          <a:p>
            <a:pPr algn="just"/>
            <a:r>
              <a:rPr lang="en-US" sz="2600" b="0" i="0" u="none" strike="noStrike" baseline="0" dirty="0">
                <a:latin typeface="Times New Roman" panose="02020603050405020304" pitchFamily="18" charset="0"/>
                <a:cs typeface="Times New Roman" panose="02020603050405020304" pitchFamily="18" charset="0"/>
              </a:rPr>
              <a:t>The first is the symbol used to identify the geometric element</a:t>
            </a:r>
            <a:endParaRPr lang="en-IN" sz="2600" b="0" i="0" u="none" strike="noStrike" baseline="0" dirty="0">
              <a:latin typeface="Times New Roman" panose="02020603050405020304" pitchFamily="18" charset="0"/>
              <a:cs typeface="Times New Roman" panose="02020603050405020304" pitchFamily="18" charset="0"/>
            </a:endParaRPr>
          </a:p>
          <a:p>
            <a:pPr algn="just"/>
            <a:r>
              <a:rPr lang="en-US" sz="2600" b="0" i="0" u="none" strike="noStrike" baseline="0" dirty="0">
                <a:latin typeface="Times New Roman" panose="02020603050405020304" pitchFamily="18" charset="0"/>
                <a:cs typeface="Times New Roman" panose="02020603050405020304" pitchFamily="18" charset="0"/>
              </a:rPr>
              <a:t>The second section of the geometry statement identifies the type of geometry element - POINT, LINE, PLANE, and CIRCLE.</a:t>
            </a:r>
          </a:p>
          <a:p>
            <a:pPr algn="just"/>
            <a:r>
              <a:rPr lang="en-US" sz="2600" b="0" i="0" u="none" strike="noStrike" baseline="0" dirty="0">
                <a:latin typeface="Times New Roman" panose="02020603050405020304" pitchFamily="18" charset="0"/>
                <a:cs typeface="Times New Roman" panose="02020603050405020304" pitchFamily="18" charset="0"/>
              </a:rPr>
              <a:t>The third section of the geometry statement - May </a:t>
            </a:r>
            <a:r>
              <a:rPr lang="en-IN" sz="2600" b="0" i="0" u="none" strike="noStrike" baseline="0" dirty="0">
                <a:latin typeface="Times New Roman" panose="02020603050405020304" pitchFamily="18" charset="0"/>
                <a:cs typeface="Times New Roman" panose="02020603050405020304" pitchFamily="18" charset="0"/>
              </a:rPr>
              <a:t>include quantitative dimensional and positional data</a:t>
            </a:r>
            <a:endParaRPr lang="en-US" sz="2600" b="0" i="0" u="none" strike="noStrike" baseline="0" dirty="0">
              <a:latin typeface="Times New Roman" panose="02020603050405020304" pitchFamily="18" charset="0"/>
              <a:cs typeface="Times New Roman" panose="02020603050405020304" pitchFamily="18" charset="0"/>
            </a:endParaRPr>
          </a:p>
          <a:p>
            <a:pPr algn="just"/>
            <a:r>
              <a:rPr lang="en-US" sz="2600" b="0" i="0" u="none" strike="noStrike" baseline="0" dirty="0">
                <a:latin typeface="Times New Roman" panose="02020603050405020304" pitchFamily="18" charset="0"/>
                <a:cs typeface="Times New Roman" panose="02020603050405020304" pitchFamily="18" charset="0"/>
              </a:rPr>
              <a:t>A slash separates the surface type from the descriptive data</a:t>
            </a:r>
          </a:p>
          <a:p>
            <a:pPr algn="just"/>
            <a:r>
              <a:rPr lang="en-US" sz="2600" b="0" i="0" u="none" strike="noStrike" baseline="0" dirty="0">
                <a:latin typeface="Times New Roman" panose="02020603050405020304" pitchFamily="18" charset="0"/>
                <a:cs typeface="Times New Roman" panose="02020603050405020304" pitchFamily="18" charset="0"/>
              </a:rPr>
              <a:t>Commas are used to separate the words and numbers in the descriptive data</a:t>
            </a:r>
          </a:p>
        </p:txBody>
      </p:sp>
    </p:spTree>
    <p:extLst>
      <p:ext uri="{BB962C8B-B14F-4D97-AF65-F5344CB8AC3E}">
        <p14:creationId xmlns:p14="http://schemas.microsoft.com/office/powerpoint/2010/main" val="3437455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99574-3043-4D9F-6976-B802D6B22AD9}"/>
              </a:ext>
            </a:extLst>
          </p:cNvPr>
          <p:cNvSpPr>
            <a:spLocks noGrp="1"/>
          </p:cNvSpPr>
          <p:nvPr>
            <p:ph type="title"/>
          </p:nvPr>
        </p:nvSpPr>
        <p:spPr>
          <a:xfrm>
            <a:off x="838200" y="-297657"/>
            <a:ext cx="10515600" cy="1325563"/>
          </a:xfrm>
        </p:spPr>
        <p:txBody>
          <a:bodyPr>
            <a:normAutofit/>
          </a:bodyPr>
          <a:lstStyle/>
          <a:p>
            <a:pPr algn="ctr"/>
            <a:r>
              <a:rPr lang="en-IN" sz="3600" b="0" i="0" u="none" strike="noStrike" baseline="0" dirty="0">
                <a:latin typeface="Arial" panose="020B0604020202020204" pitchFamily="34" charset="0"/>
                <a:cs typeface="Arial" panose="020B0604020202020204" pitchFamily="34" charset="0"/>
              </a:rPr>
              <a:t>Geometry statements</a:t>
            </a:r>
            <a:endParaRPr lang="en-IN" sz="3600" dirty="0"/>
          </a:p>
        </p:txBody>
      </p:sp>
      <p:sp>
        <p:nvSpPr>
          <p:cNvPr id="3" name="Content Placeholder 2">
            <a:extLst>
              <a:ext uri="{FF2B5EF4-FFF2-40B4-BE49-F238E27FC236}">
                <a16:creationId xmlns:a16="http://schemas.microsoft.com/office/drawing/2014/main" id="{3D071BF3-1BD9-AB65-F71B-69C5924990E5}"/>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1F2B0AB4-1237-9FDD-37CE-6175EE409FDA}"/>
              </a:ext>
            </a:extLst>
          </p:cNvPr>
          <p:cNvPicPr>
            <a:picLocks noChangeAspect="1"/>
          </p:cNvPicPr>
          <p:nvPr/>
        </p:nvPicPr>
        <p:blipFill>
          <a:blip r:embed="rId2"/>
          <a:stretch>
            <a:fillRect/>
          </a:stretch>
        </p:blipFill>
        <p:spPr>
          <a:xfrm>
            <a:off x="1269763" y="1027906"/>
            <a:ext cx="9477375" cy="5572125"/>
          </a:xfrm>
          <a:prstGeom prst="rect">
            <a:avLst/>
          </a:prstGeom>
        </p:spPr>
      </p:pic>
    </p:spTree>
    <p:extLst>
      <p:ext uri="{BB962C8B-B14F-4D97-AF65-F5344CB8AC3E}">
        <p14:creationId xmlns:p14="http://schemas.microsoft.com/office/powerpoint/2010/main" val="37980423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67233-8AD5-F83C-5E4C-FB7A9EFF5036}"/>
              </a:ext>
            </a:extLst>
          </p:cNvPr>
          <p:cNvSpPr>
            <a:spLocks noGrp="1"/>
          </p:cNvSpPr>
          <p:nvPr>
            <p:ph type="title"/>
          </p:nvPr>
        </p:nvSpPr>
        <p:spPr/>
        <p:txBody>
          <a:bodyPr/>
          <a:lstStyle/>
          <a:p>
            <a:pPr algn="ctr"/>
            <a:r>
              <a:rPr lang="en-IN" sz="4400" b="0" i="0" u="none" strike="noStrike" baseline="0" dirty="0">
                <a:latin typeface="Arial" panose="020B0604020202020204" pitchFamily="34" charset="0"/>
                <a:cs typeface="Arial" panose="020B0604020202020204" pitchFamily="34" charset="0"/>
              </a:rPr>
              <a:t>Geometry statements</a:t>
            </a:r>
            <a:endParaRPr lang="en-IN" dirty="0"/>
          </a:p>
        </p:txBody>
      </p:sp>
      <p:sp>
        <p:nvSpPr>
          <p:cNvPr id="3" name="Content Placeholder 2">
            <a:extLst>
              <a:ext uri="{FF2B5EF4-FFF2-40B4-BE49-F238E27FC236}">
                <a16:creationId xmlns:a16="http://schemas.microsoft.com/office/drawing/2014/main" id="{4672033B-9C57-F2F9-5ED1-1163FB7A0B86}"/>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02D676CE-7A3B-7AC8-2781-72490C5EC587}"/>
              </a:ext>
            </a:extLst>
          </p:cNvPr>
          <p:cNvPicPr>
            <a:picLocks noChangeAspect="1"/>
          </p:cNvPicPr>
          <p:nvPr/>
        </p:nvPicPr>
        <p:blipFill>
          <a:blip r:embed="rId2"/>
          <a:stretch>
            <a:fillRect/>
          </a:stretch>
        </p:blipFill>
        <p:spPr>
          <a:xfrm>
            <a:off x="1436755" y="2313865"/>
            <a:ext cx="9629775" cy="3533775"/>
          </a:xfrm>
          <a:prstGeom prst="rect">
            <a:avLst/>
          </a:prstGeom>
        </p:spPr>
      </p:pic>
    </p:spTree>
    <p:extLst>
      <p:ext uri="{BB962C8B-B14F-4D97-AF65-F5344CB8AC3E}">
        <p14:creationId xmlns:p14="http://schemas.microsoft.com/office/powerpoint/2010/main" val="16815413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353F39-53AA-3451-D067-CCE0AF694238}"/>
              </a:ext>
            </a:extLst>
          </p:cNvPr>
          <p:cNvSpPr>
            <a:spLocks noGrp="1"/>
          </p:cNvSpPr>
          <p:nvPr>
            <p:ph idx="1"/>
          </p:nvPr>
        </p:nvSpPr>
        <p:spPr>
          <a:xfrm>
            <a:off x="0" y="2506662"/>
            <a:ext cx="11240391" cy="4351338"/>
          </a:xfrm>
        </p:spPr>
        <p:txBody>
          <a:bodyPr/>
          <a:lstStyle/>
          <a:p>
            <a:pPr marL="0" indent="0">
              <a:buNone/>
            </a:pPr>
            <a:r>
              <a:rPr lang="en-US" u="sng" dirty="0">
                <a:latin typeface="Arial" panose="020B0604020202020204" pitchFamily="34" charset="0"/>
                <a:cs typeface="Arial" panose="020B0604020202020204" pitchFamily="34" charset="0"/>
              </a:rPr>
              <a:t>Rules that must be followed </a:t>
            </a:r>
          </a:p>
          <a:p>
            <a:pPr marL="0" indent="0">
              <a:buNone/>
            </a:pPr>
            <a:r>
              <a:rPr lang="en-US" u="sng" dirty="0">
                <a:latin typeface="Arial" panose="020B0604020202020204" pitchFamily="34" charset="0"/>
                <a:cs typeface="Arial" panose="020B0604020202020204" pitchFamily="34" charset="0"/>
              </a:rPr>
              <a:t>in formulating an </a:t>
            </a:r>
          </a:p>
          <a:p>
            <a:pPr marL="0" indent="0">
              <a:buNone/>
            </a:pPr>
            <a:r>
              <a:rPr lang="en-US" u="sng" dirty="0">
                <a:latin typeface="Arial" panose="020B0604020202020204" pitchFamily="34" charset="0"/>
                <a:cs typeface="Arial" panose="020B0604020202020204" pitchFamily="34" charset="0"/>
              </a:rPr>
              <a:t>APT geometry statement</a:t>
            </a:r>
            <a:endParaRPr lang="en-IN" u="sng"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9A745E37-BD12-1333-936B-D94CE8D7DB42}"/>
              </a:ext>
            </a:extLst>
          </p:cNvPr>
          <p:cNvPicPr>
            <a:picLocks noChangeAspect="1"/>
          </p:cNvPicPr>
          <p:nvPr/>
        </p:nvPicPr>
        <p:blipFill>
          <a:blip r:embed="rId2"/>
          <a:stretch>
            <a:fillRect/>
          </a:stretch>
        </p:blipFill>
        <p:spPr>
          <a:xfrm>
            <a:off x="5239885" y="0"/>
            <a:ext cx="6614970" cy="6858000"/>
          </a:xfrm>
          <a:prstGeom prst="rect">
            <a:avLst/>
          </a:prstGeom>
        </p:spPr>
      </p:pic>
    </p:spTree>
    <p:extLst>
      <p:ext uri="{BB962C8B-B14F-4D97-AF65-F5344CB8AC3E}">
        <p14:creationId xmlns:p14="http://schemas.microsoft.com/office/powerpoint/2010/main" val="36729186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9BA3F-39D2-9E98-8068-46E6D2464E3F}"/>
              </a:ext>
            </a:extLst>
          </p:cNvPr>
          <p:cNvSpPr>
            <a:spLocks noGrp="1"/>
          </p:cNvSpPr>
          <p:nvPr>
            <p:ph type="title"/>
          </p:nvPr>
        </p:nvSpPr>
        <p:spPr>
          <a:xfrm>
            <a:off x="838200" y="-65459"/>
            <a:ext cx="10515600" cy="1325563"/>
          </a:xfrm>
        </p:spPr>
        <p:txBody>
          <a:bodyPr>
            <a:normAutofit/>
          </a:bodyPr>
          <a:lstStyle/>
          <a:p>
            <a:pPr algn="ctr"/>
            <a:r>
              <a:rPr lang="en-IN" sz="4000" dirty="0">
                <a:latin typeface="Arial" panose="020B0604020202020204" pitchFamily="34" charset="0"/>
                <a:cs typeface="Arial" panose="020B0604020202020204" pitchFamily="34" charset="0"/>
              </a:rPr>
              <a:t>Example</a:t>
            </a:r>
          </a:p>
        </p:txBody>
      </p:sp>
      <p:sp>
        <p:nvSpPr>
          <p:cNvPr id="3" name="Content Placeholder 2">
            <a:extLst>
              <a:ext uri="{FF2B5EF4-FFF2-40B4-BE49-F238E27FC236}">
                <a16:creationId xmlns:a16="http://schemas.microsoft.com/office/drawing/2014/main" id="{AB815344-5DF0-B857-911B-6A9887BC99C9}"/>
              </a:ext>
            </a:extLst>
          </p:cNvPr>
          <p:cNvSpPr>
            <a:spLocks noGrp="1"/>
          </p:cNvSpPr>
          <p:nvPr>
            <p:ph idx="1"/>
          </p:nvPr>
        </p:nvSpPr>
        <p:spPr/>
        <p:txBody>
          <a:bodyPr/>
          <a:lstStyle/>
          <a:p>
            <a:endParaRPr lang="en-IN" dirty="0"/>
          </a:p>
        </p:txBody>
      </p:sp>
      <p:pic>
        <p:nvPicPr>
          <p:cNvPr id="4" name="Picture 3">
            <a:extLst>
              <a:ext uri="{FF2B5EF4-FFF2-40B4-BE49-F238E27FC236}">
                <a16:creationId xmlns:a16="http://schemas.microsoft.com/office/drawing/2014/main" id="{5DBE4BA6-DD28-1427-3752-3516ED32B56A}"/>
              </a:ext>
            </a:extLst>
          </p:cNvPr>
          <p:cNvPicPr>
            <a:picLocks noChangeAspect="1"/>
          </p:cNvPicPr>
          <p:nvPr/>
        </p:nvPicPr>
        <p:blipFill>
          <a:blip r:embed="rId2"/>
          <a:stretch>
            <a:fillRect/>
          </a:stretch>
        </p:blipFill>
        <p:spPr>
          <a:xfrm>
            <a:off x="459531" y="1628733"/>
            <a:ext cx="5143500" cy="3457575"/>
          </a:xfrm>
          <a:prstGeom prst="rect">
            <a:avLst/>
          </a:prstGeom>
        </p:spPr>
      </p:pic>
      <p:pic>
        <p:nvPicPr>
          <p:cNvPr id="5" name="Picture 4">
            <a:extLst>
              <a:ext uri="{FF2B5EF4-FFF2-40B4-BE49-F238E27FC236}">
                <a16:creationId xmlns:a16="http://schemas.microsoft.com/office/drawing/2014/main" id="{F239595B-38D2-753E-9C51-EC78480A58B4}"/>
              </a:ext>
            </a:extLst>
          </p:cNvPr>
          <p:cNvPicPr>
            <a:picLocks noChangeAspect="1"/>
          </p:cNvPicPr>
          <p:nvPr/>
        </p:nvPicPr>
        <p:blipFill>
          <a:blip r:embed="rId3"/>
          <a:stretch>
            <a:fillRect/>
          </a:stretch>
        </p:blipFill>
        <p:spPr>
          <a:xfrm>
            <a:off x="6360166" y="3393826"/>
            <a:ext cx="5672948" cy="3384963"/>
          </a:xfrm>
          <a:prstGeom prst="rect">
            <a:avLst/>
          </a:prstGeom>
        </p:spPr>
      </p:pic>
    </p:spTree>
    <p:extLst>
      <p:ext uri="{BB962C8B-B14F-4D97-AF65-F5344CB8AC3E}">
        <p14:creationId xmlns:p14="http://schemas.microsoft.com/office/powerpoint/2010/main" val="13102714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3D698-9DDB-DEEF-772F-4300C9B0E4AD}"/>
              </a:ext>
            </a:extLst>
          </p:cNvPr>
          <p:cNvSpPr>
            <a:spLocks noGrp="1"/>
          </p:cNvSpPr>
          <p:nvPr>
            <p:ph type="title"/>
          </p:nvPr>
        </p:nvSpPr>
        <p:spPr>
          <a:xfrm>
            <a:off x="838200" y="-199079"/>
            <a:ext cx="10515600" cy="1325563"/>
          </a:xfrm>
        </p:spPr>
        <p:txBody>
          <a:bodyPr>
            <a:normAutofit/>
          </a:bodyPr>
          <a:lstStyle/>
          <a:p>
            <a:pPr algn="ctr"/>
            <a:r>
              <a:rPr lang="en-IN" sz="3600" dirty="0">
                <a:latin typeface="Arial" panose="020B0604020202020204" pitchFamily="34" charset="0"/>
                <a:cs typeface="Arial" panose="020B0604020202020204" pitchFamily="34" charset="0"/>
              </a:rPr>
              <a:t>Motion statements</a:t>
            </a:r>
          </a:p>
        </p:txBody>
      </p:sp>
      <p:sp>
        <p:nvSpPr>
          <p:cNvPr id="3" name="Content Placeholder 2">
            <a:extLst>
              <a:ext uri="{FF2B5EF4-FFF2-40B4-BE49-F238E27FC236}">
                <a16:creationId xmlns:a16="http://schemas.microsoft.com/office/drawing/2014/main" id="{09D79137-A97E-99EE-5636-7AD453664614}"/>
              </a:ext>
            </a:extLst>
          </p:cNvPr>
          <p:cNvSpPr>
            <a:spLocks noGrp="1"/>
          </p:cNvSpPr>
          <p:nvPr>
            <p:ph idx="1"/>
          </p:nvPr>
        </p:nvSpPr>
        <p:spPr>
          <a:xfrm>
            <a:off x="291830" y="875489"/>
            <a:ext cx="11488366" cy="5680954"/>
          </a:xfrm>
        </p:spPr>
        <p:txBody>
          <a:bodyPr>
            <a:normAutofit lnSpcReduction="10000"/>
          </a:bodyPr>
          <a:lstStyle/>
          <a:p>
            <a:pPr marL="0" indent="0">
              <a:buNone/>
            </a:pPr>
            <a:r>
              <a:rPr lang="en-US" sz="2600" dirty="0">
                <a:latin typeface="Times New Roman" panose="02020603050405020304" pitchFamily="18" charset="0"/>
                <a:cs typeface="Times New Roman" panose="02020603050405020304" pitchFamily="18" charset="0"/>
              </a:rPr>
              <a:t>The general form of a motion statement is</a:t>
            </a:r>
          </a:p>
          <a:p>
            <a:pPr marL="0" indent="0" algn="ctr">
              <a:buNone/>
            </a:pPr>
            <a:r>
              <a:rPr lang="en-US" sz="2600" dirty="0">
                <a:latin typeface="Times New Roman" panose="02020603050405020304" pitchFamily="18" charset="0"/>
                <a:cs typeface="Times New Roman" panose="02020603050405020304" pitchFamily="18" charset="0"/>
              </a:rPr>
              <a:t>	</a:t>
            </a:r>
            <a:r>
              <a:rPr lang="en-US" sz="2600" dirty="0">
                <a:solidFill>
                  <a:srgbClr val="FF0000"/>
                </a:solidFill>
                <a:latin typeface="Times New Roman" panose="02020603050405020304" pitchFamily="18" charset="0"/>
                <a:cs typeface="Times New Roman" panose="02020603050405020304" pitchFamily="18" charset="0"/>
              </a:rPr>
              <a:t>motion command/descriptive data</a:t>
            </a:r>
          </a:p>
          <a:p>
            <a:pPr marL="0" indent="0" algn="ctr">
              <a:buNone/>
            </a:pPr>
            <a:r>
              <a:rPr lang="en-US" sz="2600" dirty="0">
                <a:latin typeface="Times New Roman" panose="02020603050405020304" pitchFamily="18" charset="0"/>
                <a:cs typeface="Times New Roman" panose="02020603050405020304" pitchFamily="18" charset="0"/>
              </a:rPr>
              <a:t>	GOTO/PI</a:t>
            </a:r>
          </a:p>
          <a:p>
            <a:pPr marL="0" indent="0">
              <a:buNone/>
            </a:pPr>
            <a:r>
              <a:rPr lang="en-US" sz="2600" dirty="0">
                <a:latin typeface="Times New Roman" panose="02020603050405020304" pitchFamily="18" charset="0"/>
                <a:cs typeface="Times New Roman" panose="02020603050405020304" pitchFamily="18" charset="0"/>
              </a:rPr>
              <a:t>The statement consists of two sections separated by a slash. </a:t>
            </a:r>
          </a:p>
          <a:p>
            <a:pPr lvl="1"/>
            <a:r>
              <a:rPr lang="en-US" sz="2600" dirty="0">
                <a:latin typeface="Times New Roman" panose="02020603050405020304" pitchFamily="18" charset="0"/>
                <a:cs typeface="Times New Roman" panose="02020603050405020304" pitchFamily="18" charset="0"/>
              </a:rPr>
              <a:t>The first section is the basic motion command, which tells the tool what to do. </a:t>
            </a:r>
          </a:p>
          <a:p>
            <a:pPr lvl="1"/>
            <a:r>
              <a:rPr lang="en-US" sz="2600" dirty="0">
                <a:latin typeface="Times New Roman" panose="02020603050405020304" pitchFamily="18" charset="0"/>
                <a:cs typeface="Times New Roman" panose="02020603050405020304" pitchFamily="18" charset="0"/>
              </a:rPr>
              <a:t>The second section is comprised of descriptive data, which tell the tool where to go</a:t>
            </a:r>
          </a:p>
          <a:p>
            <a:pPr marL="457200" lvl="1" indent="0">
              <a:buNone/>
            </a:pPr>
            <a:endParaRPr lang="en-US" sz="2600" dirty="0">
              <a:latin typeface="Times New Roman" panose="02020603050405020304" pitchFamily="18" charset="0"/>
              <a:cs typeface="Times New Roman" panose="02020603050405020304" pitchFamily="18" charset="0"/>
            </a:endParaRPr>
          </a:p>
          <a:p>
            <a:pPr algn="l">
              <a:buFont typeface="Wingdings" panose="05000000000000000000" pitchFamily="2" charset="2"/>
              <a:buChar char="v"/>
            </a:pPr>
            <a:r>
              <a:rPr lang="en-US" sz="2600" b="0" i="0" u="none" strike="noStrike" baseline="0" dirty="0">
                <a:latin typeface="Times New Roman" panose="02020603050405020304" pitchFamily="18" charset="0"/>
                <a:cs typeface="Times New Roman" panose="02020603050405020304" pitchFamily="18" charset="0"/>
              </a:rPr>
              <a:t>At the beginning of the motion statements, the tool must be given a starting point - target point is the location where the operator has positioned the tool at the start of the job.</a:t>
            </a:r>
          </a:p>
          <a:p>
            <a:pPr marL="0" indent="0" algn="ctr">
              <a:buNone/>
            </a:pPr>
            <a:r>
              <a:rPr lang="en-IN" sz="2600" b="0" i="0" u="none" strike="noStrike" baseline="0" dirty="0">
                <a:latin typeface="Times New Roman" panose="02020603050405020304" pitchFamily="18" charset="0"/>
                <a:cs typeface="Times New Roman" panose="02020603050405020304" pitchFamily="18" charset="0"/>
              </a:rPr>
              <a:t>FROM/TARG</a:t>
            </a:r>
          </a:p>
          <a:p>
            <a:pPr marL="0" indent="0" algn="ctr">
              <a:buNone/>
            </a:pPr>
            <a:r>
              <a:rPr lang="en-IN" sz="2600" b="0" i="0" u="none" strike="noStrike" baseline="0" dirty="0">
                <a:latin typeface="Times New Roman" panose="02020603050405020304" pitchFamily="18" charset="0"/>
                <a:cs typeface="Times New Roman" panose="02020603050405020304" pitchFamily="18" charset="0"/>
              </a:rPr>
              <a:t>or</a:t>
            </a:r>
          </a:p>
          <a:p>
            <a:pPr marL="0" indent="0" algn="ctr">
              <a:buNone/>
            </a:pPr>
            <a:r>
              <a:rPr lang="en-IN" sz="2600" b="0" i="0" u="none" strike="noStrike" baseline="0" dirty="0">
                <a:latin typeface="Times New Roman" panose="02020603050405020304" pitchFamily="18" charset="0"/>
                <a:cs typeface="Times New Roman" panose="02020603050405020304" pitchFamily="18" charset="0"/>
              </a:rPr>
              <a:t>FROM/-2.0, -2.0, 0.0</a:t>
            </a:r>
            <a:endParaRPr lang="en-US" sz="2600" dirty="0">
              <a:latin typeface="Times New Roman" panose="02020603050405020304" pitchFamily="18" charset="0"/>
              <a:cs typeface="Times New Roman" panose="02020603050405020304" pitchFamily="18" charset="0"/>
            </a:endParaRPr>
          </a:p>
          <a:p>
            <a:pPr marL="0" indent="0">
              <a:buNone/>
            </a:pP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67233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4BADA-A071-CBAD-5740-65FA3249B40B}"/>
              </a:ext>
            </a:extLst>
          </p:cNvPr>
          <p:cNvSpPr>
            <a:spLocks noGrp="1"/>
          </p:cNvSpPr>
          <p:nvPr>
            <p:ph type="title"/>
          </p:nvPr>
        </p:nvSpPr>
        <p:spPr>
          <a:xfrm>
            <a:off x="1149485" y="-290963"/>
            <a:ext cx="10515600" cy="1325563"/>
          </a:xfrm>
        </p:spPr>
        <p:txBody>
          <a:bodyPr>
            <a:normAutofit/>
          </a:bodyPr>
          <a:lstStyle/>
          <a:p>
            <a:r>
              <a:rPr lang="en-IN" sz="3600" dirty="0">
                <a:latin typeface="Arial" panose="020B0604020202020204" pitchFamily="34" charset="0"/>
                <a:cs typeface="Arial" panose="020B0604020202020204" pitchFamily="34" charset="0"/>
              </a:rPr>
              <a:t>Motion statements - </a:t>
            </a:r>
            <a:r>
              <a:rPr lang="en-IN" sz="2400" b="0" i="0" u="none" strike="noStrike" baseline="0" dirty="0">
                <a:solidFill>
                  <a:srgbClr val="FF0000"/>
                </a:solidFill>
                <a:latin typeface="Arial" panose="020B0604020202020204" pitchFamily="34" charset="0"/>
                <a:cs typeface="Arial" panose="020B0604020202020204" pitchFamily="34" charset="0"/>
              </a:rPr>
              <a:t>POINT-TO-POINT MOTIONS</a:t>
            </a:r>
            <a:endParaRPr lang="en-IN" sz="3600" dirty="0">
              <a:solidFill>
                <a:srgbClr val="FF000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0119BE47-5C59-E991-A11C-EA7547581798}"/>
              </a:ext>
            </a:extLst>
          </p:cNvPr>
          <p:cNvSpPr>
            <a:spLocks noGrp="1"/>
          </p:cNvSpPr>
          <p:nvPr>
            <p:ph idx="1"/>
          </p:nvPr>
        </p:nvSpPr>
        <p:spPr>
          <a:xfrm>
            <a:off x="215630" y="754856"/>
            <a:ext cx="10515600" cy="4351338"/>
          </a:xfrm>
        </p:spPr>
        <p:txBody>
          <a:bodyPr/>
          <a:lstStyle/>
          <a:p>
            <a:pPr marL="0" indent="0">
              <a:buNone/>
            </a:pPr>
            <a:r>
              <a:rPr lang="en-US" dirty="0"/>
              <a:t>Two basic PTP motion commands: GOTO and GODLTA</a:t>
            </a:r>
            <a:endParaRPr lang="en-IN" dirty="0"/>
          </a:p>
        </p:txBody>
      </p:sp>
      <p:pic>
        <p:nvPicPr>
          <p:cNvPr id="5" name="Picture 4">
            <a:extLst>
              <a:ext uri="{FF2B5EF4-FFF2-40B4-BE49-F238E27FC236}">
                <a16:creationId xmlns:a16="http://schemas.microsoft.com/office/drawing/2014/main" id="{DE460EB7-4337-A870-9290-126A5A78F157}"/>
              </a:ext>
            </a:extLst>
          </p:cNvPr>
          <p:cNvPicPr>
            <a:picLocks noChangeAspect="1"/>
          </p:cNvPicPr>
          <p:nvPr/>
        </p:nvPicPr>
        <p:blipFill rotWithShape="1">
          <a:blip r:embed="rId2"/>
          <a:srcRect t="3795"/>
          <a:stretch/>
        </p:blipFill>
        <p:spPr>
          <a:xfrm>
            <a:off x="118353" y="1332689"/>
            <a:ext cx="8568121" cy="5525311"/>
          </a:xfrm>
          <a:prstGeom prst="rect">
            <a:avLst/>
          </a:prstGeom>
        </p:spPr>
      </p:pic>
      <p:pic>
        <p:nvPicPr>
          <p:cNvPr id="6" name="Picture 5">
            <a:extLst>
              <a:ext uri="{FF2B5EF4-FFF2-40B4-BE49-F238E27FC236}">
                <a16:creationId xmlns:a16="http://schemas.microsoft.com/office/drawing/2014/main" id="{2F1AB063-68AA-D4AB-E30B-B60C46596CB7}"/>
              </a:ext>
            </a:extLst>
          </p:cNvPr>
          <p:cNvPicPr>
            <a:picLocks noChangeAspect="1"/>
          </p:cNvPicPr>
          <p:nvPr/>
        </p:nvPicPr>
        <p:blipFill>
          <a:blip r:embed="rId3"/>
          <a:stretch>
            <a:fillRect/>
          </a:stretch>
        </p:blipFill>
        <p:spPr>
          <a:xfrm>
            <a:off x="9169333" y="3429000"/>
            <a:ext cx="2686050" cy="1104900"/>
          </a:xfrm>
          <a:prstGeom prst="rect">
            <a:avLst/>
          </a:prstGeom>
        </p:spPr>
      </p:pic>
    </p:spTree>
    <p:extLst>
      <p:ext uri="{BB962C8B-B14F-4D97-AF65-F5344CB8AC3E}">
        <p14:creationId xmlns:p14="http://schemas.microsoft.com/office/powerpoint/2010/main" val="36777307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2BF1C-E68E-AB6E-64A5-7AFC93C21F47}"/>
              </a:ext>
            </a:extLst>
          </p:cNvPr>
          <p:cNvSpPr>
            <a:spLocks noGrp="1"/>
          </p:cNvSpPr>
          <p:nvPr>
            <p:ph type="title"/>
          </p:nvPr>
        </p:nvSpPr>
        <p:spPr>
          <a:xfrm>
            <a:off x="838200" y="-136815"/>
            <a:ext cx="10515600" cy="1325563"/>
          </a:xfrm>
        </p:spPr>
        <p:txBody>
          <a:bodyPr>
            <a:normAutofit/>
          </a:bodyPr>
          <a:lstStyle/>
          <a:p>
            <a:pPr algn="ctr"/>
            <a:r>
              <a:rPr lang="en-US" sz="4000" dirty="0">
                <a:latin typeface="Arial" panose="020B0604020202020204" pitchFamily="34" charset="0"/>
                <a:cs typeface="Arial" panose="020B0604020202020204" pitchFamily="34" charset="0"/>
              </a:rPr>
              <a:t>Example</a:t>
            </a:r>
            <a:endParaRPr lang="en-IN" sz="40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C405E236-C37F-BCA4-3866-98FB83B59452}"/>
              </a:ext>
            </a:extLst>
          </p:cNvPr>
          <p:cNvSpPr>
            <a:spLocks noGrp="1"/>
          </p:cNvSpPr>
          <p:nvPr>
            <p:ph idx="1"/>
          </p:nvPr>
        </p:nvSpPr>
        <p:spPr/>
        <p:txBody>
          <a:bodyPr/>
          <a:lstStyle/>
          <a:p>
            <a:endParaRPr lang="en-IN" dirty="0"/>
          </a:p>
        </p:txBody>
      </p:sp>
      <p:pic>
        <p:nvPicPr>
          <p:cNvPr id="4" name="Picture 3">
            <a:extLst>
              <a:ext uri="{FF2B5EF4-FFF2-40B4-BE49-F238E27FC236}">
                <a16:creationId xmlns:a16="http://schemas.microsoft.com/office/drawing/2014/main" id="{C46B38C1-DA5C-FBBE-EF8B-480D942909C5}"/>
              </a:ext>
            </a:extLst>
          </p:cNvPr>
          <p:cNvPicPr>
            <a:picLocks noChangeAspect="1"/>
          </p:cNvPicPr>
          <p:nvPr/>
        </p:nvPicPr>
        <p:blipFill>
          <a:blip r:embed="rId2"/>
          <a:stretch>
            <a:fillRect/>
          </a:stretch>
        </p:blipFill>
        <p:spPr>
          <a:xfrm>
            <a:off x="969523" y="1916348"/>
            <a:ext cx="5956570" cy="3852508"/>
          </a:xfrm>
          <a:prstGeom prst="rect">
            <a:avLst/>
          </a:prstGeom>
        </p:spPr>
      </p:pic>
      <p:pic>
        <p:nvPicPr>
          <p:cNvPr id="5" name="Picture 4">
            <a:extLst>
              <a:ext uri="{FF2B5EF4-FFF2-40B4-BE49-F238E27FC236}">
                <a16:creationId xmlns:a16="http://schemas.microsoft.com/office/drawing/2014/main" id="{F236B0E4-221C-E519-F9A9-109E183B5FAB}"/>
              </a:ext>
            </a:extLst>
          </p:cNvPr>
          <p:cNvPicPr>
            <a:picLocks noChangeAspect="1"/>
          </p:cNvPicPr>
          <p:nvPr/>
        </p:nvPicPr>
        <p:blipFill>
          <a:blip r:embed="rId3"/>
          <a:stretch>
            <a:fillRect/>
          </a:stretch>
        </p:blipFill>
        <p:spPr>
          <a:xfrm>
            <a:off x="8171234" y="2064981"/>
            <a:ext cx="3560324" cy="4719772"/>
          </a:xfrm>
          <a:prstGeom prst="rect">
            <a:avLst/>
          </a:prstGeom>
        </p:spPr>
      </p:pic>
    </p:spTree>
    <p:extLst>
      <p:ext uri="{BB962C8B-B14F-4D97-AF65-F5344CB8AC3E}">
        <p14:creationId xmlns:p14="http://schemas.microsoft.com/office/powerpoint/2010/main" val="6861051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1A0C2-2B88-E22A-64D8-FF746C2F28FD}"/>
              </a:ext>
            </a:extLst>
          </p:cNvPr>
          <p:cNvSpPr>
            <a:spLocks noGrp="1"/>
          </p:cNvSpPr>
          <p:nvPr>
            <p:ph type="title"/>
          </p:nvPr>
        </p:nvSpPr>
        <p:spPr>
          <a:xfrm>
            <a:off x="838200" y="-234663"/>
            <a:ext cx="10515600" cy="1325563"/>
          </a:xfrm>
        </p:spPr>
        <p:txBody>
          <a:bodyPr>
            <a:normAutofit/>
          </a:bodyPr>
          <a:lstStyle/>
          <a:p>
            <a:pPr algn="ctr"/>
            <a:r>
              <a:rPr lang="en-IN" sz="3600" dirty="0">
                <a:latin typeface="Arial" panose="020B0604020202020204" pitchFamily="34" charset="0"/>
                <a:cs typeface="Arial" panose="020B0604020202020204" pitchFamily="34" charset="0"/>
              </a:rPr>
              <a:t>Contouring Motions</a:t>
            </a:r>
          </a:p>
        </p:txBody>
      </p:sp>
      <p:sp>
        <p:nvSpPr>
          <p:cNvPr id="3" name="Content Placeholder 2">
            <a:extLst>
              <a:ext uri="{FF2B5EF4-FFF2-40B4-BE49-F238E27FC236}">
                <a16:creationId xmlns:a16="http://schemas.microsoft.com/office/drawing/2014/main" id="{9C618E35-5770-9CEC-F691-E85192B77F83}"/>
              </a:ext>
            </a:extLst>
          </p:cNvPr>
          <p:cNvSpPr>
            <a:spLocks noGrp="1"/>
          </p:cNvSpPr>
          <p:nvPr>
            <p:ph idx="1"/>
          </p:nvPr>
        </p:nvSpPr>
        <p:spPr>
          <a:xfrm>
            <a:off x="486383" y="1090900"/>
            <a:ext cx="11459183" cy="5086063"/>
          </a:xfrm>
        </p:spPr>
        <p:txBody>
          <a:bodyPr>
            <a:normAutofit/>
          </a:bodyPr>
          <a:lstStyle/>
          <a:p>
            <a:pPr marL="0" indent="0" algn="just">
              <a:buNone/>
            </a:pPr>
            <a:r>
              <a:rPr lang="en-US" sz="2600" dirty="0">
                <a:latin typeface="Times New Roman" panose="02020603050405020304" pitchFamily="18" charset="0"/>
                <a:cs typeface="Times New Roman" panose="02020603050405020304" pitchFamily="18" charset="0"/>
              </a:rPr>
              <a:t>Contouring commands are somewhat more complicated because the tool's position must be continuously controlled throughout the move</a:t>
            </a:r>
          </a:p>
          <a:p>
            <a:pPr marL="0" indent="0" algn="just">
              <a:buNone/>
            </a:pPr>
            <a:r>
              <a:rPr lang="en-US" sz="2600" dirty="0">
                <a:latin typeface="Times New Roman" panose="02020603050405020304" pitchFamily="18" charset="0"/>
                <a:cs typeface="Times New Roman" panose="02020603050405020304" pitchFamily="18" charset="0"/>
              </a:rPr>
              <a:t>This control accomplish by intersecting surfaces</a:t>
            </a:r>
          </a:p>
          <a:p>
            <a:pPr marL="457200" lvl="1" indent="0" algn="just">
              <a:buNone/>
            </a:pPr>
            <a:r>
              <a:rPr lang="en-US" sz="2600" dirty="0">
                <a:latin typeface="Times New Roman" panose="02020603050405020304" pitchFamily="18" charset="0"/>
                <a:cs typeface="Times New Roman" panose="02020603050405020304" pitchFamily="18" charset="0"/>
              </a:rPr>
              <a:t>1. Drive surface - The surface guides the side of the cutter</a:t>
            </a:r>
          </a:p>
          <a:p>
            <a:pPr marL="457200" lvl="1" indent="0" algn="just">
              <a:buNone/>
            </a:pPr>
            <a:r>
              <a:rPr lang="en-US" sz="2600" dirty="0">
                <a:latin typeface="Times New Roman" panose="02020603050405020304" pitchFamily="18" charset="0"/>
                <a:cs typeface="Times New Roman" panose="02020603050405020304" pitchFamily="18" charset="0"/>
              </a:rPr>
              <a:t>2. Part surface - This is the surface on which the bottom of the cutter rides (may 	or may not be an actual surface of the </a:t>
            </a:r>
            <a:r>
              <a:rPr lang="en-US" sz="2600" dirty="0" err="1">
                <a:latin typeface="Times New Roman" panose="02020603050405020304" pitchFamily="18" charset="0"/>
                <a:cs typeface="Times New Roman" panose="02020603050405020304" pitchFamily="18" charset="0"/>
              </a:rPr>
              <a:t>workpart</a:t>
            </a:r>
            <a:r>
              <a:rPr lang="en-US" sz="2600" dirty="0">
                <a:latin typeface="Times New Roman" panose="02020603050405020304" pitchFamily="18" charset="0"/>
                <a:cs typeface="Times New Roman" panose="02020603050405020304" pitchFamily="18" charset="0"/>
              </a:rPr>
              <a:t>)</a:t>
            </a:r>
          </a:p>
          <a:p>
            <a:pPr marL="457200" lvl="1" indent="0" algn="just">
              <a:buNone/>
            </a:pPr>
            <a:r>
              <a:rPr lang="en-US" sz="2600" b="0" i="0" u="none" strike="noStrike" baseline="0" dirty="0">
                <a:latin typeface="Times New Roman" panose="02020603050405020304" pitchFamily="18" charset="0"/>
                <a:cs typeface="Times New Roman" panose="02020603050405020304" pitchFamily="18" charset="0"/>
              </a:rPr>
              <a:t>3. </a:t>
            </a:r>
            <a:r>
              <a:rPr lang="en-US" sz="2600" b="0" u="none" strike="noStrike" baseline="0" dirty="0">
                <a:latin typeface="Times New Roman" panose="02020603050405020304" pitchFamily="18" charset="0"/>
                <a:cs typeface="Times New Roman" panose="02020603050405020304" pitchFamily="18" charset="0"/>
              </a:rPr>
              <a:t>Check surface </a:t>
            </a:r>
            <a:r>
              <a:rPr lang="en-US" sz="2600" b="0" i="1" u="none" strike="noStrike" baseline="0" dirty="0">
                <a:latin typeface="Times New Roman" panose="02020603050405020304" pitchFamily="18" charset="0"/>
                <a:cs typeface="Times New Roman" panose="02020603050405020304" pitchFamily="18" charset="0"/>
              </a:rPr>
              <a:t>- </a:t>
            </a:r>
            <a:r>
              <a:rPr lang="en-US" sz="2600" b="0" i="0" u="none" strike="noStrike" baseline="0" dirty="0">
                <a:latin typeface="Times New Roman" panose="02020603050405020304" pitchFamily="18" charset="0"/>
                <a:cs typeface="Times New Roman" panose="02020603050405020304" pitchFamily="18" charset="0"/>
              </a:rPr>
              <a:t>This is the surface that stops the movement of the tool</a:t>
            </a:r>
          </a:p>
        </p:txBody>
      </p:sp>
      <p:pic>
        <p:nvPicPr>
          <p:cNvPr id="4" name="Picture 3">
            <a:extLst>
              <a:ext uri="{FF2B5EF4-FFF2-40B4-BE49-F238E27FC236}">
                <a16:creationId xmlns:a16="http://schemas.microsoft.com/office/drawing/2014/main" id="{59DEFBC3-8B4D-A3B0-1438-12FFD168111E}"/>
              </a:ext>
            </a:extLst>
          </p:cNvPr>
          <p:cNvPicPr>
            <a:picLocks noChangeAspect="1"/>
          </p:cNvPicPr>
          <p:nvPr/>
        </p:nvPicPr>
        <p:blipFill>
          <a:blip r:embed="rId2"/>
          <a:stretch>
            <a:fillRect/>
          </a:stretch>
        </p:blipFill>
        <p:spPr>
          <a:xfrm>
            <a:off x="7182364" y="4095345"/>
            <a:ext cx="4884189" cy="2645923"/>
          </a:xfrm>
          <a:prstGeom prst="rect">
            <a:avLst/>
          </a:prstGeom>
        </p:spPr>
      </p:pic>
    </p:spTree>
    <p:extLst>
      <p:ext uri="{BB962C8B-B14F-4D97-AF65-F5344CB8AC3E}">
        <p14:creationId xmlns:p14="http://schemas.microsoft.com/office/powerpoint/2010/main" val="30974372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848D3-24E7-1979-2F00-40B472FE8122}"/>
              </a:ext>
            </a:extLst>
          </p:cNvPr>
          <p:cNvSpPr>
            <a:spLocks noGrp="1"/>
          </p:cNvSpPr>
          <p:nvPr>
            <p:ph type="title"/>
          </p:nvPr>
        </p:nvSpPr>
        <p:spPr>
          <a:xfrm>
            <a:off x="1003570" y="-251738"/>
            <a:ext cx="10515600" cy="1325563"/>
          </a:xfrm>
        </p:spPr>
        <p:txBody>
          <a:bodyPr>
            <a:normAutofit/>
          </a:bodyPr>
          <a:lstStyle/>
          <a:p>
            <a:pPr algn="ctr"/>
            <a:r>
              <a:rPr lang="en-IN" sz="3600" dirty="0">
                <a:latin typeface="Arial" panose="020B0604020202020204" pitchFamily="34" charset="0"/>
                <a:cs typeface="Arial" panose="020B0604020202020204" pitchFamily="34" charset="0"/>
              </a:rPr>
              <a:t>APT contour motion statement </a:t>
            </a:r>
          </a:p>
        </p:txBody>
      </p:sp>
      <p:sp>
        <p:nvSpPr>
          <p:cNvPr id="3" name="Content Placeholder 2">
            <a:extLst>
              <a:ext uri="{FF2B5EF4-FFF2-40B4-BE49-F238E27FC236}">
                <a16:creationId xmlns:a16="http://schemas.microsoft.com/office/drawing/2014/main" id="{442AAC57-5160-4FAA-65E3-9EF08F650D50}"/>
              </a:ext>
            </a:extLst>
          </p:cNvPr>
          <p:cNvSpPr>
            <a:spLocks noGrp="1"/>
          </p:cNvSpPr>
          <p:nvPr>
            <p:ph idx="1"/>
          </p:nvPr>
        </p:nvSpPr>
        <p:spPr>
          <a:xfrm>
            <a:off x="0" y="812310"/>
            <a:ext cx="12062298" cy="5233380"/>
          </a:xfrm>
        </p:spPr>
        <p:txBody>
          <a:bodyPr>
            <a:normAutofit/>
          </a:bodyPr>
          <a:lstStyle/>
          <a:p>
            <a:pPr algn="just"/>
            <a:r>
              <a:rPr lang="en-US" sz="2400" dirty="0">
                <a:latin typeface="Times New Roman" panose="02020603050405020304" pitchFamily="18" charset="0"/>
                <a:cs typeface="Times New Roman" panose="02020603050405020304" pitchFamily="18" charset="0"/>
              </a:rPr>
              <a:t>The APT contour motion statement commands the cutter to move along the drive and part surfaces and the movement ends when the tool is at the check surface.</a:t>
            </a:r>
          </a:p>
          <a:p>
            <a:pPr algn="l"/>
            <a:r>
              <a:rPr lang="en-US" sz="2400" b="0" i="0" u="none" strike="noStrike" baseline="0" dirty="0">
                <a:latin typeface="Times New Roman" panose="02020603050405020304" pitchFamily="18" charset="0"/>
                <a:cs typeface="Times New Roman" panose="02020603050405020304" pitchFamily="18" charset="0"/>
              </a:rPr>
              <a:t>The three </a:t>
            </a:r>
            <a:r>
              <a:rPr lang="en-US" sz="2400" b="0" i="0" u="none" strike="noStrike" baseline="0" dirty="0">
                <a:solidFill>
                  <a:srgbClr val="FF0000"/>
                </a:solidFill>
                <a:latin typeface="Times New Roman" panose="02020603050405020304" pitchFamily="18" charset="0"/>
                <a:cs typeface="Times New Roman" panose="02020603050405020304" pitchFamily="18" charset="0"/>
              </a:rPr>
              <a:t>APT modifier words </a:t>
            </a:r>
            <a:r>
              <a:rPr lang="en-US" sz="2400" b="0" i="0" u="none" strike="noStrike" baseline="0" dirty="0">
                <a:latin typeface="Times New Roman" panose="02020603050405020304" pitchFamily="18" charset="0"/>
                <a:cs typeface="Times New Roman" panose="02020603050405020304" pitchFamily="18" charset="0"/>
              </a:rPr>
              <a:t>are TO, ON, and PAST, and </a:t>
            </a:r>
            <a:r>
              <a:rPr lang="en-IN" sz="2400" b="0" i="0" u="none" strike="noStrike" baseline="0" dirty="0">
                <a:latin typeface="Times New Roman" panose="02020603050405020304" pitchFamily="18" charset="0"/>
                <a:cs typeface="Times New Roman" panose="02020603050405020304" pitchFamily="18" charset="0"/>
              </a:rPr>
              <a:t>TANTO (</a:t>
            </a:r>
            <a:r>
              <a:rPr lang="en-US" sz="2400" b="0" i="0" u="none" strike="noStrike" baseline="0" dirty="0">
                <a:latin typeface="Times New Roman" panose="02020603050405020304" pitchFamily="18" charset="0"/>
                <a:cs typeface="Times New Roman" panose="02020603050405020304" pitchFamily="18" charset="0"/>
              </a:rPr>
              <a:t>when the drive surface is tangent to a circular check surface) their use with regard to the check surface is shown in figure</a:t>
            </a: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8137605-AB8D-A6FC-C774-505E75C8AD56}"/>
              </a:ext>
            </a:extLst>
          </p:cNvPr>
          <p:cNvPicPr>
            <a:picLocks noChangeAspect="1"/>
          </p:cNvPicPr>
          <p:nvPr/>
        </p:nvPicPr>
        <p:blipFill>
          <a:blip r:embed="rId2"/>
          <a:stretch>
            <a:fillRect/>
          </a:stretch>
        </p:blipFill>
        <p:spPr>
          <a:xfrm>
            <a:off x="5161116" y="5784175"/>
            <a:ext cx="3876675" cy="781050"/>
          </a:xfrm>
          <a:prstGeom prst="rect">
            <a:avLst/>
          </a:prstGeom>
        </p:spPr>
      </p:pic>
      <p:pic>
        <p:nvPicPr>
          <p:cNvPr id="5" name="Picture 4">
            <a:extLst>
              <a:ext uri="{FF2B5EF4-FFF2-40B4-BE49-F238E27FC236}">
                <a16:creationId xmlns:a16="http://schemas.microsoft.com/office/drawing/2014/main" id="{C57BF5EE-2FEA-1865-7F48-FE28574882E2}"/>
              </a:ext>
            </a:extLst>
          </p:cNvPr>
          <p:cNvPicPr>
            <a:picLocks noChangeAspect="1"/>
          </p:cNvPicPr>
          <p:nvPr/>
        </p:nvPicPr>
        <p:blipFill>
          <a:blip r:embed="rId3"/>
          <a:stretch>
            <a:fillRect/>
          </a:stretch>
        </p:blipFill>
        <p:spPr>
          <a:xfrm>
            <a:off x="29698" y="4006552"/>
            <a:ext cx="4629851" cy="2851448"/>
          </a:xfrm>
          <a:prstGeom prst="rect">
            <a:avLst/>
          </a:prstGeom>
        </p:spPr>
      </p:pic>
      <p:pic>
        <p:nvPicPr>
          <p:cNvPr id="6" name="Picture 5">
            <a:extLst>
              <a:ext uri="{FF2B5EF4-FFF2-40B4-BE49-F238E27FC236}">
                <a16:creationId xmlns:a16="http://schemas.microsoft.com/office/drawing/2014/main" id="{49B42D62-807E-524B-8000-D66587469313}"/>
              </a:ext>
            </a:extLst>
          </p:cNvPr>
          <p:cNvPicPr>
            <a:picLocks noChangeAspect="1"/>
          </p:cNvPicPr>
          <p:nvPr/>
        </p:nvPicPr>
        <p:blipFill>
          <a:blip r:embed="rId4"/>
          <a:stretch>
            <a:fillRect/>
          </a:stretch>
        </p:blipFill>
        <p:spPr>
          <a:xfrm>
            <a:off x="4275985" y="2509584"/>
            <a:ext cx="5646937" cy="1828378"/>
          </a:xfrm>
          <a:prstGeom prst="rect">
            <a:avLst/>
          </a:prstGeom>
        </p:spPr>
      </p:pic>
      <p:pic>
        <p:nvPicPr>
          <p:cNvPr id="7" name="Picture 6">
            <a:extLst>
              <a:ext uri="{FF2B5EF4-FFF2-40B4-BE49-F238E27FC236}">
                <a16:creationId xmlns:a16="http://schemas.microsoft.com/office/drawing/2014/main" id="{A93DA131-D2B1-FFAB-EC5A-14CADCAFE8F9}"/>
              </a:ext>
            </a:extLst>
          </p:cNvPr>
          <p:cNvPicPr>
            <a:picLocks noChangeAspect="1"/>
          </p:cNvPicPr>
          <p:nvPr/>
        </p:nvPicPr>
        <p:blipFill>
          <a:blip r:embed="rId5"/>
          <a:stretch>
            <a:fillRect/>
          </a:stretch>
        </p:blipFill>
        <p:spPr>
          <a:xfrm>
            <a:off x="10101457" y="3044222"/>
            <a:ext cx="2060845" cy="1561059"/>
          </a:xfrm>
          <a:prstGeom prst="rect">
            <a:avLst/>
          </a:prstGeom>
        </p:spPr>
      </p:pic>
      <p:sp>
        <p:nvSpPr>
          <p:cNvPr id="8" name="TextBox 7">
            <a:extLst>
              <a:ext uri="{FF2B5EF4-FFF2-40B4-BE49-F238E27FC236}">
                <a16:creationId xmlns:a16="http://schemas.microsoft.com/office/drawing/2014/main" id="{CCFCB1B7-6DF4-74E3-EFFC-2B0CCC8B2170}"/>
              </a:ext>
            </a:extLst>
          </p:cNvPr>
          <p:cNvSpPr txBox="1"/>
          <p:nvPr/>
        </p:nvSpPr>
        <p:spPr>
          <a:xfrm>
            <a:off x="10201461" y="4605281"/>
            <a:ext cx="1960841" cy="1754326"/>
          </a:xfrm>
          <a:prstGeom prst="rect">
            <a:avLst/>
          </a:prstGeom>
          <a:noFill/>
        </p:spPr>
        <p:txBody>
          <a:bodyPr wrap="square" rtlCol="0">
            <a:spAutoFit/>
          </a:bodyPr>
          <a:lstStyle/>
          <a:p>
            <a:pPr algn="just"/>
            <a:r>
              <a:rPr lang="en-US" dirty="0"/>
              <a:t>TANTO moves tool to point of tangency between two surfaces, </a:t>
            </a:r>
            <a:r>
              <a:rPr lang="en-US" dirty="0">
                <a:solidFill>
                  <a:srgbClr val="FF0000"/>
                </a:solidFill>
              </a:rPr>
              <a:t>at least one of which is circular</a:t>
            </a:r>
            <a:endParaRPr lang="en-IN" dirty="0">
              <a:solidFill>
                <a:srgbClr val="FF0000"/>
              </a:solidFill>
            </a:endParaRPr>
          </a:p>
        </p:txBody>
      </p:sp>
    </p:spTree>
    <p:extLst>
      <p:ext uri="{BB962C8B-B14F-4D97-AF65-F5344CB8AC3E}">
        <p14:creationId xmlns:p14="http://schemas.microsoft.com/office/powerpoint/2010/main" val="36385156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72199-FF1A-AAB5-3609-42CB86E92AFC}"/>
              </a:ext>
            </a:extLst>
          </p:cNvPr>
          <p:cNvSpPr>
            <a:spLocks noGrp="1"/>
          </p:cNvSpPr>
          <p:nvPr>
            <p:ph type="title"/>
          </p:nvPr>
        </p:nvSpPr>
        <p:spPr>
          <a:xfrm>
            <a:off x="838200" y="-210344"/>
            <a:ext cx="10515600" cy="1325563"/>
          </a:xfrm>
        </p:spPr>
        <p:txBody>
          <a:bodyPr>
            <a:normAutofit/>
          </a:bodyPr>
          <a:lstStyle/>
          <a:p>
            <a:pPr algn="ctr"/>
            <a:r>
              <a:rPr lang="en-IN" sz="3600" dirty="0">
                <a:latin typeface="Arial" panose="020B0604020202020204" pitchFamily="34" charset="0"/>
                <a:cs typeface="Arial" panose="020B0604020202020204" pitchFamily="34" charset="0"/>
              </a:rPr>
              <a:t>APT contour motion statement </a:t>
            </a:r>
            <a:endParaRPr lang="en-IN" sz="3600" dirty="0"/>
          </a:p>
        </p:txBody>
      </p:sp>
      <p:sp>
        <p:nvSpPr>
          <p:cNvPr id="3" name="Content Placeholder 2">
            <a:extLst>
              <a:ext uri="{FF2B5EF4-FFF2-40B4-BE49-F238E27FC236}">
                <a16:creationId xmlns:a16="http://schemas.microsoft.com/office/drawing/2014/main" id="{6CEBEF6C-5407-CA58-E2C0-B40DD0846927}"/>
              </a:ext>
            </a:extLst>
          </p:cNvPr>
          <p:cNvSpPr>
            <a:spLocks noGrp="1"/>
          </p:cNvSpPr>
          <p:nvPr>
            <p:ph idx="1"/>
          </p:nvPr>
        </p:nvSpPr>
        <p:spPr>
          <a:xfrm>
            <a:off x="564204" y="822874"/>
            <a:ext cx="11371634" cy="4351338"/>
          </a:xfrm>
        </p:spPr>
        <p:txBody>
          <a:bodyPr>
            <a:normAutofit/>
          </a:bodyPr>
          <a:lstStyle/>
          <a:p>
            <a:pPr marL="0" indent="0" algn="ctr">
              <a:buNone/>
            </a:pPr>
            <a:r>
              <a:rPr lang="en-IN" sz="2600" b="0" i="0" u="none" strike="noStrike" baseline="0" dirty="0">
                <a:latin typeface="Times New Roman" panose="02020603050405020304" pitchFamily="18" charset="0"/>
                <a:cs typeface="Times New Roman" panose="02020603050405020304" pitchFamily="18" charset="0"/>
              </a:rPr>
              <a:t>FROM/TARG</a:t>
            </a:r>
          </a:p>
          <a:p>
            <a:pPr marL="0" indent="0" algn="ctr">
              <a:buNone/>
            </a:pPr>
            <a:r>
              <a:rPr lang="en-IN" sz="2600" b="0" i="0" u="none" strike="noStrike" baseline="0" dirty="0">
                <a:latin typeface="Times New Roman" panose="02020603050405020304" pitchFamily="18" charset="0"/>
                <a:cs typeface="Times New Roman" panose="02020603050405020304" pitchFamily="18" charset="0"/>
              </a:rPr>
              <a:t>GO/TO, PL1, TO, PL2, TO, PL3</a:t>
            </a:r>
          </a:p>
          <a:p>
            <a:pPr marL="0" indent="0" algn="just">
              <a:buNone/>
            </a:pPr>
            <a:r>
              <a:rPr lang="en-US" sz="2400" b="0" i="0" u="none" strike="noStrike" baseline="0" dirty="0">
                <a:latin typeface="Times New Roman" panose="02020603050405020304" pitchFamily="18" charset="0"/>
                <a:cs typeface="Times New Roman" panose="02020603050405020304" pitchFamily="18" charset="0"/>
              </a:rPr>
              <a:t>GO command instructs the tool to move to the intersection of the </a:t>
            </a:r>
            <a:r>
              <a:rPr lang="en-US" sz="2400" b="0" i="1" strike="noStrike" baseline="0" dirty="0">
                <a:latin typeface="Times New Roman" panose="02020603050405020304" pitchFamily="18" charset="0"/>
                <a:cs typeface="Times New Roman" panose="02020603050405020304" pitchFamily="18" charset="0"/>
              </a:rPr>
              <a:t>drive</a:t>
            </a:r>
            <a:r>
              <a:rPr lang="en-IN" sz="2400" i="1" dirty="0">
                <a:latin typeface="Times New Roman" panose="02020603050405020304" pitchFamily="18" charset="0"/>
                <a:cs typeface="Times New Roman" panose="02020603050405020304" pitchFamily="18" charset="0"/>
              </a:rPr>
              <a:t> </a:t>
            </a:r>
            <a:r>
              <a:rPr lang="en-US" sz="2400" b="0" i="1" strike="noStrike" baseline="0" dirty="0">
                <a:latin typeface="Times New Roman" panose="02020603050405020304" pitchFamily="18" charset="0"/>
                <a:cs typeface="Times New Roman" panose="02020603050405020304" pitchFamily="18" charset="0"/>
              </a:rPr>
              <a:t>surface (PL1), the part surface (PL2), and the check surface (PL3)</a:t>
            </a:r>
            <a:r>
              <a:rPr lang="en-US" sz="2400" b="0" i="0" u="none" strike="noStrike" baseline="0" dirty="0">
                <a:latin typeface="Times New Roman" panose="02020603050405020304" pitchFamily="18" charset="0"/>
                <a:cs typeface="Times New Roman" panose="02020603050405020304" pitchFamily="18" charset="0"/>
              </a:rPr>
              <a:t>. The periphery of the cutter is tangent to PL1 and PL3, and the bottom of the cutter is touching </a:t>
            </a:r>
            <a:r>
              <a:rPr lang="en-IN" sz="2400" b="0" i="0" u="none" strike="noStrike" baseline="0" dirty="0">
                <a:latin typeface="Times New Roman" panose="02020603050405020304" pitchFamily="18" charset="0"/>
                <a:cs typeface="Times New Roman" panose="02020603050405020304" pitchFamily="18" charset="0"/>
              </a:rPr>
              <a:t>PL2</a:t>
            </a:r>
          </a:p>
          <a:p>
            <a:pPr marL="0" indent="0" algn="just">
              <a:buNone/>
            </a:pPr>
            <a:r>
              <a:rPr lang="en-US" sz="2400" b="0" i="0" u="none" strike="noStrike" baseline="0" dirty="0">
                <a:solidFill>
                  <a:srgbClr val="FF0000"/>
                </a:solidFill>
                <a:latin typeface="Times New Roman" panose="02020603050405020304" pitchFamily="18" charset="0"/>
                <a:cs typeface="Times New Roman" panose="02020603050405020304" pitchFamily="18" charset="0"/>
              </a:rPr>
              <a:t>GO/TO Vs GOTO command :</a:t>
            </a:r>
            <a:r>
              <a:rPr lang="en-US" sz="2400" dirty="0">
                <a:solidFill>
                  <a:srgbClr val="FF0000"/>
                </a:solidFill>
                <a:latin typeface="Times New Roman" panose="02020603050405020304" pitchFamily="18" charset="0"/>
                <a:cs typeface="Times New Roman" panose="02020603050405020304" pitchFamily="18" charset="0"/>
              </a:rPr>
              <a:t> </a:t>
            </a:r>
            <a:r>
              <a:rPr lang="en-US" sz="2400" b="0" i="0" u="none" strike="noStrike" baseline="0" dirty="0">
                <a:solidFill>
                  <a:srgbClr val="FF0000"/>
                </a:solidFill>
                <a:latin typeface="Times New Roman" panose="02020603050405020304" pitchFamily="18" charset="0"/>
                <a:cs typeface="Times New Roman" panose="02020603050405020304" pitchFamily="18" charset="0"/>
              </a:rPr>
              <a:t>GOTO is used only for FTP motions and GO/TO is used to initialize the sequence of </a:t>
            </a:r>
            <a:r>
              <a:rPr lang="en-IN" sz="2400" b="0" i="0" u="none" strike="noStrike" baseline="0" dirty="0">
                <a:solidFill>
                  <a:srgbClr val="FF0000"/>
                </a:solidFill>
                <a:latin typeface="Times New Roman" panose="02020603050405020304" pitchFamily="18" charset="0"/>
                <a:cs typeface="Times New Roman" panose="02020603050405020304" pitchFamily="18" charset="0"/>
              </a:rPr>
              <a:t>contouring motions</a:t>
            </a:r>
          </a:p>
          <a:p>
            <a:pPr marL="0" indent="0" algn="l">
              <a:buNone/>
            </a:pPr>
            <a:endParaRPr lang="en-IN" sz="2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D1C3AE8-5598-9821-6ED2-3B005C4F1373}"/>
              </a:ext>
            </a:extLst>
          </p:cNvPr>
          <p:cNvPicPr>
            <a:picLocks noChangeAspect="1"/>
          </p:cNvPicPr>
          <p:nvPr/>
        </p:nvPicPr>
        <p:blipFill>
          <a:blip r:embed="rId2"/>
          <a:stretch>
            <a:fillRect/>
          </a:stretch>
        </p:blipFill>
        <p:spPr>
          <a:xfrm>
            <a:off x="564204" y="4612947"/>
            <a:ext cx="3422515" cy="1953525"/>
          </a:xfrm>
          <a:prstGeom prst="rect">
            <a:avLst/>
          </a:prstGeom>
        </p:spPr>
      </p:pic>
      <p:sp>
        <p:nvSpPr>
          <p:cNvPr id="5" name="TextBox 4">
            <a:extLst>
              <a:ext uri="{FF2B5EF4-FFF2-40B4-BE49-F238E27FC236}">
                <a16:creationId xmlns:a16="http://schemas.microsoft.com/office/drawing/2014/main" id="{610B8EB0-971D-412B-65DB-2A26C65C567D}"/>
              </a:ext>
            </a:extLst>
          </p:cNvPr>
          <p:cNvSpPr txBox="1"/>
          <p:nvPr/>
        </p:nvSpPr>
        <p:spPr>
          <a:xfrm>
            <a:off x="5327517" y="4145359"/>
            <a:ext cx="6705598" cy="2492990"/>
          </a:xfrm>
          <a:prstGeom prst="rect">
            <a:avLst/>
          </a:prstGeom>
          <a:noFill/>
        </p:spPr>
        <p:txBody>
          <a:bodyPr wrap="square" rtlCol="0">
            <a:spAutoFit/>
          </a:bodyPr>
          <a:lstStyle/>
          <a:p>
            <a:pPr algn="ctr"/>
            <a:r>
              <a:rPr lang="en-IN" sz="2400" b="0" i="0" u="none" strike="noStrike" baseline="0" dirty="0">
                <a:latin typeface="Times New Roman" panose="02020603050405020304" pitchFamily="18" charset="0"/>
                <a:cs typeface="Times New Roman" panose="02020603050405020304" pitchFamily="18" charset="0"/>
              </a:rPr>
              <a:t>GORGT/PL3, PAST, PL4</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a:t>
            </a:r>
            <a:r>
              <a:rPr lang="en-US" sz="2400" b="0" i="0" u="none" strike="noStrike" baseline="0" dirty="0">
                <a:latin typeface="Times New Roman" panose="02020603050405020304" pitchFamily="18" charset="0"/>
                <a:cs typeface="Times New Roman" panose="02020603050405020304" pitchFamily="18" charset="0"/>
              </a:rPr>
              <a:t>he tool to move along PL3 (drive surface) </a:t>
            </a:r>
          </a:p>
          <a:p>
            <a:pPr marL="800100" lvl="1" indent="-342900">
              <a:buFont typeface="Arial" panose="020B0604020202020204" pitchFamily="34" charset="0"/>
              <a:buChar char="•"/>
            </a:pPr>
            <a:r>
              <a:rPr lang="en-US" sz="2400" b="0" i="0" u="none" strike="noStrike" baseline="0" dirty="0">
                <a:latin typeface="Times New Roman" panose="02020603050405020304" pitchFamily="18" charset="0"/>
                <a:cs typeface="Times New Roman" panose="02020603050405020304" pitchFamily="18" charset="0"/>
              </a:rPr>
              <a:t>The</a:t>
            </a:r>
            <a:r>
              <a:rPr lang="en-US" sz="2400" dirty="0">
                <a:latin typeface="Times New Roman" panose="02020603050405020304" pitchFamily="18" charset="0"/>
                <a:cs typeface="Times New Roman" panose="02020603050405020304" pitchFamily="18" charset="0"/>
              </a:rPr>
              <a:t> </a:t>
            </a:r>
            <a:r>
              <a:rPr lang="en-US" sz="2400" b="0" i="0" u="none" strike="noStrike" baseline="0" dirty="0">
                <a:latin typeface="Times New Roman" panose="02020603050405020304" pitchFamily="18" charset="0"/>
                <a:cs typeface="Times New Roman" panose="02020603050405020304" pitchFamily="18" charset="0"/>
              </a:rPr>
              <a:t>tool would continue until past surface PL4, which is the new check surface</a:t>
            </a:r>
          </a:p>
          <a:p>
            <a:pPr lvl="1" algn="ctr"/>
            <a:r>
              <a:rPr lang="en-US" sz="2400" dirty="0">
                <a:solidFill>
                  <a:srgbClr val="FF0000"/>
                </a:solidFill>
                <a:latin typeface="Times New Roman" panose="02020603050405020304" pitchFamily="18" charset="0"/>
                <a:cs typeface="Times New Roman" panose="02020603050405020304" pitchFamily="18" charset="0"/>
              </a:rPr>
              <a:t>or</a:t>
            </a:r>
          </a:p>
          <a:p>
            <a:pPr algn="ctr"/>
            <a:r>
              <a:rPr lang="en-IN" sz="1800" b="0" i="0" u="none" strike="noStrike" baseline="0" dirty="0">
                <a:latin typeface="Times-Roman"/>
              </a:rPr>
              <a:t>GORGT/L3, PAST, L4</a:t>
            </a:r>
          </a:p>
          <a:p>
            <a:pPr algn="l"/>
            <a:r>
              <a:rPr lang="en-US" sz="1800" b="0" i="1" u="none" strike="noStrike" baseline="0" dirty="0">
                <a:latin typeface="Times-Roman"/>
              </a:rPr>
              <a:t>substituted lines L3 and L4 for planes PL3 and PL4, respectively</a:t>
            </a:r>
            <a:endParaRPr lang="en-IN" sz="24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09856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CCFB4-BC61-2F52-0260-0202B05A3F3B}"/>
              </a:ext>
            </a:extLst>
          </p:cNvPr>
          <p:cNvSpPr>
            <a:spLocks noGrp="1"/>
          </p:cNvSpPr>
          <p:nvPr>
            <p:ph type="title"/>
          </p:nvPr>
        </p:nvSpPr>
        <p:spPr>
          <a:xfrm>
            <a:off x="838200" y="-111531"/>
            <a:ext cx="10515600" cy="1325563"/>
          </a:xfrm>
        </p:spPr>
        <p:txBody>
          <a:bodyPr/>
          <a:lstStyle/>
          <a:p>
            <a:pPr algn="ctr"/>
            <a:r>
              <a:rPr lang="en-US" dirty="0">
                <a:latin typeface="Arial" panose="020B0604020202020204" pitchFamily="34" charset="0"/>
                <a:cs typeface="Arial" panose="020B0604020202020204" pitchFamily="34" charset="0"/>
              </a:rPr>
              <a:t>Example</a:t>
            </a:r>
            <a:endParaRPr lang="en-IN"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4BDCCAD1-D521-9E3D-E875-5C46C1E5640D}"/>
              </a:ext>
            </a:extLst>
          </p:cNvPr>
          <p:cNvPicPr>
            <a:picLocks noChangeAspect="1"/>
          </p:cNvPicPr>
          <p:nvPr/>
        </p:nvPicPr>
        <p:blipFill>
          <a:blip r:embed="rId2"/>
          <a:stretch>
            <a:fillRect/>
          </a:stretch>
        </p:blipFill>
        <p:spPr>
          <a:xfrm>
            <a:off x="7195428" y="2850203"/>
            <a:ext cx="3427900" cy="2174943"/>
          </a:xfrm>
          <a:prstGeom prst="rect">
            <a:avLst/>
          </a:prstGeom>
        </p:spPr>
      </p:pic>
      <p:pic>
        <p:nvPicPr>
          <p:cNvPr id="5" name="Picture 4">
            <a:extLst>
              <a:ext uri="{FF2B5EF4-FFF2-40B4-BE49-F238E27FC236}">
                <a16:creationId xmlns:a16="http://schemas.microsoft.com/office/drawing/2014/main" id="{5637455B-B6CF-3776-40EF-06716EA61CCC}"/>
              </a:ext>
            </a:extLst>
          </p:cNvPr>
          <p:cNvPicPr>
            <a:picLocks noChangeAspect="1"/>
          </p:cNvPicPr>
          <p:nvPr/>
        </p:nvPicPr>
        <p:blipFill>
          <a:blip r:embed="rId3"/>
          <a:stretch>
            <a:fillRect/>
          </a:stretch>
        </p:blipFill>
        <p:spPr>
          <a:xfrm>
            <a:off x="952500" y="2225506"/>
            <a:ext cx="5143500" cy="3457575"/>
          </a:xfrm>
          <a:prstGeom prst="rect">
            <a:avLst/>
          </a:prstGeom>
        </p:spPr>
      </p:pic>
    </p:spTree>
    <p:extLst>
      <p:ext uri="{BB962C8B-B14F-4D97-AF65-F5344CB8AC3E}">
        <p14:creationId xmlns:p14="http://schemas.microsoft.com/office/powerpoint/2010/main" val="8746082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B7A0A-716A-D148-0A97-19B346CE7276}"/>
              </a:ext>
            </a:extLst>
          </p:cNvPr>
          <p:cNvSpPr>
            <a:spLocks noGrp="1"/>
          </p:cNvSpPr>
          <p:nvPr>
            <p:ph type="title"/>
          </p:nvPr>
        </p:nvSpPr>
        <p:spPr>
          <a:xfrm>
            <a:off x="838200" y="-150441"/>
            <a:ext cx="10515600" cy="1325563"/>
          </a:xfrm>
        </p:spPr>
        <p:txBody>
          <a:bodyPr>
            <a:normAutofit/>
          </a:bodyPr>
          <a:lstStyle/>
          <a:p>
            <a:pPr algn="ctr"/>
            <a:r>
              <a:rPr lang="en-IN" sz="3600" b="0" i="0" u="none" strike="noStrike" baseline="0" dirty="0">
                <a:latin typeface="Arial" panose="020B0604020202020204" pitchFamily="34" charset="0"/>
                <a:cs typeface="Arial" panose="020B0604020202020204" pitchFamily="34" charset="0"/>
              </a:rPr>
              <a:t>Postprocessor statements</a:t>
            </a:r>
            <a:endParaRPr lang="en-IN" sz="3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FAC9E191-77D0-CB8D-0FE0-98DFBAFE87F3}"/>
              </a:ext>
            </a:extLst>
          </p:cNvPr>
          <p:cNvSpPr>
            <a:spLocks noGrp="1"/>
          </p:cNvSpPr>
          <p:nvPr>
            <p:ph idx="1"/>
          </p:nvPr>
        </p:nvSpPr>
        <p:spPr>
          <a:xfrm>
            <a:off x="371272" y="1368425"/>
            <a:ext cx="11449455" cy="4351338"/>
          </a:xfrm>
        </p:spPr>
        <p:txBody>
          <a:bodyPr>
            <a:noAutofit/>
          </a:bodyPr>
          <a:lstStyle/>
          <a:p>
            <a:pPr marL="0" indent="0">
              <a:buNone/>
            </a:pPr>
            <a:r>
              <a:rPr lang="en-US" sz="2600" dirty="0">
                <a:latin typeface="Times New Roman" panose="02020603050405020304" pitchFamily="18" charset="0"/>
                <a:cs typeface="Times New Roman" panose="02020603050405020304" pitchFamily="18" charset="0"/>
              </a:rPr>
              <a:t>Control the operation of the spindle, the feed, and other features of the machine tool </a:t>
            </a:r>
            <a:r>
              <a:rPr lang="en-IN" sz="2600" b="0" i="0" u="none" strike="noStrike" baseline="0" dirty="0">
                <a:latin typeface="Times New Roman" panose="02020603050405020304" pitchFamily="18" charset="0"/>
                <a:cs typeface="Times New Roman" panose="02020603050405020304" pitchFamily="18" charset="0"/>
              </a:rPr>
              <a:t>called </a:t>
            </a:r>
            <a:r>
              <a:rPr lang="en-IN" sz="2600" b="0" i="0" u="none" strike="noStrike" baseline="0" dirty="0">
                <a:solidFill>
                  <a:srgbClr val="FF0000"/>
                </a:solidFill>
                <a:latin typeface="Times New Roman" panose="02020603050405020304" pitchFamily="18" charset="0"/>
                <a:cs typeface="Times New Roman" panose="02020603050405020304" pitchFamily="18" charset="0"/>
              </a:rPr>
              <a:t>postprocessor statements</a:t>
            </a:r>
          </a:p>
          <a:p>
            <a:endParaRPr lang="en-IN" sz="2600" dirty="0">
              <a:latin typeface="Times New Roman" panose="02020603050405020304" pitchFamily="18" charset="0"/>
              <a:cs typeface="Times New Roman" panose="02020603050405020304" pitchFamily="18" charset="0"/>
            </a:endParaRPr>
          </a:p>
          <a:p>
            <a:endParaRPr lang="en-IN" sz="2600" b="0" i="0" u="none" strike="noStrike" baseline="0" dirty="0">
              <a:latin typeface="Times New Roman" panose="02020603050405020304" pitchFamily="18" charset="0"/>
              <a:cs typeface="Times New Roman" panose="02020603050405020304" pitchFamily="18" charset="0"/>
            </a:endParaRPr>
          </a:p>
          <a:p>
            <a:endParaRPr lang="en-IN" sz="2600" dirty="0">
              <a:latin typeface="Times New Roman" panose="02020603050405020304" pitchFamily="18" charset="0"/>
              <a:cs typeface="Times New Roman" panose="02020603050405020304" pitchFamily="18" charset="0"/>
            </a:endParaRPr>
          </a:p>
          <a:p>
            <a:pPr marL="0" indent="0">
              <a:buNone/>
            </a:pPr>
            <a:endParaRPr lang="en-IN" sz="2600" b="0" i="0" u="none" strike="noStrike" baseline="0" dirty="0">
              <a:latin typeface="Times New Roman" panose="02020603050405020304" pitchFamily="18" charset="0"/>
              <a:cs typeface="Times New Roman" panose="02020603050405020304" pitchFamily="18" charset="0"/>
            </a:endParaRPr>
          </a:p>
          <a:p>
            <a:pPr marL="0" indent="0" algn="l">
              <a:buNone/>
            </a:pPr>
            <a:endParaRPr lang="en-US" sz="2600" b="0" i="0" u="none" strike="noStrike" baseline="0" dirty="0">
              <a:latin typeface="Times New Roman" panose="02020603050405020304" pitchFamily="18" charset="0"/>
              <a:cs typeface="Times New Roman" panose="02020603050405020304" pitchFamily="18" charset="0"/>
            </a:endParaRPr>
          </a:p>
          <a:p>
            <a:pPr marL="0" indent="0" algn="l">
              <a:buNone/>
            </a:pPr>
            <a:r>
              <a:rPr lang="en-US" sz="2600" b="0" i="0" u="none" strike="noStrike" baseline="0" dirty="0">
                <a:latin typeface="Times New Roman" panose="02020603050405020304" pitchFamily="18" charset="0"/>
                <a:cs typeface="Times New Roman" panose="02020603050405020304" pitchFamily="18" charset="0"/>
              </a:rPr>
              <a:t>Note: </a:t>
            </a:r>
          </a:p>
          <a:p>
            <a:pPr marL="0" indent="0" algn="l">
              <a:buNone/>
            </a:pPr>
            <a:r>
              <a:rPr lang="en-US" sz="2600" b="0" i="0" u="none" strike="noStrike" baseline="0" dirty="0">
                <a:latin typeface="Times New Roman" panose="02020603050405020304" pitchFamily="18" charset="0"/>
                <a:cs typeface="Times New Roman" panose="02020603050405020304" pitchFamily="18" charset="0"/>
              </a:rPr>
              <a:t>with or without the slash (/).The statements without </a:t>
            </a:r>
            <a:r>
              <a:rPr lang="en-IN" sz="2600" b="0" i="0" u="none" strike="noStrike" baseline="0" dirty="0">
                <a:latin typeface="Times New Roman" panose="02020603050405020304" pitchFamily="18" charset="0"/>
                <a:cs typeface="Times New Roman" panose="02020603050405020304" pitchFamily="18" charset="0"/>
              </a:rPr>
              <a:t>the slash are self-contained</a:t>
            </a:r>
          </a:p>
        </p:txBody>
      </p:sp>
      <p:pic>
        <p:nvPicPr>
          <p:cNvPr id="4" name="Picture 3">
            <a:extLst>
              <a:ext uri="{FF2B5EF4-FFF2-40B4-BE49-F238E27FC236}">
                <a16:creationId xmlns:a16="http://schemas.microsoft.com/office/drawing/2014/main" id="{5D019322-EE5D-FA58-F554-88C3746F1ABE}"/>
              </a:ext>
            </a:extLst>
          </p:cNvPr>
          <p:cNvPicPr>
            <a:picLocks noChangeAspect="1"/>
          </p:cNvPicPr>
          <p:nvPr/>
        </p:nvPicPr>
        <p:blipFill>
          <a:blip r:embed="rId2"/>
          <a:stretch>
            <a:fillRect/>
          </a:stretch>
        </p:blipFill>
        <p:spPr>
          <a:xfrm>
            <a:off x="4791074" y="2708240"/>
            <a:ext cx="2609850" cy="1285875"/>
          </a:xfrm>
          <a:prstGeom prst="rect">
            <a:avLst/>
          </a:prstGeom>
        </p:spPr>
      </p:pic>
    </p:spTree>
    <p:extLst>
      <p:ext uri="{BB962C8B-B14F-4D97-AF65-F5344CB8AC3E}">
        <p14:creationId xmlns:p14="http://schemas.microsoft.com/office/powerpoint/2010/main" val="32892622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7CCA1-1A17-CCBA-EB68-DD5BE15580FD}"/>
              </a:ext>
            </a:extLst>
          </p:cNvPr>
          <p:cNvSpPr>
            <a:spLocks noGrp="1"/>
          </p:cNvSpPr>
          <p:nvPr>
            <p:ph type="title"/>
          </p:nvPr>
        </p:nvSpPr>
        <p:spPr>
          <a:xfrm>
            <a:off x="838200" y="-208806"/>
            <a:ext cx="10515600" cy="1325563"/>
          </a:xfrm>
        </p:spPr>
        <p:txBody>
          <a:bodyPr>
            <a:normAutofit/>
          </a:bodyPr>
          <a:lstStyle/>
          <a:p>
            <a:pPr algn="ctr"/>
            <a:r>
              <a:rPr lang="en-IN" sz="3600" b="0" i="0" u="none" strike="noStrike" baseline="0" dirty="0">
                <a:latin typeface="Arial" panose="020B0604020202020204" pitchFamily="34" charset="0"/>
                <a:cs typeface="Arial" panose="020B0604020202020204" pitchFamily="34" charset="0"/>
              </a:rPr>
              <a:t>Auxiliary statements</a:t>
            </a:r>
            <a:endParaRPr lang="en-IN" sz="3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D37F647E-8460-B41D-39DB-FCC9E82505B9}"/>
              </a:ext>
            </a:extLst>
          </p:cNvPr>
          <p:cNvSpPr>
            <a:spLocks noGrp="1"/>
          </p:cNvSpPr>
          <p:nvPr>
            <p:ph idx="1"/>
          </p:nvPr>
        </p:nvSpPr>
        <p:spPr>
          <a:xfrm>
            <a:off x="838200" y="1116757"/>
            <a:ext cx="10515600" cy="5060206"/>
          </a:xfrm>
        </p:spPr>
        <p:txBody>
          <a:bodyPr/>
          <a:lstStyle/>
          <a:p>
            <a:pPr algn="l"/>
            <a:endParaRPr lang="en-IN" sz="1800" b="0" i="0" u="none" strike="noStrike" baseline="0" dirty="0">
              <a:latin typeface="Times-Roman"/>
            </a:endParaRPr>
          </a:p>
          <a:p>
            <a:pPr algn="l"/>
            <a:r>
              <a:rPr lang="en-IN" sz="1800" b="0" i="0" u="none" strike="noStrike" baseline="0" dirty="0">
                <a:latin typeface="Times-Roman"/>
              </a:rPr>
              <a:t>CLPRNT </a:t>
            </a:r>
          </a:p>
          <a:p>
            <a:pPr algn="l"/>
            <a:r>
              <a:rPr lang="en-IN" sz="1800" b="0" i="0" u="none" strike="noStrike" baseline="0" dirty="0">
                <a:latin typeface="Times-Roman"/>
              </a:rPr>
              <a:t>CUTTER</a:t>
            </a:r>
          </a:p>
          <a:p>
            <a:pPr algn="l"/>
            <a:r>
              <a:rPr lang="en-IN" sz="1800" b="0" i="0" u="none" strike="noStrike" baseline="0" dirty="0">
                <a:latin typeface="Times-Roman"/>
              </a:rPr>
              <a:t>INTOL/</a:t>
            </a:r>
          </a:p>
          <a:p>
            <a:pPr algn="l"/>
            <a:r>
              <a:rPr lang="en-IN" sz="1800" b="0" i="0" u="none" strike="noStrike" baseline="0" dirty="0">
                <a:latin typeface="Times-Roman"/>
              </a:rPr>
              <a:t>OUTTOL/</a:t>
            </a:r>
          </a:p>
          <a:p>
            <a:pPr algn="l"/>
            <a:r>
              <a:rPr lang="en-IN" sz="1800" b="0" i="0" u="none" strike="noStrike" baseline="0" dirty="0">
                <a:latin typeface="Times-Roman"/>
              </a:rPr>
              <a:t>F1NI</a:t>
            </a:r>
            <a:endParaRPr lang="en-IN" sz="1800" dirty="0">
              <a:latin typeface="Times-Roman"/>
            </a:endParaRPr>
          </a:p>
          <a:p>
            <a:pPr marL="0" indent="0" algn="l">
              <a:buNone/>
            </a:pPr>
            <a:endParaRPr lang="en-IN" sz="1800" b="0" i="0" u="none" strike="noStrike" baseline="0" dirty="0">
              <a:latin typeface="Times-Roman"/>
            </a:endParaRPr>
          </a:p>
          <a:p>
            <a:pPr marL="0" indent="0" algn="ctr">
              <a:buNone/>
            </a:pPr>
            <a:r>
              <a:rPr lang="en-IN" sz="1800" b="0" i="0" u="none" strike="noStrike" baseline="0" dirty="0">
                <a:latin typeface="Times-Roman"/>
              </a:rPr>
              <a:t>CUTTER/.500</a:t>
            </a:r>
          </a:p>
          <a:p>
            <a:pPr marL="0" indent="0" algn="ctr">
              <a:buNone/>
            </a:pPr>
            <a:r>
              <a:rPr lang="en-US" sz="1800" b="0" i="0" u="none" strike="noStrike" baseline="0" dirty="0">
                <a:latin typeface="Times-Roman"/>
              </a:rPr>
              <a:t>would instruct the APT program that the cutter diameter is 0.500 in</a:t>
            </a:r>
            <a:endParaRPr lang="en-IN" dirty="0"/>
          </a:p>
        </p:txBody>
      </p:sp>
    </p:spTree>
    <p:extLst>
      <p:ext uri="{BB962C8B-B14F-4D97-AF65-F5344CB8AC3E}">
        <p14:creationId xmlns:p14="http://schemas.microsoft.com/office/powerpoint/2010/main" val="1920428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02E57-97DF-500F-FE4D-223DFD069220}"/>
              </a:ext>
            </a:extLst>
          </p:cNvPr>
          <p:cNvSpPr>
            <a:spLocks noGrp="1"/>
          </p:cNvSpPr>
          <p:nvPr>
            <p:ph type="title"/>
          </p:nvPr>
        </p:nvSpPr>
        <p:spPr>
          <a:xfrm>
            <a:off x="838200" y="-393633"/>
            <a:ext cx="10515600" cy="1325563"/>
          </a:xfrm>
        </p:spPr>
        <p:txBody>
          <a:bodyPr>
            <a:normAutofit/>
          </a:bodyPr>
          <a:lstStyle/>
          <a:p>
            <a:pPr algn="ctr"/>
            <a:r>
              <a:rPr lang="en-US" sz="3600" dirty="0">
                <a:latin typeface="Arial" panose="020B0604020202020204" pitchFamily="34" charset="0"/>
                <a:cs typeface="Arial" panose="020B0604020202020204" pitchFamily="34" charset="0"/>
              </a:rPr>
              <a:t>NC </a:t>
            </a:r>
            <a:r>
              <a:rPr lang="en-IN" sz="3600" u="none" strike="noStrike" baseline="0" dirty="0">
                <a:latin typeface="Arial" panose="020B0604020202020204" pitchFamily="34" charset="0"/>
                <a:cs typeface="Arial" panose="020B0604020202020204" pitchFamily="34" charset="0"/>
              </a:rPr>
              <a:t>Positioning Systems</a:t>
            </a:r>
            <a:endParaRPr lang="en-IN" sz="3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2CCC89AB-75CE-9552-F362-CA8D52AF939A}"/>
              </a:ext>
            </a:extLst>
          </p:cNvPr>
          <p:cNvSpPr>
            <a:spLocks noGrp="1"/>
          </p:cNvSpPr>
          <p:nvPr>
            <p:ph idx="1"/>
          </p:nvPr>
        </p:nvSpPr>
        <p:spPr>
          <a:xfrm>
            <a:off x="0" y="513640"/>
            <a:ext cx="12072026" cy="4351338"/>
          </a:xfrm>
        </p:spPr>
        <p:txBody>
          <a:bodyPr>
            <a:noAutofit/>
          </a:bodyPr>
          <a:lstStyle/>
          <a:p>
            <a:pPr marL="0" indent="0" algn="just">
              <a:buNone/>
            </a:pPr>
            <a:r>
              <a:rPr lang="en-US" sz="2200" b="0" i="0" u="none" strike="noStrike" baseline="0" dirty="0">
                <a:latin typeface="Times New Roman" panose="02020603050405020304" pitchFamily="18" charset="0"/>
                <a:cs typeface="Times New Roman" panose="02020603050405020304" pitchFamily="18" charset="0"/>
              </a:rPr>
              <a:t>NC positioning system converts the coordinate axis values in the NC part program into relative positions of the tool and work part during processing.</a:t>
            </a:r>
          </a:p>
          <a:p>
            <a:pPr marL="0" indent="0" algn="just">
              <a:buNone/>
            </a:pPr>
            <a:r>
              <a:rPr lang="en-IN" sz="2200" b="0" i="0" u="none" strike="noStrike" baseline="0" dirty="0">
                <a:latin typeface="Times New Roman" panose="02020603050405020304" pitchFamily="18" charset="0"/>
                <a:cs typeface="Times New Roman" panose="02020603050405020304" pitchFamily="18" charset="0"/>
              </a:rPr>
              <a:t>Consider the simple positioning </a:t>
            </a:r>
            <a:r>
              <a:rPr lang="en-US" sz="2200" b="0" i="0" u="none" strike="noStrike" baseline="0" dirty="0">
                <a:latin typeface="Times New Roman" panose="02020603050405020304" pitchFamily="18" charset="0"/>
                <a:cs typeface="Times New Roman" panose="02020603050405020304" pitchFamily="18" charset="0"/>
              </a:rPr>
              <a:t>system </a:t>
            </a:r>
            <a:r>
              <a:rPr lang="en-US" sz="2200" dirty="0">
                <a:latin typeface="Times New Roman" panose="02020603050405020304" pitchFamily="18" charset="0"/>
                <a:cs typeface="Times New Roman" panose="02020603050405020304" pitchFamily="18" charset="0"/>
              </a:rPr>
              <a:t>– </a:t>
            </a:r>
          </a:p>
          <a:p>
            <a:pPr lvl="1" algn="just"/>
            <a:r>
              <a:rPr lang="en-US" sz="2000" b="0" i="0" u="none" strike="noStrike" baseline="0" dirty="0">
                <a:latin typeface="Times New Roman" panose="02020603050405020304" pitchFamily="18" charset="0"/>
                <a:cs typeface="Times New Roman" panose="02020603050405020304" pitchFamily="18" charset="0"/>
              </a:rPr>
              <a:t>The system consists of a cutting tool and a worktable on which a work part is fixtured. </a:t>
            </a:r>
          </a:p>
          <a:p>
            <a:pPr lvl="1" algn="just"/>
            <a:r>
              <a:rPr lang="en-US" sz="2000" b="0" i="0" u="none" strike="noStrike" baseline="0" dirty="0">
                <a:latin typeface="Times New Roman" panose="02020603050405020304" pitchFamily="18" charset="0"/>
                <a:cs typeface="Times New Roman" panose="02020603050405020304" pitchFamily="18" charset="0"/>
              </a:rPr>
              <a:t>The table is designed to move the part relative to the tool. </a:t>
            </a:r>
          </a:p>
          <a:p>
            <a:pPr lvl="1" algn="just"/>
            <a:r>
              <a:rPr lang="en-US" sz="2000" b="0" i="0" u="none" strike="noStrike" baseline="0" dirty="0">
                <a:latin typeface="Times New Roman" panose="02020603050405020304" pitchFamily="18" charset="0"/>
                <a:cs typeface="Times New Roman" panose="02020603050405020304" pitchFamily="18" charset="0"/>
              </a:rPr>
              <a:t>The worktable moves linearly by means of a rotating leadscrew, </a:t>
            </a:r>
          </a:p>
          <a:p>
            <a:pPr marL="457200" lvl="1" indent="0" algn="just">
              <a:buNone/>
            </a:pPr>
            <a:r>
              <a:rPr lang="en-US" sz="2000" dirty="0">
                <a:latin typeface="Times New Roman" panose="02020603050405020304" pitchFamily="18" charset="0"/>
                <a:cs typeface="Times New Roman" panose="02020603050405020304" pitchFamily="18" charset="0"/>
              </a:rPr>
              <a:t>    </a:t>
            </a:r>
            <a:r>
              <a:rPr lang="en-US" sz="2000" b="0" i="0" u="none" strike="noStrike" baseline="0" dirty="0">
                <a:latin typeface="Times New Roman" panose="02020603050405020304" pitchFamily="18" charset="0"/>
                <a:cs typeface="Times New Roman" panose="02020603050405020304" pitchFamily="18" charset="0"/>
              </a:rPr>
              <a:t>which is driven by a stepper motor or servomotor</a:t>
            </a:r>
          </a:p>
        </p:txBody>
      </p:sp>
      <p:pic>
        <p:nvPicPr>
          <p:cNvPr id="4" name="Picture 3">
            <a:extLst>
              <a:ext uri="{FF2B5EF4-FFF2-40B4-BE49-F238E27FC236}">
                <a16:creationId xmlns:a16="http://schemas.microsoft.com/office/drawing/2014/main" id="{11D773D4-84B5-2F74-B432-B27A9B175F09}"/>
              </a:ext>
            </a:extLst>
          </p:cNvPr>
          <p:cNvPicPr>
            <a:picLocks noChangeAspect="1"/>
          </p:cNvPicPr>
          <p:nvPr/>
        </p:nvPicPr>
        <p:blipFill>
          <a:blip r:embed="rId2"/>
          <a:stretch>
            <a:fillRect/>
          </a:stretch>
        </p:blipFill>
        <p:spPr>
          <a:xfrm>
            <a:off x="7062281" y="2581928"/>
            <a:ext cx="5129719" cy="4276072"/>
          </a:xfrm>
          <a:prstGeom prst="rect">
            <a:avLst/>
          </a:prstGeom>
        </p:spPr>
      </p:pic>
      <p:sp>
        <p:nvSpPr>
          <p:cNvPr id="5" name="TextBox 4">
            <a:extLst>
              <a:ext uri="{FF2B5EF4-FFF2-40B4-BE49-F238E27FC236}">
                <a16:creationId xmlns:a16="http://schemas.microsoft.com/office/drawing/2014/main" id="{65DD83D2-752B-533D-98B8-B7954D6B0CA8}"/>
              </a:ext>
            </a:extLst>
          </p:cNvPr>
          <p:cNvSpPr txBox="1"/>
          <p:nvPr/>
        </p:nvSpPr>
        <p:spPr>
          <a:xfrm>
            <a:off x="85358" y="3161488"/>
            <a:ext cx="6767209" cy="4062651"/>
          </a:xfrm>
          <a:prstGeom prst="rect">
            <a:avLst/>
          </a:prstGeom>
          <a:noFill/>
        </p:spPr>
        <p:txBody>
          <a:bodyPr wrap="square" rtlCol="0">
            <a:spAutoFit/>
          </a:bodyPr>
          <a:lstStyle/>
          <a:p>
            <a:pPr algn="just"/>
            <a:r>
              <a:rPr lang="en-US" sz="2400" b="0" i="0" u="none" strike="noStrike" baseline="0" dirty="0">
                <a:latin typeface="Times New Roman" panose="02020603050405020304" pitchFamily="18" charset="0"/>
                <a:cs typeface="Times New Roman" panose="02020603050405020304" pitchFamily="18" charset="0"/>
              </a:rPr>
              <a:t>Two types of control systems are used in positioning systems:</a:t>
            </a:r>
          </a:p>
          <a:p>
            <a:pPr marL="0" indent="0" algn="just">
              <a:buNone/>
            </a:pPr>
            <a:r>
              <a:rPr lang="en-US" sz="2400" b="0" i="0" u="none" strike="noStrike" baseline="0" dirty="0">
                <a:latin typeface="Times New Roman" panose="02020603050405020304" pitchFamily="18" charset="0"/>
                <a:cs typeface="Times New Roman" panose="02020603050405020304" pitchFamily="18" charset="0"/>
              </a:rPr>
              <a:t>(a) open loop</a:t>
            </a:r>
          </a:p>
          <a:p>
            <a:pPr marL="0" indent="0" algn="just">
              <a:buNone/>
            </a:pPr>
            <a:r>
              <a:rPr lang="en-US" sz="2400" b="0" i="0" u="none" strike="noStrike" baseline="0" dirty="0">
                <a:latin typeface="Times New Roman" panose="02020603050405020304" pitchFamily="18" charset="0"/>
                <a:cs typeface="Times New Roman" panose="02020603050405020304" pitchFamily="18" charset="0"/>
              </a:rPr>
              <a:t>(b) closed loop</a:t>
            </a:r>
          </a:p>
          <a:p>
            <a:pPr marL="0" indent="0" algn="just">
              <a:buNone/>
            </a:pPr>
            <a:r>
              <a:rPr lang="en-US" sz="2400" b="0" i="0" u="none" strike="noStrike" baseline="0" dirty="0">
                <a:latin typeface="Times New Roman" panose="02020603050405020304" pitchFamily="18" charset="0"/>
                <a:cs typeface="Times New Roman" panose="02020603050405020304" pitchFamily="18" charset="0"/>
              </a:rPr>
              <a:t>An open-loop system operates without verifying that the actual position achieved in the move is the same as the desired position. </a:t>
            </a:r>
          </a:p>
          <a:p>
            <a:pPr marL="0" indent="0" algn="just">
              <a:buNone/>
            </a:pPr>
            <a:r>
              <a:rPr lang="en-US" sz="2400" b="0" i="0" u="none" strike="noStrike" baseline="0" dirty="0">
                <a:latin typeface="Times New Roman" panose="02020603050405020304" pitchFamily="18" charset="0"/>
                <a:cs typeface="Times New Roman" panose="02020603050405020304" pitchFamily="18" charset="0"/>
              </a:rPr>
              <a:t>A closed-loop system uses feedback measurements to confirm that the final position of the worktable is the location specified in the program</a:t>
            </a:r>
            <a:r>
              <a:rPr lang="en-US" sz="1800" b="0" i="0" u="none" strike="noStrike" baseline="0" dirty="0">
                <a:latin typeface="Times New Roman" panose="020206030504050203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37608997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40C62-D8AA-FBBB-7E39-AB3DF4F24ABF}"/>
              </a:ext>
            </a:extLst>
          </p:cNvPr>
          <p:cNvSpPr>
            <a:spLocks noGrp="1"/>
          </p:cNvSpPr>
          <p:nvPr>
            <p:ph type="title"/>
          </p:nvPr>
        </p:nvSpPr>
        <p:spPr>
          <a:xfrm>
            <a:off x="838200" y="-442573"/>
            <a:ext cx="10515600" cy="1325563"/>
          </a:xfrm>
        </p:spPr>
        <p:txBody>
          <a:bodyPr>
            <a:normAutofit/>
          </a:bodyPr>
          <a:lstStyle/>
          <a:p>
            <a:pPr algn="ctr"/>
            <a:r>
              <a:rPr lang="en-IN" sz="3200" b="0" i="0" u="none" strike="noStrike" baseline="0" dirty="0">
                <a:latin typeface="Arial" panose="020B0604020202020204" pitchFamily="34" charset="0"/>
                <a:cs typeface="Arial" panose="020B0604020202020204" pitchFamily="34" charset="0"/>
              </a:rPr>
              <a:t>Optical encoders</a:t>
            </a:r>
            <a:endParaRPr lang="en-IN" sz="32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F95F523-7795-601E-8DB2-5EB0BE7F2BD1}"/>
              </a:ext>
            </a:extLst>
          </p:cNvPr>
          <p:cNvSpPr>
            <a:spLocks noGrp="1"/>
          </p:cNvSpPr>
          <p:nvPr>
            <p:ph idx="1"/>
          </p:nvPr>
        </p:nvSpPr>
        <p:spPr>
          <a:xfrm>
            <a:off x="0" y="428903"/>
            <a:ext cx="12064721" cy="4351338"/>
          </a:xfrm>
        </p:spPr>
        <p:txBody>
          <a:bodyPr>
            <a:noAutofit/>
          </a:bodyPr>
          <a:lstStyle/>
          <a:p>
            <a:pPr algn="just"/>
            <a:r>
              <a:rPr lang="en-US" sz="2400" i="1" dirty="0">
                <a:latin typeface="Times New Roman" panose="02020603050405020304" pitchFamily="18" charset="0"/>
                <a:cs typeface="Times New Roman" panose="02020603050405020304" pitchFamily="18" charset="0"/>
              </a:rPr>
              <a:t>An encoder is a device that provides a digital output as a result of a linear or angular displacement</a:t>
            </a:r>
          </a:p>
          <a:p>
            <a:pPr algn="just"/>
            <a:r>
              <a:rPr lang="en-US" sz="2400" dirty="0">
                <a:latin typeface="Times New Roman" panose="02020603050405020304" pitchFamily="18" charset="0"/>
                <a:cs typeface="Times New Roman" panose="02020603050405020304" pitchFamily="18" charset="0"/>
              </a:rPr>
              <a:t>Encoders can be grouped into two categories: </a:t>
            </a:r>
            <a:r>
              <a:rPr lang="en-US" sz="2400" i="1" dirty="0">
                <a:solidFill>
                  <a:srgbClr val="FF0000"/>
                </a:solidFill>
                <a:latin typeface="Times New Roman" panose="02020603050405020304" pitchFamily="18" charset="0"/>
                <a:cs typeface="Times New Roman" panose="02020603050405020304" pitchFamily="18" charset="0"/>
              </a:rPr>
              <a:t>incremental encoders and absolute encoders</a:t>
            </a:r>
          </a:p>
          <a:p>
            <a:pPr algn="just"/>
            <a:r>
              <a:rPr lang="en-US" sz="2400" dirty="0">
                <a:latin typeface="Times New Roman" panose="02020603050405020304" pitchFamily="18" charset="0"/>
                <a:cs typeface="Times New Roman" panose="02020603050405020304" pitchFamily="18" charset="0"/>
              </a:rPr>
              <a:t>Incremental encoders: detect </a:t>
            </a:r>
            <a:r>
              <a:rPr lang="en-US" sz="2400" b="1" i="1" dirty="0">
                <a:latin typeface="Times New Roman" panose="02020603050405020304" pitchFamily="18" charset="0"/>
                <a:cs typeface="Times New Roman" panose="02020603050405020304" pitchFamily="18" charset="0"/>
              </a:rPr>
              <a:t>changes in position</a:t>
            </a:r>
            <a:r>
              <a:rPr lang="en-US" sz="2400" i="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(rotation) from some datum by generating pulses with each movement</a:t>
            </a:r>
          </a:p>
          <a:p>
            <a:pPr algn="just"/>
            <a:r>
              <a:rPr lang="en-US" sz="2400" dirty="0">
                <a:latin typeface="Times New Roman" panose="02020603050405020304" pitchFamily="18" charset="0"/>
                <a:cs typeface="Times New Roman" panose="02020603050405020304" pitchFamily="18" charset="0"/>
              </a:rPr>
              <a:t>Absolute encoders : give the </a:t>
            </a:r>
            <a:r>
              <a:rPr lang="en-US" sz="2400" b="1" i="1" dirty="0">
                <a:latin typeface="Times New Roman" panose="02020603050405020304" pitchFamily="18" charset="0"/>
                <a:cs typeface="Times New Roman" panose="02020603050405020304" pitchFamily="18" charset="0"/>
              </a:rPr>
              <a:t>actual angular position </a:t>
            </a:r>
            <a:r>
              <a:rPr lang="en-US" sz="2400" dirty="0">
                <a:latin typeface="Times New Roman" panose="02020603050405020304" pitchFamily="18" charset="0"/>
                <a:cs typeface="Times New Roman" panose="02020603050405020304" pitchFamily="18" charset="0"/>
              </a:rPr>
              <a:t>at any given moment</a:t>
            </a:r>
          </a:p>
          <a:p>
            <a:pPr algn="just"/>
            <a:r>
              <a:rPr lang="en-US" sz="2400" dirty="0">
                <a:latin typeface="Times New Roman" panose="02020603050405020304" pitchFamily="18" charset="0"/>
                <a:cs typeface="Times New Roman" panose="02020603050405020304" pitchFamily="18" charset="0"/>
              </a:rPr>
              <a:t>Incremental encoder for the measurement of angular displacement. </a:t>
            </a:r>
          </a:p>
          <a:p>
            <a:pPr algn="just"/>
            <a:r>
              <a:rPr lang="en-US" sz="2400" dirty="0">
                <a:latin typeface="Times New Roman" panose="02020603050405020304" pitchFamily="18" charset="0"/>
                <a:cs typeface="Times New Roman" panose="02020603050405020304" pitchFamily="18" charset="0"/>
              </a:rPr>
              <a:t>A beam of light passes through slots in a disc and is detected </a:t>
            </a:r>
          </a:p>
          <a:p>
            <a:pPr marL="0" indent="0" algn="just">
              <a:buNone/>
            </a:pPr>
            <a:r>
              <a:rPr lang="en-US" sz="2400" dirty="0">
                <a:latin typeface="Times New Roman" panose="02020603050405020304" pitchFamily="18" charset="0"/>
                <a:cs typeface="Times New Roman" panose="02020603050405020304" pitchFamily="18" charset="0"/>
              </a:rPr>
              <a:t>   by a suitable light sensor.</a:t>
            </a:r>
          </a:p>
          <a:p>
            <a:pPr algn="just"/>
            <a:r>
              <a:rPr lang="en-US" sz="2400" dirty="0">
                <a:latin typeface="Times New Roman" panose="02020603050405020304" pitchFamily="18" charset="0"/>
                <a:cs typeface="Times New Roman" panose="02020603050405020304" pitchFamily="18" charset="0"/>
              </a:rPr>
              <a:t>When the disc is rotated, a pulsed output is produced by the </a:t>
            </a:r>
          </a:p>
          <a:p>
            <a:pPr marL="0" indent="0" algn="just">
              <a:buNone/>
            </a:pPr>
            <a:r>
              <a:rPr lang="en-US" sz="2400" dirty="0">
                <a:latin typeface="Times New Roman" panose="02020603050405020304" pitchFamily="18" charset="0"/>
                <a:cs typeface="Times New Roman" panose="02020603050405020304" pitchFamily="18" charset="0"/>
              </a:rPr>
              <a:t>   sensor.</a:t>
            </a: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The number of pulses proportional </a:t>
            </a: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to the angle through which the disc rotates </a:t>
            </a:r>
          </a:p>
          <a:p>
            <a:pPr marL="0" indent="0" algn="just">
              <a:buNone/>
            </a:pP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C7AC916-05F8-6582-358A-59005ED4B065}"/>
              </a:ext>
            </a:extLst>
          </p:cNvPr>
          <p:cNvPicPr>
            <a:picLocks noChangeAspect="1"/>
          </p:cNvPicPr>
          <p:nvPr/>
        </p:nvPicPr>
        <p:blipFill rotWithShape="1">
          <a:blip r:embed="rId2"/>
          <a:srcRect l="3254" r="5889"/>
          <a:stretch/>
        </p:blipFill>
        <p:spPr>
          <a:xfrm>
            <a:off x="8459038" y="2775167"/>
            <a:ext cx="3617406" cy="2876550"/>
          </a:xfrm>
          <a:prstGeom prst="rect">
            <a:avLst/>
          </a:prstGeom>
        </p:spPr>
      </p:pic>
      <p:pic>
        <p:nvPicPr>
          <p:cNvPr id="5" name="Picture 4">
            <a:extLst>
              <a:ext uri="{FF2B5EF4-FFF2-40B4-BE49-F238E27FC236}">
                <a16:creationId xmlns:a16="http://schemas.microsoft.com/office/drawing/2014/main" id="{17FF1E23-F077-12F4-7948-F2B7C9D014C8}"/>
              </a:ext>
            </a:extLst>
          </p:cNvPr>
          <p:cNvPicPr>
            <a:picLocks noChangeAspect="1"/>
          </p:cNvPicPr>
          <p:nvPr/>
        </p:nvPicPr>
        <p:blipFill>
          <a:blip r:embed="rId3"/>
          <a:stretch>
            <a:fillRect/>
          </a:stretch>
        </p:blipFill>
        <p:spPr>
          <a:xfrm>
            <a:off x="5456254" y="4877623"/>
            <a:ext cx="3386295" cy="1890612"/>
          </a:xfrm>
          <a:prstGeom prst="rect">
            <a:avLst/>
          </a:prstGeom>
        </p:spPr>
      </p:pic>
    </p:spTree>
    <p:extLst>
      <p:ext uri="{BB962C8B-B14F-4D97-AF65-F5344CB8AC3E}">
        <p14:creationId xmlns:p14="http://schemas.microsoft.com/office/powerpoint/2010/main" val="40747446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2D48A-7EC6-4F0F-F127-DFDC9FF09CCD}"/>
              </a:ext>
            </a:extLst>
          </p:cNvPr>
          <p:cNvSpPr>
            <a:spLocks noGrp="1"/>
          </p:cNvSpPr>
          <p:nvPr>
            <p:ph type="title"/>
          </p:nvPr>
        </p:nvSpPr>
        <p:spPr>
          <a:xfrm>
            <a:off x="925749" y="190028"/>
            <a:ext cx="10515600" cy="1325563"/>
          </a:xfrm>
        </p:spPr>
        <p:txBody>
          <a:bodyPr>
            <a:normAutofit/>
          </a:bodyPr>
          <a:lstStyle/>
          <a:p>
            <a:pPr algn="ctr"/>
            <a:r>
              <a:rPr lang="en-IN" sz="3600" b="0" i="0" u="none" strike="noStrike" baseline="0" dirty="0">
                <a:latin typeface="Arial" panose="020B0604020202020204" pitchFamily="34" charset="0"/>
                <a:cs typeface="Arial" panose="020B0604020202020204" pitchFamily="34" charset="0"/>
              </a:rPr>
              <a:t>Optical encoders</a:t>
            </a:r>
            <a:endParaRPr lang="en-IN" sz="3600" dirty="0"/>
          </a:p>
        </p:txBody>
      </p:sp>
      <p:sp>
        <p:nvSpPr>
          <p:cNvPr id="3" name="Content Placeholder 2">
            <a:extLst>
              <a:ext uri="{FF2B5EF4-FFF2-40B4-BE49-F238E27FC236}">
                <a16:creationId xmlns:a16="http://schemas.microsoft.com/office/drawing/2014/main" id="{4B53C148-5ECB-313F-AFB8-2E763D99349A}"/>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CB6BBFB5-95D3-AE1D-A424-CC224A3C0817}"/>
              </a:ext>
            </a:extLst>
          </p:cNvPr>
          <p:cNvPicPr>
            <a:picLocks noChangeAspect="1"/>
          </p:cNvPicPr>
          <p:nvPr/>
        </p:nvPicPr>
        <p:blipFill>
          <a:blip r:embed="rId2"/>
          <a:stretch>
            <a:fillRect/>
          </a:stretch>
        </p:blipFill>
        <p:spPr>
          <a:xfrm>
            <a:off x="2046354" y="1867457"/>
            <a:ext cx="7603484" cy="4267674"/>
          </a:xfrm>
          <a:prstGeom prst="rect">
            <a:avLst/>
          </a:prstGeom>
        </p:spPr>
      </p:pic>
    </p:spTree>
    <p:extLst>
      <p:ext uri="{BB962C8B-B14F-4D97-AF65-F5344CB8AC3E}">
        <p14:creationId xmlns:p14="http://schemas.microsoft.com/office/powerpoint/2010/main" val="19668797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BDC4A-5E86-9F8A-3B35-F0EE0299E2C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551F7A6-2B1F-F582-9E13-7CB7CC9130E3}"/>
              </a:ext>
            </a:extLst>
          </p:cNvPr>
          <p:cNvSpPr>
            <a:spLocks noGrp="1"/>
          </p:cNvSpPr>
          <p:nvPr>
            <p:ph idx="1"/>
          </p:nvPr>
        </p:nvSpPr>
        <p:spPr>
          <a:xfrm>
            <a:off x="33916" y="4159624"/>
            <a:ext cx="12386947" cy="4690201"/>
          </a:xfrm>
        </p:spPr>
        <p:txBody>
          <a:bodyPr>
            <a:normAutofit/>
          </a:bodyPr>
          <a:lstStyle/>
          <a:p>
            <a:r>
              <a:rPr lang="en-US" sz="2400" dirty="0">
                <a:latin typeface="Times New Roman" panose="02020603050405020304" pitchFamily="18" charset="0"/>
                <a:cs typeface="Times New Roman" panose="02020603050405020304" pitchFamily="18" charset="0"/>
              </a:rPr>
              <a:t>The outer and middle tracks have a series of equally spaced holes that go completely round the disc but with the holes in the middle track offset from the holes in the outer track by one-half the width of a hole. </a:t>
            </a:r>
          </a:p>
          <a:p>
            <a:r>
              <a:rPr lang="en-US" sz="2400" dirty="0">
                <a:latin typeface="Times New Roman" panose="02020603050405020304" pitchFamily="18" charset="0"/>
                <a:cs typeface="Times New Roman" panose="02020603050405020304" pitchFamily="18" charset="0"/>
              </a:rPr>
              <a:t>This offset enables the direction of rotation to be determined. </a:t>
            </a:r>
          </a:p>
          <a:p>
            <a:r>
              <a:rPr lang="en-US" sz="2400" dirty="0">
                <a:latin typeface="Times New Roman" panose="02020603050405020304" pitchFamily="18" charset="0"/>
                <a:cs typeface="Times New Roman" panose="02020603050405020304" pitchFamily="18" charset="0"/>
              </a:rPr>
              <a:t>In a </a:t>
            </a:r>
            <a:r>
              <a:rPr lang="en-US" sz="2400" b="1" i="1" dirty="0">
                <a:solidFill>
                  <a:srgbClr val="FF0000"/>
                </a:solidFill>
                <a:latin typeface="Times New Roman" panose="02020603050405020304" pitchFamily="18" charset="0"/>
                <a:cs typeface="Times New Roman" panose="02020603050405020304" pitchFamily="18" charset="0"/>
              </a:rPr>
              <a:t>clockwise direction the pulses in the outer track lead those in the inner</a:t>
            </a:r>
          </a:p>
          <a:p>
            <a:r>
              <a:rPr lang="en-US" sz="2400" dirty="0">
                <a:latin typeface="Times New Roman" panose="02020603050405020304" pitchFamily="18" charset="0"/>
                <a:cs typeface="Times New Roman" panose="02020603050405020304" pitchFamily="18" charset="0"/>
              </a:rPr>
              <a:t>In the anti-clockwise direction they lag</a:t>
            </a:r>
            <a:endParaRPr lang="en-IN" sz="2400" dirty="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257FB56A-7181-82D5-7298-CA45C80F8E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0522" y="365125"/>
            <a:ext cx="5461478" cy="317527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6F22FB18-F521-447C-2A00-254EAF38162B}"/>
              </a:ext>
            </a:extLst>
          </p:cNvPr>
          <p:cNvPicPr>
            <a:picLocks noChangeAspect="1"/>
          </p:cNvPicPr>
          <p:nvPr/>
        </p:nvPicPr>
        <p:blipFill rotWithShape="1">
          <a:blip r:embed="rId3"/>
          <a:srcRect l="29246"/>
          <a:stretch/>
        </p:blipFill>
        <p:spPr>
          <a:xfrm>
            <a:off x="144444" y="462225"/>
            <a:ext cx="5825957" cy="2617082"/>
          </a:xfrm>
          <a:prstGeom prst="rect">
            <a:avLst/>
          </a:prstGeom>
        </p:spPr>
      </p:pic>
    </p:spTree>
    <p:extLst>
      <p:ext uri="{BB962C8B-B14F-4D97-AF65-F5344CB8AC3E}">
        <p14:creationId xmlns:p14="http://schemas.microsoft.com/office/powerpoint/2010/main" val="1373504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F202B-9E27-9879-FC92-4AA2877D1D06}"/>
              </a:ext>
            </a:extLst>
          </p:cNvPr>
          <p:cNvSpPr>
            <a:spLocks noGrp="1"/>
          </p:cNvSpPr>
          <p:nvPr>
            <p:ph type="title"/>
          </p:nvPr>
        </p:nvSpPr>
        <p:spPr>
          <a:xfrm>
            <a:off x="0" y="-325538"/>
            <a:ext cx="10515600" cy="1325563"/>
          </a:xfrm>
        </p:spPr>
        <p:txBody>
          <a:bodyPr>
            <a:normAutofit/>
          </a:bodyPr>
          <a:lstStyle/>
          <a:p>
            <a:r>
              <a:rPr lang="en-IN" sz="3600" dirty="0">
                <a:latin typeface="Arial" panose="020B0604020202020204" pitchFamily="34" charset="0"/>
                <a:cs typeface="Arial" panose="020B0604020202020204" pitchFamily="34" charset="0"/>
              </a:rPr>
              <a:t>Precision in NC Positioning Systems</a:t>
            </a:r>
          </a:p>
        </p:txBody>
      </p:sp>
      <p:sp>
        <p:nvSpPr>
          <p:cNvPr id="3" name="Content Placeholder 2">
            <a:extLst>
              <a:ext uri="{FF2B5EF4-FFF2-40B4-BE49-F238E27FC236}">
                <a16:creationId xmlns:a16="http://schemas.microsoft.com/office/drawing/2014/main" id="{2C36A749-E831-07D4-F454-EE7239348557}"/>
              </a:ext>
            </a:extLst>
          </p:cNvPr>
          <p:cNvSpPr>
            <a:spLocks noGrp="1"/>
          </p:cNvSpPr>
          <p:nvPr>
            <p:ph idx="1"/>
          </p:nvPr>
        </p:nvSpPr>
        <p:spPr>
          <a:xfrm>
            <a:off x="77820" y="2879388"/>
            <a:ext cx="12019157" cy="4746997"/>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Control Resolution:</a:t>
            </a:r>
            <a:r>
              <a:rPr lang="en-US" sz="2400" dirty="0">
                <a:latin typeface="Times New Roman" panose="02020603050405020304" pitchFamily="18" charset="0"/>
                <a:cs typeface="Times New Roman" panose="02020603050405020304" pitchFamily="18" charset="0"/>
              </a:rPr>
              <a:t> This refers to the smallest possible movement a system can make. </a:t>
            </a:r>
          </a:p>
          <a:p>
            <a:pPr lvl="1" algn="just"/>
            <a:r>
              <a:rPr lang="en-US" sz="2000" dirty="0">
                <a:latin typeface="Times New Roman" panose="02020603050405020304" pitchFamily="18" charset="0"/>
                <a:cs typeface="Times New Roman" panose="02020603050405020304" pitchFamily="18" charset="0"/>
              </a:rPr>
              <a:t>Imagine a ruler with millimeter markings. The control resolution would be 1 millimeter - the system can't move any smaller than that increment.</a:t>
            </a:r>
          </a:p>
          <a:p>
            <a:pPr lvl="1" algn="just"/>
            <a:r>
              <a:rPr lang="en-US" sz="2000" b="0" i="0" u="none" strike="noStrike" baseline="0" dirty="0">
                <a:latin typeface="Times New Roman" panose="02020603050405020304" pitchFamily="18" charset="0"/>
                <a:cs typeface="Times New Roman" panose="02020603050405020304" pitchFamily="18" charset="0"/>
              </a:rPr>
              <a:t>Control resolution refers to the control system’s ability to divide the total range of the axis movement into closely spaced points that can be distinguished </a:t>
            </a:r>
            <a:r>
              <a:rPr lang="en-IN" sz="2000" b="0" i="0" u="none" strike="noStrike" baseline="0" dirty="0">
                <a:latin typeface="Times New Roman" panose="02020603050405020304" pitchFamily="18" charset="0"/>
                <a:cs typeface="Times New Roman" panose="02020603050405020304" pitchFamily="18" charset="0"/>
              </a:rPr>
              <a:t>by the Machine Control Unit (MCU)</a:t>
            </a:r>
            <a:endParaRPr lang="en-US" sz="2000" b="0" i="0" u="none" strike="noStrike" baseline="0"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Accuracy:</a:t>
            </a:r>
            <a:r>
              <a:rPr lang="en-US" sz="2400" dirty="0">
                <a:latin typeface="Times New Roman" panose="02020603050405020304" pitchFamily="18" charset="0"/>
                <a:cs typeface="Times New Roman" panose="02020603050405020304" pitchFamily="18" charset="0"/>
              </a:rPr>
              <a:t> This describes how close the system's actual position is to the commanded position. Ideally, the system should move exactly where it's instructed to. Accuracy considers any errors or deviations from the target.</a:t>
            </a:r>
          </a:p>
          <a:p>
            <a:pPr marL="0" indent="0" algn="just">
              <a:buNone/>
            </a:pPr>
            <a:r>
              <a:rPr lang="en-US" sz="2400" b="1" dirty="0">
                <a:latin typeface="Times New Roman" panose="02020603050405020304" pitchFamily="18" charset="0"/>
                <a:cs typeface="Times New Roman" panose="02020603050405020304" pitchFamily="18" charset="0"/>
              </a:rPr>
              <a:t>Repeatability:</a:t>
            </a:r>
            <a:r>
              <a:rPr lang="en-US" sz="2400" dirty="0">
                <a:latin typeface="Times New Roman" panose="02020603050405020304" pitchFamily="18" charset="0"/>
                <a:cs typeface="Times New Roman" panose="02020603050405020304" pitchFamily="18" charset="0"/>
              </a:rPr>
              <a:t> This defines how consistently the system returns to the same position when repeatedly commanded to a specific location. It's about precision in achieving the same target point over and over.</a:t>
            </a:r>
            <a:endParaRPr lang="en-IN" sz="2400" dirty="0">
              <a:latin typeface="Times New Roman" panose="02020603050405020304" pitchFamily="18" charset="0"/>
              <a:cs typeface="Times New Roman" panose="02020603050405020304" pitchFamily="18" charset="0"/>
            </a:endParaRPr>
          </a:p>
        </p:txBody>
      </p:sp>
      <p:pic>
        <p:nvPicPr>
          <p:cNvPr id="1026" name="Picture 2" descr="Universiteit Instrueren Overweldigend accuracy repeatability Naar ...">
            <a:extLst>
              <a:ext uri="{FF2B5EF4-FFF2-40B4-BE49-F238E27FC236}">
                <a16:creationId xmlns:a16="http://schemas.microsoft.com/office/drawing/2014/main" id="{45B16959-4B1D-1097-91D7-C239757316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82703" y="0"/>
            <a:ext cx="3309297" cy="2879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19925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B28DB-AD41-D329-CFFA-413FEC77A943}"/>
              </a:ext>
            </a:extLst>
          </p:cNvPr>
          <p:cNvSpPr>
            <a:spLocks noGrp="1"/>
          </p:cNvSpPr>
          <p:nvPr>
            <p:ph type="title"/>
          </p:nvPr>
        </p:nvSpPr>
        <p:spPr>
          <a:xfrm>
            <a:off x="838200" y="-218535"/>
            <a:ext cx="10515600" cy="1325563"/>
          </a:xfrm>
        </p:spPr>
        <p:txBody>
          <a:bodyPr>
            <a:normAutofit/>
          </a:bodyPr>
          <a:lstStyle/>
          <a:p>
            <a:pPr algn="ctr"/>
            <a:r>
              <a:rPr lang="en-IN" sz="3600" dirty="0">
                <a:solidFill>
                  <a:srgbClr val="4D5156"/>
                </a:solidFill>
                <a:effectLst/>
                <a:latin typeface="Arial" panose="020B0604020202020204" pitchFamily="34" charset="0"/>
                <a:ea typeface="Calibri" panose="020F0502020204030204" pitchFamily="34" charset="0"/>
              </a:rPr>
              <a:t>CNC machining - zero positions</a:t>
            </a:r>
            <a:endParaRPr lang="en-IN" sz="7200" dirty="0"/>
          </a:p>
        </p:txBody>
      </p:sp>
      <p:sp>
        <p:nvSpPr>
          <p:cNvPr id="3" name="Content Placeholder 2">
            <a:extLst>
              <a:ext uri="{FF2B5EF4-FFF2-40B4-BE49-F238E27FC236}">
                <a16:creationId xmlns:a16="http://schemas.microsoft.com/office/drawing/2014/main" id="{1C5F965E-E726-4B92-9BBF-6BDA42CA3337}"/>
              </a:ext>
            </a:extLst>
          </p:cNvPr>
          <p:cNvSpPr>
            <a:spLocks noGrp="1"/>
          </p:cNvSpPr>
          <p:nvPr>
            <p:ph idx="1"/>
          </p:nvPr>
        </p:nvSpPr>
        <p:spPr>
          <a:xfrm>
            <a:off x="0" y="1107028"/>
            <a:ext cx="8646268" cy="4351338"/>
          </a:xfrm>
        </p:spPr>
        <p:txBody>
          <a:bodyPr>
            <a:noAutofit/>
          </a:bodyPr>
          <a:lstStyle/>
          <a:p>
            <a:pPr marL="0" indent="0" algn="just">
              <a:buNone/>
            </a:pPr>
            <a:r>
              <a:rPr lang="en-US" sz="2400" dirty="0">
                <a:latin typeface="Times New Roman" panose="02020603050405020304" pitchFamily="18" charset="0"/>
                <a:cs typeface="Times New Roman" panose="02020603050405020304" pitchFamily="18" charset="0"/>
              </a:rPr>
              <a:t>Machine Zero: </a:t>
            </a:r>
          </a:p>
          <a:p>
            <a:pPr lvl="1" algn="just"/>
            <a:r>
              <a:rPr lang="en-US" sz="2000" dirty="0">
                <a:latin typeface="Times New Roman" panose="02020603050405020304" pitchFamily="18" charset="0"/>
                <a:cs typeface="Times New Roman" panose="02020603050405020304" pitchFamily="18" charset="0"/>
              </a:rPr>
              <a:t>This is a fixed reference point established by the manufacturer</a:t>
            </a:r>
          </a:p>
          <a:p>
            <a:pPr lvl="1" algn="just"/>
            <a:r>
              <a:rPr lang="en-US" sz="2000" dirty="0">
                <a:latin typeface="Times New Roman" panose="02020603050405020304" pitchFamily="18" charset="0"/>
                <a:cs typeface="Times New Roman" panose="02020603050405020304" pitchFamily="18" charset="0"/>
              </a:rPr>
              <a:t>It's typically located at the farthest positive travel limits of the X, Y, and Z axes on the machine. </a:t>
            </a:r>
          </a:p>
          <a:p>
            <a:pPr lvl="1" algn="just"/>
            <a:r>
              <a:rPr lang="en-US" sz="2000" dirty="0">
                <a:latin typeface="Times New Roman" panose="02020603050405020304" pitchFamily="18" charset="0"/>
                <a:cs typeface="Times New Roman" panose="02020603050405020304" pitchFamily="18" charset="0"/>
              </a:rPr>
              <a:t>This point is permanent and cannot be changed by the operator. </a:t>
            </a:r>
          </a:p>
          <a:p>
            <a:pPr marL="0" indent="0" algn="just">
              <a:buNone/>
            </a:pPr>
            <a:r>
              <a:rPr lang="en-US" sz="2400" dirty="0">
                <a:latin typeface="Times New Roman" panose="02020603050405020304" pitchFamily="18" charset="0"/>
                <a:cs typeface="Times New Roman" panose="02020603050405020304" pitchFamily="18" charset="0"/>
              </a:rPr>
              <a:t>Workpiece Zero (or Program Zero): </a:t>
            </a:r>
          </a:p>
          <a:p>
            <a:pPr lvl="1" algn="just"/>
            <a:r>
              <a:rPr lang="en-US" sz="2000" dirty="0">
                <a:latin typeface="Times New Roman" panose="02020603050405020304" pitchFamily="18" charset="0"/>
                <a:cs typeface="Times New Roman" panose="02020603050405020304" pitchFamily="18" charset="0"/>
              </a:rPr>
              <a:t>This is a user-defined reference point that corresponds to a specific location on the workpiece itself. </a:t>
            </a:r>
          </a:p>
          <a:p>
            <a:pPr lvl="1" algn="just"/>
            <a:r>
              <a:rPr lang="en-US" sz="2000" dirty="0">
                <a:latin typeface="Times New Roman" panose="02020603050405020304" pitchFamily="18" charset="0"/>
                <a:cs typeface="Times New Roman" panose="02020603050405020304" pitchFamily="18" charset="0"/>
              </a:rPr>
              <a:t>This is the point you establish before running a CNC program to tell the machine where the part is located within the machine's overall coordinate system. </a:t>
            </a:r>
          </a:p>
          <a:p>
            <a:pPr marL="0" indent="0" algn="just">
              <a:buNone/>
            </a:pPr>
            <a:r>
              <a:rPr lang="en-IN" sz="2400" kern="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Zero Offset (Work Offset)</a:t>
            </a:r>
            <a:endParaRPr lang="en-IN" sz="2400" kern="100" dirty="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lvl="1" algn="just">
              <a:lnSpc>
                <a:spcPct val="107000"/>
              </a:lnSpc>
              <a:spcAft>
                <a:spcPts val="800"/>
              </a:spcAft>
              <a:buSzPts val="1000"/>
              <a:tabLst>
                <a:tab pos="457200" algn="l"/>
              </a:tabLst>
            </a:pPr>
            <a:r>
              <a:rPr lang="en-IN" sz="2000" kern="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This is the difference between the machine zero and the workpiece zero.</a:t>
            </a:r>
          </a:p>
          <a:p>
            <a:pPr lvl="1" algn="just">
              <a:lnSpc>
                <a:spcPct val="107000"/>
              </a:lnSpc>
              <a:spcAft>
                <a:spcPts val="800"/>
              </a:spcAft>
              <a:buSzPts val="1000"/>
              <a:tabLst>
                <a:tab pos="457200" algn="l"/>
              </a:tabLst>
            </a:pPr>
            <a:r>
              <a:rPr lang="en-IN" sz="2000" kern="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It essentially tells the CNC controller </a:t>
            </a:r>
            <a:r>
              <a:rPr lang="en-IN" sz="2000" kern="0" dirty="0">
                <a:solidFill>
                  <a:srgbClr val="FF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how much the programmed toolpath needs to be shifted relative to the machine's home position</a:t>
            </a:r>
            <a:r>
              <a:rPr lang="en-IN" sz="2000" kern="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to machine the part according to the program.</a:t>
            </a:r>
            <a:endParaRPr lang="en-IN" sz="2000" kern="100" dirty="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B46939AF-1927-F612-3B43-1C26CD251A7F}"/>
              </a:ext>
            </a:extLst>
          </p:cNvPr>
          <p:cNvPicPr>
            <a:picLocks noChangeAspect="1"/>
          </p:cNvPicPr>
          <p:nvPr/>
        </p:nvPicPr>
        <p:blipFill>
          <a:blip r:embed="rId2"/>
          <a:stretch>
            <a:fillRect/>
          </a:stretch>
        </p:blipFill>
        <p:spPr>
          <a:xfrm>
            <a:off x="9107285" y="721562"/>
            <a:ext cx="3013579" cy="2458446"/>
          </a:xfrm>
          <a:prstGeom prst="rect">
            <a:avLst/>
          </a:prstGeom>
        </p:spPr>
      </p:pic>
      <p:pic>
        <p:nvPicPr>
          <p:cNvPr id="12" name="Picture 11">
            <a:extLst>
              <a:ext uri="{FF2B5EF4-FFF2-40B4-BE49-F238E27FC236}">
                <a16:creationId xmlns:a16="http://schemas.microsoft.com/office/drawing/2014/main" id="{4293901E-D1DD-B3B7-3D1E-4C4F2A7F1E9A}"/>
              </a:ext>
            </a:extLst>
          </p:cNvPr>
          <p:cNvPicPr>
            <a:picLocks noChangeAspect="1"/>
          </p:cNvPicPr>
          <p:nvPr/>
        </p:nvPicPr>
        <p:blipFill>
          <a:blip r:embed="rId3"/>
          <a:stretch>
            <a:fillRect/>
          </a:stretch>
        </p:blipFill>
        <p:spPr>
          <a:xfrm>
            <a:off x="9621874" y="3331336"/>
            <a:ext cx="2570126" cy="3069465"/>
          </a:xfrm>
          <a:prstGeom prst="rect">
            <a:avLst/>
          </a:prstGeom>
        </p:spPr>
      </p:pic>
    </p:spTree>
    <p:extLst>
      <p:ext uri="{BB962C8B-B14F-4D97-AF65-F5344CB8AC3E}">
        <p14:creationId xmlns:p14="http://schemas.microsoft.com/office/powerpoint/2010/main" val="14320636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DBE36-14A0-EEC2-3DC6-22ED7239F211}"/>
              </a:ext>
            </a:extLst>
          </p:cNvPr>
          <p:cNvSpPr>
            <a:spLocks noGrp="1"/>
          </p:cNvSpPr>
          <p:nvPr>
            <p:ph type="title"/>
          </p:nvPr>
        </p:nvSpPr>
        <p:spPr>
          <a:xfrm>
            <a:off x="838199" y="-171146"/>
            <a:ext cx="10515600" cy="1325563"/>
          </a:xfrm>
        </p:spPr>
        <p:txBody>
          <a:bodyPr>
            <a:normAutofit/>
          </a:bodyPr>
          <a:lstStyle/>
          <a:p>
            <a:pPr algn="ctr"/>
            <a:r>
              <a:rPr lang="en-IN" sz="3600" dirty="0">
                <a:effectLst/>
                <a:latin typeface="Arial" panose="020B0604020202020204" pitchFamily="34" charset="0"/>
                <a:ea typeface="Calibri" panose="020F0502020204030204" pitchFamily="34" charset="0"/>
                <a:cs typeface="Arial" panose="020B0604020202020204" pitchFamily="34" charset="0"/>
              </a:rPr>
              <a:t>CNC machining : </a:t>
            </a:r>
            <a:r>
              <a:rPr lang="en-IN" sz="3600" kern="0" dirty="0">
                <a:effectLst/>
                <a:highlight>
                  <a:srgbClr val="FFFFFF"/>
                </a:highlight>
                <a:latin typeface="Arial" panose="020B0604020202020204" pitchFamily="34" charset="0"/>
                <a:ea typeface="Times New Roman" panose="02020603050405020304" pitchFamily="18" charset="0"/>
                <a:cs typeface="Arial" panose="020B0604020202020204" pitchFamily="34" charset="0"/>
              </a:rPr>
              <a:t>Zero Offset </a:t>
            </a:r>
            <a:endParaRPr lang="en-IN" sz="3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02EE9FC8-E3AA-10DE-850E-D5383137E25F}"/>
              </a:ext>
            </a:extLst>
          </p:cNvPr>
          <p:cNvSpPr>
            <a:spLocks noGrp="1"/>
          </p:cNvSpPr>
          <p:nvPr>
            <p:ph idx="1"/>
          </p:nvPr>
        </p:nvSpPr>
        <p:spPr>
          <a:xfrm>
            <a:off x="361544" y="1154417"/>
            <a:ext cx="11468911" cy="4351338"/>
          </a:xfrm>
        </p:spPr>
        <p:txBody>
          <a:bodyPr>
            <a:normAutofit/>
          </a:bodyPr>
          <a:lstStyle/>
          <a:p>
            <a:pPr algn="just"/>
            <a:r>
              <a:rPr lang="en-US" sz="2600" dirty="0">
                <a:latin typeface="Times New Roman" panose="02020603050405020304" pitchFamily="18" charset="0"/>
                <a:cs typeface="Times New Roman" panose="02020603050405020304" pitchFamily="18" charset="0"/>
              </a:rPr>
              <a:t>Machine zero and work piece zero need not be identical. </a:t>
            </a:r>
          </a:p>
          <a:p>
            <a:pPr algn="just"/>
            <a:r>
              <a:rPr lang="en-US" sz="2600" dirty="0">
                <a:latin typeface="Times New Roman" panose="02020603050405020304" pitchFamily="18" charset="0"/>
                <a:cs typeface="Times New Roman" panose="02020603050405020304" pitchFamily="18" charset="0"/>
              </a:rPr>
              <a:t>Depending on the type of work piece and the way it is clamped, the distance between the machine zero and work piece zero can vary</a:t>
            </a:r>
          </a:p>
          <a:p>
            <a:pPr algn="just"/>
            <a:r>
              <a:rPr lang="en-US" sz="2600" dirty="0">
                <a:latin typeface="Times New Roman" panose="02020603050405020304" pitchFamily="18" charset="0"/>
                <a:cs typeface="Times New Roman" panose="02020603050405020304" pitchFamily="18" charset="0"/>
              </a:rPr>
              <a:t>In part program processing this is compensated by the zero offset</a:t>
            </a:r>
            <a:endParaRPr lang="en-IN" sz="2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54A10C1-C9BF-F08A-4E09-988860C855FE}"/>
              </a:ext>
            </a:extLst>
          </p:cNvPr>
          <p:cNvPicPr>
            <a:picLocks noChangeAspect="1"/>
          </p:cNvPicPr>
          <p:nvPr/>
        </p:nvPicPr>
        <p:blipFill rotWithShape="1">
          <a:blip r:embed="rId2">
            <a:extLst>
              <a:ext uri="{28A0092B-C50C-407E-A947-70E740481C1C}">
                <a14:useLocalDpi xmlns:a14="http://schemas.microsoft.com/office/drawing/2010/main" val="0"/>
              </a:ext>
            </a:extLst>
          </a:blip>
          <a:srcRect l="8947" t="39843" r="6672" b="4894"/>
          <a:stretch/>
        </p:blipFill>
        <p:spPr bwMode="auto">
          <a:xfrm>
            <a:off x="3804465" y="3005848"/>
            <a:ext cx="8259291" cy="3745048"/>
          </a:xfrm>
          <a:prstGeom prst="rect">
            <a:avLst/>
          </a:prstGeom>
          <a:noFill/>
          <a:ln>
            <a:noFill/>
          </a:ln>
        </p:spPr>
      </p:pic>
    </p:spTree>
    <p:extLst>
      <p:ext uri="{BB962C8B-B14F-4D97-AF65-F5344CB8AC3E}">
        <p14:creationId xmlns:p14="http://schemas.microsoft.com/office/powerpoint/2010/main" val="10344748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A351E-6044-1725-CBDB-561058FC5085}"/>
              </a:ext>
            </a:extLst>
          </p:cNvPr>
          <p:cNvSpPr>
            <a:spLocks noGrp="1"/>
          </p:cNvSpPr>
          <p:nvPr>
            <p:ph type="title"/>
          </p:nvPr>
        </p:nvSpPr>
        <p:spPr>
          <a:xfrm>
            <a:off x="838200" y="0"/>
            <a:ext cx="10515600" cy="1325563"/>
          </a:xfrm>
        </p:spPr>
        <p:txBody>
          <a:bodyPr>
            <a:normAutofit/>
          </a:bodyPr>
          <a:lstStyle/>
          <a:p>
            <a:r>
              <a:rPr lang="en-US" sz="3600" dirty="0">
                <a:latin typeface="Arial" panose="020B0604020202020204" pitchFamily="34" charset="0"/>
                <a:cs typeface="Arial" panose="020B0604020202020204" pitchFamily="34" charset="0"/>
              </a:rPr>
              <a:t>errors affects the accuracy of NC machine tools</a:t>
            </a:r>
            <a:endParaRPr lang="en-IN" sz="3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BF7ED648-5D3C-D159-1AC1-AD98B2EAB995}"/>
              </a:ext>
            </a:extLst>
          </p:cNvPr>
          <p:cNvSpPr>
            <a:spLocks noGrp="1"/>
          </p:cNvSpPr>
          <p:nvPr>
            <p:ph idx="1"/>
          </p:nvPr>
        </p:nvSpPr>
        <p:spPr>
          <a:xfrm>
            <a:off x="204281" y="1507888"/>
            <a:ext cx="11614826" cy="5350112"/>
          </a:xfrm>
        </p:spPr>
        <p:txBody>
          <a:bodyPr>
            <a:noAutofit/>
          </a:bodyPr>
          <a:lstStyle/>
          <a:p>
            <a:pPr marL="0" indent="0" algn="just">
              <a:lnSpc>
                <a:spcPct val="107000"/>
              </a:lnSpc>
              <a:spcAft>
                <a:spcPts val="375"/>
              </a:spcAft>
              <a:buNone/>
            </a:pPr>
            <a:r>
              <a:rPr lang="en-IN" sz="2400" b="1" kern="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Static errors</a:t>
            </a:r>
            <a:endParaRPr lang="en-IN" sz="2400" kern="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endParaRPr>
          </a:p>
          <a:p>
            <a:pPr lvl="1" algn="just">
              <a:lnSpc>
                <a:spcPct val="107000"/>
              </a:lnSpc>
              <a:spcAft>
                <a:spcPts val="800"/>
              </a:spcAft>
              <a:buSzPts val="1000"/>
              <a:tabLst>
                <a:tab pos="457200" algn="l"/>
              </a:tabLst>
            </a:pPr>
            <a:r>
              <a:rPr lang="en-IN" sz="2000" kern="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Mechanical imperfections in the machine tool, such as misalignment of ways, wear on bearings, and backlash in gears.</a:t>
            </a:r>
            <a:endParaRPr lang="en-IN" sz="2000" kern="100" dirty="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lvl="1" algn="just">
              <a:lnSpc>
                <a:spcPct val="107000"/>
              </a:lnSpc>
              <a:spcAft>
                <a:spcPts val="800"/>
              </a:spcAft>
              <a:buSzPts val="1000"/>
              <a:tabLst>
                <a:tab pos="457200" algn="l"/>
              </a:tabLst>
            </a:pPr>
            <a:r>
              <a:rPr lang="en-IN" sz="2000" kern="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Thermal expansion of the machine tool due to changes in temperature.</a:t>
            </a:r>
            <a:endParaRPr lang="en-IN" sz="2000" kern="100" dirty="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lvl="1" algn="just">
              <a:lnSpc>
                <a:spcPct val="107000"/>
              </a:lnSpc>
              <a:spcAft>
                <a:spcPts val="800"/>
              </a:spcAft>
              <a:buSzPts val="1000"/>
              <a:tabLst>
                <a:tab pos="457200" algn="l"/>
              </a:tabLst>
            </a:pPr>
            <a:r>
              <a:rPr lang="en-IN" sz="2000" kern="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Tool wear and deflection.</a:t>
            </a:r>
            <a:endParaRPr lang="en-IN" sz="2000" kern="100" dirty="0">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endParaRPr>
          </a:p>
          <a:p>
            <a:pPr marL="0" lvl="1" indent="0" algn="just">
              <a:lnSpc>
                <a:spcPct val="107000"/>
              </a:lnSpc>
              <a:spcAft>
                <a:spcPts val="800"/>
              </a:spcAft>
              <a:buSzPts val="1000"/>
              <a:buNone/>
            </a:pPr>
            <a:r>
              <a:rPr lang="en-IN" sz="2400" kern="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Static errors can be minimized through proper calibration and maintenance of the machine tool, as well as by using tool wear compensation techniques.</a:t>
            </a:r>
            <a:endParaRPr lang="en-IN" sz="2400" kern="100" dirty="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163720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4DF0A-ED2E-5869-4874-CCA75F95DC72}"/>
              </a:ext>
            </a:extLst>
          </p:cNvPr>
          <p:cNvSpPr>
            <a:spLocks noGrp="1"/>
          </p:cNvSpPr>
          <p:nvPr>
            <p:ph type="title"/>
          </p:nvPr>
        </p:nvSpPr>
        <p:spPr>
          <a:xfrm>
            <a:off x="838200" y="-237990"/>
            <a:ext cx="10515600" cy="1325563"/>
          </a:xfrm>
        </p:spPr>
        <p:txBody>
          <a:bodyPr>
            <a:normAutofit/>
          </a:bodyPr>
          <a:lstStyle/>
          <a:p>
            <a:r>
              <a:rPr lang="en-US" sz="3600" dirty="0">
                <a:latin typeface="Arial" panose="020B0604020202020204" pitchFamily="34" charset="0"/>
                <a:cs typeface="Arial" panose="020B0604020202020204" pitchFamily="34" charset="0"/>
              </a:rPr>
              <a:t>errors affects the accuracy of NC machine tools</a:t>
            </a:r>
            <a:endParaRPr lang="en-IN" sz="3600" dirty="0"/>
          </a:p>
        </p:txBody>
      </p:sp>
      <p:sp>
        <p:nvSpPr>
          <p:cNvPr id="3" name="Content Placeholder 2">
            <a:extLst>
              <a:ext uri="{FF2B5EF4-FFF2-40B4-BE49-F238E27FC236}">
                <a16:creationId xmlns:a16="http://schemas.microsoft.com/office/drawing/2014/main" id="{8E808D35-AA77-EC65-DE0A-6B2F773BF540}"/>
              </a:ext>
            </a:extLst>
          </p:cNvPr>
          <p:cNvSpPr>
            <a:spLocks noGrp="1"/>
          </p:cNvSpPr>
          <p:nvPr>
            <p:ph idx="1"/>
          </p:nvPr>
        </p:nvSpPr>
        <p:spPr>
          <a:xfrm>
            <a:off x="369651" y="1001949"/>
            <a:ext cx="11605098" cy="5710136"/>
          </a:xfrm>
        </p:spPr>
        <p:txBody>
          <a:bodyPr>
            <a:normAutofit/>
          </a:bodyPr>
          <a:lstStyle/>
          <a:p>
            <a:pPr marL="0" indent="0" algn="just">
              <a:lnSpc>
                <a:spcPct val="107000"/>
              </a:lnSpc>
              <a:spcAft>
                <a:spcPts val="375"/>
              </a:spcAft>
              <a:buNone/>
            </a:pPr>
            <a:r>
              <a:rPr lang="en-IN" sz="2400" b="1" kern="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Dynamic errors</a:t>
            </a:r>
            <a:r>
              <a:rPr lang="en-IN" sz="2400" kern="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are errors that are caused by the motion of the machine tool. They are typically more significant at higher speeds and accelerations. </a:t>
            </a:r>
          </a:p>
          <a:p>
            <a:pPr marL="0" indent="0" algn="just">
              <a:lnSpc>
                <a:spcPct val="107000"/>
              </a:lnSpc>
              <a:spcAft>
                <a:spcPts val="375"/>
              </a:spcAft>
              <a:buNone/>
            </a:pPr>
            <a:r>
              <a:rPr lang="en-IN" sz="2400" kern="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Dynamic errors can be caused by factors such:</a:t>
            </a:r>
            <a:endParaRPr lang="en-IN" sz="2400" kern="100" dirty="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lvl="1" algn="just">
              <a:lnSpc>
                <a:spcPct val="107000"/>
              </a:lnSpc>
              <a:spcAft>
                <a:spcPts val="800"/>
              </a:spcAft>
              <a:buSzPts val="1000"/>
              <a:tabLst>
                <a:tab pos="457200" algn="l"/>
              </a:tabLst>
            </a:pPr>
            <a:r>
              <a:rPr lang="en-IN" sz="2000" kern="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The inertia of the machine tool components, which can cause the machine to lag behind the programmed toolpath.</a:t>
            </a:r>
            <a:endParaRPr lang="en-IN" sz="2000" kern="100" dirty="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lvl="1" algn="just">
              <a:lnSpc>
                <a:spcPct val="107000"/>
              </a:lnSpc>
              <a:spcAft>
                <a:spcPts val="800"/>
              </a:spcAft>
              <a:buSzPts val="1000"/>
              <a:tabLst>
                <a:tab pos="457200" algn="l"/>
              </a:tabLst>
            </a:pPr>
            <a:r>
              <a:rPr lang="en-IN" sz="2000" kern="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The compliance of the machine tool structure, which can cause the machine to deform under load.</a:t>
            </a:r>
            <a:endParaRPr lang="en-IN" sz="2000" kern="100" dirty="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lvl="1" algn="just">
              <a:lnSpc>
                <a:spcPct val="107000"/>
              </a:lnSpc>
              <a:spcAft>
                <a:spcPts val="800"/>
              </a:spcAft>
              <a:buSzPts val="1000"/>
              <a:tabLst>
                <a:tab pos="457200" algn="l"/>
              </a:tabLst>
            </a:pPr>
            <a:r>
              <a:rPr lang="en-IN" sz="2000" kern="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The control system dynamics, which can introduce delays and inaccuracies into the movement of the machine.</a:t>
            </a:r>
            <a:endParaRPr lang="en-IN" sz="2000" kern="100" dirty="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07000"/>
              </a:lnSpc>
              <a:spcAft>
                <a:spcPts val="375"/>
              </a:spcAft>
              <a:buNone/>
            </a:pPr>
            <a:r>
              <a:rPr lang="en-IN" sz="2400" kern="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Dynamic errors can be minimized through careful design of the machine tool structure and control system, as well as by using feedforward control techniques.</a:t>
            </a:r>
            <a:endParaRPr lang="en-IN" sz="2400" kern="100" dirty="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375"/>
              </a:spcAft>
            </a:pPr>
            <a:r>
              <a:rPr lang="en-IN" sz="2400" kern="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By understanding and minimizing both static and dynamic errors, manufacturers can ensure that their NC machine tools produce parts with high accuracy and precision</a:t>
            </a:r>
            <a:endParaRPr lang="en-IN" sz="2400" kern="100" dirty="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3273884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E3C11-C75F-B85E-4AF7-2E642894F9DB}"/>
              </a:ext>
            </a:extLst>
          </p:cNvPr>
          <p:cNvSpPr>
            <a:spLocks noGrp="1"/>
          </p:cNvSpPr>
          <p:nvPr>
            <p:ph type="title"/>
          </p:nvPr>
        </p:nvSpPr>
        <p:spPr>
          <a:xfrm>
            <a:off x="838200" y="-257445"/>
            <a:ext cx="10515600" cy="1325563"/>
          </a:xfrm>
        </p:spPr>
        <p:txBody>
          <a:bodyPr>
            <a:normAutofit/>
          </a:bodyPr>
          <a:lstStyle/>
          <a:p>
            <a:pPr algn="ctr"/>
            <a:r>
              <a:rPr lang="en-IN" sz="3200" kern="0" dirty="0">
                <a:solidFill>
                  <a:srgbClr val="4D5156"/>
                </a:solidFill>
                <a:effectLst/>
                <a:latin typeface="Arial" panose="020B0604020202020204" pitchFamily="34" charset="0"/>
                <a:ea typeface="Times New Roman" panose="02020603050405020304" pitchFamily="18" charset="0"/>
              </a:rPr>
              <a:t>Basic Length Unit (BLU)</a:t>
            </a:r>
            <a:endParaRPr lang="en-IN" sz="3200" dirty="0"/>
          </a:p>
        </p:txBody>
      </p:sp>
      <p:sp>
        <p:nvSpPr>
          <p:cNvPr id="3" name="Content Placeholder 2">
            <a:extLst>
              <a:ext uri="{FF2B5EF4-FFF2-40B4-BE49-F238E27FC236}">
                <a16:creationId xmlns:a16="http://schemas.microsoft.com/office/drawing/2014/main" id="{24A95AA6-72F4-B1C8-7BF7-5EBB55EA56A0}"/>
              </a:ext>
            </a:extLst>
          </p:cNvPr>
          <p:cNvSpPr>
            <a:spLocks noGrp="1"/>
          </p:cNvSpPr>
          <p:nvPr>
            <p:ph idx="1"/>
          </p:nvPr>
        </p:nvSpPr>
        <p:spPr>
          <a:xfrm>
            <a:off x="418289" y="865762"/>
            <a:ext cx="11206263" cy="5311201"/>
          </a:xfrm>
        </p:spPr>
        <p:txBody>
          <a:bodyPr>
            <a:noAutofit/>
          </a:bodyPr>
          <a:lstStyle/>
          <a:p>
            <a:pPr marL="0" indent="0" algn="just">
              <a:buNone/>
            </a:pPr>
            <a:r>
              <a:rPr lang="en-IN" sz="2400" kern="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It represents the smallest increment of movement that a CNC machine tool can make in a given direction. In simpler terms, it's the minimum distance a CNC machine can move at one time.</a:t>
            </a:r>
            <a:endParaRPr lang="en-IN" sz="2400" kern="100" dirty="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marL="0" indent="0" algn="ctr">
              <a:buNone/>
            </a:pPr>
            <a:r>
              <a:rPr lang="en-US" sz="2400" dirty="0">
                <a:highlight>
                  <a:srgbClr val="FFFF00"/>
                </a:highlight>
                <a:latin typeface="Times New Roman" panose="02020603050405020304" pitchFamily="18" charset="0"/>
                <a:cs typeface="Times New Roman" panose="02020603050405020304" pitchFamily="18" charset="0"/>
              </a:rPr>
              <a:t>BLU = Lead screw pitch / Steps per motor revolution</a:t>
            </a:r>
          </a:p>
          <a:p>
            <a:pPr lvl="1" algn="just"/>
            <a:r>
              <a:rPr lang="en-US" sz="2000" dirty="0">
                <a:latin typeface="Times New Roman" panose="02020603050405020304" pitchFamily="18" charset="0"/>
                <a:cs typeface="Times New Roman" panose="02020603050405020304" pitchFamily="18" charset="0"/>
              </a:rPr>
              <a:t>Lead screw pitch: This is the distance the nut on the lead screw travels along the screw for each complete revolution</a:t>
            </a:r>
          </a:p>
          <a:p>
            <a:pPr lvl="1" algn="just"/>
            <a:r>
              <a:rPr lang="en-US" sz="2000" dirty="0">
                <a:latin typeface="Times New Roman" panose="02020603050405020304" pitchFamily="18" charset="0"/>
                <a:cs typeface="Times New Roman" panose="02020603050405020304" pitchFamily="18" charset="0"/>
              </a:rPr>
              <a:t>Steps per motor revolution: This is the number of discrete angular movements a stepper motor can make in one complete revolution</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In NC machine, the displacement length per one pulse output from machine is defined as a Basic Length Unit (BLU).</a:t>
            </a:r>
          </a:p>
          <a:p>
            <a:pPr marL="0" indent="0" algn="ctr">
              <a:buNone/>
            </a:pPr>
            <a:r>
              <a:rPr lang="en-US" sz="2400" dirty="0">
                <a:highlight>
                  <a:srgbClr val="FFFF00"/>
                </a:highlight>
                <a:latin typeface="Times New Roman" panose="02020603050405020304" pitchFamily="18" charset="0"/>
                <a:cs typeface="Times New Roman" panose="02020603050405020304" pitchFamily="18" charset="0"/>
              </a:rPr>
              <a:t>CNC computer each bit (binary digit) represents 1 BLU.</a:t>
            </a:r>
          </a:p>
          <a:p>
            <a:pPr marL="0" indent="0" algn="ctr">
              <a:buNone/>
            </a:pPr>
            <a:r>
              <a:rPr lang="en-US" sz="2400" dirty="0">
                <a:highlight>
                  <a:srgbClr val="FFFF00"/>
                </a:highlight>
                <a:latin typeface="Times New Roman" panose="02020603050405020304" pitchFamily="18" charset="0"/>
                <a:cs typeface="Times New Roman" panose="02020603050405020304" pitchFamily="18" charset="0"/>
              </a:rPr>
              <a:t>Bit = BLU</a:t>
            </a:r>
          </a:p>
          <a:p>
            <a:pPr marL="0" indent="0" algn="just">
              <a:buNone/>
            </a:pPr>
            <a:r>
              <a:rPr lang="en-US" sz="2400" dirty="0">
                <a:latin typeface="Times New Roman" panose="02020603050405020304" pitchFamily="18" charset="0"/>
                <a:cs typeface="Times New Roman" panose="02020603050405020304" pitchFamily="18" charset="0"/>
              </a:rPr>
              <a:t>If one pulse makes a servo motor rotate by one degree and the servo motor moves the table by 0.0001 mm, one BLU will be 0.0001 mm.</a:t>
            </a:r>
          </a:p>
          <a:p>
            <a:pPr marL="0" indent="0"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39884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7735</TotalTime>
  <Words>4593</Words>
  <Application>Microsoft Office PowerPoint</Application>
  <PresentationFormat>Widescreen</PresentationFormat>
  <Paragraphs>373</Paragraphs>
  <Slides>54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54</vt:i4>
      </vt:variant>
    </vt:vector>
  </HeadingPairs>
  <TitlesOfParts>
    <vt:vector size="62" baseType="lpstr">
      <vt:lpstr>Arial</vt:lpstr>
      <vt:lpstr>Calibri</vt:lpstr>
      <vt:lpstr>Calibri Light</vt:lpstr>
      <vt:lpstr>Times New Roman</vt:lpstr>
      <vt:lpstr>Times-Italic</vt:lpstr>
      <vt:lpstr>Times-Roman</vt:lpstr>
      <vt:lpstr>Wingdings</vt:lpstr>
      <vt:lpstr>Office Theme</vt:lpstr>
      <vt:lpstr>Numerical Control</vt:lpstr>
      <vt:lpstr>Numerical Control</vt:lpstr>
      <vt:lpstr>BASIC COMPONENTS OF AN NC SYSTEM</vt:lpstr>
      <vt:lpstr>1. Program of instructions </vt:lpstr>
      <vt:lpstr>PUNCHED TAPE IN NC </vt:lpstr>
      <vt:lpstr>Preparing the punched tape</vt:lpstr>
      <vt:lpstr>PowerPoint Presentation</vt:lpstr>
      <vt:lpstr>2. Controller unit</vt:lpstr>
      <vt:lpstr>PowerPoint Presentation</vt:lpstr>
      <vt:lpstr>3. Machine tool</vt:lpstr>
      <vt:lpstr>NC Procedure</vt:lpstr>
      <vt:lpstr>Absolute positioning and incremental positioning</vt:lpstr>
      <vt:lpstr>NC MOTION CONTROL SYSTEMS</vt:lpstr>
      <vt:lpstr>NC MOTION CONTROL SYSTEMS</vt:lpstr>
      <vt:lpstr>    Advantages of NC    Disadvantages of NC</vt:lpstr>
      <vt:lpstr>Computer Controls in NC</vt:lpstr>
      <vt:lpstr>PROBLEMS WITH CONVENTIONAL NC</vt:lpstr>
      <vt:lpstr>COMPUTER  NUMERICAL  CONTROL</vt:lpstr>
      <vt:lpstr>Functions of CNC</vt:lpstr>
      <vt:lpstr>MACHINE TOOL CONTROL</vt:lpstr>
      <vt:lpstr>Hybrid CNC and Straight CNC  </vt:lpstr>
      <vt:lpstr>IN-PROCESS COMPENSATION</vt:lpstr>
      <vt:lpstr>IMPROVED PROGRAMMING AND OPERATING FEATURES  and  DIAGNOSTICS</vt:lpstr>
      <vt:lpstr>ADVANTAGES OF CNC</vt:lpstr>
      <vt:lpstr>Computer-assisted Part Programming</vt:lpstr>
      <vt:lpstr>Computer-assisted Part Programming</vt:lpstr>
      <vt:lpstr>Computer-assisted Part Programming</vt:lpstr>
      <vt:lpstr>Computer-assisted Part Programming</vt:lpstr>
      <vt:lpstr>NC part programming languages</vt:lpstr>
      <vt:lpstr>The APT Language</vt:lpstr>
      <vt:lpstr>Geometry statements - The definition of the work-part elements </vt:lpstr>
      <vt:lpstr>Geometry statements</vt:lpstr>
      <vt:lpstr>Geometry statements</vt:lpstr>
      <vt:lpstr>PowerPoint Presentation</vt:lpstr>
      <vt:lpstr>Example</vt:lpstr>
      <vt:lpstr>Motion statements</vt:lpstr>
      <vt:lpstr>Motion statements - POINT-TO-POINT MOTIONS</vt:lpstr>
      <vt:lpstr>Example</vt:lpstr>
      <vt:lpstr>Contouring Motions</vt:lpstr>
      <vt:lpstr>APT contour motion statement </vt:lpstr>
      <vt:lpstr>APT contour motion statement </vt:lpstr>
      <vt:lpstr>Example</vt:lpstr>
      <vt:lpstr>Postprocessor statements</vt:lpstr>
      <vt:lpstr>Auxiliary statements</vt:lpstr>
      <vt:lpstr>NC Positioning Systems</vt:lpstr>
      <vt:lpstr>Optical encoders</vt:lpstr>
      <vt:lpstr>Optical encoders</vt:lpstr>
      <vt:lpstr>PowerPoint Presentation</vt:lpstr>
      <vt:lpstr>Precision in NC Positioning Systems</vt:lpstr>
      <vt:lpstr>CNC machining - zero positions</vt:lpstr>
      <vt:lpstr>CNC machining : Zero Offset </vt:lpstr>
      <vt:lpstr>errors affects the accuracy of NC machine tools</vt:lpstr>
      <vt:lpstr>errors affects the accuracy of NC machine tools</vt:lpstr>
      <vt:lpstr>Basic Length Unit (BLU)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Numerical Control</dc:title>
  <dc:creator>Rojin Mathews</dc:creator>
  <cp:lastModifiedBy>Rojin Mathews</cp:lastModifiedBy>
  <cp:revision>27</cp:revision>
  <dcterms:created xsi:type="dcterms:W3CDTF">2024-04-18T23:18:57Z</dcterms:created>
  <dcterms:modified xsi:type="dcterms:W3CDTF">2024-05-10T10:10:15Z</dcterms:modified>
</cp:coreProperties>
</file>