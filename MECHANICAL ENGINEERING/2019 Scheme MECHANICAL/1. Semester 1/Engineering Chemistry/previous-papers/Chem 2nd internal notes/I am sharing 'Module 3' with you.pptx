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6" r:id="rId3"/>
    <p:sldId id="260" r:id="rId4"/>
    <p:sldId id="261" r:id="rId5"/>
    <p:sldId id="262" r:id="rId6"/>
    <p:sldId id="263" r:id="rId7"/>
    <p:sldId id="264" r:id="rId8"/>
    <p:sldId id="265" r:id="rId9"/>
    <p:sldId id="266" r:id="rId10"/>
    <p:sldId id="267" r:id="rId11"/>
    <p:sldId id="268" r:id="rId12"/>
    <p:sldId id="269" r:id="rId13"/>
    <p:sldId id="270" r:id="rId14"/>
    <p:sldId id="271" r:id="rId15"/>
    <p:sldId id="273" r:id="rId16"/>
    <p:sldId id="272" r:id="rId17"/>
    <p:sldId id="274" r:id="rId18"/>
    <p:sldId id="275" r:id="rId19"/>
    <p:sldId id="276" r:id="rId20"/>
    <p:sldId id="277" r:id="rId21"/>
    <p:sldId id="27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34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6B83E1-6958-4DD8-BD2E-444846A21869}" type="datetimeFigureOut">
              <a:rPr lang="en-IN" smtClean="0"/>
              <a:t>21-02-2023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66A0E14-EC17-4AED-919B-F861CE930148}" type="slidenum">
              <a:rPr lang="en-IN" smtClean="0"/>
              <a:t>‹#›</a:t>
            </a:fld>
            <a:endParaRPr lang="en-IN"/>
          </a:p>
        </p:txBody>
      </p:sp>
    </p:spTree>
    <p:extLst>
      <p:ext uri="{BB962C8B-B14F-4D97-AF65-F5344CB8AC3E}">
        <p14:creationId xmlns:p14="http://schemas.microsoft.com/office/powerpoint/2010/main" val="3660765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C4A4220-5197-40B6-9DE7-15F8E200AA54}" type="slidenum">
              <a:rPr lang="en-IN" smtClean="0"/>
              <a:t>14</a:t>
            </a:fld>
            <a:endParaRPr lang="en-IN"/>
          </a:p>
        </p:txBody>
      </p:sp>
    </p:spTree>
    <p:extLst>
      <p:ext uri="{BB962C8B-B14F-4D97-AF65-F5344CB8AC3E}">
        <p14:creationId xmlns:p14="http://schemas.microsoft.com/office/powerpoint/2010/main" val="2530522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94A8A57-45D0-48CF-B3A1-14CBC8449AF9}" type="datetimeFigureOut">
              <a:rPr lang="en-IN" smtClean="0"/>
              <a:t>21-02-2023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249772-DA7C-4186-B4A8-8916E0ACA39D}" type="slidenum">
              <a:rPr lang="en-IN" smtClean="0"/>
              <a:t>‹#›</a:t>
            </a:fld>
            <a:endParaRPr lang="en-IN"/>
          </a:p>
        </p:txBody>
      </p:sp>
    </p:spTree>
    <p:extLst>
      <p:ext uri="{BB962C8B-B14F-4D97-AF65-F5344CB8AC3E}">
        <p14:creationId xmlns:p14="http://schemas.microsoft.com/office/powerpoint/2010/main" val="3696273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94A8A57-45D0-48CF-B3A1-14CBC8449AF9}" type="datetimeFigureOut">
              <a:rPr lang="en-IN" smtClean="0"/>
              <a:t>21-02-2023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249772-DA7C-4186-B4A8-8916E0ACA39D}" type="slidenum">
              <a:rPr lang="en-IN" smtClean="0"/>
              <a:t>‹#›</a:t>
            </a:fld>
            <a:endParaRPr lang="en-IN"/>
          </a:p>
        </p:txBody>
      </p:sp>
    </p:spTree>
    <p:extLst>
      <p:ext uri="{BB962C8B-B14F-4D97-AF65-F5344CB8AC3E}">
        <p14:creationId xmlns:p14="http://schemas.microsoft.com/office/powerpoint/2010/main" val="3867685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4A8A57-45D0-48CF-B3A1-14CBC8449AF9}" type="datetimeFigureOut">
              <a:rPr lang="en-IN" smtClean="0"/>
              <a:t>21-02-2023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249772-DA7C-4186-B4A8-8916E0ACA39D}" type="slidenum">
              <a:rPr lang="en-IN" smtClean="0"/>
              <a:t>‹#›</a:t>
            </a:fld>
            <a:endParaRPr lang="en-IN"/>
          </a:p>
        </p:txBody>
      </p:sp>
    </p:spTree>
    <p:extLst>
      <p:ext uri="{BB962C8B-B14F-4D97-AF65-F5344CB8AC3E}">
        <p14:creationId xmlns:p14="http://schemas.microsoft.com/office/powerpoint/2010/main" val="127034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94A8A57-45D0-48CF-B3A1-14CBC8449AF9}" type="datetimeFigureOut">
              <a:rPr lang="en-IN" smtClean="0"/>
              <a:t>21-02-2023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249772-DA7C-4186-B4A8-8916E0ACA39D}" type="slidenum">
              <a:rPr lang="en-IN" smtClean="0"/>
              <a:t>‹#›</a:t>
            </a:fld>
            <a:endParaRPr lang="en-IN"/>
          </a:p>
        </p:txBody>
      </p:sp>
    </p:spTree>
    <p:extLst>
      <p:ext uri="{BB962C8B-B14F-4D97-AF65-F5344CB8AC3E}">
        <p14:creationId xmlns:p14="http://schemas.microsoft.com/office/powerpoint/2010/main" val="3075594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94A8A57-45D0-48CF-B3A1-14CBC8449AF9}" type="datetimeFigureOut">
              <a:rPr lang="en-IN" smtClean="0"/>
              <a:t>21-02-2023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249772-DA7C-4186-B4A8-8916E0ACA39D}" type="slidenum">
              <a:rPr lang="en-IN" smtClean="0"/>
              <a:t>‹#›</a:t>
            </a:fld>
            <a:endParaRPr lang="en-IN"/>
          </a:p>
        </p:txBody>
      </p:sp>
    </p:spTree>
    <p:extLst>
      <p:ext uri="{BB962C8B-B14F-4D97-AF65-F5344CB8AC3E}">
        <p14:creationId xmlns:p14="http://schemas.microsoft.com/office/powerpoint/2010/main" val="1865214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94A8A57-45D0-48CF-B3A1-14CBC8449AF9}" type="datetimeFigureOut">
              <a:rPr lang="en-IN" smtClean="0"/>
              <a:t>21-02-2023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249772-DA7C-4186-B4A8-8916E0ACA39D}" type="slidenum">
              <a:rPr lang="en-IN" smtClean="0"/>
              <a:t>‹#›</a:t>
            </a:fld>
            <a:endParaRPr lang="en-IN"/>
          </a:p>
        </p:txBody>
      </p:sp>
    </p:spTree>
    <p:extLst>
      <p:ext uri="{BB962C8B-B14F-4D97-AF65-F5344CB8AC3E}">
        <p14:creationId xmlns:p14="http://schemas.microsoft.com/office/powerpoint/2010/main" val="1575712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4A8A57-45D0-48CF-B3A1-14CBC8449AF9}" type="datetimeFigureOut">
              <a:rPr lang="en-IN" smtClean="0"/>
              <a:t>21-02-2023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0249772-DA7C-4186-B4A8-8916E0ACA39D}" type="slidenum">
              <a:rPr lang="en-IN" smtClean="0"/>
              <a:t>‹#›</a:t>
            </a:fld>
            <a:endParaRPr lang="en-IN"/>
          </a:p>
        </p:txBody>
      </p:sp>
    </p:spTree>
    <p:extLst>
      <p:ext uri="{BB962C8B-B14F-4D97-AF65-F5344CB8AC3E}">
        <p14:creationId xmlns:p14="http://schemas.microsoft.com/office/powerpoint/2010/main" val="2465077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4A8A57-45D0-48CF-B3A1-14CBC8449AF9}" type="datetimeFigureOut">
              <a:rPr lang="en-IN" smtClean="0"/>
              <a:t>21-02-2023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249772-DA7C-4186-B4A8-8916E0ACA39D}" type="slidenum">
              <a:rPr lang="en-IN" smtClean="0"/>
              <a:t>‹#›</a:t>
            </a:fld>
            <a:endParaRPr lang="en-IN"/>
          </a:p>
        </p:txBody>
      </p:sp>
    </p:spTree>
    <p:extLst>
      <p:ext uri="{BB962C8B-B14F-4D97-AF65-F5344CB8AC3E}">
        <p14:creationId xmlns:p14="http://schemas.microsoft.com/office/powerpoint/2010/main" val="1056333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4A8A57-45D0-48CF-B3A1-14CBC8449AF9}" type="datetimeFigureOut">
              <a:rPr lang="en-IN" smtClean="0"/>
              <a:t>21-02-2023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249772-DA7C-4186-B4A8-8916E0ACA39D}" type="slidenum">
              <a:rPr lang="en-IN" smtClean="0"/>
              <a:t>‹#›</a:t>
            </a:fld>
            <a:endParaRPr lang="en-IN"/>
          </a:p>
        </p:txBody>
      </p:sp>
    </p:spTree>
    <p:extLst>
      <p:ext uri="{BB962C8B-B14F-4D97-AF65-F5344CB8AC3E}">
        <p14:creationId xmlns:p14="http://schemas.microsoft.com/office/powerpoint/2010/main" val="3019607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94A8A57-45D0-48CF-B3A1-14CBC8449AF9}" type="datetimeFigureOut">
              <a:rPr lang="en-IN" smtClean="0"/>
              <a:t>21-02-2023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249772-DA7C-4186-B4A8-8916E0ACA39D}" type="slidenum">
              <a:rPr lang="en-IN" smtClean="0"/>
              <a:t>‹#›</a:t>
            </a:fld>
            <a:endParaRPr lang="en-IN"/>
          </a:p>
        </p:txBody>
      </p:sp>
    </p:spTree>
    <p:extLst>
      <p:ext uri="{BB962C8B-B14F-4D97-AF65-F5344CB8AC3E}">
        <p14:creationId xmlns:p14="http://schemas.microsoft.com/office/powerpoint/2010/main" val="1842168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94A8A57-45D0-48CF-B3A1-14CBC8449AF9}" type="datetimeFigureOut">
              <a:rPr lang="en-IN" smtClean="0"/>
              <a:t>21-02-2023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249772-DA7C-4186-B4A8-8916E0ACA39D}" type="slidenum">
              <a:rPr lang="en-IN" smtClean="0"/>
              <a:t>‹#›</a:t>
            </a:fld>
            <a:endParaRPr lang="en-IN"/>
          </a:p>
        </p:txBody>
      </p:sp>
    </p:spTree>
    <p:extLst>
      <p:ext uri="{BB962C8B-B14F-4D97-AF65-F5344CB8AC3E}">
        <p14:creationId xmlns:p14="http://schemas.microsoft.com/office/powerpoint/2010/main" val="2648798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4A8A57-45D0-48CF-B3A1-14CBC8449AF9}" type="datetimeFigureOut">
              <a:rPr lang="en-IN" smtClean="0"/>
              <a:t>21-02-2023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249772-DA7C-4186-B4A8-8916E0ACA39D}" type="slidenum">
              <a:rPr lang="en-IN" smtClean="0"/>
              <a:t>‹#›</a:t>
            </a:fld>
            <a:endParaRPr lang="en-IN"/>
          </a:p>
        </p:txBody>
      </p:sp>
    </p:spTree>
    <p:extLst>
      <p:ext uri="{BB962C8B-B14F-4D97-AF65-F5344CB8AC3E}">
        <p14:creationId xmlns:p14="http://schemas.microsoft.com/office/powerpoint/2010/main" val="2831462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9.pn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988840"/>
            <a:ext cx="8208912" cy="1614481"/>
          </a:xfrm>
          <a:prstGeom prst="rect">
            <a:avLst/>
          </a:prstGeom>
        </p:spPr>
        <p:txBody>
          <a:bodyPr wrap="square">
            <a:spAutoFit/>
          </a:bodyPr>
          <a:lstStyle/>
          <a:p>
            <a:pPr algn="ctr">
              <a:lnSpc>
                <a:spcPct val="200000"/>
              </a:lnSpc>
            </a:pPr>
            <a:r>
              <a:rPr lang="en-IN" sz="1600" b="1" dirty="0">
                <a:solidFill>
                  <a:srgbClr val="063414"/>
                </a:solidFill>
                <a:effectLst>
                  <a:outerShdw blurRad="38100" dist="38100" dir="2700000" algn="tl">
                    <a:srgbClr val="000000">
                      <a:alpha val="43137"/>
                    </a:srgbClr>
                  </a:outerShdw>
                </a:effectLst>
                <a:latin typeface="Verdana" pitchFamily="34" charset="0"/>
                <a:ea typeface="Verdana" pitchFamily="34" charset="0"/>
              </a:rPr>
              <a:t>Module III</a:t>
            </a:r>
            <a:br>
              <a:rPr lang="en-IN" sz="1600" b="1" dirty="0">
                <a:latin typeface="Verdana" pitchFamily="34" charset="0"/>
                <a:ea typeface="Verdana" pitchFamily="34" charset="0"/>
              </a:rPr>
            </a:br>
            <a:r>
              <a:rPr lang="en-IN" sz="4000" b="1" dirty="0">
                <a:solidFill>
                  <a:srgbClr val="C00000"/>
                </a:solidFill>
                <a:effectLst>
                  <a:outerShdw blurRad="38100" dist="38100" dir="2700000" algn="tl">
                    <a:srgbClr val="000000">
                      <a:alpha val="43137"/>
                    </a:srgbClr>
                  </a:outerShdw>
                </a:effectLst>
                <a:latin typeface="Verdana" pitchFamily="34" charset="0"/>
                <a:ea typeface="Verdana" pitchFamily="34" charset="0"/>
              </a:rPr>
              <a:t>Chemical Thermodynamics</a:t>
            </a:r>
            <a:endParaRPr lang="en-IN" sz="4000" dirty="0">
              <a:solidFill>
                <a:srgbClr val="C00000"/>
              </a:solidFill>
              <a:effectLst>
                <a:outerShdw blurRad="38100" dist="38100" dir="2700000" algn="tl">
                  <a:srgbClr val="000000">
                    <a:alpha val="43137"/>
                  </a:srgbClr>
                </a:outerShdw>
              </a:effectLst>
              <a:latin typeface="Verdana" pitchFamily="34" charset="0"/>
              <a:ea typeface="Verdana" pitchFamily="34" charset="0"/>
            </a:endParaRPr>
          </a:p>
        </p:txBody>
      </p:sp>
      <p:sp>
        <p:nvSpPr>
          <p:cNvPr id="4" name="TextBox 3"/>
          <p:cNvSpPr txBox="1"/>
          <p:nvPr/>
        </p:nvSpPr>
        <p:spPr>
          <a:xfrm>
            <a:off x="5724128" y="5070894"/>
            <a:ext cx="3176575" cy="461665"/>
          </a:xfrm>
          <a:prstGeom prst="rect">
            <a:avLst/>
          </a:prstGeom>
          <a:noFill/>
        </p:spPr>
        <p:txBody>
          <a:bodyPr wrap="none" rtlCol="0">
            <a:spAutoFit/>
          </a:bodyPr>
          <a:lstStyle/>
          <a:p>
            <a:r>
              <a:rPr lang="en-IN" sz="2400" b="1" dirty="0" err="1"/>
              <a:t>Dr.</a:t>
            </a:r>
            <a:r>
              <a:rPr lang="en-IN" sz="2400" b="1" dirty="0"/>
              <a:t> </a:t>
            </a:r>
            <a:r>
              <a:rPr lang="en-IN" sz="2400" b="1" dirty="0" err="1"/>
              <a:t>Jayanthy</a:t>
            </a:r>
            <a:r>
              <a:rPr lang="en-IN" sz="2400" b="1" dirty="0"/>
              <a:t> S. </a:t>
            </a:r>
            <a:r>
              <a:rPr lang="en-IN" sz="2400" b="1" dirty="0" err="1"/>
              <a:t>Panicker</a:t>
            </a:r>
            <a:endParaRPr lang="en-IN" sz="2400" b="1" dirty="0"/>
          </a:p>
        </p:txBody>
      </p:sp>
    </p:spTree>
    <p:extLst>
      <p:ext uri="{BB962C8B-B14F-4D97-AF65-F5344CB8AC3E}">
        <p14:creationId xmlns:p14="http://schemas.microsoft.com/office/powerpoint/2010/main" val="555769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9746" y="476672"/>
            <a:ext cx="8894254" cy="4616648"/>
          </a:xfrm>
          <a:prstGeom prst="rect">
            <a:avLst/>
          </a:prstGeom>
        </p:spPr>
        <p:txBody>
          <a:bodyPr wrap="square">
            <a:spAutoFit/>
          </a:bodyPr>
          <a:lstStyle/>
          <a:p>
            <a:pPr algn="just">
              <a:lnSpc>
                <a:spcPct val="150000"/>
              </a:lnSpc>
            </a:pPr>
            <a:r>
              <a:rPr lang="en-IN" sz="2800" b="1" dirty="0">
                <a:latin typeface="Times New Roman" pitchFamily="18" charset="0"/>
                <a:cs typeface="Times New Roman" pitchFamily="18" charset="0"/>
              </a:rPr>
              <a:t>Fundamentals. First law of thermodynamics. Molecular interpretation of internal energy, enthalpy and entropy. Heat of reaction. </a:t>
            </a:r>
            <a:r>
              <a:rPr lang="en-IN" sz="2800" b="1" dirty="0" err="1">
                <a:latin typeface="Times New Roman" pitchFamily="18" charset="0"/>
                <a:cs typeface="Times New Roman" pitchFamily="18" charset="0"/>
              </a:rPr>
              <a:t>Kirchoff’s</a:t>
            </a:r>
            <a:r>
              <a:rPr lang="en-IN" sz="2800" b="1" dirty="0">
                <a:latin typeface="Times New Roman" pitchFamily="18" charset="0"/>
                <a:cs typeface="Times New Roman" pitchFamily="18" charset="0"/>
              </a:rPr>
              <a:t> equations. Dependence on pressure and temperature. Gibbs-Helmholtz equation. Free energy changes and equilibrium constant. Chemical potential and fugacity. Thermodynamics of biochemical</a:t>
            </a:r>
            <a:br>
              <a:rPr lang="en-IN" sz="2800" b="1" dirty="0">
                <a:latin typeface="Times New Roman" pitchFamily="18" charset="0"/>
                <a:cs typeface="Times New Roman" pitchFamily="18" charset="0"/>
              </a:rPr>
            </a:br>
            <a:r>
              <a:rPr lang="en-IN" sz="2800" b="1" dirty="0">
                <a:latin typeface="Times New Roman" pitchFamily="18" charset="0"/>
                <a:cs typeface="Times New Roman" pitchFamily="18" charset="0"/>
              </a:rPr>
              <a:t>reactions. </a:t>
            </a:r>
          </a:p>
        </p:txBody>
      </p:sp>
    </p:spTree>
    <p:extLst>
      <p:ext uri="{BB962C8B-B14F-4D97-AF65-F5344CB8AC3E}">
        <p14:creationId xmlns:p14="http://schemas.microsoft.com/office/powerpoint/2010/main" val="1977241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52736"/>
            <a:ext cx="9144000" cy="3108543"/>
          </a:xfrm>
          <a:prstGeom prst="rect">
            <a:avLst/>
          </a:prstGeom>
        </p:spPr>
        <p:txBody>
          <a:bodyPr wrap="square">
            <a:spAutoFit/>
          </a:bodyPr>
          <a:lstStyle/>
          <a:p>
            <a:pPr marL="285750" indent="-285750" algn="just">
              <a:buFont typeface="Wingdings" pitchFamily="2" charset="2"/>
              <a:buChar char="ü"/>
            </a:pPr>
            <a:r>
              <a:rPr lang="en-US" sz="2800" b="1" dirty="0"/>
              <a:t>The science of energy, that concerned with the ways in which energy is stored within a body.</a:t>
            </a:r>
          </a:p>
          <a:p>
            <a:pPr marL="285750" indent="-285750" algn="just">
              <a:buFont typeface="Wingdings" pitchFamily="2" charset="2"/>
              <a:buChar char="ü"/>
            </a:pPr>
            <a:r>
              <a:rPr lang="en-US" sz="2800" b="1" dirty="0"/>
              <a:t>Energy transformations – mostly involve heat and work movements.</a:t>
            </a:r>
          </a:p>
          <a:p>
            <a:pPr marL="285750" indent="-285750" algn="just">
              <a:buFont typeface="Wingdings" pitchFamily="2" charset="2"/>
              <a:buChar char="ü"/>
            </a:pPr>
            <a:r>
              <a:rPr lang="en-US" sz="2800" b="1" dirty="0"/>
              <a:t> The Fundamental law is the conservation of energy principle: energy cannot be created or destroyed, but can only be transformed from one form to another.</a:t>
            </a:r>
            <a:endParaRPr lang="en-IN" sz="2800" b="1" dirty="0"/>
          </a:p>
        </p:txBody>
      </p:sp>
      <p:sp>
        <p:nvSpPr>
          <p:cNvPr id="3" name="Rectangle 2"/>
          <p:cNvSpPr/>
          <p:nvPr/>
        </p:nvSpPr>
        <p:spPr>
          <a:xfrm>
            <a:off x="0" y="0"/>
            <a:ext cx="9144000" cy="830997"/>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IN" sz="4800" b="1" dirty="0">
                <a:latin typeface="Calisto MT" pitchFamily="18" charset="0"/>
              </a:rPr>
              <a:t>What is Thermodynamics?</a:t>
            </a:r>
          </a:p>
        </p:txBody>
      </p:sp>
    </p:spTree>
    <p:extLst>
      <p:ext uri="{BB962C8B-B14F-4D97-AF65-F5344CB8AC3E}">
        <p14:creationId xmlns:p14="http://schemas.microsoft.com/office/powerpoint/2010/main" val="2910363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IN" sz="4400" b="1" dirty="0"/>
              <a:t>System, surroundings and boundary</a:t>
            </a:r>
            <a:r>
              <a:rPr lang="en-IN" sz="4400" dirty="0"/>
              <a:t> </a:t>
            </a:r>
            <a:endParaRPr lang="en-IN" sz="4400" b="1" dirty="0">
              <a:latin typeface="Calisto MT"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32" y="980728"/>
            <a:ext cx="9077236" cy="4603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7222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US" sz="4400" b="1" dirty="0"/>
              <a:t>Types of system</a:t>
            </a:r>
            <a:endParaRPr lang="en-IN" sz="4400" b="1" dirty="0">
              <a:latin typeface="Calisto MT" pitchFamily="18" charset="0"/>
            </a:endParaRPr>
          </a:p>
        </p:txBody>
      </p:sp>
      <p:sp>
        <p:nvSpPr>
          <p:cNvPr id="3" name="Rectangle 2"/>
          <p:cNvSpPr/>
          <p:nvPr/>
        </p:nvSpPr>
        <p:spPr>
          <a:xfrm>
            <a:off x="251520" y="857744"/>
            <a:ext cx="2565318" cy="523220"/>
          </a:xfrm>
          <a:prstGeom prst="rect">
            <a:avLst/>
          </a:prstGeom>
        </p:spPr>
        <p:txBody>
          <a:bodyPr wrap="none">
            <a:spAutoFit/>
          </a:bodyPr>
          <a:lstStyle/>
          <a:p>
            <a:pPr algn="ctr"/>
            <a:r>
              <a:rPr lang="en-US" sz="2800" b="1" dirty="0"/>
              <a:t>Isolated system</a:t>
            </a:r>
            <a:r>
              <a:rPr lang="en-US" sz="2800" dirty="0"/>
              <a:t> </a:t>
            </a:r>
            <a:endParaRPr lang="en-IN" sz="2800" b="1" dirty="0">
              <a:latin typeface="Calisto MT"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70" y="1773402"/>
            <a:ext cx="8860918" cy="424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625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2235"/>
          <a:stretch/>
        </p:blipFill>
        <p:spPr bwMode="auto">
          <a:xfrm>
            <a:off x="467544" y="1700808"/>
            <a:ext cx="8518430" cy="4038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US" sz="4400" b="1" dirty="0"/>
              <a:t>Types of system</a:t>
            </a:r>
            <a:endParaRPr lang="en-IN" sz="4400" b="1" dirty="0">
              <a:latin typeface="Calisto MT" pitchFamily="18" charset="0"/>
            </a:endParaRPr>
          </a:p>
        </p:txBody>
      </p:sp>
      <p:sp>
        <p:nvSpPr>
          <p:cNvPr id="4" name="Rectangle 3"/>
          <p:cNvSpPr/>
          <p:nvPr/>
        </p:nvSpPr>
        <p:spPr>
          <a:xfrm>
            <a:off x="347861" y="857744"/>
            <a:ext cx="2372637" cy="523220"/>
          </a:xfrm>
          <a:prstGeom prst="rect">
            <a:avLst/>
          </a:prstGeom>
        </p:spPr>
        <p:txBody>
          <a:bodyPr wrap="none">
            <a:spAutoFit/>
          </a:bodyPr>
          <a:lstStyle/>
          <a:p>
            <a:pPr algn="ctr"/>
            <a:r>
              <a:rPr lang="en-US" sz="2800" b="1" dirty="0"/>
              <a:t>Closed system</a:t>
            </a:r>
            <a:r>
              <a:rPr lang="en-US" sz="2800" dirty="0"/>
              <a:t> </a:t>
            </a:r>
            <a:endParaRPr lang="en-IN" sz="2800" b="1" dirty="0">
              <a:latin typeface="Calisto MT" pitchFamily="18" charset="0"/>
            </a:endParaRPr>
          </a:p>
        </p:txBody>
      </p:sp>
    </p:spTree>
    <p:extLst>
      <p:ext uri="{BB962C8B-B14F-4D97-AF65-F5344CB8AC3E}">
        <p14:creationId xmlns:p14="http://schemas.microsoft.com/office/powerpoint/2010/main" val="1061911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352" r="3266"/>
          <a:stretch/>
        </p:blipFill>
        <p:spPr bwMode="auto">
          <a:xfrm>
            <a:off x="179294" y="1340768"/>
            <a:ext cx="8659906"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US" sz="4400" b="1" dirty="0"/>
              <a:t>Types of system</a:t>
            </a:r>
            <a:endParaRPr lang="en-IN" sz="4400" b="1" dirty="0">
              <a:latin typeface="Calisto MT" pitchFamily="18" charset="0"/>
            </a:endParaRPr>
          </a:p>
        </p:txBody>
      </p:sp>
      <p:sp>
        <p:nvSpPr>
          <p:cNvPr id="4" name="Rectangle 3"/>
          <p:cNvSpPr/>
          <p:nvPr/>
        </p:nvSpPr>
        <p:spPr>
          <a:xfrm>
            <a:off x="437629" y="857744"/>
            <a:ext cx="2193101" cy="523220"/>
          </a:xfrm>
          <a:prstGeom prst="rect">
            <a:avLst/>
          </a:prstGeom>
        </p:spPr>
        <p:txBody>
          <a:bodyPr wrap="none">
            <a:spAutoFit/>
          </a:bodyPr>
          <a:lstStyle/>
          <a:p>
            <a:pPr algn="ctr"/>
            <a:r>
              <a:rPr lang="en-US" sz="2800" b="1" dirty="0"/>
              <a:t>Open system</a:t>
            </a:r>
            <a:r>
              <a:rPr lang="en-US" sz="2800" dirty="0"/>
              <a:t> </a:t>
            </a:r>
            <a:endParaRPr lang="en-IN" sz="2800" b="1" dirty="0">
              <a:latin typeface="Calisto MT" pitchFamily="18" charset="0"/>
            </a:endParaRPr>
          </a:p>
        </p:txBody>
      </p:sp>
    </p:spTree>
    <p:extLst>
      <p:ext uri="{BB962C8B-B14F-4D97-AF65-F5344CB8AC3E}">
        <p14:creationId xmlns:p14="http://schemas.microsoft.com/office/powerpoint/2010/main" val="3377888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IN" sz="4400" b="1" dirty="0"/>
              <a:t>Properties of a system</a:t>
            </a:r>
            <a:r>
              <a:rPr lang="en-IN" sz="4400" dirty="0"/>
              <a:t> </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729" y="908720"/>
            <a:ext cx="8551735" cy="5770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203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IN" sz="4400" b="1" dirty="0"/>
              <a:t>Properties of a system</a:t>
            </a:r>
            <a:r>
              <a:rPr lang="en-IN" sz="4400" dirty="0"/>
              <a:t> </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165" y="1124744"/>
            <a:ext cx="8701669" cy="4281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7924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IN" sz="4400" b="1" dirty="0"/>
              <a:t>State, Equilibrium and Process </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933053"/>
            <a:ext cx="7572375" cy="3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1175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50" y="1352550"/>
            <a:ext cx="7734300" cy="415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IN" sz="4400" b="1" dirty="0"/>
              <a:t>State, Equilibrium and Process </a:t>
            </a:r>
          </a:p>
        </p:txBody>
      </p:sp>
    </p:spTree>
    <p:extLst>
      <p:ext uri="{BB962C8B-B14F-4D97-AF65-F5344CB8AC3E}">
        <p14:creationId xmlns:p14="http://schemas.microsoft.com/office/powerpoint/2010/main" val="324921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1" y="0"/>
            <a:ext cx="5794176" cy="2939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6985" y="2780928"/>
            <a:ext cx="5857503" cy="39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5125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993040"/>
            <a:ext cx="9165222" cy="5316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IN" sz="4400" b="1" dirty="0"/>
              <a:t>Types of Thermodynamics Processes</a:t>
            </a:r>
            <a:r>
              <a:rPr lang="en-IN" sz="4400" dirty="0"/>
              <a:t> </a:t>
            </a:r>
            <a:endParaRPr lang="en-IN" sz="4400" b="1" dirty="0"/>
          </a:p>
        </p:txBody>
      </p:sp>
    </p:spTree>
    <p:extLst>
      <p:ext uri="{BB962C8B-B14F-4D97-AF65-F5344CB8AC3E}">
        <p14:creationId xmlns:p14="http://schemas.microsoft.com/office/powerpoint/2010/main" val="1402723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839" b="52909"/>
          <a:stretch/>
        </p:blipFill>
        <p:spPr bwMode="auto">
          <a:xfrm>
            <a:off x="899592" y="1209342"/>
            <a:ext cx="7380311" cy="2484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IN" sz="4400" b="1" dirty="0"/>
              <a:t>Types of Thermodynamics Processes</a:t>
            </a:r>
            <a:r>
              <a:rPr lang="en-IN" sz="4400" dirty="0"/>
              <a:t> </a:t>
            </a:r>
            <a:endParaRPr lang="en-IN" sz="4400" b="1" dirty="0"/>
          </a:p>
        </p:txBody>
      </p:sp>
    </p:spTree>
    <p:extLst>
      <p:ext uri="{BB962C8B-B14F-4D97-AF65-F5344CB8AC3E}">
        <p14:creationId xmlns:p14="http://schemas.microsoft.com/office/powerpoint/2010/main" val="56213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IN" sz="4400" b="1" dirty="0"/>
              <a:t>Laws of Thermodynamics</a:t>
            </a:r>
          </a:p>
        </p:txBody>
      </p:sp>
      <p:sp>
        <p:nvSpPr>
          <p:cNvPr id="3" name="Rectangle 2"/>
          <p:cNvSpPr/>
          <p:nvPr/>
        </p:nvSpPr>
        <p:spPr>
          <a:xfrm>
            <a:off x="0" y="788453"/>
            <a:ext cx="9144000" cy="5078313"/>
          </a:xfrm>
          <a:prstGeom prst="rect">
            <a:avLst/>
          </a:prstGeom>
        </p:spPr>
        <p:txBody>
          <a:bodyPr wrap="square">
            <a:spAutoFit/>
          </a:bodyPr>
          <a:lstStyle/>
          <a:p>
            <a:pPr>
              <a:lnSpc>
                <a:spcPct val="150000"/>
              </a:lnSpc>
            </a:pPr>
            <a:r>
              <a:rPr lang="en-US" sz="2400" dirty="0">
                <a:latin typeface="Times New Roman" pitchFamily="18" charset="0"/>
                <a:cs typeface="Times New Roman" pitchFamily="18" charset="0"/>
              </a:rPr>
              <a:t>The generalized laws of thermodynamics are</a:t>
            </a:r>
          </a:p>
          <a:p>
            <a:pPr marL="815975" indent="-285750">
              <a:lnSpc>
                <a:spcPct val="150000"/>
              </a:lnSpc>
              <a:buFont typeface="Wingdings" pitchFamily="2" charset="2"/>
              <a:buChar char="ü"/>
            </a:pPr>
            <a:r>
              <a:rPr lang="en-US" sz="2400" b="1" dirty="0" err="1">
                <a:solidFill>
                  <a:srgbClr val="00B050"/>
                </a:solidFill>
                <a:latin typeface="Times New Roman" pitchFamily="18" charset="0"/>
                <a:cs typeface="Times New Roman" pitchFamily="18" charset="0"/>
              </a:rPr>
              <a:t>Zeroth</a:t>
            </a:r>
            <a:r>
              <a:rPr lang="en-US" sz="2400" b="1" dirty="0">
                <a:solidFill>
                  <a:srgbClr val="00B050"/>
                </a:solidFill>
                <a:latin typeface="Times New Roman" pitchFamily="18" charset="0"/>
                <a:cs typeface="Times New Roman" pitchFamily="18" charset="0"/>
              </a:rPr>
              <a:t> law </a:t>
            </a:r>
            <a:r>
              <a:rPr lang="en-US" sz="2400" dirty="0">
                <a:latin typeface="Times New Roman" pitchFamily="18" charset="0"/>
                <a:cs typeface="Times New Roman" pitchFamily="18" charset="0"/>
              </a:rPr>
              <a:t>of thermodynamics states that if two systems are in thermal  equilibrium with a third system then they are in thermal equilibrium with each other</a:t>
            </a:r>
          </a:p>
          <a:p>
            <a:pPr marL="815975" indent="-285750">
              <a:lnSpc>
                <a:spcPct val="150000"/>
              </a:lnSpc>
              <a:buFont typeface="Wingdings" pitchFamily="2" charset="2"/>
              <a:buChar char="ü"/>
            </a:pPr>
            <a:r>
              <a:rPr lang="en-US" sz="2400" b="1" dirty="0">
                <a:solidFill>
                  <a:srgbClr val="00B050"/>
                </a:solidFill>
                <a:latin typeface="Times New Roman" pitchFamily="18" charset="0"/>
                <a:cs typeface="Times New Roman" pitchFamily="18" charset="0"/>
              </a:rPr>
              <a:t>First law </a:t>
            </a:r>
            <a:r>
              <a:rPr lang="en-US" sz="2400" dirty="0">
                <a:latin typeface="Times New Roman" pitchFamily="18" charset="0"/>
                <a:cs typeface="Times New Roman" pitchFamily="18" charset="0"/>
              </a:rPr>
              <a:t>of the conservation of energy which represents the connection between heat and mechanical work.</a:t>
            </a:r>
          </a:p>
          <a:p>
            <a:pPr marL="815975" indent="-285750">
              <a:lnSpc>
                <a:spcPct val="150000"/>
              </a:lnSpc>
              <a:buFont typeface="Wingdings" pitchFamily="2" charset="2"/>
              <a:buChar char="ü"/>
            </a:pPr>
            <a:r>
              <a:rPr lang="en-US" sz="2400" b="1" dirty="0">
                <a:solidFill>
                  <a:srgbClr val="00B050"/>
                </a:solidFill>
                <a:latin typeface="Times New Roman" pitchFamily="18" charset="0"/>
                <a:cs typeface="Times New Roman" pitchFamily="18" charset="0"/>
              </a:rPr>
              <a:t>Second law </a:t>
            </a:r>
            <a:r>
              <a:rPr lang="en-US" sz="2400" dirty="0">
                <a:latin typeface="Times New Roman" pitchFamily="18" charset="0"/>
                <a:cs typeface="Times New Roman" pitchFamily="18" charset="0"/>
              </a:rPr>
              <a:t>deals with the entropy change in the system and the manner in which energy change takes place.</a:t>
            </a:r>
          </a:p>
          <a:p>
            <a:pPr marL="815975" indent="-285750">
              <a:lnSpc>
                <a:spcPct val="150000"/>
              </a:lnSpc>
              <a:buFont typeface="Wingdings" pitchFamily="2" charset="2"/>
              <a:buChar char="ü"/>
            </a:pPr>
            <a:r>
              <a:rPr lang="en-US" sz="2400" b="1" dirty="0">
                <a:solidFill>
                  <a:srgbClr val="00B050"/>
                </a:solidFill>
                <a:latin typeface="Times New Roman" pitchFamily="18" charset="0"/>
                <a:cs typeface="Times New Roman" pitchFamily="18" charset="0"/>
              </a:rPr>
              <a:t>Third law </a:t>
            </a:r>
            <a:r>
              <a:rPr lang="en-US" sz="2400" dirty="0">
                <a:latin typeface="Times New Roman" pitchFamily="18" charset="0"/>
                <a:cs typeface="Times New Roman" pitchFamily="18" charset="0"/>
              </a:rPr>
              <a:t>deals with the absolute value of entropy.</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2662827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IN" sz="4400" b="1" dirty="0" err="1"/>
              <a:t>Zeroth</a:t>
            </a:r>
            <a:r>
              <a:rPr lang="en-IN" sz="4400" b="1" dirty="0"/>
              <a:t> law of Thermodynamics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154" y="5013176"/>
            <a:ext cx="5391150" cy="1638300"/>
          </a:xfrm>
          <a:prstGeom prst="rect">
            <a:avLst/>
          </a:prstGeom>
          <a:ln w="9525">
            <a:solidFill>
              <a:schemeClr val="tx1"/>
            </a:solid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5" name="Rectangle 4"/>
          <p:cNvSpPr/>
          <p:nvPr/>
        </p:nvSpPr>
        <p:spPr>
          <a:xfrm>
            <a:off x="251520" y="764704"/>
            <a:ext cx="8712968" cy="4154984"/>
          </a:xfrm>
          <a:prstGeom prst="rect">
            <a:avLst/>
          </a:prstGeom>
        </p:spPr>
        <p:txBody>
          <a:bodyPr wrap="square">
            <a:spAutoFit/>
          </a:bodyPr>
          <a:lstStyle/>
          <a:p>
            <a:pPr marL="285750" indent="-285750">
              <a:buFont typeface="Arial" pitchFamily="34" charset="0"/>
              <a:buChar char="•"/>
            </a:pPr>
            <a:r>
              <a:rPr lang="en-US" sz="2400" b="1" dirty="0" err="1">
                <a:latin typeface="Times New Roman" pitchFamily="18" charset="0"/>
                <a:cs typeface="Times New Roman" pitchFamily="18" charset="0"/>
              </a:rPr>
              <a:t>zeroth</a:t>
            </a:r>
            <a:r>
              <a:rPr lang="en-US" sz="2400" b="1" dirty="0">
                <a:latin typeface="Times New Roman" pitchFamily="18" charset="0"/>
                <a:cs typeface="Times New Roman" pitchFamily="18" charset="0"/>
              </a:rPr>
              <a:t> law of thermodynamics was formulated after first law of thermodynamics but was of primary importance thus called </a:t>
            </a:r>
            <a:r>
              <a:rPr lang="en-US" sz="2400" b="1" dirty="0" err="1">
                <a:latin typeface="Times New Roman" pitchFamily="18" charset="0"/>
                <a:cs typeface="Times New Roman" pitchFamily="18" charset="0"/>
              </a:rPr>
              <a:t>Zeroth</a:t>
            </a:r>
            <a:r>
              <a:rPr lang="en-US" sz="2400" b="1" dirty="0">
                <a:latin typeface="Times New Roman" pitchFamily="18" charset="0"/>
                <a:cs typeface="Times New Roman" pitchFamily="18" charset="0"/>
              </a:rPr>
              <a:t> law.</a:t>
            </a:r>
          </a:p>
          <a:p>
            <a:pPr marL="285750" indent="-285750">
              <a:buFont typeface="Arial" pitchFamily="34" charset="0"/>
              <a:buChar char="•"/>
            </a:pPr>
            <a:r>
              <a:rPr lang="en-US" sz="2400" b="1" dirty="0">
                <a:latin typeface="Times New Roman" pitchFamily="18" charset="0"/>
                <a:cs typeface="Times New Roman" pitchFamily="18" charset="0"/>
              </a:rPr>
              <a:t>This law states that if two systems are in thermal equilibrium with a third system then they are in thermal equilibrium with each other i.e. if body A is in equilibrium with body C and body B is also in equilibrium with body C, then both the bodies are in equilibrium with each other. In other words if systems A and B are placed in contact with each other, then no exchange of heat will take place.</a:t>
            </a:r>
          </a:p>
          <a:p>
            <a:pPr marL="285750" indent="-285750">
              <a:buFont typeface="Arial" pitchFamily="34" charset="0"/>
              <a:buChar char="•"/>
            </a:pPr>
            <a:r>
              <a:rPr lang="en-US" sz="2400" b="1" dirty="0">
                <a:latin typeface="Times New Roman" pitchFamily="18" charset="0"/>
                <a:cs typeface="Times New Roman" pitchFamily="18" charset="0"/>
              </a:rPr>
              <a:t>The use of thermometer is based on this principle. </a:t>
            </a:r>
            <a:endParaRPr lang="en-IN"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2165990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IN" sz="4400" b="1" dirty="0"/>
              <a:t>First law of Thermodynamics</a:t>
            </a:r>
          </a:p>
        </p:txBody>
      </p:sp>
      <p:sp>
        <p:nvSpPr>
          <p:cNvPr id="5" name="Rectangle 4"/>
          <p:cNvSpPr/>
          <p:nvPr/>
        </p:nvSpPr>
        <p:spPr>
          <a:xfrm>
            <a:off x="251520" y="980728"/>
            <a:ext cx="8784976" cy="5632311"/>
          </a:xfrm>
          <a:prstGeom prst="rect">
            <a:avLst/>
          </a:prstGeom>
        </p:spPr>
        <p:txBody>
          <a:bodyPr wrap="square">
            <a:spAutoFit/>
          </a:bodyPr>
          <a:lstStyle/>
          <a:p>
            <a:pPr marL="285750" indent="-285750" algn="just">
              <a:lnSpc>
                <a:spcPct val="150000"/>
              </a:lnSpc>
              <a:buFont typeface="Wingdings" pitchFamily="2" charset="2"/>
              <a:buChar char="ü"/>
            </a:pPr>
            <a:r>
              <a:rPr lang="en-US" sz="2400" b="1" dirty="0">
                <a:latin typeface="Times New Roman" pitchFamily="18" charset="0"/>
                <a:cs typeface="Times New Roman" pitchFamily="18" charset="0"/>
              </a:rPr>
              <a:t>The first law of thermodynamics deals with the relation between the change in the energy with work and heat. </a:t>
            </a:r>
          </a:p>
          <a:p>
            <a:pPr marL="285750" indent="-285750" algn="just">
              <a:lnSpc>
                <a:spcPct val="150000"/>
              </a:lnSpc>
              <a:buFont typeface="Wingdings" pitchFamily="2" charset="2"/>
              <a:buChar char="ü"/>
            </a:pPr>
            <a:r>
              <a:rPr lang="en-US" sz="2400" b="1" dirty="0">
                <a:latin typeface="Times New Roman" pitchFamily="18" charset="0"/>
                <a:cs typeface="Times New Roman" pitchFamily="18" charset="0"/>
              </a:rPr>
              <a:t>This law is also known as the law of conservation of energy.</a:t>
            </a:r>
          </a:p>
          <a:p>
            <a:pPr marL="285750" indent="-285750" algn="just">
              <a:lnSpc>
                <a:spcPct val="150000"/>
              </a:lnSpc>
              <a:buFont typeface="Wingdings" pitchFamily="2" charset="2"/>
              <a:buChar char="ü"/>
            </a:pPr>
            <a:r>
              <a:rPr lang="en-US" sz="2400" b="1" dirty="0">
                <a:latin typeface="Times New Roman" pitchFamily="18" charset="0"/>
                <a:cs typeface="Times New Roman" pitchFamily="18" charset="0"/>
              </a:rPr>
              <a:t>“Energy can neither be created nor destroyed, although it can transformed from one from to another.”</a:t>
            </a:r>
          </a:p>
          <a:p>
            <a:pPr marL="285750" indent="-285750" algn="just">
              <a:lnSpc>
                <a:spcPct val="150000"/>
              </a:lnSpc>
              <a:buFont typeface="Wingdings" pitchFamily="2" charset="2"/>
              <a:buChar char="ü"/>
            </a:pPr>
            <a:r>
              <a:rPr lang="en-US" sz="2400" b="1" dirty="0">
                <a:latin typeface="Times New Roman" pitchFamily="18" charset="0"/>
                <a:cs typeface="Times New Roman" pitchFamily="18" charset="0"/>
              </a:rPr>
              <a:t>Energy can be produced by the destruction of mass, the two quantities being</a:t>
            </a:r>
          </a:p>
          <a:p>
            <a:pPr marL="285750" indent="-285750" algn="just">
              <a:lnSpc>
                <a:spcPct val="150000"/>
              </a:lnSpc>
              <a:buFont typeface="Wingdings" pitchFamily="2" charset="2"/>
              <a:buChar char="ü"/>
            </a:pPr>
            <a:r>
              <a:rPr lang="en-US" sz="2400" b="1" dirty="0">
                <a:latin typeface="Times New Roman" pitchFamily="18" charset="0"/>
                <a:cs typeface="Times New Roman" pitchFamily="18" charset="0"/>
              </a:rPr>
              <a:t>related by the expression E = mc</a:t>
            </a:r>
            <a:r>
              <a:rPr lang="en-US" sz="2400" b="1" baseline="30000" dirty="0">
                <a:latin typeface="Times New Roman" pitchFamily="18" charset="0"/>
                <a:cs typeface="Times New Roman" pitchFamily="18" charset="0"/>
              </a:rPr>
              <a:t>2</a:t>
            </a:r>
            <a:r>
              <a:rPr lang="en-US" sz="2400" b="1" dirty="0">
                <a:latin typeface="Times New Roman" pitchFamily="18" charset="0"/>
                <a:cs typeface="Times New Roman" pitchFamily="18" charset="0"/>
              </a:rPr>
              <a:t> (Einstein Equation).</a:t>
            </a:r>
          </a:p>
          <a:p>
            <a:pPr marL="285750" indent="-285750" algn="just">
              <a:lnSpc>
                <a:spcPct val="150000"/>
              </a:lnSpc>
              <a:buFont typeface="Wingdings" pitchFamily="2" charset="2"/>
              <a:buChar char="ü"/>
            </a:pPr>
            <a:r>
              <a:rPr lang="en-US" sz="2400" b="1" dirty="0">
                <a:solidFill>
                  <a:srgbClr val="00B050"/>
                </a:solidFill>
                <a:effectLst>
                  <a:outerShdw blurRad="38100" dist="38100" dir="2700000" algn="tl">
                    <a:srgbClr val="000000">
                      <a:alpha val="43137"/>
                    </a:srgbClr>
                  </a:outerShdw>
                </a:effectLst>
                <a:latin typeface="Times New Roman" pitchFamily="18" charset="0"/>
                <a:cs typeface="Times New Roman" pitchFamily="18" charset="0"/>
              </a:rPr>
              <a:t>Modified Law: The total mass and energy of an isolated system remains unchanged.</a:t>
            </a:r>
            <a:endParaRPr lang="en-IN" sz="2400" b="1" dirty="0">
              <a:solidFill>
                <a:srgbClr val="00B050"/>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877342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32656"/>
            <a:ext cx="8964488" cy="1600438"/>
          </a:xfrm>
          <a:prstGeom prst="rect">
            <a:avLst/>
          </a:prstGeom>
        </p:spPr>
        <p:txBody>
          <a:bodyPr wrap="square">
            <a:spAutoFit/>
          </a:bodyPr>
          <a:lstStyle/>
          <a:p>
            <a:r>
              <a:rPr lang="en-US" sz="2600" b="1" dirty="0">
                <a:effectLst>
                  <a:outerShdw blurRad="38100" dist="38100" dir="2700000" algn="tl">
                    <a:srgbClr val="000000">
                      <a:alpha val="43137"/>
                    </a:srgbClr>
                  </a:outerShdw>
                </a:effectLst>
              </a:rPr>
              <a:t>Mathematical Formulation of the First Law of Thermodynamics</a:t>
            </a:r>
          </a:p>
          <a:p>
            <a:endParaRPr lang="en-US" dirty="0"/>
          </a:p>
          <a:p>
            <a:pPr>
              <a:lnSpc>
                <a:spcPct val="150000"/>
              </a:lnSpc>
            </a:pPr>
            <a:r>
              <a:rPr lang="en-US" dirty="0"/>
              <a:t>	</a:t>
            </a:r>
            <a:r>
              <a:rPr lang="en-US" b="1" dirty="0">
                <a:solidFill>
                  <a:srgbClr val="C00000"/>
                </a:solidFill>
                <a:latin typeface="Times New Roman" pitchFamily="18" charset="0"/>
                <a:cs typeface="Times New Roman" pitchFamily="18" charset="0"/>
              </a:rPr>
              <a:t>Suppose a system is subjected to change of pressure and volume, let initial state</a:t>
            </a:r>
          </a:p>
          <a:p>
            <a:pPr>
              <a:lnSpc>
                <a:spcPct val="150000"/>
              </a:lnSpc>
            </a:pPr>
            <a:r>
              <a:rPr lang="en-US" b="1" dirty="0">
                <a:solidFill>
                  <a:srgbClr val="C00000"/>
                </a:solidFill>
                <a:latin typeface="Times New Roman" pitchFamily="18" charset="0"/>
                <a:cs typeface="Times New Roman" pitchFamily="18" charset="0"/>
              </a:rPr>
              <a:t>be A and find state represented as B.</a:t>
            </a:r>
            <a:endParaRPr lang="en-IN" b="1" dirty="0">
              <a:solidFill>
                <a:srgbClr val="C00000"/>
              </a:solidFill>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420888"/>
            <a:ext cx="6257925" cy="41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6992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566" y="902325"/>
            <a:ext cx="9144000" cy="5632311"/>
          </a:xfrm>
          <a:prstGeom prst="rect">
            <a:avLst/>
          </a:prstGeom>
        </p:spPr>
        <p:txBody>
          <a:bodyPr wrap="square">
            <a:spAutoFit/>
          </a:bodyPr>
          <a:lstStyle/>
          <a:p>
            <a:pPr marL="285750" indent="-285750">
              <a:buFont typeface="Wingdings" pitchFamily="2" charset="2"/>
              <a:buChar char="Ø"/>
            </a:pPr>
            <a:r>
              <a:rPr lang="en-US" sz="2400" b="1" dirty="0">
                <a:latin typeface="Times New Roman" pitchFamily="18" charset="0"/>
                <a:cs typeface="Times New Roman" pitchFamily="18" charset="0"/>
              </a:rPr>
              <a:t>A definite amount of energy which is present in every substance that depends upon its chemical nature as well as upon its temperature, pressure and volume. This energy is known as internal energy.</a:t>
            </a:r>
          </a:p>
          <a:p>
            <a:pPr marL="285750" indent="-285750">
              <a:buFont typeface="Wingdings" pitchFamily="2" charset="2"/>
              <a:buChar char="Ø"/>
            </a:pPr>
            <a:r>
              <a:rPr lang="en-US" sz="2400" b="1" dirty="0">
                <a:latin typeface="Times New Roman" pitchFamily="18" charset="0"/>
                <a:cs typeface="Times New Roman" pitchFamily="18" charset="0"/>
              </a:rPr>
              <a:t>The chemical nature includes such </a:t>
            </a:r>
            <a:r>
              <a:rPr lang="en-US" sz="2400" b="1" dirty="0" err="1">
                <a:latin typeface="Times New Roman" pitchFamily="18" charset="0"/>
                <a:cs typeface="Times New Roman" pitchFamily="18" charset="0"/>
              </a:rPr>
              <a:t>indeterminant</a:t>
            </a:r>
            <a:r>
              <a:rPr lang="en-US" sz="2400" b="1" dirty="0">
                <a:latin typeface="Times New Roman" pitchFamily="18" charset="0"/>
                <a:cs typeface="Times New Roman" pitchFamily="18" charset="0"/>
              </a:rPr>
              <a:t> factors as the translational, rotational and vibrational movements of the molecules, the manner in which the molecules are put together, the nature of the individual atoms, the arrangement and number of electrons, the energy possessed by the nucleus etc. therefore, exact magnitude of the energy is not known.</a:t>
            </a:r>
          </a:p>
          <a:p>
            <a:pPr marL="285750" indent="-285750">
              <a:buFont typeface="Wingdings" pitchFamily="2" charset="2"/>
              <a:buChar char="Ø"/>
            </a:pPr>
            <a:r>
              <a:rPr lang="en-US" sz="2400" b="1" dirty="0">
                <a:latin typeface="Times New Roman" pitchFamily="18" charset="0"/>
                <a:cs typeface="Times New Roman" pitchFamily="18" charset="0"/>
              </a:rPr>
              <a:t>Internal energy of a substance or a system is a definite quantity and it is a function only of the state (i.e., chemical nature, composition, temperature, pressure and volume) of the system at the given moment, irrespective of the manner in which that state has been reached.</a:t>
            </a:r>
            <a:endParaRPr lang="en-IN" sz="2400" b="1" dirty="0">
              <a:latin typeface="Times New Roman" pitchFamily="18" charset="0"/>
              <a:cs typeface="Times New Roman" pitchFamily="18" charset="0"/>
            </a:endParaRPr>
          </a:p>
        </p:txBody>
      </p:sp>
      <p:sp>
        <p:nvSpPr>
          <p:cNvPr id="3" name="Rectangle 2"/>
          <p:cNvSpPr/>
          <p:nvPr/>
        </p:nvSpPr>
        <p:spPr>
          <a:xfrm>
            <a:off x="3751751" y="6165304"/>
            <a:ext cx="242374" cy="369332"/>
          </a:xfrm>
          <a:prstGeom prst="rect">
            <a:avLst/>
          </a:prstGeom>
        </p:spPr>
        <p:txBody>
          <a:bodyPr wrap="none">
            <a:spAutoFit/>
          </a:bodyPr>
          <a:lstStyle/>
          <a:p>
            <a:r>
              <a:rPr lang="en-US" dirty="0"/>
              <a:t>.</a:t>
            </a:r>
            <a:endParaRPr lang="en-IN" dirty="0"/>
          </a:p>
        </p:txBody>
      </p:sp>
      <p:sp>
        <p:nvSpPr>
          <p:cNvPr id="4" name="Rectangle 3"/>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US" sz="4400" dirty="0"/>
              <a:t>Internal Energy</a:t>
            </a:r>
            <a:endParaRPr lang="en-IN" sz="4400" b="1" dirty="0"/>
          </a:p>
        </p:txBody>
      </p:sp>
    </p:spTree>
    <p:extLst>
      <p:ext uri="{BB962C8B-B14F-4D97-AF65-F5344CB8AC3E}">
        <p14:creationId xmlns:p14="http://schemas.microsoft.com/office/powerpoint/2010/main" val="2613861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6944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algn="ctr"/>
            <a:r>
              <a:rPr lang="en-US" sz="4400" b="1" dirty="0"/>
              <a:t>Enthalpy</a:t>
            </a:r>
            <a:endParaRPr lang="en-IN" sz="4400" b="1" dirty="0"/>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5202"/>
          <a:stretch/>
        </p:blipFill>
        <p:spPr bwMode="auto">
          <a:xfrm>
            <a:off x="0" y="1772816"/>
            <a:ext cx="9215364" cy="396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769441"/>
            <a:ext cx="9144000" cy="707886"/>
          </a:xfrm>
          <a:prstGeom prst="rect">
            <a:avLst/>
          </a:prstGeom>
        </p:spPr>
        <p:txBody>
          <a:bodyPr wrap="square">
            <a:spAutoFit/>
          </a:bodyPr>
          <a:lstStyle/>
          <a:p>
            <a:r>
              <a:rPr lang="en-US" sz="2000" b="1" dirty="0">
                <a:latin typeface="Times New Roman" pitchFamily="18" charset="0"/>
                <a:cs typeface="Times New Roman" pitchFamily="18" charset="0"/>
              </a:rPr>
              <a:t>	Let change of state of a system is brought about at constant P and there will be a change in Volume (V).</a:t>
            </a:r>
            <a:endParaRPr lang="en-IN"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3712625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60418"/>
          <a:stretch/>
        </p:blipFill>
        <p:spPr bwMode="auto">
          <a:xfrm>
            <a:off x="179512" y="1484784"/>
            <a:ext cx="8807860"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8647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2679</TotalTime>
  <Words>625</Words>
  <Application>Microsoft Office PowerPoint</Application>
  <PresentationFormat>On-screen Show (4:3)</PresentationFormat>
  <Paragraphs>49</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nadec biju</cp:lastModifiedBy>
  <cp:revision>15</cp:revision>
  <dcterms:created xsi:type="dcterms:W3CDTF">2023-01-26T16:44:42Z</dcterms:created>
  <dcterms:modified xsi:type="dcterms:W3CDTF">2023-02-21T07:51:04Z</dcterms:modified>
</cp:coreProperties>
</file>