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56" r:id="rId3"/>
    <p:sldId id="258" r:id="rId4"/>
    <p:sldId id="259" r:id="rId5"/>
    <p:sldId id="269" r:id="rId6"/>
    <p:sldId id="267" r:id="rId7"/>
    <p:sldId id="270" r:id="rId8"/>
    <p:sldId id="268" r:id="rId9"/>
    <p:sldId id="265" r:id="rId10"/>
    <p:sldId id="266" r:id="rId11"/>
    <p:sldId id="260" r:id="rId12"/>
    <p:sldId id="261" r:id="rId13"/>
    <p:sldId id="262" r:id="rId14"/>
    <p:sldId id="263" r:id="rId15"/>
    <p:sldId id="264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84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34AC6-DDFD-4087-8CA9-11C27E529B9B}" type="datetimeFigureOut">
              <a:rPr lang="en-US" smtClean="0"/>
              <a:t>1/5/2018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71E5A-878D-416A-93B1-0EFB344AC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55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A108D-79B0-4FA9-941A-584C10B8CBBB}" type="datetimeFigureOut">
              <a:rPr lang="en-IN" smtClean="0"/>
              <a:t>05-01-2018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A8F2-FA14-4916-9992-2C6B78BF0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559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A108D-79B0-4FA9-941A-584C10B8CBBB}" type="datetimeFigureOut">
              <a:rPr lang="en-IN" smtClean="0"/>
              <a:t>05-01-2018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A8F2-FA14-4916-9992-2C6B78BF0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527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A108D-79B0-4FA9-941A-584C10B8CBBB}" type="datetimeFigureOut">
              <a:rPr lang="en-IN" smtClean="0"/>
              <a:t>05-01-2018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A8F2-FA14-4916-9992-2C6B78BF0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664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A108D-79B0-4FA9-941A-584C10B8CBBB}" type="datetimeFigureOut">
              <a:rPr lang="en-IN" smtClean="0"/>
              <a:t>05-01-2018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A8F2-FA14-4916-9992-2C6B78BF0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411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A108D-79B0-4FA9-941A-584C10B8CBBB}" type="datetimeFigureOut">
              <a:rPr lang="en-IN" smtClean="0"/>
              <a:t>05-01-2018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A8F2-FA14-4916-9992-2C6B78BF0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13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A108D-79B0-4FA9-941A-584C10B8CBBB}" type="datetimeFigureOut">
              <a:rPr lang="en-IN" smtClean="0"/>
              <a:t>05-01-2018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A8F2-FA14-4916-9992-2C6B78BF0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133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A108D-79B0-4FA9-941A-584C10B8CBBB}" type="datetimeFigureOut">
              <a:rPr lang="en-IN" smtClean="0"/>
              <a:t>05-01-2018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A8F2-FA14-4916-9992-2C6B78BF0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187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A108D-79B0-4FA9-941A-584C10B8CBBB}" type="datetimeFigureOut">
              <a:rPr lang="en-IN" smtClean="0"/>
              <a:t>05-01-2018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A8F2-FA14-4916-9992-2C6B78BF0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69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A108D-79B0-4FA9-941A-584C10B8CBBB}" type="datetimeFigureOut">
              <a:rPr lang="en-IN" smtClean="0"/>
              <a:t>05-01-2018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A8F2-FA14-4916-9992-2C6B78BF0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098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A108D-79B0-4FA9-941A-584C10B8CBBB}" type="datetimeFigureOut">
              <a:rPr lang="en-IN" smtClean="0"/>
              <a:t>05-01-2018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A8F2-FA14-4916-9992-2C6B78BF0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373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A108D-79B0-4FA9-941A-584C10B8CBBB}" type="datetimeFigureOut">
              <a:rPr lang="en-IN" smtClean="0"/>
              <a:t>05-01-2018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A8F2-FA14-4916-9992-2C6B78BF0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48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A108D-79B0-4FA9-941A-584C10B8CBBB}" type="datetimeFigureOut">
              <a:rPr lang="en-IN" smtClean="0"/>
              <a:t>05-01-2018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4A8F2-FA14-4916-9992-2C6B78BF05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566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7467600" cy="175259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Process Planning</a:t>
            </a:r>
            <a:br>
              <a:rPr lang="en-US" dirty="0" smtClean="0">
                <a:solidFill>
                  <a:srgbClr val="002060"/>
                </a:solidFill>
              </a:rPr>
            </a:br>
            <a:r>
              <a:rPr lang="en-US" dirty="0" smtClean="0">
                <a:solidFill>
                  <a:srgbClr val="002060"/>
                </a:solidFill>
              </a:rPr>
              <a:t>in</a:t>
            </a:r>
            <a:br>
              <a:rPr lang="en-US" dirty="0" smtClean="0">
                <a:solidFill>
                  <a:srgbClr val="002060"/>
                </a:solidFill>
              </a:rPr>
            </a:br>
            <a:r>
              <a:rPr lang="en-US" dirty="0" smtClean="0">
                <a:solidFill>
                  <a:srgbClr val="002060"/>
                </a:solidFill>
              </a:rPr>
              <a:t>Machining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4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09" y="1600200"/>
            <a:ext cx="8706465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2229" y="939567"/>
            <a:ext cx="5033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Component Name: Boring Tool Holder</a:t>
            </a:r>
            <a:endParaRPr lang="en-IN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77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6259" y="1295400"/>
            <a:ext cx="3581400" cy="2686050"/>
          </a:xfrm>
          <a:prstGeom prst="rect">
            <a:avLst/>
          </a:prstGeom>
          <a:noFill/>
          <a:ln/>
        </p:spPr>
      </p:pic>
      <p:sp>
        <p:nvSpPr>
          <p:cNvPr id="3" name="TextBox 2"/>
          <p:cNvSpPr txBox="1"/>
          <p:nvPr/>
        </p:nvSpPr>
        <p:spPr>
          <a:xfrm>
            <a:off x="551750" y="534690"/>
            <a:ext cx="2157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Sub-assembly: Turret</a:t>
            </a:r>
            <a:endParaRPr lang="en-IN" dirty="0"/>
          </a:p>
        </p:txBody>
      </p:sp>
      <p:pic>
        <p:nvPicPr>
          <p:cNvPr id="4" name="Picture 9" descr="VD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00" y="1676400"/>
            <a:ext cx="4531752" cy="3581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4648200"/>
            <a:ext cx="1981200" cy="1912937"/>
          </a:xfrm>
          <a:prstGeom prst="rect">
            <a:avLst/>
          </a:prstGeom>
          <a:noFill/>
          <a:ln/>
        </p:spPr>
      </p:pic>
      <p:sp>
        <p:nvSpPr>
          <p:cNvPr id="6" name="TextBox 5"/>
          <p:cNvSpPr txBox="1"/>
          <p:nvPr/>
        </p:nvSpPr>
        <p:spPr>
          <a:xfrm>
            <a:off x="762000" y="4300756"/>
            <a:ext cx="1736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Part: Tool holder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486400" y="990600"/>
            <a:ext cx="1644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Turret: Drawing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316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1" y="838200"/>
            <a:ext cx="8610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</a:rPr>
              <a:t>Process sheet/ Process layout: </a:t>
            </a:r>
            <a:r>
              <a:rPr lang="en-US" sz="2400" b="1" dirty="0" smtClean="0">
                <a:solidFill>
                  <a:srgbClr val="002060"/>
                </a:solidFill>
              </a:rPr>
              <a:t>Detailed sequence of operations on different machines to  make the part</a:t>
            </a:r>
          </a:p>
          <a:p>
            <a:r>
              <a:rPr lang="en-US" sz="2400" b="1" dirty="0" smtClean="0">
                <a:solidFill>
                  <a:srgbClr val="0070C0"/>
                </a:solidFill>
              </a:rPr>
              <a:t>Process planning: </a:t>
            </a:r>
            <a:r>
              <a:rPr lang="en-US" sz="2400" b="1" dirty="0" smtClean="0">
                <a:solidFill>
                  <a:srgbClr val="002060"/>
                </a:solidFill>
              </a:rPr>
              <a:t>an engineering activity performed to prepare the process sheet.</a:t>
            </a:r>
          </a:p>
          <a:p>
            <a:r>
              <a:rPr lang="en-US" sz="2400" b="1" dirty="0" smtClean="0">
                <a:solidFill>
                  <a:srgbClr val="0070C0"/>
                </a:solidFill>
              </a:rPr>
              <a:t>Requirement: </a:t>
            </a:r>
            <a:r>
              <a:rPr lang="en-US" sz="2400" b="1" dirty="0" smtClean="0">
                <a:solidFill>
                  <a:srgbClr val="002060"/>
                </a:solidFill>
              </a:rPr>
              <a:t>Knowledge of machining processes, machines, time estimation, </a:t>
            </a:r>
            <a:r>
              <a:rPr lang="en-US" sz="2400" b="1" dirty="0" err="1" smtClean="0">
                <a:solidFill>
                  <a:srgbClr val="002060"/>
                </a:solidFill>
              </a:rPr>
              <a:t>toolings</a:t>
            </a:r>
            <a:r>
              <a:rPr lang="en-US" sz="2400" b="1" dirty="0" smtClean="0">
                <a:solidFill>
                  <a:srgbClr val="002060"/>
                </a:solidFill>
              </a:rPr>
              <a:t>, work materials</a:t>
            </a:r>
          </a:p>
          <a:p>
            <a:r>
              <a:rPr lang="en-US" sz="2400" b="1" dirty="0" smtClean="0">
                <a:solidFill>
                  <a:srgbClr val="0070C0"/>
                </a:solidFill>
              </a:rPr>
              <a:t>Computerized process planning: </a:t>
            </a:r>
            <a:r>
              <a:rPr lang="en-US" sz="2400" b="1" dirty="0" smtClean="0">
                <a:solidFill>
                  <a:srgbClr val="002060"/>
                </a:solidFill>
              </a:rPr>
              <a:t>Since each product and each company are different standard packages cannot do the job. Since the skill requirement is very high use of expert systems and/or artificial intelligence (AI) is required.</a:t>
            </a:r>
          </a:p>
          <a:p>
            <a:r>
              <a:rPr lang="en-US" sz="2400" b="1" dirty="0" smtClean="0">
                <a:solidFill>
                  <a:srgbClr val="002060"/>
                </a:solidFill>
              </a:rPr>
              <a:t>CAPP: </a:t>
            </a:r>
            <a:r>
              <a:rPr lang="en-US" sz="2400" b="1" dirty="0" smtClean="0">
                <a:solidFill>
                  <a:srgbClr val="0070C0"/>
                </a:solidFill>
              </a:rPr>
              <a:t>1) Retrieval type, 2) Generative type</a:t>
            </a:r>
            <a:endParaRPr lang="en-IN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599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09" y="1600200"/>
            <a:ext cx="8706465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2229" y="939567"/>
            <a:ext cx="5033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Component Name: Boring Tool Holder</a:t>
            </a:r>
            <a:endParaRPr lang="en-IN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88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72691"/>
            <a:ext cx="4876800" cy="6747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8600" y="374492"/>
            <a:ext cx="2315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Sample process layout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84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09" y="1600200"/>
            <a:ext cx="8706465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2229" y="939567"/>
            <a:ext cx="5033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Component Name: Boring Tool Holder</a:t>
            </a:r>
            <a:endParaRPr lang="en-IN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88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0"/>
            <a:ext cx="4949826" cy="6748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304800"/>
            <a:ext cx="2315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Sample process layout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84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Image result for machine sh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914400"/>
            <a:ext cx="6477000" cy="485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66800" y="424934"/>
            <a:ext cx="1922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2060"/>
                </a:solidFill>
              </a:rPr>
              <a:t>Machine shop- 1</a:t>
            </a:r>
            <a:endParaRPr lang="en-IN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45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85800"/>
            <a:ext cx="1750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Machine shop- 2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9218" name="Picture 2" descr="Image result for machine sh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6311900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52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75019"/>
            <a:ext cx="2019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Raw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050" y="701905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Bar stock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5943600" y="517239"/>
            <a:ext cx="956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Castings</a:t>
            </a:r>
            <a:endParaRPr lang="en-IN" dirty="0"/>
          </a:p>
        </p:txBody>
      </p:sp>
      <p:sp>
        <p:nvSpPr>
          <p:cNvPr id="5" name="AutoShape 2" descr="Image result for bar stoc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Image result for bar stock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4" name="Picture 6" descr="Image result for bar sto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66" y="1324294"/>
            <a:ext cx="2925282" cy="2189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encrypted-tbn1.gstatic.com/images?q=tbn:ANd9GcS2onttzegR_rAfqp6cdygBiQvTlaTtDeymDk4lOWlwG55BZwfVwyhN_Ck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07" y="3962400"/>
            <a:ext cx="2438400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10" descr="Image result for casting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12" descr="Image result for castings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4" descr="Image result for castings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64" name="Picture 16" descr="Image result for casting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109232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Image result for casting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547632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70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 result for band saw mach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Image result for metal band saw machin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Image result for metal band saw machin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8" descr="Image result for metal band saw machine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106" name="Picture 10" descr="Image result for metal band saw mach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524000"/>
            <a:ext cx="374332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26058" y="838200"/>
            <a:ext cx="11800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2060"/>
                </a:solidFill>
              </a:rPr>
              <a:t>Band saw</a:t>
            </a:r>
            <a:endParaRPr lang="en-IN" sz="2000" dirty="0">
              <a:solidFill>
                <a:srgbClr val="002060"/>
              </a:solidFill>
            </a:endParaRPr>
          </a:p>
        </p:txBody>
      </p:sp>
      <p:sp>
        <p:nvSpPr>
          <p:cNvPr id="7" name="AutoShape 12" descr="Image result for Nc turning"/>
          <p:cNvSpPr>
            <a:spLocks noChangeAspect="1" noChangeArrowheads="1"/>
          </p:cNvSpPr>
          <p:nvPr/>
        </p:nvSpPr>
        <p:spPr bwMode="auto">
          <a:xfrm>
            <a:off x="155575" y="-1074738"/>
            <a:ext cx="2247900" cy="22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14" descr="Image result for Nc turning"/>
          <p:cNvSpPr>
            <a:spLocks noChangeAspect="1" noChangeArrowheads="1"/>
          </p:cNvSpPr>
          <p:nvPr/>
        </p:nvSpPr>
        <p:spPr bwMode="auto">
          <a:xfrm>
            <a:off x="307975" y="-922338"/>
            <a:ext cx="2247900" cy="22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112" name="Picture 16" descr="Image result for Nc turn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057400"/>
            <a:ext cx="2247900" cy="22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109420" y="980102"/>
            <a:ext cx="1286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NC- Turning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38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V mill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2971800" cy="490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3400" y="762000"/>
            <a:ext cx="1581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Vertical Milling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AutoShape 4" descr="Image result for fitting operation filing"/>
          <p:cNvSpPr>
            <a:spLocks noChangeAspect="1" noChangeArrowheads="1"/>
          </p:cNvSpPr>
          <p:nvPr/>
        </p:nvSpPr>
        <p:spPr bwMode="auto">
          <a:xfrm>
            <a:off x="155575" y="-1431925"/>
            <a:ext cx="5324475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Image result for fitting operation filing"/>
          <p:cNvSpPr>
            <a:spLocks noChangeAspect="1" noChangeArrowheads="1"/>
          </p:cNvSpPr>
          <p:nvPr/>
        </p:nvSpPr>
        <p:spPr bwMode="auto">
          <a:xfrm>
            <a:off x="307975" y="-1279525"/>
            <a:ext cx="5324475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128" name="Picture 8" descr="Image result for fitting operation fil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437" y="1371600"/>
            <a:ext cx="5019675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10437" y="838200"/>
            <a:ext cx="777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Fitting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87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 result for drilling met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76401"/>
            <a:ext cx="3556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 result for internal grind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399" y="1676400"/>
            <a:ext cx="4122173" cy="274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2400" y="1191128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Drilling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68566" y="1191128"/>
            <a:ext cx="1776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Internal Grinding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607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cylindrical grind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981200"/>
            <a:ext cx="5324475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95400" y="1524000"/>
            <a:ext cx="1976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Cylindrical grinding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399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ea typeface="+mj-ea"/>
              </a:rPr>
              <a:t>Process Planning Approaches</a:t>
            </a:r>
            <a:endParaRPr lang="ar-SA" dirty="0">
              <a:solidFill>
                <a:schemeClr val="tx2">
                  <a:satMod val="130000"/>
                </a:schemeClr>
              </a:solidFill>
              <a:ea typeface="+mj-ea"/>
            </a:endParaRP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endParaRPr lang="en-US" altLang="en-US" dirty="0" smtClean="0">
              <a:cs typeface="Majalla UI"/>
            </a:endParaRPr>
          </a:p>
          <a:p>
            <a:pPr algn="l" rtl="0"/>
            <a:r>
              <a:rPr lang="en-US" altLang="en-US" dirty="0" smtClean="0">
                <a:cs typeface="Majalla UI"/>
              </a:rPr>
              <a:t>Manual Systems</a:t>
            </a:r>
          </a:p>
          <a:p>
            <a:pPr algn="l" rtl="0"/>
            <a:r>
              <a:rPr lang="en-US" altLang="en-US" dirty="0" smtClean="0">
                <a:cs typeface="Majalla UI"/>
              </a:rPr>
              <a:t>Computer Aids</a:t>
            </a:r>
          </a:p>
          <a:p>
            <a:pPr lvl="1" algn="l" rtl="0"/>
            <a:r>
              <a:rPr lang="en-US" altLang="en-US" dirty="0" smtClean="0">
                <a:cs typeface="Majalla UI"/>
              </a:rPr>
              <a:t>Variant </a:t>
            </a:r>
            <a:r>
              <a:rPr lang="en-US" altLang="en-US" dirty="0" smtClean="0">
                <a:cs typeface="Majalla UI"/>
              </a:rPr>
              <a:t>System, retrieval system</a:t>
            </a:r>
            <a:endParaRPr lang="en-US" altLang="en-US" dirty="0" smtClean="0">
              <a:cs typeface="Majalla UI"/>
            </a:endParaRPr>
          </a:p>
          <a:p>
            <a:pPr lvl="1" algn="l" rtl="0"/>
            <a:r>
              <a:rPr lang="en-US" altLang="en-US" dirty="0" smtClean="0">
                <a:cs typeface="Majalla UI"/>
              </a:rPr>
              <a:t>Experimental Generative System</a:t>
            </a:r>
          </a:p>
          <a:p>
            <a:pPr algn="l" rtl="0"/>
            <a:endParaRPr lang="ar-SA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959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ea typeface="+mj-ea"/>
              </a:rPr>
              <a:t>Manually Prepared Process Plans</a:t>
            </a:r>
            <a:endParaRPr lang="ar-SA" dirty="0">
              <a:solidFill>
                <a:schemeClr val="tx2">
                  <a:satMod val="130000"/>
                </a:schemeClr>
              </a:solidFill>
              <a:ea typeface="+mj-ea"/>
            </a:endParaRPr>
          </a:p>
        </p:txBody>
      </p:sp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1500188"/>
            <a:ext cx="7594600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258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ea typeface="+mj-ea"/>
              </a:rPr>
              <a:t>Computer Aids</a:t>
            </a:r>
            <a:endParaRPr lang="ar-SA" dirty="0">
              <a:solidFill>
                <a:schemeClr val="tx2">
                  <a:satMod val="130000"/>
                </a:schemeClr>
              </a:solidFill>
              <a:ea typeface="+mj-ea"/>
            </a:endParaRPr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1785938"/>
            <a:ext cx="8001000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12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563" y="274638"/>
            <a:ext cx="8072437" cy="1143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ea typeface="+mj-ea"/>
              </a:rPr>
              <a:t>Variant (Retrieval) CAPP Methodology</a:t>
            </a:r>
            <a:endParaRPr lang="ar-SA" dirty="0">
              <a:solidFill>
                <a:schemeClr val="tx2">
                  <a:satMod val="130000"/>
                </a:schemeClr>
              </a:solidFill>
              <a:ea typeface="+mj-ea"/>
            </a:endParaRPr>
          </a:p>
        </p:txBody>
      </p:sp>
      <p:pic>
        <p:nvPicPr>
          <p:cNvPr id="2867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1785938"/>
            <a:ext cx="7929562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905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4438" y="274638"/>
            <a:ext cx="7720012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ea typeface="+mj-ea"/>
              </a:rPr>
              <a:t>Variant CAPP</a:t>
            </a:r>
            <a:endParaRPr lang="ar-SA" dirty="0">
              <a:solidFill>
                <a:schemeClr val="tx2">
                  <a:satMod val="130000"/>
                </a:schemeClr>
              </a:solidFill>
              <a:ea typeface="+mj-ea"/>
            </a:endParaRPr>
          </a:p>
        </p:txBody>
      </p:sp>
      <p:pic>
        <p:nvPicPr>
          <p:cNvPr id="2969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1643063"/>
            <a:ext cx="7929562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92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ea typeface="+mj-ea"/>
              </a:rPr>
              <a:t>Variant CAPP</a:t>
            </a:r>
            <a:endParaRPr lang="ar-SA" dirty="0">
              <a:solidFill>
                <a:schemeClr val="tx2">
                  <a:satMod val="130000"/>
                </a:schemeClr>
              </a:solidFill>
              <a:ea typeface="+mj-ea"/>
            </a:endParaRP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1928813"/>
            <a:ext cx="7781925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562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5"/>
          <a:stretch>
            <a:fillRect/>
          </a:stretch>
        </p:blipFill>
        <p:spPr bwMode="auto">
          <a:xfrm>
            <a:off x="1071563" y="357188"/>
            <a:ext cx="7939087" cy="638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78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ea typeface="+mj-ea"/>
              </a:rPr>
              <a:t>Variant CAPP</a:t>
            </a:r>
            <a:endParaRPr lang="ar-SA" dirty="0">
              <a:solidFill>
                <a:schemeClr val="tx2">
                  <a:satMod val="130000"/>
                </a:schemeClr>
              </a:solidFill>
              <a:ea typeface="+mj-ea"/>
            </a:endParaRPr>
          </a:p>
        </p:txBody>
      </p:sp>
      <p:pic>
        <p:nvPicPr>
          <p:cNvPr id="3277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1643063"/>
            <a:ext cx="8143875" cy="486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993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  <a:ea typeface="+mj-ea"/>
              </a:rPr>
              <a:t>Generative CAPP Methodology</a:t>
            </a:r>
            <a:endParaRPr lang="ar-SA" dirty="0">
              <a:solidFill>
                <a:schemeClr val="tx2">
                  <a:satMod val="130000"/>
                </a:schemeClr>
              </a:solidFill>
              <a:ea typeface="+mj-ea"/>
            </a:endParaRPr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1714500"/>
            <a:ext cx="7929563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36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191</Words>
  <Application>Microsoft Office PowerPoint</Application>
  <PresentationFormat>On-screen Show (4:3)</PresentationFormat>
  <Paragraphs>39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Majalla UI</vt:lpstr>
      <vt:lpstr>Times New Roman</vt:lpstr>
      <vt:lpstr>Office Theme</vt:lpstr>
      <vt:lpstr>Process Planning in Machining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 Planning Approaches</vt:lpstr>
      <vt:lpstr>Manually Prepared Process Plans</vt:lpstr>
      <vt:lpstr>Computer Aids</vt:lpstr>
      <vt:lpstr>Variant (Retrieval) CAPP Methodology</vt:lpstr>
      <vt:lpstr>Variant CAPP</vt:lpstr>
      <vt:lpstr>Variant CAPP</vt:lpstr>
      <vt:lpstr>PowerPoint Presentation</vt:lpstr>
      <vt:lpstr>Variant CAPP</vt:lpstr>
      <vt:lpstr>Generative CAPP Methodology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Planning in Machining</dc:title>
  <dc:creator>admin</dc:creator>
  <cp:lastModifiedBy>nhj-mech</cp:lastModifiedBy>
  <cp:revision>16</cp:revision>
  <dcterms:created xsi:type="dcterms:W3CDTF">2016-10-20T14:11:46Z</dcterms:created>
  <dcterms:modified xsi:type="dcterms:W3CDTF">2018-01-05T07:00:19Z</dcterms:modified>
</cp:coreProperties>
</file>