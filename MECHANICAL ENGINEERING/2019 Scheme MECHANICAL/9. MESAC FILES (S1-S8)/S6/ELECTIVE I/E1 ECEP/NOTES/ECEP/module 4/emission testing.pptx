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68" r:id="rId11"/>
    <p:sldId id="277" r:id="rId12"/>
    <p:sldId id="258" r:id="rId13"/>
    <p:sldId id="278" r:id="rId14"/>
    <p:sldId id="280" r:id="rId15"/>
    <p:sldId id="279" r:id="rId16"/>
    <p:sldId id="282" r:id="rId17"/>
    <p:sldId id="283" r:id="rId18"/>
    <p:sldId id="281" r:id="rId19"/>
    <p:sldId id="284" r:id="rId20"/>
    <p:sldId id="286" r:id="rId21"/>
    <p:sldId id="28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D3854-48D1-4CC9-9C27-6C97B8E18810}" type="datetimeFigureOut">
              <a:rPr lang="en-IN" smtClean="0"/>
              <a:pPr/>
              <a:t>26-04-2020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09AC6-E23E-4A05-B595-C594D15A4DD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Emission testing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11E1-83C0-4C98-B903-45B199D8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TEST PROCEDURES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AAE7-AF73-4107-9417-26E899A71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br>
              <a:rPr lang="en-US" dirty="0"/>
            </a:br>
            <a:r>
              <a:rPr lang="en-US" dirty="0"/>
              <a:t>The vehicle emission limits are specified based on a standard test procedure, which includes;</a:t>
            </a:r>
          </a:p>
          <a:p>
            <a:pPr marL="0" indent="0" algn="just">
              <a:buNone/>
            </a:pP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A specified vehicle driving or engine operation schedule of varying speeds and loads which represents real life driving/usage pattern of the vehicles and engines. The test schedule of vehicle or engine operation is known as ‘driving cycle’.</a:t>
            </a:r>
          </a:p>
          <a:p>
            <a:pPr algn="just"/>
            <a:r>
              <a:rPr lang="en-US" dirty="0"/>
              <a:t>Use of emission sampling systems and analyzers that operate on the working principles specified in the emission regulations.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new production vehicles and engines are tested for compliance with the emission standards in a government approved laboratory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16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Units of Emission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dirty="0"/>
              <a:t>Two types of emission limits are specified in the standards </a:t>
            </a:r>
          </a:p>
          <a:p>
            <a:pPr>
              <a:buNone/>
            </a:pPr>
            <a:endParaRPr lang="en-IN" sz="2400" dirty="0"/>
          </a:p>
          <a:p>
            <a:r>
              <a:rPr lang="en-IN" sz="2400" dirty="0"/>
              <a:t>For the light and medium duty vehicles, passenger cars and, two and three wheelers are in terms of mass of pollutant emitted per unit distance travelled i.e., g/km ( g/mile in the USA , 1 g/km = 1.61 g/mile). </a:t>
            </a:r>
          </a:p>
          <a:p>
            <a:r>
              <a:rPr lang="en-IN" sz="2400" dirty="0"/>
              <a:t>For heavy duty vehicles and engines test is carried on the engine itself and the limits are specified in terms of mass of pollutant per unit of work done, i.e., g/kW-h or g/</a:t>
            </a:r>
            <a:r>
              <a:rPr lang="en-IN" sz="2400" dirty="0" err="1"/>
              <a:t>bhp</a:t>
            </a:r>
            <a:r>
              <a:rPr lang="en-IN" sz="2400" dirty="0"/>
              <a:t>-h (1 g/kW-h = 1.34 g/</a:t>
            </a:r>
            <a:r>
              <a:rPr lang="en-IN" sz="2400" dirty="0" err="1"/>
              <a:t>bhp</a:t>
            </a:r>
            <a:r>
              <a:rPr lang="en-IN" sz="2400" dirty="0"/>
              <a:t>-h)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Driving Cycles for Light Duty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The cycle is composed of a cold start period, idling, moderate acceleration and deceleration, and cruise modes.</a:t>
            </a:r>
          </a:p>
          <a:p>
            <a:pPr algn="just"/>
            <a:r>
              <a:rPr lang="en-IN" sz="2400" dirty="0"/>
              <a:t>The test cycle is given in terms of vehicle speed versus time.</a:t>
            </a:r>
          </a:p>
          <a:p>
            <a:pPr algn="just"/>
            <a:r>
              <a:rPr lang="en-US" sz="2400" dirty="0"/>
              <a:t>The test cycle is given in terms of vehicle speed versus time.</a:t>
            </a:r>
            <a:endParaRPr lang="en-IN" sz="2400" dirty="0"/>
          </a:p>
          <a:p>
            <a:pPr algn="just"/>
            <a:r>
              <a:rPr lang="en-IN" sz="2400" dirty="0"/>
              <a:t>The road horsepower requirement versus speed data as provided by the vehicle manufacturer is stored into chassis dynamometer controller to simulate the real life road operation of the vehicle.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2936" y="1783951"/>
            <a:ext cx="6163400" cy="423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European Test Driving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dirty="0"/>
              <a:t>Consists of two parts</a:t>
            </a:r>
          </a:p>
          <a:p>
            <a:r>
              <a:rPr lang="en-IN" sz="2400" b="1" dirty="0"/>
              <a:t>urban driving cycle (ECE 15) </a:t>
            </a:r>
            <a:r>
              <a:rPr lang="en-IN" sz="2400" dirty="0"/>
              <a:t>and </a:t>
            </a:r>
          </a:p>
          <a:p>
            <a:r>
              <a:rPr lang="en-IN" sz="2400" b="1" dirty="0"/>
              <a:t>extra-urban driving cycle (EUDC)</a:t>
            </a:r>
          </a:p>
          <a:p>
            <a:pPr>
              <a:buNone/>
            </a:pPr>
            <a:endParaRPr lang="en-IN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966" y="1484784"/>
            <a:ext cx="8525747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IN" dirty="0"/>
              <a:t>The engine starts, the car pauses for 11 s - if equipped with a manual gearbox, 6 s in neutral (with clutch engaged) and 5 s in the 1st gear (with clutch disengaged) - then slowly accelerates to 15 km/h in 4 s, cruises at constant speed for 8 s, brakes to a full stop in 5 s (manual: last 3 s with clutch disengaged), then stops for 21 s (manual: 16 s in neutral, then 5 s in the 1st gear).</a:t>
            </a:r>
          </a:p>
          <a:p>
            <a:pPr algn="just"/>
            <a:r>
              <a:rPr lang="en-IN" dirty="0"/>
              <a:t>At 49 s, the car slowly accelerates to 32 km/h in 12 s (manual: 5 s in 1st gear, 2 s gear change, then 5 s in the 2nd gear), cruises for 24 s, slowly brakes to a full stop in 11 s (manual: last 3 s with clutch disengaged), then pauses for another 21 s (manual: 16 s in neutral, 5 s in the 1st gear).</a:t>
            </a:r>
          </a:p>
          <a:p>
            <a:pPr algn="just"/>
            <a:r>
              <a:rPr lang="en-IN" dirty="0"/>
              <a:t>At 117 s, the car slowly accelerates to 50 km/h in 26 s (manual: 5 s, 9 s and 8 s in the 1st, 2nd and 3rd gears, with additional 2 × 2 s for gear changes), cruises for 12 s, decelerates to 35 km/h in 8 s, cruises for another 13 s, brakes to a full stop in 12 s (manual: 2 s change to the 2nd gear, 7 s in the 2nd gear, last 3 s with clutch disengaged), then pauses for 7 s (manual: in neutral with clutch engaged).</a:t>
            </a:r>
          </a:p>
          <a:p>
            <a:pPr algn="just"/>
            <a:r>
              <a:rPr lang="en-IN" dirty="0"/>
              <a:t>The cycle ends on 195 s after a theoretical distance of 994.03 meters, then it repeats four consecutive times. Total duration is 780 s (13 minutes) over a theoretical distance of 4052 meters, with an average speed of 19 km/h.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IN" dirty="0"/>
              <a:t>After a 20 s stop - if equipped with manual gearbox, in the 1st gear with clutch disengaged - the car slowly accelerates to 70 km/h in 41 s (manual: 5 s, 9 s, 8 s and 13 s in the 1st, 2nd, 3rd and 4th gears, with additional 3 × 2 s for gear changes), cruises for 50 s (manual: in the 5th gear [sic]), decelerates to 50 km/h in 8 s (manual: 4 s in the 5th and 4 s in the 4th gear [sic]) and cruises for 69 s, then slowly accelerates to 70 km/h in 13 s .</a:t>
            </a:r>
          </a:p>
          <a:p>
            <a:pPr algn="just"/>
            <a:r>
              <a:rPr lang="en-IN" dirty="0"/>
              <a:t>At 201 s, the car cruises at 70 km/h for 50 s (manual: in the 5th gear), then slowly accelerates to 100 km/h in 35 s and cruises for 30 s (manual: in the 5th or 6th gear).</a:t>
            </a:r>
          </a:p>
          <a:p>
            <a:pPr algn="just"/>
            <a:r>
              <a:rPr lang="en-IN" dirty="0"/>
              <a:t>Finally, at 316 s the car slowly accelerates to 120 km/h in 20 s, cruises for 10 s, then slowly brakes to a full stop in 34 s (manual: in the 5th or 6th gear, last 10 s with clutch disengaged), and idles for another 20 s (manual: in neutral).</a:t>
            </a:r>
          </a:p>
          <a:p>
            <a:pPr algn="just"/>
            <a:r>
              <a:rPr lang="en-IN" dirty="0"/>
              <a:t>Total duration is 400 s (6 minutes 40 s seconds) and theoretical distance is 6955 meters, with an average speed of 62.5 km/h.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860" y="1700808"/>
            <a:ext cx="892614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6BB5C-0E24-4383-BBE1-F19230FE2DEB}"/>
              </a:ext>
            </a:extLst>
          </p:cNvPr>
          <p:cNvSpPr txBox="1"/>
          <p:nvPr/>
        </p:nvSpPr>
        <p:spPr>
          <a:xfrm>
            <a:off x="2051720" y="2644170"/>
            <a:ext cx="496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INDIAN EMISSION STANDARDS</a:t>
            </a:r>
          </a:p>
        </p:txBody>
      </p:sp>
    </p:spTree>
    <p:extLst>
      <p:ext uri="{BB962C8B-B14F-4D97-AF65-F5344CB8AC3E}">
        <p14:creationId xmlns:p14="http://schemas.microsoft.com/office/powerpoint/2010/main" val="2779053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BAAECD-205E-4F08-83E5-4C1AD47F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985837"/>
            <a:ext cx="7038975" cy="4886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FA32D5-9003-4533-9F8C-A596F14FD9E9}"/>
              </a:ext>
            </a:extLst>
          </p:cNvPr>
          <p:cNvSpPr txBox="1"/>
          <p:nvPr/>
        </p:nvSpPr>
        <p:spPr>
          <a:xfrm>
            <a:off x="1305351" y="332656"/>
            <a:ext cx="6605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INDIAN DRIVING CYCLE FOR TWO WHEELERS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EDE0D4-EF14-4AE6-9AAF-6FCD5958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791"/>
            <a:ext cx="9144000" cy="46805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848D25-2222-4FCC-873D-7190C924CBDF}"/>
              </a:ext>
            </a:extLst>
          </p:cNvPr>
          <p:cNvSpPr txBox="1"/>
          <p:nvPr/>
        </p:nvSpPr>
        <p:spPr>
          <a:xfrm>
            <a:off x="467544" y="4046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The Emission Standards for Bharat Stage-VI (BS VI)</a:t>
            </a:r>
            <a:r>
              <a:rPr lang="en-IN" dirty="0"/>
              <a:t>  </a:t>
            </a:r>
            <a:r>
              <a:rPr lang="en-IN" b="1" dirty="0"/>
              <a:t>for Two wheeler vehicle models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64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C9B5-6E2E-485B-858D-AEA670B2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INDIAN DRIVING CYCLE FOR THREE WHEELERS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C04BE-A212-4518-B2E5-B46193438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1556792"/>
            <a:ext cx="79343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61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B980-2DBA-47D2-AEDB-3E560104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The Emission Standards for Bharat Stage-VI (BS VI)</a:t>
            </a:r>
            <a:r>
              <a:rPr lang="en-IN" sz="2400" dirty="0"/>
              <a:t>  </a:t>
            </a:r>
            <a:r>
              <a:rPr lang="en-IN" sz="2400" b="1" dirty="0"/>
              <a:t>for Three wheeler vehicle models 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E4F73-9902-4D05-8966-B44BE71A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80" y="1589081"/>
            <a:ext cx="8229600" cy="498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94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F7DF-3ED0-4558-8E83-BBE4DE83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Driving cycle for Light motor Vehicles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A4B9E-F881-49A1-8AEE-6DBCF6BC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844824"/>
            <a:ext cx="8100392" cy="48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42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645A0-2C23-4468-8E25-06869A17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540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6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0517-6B9A-4B98-891E-97C6DB02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943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b="1" dirty="0"/>
              <a:t>Emission Standards for Heavy Duty Commercial Engines</a:t>
            </a:r>
            <a:r>
              <a:rPr lang="en-US" sz="2400" dirty="0"/>
              <a:t> </a:t>
            </a:r>
            <a:br>
              <a:rPr lang="en-US" sz="2400" b="1" dirty="0"/>
            </a:br>
            <a:r>
              <a:rPr lang="en-US" sz="2400" b="1" dirty="0"/>
              <a:t>Heavy Duty Vehicles (GVW &gt; 3500 kg)</a:t>
            </a:r>
            <a:r>
              <a:rPr lang="en-US" sz="2400" dirty="0"/>
              <a:t> 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F6D4E-8E10-41C8-9690-9653A4A7F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848"/>
            <a:ext cx="9144000" cy="416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78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78C64D-175D-4E74-ACEC-0A84858F1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68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5255C4-AF75-4A57-A636-CEF092F05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162605"/>
            <a:ext cx="9144000" cy="51284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903DEB-7422-4AF2-B253-4DCD3689219B}"/>
              </a:ext>
            </a:extLst>
          </p:cNvPr>
          <p:cNvSpPr txBox="1"/>
          <p:nvPr/>
        </p:nvSpPr>
        <p:spPr>
          <a:xfrm>
            <a:off x="683568" y="188640"/>
            <a:ext cx="7776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200" b="1" dirty="0"/>
              <a:t>BS VI Reference Fuel Specification</a:t>
            </a:r>
            <a:r>
              <a:rPr lang="da-DK" sz="3200" dirty="0"/>
              <a:t> </a:t>
            </a:r>
            <a:br>
              <a:rPr lang="da-DK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716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D8FFE0-E5C4-4F01-895F-2345762C9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144965"/>
            <a:ext cx="9144000" cy="53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4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1016</Words>
  <Application>Microsoft Office PowerPoint</Application>
  <PresentationFormat>On-screen Show (4:3)</PresentationFormat>
  <Paragraphs>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Emission testing </vt:lpstr>
      <vt:lpstr>EMISSION TEST PROCEDURES</vt:lpstr>
      <vt:lpstr>Units of Emission Limits</vt:lpstr>
      <vt:lpstr>Driving Cycles for Light Duty Vehicles</vt:lpstr>
      <vt:lpstr>PowerPoint Presentation</vt:lpstr>
      <vt:lpstr>European Test Driving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INDIAN DRIVING CYCLE FOR THREE WHEELERS</vt:lpstr>
      <vt:lpstr>The Emission Standards for Bharat Stage-VI (BS VI)  for Three wheeler vehicle models  </vt:lpstr>
      <vt:lpstr>Driving cycle for Light motor Vehicles</vt:lpstr>
      <vt:lpstr>PowerPoint Presentation</vt:lpstr>
      <vt:lpstr>Emission Standards for Heavy Duty Commercial Engines  Heavy Duty Vehicles (GVW &gt; 3500 kg)  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my pc</cp:lastModifiedBy>
  <cp:revision>26</cp:revision>
  <dcterms:created xsi:type="dcterms:W3CDTF">2020-02-17T04:37:56Z</dcterms:created>
  <dcterms:modified xsi:type="dcterms:W3CDTF">2020-04-26T08:25:51Z</dcterms:modified>
</cp:coreProperties>
</file>