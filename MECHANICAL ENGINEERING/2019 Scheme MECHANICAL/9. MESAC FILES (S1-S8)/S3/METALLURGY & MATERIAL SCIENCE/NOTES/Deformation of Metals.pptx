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1" r:id="rId35"/>
    <p:sldId id="292" r:id="rId36"/>
    <p:sldId id="290" r:id="rId37"/>
    <p:sldId id="278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38" y="-3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5888CE-C4C3-4977-B8D4-F0A1E834C675}" type="datetimeFigureOut">
              <a:rPr lang="en-US" smtClean="0"/>
              <a:t>9/19/2018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FC5E60-7CEF-43B7-8057-97AA2BA7D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34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FC5E60-7CEF-43B7-8057-97AA2BA7D6B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867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FC5E60-7CEF-43B7-8057-97AA2BA7D6B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531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FC5E60-7CEF-43B7-8057-97AA2BA7D6B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735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2AFE7-CA4E-4488-B1EA-00FE22856D7B}" type="datetimeFigureOut">
              <a:rPr lang="en-US" smtClean="0"/>
              <a:t>9/19/2018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51BEA-8792-4BC4-9A47-F618DD24F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629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2AFE7-CA4E-4488-B1EA-00FE22856D7B}" type="datetimeFigureOut">
              <a:rPr lang="en-US" smtClean="0"/>
              <a:t>9/19/2018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51BEA-8792-4BC4-9A47-F618DD24F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182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2AFE7-CA4E-4488-B1EA-00FE22856D7B}" type="datetimeFigureOut">
              <a:rPr lang="en-US" smtClean="0"/>
              <a:t>9/19/2018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51BEA-8792-4BC4-9A47-F618DD24F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176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2AFE7-CA4E-4488-B1EA-00FE22856D7B}" type="datetimeFigureOut">
              <a:rPr lang="en-US" smtClean="0"/>
              <a:t>9/19/2018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51BEA-8792-4BC4-9A47-F618DD24F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60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2AFE7-CA4E-4488-B1EA-00FE22856D7B}" type="datetimeFigureOut">
              <a:rPr lang="en-US" smtClean="0"/>
              <a:t>9/19/2018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51BEA-8792-4BC4-9A47-F618DD24F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390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2AFE7-CA4E-4488-B1EA-00FE22856D7B}" type="datetimeFigureOut">
              <a:rPr lang="en-US" smtClean="0"/>
              <a:t>9/19/2018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51BEA-8792-4BC4-9A47-F618DD24F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417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2AFE7-CA4E-4488-B1EA-00FE22856D7B}" type="datetimeFigureOut">
              <a:rPr lang="en-US" smtClean="0"/>
              <a:t>9/19/2018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51BEA-8792-4BC4-9A47-F618DD24F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268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2AFE7-CA4E-4488-B1EA-00FE22856D7B}" type="datetimeFigureOut">
              <a:rPr lang="en-US" smtClean="0"/>
              <a:t>9/19/2018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51BEA-8792-4BC4-9A47-F618DD24F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090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2AFE7-CA4E-4488-B1EA-00FE22856D7B}" type="datetimeFigureOut">
              <a:rPr lang="en-US" smtClean="0"/>
              <a:t>9/19/2018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51BEA-8792-4BC4-9A47-F618DD24F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071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2AFE7-CA4E-4488-B1EA-00FE22856D7B}" type="datetimeFigureOut">
              <a:rPr lang="en-US" smtClean="0"/>
              <a:t>9/19/2018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51BEA-8792-4BC4-9A47-F618DD24F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402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2AFE7-CA4E-4488-B1EA-00FE22856D7B}" type="datetimeFigureOut">
              <a:rPr lang="en-US" smtClean="0"/>
              <a:t>9/19/2018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51BEA-8792-4BC4-9A47-F618DD24F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331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12AFE7-CA4E-4488-B1EA-00FE22856D7B}" type="datetimeFigureOut">
              <a:rPr lang="en-US" smtClean="0"/>
              <a:t>9/19/2018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51BEA-8792-4BC4-9A47-F618DD24F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10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Deformation of Metals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86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Dislocations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314" y="3276600"/>
            <a:ext cx="4029436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29200"/>
          </a:xfrm>
        </p:spPr>
        <p:txBody>
          <a:bodyPr/>
          <a:lstStyle/>
          <a:p>
            <a:pPr algn="just"/>
            <a:r>
              <a:rPr lang="en-US" dirty="0"/>
              <a:t>Edge and screw are the two fundamental dislocation </a:t>
            </a:r>
            <a:r>
              <a:rPr lang="en-US" dirty="0" smtClean="0"/>
              <a:t>types</a:t>
            </a:r>
          </a:p>
          <a:p>
            <a:pPr lvl="1" algn="just"/>
            <a:r>
              <a:rPr lang="en-US" dirty="0"/>
              <a:t>In an </a:t>
            </a:r>
            <a:r>
              <a:rPr lang="en-US" b="1" dirty="0"/>
              <a:t>edge </a:t>
            </a:r>
            <a:r>
              <a:rPr lang="en-US" b="1" dirty="0" smtClean="0"/>
              <a:t>dislocation</a:t>
            </a:r>
            <a:r>
              <a:rPr lang="en-US" dirty="0" smtClean="0"/>
              <a:t>, localized </a:t>
            </a:r>
            <a:r>
              <a:rPr lang="en-US" dirty="0"/>
              <a:t>lattice distortion exists along the end of an extra half-plane of atoms, </a:t>
            </a:r>
            <a:r>
              <a:rPr lang="en-US" dirty="0" smtClean="0"/>
              <a:t>which also </a:t>
            </a:r>
            <a:r>
              <a:rPr lang="en-US" dirty="0"/>
              <a:t>defines the dislocation line</a:t>
            </a:r>
          </a:p>
        </p:txBody>
      </p:sp>
    </p:spTree>
    <p:extLst>
      <p:ext uri="{BB962C8B-B14F-4D97-AF65-F5344CB8AC3E}">
        <p14:creationId xmlns:p14="http://schemas.microsoft.com/office/powerpoint/2010/main" val="3383469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943600"/>
          </a:xfrm>
        </p:spPr>
        <p:txBody>
          <a:bodyPr/>
          <a:lstStyle/>
          <a:p>
            <a:pPr algn="just"/>
            <a:r>
              <a:rPr lang="en-US" b="1" dirty="0"/>
              <a:t>screw dislocation, </a:t>
            </a:r>
            <a:r>
              <a:rPr lang="en-US" dirty="0"/>
              <a:t>exists, which may </a:t>
            </a:r>
            <a:r>
              <a:rPr lang="en-US" dirty="0" smtClean="0"/>
              <a:t>be thought </a:t>
            </a:r>
            <a:r>
              <a:rPr lang="en-US" dirty="0"/>
              <a:t>of as being formed by a shear stress that is applied to produce the </a:t>
            </a:r>
            <a:r>
              <a:rPr lang="en-US" dirty="0" smtClean="0"/>
              <a:t>distortion.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81" y="2590800"/>
            <a:ext cx="4495800" cy="3744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5471" y="2667000"/>
            <a:ext cx="4896406" cy="355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6380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Plastic Deformation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Plastic deformation is permanent, and strength and hardness </a:t>
            </a:r>
            <a:r>
              <a:rPr lang="en-US" dirty="0" smtClean="0"/>
              <a:t>are measures </a:t>
            </a:r>
            <a:r>
              <a:rPr lang="en-US" dirty="0"/>
              <a:t>of a material’s resistance to this </a:t>
            </a:r>
            <a:r>
              <a:rPr lang="en-US" dirty="0" smtClean="0"/>
              <a:t>deformation.</a:t>
            </a:r>
          </a:p>
          <a:p>
            <a:pPr algn="just"/>
            <a:r>
              <a:rPr lang="en-US" dirty="0" smtClean="0"/>
              <a:t>Plastic deformation </a:t>
            </a:r>
            <a:r>
              <a:rPr lang="en-US" dirty="0"/>
              <a:t>corresponds to the net movement of large numbers of atoms </a:t>
            </a:r>
            <a:r>
              <a:rPr lang="en-US" dirty="0" smtClean="0"/>
              <a:t>in response </a:t>
            </a:r>
            <a:r>
              <a:rPr lang="en-US" dirty="0"/>
              <a:t>to an applied stress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Plastic </a:t>
            </a:r>
            <a:r>
              <a:rPr lang="en-US" dirty="0"/>
              <a:t>deformation most </a:t>
            </a:r>
            <a:r>
              <a:rPr lang="en-US" dirty="0" smtClean="0"/>
              <a:t>often involves </a:t>
            </a:r>
            <a:r>
              <a:rPr lang="en-US" dirty="0"/>
              <a:t>the motion of </a:t>
            </a:r>
            <a:r>
              <a:rPr lang="en-US" dirty="0" smtClean="0"/>
              <a:t>dislocations in crystalline solids.</a:t>
            </a:r>
          </a:p>
        </p:txBody>
      </p:sp>
    </p:spTree>
    <p:extLst>
      <p:ext uri="{BB962C8B-B14F-4D97-AF65-F5344CB8AC3E}">
        <p14:creationId xmlns:p14="http://schemas.microsoft.com/office/powerpoint/2010/main" val="2218058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/>
          <a:lstStyle/>
          <a:p>
            <a:pPr algn="just"/>
            <a:r>
              <a:rPr lang="en-US" dirty="0"/>
              <a:t>An edge dislocation moves in response to a shear stress applied in a direction </a:t>
            </a:r>
            <a:r>
              <a:rPr lang="en-US" dirty="0" smtClean="0"/>
              <a:t>perpendicular to </a:t>
            </a:r>
            <a:r>
              <a:rPr lang="en-US" dirty="0"/>
              <a:t>its line; the mechanics of dislocation motion are represented in Fig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64072"/>
            <a:ext cx="9144000" cy="3175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5008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135" y="4449097"/>
            <a:ext cx="6705600" cy="2136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248400"/>
          </a:xfrm>
        </p:spPr>
        <p:txBody>
          <a:bodyPr/>
          <a:lstStyle/>
          <a:p>
            <a:pPr algn="just"/>
            <a:r>
              <a:rPr lang="en-US" dirty="0" smtClean="0"/>
              <a:t>The process by which plastic deformation is produced by dislocation motion is termed </a:t>
            </a:r>
            <a:r>
              <a:rPr lang="en-US" b="1" dirty="0" smtClean="0"/>
              <a:t>slip.</a:t>
            </a:r>
          </a:p>
          <a:p>
            <a:r>
              <a:rPr lang="en-US" dirty="0" smtClean="0"/>
              <a:t>The </a:t>
            </a:r>
            <a:r>
              <a:rPr lang="en-US" dirty="0"/>
              <a:t>crystallographic plane along which the dislocation line </a:t>
            </a:r>
            <a:r>
              <a:rPr lang="en-US" dirty="0" smtClean="0"/>
              <a:t>traverses is </a:t>
            </a:r>
            <a:r>
              <a:rPr lang="en-US" dirty="0"/>
              <a:t>the </a:t>
            </a:r>
            <a:r>
              <a:rPr lang="en-US" b="1" dirty="0"/>
              <a:t>slip </a:t>
            </a:r>
            <a:r>
              <a:rPr lang="en-US" b="1" dirty="0" smtClean="0"/>
              <a:t>plane, </a:t>
            </a:r>
            <a:r>
              <a:rPr lang="en-US" dirty="0"/>
              <a:t>it follows that the direction of movement </a:t>
            </a:r>
            <a:r>
              <a:rPr lang="en-US" dirty="0" smtClean="0"/>
              <a:t>is called </a:t>
            </a:r>
            <a:r>
              <a:rPr lang="en-US" dirty="0"/>
              <a:t>the </a:t>
            </a:r>
            <a:r>
              <a:rPr lang="en-US" b="1" dirty="0"/>
              <a:t>slip direction</a:t>
            </a:r>
            <a:r>
              <a:rPr lang="en-US" b="1" dirty="0" smtClean="0"/>
              <a:t>.</a:t>
            </a:r>
          </a:p>
          <a:p>
            <a:r>
              <a:rPr lang="en-US" dirty="0"/>
              <a:t>This combination of the slip plane and the slip direction </a:t>
            </a:r>
            <a:r>
              <a:rPr lang="en-US" dirty="0" smtClean="0"/>
              <a:t>is termed </a:t>
            </a:r>
            <a:r>
              <a:rPr lang="en-US" dirty="0"/>
              <a:t>the </a:t>
            </a:r>
            <a:r>
              <a:rPr lang="en-US" b="1" dirty="0"/>
              <a:t>slip system.</a:t>
            </a:r>
            <a:endParaRPr lang="en-US" b="1" dirty="0" smtClean="0"/>
          </a:p>
          <a:p>
            <a:pPr algn="just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13966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81000"/>
            <a:ext cx="8229600" cy="6096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motion of a screw dislocation in response to the applied shear stress </a:t>
            </a:r>
            <a:r>
              <a:rPr lang="en-US" dirty="0" smtClean="0"/>
              <a:t>is shown </a:t>
            </a:r>
            <a:r>
              <a:rPr lang="en-US" dirty="0"/>
              <a:t>in </a:t>
            </a:r>
            <a:r>
              <a:rPr lang="en-US" dirty="0" smtClean="0"/>
              <a:t>Figure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an edge, motion is parallel to the shear stress. However, the net </a:t>
            </a:r>
            <a:r>
              <a:rPr lang="en-US" dirty="0" smtClean="0"/>
              <a:t>plastic deformation </a:t>
            </a:r>
            <a:r>
              <a:rPr lang="en-US" dirty="0"/>
              <a:t>for the motion of both dislocation types is the </a:t>
            </a:r>
            <a:r>
              <a:rPr lang="en-US" dirty="0" smtClean="0"/>
              <a:t>same</a:t>
            </a:r>
          </a:p>
          <a:p>
            <a:r>
              <a:rPr lang="en-US" dirty="0"/>
              <a:t>The direction of motion of the mixed dislocation line is neither perpendicular </a:t>
            </a:r>
            <a:r>
              <a:rPr lang="en-US" dirty="0" smtClean="0"/>
              <a:t>nor parallel </a:t>
            </a:r>
            <a:r>
              <a:rPr lang="en-US" dirty="0"/>
              <a:t>to the applied stress, but lies somewhere in between.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676400"/>
            <a:ext cx="7239000" cy="2097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5267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724400"/>
          </a:xfrm>
        </p:spPr>
        <p:txBody>
          <a:bodyPr/>
          <a:lstStyle/>
          <a:p>
            <a:r>
              <a:rPr lang="en-US" dirty="0"/>
              <a:t>For a particular crystal structure, the slip plane is the plane that </a:t>
            </a:r>
            <a:r>
              <a:rPr lang="en-US" dirty="0" smtClean="0"/>
              <a:t>has the </a:t>
            </a:r>
            <a:r>
              <a:rPr lang="en-US" dirty="0"/>
              <a:t>most dense atomic </a:t>
            </a:r>
            <a:r>
              <a:rPr lang="en-US" dirty="0" smtClean="0"/>
              <a:t>packing - greatest </a:t>
            </a:r>
            <a:r>
              <a:rPr lang="en-US" dirty="0"/>
              <a:t>planar density</a:t>
            </a:r>
            <a:r>
              <a:rPr lang="en-US" dirty="0" smtClean="0"/>
              <a:t>.</a:t>
            </a:r>
          </a:p>
          <a:p>
            <a:r>
              <a:rPr lang="en-US" dirty="0"/>
              <a:t>The slip </a:t>
            </a:r>
            <a:r>
              <a:rPr lang="en-US" dirty="0" smtClean="0"/>
              <a:t>direction corresponds </a:t>
            </a:r>
            <a:r>
              <a:rPr lang="en-US" dirty="0"/>
              <a:t>to the direction, in this plane, that is most closely packed </a:t>
            </a:r>
            <a:r>
              <a:rPr lang="en-US" dirty="0" smtClean="0"/>
              <a:t>with atoms - highest </a:t>
            </a:r>
            <a:r>
              <a:rPr lang="en-US" dirty="0"/>
              <a:t>linear density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1329" y="304800"/>
            <a:ext cx="7239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SLIP SYSTEMS</a:t>
            </a:r>
          </a:p>
        </p:txBody>
      </p:sp>
    </p:spTree>
    <p:extLst>
      <p:ext uri="{BB962C8B-B14F-4D97-AF65-F5344CB8AC3E}">
        <p14:creationId xmlns:p14="http://schemas.microsoft.com/office/powerpoint/2010/main" val="1533679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4525963"/>
          </a:xfrm>
        </p:spPr>
        <p:txBody>
          <a:bodyPr/>
          <a:lstStyle/>
          <a:p>
            <a:r>
              <a:rPr lang="en-US" dirty="0" smtClean="0"/>
              <a:t>Slip system for FCC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646" y="1206910"/>
            <a:ext cx="8988354" cy="3822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4399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04800"/>
            <a:ext cx="3200400" cy="6180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1741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DEFORMATION BY </a:t>
            </a:r>
            <a:r>
              <a:rPr lang="en-US" b="1" dirty="0" smtClean="0"/>
              <a:t>TWINNING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 addition to slip, plastic deformation in some metallic materials can occur by </a:t>
            </a:r>
            <a:r>
              <a:rPr lang="en-US" dirty="0" smtClean="0"/>
              <a:t>the formation </a:t>
            </a:r>
            <a:r>
              <a:rPr lang="en-US" dirty="0"/>
              <a:t>of mechanical twins, or </a:t>
            </a:r>
            <a:r>
              <a:rPr lang="en-US" i="1" dirty="0" smtClean="0"/>
              <a:t>twinning.</a:t>
            </a:r>
          </a:p>
          <a:p>
            <a:r>
              <a:rPr lang="en-US" dirty="0"/>
              <a:t>A twin boundary is a special type of grain boundary across which there is a </a:t>
            </a:r>
            <a:r>
              <a:rPr lang="en-US" dirty="0" smtClean="0"/>
              <a:t>specific mirror </a:t>
            </a:r>
            <a:r>
              <a:rPr lang="en-US" dirty="0"/>
              <a:t>lattice </a:t>
            </a:r>
            <a:r>
              <a:rPr lang="en-US" dirty="0" smtClean="0"/>
              <a:t>symmetry</a:t>
            </a:r>
          </a:p>
          <a:p>
            <a:r>
              <a:rPr lang="en-US" dirty="0"/>
              <a:t>Twins result from</a:t>
            </a:r>
          </a:p>
          <a:p>
            <a:pPr lvl="1"/>
            <a:r>
              <a:rPr lang="en-US" dirty="0"/>
              <a:t>atomic displacements that are produced from applied mechanical shear </a:t>
            </a:r>
            <a:r>
              <a:rPr lang="en-US" dirty="0" smtClean="0"/>
              <a:t>forces called mechanical twins observed in BCC and HCP.</a:t>
            </a:r>
          </a:p>
          <a:p>
            <a:pPr lvl="1"/>
            <a:r>
              <a:rPr lang="en-US" dirty="0"/>
              <a:t>and also during annealing heat treatments following </a:t>
            </a:r>
            <a:r>
              <a:rPr lang="en-US" dirty="0" smtClean="0"/>
              <a:t>deformation called annealing twins typically found in FCC.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96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763000" cy="4525963"/>
          </a:xfrm>
        </p:spPr>
        <p:txBody>
          <a:bodyPr>
            <a:normAutofit/>
          </a:bodyPr>
          <a:lstStyle/>
          <a:p>
            <a:r>
              <a:rPr lang="en-US" dirty="0"/>
              <a:t>The amount of bulk plastic deformation from twinning is normally small </a:t>
            </a:r>
            <a:r>
              <a:rPr lang="en-US" dirty="0" smtClean="0"/>
              <a:t>relative to </a:t>
            </a:r>
            <a:r>
              <a:rPr lang="en-US" dirty="0"/>
              <a:t>that resulting from slip. However, the </a:t>
            </a:r>
            <a:r>
              <a:rPr lang="en-US" dirty="0" smtClean="0"/>
              <a:t>real importance </a:t>
            </a:r>
            <a:r>
              <a:rPr lang="en-US" dirty="0"/>
              <a:t>of twinning lies with </a:t>
            </a:r>
            <a:r>
              <a:rPr lang="en-US" dirty="0" smtClean="0"/>
              <a:t>the accompanying </a:t>
            </a:r>
            <a:r>
              <a:rPr lang="en-US" dirty="0"/>
              <a:t>crystallographic reorientations; twinning may place new slip </a:t>
            </a:r>
            <a:r>
              <a:rPr lang="en-US" dirty="0" smtClean="0"/>
              <a:t>systems in </a:t>
            </a:r>
            <a:r>
              <a:rPr lang="en-US" dirty="0"/>
              <a:t>orientations that are favorable relative to the stress axis such that the slip </a:t>
            </a:r>
            <a:r>
              <a:rPr lang="en-US" dirty="0" smtClean="0"/>
              <a:t>process can </a:t>
            </a:r>
            <a:r>
              <a:rPr lang="en-US" dirty="0"/>
              <a:t>now take place.</a:t>
            </a:r>
          </a:p>
        </p:txBody>
      </p:sp>
    </p:spTree>
    <p:extLst>
      <p:ext uri="{BB962C8B-B14F-4D97-AF65-F5344CB8AC3E}">
        <p14:creationId xmlns:p14="http://schemas.microsoft.com/office/powerpoint/2010/main" val="616359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819" y="1371600"/>
            <a:ext cx="8382001" cy="3716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8844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Mechanisms of Strengthening in Metals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Important to the understanding of strengthening mechanisms is the relation </a:t>
            </a:r>
            <a:r>
              <a:rPr lang="en-US" dirty="0" smtClean="0"/>
              <a:t>between dislocation </a:t>
            </a:r>
            <a:r>
              <a:rPr lang="en-US" dirty="0"/>
              <a:t>motion and mechanical behavior of metals</a:t>
            </a:r>
            <a:r>
              <a:rPr lang="en-US" dirty="0" smtClean="0"/>
              <a:t>.</a:t>
            </a:r>
          </a:p>
          <a:p>
            <a:pPr algn="just"/>
            <a:r>
              <a:rPr lang="en-US" i="1" dirty="0" smtClean="0"/>
              <a:t>The ability </a:t>
            </a:r>
            <a:r>
              <a:rPr lang="en-US" i="1" dirty="0"/>
              <a:t>of a metal to plastically deform depends on the ability of dislocations to move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Virtually all strengthening techniques </a:t>
            </a:r>
            <a:r>
              <a:rPr lang="en-US" dirty="0" smtClean="0"/>
              <a:t>rely on </a:t>
            </a:r>
            <a:r>
              <a:rPr lang="en-US" dirty="0"/>
              <a:t>this simple principle: </a:t>
            </a:r>
            <a:r>
              <a:rPr lang="en-US" i="1" dirty="0"/>
              <a:t>restricting or hindering dislocation motion renders a </a:t>
            </a:r>
            <a:r>
              <a:rPr lang="en-US" i="1" dirty="0" smtClean="0"/>
              <a:t>material harder </a:t>
            </a:r>
            <a:r>
              <a:rPr lang="en-US" i="1" dirty="0"/>
              <a:t>and stronger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3850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STRENGTHENING BY GRAIN SIZE REDUCTION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size of the grains, or average grain diameter, in a polycrystalline metal </a:t>
            </a:r>
            <a:r>
              <a:rPr lang="en-US" dirty="0" smtClean="0"/>
              <a:t>influences the </a:t>
            </a:r>
            <a:r>
              <a:rPr lang="en-US" dirty="0"/>
              <a:t>mechanical </a:t>
            </a:r>
            <a:r>
              <a:rPr lang="en-US" dirty="0" smtClean="0"/>
              <a:t>properties.</a:t>
            </a:r>
          </a:p>
          <a:p>
            <a:r>
              <a:rPr lang="en-US" dirty="0" smtClean="0"/>
              <a:t>The grain </a:t>
            </a:r>
            <a:r>
              <a:rPr lang="en-US" dirty="0"/>
              <a:t>boundary acts as a barrier to dislocation </a:t>
            </a:r>
            <a:r>
              <a:rPr lang="en-US" dirty="0" smtClean="0"/>
              <a:t>motion due to:</a:t>
            </a:r>
          </a:p>
          <a:p>
            <a:pPr lvl="1"/>
            <a:r>
              <a:rPr lang="en-US" dirty="0"/>
              <a:t>Since the two grains are of different orientations, a dislocation passing </a:t>
            </a:r>
            <a:r>
              <a:rPr lang="en-US" dirty="0" smtClean="0"/>
              <a:t>into grain </a:t>
            </a:r>
            <a:r>
              <a:rPr lang="en-US" dirty="0"/>
              <a:t>B will have to change its direction of motion; this becomes more </a:t>
            </a:r>
            <a:r>
              <a:rPr lang="en-US" dirty="0" smtClean="0"/>
              <a:t>difficult as </a:t>
            </a:r>
            <a:r>
              <a:rPr lang="en-US" dirty="0"/>
              <a:t>the crystallographic </a:t>
            </a:r>
            <a:r>
              <a:rPr lang="en-US" dirty="0" err="1"/>
              <a:t>misorientation</a:t>
            </a:r>
            <a:r>
              <a:rPr lang="en-US" dirty="0"/>
              <a:t> increases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The atomic disorder within a grain boundary region will result in a </a:t>
            </a:r>
            <a:r>
              <a:rPr lang="en-US" dirty="0" smtClean="0"/>
              <a:t>discontinuity of </a:t>
            </a:r>
            <a:r>
              <a:rPr lang="en-US" dirty="0"/>
              <a:t>slip planes from one grain into the other.</a:t>
            </a:r>
          </a:p>
        </p:txBody>
      </p:sp>
    </p:spTree>
    <p:extLst>
      <p:ext uri="{BB962C8B-B14F-4D97-AF65-F5344CB8AC3E}">
        <p14:creationId xmlns:p14="http://schemas.microsoft.com/office/powerpoint/2010/main" val="484203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1262063"/>
            <a:ext cx="7600950" cy="433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1835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943600"/>
          </a:xfrm>
        </p:spPr>
        <p:txBody>
          <a:bodyPr>
            <a:normAutofit fontScale="92500"/>
          </a:bodyPr>
          <a:lstStyle/>
          <a:p>
            <a:r>
              <a:rPr lang="en-US" dirty="0"/>
              <a:t>for high-angle grain boundaries, it may not be the </a:t>
            </a:r>
            <a:r>
              <a:rPr lang="en-US" dirty="0" smtClean="0"/>
              <a:t>case that </a:t>
            </a:r>
            <a:r>
              <a:rPr lang="en-US" dirty="0"/>
              <a:t>dislocations traverse grain boundaries during deformation; rather, </a:t>
            </a:r>
            <a:r>
              <a:rPr lang="en-US" dirty="0" smtClean="0"/>
              <a:t>dislocations tend </a:t>
            </a:r>
            <a:r>
              <a:rPr lang="en-US" dirty="0"/>
              <a:t>to “pile up” (or back up) at grain boundaries</a:t>
            </a:r>
            <a:r>
              <a:rPr lang="en-US" dirty="0" smtClean="0"/>
              <a:t>.</a:t>
            </a:r>
          </a:p>
          <a:p>
            <a:r>
              <a:rPr lang="en-US" dirty="0"/>
              <a:t>These pile-ups introduce </a:t>
            </a:r>
            <a:r>
              <a:rPr lang="en-US" dirty="0" smtClean="0"/>
              <a:t>stress concentrations </a:t>
            </a:r>
            <a:r>
              <a:rPr lang="en-US" dirty="0"/>
              <a:t>ahead of their slip planes, which generate new dislocations in </a:t>
            </a:r>
            <a:r>
              <a:rPr lang="en-US" dirty="0" smtClean="0"/>
              <a:t>adjacent grains</a:t>
            </a:r>
          </a:p>
          <a:p>
            <a:r>
              <a:rPr lang="en-US" dirty="0"/>
              <a:t>A fine-grained material (one that has small grains) is harder and stronger </a:t>
            </a:r>
            <a:r>
              <a:rPr lang="en-US" dirty="0" smtClean="0"/>
              <a:t>than one </a:t>
            </a:r>
            <a:r>
              <a:rPr lang="en-US" dirty="0"/>
              <a:t>that is coarse grained, since the former has a greater total grain boundary </a:t>
            </a:r>
            <a:r>
              <a:rPr lang="en-US" dirty="0" smtClean="0"/>
              <a:t>area to </a:t>
            </a:r>
            <a:r>
              <a:rPr lang="en-US" dirty="0"/>
              <a:t>impede dislocation motion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73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termed the </a:t>
            </a:r>
            <a:r>
              <a:rPr lang="en-US" i="1" dirty="0"/>
              <a:t>Hall-</a:t>
            </a:r>
            <a:r>
              <a:rPr lang="en-US" i="1" dirty="0" err="1"/>
              <a:t>Petch</a:t>
            </a:r>
            <a:r>
              <a:rPr lang="en-US" i="1" dirty="0"/>
              <a:t> </a:t>
            </a:r>
            <a:r>
              <a:rPr lang="en-US" i="1" dirty="0" smtClean="0"/>
              <a:t>equation</a:t>
            </a:r>
          </a:p>
          <a:p>
            <a:endParaRPr lang="en-US" i="1" dirty="0"/>
          </a:p>
          <a:p>
            <a:endParaRPr lang="en-US" i="1" dirty="0" smtClean="0"/>
          </a:p>
          <a:p>
            <a:endParaRPr lang="en-US" i="1" dirty="0"/>
          </a:p>
          <a:p>
            <a:r>
              <a:rPr lang="en-US" dirty="0"/>
              <a:t>Grain size may be regulated by the rate of solidification from the </a:t>
            </a:r>
            <a:r>
              <a:rPr lang="en-US" dirty="0" smtClean="0"/>
              <a:t>liquid phase</a:t>
            </a:r>
            <a:r>
              <a:rPr lang="en-US" dirty="0"/>
              <a:t>, and also by plastic deformation followed by an appropriate heat </a:t>
            </a:r>
            <a:r>
              <a:rPr lang="en-US" dirty="0" smtClean="0"/>
              <a:t>treatment.</a:t>
            </a:r>
          </a:p>
          <a:p>
            <a:r>
              <a:rPr lang="en-US" dirty="0"/>
              <a:t>grain size reduction improves not only </a:t>
            </a:r>
            <a:r>
              <a:rPr lang="en-US" dirty="0" smtClean="0"/>
              <a:t>strength, but </a:t>
            </a:r>
            <a:r>
              <a:rPr lang="en-US" dirty="0"/>
              <a:t>also the toughness of many alloys</a:t>
            </a:r>
            <a:r>
              <a:rPr lang="en-US" dirty="0" smtClean="0"/>
              <a:t>.</a:t>
            </a:r>
          </a:p>
          <a:p>
            <a:r>
              <a:rPr lang="en-US" dirty="0"/>
              <a:t>Small-angle grain boundaries (Section 4.6) are not effective in interfering </a:t>
            </a:r>
            <a:r>
              <a:rPr lang="en-US" dirty="0" smtClean="0"/>
              <a:t>with the </a:t>
            </a:r>
            <a:r>
              <a:rPr lang="en-US" dirty="0"/>
              <a:t>slip process because of the slight crystallographic misalignment </a:t>
            </a:r>
            <a:r>
              <a:rPr lang="en-US"/>
              <a:t>across </a:t>
            </a:r>
            <a:r>
              <a:rPr lang="en-US" smtClean="0"/>
              <a:t>the boundary</a:t>
            </a:r>
            <a:r>
              <a:rPr lang="en-US" dirty="0"/>
              <a:t>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150" y="1128576"/>
            <a:ext cx="5219700" cy="139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8926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SOLID-SOLUTION STRENGTHENING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Another </a:t>
            </a:r>
            <a:r>
              <a:rPr lang="en-US" dirty="0" smtClean="0"/>
              <a:t>strengthening method i</a:t>
            </a:r>
            <a:r>
              <a:rPr lang="en-US" dirty="0"/>
              <a:t>s</a:t>
            </a:r>
            <a:r>
              <a:rPr lang="en-US" dirty="0" smtClean="0"/>
              <a:t> alloying </a:t>
            </a:r>
            <a:r>
              <a:rPr lang="en-US" dirty="0"/>
              <a:t>with impurity </a:t>
            </a:r>
            <a:r>
              <a:rPr lang="en-US" dirty="0" smtClean="0"/>
              <a:t>atoms that </a:t>
            </a:r>
            <a:r>
              <a:rPr lang="en-US" dirty="0"/>
              <a:t>go into either </a:t>
            </a:r>
            <a:r>
              <a:rPr lang="en-US" dirty="0" err="1"/>
              <a:t>substitutional</a:t>
            </a:r>
            <a:r>
              <a:rPr lang="en-US" dirty="0"/>
              <a:t> or interstitial solid </a:t>
            </a:r>
            <a:r>
              <a:rPr lang="en-US" dirty="0" smtClean="0"/>
              <a:t>solution.</a:t>
            </a:r>
          </a:p>
          <a:p>
            <a:pPr algn="just"/>
            <a:r>
              <a:rPr lang="en-US" dirty="0"/>
              <a:t>High-purity metals are almost always softer </a:t>
            </a:r>
            <a:r>
              <a:rPr lang="en-US" dirty="0" smtClean="0"/>
              <a:t>and weaker </a:t>
            </a:r>
            <a:r>
              <a:rPr lang="en-US" dirty="0"/>
              <a:t>than alloys composed of the same base </a:t>
            </a:r>
            <a:r>
              <a:rPr lang="en-US" dirty="0" smtClean="0"/>
              <a:t>metal.</a:t>
            </a:r>
          </a:p>
          <a:p>
            <a:pPr algn="just"/>
            <a:r>
              <a:rPr lang="en-US" dirty="0"/>
              <a:t>impurity atoms that go into </a:t>
            </a:r>
            <a:r>
              <a:rPr lang="en-US" dirty="0" smtClean="0"/>
              <a:t>solid solution </a:t>
            </a:r>
            <a:r>
              <a:rPr lang="en-US" dirty="0"/>
              <a:t>ordinarily impose lattice strains on the surrounding host atoms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841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172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an impurity atom that </a:t>
            </a:r>
            <a:r>
              <a:rPr lang="en-US" dirty="0" smtClean="0"/>
              <a:t>is smaller </a:t>
            </a:r>
            <a:r>
              <a:rPr lang="en-US" dirty="0"/>
              <a:t>than a host atom for which it substitutes exerts tensile strains on the </a:t>
            </a:r>
            <a:r>
              <a:rPr lang="en-US" dirty="0" smtClean="0"/>
              <a:t>surrounding crystal lattice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larger </a:t>
            </a:r>
            <a:r>
              <a:rPr lang="en-US" dirty="0" err="1" smtClean="0"/>
              <a:t>substitutional</a:t>
            </a:r>
            <a:r>
              <a:rPr lang="en-US" dirty="0" smtClean="0"/>
              <a:t> </a:t>
            </a:r>
            <a:r>
              <a:rPr lang="en-US" dirty="0"/>
              <a:t>atom </a:t>
            </a:r>
            <a:r>
              <a:rPr lang="en-US" dirty="0" smtClean="0"/>
              <a:t>imposes compressive </a:t>
            </a:r>
            <a:r>
              <a:rPr lang="en-US" dirty="0"/>
              <a:t>strains in its </a:t>
            </a:r>
            <a:r>
              <a:rPr lang="en-US" dirty="0" smtClean="0"/>
              <a:t>vicinity</a:t>
            </a:r>
          </a:p>
          <a:p>
            <a:r>
              <a:rPr lang="en-US" dirty="0"/>
              <a:t>These solute atoms </a:t>
            </a:r>
            <a:r>
              <a:rPr lang="en-US" dirty="0" smtClean="0"/>
              <a:t>tend to </a:t>
            </a:r>
            <a:r>
              <a:rPr lang="en-US" dirty="0"/>
              <a:t>diffuse to and segregate around dislocations in a way so as to reduce the </a:t>
            </a:r>
            <a:r>
              <a:rPr lang="en-US" dirty="0" smtClean="0"/>
              <a:t>overall strain </a:t>
            </a:r>
            <a:r>
              <a:rPr lang="en-US" dirty="0"/>
              <a:t>energy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05000"/>
            <a:ext cx="2900363" cy="1946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1" y="2057400"/>
            <a:ext cx="2514600" cy="1809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7428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19800"/>
          </a:xfrm>
        </p:spPr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dirty="0"/>
              <a:t>smaller impurity atom is located where its tensile </a:t>
            </a:r>
            <a:r>
              <a:rPr lang="en-US" dirty="0" smtClean="0"/>
              <a:t>strain will </a:t>
            </a:r>
            <a:r>
              <a:rPr lang="en-US" dirty="0"/>
              <a:t>partially nullify some of the dislocation’s compressive strain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The resistance to slip is greater when impurity atoms are present because </a:t>
            </a:r>
            <a:r>
              <a:rPr lang="en-US" dirty="0" smtClean="0"/>
              <a:t>the overall </a:t>
            </a:r>
            <a:r>
              <a:rPr lang="en-US" dirty="0"/>
              <a:t>lattice strain must increase if a dislocation is torn away from them.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057400"/>
            <a:ext cx="2924175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133600"/>
            <a:ext cx="2886075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9472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/>
          <a:lstStyle/>
          <a:p>
            <a:r>
              <a:rPr lang="en-US" dirty="0"/>
              <a:t>the same lattice strain </a:t>
            </a:r>
            <a:r>
              <a:rPr lang="en-US" dirty="0" smtClean="0"/>
              <a:t>interactions </a:t>
            </a:r>
            <a:r>
              <a:rPr lang="en-US" dirty="0"/>
              <a:t>will </a:t>
            </a:r>
            <a:r>
              <a:rPr lang="en-US" dirty="0" smtClean="0"/>
              <a:t>exist between </a:t>
            </a:r>
            <a:r>
              <a:rPr lang="en-US" dirty="0"/>
              <a:t>impurity atoms and dislocations that are in motion during plastic deformation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39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STRAIN HARDENING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Strain hardening is the phenomenon whereby a ductile metal becomes harder </a:t>
            </a:r>
            <a:r>
              <a:rPr lang="en-US" dirty="0" smtClean="0"/>
              <a:t>and stronger </a:t>
            </a:r>
            <a:r>
              <a:rPr lang="en-US" dirty="0"/>
              <a:t>as it is plastically deformed</a:t>
            </a:r>
            <a:r>
              <a:rPr lang="en-US" dirty="0" smtClean="0"/>
              <a:t>.</a:t>
            </a:r>
          </a:p>
          <a:p>
            <a:r>
              <a:rPr lang="en-US" dirty="0"/>
              <a:t>Sometimes it is also called </a:t>
            </a:r>
            <a:r>
              <a:rPr lang="en-US" i="1" dirty="0"/>
              <a:t>work </a:t>
            </a:r>
            <a:r>
              <a:rPr lang="en-US" i="1" dirty="0" smtClean="0"/>
              <a:t>hardening</a:t>
            </a:r>
          </a:p>
          <a:p>
            <a:r>
              <a:rPr lang="en-US" dirty="0"/>
              <a:t>because the temperature at which deformation takes place is “cold” relative </a:t>
            </a:r>
            <a:r>
              <a:rPr lang="en-US" dirty="0" smtClean="0"/>
              <a:t>to the </a:t>
            </a:r>
            <a:r>
              <a:rPr lang="en-US" dirty="0"/>
              <a:t>absolute melting temperature of the metal</a:t>
            </a:r>
            <a:r>
              <a:rPr lang="en-US" dirty="0" smtClean="0"/>
              <a:t>, it is called </a:t>
            </a:r>
            <a:r>
              <a:rPr lang="en-US" b="1" dirty="0"/>
              <a:t>cold working.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092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3512" y="3368989"/>
            <a:ext cx="3900488" cy="3469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40654"/>
            <a:ext cx="8229600" cy="6096000"/>
          </a:xfrm>
        </p:spPr>
        <p:txBody>
          <a:bodyPr/>
          <a:lstStyle/>
          <a:p>
            <a:r>
              <a:rPr lang="en-US" dirty="0"/>
              <a:t>It is </a:t>
            </a:r>
            <a:r>
              <a:rPr lang="en-US" dirty="0" smtClean="0"/>
              <a:t>convenient </a:t>
            </a:r>
            <a:r>
              <a:rPr lang="en-US" dirty="0"/>
              <a:t>to express the degree of plastic deformation as </a:t>
            </a:r>
            <a:r>
              <a:rPr lang="en-US" i="1" dirty="0" smtClean="0"/>
              <a:t>percent cold work</a:t>
            </a:r>
          </a:p>
          <a:p>
            <a:endParaRPr lang="en-US" i="1" dirty="0"/>
          </a:p>
          <a:p>
            <a:endParaRPr lang="en-US" i="1" dirty="0" smtClean="0"/>
          </a:p>
          <a:p>
            <a:r>
              <a:rPr lang="en-US" dirty="0"/>
              <a:t>The price for </a:t>
            </a:r>
            <a:r>
              <a:rPr lang="en-US" dirty="0" smtClean="0"/>
              <a:t>enhancement of hardness </a:t>
            </a:r>
            <a:r>
              <a:rPr lang="en-US" dirty="0"/>
              <a:t>and strength is in the ductility of the metal.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676400"/>
            <a:ext cx="3781122" cy="98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4535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990600"/>
            <a:ext cx="6110436" cy="5135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7496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533400"/>
            <a:ext cx="8382000" cy="59436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The strain-hardening phenomenon is explained on the basis of </a:t>
            </a:r>
            <a:r>
              <a:rPr lang="en-US" dirty="0" smtClean="0"/>
              <a:t>dislocation–dislocation </a:t>
            </a:r>
            <a:r>
              <a:rPr lang="en-US" dirty="0"/>
              <a:t>strain field </a:t>
            </a:r>
            <a:r>
              <a:rPr lang="en-US" dirty="0" smtClean="0"/>
              <a:t>interactions.</a:t>
            </a:r>
          </a:p>
          <a:p>
            <a:pPr algn="just"/>
            <a:r>
              <a:rPr lang="en-US" dirty="0" smtClean="0"/>
              <a:t>The dislocation </a:t>
            </a:r>
            <a:r>
              <a:rPr lang="en-US" dirty="0"/>
              <a:t>density in a metal increases with deformation or cold work, due to </a:t>
            </a:r>
            <a:r>
              <a:rPr lang="en-US" dirty="0" smtClean="0"/>
              <a:t>dislocation multiplication </a:t>
            </a:r>
            <a:r>
              <a:rPr lang="en-US" dirty="0"/>
              <a:t>or the formation of new </a:t>
            </a:r>
            <a:r>
              <a:rPr lang="en-US" dirty="0" smtClean="0"/>
              <a:t>dislocations.</a:t>
            </a:r>
          </a:p>
          <a:p>
            <a:pPr algn="just"/>
            <a:r>
              <a:rPr lang="en-US" dirty="0"/>
              <a:t>the average distance of separation between dislocations </a:t>
            </a:r>
            <a:r>
              <a:rPr lang="en-US" dirty="0" smtClean="0"/>
              <a:t>decreases .</a:t>
            </a:r>
          </a:p>
          <a:p>
            <a:pPr algn="just"/>
            <a:r>
              <a:rPr lang="en-US" dirty="0"/>
              <a:t>The net result is that the motion of a </a:t>
            </a:r>
            <a:r>
              <a:rPr lang="en-US" dirty="0" smtClean="0"/>
              <a:t>dislocation is </a:t>
            </a:r>
            <a:r>
              <a:rPr lang="en-US" dirty="0"/>
              <a:t>hindered by the presence of other dislocations.</a:t>
            </a:r>
          </a:p>
        </p:txBody>
      </p:sp>
    </p:spTree>
    <p:extLst>
      <p:ext uri="{BB962C8B-B14F-4D97-AF65-F5344CB8AC3E}">
        <p14:creationId xmlns:p14="http://schemas.microsoft.com/office/powerpoint/2010/main" val="1596518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the dislocation density </a:t>
            </a:r>
            <a:r>
              <a:rPr lang="en-US" dirty="0" smtClean="0"/>
              <a:t>increases, this </a:t>
            </a:r>
            <a:r>
              <a:rPr lang="en-US" dirty="0"/>
              <a:t>resistance to dislocation motion by other dislocations becomes </a:t>
            </a:r>
            <a:r>
              <a:rPr lang="en-US" dirty="0" smtClean="0"/>
              <a:t>more pronounced.</a:t>
            </a:r>
          </a:p>
          <a:p>
            <a:r>
              <a:rPr lang="en-US" dirty="0"/>
              <a:t>Thus, the imposed stress necessary to deform a metal increases </a:t>
            </a:r>
            <a:r>
              <a:rPr lang="en-US" dirty="0" smtClean="0"/>
              <a:t>with increasing </a:t>
            </a:r>
            <a:r>
              <a:rPr lang="en-US" dirty="0"/>
              <a:t>cold work.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186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Recovery, </a:t>
            </a:r>
            <a:r>
              <a:rPr lang="en-US" dirty="0" smtClean="0"/>
              <a:t>Recrystallization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and Grain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During recovery, some of the stored internal strain energy is relieved by virtue </a:t>
            </a:r>
            <a:r>
              <a:rPr lang="en-US" dirty="0" smtClean="0"/>
              <a:t>of dislocation motion due to enhanced atomic </a:t>
            </a:r>
            <a:r>
              <a:rPr lang="en-US" dirty="0"/>
              <a:t>diffusion at the elevated temperature</a:t>
            </a:r>
            <a:r>
              <a:rPr lang="en-US" dirty="0" smtClean="0"/>
              <a:t>.</a:t>
            </a:r>
          </a:p>
          <a:p>
            <a:r>
              <a:rPr lang="en-US" dirty="0"/>
              <a:t>There is some reduction </a:t>
            </a:r>
            <a:r>
              <a:rPr lang="en-US" dirty="0" smtClean="0"/>
              <a:t>in the </a:t>
            </a:r>
            <a:r>
              <a:rPr lang="en-US" dirty="0"/>
              <a:t>number of </a:t>
            </a:r>
            <a:r>
              <a:rPr lang="en-US" dirty="0" smtClean="0"/>
              <a:t>dislocations </a:t>
            </a:r>
            <a:r>
              <a:rPr lang="en-US" dirty="0"/>
              <a:t>and dislocation </a:t>
            </a:r>
            <a:r>
              <a:rPr lang="en-US" dirty="0" smtClean="0"/>
              <a:t>configurations </a:t>
            </a:r>
            <a:r>
              <a:rPr lang="en-US" dirty="0"/>
              <a:t>are produced having low strain energies</a:t>
            </a:r>
            <a:endParaRPr lang="en-US" dirty="0" smtClean="0"/>
          </a:p>
          <a:p>
            <a:r>
              <a:rPr lang="en-US" b="1" dirty="0"/>
              <a:t>Recrystallization </a:t>
            </a:r>
            <a:r>
              <a:rPr lang="en-US" dirty="0"/>
              <a:t>is the formation of a new set of strain-free and </a:t>
            </a:r>
            <a:r>
              <a:rPr lang="en-US" dirty="0" err="1" smtClean="0"/>
              <a:t>equiaxed</a:t>
            </a:r>
            <a:r>
              <a:rPr lang="en-US" dirty="0"/>
              <a:t> </a:t>
            </a:r>
            <a:r>
              <a:rPr lang="en-US" dirty="0" smtClean="0"/>
              <a:t>grains </a:t>
            </a:r>
            <a:r>
              <a:rPr lang="en-US" dirty="0"/>
              <a:t>that have </a:t>
            </a:r>
            <a:r>
              <a:rPr lang="en-US" dirty="0" smtClean="0"/>
              <a:t>low dislocation </a:t>
            </a:r>
            <a:r>
              <a:rPr lang="en-US" dirty="0"/>
              <a:t>densities and are characteristic of the </a:t>
            </a:r>
            <a:r>
              <a:rPr lang="en-US" dirty="0" err="1"/>
              <a:t>precold</a:t>
            </a:r>
            <a:r>
              <a:rPr lang="en-US" dirty="0"/>
              <a:t>-worked condition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0496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961" y="381000"/>
            <a:ext cx="8332839" cy="6096000"/>
          </a:xfrm>
        </p:spPr>
        <p:txBody>
          <a:bodyPr/>
          <a:lstStyle/>
          <a:p>
            <a:r>
              <a:rPr lang="en-US" dirty="0" smtClean="0"/>
              <a:t>The driving </a:t>
            </a:r>
            <a:r>
              <a:rPr lang="en-US" dirty="0"/>
              <a:t>force to produce this new grain structure is the difference in internal </a:t>
            </a:r>
            <a:r>
              <a:rPr lang="en-US" dirty="0" smtClean="0"/>
              <a:t>energy between </a:t>
            </a:r>
            <a:r>
              <a:rPr lang="en-US" dirty="0"/>
              <a:t>the strained and unstrained material</a:t>
            </a:r>
            <a:r>
              <a:rPr lang="en-US" dirty="0" smtClean="0"/>
              <a:t>.</a:t>
            </a:r>
          </a:p>
          <a:p>
            <a:r>
              <a:rPr lang="en-US" dirty="0"/>
              <a:t>during recrystallization, the mechanical properties that were changed </a:t>
            </a:r>
            <a:r>
              <a:rPr lang="en-US" dirty="0" smtClean="0"/>
              <a:t>as a </a:t>
            </a:r>
            <a:r>
              <a:rPr lang="en-US" dirty="0"/>
              <a:t>result of cold working are restored to their </a:t>
            </a:r>
            <a:r>
              <a:rPr lang="en-US" dirty="0" err="1"/>
              <a:t>precold</a:t>
            </a:r>
            <a:r>
              <a:rPr lang="en-US" dirty="0"/>
              <a:t>-worked </a:t>
            </a:r>
            <a:r>
              <a:rPr lang="en-US" dirty="0" smtClean="0"/>
              <a:t>values</a:t>
            </a:r>
          </a:p>
          <a:p>
            <a:r>
              <a:rPr lang="en-US" dirty="0"/>
              <a:t>Recrystallization is a process the extent of which depends on both time </a:t>
            </a:r>
            <a:r>
              <a:rPr lang="en-US" dirty="0" smtClean="0"/>
              <a:t>and temperature.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177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351" y="19710"/>
            <a:ext cx="5674873" cy="6838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4491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504" y="346586"/>
            <a:ext cx="8382000" cy="6130413"/>
          </a:xfrm>
        </p:spPr>
        <p:txBody>
          <a:bodyPr>
            <a:normAutofit/>
          </a:bodyPr>
          <a:lstStyle/>
          <a:p>
            <a:r>
              <a:rPr lang="en-US" b="1" dirty="0"/>
              <a:t>recrystallization </a:t>
            </a:r>
            <a:r>
              <a:rPr lang="en-US" b="1" dirty="0" smtClean="0"/>
              <a:t>temperature </a:t>
            </a:r>
            <a:r>
              <a:rPr lang="en-US" dirty="0" smtClean="0"/>
              <a:t>is</a:t>
            </a:r>
            <a:r>
              <a:rPr lang="en-US" b="1" dirty="0" smtClean="0"/>
              <a:t> </a:t>
            </a:r>
            <a:r>
              <a:rPr lang="en-US" dirty="0"/>
              <a:t>the temperature at which </a:t>
            </a:r>
            <a:r>
              <a:rPr lang="en-US" dirty="0" smtClean="0"/>
              <a:t>recrystallization just </a:t>
            </a:r>
            <a:r>
              <a:rPr lang="en-US" dirty="0"/>
              <a:t>reaches completion in 1 h</a:t>
            </a:r>
            <a:r>
              <a:rPr lang="en-US" dirty="0" smtClean="0"/>
              <a:t>.</a:t>
            </a:r>
          </a:p>
          <a:p>
            <a:r>
              <a:rPr lang="en-US" dirty="0"/>
              <a:t>Typically, it is between </a:t>
            </a:r>
            <a:r>
              <a:rPr lang="en-US" dirty="0" smtClean="0"/>
              <a:t>one-third and </a:t>
            </a:r>
            <a:r>
              <a:rPr lang="en-US" dirty="0"/>
              <a:t>one-half of the absolute melting temperature of a metal or </a:t>
            </a:r>
            <a:r>
              <a:rPr lang="en-US" dirty="0" smtClean="0"/>
              <a:t>alloy.</a:t>
            </a:r>
          </a:p>
          <a:p>
            <a:r>
              <a:rPr lang="en-US" dirty="0" smtClean="0"/>
              <a:t>It depends on the following factors</a:t>
            </a:r>
          </a:p>
          <a:p>
            <a:pPr lvl="1"/>
            <a:r>
              <a:rPr lang="en-US" dirty="0"/>
              <a:t>amount of prior cold </a:t>
            </a:r>
            <a:r>
              <a:rPr lang="en-US" dirty="0" smtClean="0"/>
              <a:t>work</a:t>
            </a:r>
          </a:p>
          <a:p>
            <a:pPr lvl="1"/>
            <a:r>
              <a:rPr lang="en-US" dirty="0"/>
              <a:t>purity of </a:t>
            </a:r>
            <a:r>
              <a:rPr lang="en-US" dirty="0" smtClean="0"/>
              <a:t>the alloy</a:t>
            </a:r>
          </a:p>
          <a:p>
            <a:r>
              <a:rPr lang="en-US" dirty="0"/>
              <a:t>Increasing the percentage of cold </a:t>
            </a:r>
            <a:r>
              <a:rPr lang="en-US" dirty="0" smtClean="0"/>
              <a:t>work enhances </a:t>
            </a:r>
            <a:r>
              <a:rPr lang="en-US" dirty="0"/>
              <a:t>the rate of </a:t>
            </a:r>
            <a:r>
              <a:rPr lang="en-US" dirty="0" smtClean="0"/>
              <a:t>recrystallization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032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828800"/>
            <a:ext cx="5791200" cy="4593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447800" y="762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51504" y="346586"/>
            <a:ext cx="8382000" cy="6130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There exists some critical degree of cold </a:t>
            </a:r>
            <a:r>
              <a:rPr lang="en-US" dirty="0" smtClean="0"/>
              <a:t>work below </a:t>
            </a:r>
            <a:r>
              <a:rPr lang="en-US" dirty="0"/>
              <a:t>which recrystallization cannot be made to occur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369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943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Recrystallization proceeds more rapidly in pure metals than in alloys</a:t>
            </a:r>
            <a:r>
              <a:rPr lang="en-US" dirty="0" smtClean="0"/>
              <a:t>.</a:t>
            </a:r>
          </a:p>
          <a:p>
            <a:r>
              <a:rPr lang="en-US" dirty="0"/>
              <a:t>After recrystallization is complete, the strain-free grains will continue to grow if </a:t>
            </a:r>
            <a:r>
              <a:rPr lang="en-US" dirty="0" smtClean="0"/>
              <a:t>the metal </a:t>
            </a:r>
            <a:r>
              <a:rPr lang="en-US" dirty="0"/>
              <a:t>specimen is left at the elevated </a:t>
            </a:r>
            <a:r>
              <a:rPr lang="en-US" dirty="0" smtClean="0"/>
              <a:t>temperature-</a:t>
            </a:r>
            <a:r>
              <a:rPr lang="en-US" dirty="0"/>
              <a:t>this </a:t>
            </a:r>
            <a:r>
              <a:rPr lang="en-US" dirty="0" smtClean="0"/>
              <a:t>phenomenon is </a:t>
            </a:r>
            <a:r>
              <a:rPr lang="en-US" dirty="0"/>
              <a:t>called </a:t>
            </a:r>
            <a:r>
              <a:rPr lang="en-US" b="1" dirty="0"/>
              <a:t>grain </a:t>
            </a:r>
            <a:r>
              <a:rPr lang="en-US" b="1" dirty="0" smtClean="0"/>
              <a:t>growth.</a:t>
            </a:r>
          </a:p>
          <a:p>
            <a:r>
              <a:rPr lang="en-US" dirty="0" smtClean="0"/>
              <a:t>As grains </a:t>
            </a:r>
            <a:r>
              <a:rPr lang="en-US" dirty="0"/>
              <a:t>increase in size, the total boundary area decreases, yielding an </a:t>
            </a:r>
            <a:r>
              <a:rPr lang="en-US" dirty="0" smtClean="0"/>
              <a:t>attendant reduction </a:t>
            </a:r>
            <a:r>
              <a:rPr lang="en-US" dirty="0"/>
              <a:t>in the total </a:t>
            </a:r>
            <a:r>
              <a:rPr lang="en-US" dirty="0" smtClean="0"/>
              <a:t>energy which is the driving </a:t>
            </a:r>
            <a:r>
              <a:rPr lang="en-US" dirty="0"/>
              <a:t>force for grain </a:t>
            </a:r>
            <a:r>
              <a:rPr lang="en-US" dirty="0" smtClean="0"/>
              <a:t>growth.</a:t>
            </a:r>
          </a:p>
          <a:p>
            <a:r>
              <a:rPr lang="en-US" dirty="0"/>
              <a:t>Grain growth occurs by the migration of grain boundaries</a:t>
            </a:r>
            <a:r>
              <a:rPr lang="en-US" dirty="0" smtClean="0"/>
              <a:t>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4334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19800"/>
          </a:xfrm>
        </p:spPr>
        <p:txBody>
          <a:bodyPr/>
          <a:lstStyle/>
          <a:p>
            <a:r>
              <a:rPr lang="en-US" dirty="0" smtClean="0"/>
              <a:t>Not all grains </a:t>
            </a:r>
            <a:r>
              <a:rPr lang="en-US" dirty="0"/>
              <a:t>can enlarge, but large ones grow at the expense of small ones that </a:t>
            </a:r>
            <a:r>
              <a:rPr lang="en-US" dirty="0" smtClean="0"/>
              <a:t>shrink.</a:t>
            </a:r>
          </a:p>
          <a:p>
            <a:r>
              <a:rPr lang="en-US" dirty="0"/>
              <a:t>Boundary motion is just the short-range </a:t>
            </a:r>
            <a:r>
              <a:rPr lang="en-US" dirty="0" smtClean="0"/>
              <a:t>diffusion of </a:t>
            </a:r>
            <a:r>
              <a:rPr lang="en-US" dirty="0"/>
              <a:t>atoms from one side of the boundary to the other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2737" y="3124199"/>
            <a:ext cx="3438525" cy="3704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6624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4572000"/>
            <a:ext cx="8458200" cy="15541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mechanical properties at room temperature of a fine-grained metal </a:t>
            </a:r>
            <a:r>
              <a:rPr lang="en-US" dirty="0" smtClean="0"/>
              <a:t>are usually superior </a:t>
            </a:r>
            <a:r>
              <a:rPr lang="en-US" dirty="0"/>
              <a:t>to those of coarse-grained ones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533400"/>
            <a:ext cx="5705475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9421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Plastic deformation operations are often carried out at temperatures above the recrystallization temperature in a process termed hot working</a:t>
            </a:r>
          </a:p>
          <a:p>
            <a:r>
              <a:rPr lang="en-US" dirty="0"/>
              <a:t>The material remains relatively soft and ductile during deformation because it does not strain harden, and thus large deformations are possible.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869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PRECIPITATION HARDENING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strength and hardness of some metal alloys may be enhanced by the </a:t>
            </a:r>
            <a:r>
              <a:rPr lang="en-US" dirty="0" smtClean="0"/>
              <a:t>formation of </a:t>
            </a:r>
            <a:r>
              <a:rPr lang="en-US" dirty="0"/>
              <a:t>extremely small uniformly dispersed particles of a second phase within </a:t>
            </a:r>
            <a:r>
              <a:rPr lang="en-US" dirty="0" smtClean="0"/>
              <a:t>the original </a:t>
            </a:r>
            <a:r>
              <a:rPr lang="en-US" dirty="0"/>
              <a:t>phase </a:t>
            </a:r>
            <a:r>
              <a:rPr lang="en-US" dirty="0" smtClean="0"/>
              <a:t>matrix</a:t>
            </a:r>
          </a:p>
          <a:p>
            <a:r>
              <a:rPr lang="en-US" dirty="0"/>
              <a:t>Examples of alloys that are hardened by </a:t>
            </a:r>
            <a:r>
              <a:rPr lang="en-US" dirty="0" smtClean="0"/>
              <a:t>precipitation treatments </a:t>
            </a:r>
            <a:r>
              <a:rPr lang="en-US" dirty="0"/>
              <a:t>include aluminum–copper, copper–beryllium, copper–tin, </a:t>
            </a:r>
            <a:r>
              <a:rPr lang="en-US" dirty="0" smtClean="0"/>
              <a:t>and magnesium–aluminum and some ferrous alloys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794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1059</TotalTime>
  <Words>1591</Words>
  <Application>Microsoft Office PowerPoint</Application>
  <PresentationFormat>On-screen Show (4:3)</PresentationFormat>
  <Paragraphs>112</Paragraphs>
  <Slides>37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Deformation of Metals</vt:lpstr>
      <vt:lpstr>Dislocations</vt:lpstr>
      <vt:lpstr>PowerPoint Presentation</vt:lpstr>
      <vt:lpstr>Plastic Deformation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DEFORMATION BY TWINNING</vt:lpstr>
      <vt:lpstr>PowerPoint Presentation</vt:lpstr>
      <vt:lpstr>PowerPoint Presentation</vt:lpstr>
      <vt:lpstr>Mechanisms of Strengthening in Metals</vt:lpstr>
      <vt:lpstr>STRENGTHENING BY GRAIN SIZE REDUCTION</vt:lpstr>
      <vt:lpstr>PowerPoint Presentation</vt:lpstr>
      <vt:lpstr>PowerPoint Presentation</vt:lpstr>
      <vt:lpstr>PowerPoint Presentation</vt:lpstr>
      <vt:lpstr>SOLID-SOLUTION STRENGTHENING</vt:lpstr>
      <vt:lpstr>PowerPoint Presentation</vt:lpstr>
      <vt:lpstr>PowerPoint Presentation</vt:lpstr>
      <vt:lpstr>PowerPoint Presentation</vt:lpstr>
      <vt:lpstr>STRAIN HARDENING</vt:lpstr>
      <vt:lpstr>PowerPoint Presentation</vt:lpstr>
      <vt:lpstr>PowerPoint Presentation</vt:lpstr>
      <vt:lpstr>PowerPoint Presentation</vt:lpstr>
      <vt:lpstr>PowerPoint Presentation</vt:lpstr>
      <vt:lpstr>Recovery, Recrystallization, and Grain Growth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PRECIPITATION HARDENING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Deformation of Metals</dc:title>
  <dc:creator>asus</dc:creator>
  <cp:lastModifiedBy>asus</cp:lastModifiedBy>
  <cp:revision>34</cp:revision>
  <dcterms:created xsi:type="dcterms:W3CDTF">2018-08-28T04:45:09Z</dcterms:created>
  <dcterms:modified xsi:type="dcterms:W3CDTF">2018-09-19T02:17:55Z</dcterms:modified>
</cp:coreProperties>
</file>