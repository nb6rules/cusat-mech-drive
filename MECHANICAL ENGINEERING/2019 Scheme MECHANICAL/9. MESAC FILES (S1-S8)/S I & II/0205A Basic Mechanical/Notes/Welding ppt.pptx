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61" r:id="rId5"/>
    <p:sldId id="259" r:id="rId6"/>
    <p:sldId id="260" r:id="rId7"/>
    <p:sldId id="262" r:id="rId8"/>
    <p:sldId id="263" r:id="rId9"/>
    <p:sldId id="264" r:id="rId10"/>
    <p:sldId id="265" r:id="rId11"/>
    <p:sldId id="266" r:id="rId12"/>
    <p:sldId id="268" r:id="rId13"/>
    <p:sldId id="309" r:id="rId14"/>
    <p:sldId id="267" r:id="rId15"/>
    <p:sldId id="311" r:id="rId16"/>
    <p:sldId id="275" r:id="rId17"/>
    <p:sldId id="269" r:id="rId18"/>
    <p:sldId id="270" r:id="rId19"/>
    <p:sldId id="304" r:id="rId20"/>
    <p:sldId id="302" r:id="rId21"/>
    <p:sldId id="272" r:id="rId22"/>
    <p:sldId id="273" r:id="rId23"/>
    <p:sldId id="293" r:id="rId24"/>
    <p:sldId id="320" r:id="rId25"/>
    <p:sldId id="306" r:id="rId26"/>
    <p:sldId id="308" r:id="rId27"/>
    <p:sldId id="294" r:id="rId28"/>
    <p:sldId id="295" r:id="rId29"/>
    <p:sldId id="296" r:id="rId30"/>
    <p:sldId id="297" r:id="rId31"/>
    <p:sldId id="313" r:id="rId32"/>
    <p:sldId id="298" r:id="rId33"/>
    <p:sldId id="314" r:id="rId34"/>
    <p:sldId id="315" r:id="rId35"/>
    <p:sldId id="299" r:id="rId36"/>
    <p:sldId id="300" r:id="rId37"/>
    <p:sldId id="301" r:id="rId38"/>
    <p:sldId id="279" r:id="rId39"/>
    <p:sldId id="324" r:id="rId40"/>
    <p:sldId id="323" r:id="rId41"/>
    <p:sldId id="280" r:id="rId42"/>
    <p:sldId id="321" r:id="rId43"/>
    <p:sldId id="281" r:id="rId44"/>
    <p:sldId id="317" r:id="rId45"/>
    <p:sldId id="316" r:id="rId46"/>
    <p:sldId id="286" r:id="rId47"/>
    <p:sldId id="287" r:id="rId48"/>
    <p:sldId id="288" r:id="rId49"/>
    <p:sldId id="318" r:id="rId50"/>
    <p:sldId id="289" r:id="rId51"/>
    <p:sldId id="290"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CB97365-EBCA-4027-87D5-99FC1D4DF0BB}" type="datetimeFigureOut">
              <a:rPr lang="en-US" smtClean="0"/>
              <a:pPr/>
              <a:t>11/14/2019</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97365-EBCA-4027-87D5-99FC1D4DF0BB}" type="datetimeFigureOut">
              <a:rPr lang="en-US" smtClean="0"/>
              <a:pPr/>
              <a:t>11/14/2019</a:t>
            </a:fld>
            <a:endParaRPr lang="en-US">
              <a:solidFill>
                <a:schemeClr val="tx1">
                  <a:shade val="50000"/>
                </a:scheme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0" lang="en-US">
              <a:solidFill>
                <a:schemeClr val="tx1">
                  <a:shade val="50000"/>
                </a:scheme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29E33-B620-47F9-BB04-8846C2A5AFCC}" type="slidenum">
              <a:rPr kumimoji="0" lang="en-US" smtClean="0"/>
              <a:pPr/>
              <a:t>‹#›</a:t>
            </a:fld>
            <a:endParaRPr kumimoji="0" lang="en-US" dirty="0">
              <a:solidFill>
                <a:schemeClr val="tx1">
                  <a:shade val="50000"/>
                </a:schemeClr>
              </a:solidFill>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8000" b="1" dirty="0" smtClean="0">
                <a:solidFill>
                  <a:srgbClr val="FF0000"/>
                </a:solidFill>
                <a:latin typeface="Algerian" pitchFamily="82" charset="0"/>
              </a:rPr>
              <a:t>WELDING</a:t>
            </a:r>
            <a:endParaRPr lang="en-US" sz="8000" b="1" dirty="0">
              <a:solidFill>
                <a:srgbClr val="FF0000"/>
              </a:solidFill>
              <a:latin typeface="Algerian" pitchFamily="82" charset="0"/>
            </a:endParaRPr>
          </a:p>
        </p:txBody>
      </p:sp>
      <p:sp>
        <p:nvSpPr>
          <p:cNvPr id="3" name="Subtitle 2"/>
          <p:cNvSpPr>
            <a:spLocks noGrp="1"/>
          </p:cNvSpPr>
          <p:nvPr>
            <p:ph type="subTitle" idx="1"/>
          </p:nvPr>
        </p:nvSpPr>
        <p:spPr/>
        <p:txBody>
          <a:bodyPr/>
          <a:lstStyle/>
          <a:p>
            <a:r>
              <a:rPr lang="en-IN" b="1" dirty="0" smtClean="0"/>
              <a:t>MODULE 4</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b="1" dirty="0" smtClean="0">
                <a:solidFill>
                  <a:srgbClr val="0070C0"/>
                </a:solidFill>
              </a:rPr>
              <a:t>WELDING </a:t>
            </a:r>
            <a:br>
              <a:rPr lang="en-US" sz="6000" b="1" dirty="0" smtClean="0">
                <a:solidFill>
                  <a:srgbClr val="0070C0"/>
                </a:solidFill>
              </a:rPr>
            </a:br>
            <a:endParaRPr lang="en-US" sz="6000" b="1" dirty="0">
              <a:solidFill>
                <a:srgbClr val="0070C0"/>
              </a:solidFill>
            </a:endParaRPr>
          </a:p>
        </p:txBody>
      </p:sp>
      <p:sp>
        <p:nvSpPr>
          <p:cNvPr id="3" name="Content Placeholder 2"/>
          <p:cNvSpPr>
            <a:spLocks noGrp="1"/>
          </p:cNvSpPr>
          <p:nvPr>
            <p:ph idx="1"/>
          </p:nvPr>
        </p:nvSpPr>
        <p:spPr/>
        <p:txBody>
          <a:bodyPr>
            <a:normAutofit/>
          </a:bodyPr>
          <a:lstStyle/>
          <a:p>
            <a:r>
              <a:rPr lang="en-US" dirty="0" smtClean="0"/>
              <a:t>Is defined as – </a:t>
            </a:r>
          </a:p>
          <a:p>
            <a:pPr algn="just"/>
            <a:r>
              <a:rPr lang="en-US" dirty="0" smtClean="0">
                <a:solidFill>
                  <a:srgbClr val="FF0000"/>
                </a:solidFill>
              </a:rPr>
              <a:t>Welding is a process of making a permanent joint by establishing inter atomic bonds between two or more pieces of metal by using heat or heat and pressure.</a:t>
            </a:r>
            <a:endParaRPr lang="en-US"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a:bodyPr>
          <a:lstStyle/>
          <a:p>
            <a:r>
              <a:rPr lang="en-US" dirty="0" smtClean="0"/>
              <a:t> Most essential requirement is heat. </a:t>
            </a:r>
          </a:p>
          <a:p>
            <a:r>
              <a:rPr lang="en-US" dirty="0" smtClean="0"/>
              <a:t> Pressure may or may not be used. </a:t>
            </a:r>
          </a:p>
          <a:p>
            <a:r>
              <a:rPr lang="en-US" dirty="0" smtClean="0"/>
              <a:t> Filler material may or may not be used. </a:t>
            </a:r>
          </a:p>
          <a:p>
            <a:r>
              <a:rPr lang="en-US" dirty="0" smtClean="0"/>
              <a:t> Flux is used to resist oxidation and to remove impurities. </a:t>
            </a:r>
            <a:endParaRPr lang="en-US" dirty="0"/>
          </a:p>
          <a:p>
            <a:r>
              <a:rPr lang="en-US" dirty="0" smtClean="0"/>
              <a:t>Thus, </a:t>
            </a:r>
            <a:r>
              <a:rPr lang="en-US" dirty="0" smtClean="0">
                <a:solidFill>
                  <a:srgbClr val="FF0000"/>
                </a:solidFill>
              </a:rPr>
              <a:t>“Welding is the process of joining similar or dissimilar metals by the application of Heat, with or without the application of pressure and addition of Filler Material”. </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Classification Of Welding  </a:t>
            </a:r>
            <a:br>
              <a:rPr lang="en-US" dirty="0" smtClean="0">
                <a:solidFill>
                  <a:srgbClr val="FF0000"/>
                </a:solidFill>
              </a:rPr>
            </a:br>
            <a:endParaRPr lang="en-US" dirty="0"/>
          </a:p>
        </p:txBody>
      </p:sp>
      <p:pic>
        <p:nvPicPr>
          <p:cNvPr id="1026" name="Picture 2" descr="C:\Users\JINU MATHEW\Desktop\115.PNG"/>
          <p:cNvPicPr>
            <a:picLocks noGrp="1" noChangeAspect="1" noChangeArrowheads="1"/>
          </p:cNvPicPr>
          <p:nvPr>
            <p:ph idx="1"/>
          </p:nvPr>
        </p:nvPicPr>
        <p:blipFill>
          <a:blip r:embed="rId2"/>
          <a:srcRect/>
          <a:stretch>
            <a:fillRect/>
          </a:stretch>
        </p:blipFill>
        <p:spPr bwMode="auto">
          <a:xfrm>
            <a:off x="285720" y="857232"/>
            <a:ext cx="8358246" cy="507209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Classification Of Welding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Welding of metals can be divided into two categories. </a:t>
            </a:r>
          </a:p>
          <a:p>
            <a:pPr>
              <a:buNone/>
            </a:pPr>
            <a:r>
              <a:rPr lang="en-US" dirty="0" smtClean="0">
                <a:solidFill>
                  <a:srgbClr val="FF0000"/>
                </a:solidFill>
              </a:rPr>
              <a:t>1. Plastic Welding (Pressure welding) </a:t>
            </a:r>
          </a:p>
          <a:p>
            <a:pPr>
              <a:buNone/>
            </a:pPr>
            <a:r>
              <a:rPr lang="en-US" dirty="0" smtClean="0">
                <a:solidFill>
                  <a:srgbClr val="FF0000"/>
                </a:solidFill>
              </a:rPr>
              <a:t> 2. Fusion (Diffusion) Welding. </a:t>
            </a:r>
          </a:p>
          <a:p>
            <a:pPr algn="just"/>
            <a:r>
              <a:rPr lang="en-US" i="1" u="sng" dirty="0" smtClean="0">
                <a:solidFill>
                  <a:srgbClr val="FF0000"/>
                </a:solidFill>
              </a:rPr>
              <a:t>  Plastic Welding </a:t>
            </a:r>
            <a:r>
              <a:rPr lang="en-US" dirty="0" smtClean="0"/>
              <a:t>-</a:t>
            </a:r>
            <a:r>
              <a:rPr lang="en-US" dirty="0" smtClean="0">
                <a:solidFill>
                  <a:srgbClr val="0070C0"/>
                </a:solidFill>
              </a:rPr>
              <a:t>In this type of welding the metals to be joined are to be heated to the plastic state and then forced together by external pressure without the addition of filler material. </a:t>
            </a:r>
            <a:r>
              <a:rPr lang="en-US" dirty="0" err="1" smtClean="0"/>
              <a:t>Eg</a:t>
            </a:r>
            <a:r>
              <a:rPr lang="en-US" dirty="0" smtClean="0"/>
              <a:t>. Forge Welding, resistance welding.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lnSpcReduction="10000"/>
          </a:bodyPr>
          <a:lstStyle/>
          <a:p>
            <a:r>
              <a:rPr lang="en-US" u="sng" dirty="0" smtClean="0">
                <a:solidFill>
                  <a:srgbClr val="FF0000"/>
                </a:solidFill>
              </a:rPr>
              <a:t>Fusion Welding </a:t>
            </a:r>
          </a:p>
          <a:p>
            <a:pPr>
              <a:buNone/>
            </a:pPr>
            <a:r>
              <a:rPr lang="en-US" dirty="0"/>
              <a:t> </a:t>
            </a:r>
            <a:r>
              <a:rPr lang="en-US" dirty="0" smtClean="0"/>
              <a:t>   In this type of welding no pressure is involved but a very high temperature is produced in or near the joint.  </a:t>
            </a:r>
          </a:p>
          <a:p>
            <a:pPr algn="just"/>
            <a:r>
              <a:rPr lang="en-US" dirty="0" smtClean="0"/>
              <a:t> </a:t>
            </a:r>
            <a:r>
              <a:rPr lang="en-US" dirty="0" smtClean="0">
                <a:solidFill>
                  <a:srgbClr val="FF0000"/>
                </a:solidFill>
              </a:rPr>
              <a:t>The metal at the joint is heated to the molten state and a joint is formed as a result of solidification</a:t>
            </a:r>
            <a:r>
              <a:rPr lang="en-US" dirty="0" smtClean="0"/>
              <a:t>. </a:t>
            </a:r>
          </a:p>
          <a:p>
            <a:pPr algn="just"/>
            <a:r>
              <a:rPr lang="en-US" dirty="0" smtClean="0"/>
              <a:t>  The heat may be generated by electric arc, combustion of gases or chemical action. A filler material may be used during the welding process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Advantages Of Welding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 It produces a permanent joint. </a:t>
            </a:r>
          </a:p>
          <a:p>
            <a:r>
              <a:rPr lang="en-US" dirty="0" smtClean="0"/>
              <a:t> Overall cost of welding equipment is low. </a:t>
            </a:r>
            <a:endParaRPr lang="en-US" dirty="0"/>
          </a:p>
          <a:p>
            <a:r>
              <a:rPr lang="en-US" dirty="0" smtClean="0"/>
              <a:t>Large number of metals can be welded. </a:t>
            </a:r>
            <a:endParaRPr lang="en-US" dirty="0"/>
          </a:p>
          <a:p>
            <a:r>
              <a:rPr lang="en-US" dirty="0" smtClean="0"/>
              <a:t>Welding operation can be mechanized.  </a:t>
            </a:r>
            <a:endParaRPr lang="en-US" dirty="0"/>
          </a:p>
          <a:p>
            <a:r>
              <a:rPr lang="en-US" dirty="0" smtClean="0"/>
              <a:t>Welding operation is economical. </a:t>
            </a:r>
            <a:endParaRPr lang="en-US" dirty="0"/>
          </a:p>
          <a:p>
            <a:r>
              <a:rPr lang="en-US" dirty="0" smtClean="0"/>
              <a:t>High corrosion resistance compared to bolting and riveting. </a:t>
            </a:r>
          </a:p>
          <a:p>
            <a:pPr>
              <a:buNone/>
            </a:pPr>
            <a:r>
              <a:rPr lang="en-US" dirty="0" smtClean="0"/>
              <a: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Disadvantages Of Welding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 Welding operation distorts </a:t>
            </a:r>
            <a:r>
              <a:rPr lang="en-US" dirty="0" err="1" smtClean="0"/>
              <a:t>workpieces</a:t>
            </a:r>
            <a:r>
              <a:rPr lang="en-US" dirty="0" smtClean="0"/>
              <a:t>.</a:t>
            </a:r>
          </a:p>
          <a:p>
            <a:r>
              <a:rPr lang="en-US" dirty="0" smtClean="0"/>
              <a:t>  Skilled </a:t>
            </a:r>
            <a:r>
              <a:rPr lang="en-US" dirty="0" err="1" smtClean="0"/>
              <a:t>labour</a:t>
            </a:r>
            <a:r>
              <a:rPr lang="en-US" dirty="0" smtClean="0"/>
              <a:t> needed </a:t>
            </a:r>
          </a:p>
          <a:p>
            <a:r>
              <a:rPr lang="en-US" dirty="0" smtClean="0"/>
              <a:t> Weld joints require heat treatment</a:t>
            </a:r>
          </a:p>
          <a:p>
            <a:r>
              <a:rPr lang="en-US" dirty="0" smtClean="0"/>
              <a:t>  Produces chemical and physical changes. </a:t>
            </a:r>
          </a:p>
          <a:p>
            <a:r>
              <a:rPr lang="en-US" dirty="0" smtClean="0"/>
              <a:t>Gives off harmful radiations.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APPLICATIONS</a:t>
            </a:r>
            <a:endParaRPr lang="en-US"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r>
              <a:rPr lang="en-US" dirty="0" smtClean="0"/>
              <a:t> Aircraft construction </a:t>
            </a:r>
          </a:p>
          <a:p>
            <a:r>
              <a:rPr lang="en-US" dirty="0" smtClean="0"/>
              <a:t>Automobile Construction</a:t>
            </a:r>
          </a:p>
          <a:p>
            <a:r>
              <a:rPr lang="en-US" dirty="0" smtClean="0"/>
              <a:t>  Bridges </a:t>
            </a:r>
          </a:p>
          <a:p>
            <a:r>
              <a:rPr lang="en-US" dirty="0" smtClean="0"/>
              <a:t>Buildings </a:t>
            </a:r>
          </a:p>
          <a:p>
            <a:r>
              <a:rPr lang="en-US" dirty="0" smtClean="0"/>
              <a:t>Pressure vessels and tanks </a:t>
            </a:r>
          </a:p>
          <a:p>
            <a:r>
              <a:rPr lang="en-US" dirty="0" smtClean="0"/>
              <a:t> Storage tanks </a:t>
            </a:r>
          </a:p>
          <a:p>
            <a:r>
              <a:rPr lang="en-US" dirty="0" smtClean="0"/>
              <a:t>Rail Road Equipments </a:t>
            </a:r>
          </a:p>
          <a:p>
            <a:r>
              <a:rPr lang="en-US" dirty="0" smtClean="0"/>
              <a:t>Piping and Pipelines </a:t>
            </a:r>
          </a:p>
          <a:p>
            <a:r>
              <a:rPr lang="en-US" dirty="0" smtClean="0"/>
              <a:t>Ships</a:t>
            </a:r>
          </a:p>
          <a:p>
            <a:r>
              <a:rPr lang="en-US" dirty="0" smtClean="0"/>
              <a:t> Machine tool </a:t>
            </a:r>
          </a:p>
          <a:p>
            <a:r>
              <a:rPr lang="en-US" dirty="0" smtClean="0"/>
              <a:t> Household </a:t>
            </a:r>
          </a:p>
          <a:p>
            <a:r>
              <a:rPr lang="en-US" dirty="0" smtClean="0"/>
              <a:t>Heavy machineries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GAS WELDING </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Gas Welding is a Fusion-Welding process. </a:t>
            </a:r>
          </a:p>
          <a:p>
            <a:pPr>
              <a:buNone/>
            </a:pPr>
            <a:endParaRPr lang="en-US" dirty="0" smtClean="0"/>
          </a:p>
          <a:p>
            <a:r>
              <a:rPr lang="en-US" dirty="0" smtClean="0"/>
              <a:t> It joins metals using the heat of combustion of an oxygen/air and fuel gas. (acetylene, hydrogen, propane or butane).  </a:t>
            </a:r>
          </a:p>
          <a:p>
            <a:pPr>
              <a:buNone/>
            </a:pPr>
            <a:r>
              <a:rPr lang="en-US" dirty="0" smtClean="0"/>
              <a:t> </a:t>
            </a:r>
          </a:p>
          <a:p>
            <a:r>
              <a:rPr lang="en-US" dirty="0" smtClean="0"/>
              <a:t>Temperature produced ranges from 2600 </a:t>
            </a:r>
            <a:r>
              <a:rPr lang="en-US" dirty="0" smtClean="0">
                <a:solidFill>
                  <a:schemeClr val="tx2"/>
                </a:solidFill>
              </a:rPr>
              <a:t>°C</a:t>
            </a:r>
            <a:r>
              <a:rPr lang="en-US" dirty="0" smtClean="0"/>
              <a:t> to 3300 </a:t>
            </a:r>
            <a:r>
              <a:rPr lang="en-US" dirty="0" smtClean="0">
                <a:solidFill>
                  <a:schemeClr val="tx2"/>
                </a:solidFill>
              </a:rPr>
              <a:t>°C</a:t>
            </a:r>
            <a:r>
              <a:rPr lang="en-US" dirty="0" smtClean="0"/>
              <a:t> </a:t>
            </a:r>
          </a:p>
          <a:p>
            <a:pPr>
              <a:buNone/>
            </a:pPr>
            <a:r>
              <a:rPr lang="en-US" dirty="0" smtClean="0"/>
              <a:t> </a:t>
            </a:r>
          </a:p>
          <a:p>
            <a:r>
              <a:rPr lang="en-US" dirty="0" smtClean="0"/>
              <a:t>The intense heat produced melts and fuses together the edges of parts to be welded, generally with the addition of Filler material.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Types Of Gas Welding </a:t>
            </a:r>
            <a:br>
              <a:rPr lang="en-US" dirty="0" smtClean="0">
                <a:solidFill>
                  <a:srgbClr val="FF0000"/>
                </a:solidFill>
              </a:rPr>
            </a:br>
            <a:r>
              <a:rPr lang="en-US" dirty="0" smtClean="0">
                <a:solidFill>
                  <a:srgbClr val="FF0000"/>
                </a:solidFill>
              </a:rPr>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 Oxy-Acetylene Welding </a:t>
            </a:r>
          </a:p>
          <a:p>
            <a:pPr>
              <a:buNone/>
            </a:pPr>
            <a:endParaRPr lang="en-US" dirty="0" smtClean="0"/>
          </a:p>
          <a:p>
            <a:r>
              <a:rPr lang="en-US" dirty="0" smtClean="0"/>
              <a:t>Air-Acetylene Welding  </a:t>
            </a:r>
          </a:p>
          <a:p>
            <a:pPr>
              <a:buNone/>
            </a:pPr>
            <a:endParaRPr lang="en-US" dirty="0" smtClean="0"/>
          </a:p>
          <a:p>
            <a:r>
              <a:rPr lang="en-US" dirty="0" smtClean="0"/>
              <a:t>Oxy-Hydrogen Welding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Oxy-Acetylene Welding</a:t>
            </a:r>
            <a:endParaRPr lang="en-US" dirty="0">
              <a:solidFill>
                <a:srgbClr val="FF0000"/>
              </a:solidFill>
            </a:endParaRPr>
          </a:p>
        </p:txBody>
      </p:sp>
      <p:pic>
        <p:nvPicPr>
          <p:cNvPr id="4" name="Content Placeholder 3"/>
          <p:cNvPicPr>
            <a:picLocks noGrp="1"/>
          </p:cNvPicPr>
          <p:nvPr>
            <p:ph idx="1"/>
          </p:nvPr>
        </p:nvPicPr>
        <p:blipFill>
          <a:blip r:embed="rId2" cstate="print"/>
          <a:srcRect/>
          <a:stretch>
            <a:fillRect/>
          </a:stretch>
        </p:blipFill>
        <p:spPr>
          <a:xfrm>
            <a:off x="1071538" y="1714488"/>
            <a:ext cx="6572295" cy="421484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JINU MATHEW\Desktop\210.PNG"/>
          <p:cNvPicPr>
            <a:picLocks noGrp="1" noChangeAspect="1" noChangeArrowheads="1"/>
          </p:cNvPicPr>
          <p:nvPr>
            <p:ph idx="1"/>
          </p:nvPr>
        </p:nvPicPr>
        <p:blipFill>
          <a:blip r:embed="rId2"/>
          <a:srcRect/>
          <a:stretch>
            <a:fillRect/>
          </a:stretch>
        </p:blipFill>
        <p:spPr bwMode="auto">
          <a:xfrm>
            <a:off x="357158" y="357166"/>
            <a:ext cx="8286807" cy="576899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OXY-ACETYLENE WELDING</a:t>
            </a:r>
            <a:endParaRPr lang="en-US" dirty="0"/>
          </a:p>
        </p:txBody>
      </p:sp>
      <p:sp>
        <p:nvSpPr>
          <p:cNvPr id="3" name="Content Placeholder 2"/>
          <p:cNvSpPr>
            <a:spLocks noGrp="1"/>
          </p:cNvSpPr>
          <p:nvPr>
            <p:ph idx="1"/>
          </p:nvPr>
        </p:nvSpPr>
        <p:spPr>
          <a:xfrm>
            <a:off x="457200" y="1000108"/>
            <a:ext cx="8229600" cy="5572164"/>
          </a:xfrm>
        </p:spPr>
        <p:txBody>
          <a:bodyPr>
            <a:normAutofit fontScale="77500" lnSpcReduction="20000"/>
          </a:bodyPr>
          <a:lstStyle/>
          <a:p>
            <a:pPr>
              <a:buNone/>
            </a:pPr>
            <a:r>
              <a:rPr lang="en-US" dirty="0" smtClean="0">
                <a:solidFill>
                  <a:srgbClr val="FF0000"/>
                </a:solidFill>
              </a:rPr>
              <a:t>Principle</a:t>
            </a:r>
            <a:r>
              <a:rPr lang="en-US" dirty="0" smtClean="0"/>
              <a:t> </a:t>
            </a:r>
          </a:p>
          <a:p>
            <a:pPr algn="just"/>
            <a:r>
              <a:rPr lang="en-US" dirty="0" smtClean="0"/>
              <a:t> When Acetylene gas is mixed with oxygen in correct proportions in the welding torch and ignited, the flame resulting at the tip of the torch is sufficiently hot to melt and join the parent metal. </a:t>
            </a:r>
          </a:p>
          <a:p>
            <a:pPr algn="just"/>
            <a:r>
              <a:rPr lang="en-US" dirty="0" smtClean="0"/>
              <a:t>The oxy-acetylene flame reaches a temperature about 3200C which is sufficient to melt all commercial metals.  </a:t>
            </a:r>
          </a:p>
          <a:p>
            <a:pPr algn="just"/>
            <a:r>
              <a:rPr lang="en-US" dirty="0" smtClean="0"/>
              <a:t> A pool of metals to be joined which upon solidification forms a bond. </a:t>
            </a:r>
            <a:endParaRPr lang="en-US" dirty="0"/>
          </a:p>
          <a:p>
            <a:pPr algn="just"/>
            <a:r>
              <a:rPr lang="en-US" dirty="0" smtClean="0"/>
              <a:t>Filler Metals are additional metal added to the weld. The composition of Filler Rod is same or nearly the same as that of the part being welded. </a:t>
            </a:r>
          </a:p>
          <a:p>
            <a:pPr algn="just"/>
            <a:r>
              <a:rPr lang="en-US" dirty="0" smtClean="0"/>
              <a:t> Filler metal (Welding Rod) added increases the strength of the bond formed. </a:t>
            </a:r>
            <a:endParaRPr lang="en-US" dirty="0"/>
          </a:p>
          <a:p>
            <a:pPr algn="just"/>
            <a:r>
              <a:rPr lang="en-US" dirty="0" smtClean="0"/>
              <a:t>Flux is added to remove the impurities and oxides formed during welding operation.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FF0000"/>
                </a:solidFill>
              </a:rPr>
              <a:t>Oxy-acetylene Welding Equipment</a:t>
            </a:r>
            <a:endParaRPr lang="en-US" dirty="0"/>
          </a:p>
        </p:txBody>
      </p:sp>
      <p:pic>
        <p:nvPicPr>
          <p:cNvPr id="5122" name="Picture 2" descr="C:\Users\JINU MATHEW\Desktop\208.PNG"/>
          <p:cNvPicPr>
            <a:picLocks noGrp="1" noChangeAspect="1" noChangeArrowheads="1"/>
          </p:cNvPicPr>
          <p:nvPr>
            <p:ph idx="1"/>
          </p:nvPr>
        </p:nvPicPr>
        <p:blipFill>
          <a:blip r:embed="rId2"/>
          <a:srcRect/>
          <a:stretch>
            <a:fillRect/>
          </a:stretch>
        </p:blipFill>
        <p:spPr bwMode="auto">
          <a:xfrm>
            <a:off x="714348" y="1791204"/>
            <a:ext cx="8072493" cy="4638192"/>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FF0000"/>
                </a:solidFill>
              </a:rPr>
              <a:t>Oxy-acetylene Welding Equipment</a:t>
            </a:r>
            <a:endParaRPr lang="en-US" dirty="0"/>
          </a:p>
        </p:txBody>
      </p:sp>
      <p:pic>
        <p:nvPicPr>
          <p:cNvPr id="2050" name="Picture 2" descr="C:\Users\JINU MATHEW\Desktop\116.PNG"/>
          <p:cNvPicPr>
            <a:picLocks noGrp="1" noChangeAspect="1" noChangeArrowheads="1"/>
          </p:cNvPicPr>
          <p:nvPr>
            <p:ph idx="1"/>
          </p:nvPr>
        </p:nvPicPr>
        <p:blipFill>
          <a:blip r:embed="rId2"/>
          <a:srcRect/>
          <a:stretch>
            <a:fillRect/>
          </a:stretch>
        </p:blipFill>
        <p:spPr bwMode="auto">
          <a:xfrm>
            <a:off x="428596" y="1671638"/>
            <a:ext cx="7572427" cy="4757758"/>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solidFill>
                  <a:srgbClr val="FF0000"/>
                </a:solidFill>
              </a:rPr>
              <a:t>Oxy-acetylene Welding Equipment </a:t>
            </a:r>
            <a:br>
              <a:rPr lang="en-US" b="1" u="sng" dirty="0" smtClean="0">
                <a:solidFill>
                  <a:srgbClr val="FF0000"/>
                </a:solidFill>
              </a:rPr>
            </a:br>
            <a:endParaRPr lang="en-US" b="1" u="sng"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solidFill>
                  <a:srgbClr val="FF0000"/>
                </a:solidFill>
              </a:rPr>
              <a:t>Acetylene Cylinder </a:t>
            </a:r>
            <a:r>
              <a:rPr lang="en-US" dirty="0" smtClean="0"/>
              <a:t>- Used for storing Acetylene </a:t>
            </a:r>
          </a:p>
          <a:p>
            <a:r>
              <a:rPr lang="en-US" dirty="0" smtClean="0"/>
              <a:t> </a:t>
            </a:r>
            <a:r>
              <a:rPr lang="en-US" dirty="0" smtClean="0">
                <a:solidFill>
                  <a:srgbClr val="FF0000"/>
                </a:solidFill>
              </a:rPr>
              <a:t>Oxygen Cylinder </a:t>
            </a:r>
            <a:r>
              <a:rPr lang="en-US" dirty="0" smtClean="0"/>
              <a:t>-Used for storing Oxygen </a:t>
            </a:r>
          </a:p>
          <a:p>
            <a:pPr algn="just"/>
            <a:r>
              <a:rPr lang="en-US" dirty="0" smtClean="0"/>
              <a:t>  </a:t>
            </a:r>
            <a:r>
              <a:rPr lang="en-US" dirty="0" smtClean="0">
                <a:solidFill>
                  <a:srgbClr val="FF0000"/>
                </a:solidFill>
              </a:rPr>
              <a:t>Oxygen and Acetylene pressure Regulators  </a:t>
            </a:r>
            <a:r>
              <a:rPr lang="en-US" dirty="0" smtClean="0"/>
              <a:t>-The pressure of the gases obtained from the cylinders is considerably higher than the gas pressure required to carry out the welding operation. </a:t>
            </a:r>
          </a:p>
          <a:p>
            <a:r>
              <a:rPr lang="en-US" dirty="0" smtClean="0"/>
              <a:t>The purpose of regulators is to  </a:t>
            </a:r>
          </a:p>
          <a:p>
            <a:pPr>
              <a:buNone/>
            </a:pPr>
            <a:r>
              <a:rPr lang="en-US" dirty="0" smtClean="0"/>
              <a:t>-Reduce the pressures of gases </a:t>
            </a:r>
          </a:p>
          <a:p>
            <a:pPr>
              <a:buNone/>
            </a:pPr>
            <a:r>
              <a:rPr lang="en-US" dirty="0" smtClean="0"/>
              <a:t>- To produce steady flow of gases.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FF0000"/>
                </a:solidFill>
              </a:rPr>
              <a:t>Oxy-acetylene Welding Equipment</a:t>
            </a:r>
            <a:endParaRPr lang="en-US" b="1" u="sng"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solidFill>
                  <a:srgbClr val="FF0000"/>
                </a:solidFill>
              </a:rPr>
              <a:t> Welding Rods </a:t>
            </a:r>
            <a:r>
              <a:rPr lang="en-US" dirty="0" smtClean="0"/>
              <a:t>- Used as Filler Metal </a:t>
            </a:r>
          </a:p>
          <a:p>
            <a:r>
              <a:rPr lang="en-US" dirty="0" smtClean="0">
                <a:solidFill>
                  <a:srgbClr val="FF0000"/>
                </a:solidFill>
              </a:rPr>
              <a:t> Flux </a:t>
            </a:r>
            <a:r>
              <a:rPr lang="en-US" dirty="0" smtClean="0"/>
              <a:t>-Used for removing impurities and oxides.  </a:t>
            </a:r>
          </a:p>
          <a:p>
            <a:r>
              <a:rPr lang="en-US" dirty="0" smtClean="0">
                <a:solidFill>
                  <a:srgbClr val="FF0000"/>
                </a:solidFill>
              </a:rPr>
              <a:t>Welding Torch or Blow Pipe </a:t>
            </a:r>
            <a:r>
              <a:rPr lang="en-US" dirty="0" smtClean="0"/>
              <a:t>-Oxygen and the fuel gas are mixed in the welding torch.   Welding Torch controls the flow of gases to the welding nozzle.  </a:t>
            </a:r>
            <a:endParaRPr lang="en-US" dirty="0"/>
          </a:p>
          <a:p>
            <a:r>
              <a:rPr lang="en-US" dirty="0" smtClean="0">
                <a:solidFill>
                  <a:srgbClr val="FF0000"/>
                </a:solidFill>
              </a:rPr>
              <a:t>There are two types of Welding Torches. They are :-  High Pressure (or Equal Pressure) Type   :   Low Pressure (or Injector) Type  </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solidFill>
                  <a:srgbClr val="FF0000"/>
                </a:solidFill>
              </a:rPr>
              <a:t>TYPES OF FLAMES</a:t>
            </a:r>
            <a:endParaRPr lang="en-US" dirty="0">
              <a:solidFill>
                <a:srgbClr val="FF0000"/>
              </a:solidFill>
            </a:endParaRPr>
          </a:p>
        </p:txBody>
      </p:sp>
      <p:sp>
        <p:nvSpPr>
          <p:cNvPr id="4" name="Content Placeholder 1048616"/>
          <p:cNvSpPr>
            <a:spLocks noGrp="1"/>
          </p:cNvSpPr>
          <p:nvPr>
            <p:ph idx="1"/>
          </p:nvPr>
        </p:nvSpPr>
        <p:spPr/>
        <p:txBody>
          <a:bodyPr/>
          <a:lstStyle/>
          <a:p>
            <a:pPr>
              <a:buFont typeface="Arial"/>
              <a:buChar char="•"/>
            </a:pPr>
            <a:r>
              <a:rPr lang="en-US" sz="2400" dirty="0" smtClean="0">
                <a:solidFill>
                  <a:srgbClr val="FF0000"/>
                </a:solidFill>
              </a:rPr>
              <a:t>Neutral </a:t>
            </a:r>
            <a:r>
              <a:rPr lang="en-US" sz="2400" dirty="0">
                <a:solidFill>
                  <a:srgbClr val="FF0000"/>
                </a:solidFill>
              </a:rPr>
              <a:t>flame</a:t>
            </a:r>
            <a:r>
              <a:rPr lang="en-US" sz="2400" dirty="0"/>
              <a:t>.</a:t>
            </a:r>
          </a:p>
          <a:p>
            <a:pPr marL="342900" indent="-342900">
              <a:buFont typeface="+mj-lt"/>
              <a:buAutoNum type="arabicPeriod"/>
            </a:pPr>
            <a:r>
              <a:rPr lang="en-US" sz="1600" dirty="0"/>
              <a:t>All gas is burn </a:t>
            </a:r>
          </a:p>
          <a:p>
            <a:pPr marL="342900" indent="-342900">
              <a:buFont typeface="+mj-lt"/>
              <a:buAutoNum type="arabicPeriod"/>
            </a:pPr>
            <a:r>
              <a:rPr lang="en-US" sz="1600" dirty="0"/>
              <a:t>gives 100% heat.</a:t>
            </a:r>
          </a:p>
          <a:p>
            <a:pPr marL="342900" indent="-342900">
              <a:buFont typeface="+mj-lt"/>
              <a:buAutoNum type="arabicPeriod"/>
            </a:pPr>
            <a:r>
              <a:rPr lang="en-US" sz="1600" dirty="0"/>
              <a:t>Ideal flame used in gas welding.</a:t>
            </a:r>
          </a:p>
          <a:p>
            <a:pPr>
              <a:buFont typeface="Arial"/>
              <a:buChar char="•"/>
            </a:pPr>
            <a:r>
              <a:rPr lang="en-US" sz="2400" dirty="0">
                <a:solidFill>
                  <a:srgbClr val="FF0000"/>
                </a:solidFill>
              </a:rPr>
              <a:t>Reducing flame.</a:t>
            </a:r>
          </a:p>
          <a:p>
            <a:pPr marL="342900" indent="-342900">
              <a:buFont typeface="+mj-lt"/>
              <a:buAutoNum type="arabicPeriod"/>
            </a:pPr>
            <a:r>
              <a:rPr lang="en-US" sz="1600" dirty="0"/>
              <a:t>It consist of inner core intermediate feather and outer flame.</a:t>
            </a:r>
          </a:p>
          <a:p>
            <a:pPr marL="342900" indent="-342900">
              <a:buFont typeface="+mj-lt"/>
              <a:buAutoNum type="arabicPeriod"/>
            </a:pPr>
            <a:r>
              <a:rPr lang="en-US" sz="1600" dirty="0"/>
              <a:t>It is also called as </a:t>
            </a:r>
            <a:r>
              <a:rPr lang="en-US" sz="1600" dirty="0" err="1"/>
              <a:t>carburising</a:t>
            </a:r>
            <a:r>
              <a:rPr lang="en-US" sz="1600" dirty="0"/>
              <a:t> flame.</a:t>
            </a:r>
          </a:p>
          <a:p>
            <a:pPr marL="342900" indent="-342900">
              <a:buFont typeface="+mj-lt"/>
              <a:buAutoNum type="arabicPeriod"/>
            </a:pPr>
            <a:r>
              <a:rPr lang="en-US" sz="1600" dirty="0"/>
              <a:t>strong reduction in higher zone due to high amount of acetylene .</a:t>
            </a:r>
          </a:p>
          <a:p>
            <a:pPr>
              <a:buFont typeface="Arial"/>
              <a:buChar char="•"/>
            </a:pPr>
            <a:r>
              <a:rPr lang="en-US" sz="2400" dirty="0">
                <a:solidFill>
                  <a:srgbClr val="FF0000"/>
                </a:solidFill>
              </a:rPr>
              <a:t>Oxidizing flame</a:t>
            </a:r>
            <a:r>
              <a:rPr lang="en-US" sz="2400" dirty="0"/>
              <a:t>.</a:t>
            </a:r>
          </a:p>
          <a:p>
            <a:pPr marL="342900" indent="-342900">
              <a:buFont typeface="+mj-lt"/>
              <a:buAutoNum type="arabicPeriod"/>
            </a:pPr>
            <a:r>
              <a:rPr lang="en-US" sz="1600" dirty="0"/>
              <a:t>It contain more oxygen than any other flame.</a:t>
            </a:r>
          </a:p>
          <a:p>
            <a:pPr marL="342900" indent="-342900">
              <a:buFont typeface="+mj-lt"/>
              <a:buAutoNum type="arabicPeriod"/>
            </a:pPr>
            <a:r>
              <a:rPr lang="en-US" sz="1600" dirty="0"/>
              <a:t>This is used for oxidizing metal like </a:t>
            </a:r>
            <a:r>
              <a:rPr lang="en-US" sz="1600" dirty="0" err="1"/>
              <a:t>brass,Zink</a:t>
            </a:r>
            <a:r>
              <a:rPr lang="en-US" sz="1600" dirty="0"/>
              <a:t> etc.</a:t>
            </a:r>
          </a:p>
          <a:p>
            <a:pPr marL="342900" indent="-342900">
              <a:buFont typeface="+mj-lt"/>
              <a:buAutoNum type="arabicPeriod"/>
            </a:pPr>
            <a:r>
              <a:rPr lang="en-US" sz="1600" dirty="0"/>
              <a:t>It is similar to natural flame.</a:t>
            </a:r>
          </a:p>
          <a:p>
            <a:pPr marL="342900" indent="-342900">
              <a:buFont typeface="+mj-lt"/>
              <a:buAutoNum type="arabicPeriod"/>
            </a:pPr>
            <a:endParaRPr lang="en-US" sz="1600" dirty="0"/>
          </a:p>
          <a:p>
            <a:pPr>
              <a:buFont typeface="Arial"/>
              <a:buChar char="•"/>
            </a:pP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JINU MATHEW\Desktop\207.PNG"/>
          <p:cNvPicPr>
            <a:picLocks noGrp="1" noChangeAspect="1" noChangeArrowheads="1"/>
          </p:cNvPicPr>
          <p:nvPr>
            <p:ph idx="1"/>
          </p:nvPr>
        </p:nvPicPr>
        <p:blipFill>
          <a:blip r:embed="rId2"/>
          <a:srcRect/>
          <a:stretch>
            <a:fillRect/>
          </a:stretch>
        </p:blipFill>
        <p:spPr bwMode="auto">
          <a:xfrm>
            <a:off x="785786" y="857232"/>
            <a:ext cx="7358114" cy="507209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Advantages Of Gas Welding</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en-US" dirty="0" smtClean="0"/>
              <a:t> Oxy-Fuel gas can be easily controlled.   </a:t>
            </a:r>
          </a:p>
          <a:p>
            <a:r>
              <a:rPr lang="en-US" dirty="0" smtClean="0"/>
              <a:t>Suitable for thin sheets. </a:t>
            </a:r>
          </a:p>
          <a:p>
            <a:r>
              <a:rPr lang="en-US" dirty="0" smtClean="0"/>
              <a:t>Equipment is portable.  </a:t>
            </a:r>
          </a:p>
          <a:p>
            <a:r>
              <a:rPr lang="en-US" dirty="0" smtClean="0"/>
              <a:t>It can weld most common materials.  </a:t>
            </a:r>
          </a:p>
          <a:p>
            <a:r>
              <a:rPr lang="en-US" dirty="0" smtClean="0"/>
              <a:t> By changing the nozzle the torch can be use for heating, and cutting purposes. </a:t>
            </a:r>
          </a:p>
          <a:p>
            <a:r>
              <a:rPr lang="en-US" dirty="0" smtClean="0"/>
              <a:t>Cost is low.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Disadvantages Of Gas Welding </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Heavy sections cannot be joined. </a:t>
            </a:r>
          </a:p>
          <a:p>
            <a:r>
              <a:rPr lang="en-US" dirty="0" smtClean="0"/>
              <a:t> Flame temperature is less than that of arc. </a:t>
            </a:r>
          </a:p>
          <a:p>
            <a:r>
              <a:rPr lang="en-US" dirty="0" smtClean="0"/>
              <a:t> Refractory metals (</a:t>
            </a:r>
            <a:r>
              <a:rPr lang="en-US" dirty="0" err="1" smtClean="0"/>
              <a:t>eg</a:t>
            </a:r>
            <a:r>
              <a:rPr lang="en-US" dirty="0" smtClean="0"/>
              <a:t>. Tungsten, molybdenum, tantalum etc) and reactive metals (</a:t>
            </a:r>
            <a:r>
              <a:rPr lang="en-US" dirty="0" err="1" smtClean="0"/>
              <a:t>eg</a:t>
            </a:r>
            <a:r>
              <a:rPr lang="en-US" dirty="0" smtClean="0"/>
              <a:t>. Titanium and zirconium) cannot be gas welded. </a:t>
            </a:r>
          </a:p>
          <a:p>
            <a:r>
              <a:rPr lang="en-US" dirty="0" smtClean="0"/>
              <a:t> Fluxes used produce fumes that are irritating to eyes, nose and lungs.  </a:t>
            </a:r>
          </a:p>
          <a:p>
            <a:r>
              <a:rPr lang="en-US" dirty="0" smtClean="0"/>
              <a:t> Slower than Arc Welding Process. </a:t>
            </a:r>
          </a:p>
          <a:p>
            <a:r>
              <a:rPr lang="en-US" dirty="0" smtClean="0"/>
              <a:t> Distortion to the work piece is more compared to Arc Welding process. </a:t>
            </a:r>
            <a:endParaRPr lang="en-US" dirty="0"/>
          </a:p>
          <a:p>
            <a:r>
              <a:rPr lang="en-US" dirty="0" smtClean="0"/>
              <a:t>Careful handling and storing is required.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ARC WELDING </a:t>
            </a:r>
            <a:br>
              <a:rPr lang="en-US" b="1" dirty="0" smtClean="0">
                <a:solidFill>
                  <a:srgbClr val="FF0000"/>
                </a:solidFill>
              </a:rPr>
            </a:br>
            <a:endParaRPr lang="en-US" b="1" dirty="0">
              <a:solidFill>
                <a:srgbClr val="FF0000"/>
              </a:solidFill>
            </a:endParaRPr>
          </a:p>
        </p:txBody>
      </p:sp>
      <p:sp>
        <p:nvSpPr>
          <p:cNvPr id="3" name="Content Placeholder 2"/>
          <p:cNvSpPr>
            <a:spLocks noGrp="1"/>
          </p:cNvSpPr>
          <p:nvPr>
            <p:ph idx="1"/>
          </p:nvPr>
        </p:nvSpPr>
        <p:spPr>
          <a:xfrm>
            <a:off x="457200" y="928670"/>
            <a:ext cx="8229600" cy="5786478"/>
          </a:xfrm>
        </p:spPr>
        <p:txBody>
          <a:bodyPr>
            <a:normAutofit fontScale="77500" lnSpcReduction="20000"/>
          </a:bodyPr>
          <a:lstStyle/>
          <a:p>
            <a:r>
              <a:rPr lang="en-US" dirty="0" smtClean="0"/>
              <a:t> Method of fusion welding in which the metals at the joint is heated to molten state by an electric arc </a:t>
            </a:r>
          </a:p>
          <a:p>
            <a:pPr>
              <a:buNone/>
            </a:pPr>
            <a:endParaRPr lang="en-US" dirty="0" smtClean="0"/>
          </a:p>
          <a:p>
            <a:r>
              <a:rPr lang="en-US" dirty="0" smtClean="0"/>
              <a:t> Arc column is generated between an anode(electrode) and the cathode(metal to be joined) </a:t>
            </a:r>
          </a:p>
          <a:p>
            <a:pPr>
              <a:buNone/>
            </a:pPr>
            <a:endParaRPr lang="en-US" dirty="0" smtClean="0"/>
          </a:p>
          <a:p>
            <a:r>
              <a:rPr lang="en-US" dirty="0" smtClean="0"/>
              <a:t>Temperature of the arc is about 6000⁰C  to  7000⁰C  </a:t>
            </a:r>
          </a:p>
          <a:p>
            <a:endParaRPr lang="en-US" dirty="0" smtClean="0"/>
          </a:p>
          <a:p>
            <a:pPr>
              <a:buNone/>
            </a:pPr>
            <a:r>
              <a:rPr lang="en-US" b="1" u="sng" dirty="0" smtClean="0">
                <a:solidFill>
                  <a:srgbClr val="FF0000"/>
                </a:solidFill>
              </a:rPr>
              <a:t>ELECTRODES </a:t>
            </a:r>
          </a:p>
          <a:p>
            <a:pPr>
              <a:buNone/>
            </a:pPr>
            <a:endParaRPr lang="en-US" dirty="0" smtClean="0"/>
          </a:p>
          <a:p>
            <a:r>
              <a:rPr lang="en-US" dirty="0" smtClean="0">
                <a:solidFill>
                  <a:srgbClr val="FF0000"/>
                </a:solidFill>
              </a:rPr>
              <a:t>Non- consumable electrodes</a:t>
            </a:r>
            <a:r>
              <a:rPr lang="en-US" dirty="0" smtClean="0"/>
              <a:t>: carbon, graphite or tungsten(they are not consumed during welding operation) </a:t>
            </a:r>
          </a:p>
          <a:p>
            <a:r>
              <a:rPr lang="en-US" dirty="0" smtClean="0"/>
              <a:t>  </a:t>
            </a:r>
            <a:r>
              <a:rPr lang="en-US" dirty="0" smtClean="0">
                <a:solidFill>
                  <a:srgbClr val="FF0000"/>
                </a:solidFill>
              </a:rPr>
              <a:t>Consumable electrodes</a:t>
            </a:r>
            <a:r>
              <a:rPr lang="en-US" dirty="0" smtClean="0"/>
              <a:t>: steel(consumed during welding operation),  electrode may be bare(uncoated) or flux coated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JINU MATHEW\Desktop\212.PNG"/>
          <p:cNvPicPr>
            <a:picLocks noGrp="1" noChangeAspect="1" noChangeArrowheads="1"/>
          </p:cNvPicPr>
          <p:nvPr>
            <p:ph idx="1"/>
          </p:nvPr>
        </p:nvPicPr>
        <p:blipFill>
          <a:blip r:embed="rId2"/>
          <a:srcRect/>
          <a:stretch>
            <a:fillRect/>
          </a:stretch>
        </p:blipFill>
        <p:spPr bwMode="auto">
          <a:xfrm>
            <a:off x="785786" y="571480"/>
            <a:ext cx="7429552" cy="5520863"/>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ARC WELDING</a:t>
            </a:r>
            <a:endParaRPr lang="en-US" dirty="0">
              <a:solidFill>
                <a:srgbClr val="FF0000"/>
              </a:solidFill>
            </a:endParaRPr>
          </a:p>
        </p:txBody>
      </p:sp>
      <p:pic>
        <p:nvPicPr>
          <p:cNvPr id="3074" name="Picture 2" descr="C:\Users\JINU MATHEW\Desktop\117.PNG"/>
          <p:cNvPicPr>
            <a:picLocks noGrp="1" noChangeAspect="1" noChangeArrowheads="1"/>
          </p:cNvPicPr>
          <p:nvPr>
            <p:ph idx="1"/>
          </p:nvPr>
        </p:nvPicPr>
        <p:blipFill>
          <a:blip r:embed="rId2"/>
          <a:srcRect/>
          <a:stretch>
            <a:fillRect/>
          </a:stretch>
        </p:blipFill>
        <p:spPr bwMode="auto">
          <a:xfrm>
            <a:off x="642910" y="1285861"/>
            <a:ext cx="7358114" cy="557214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solidFill>
                  <a:srgbClr val="FF0000"/>
                </a:solidFill>
              </a:rPr>
              <a:t>MANUAL METAL ARC WELDING EQUIPMENT</a:t>
            </a:r>
            <a:endParaRPr lang="en-US" dirty="0">
              <a:solidFill>
                <a:srgbClr val="FF0000"/>
              </a:solidFill>
            </a:endParaRPr>
          </a:p>
        </p:txBody>
      </p:sp>
      <p:pic>
        <p:nvPicPr>
          <p:cNvPr id="4098" name="Picture 2" descr="C:\Users\JINU MATHEW\Desktop\118.PNG"/>
          <p:cNvPicPr>
            <a:picLocks noGrp="1" noChangeAspect="1" noChangeArrowheads="1"/>
          </p:cNvPicPr>
          <p:nvPr>
            <p:ph idx="1"/>
          </p:nvPr>
        </p:nvPicPr>
        <p:blipFill>
          <a:blip r:embed="rId2"/>
          <a:srcRect/>
          <a:stretch>
            <a:fillRect/>
          </a:stretch>
        </p:blipFill>
        <p:spPr bwMode="auto">
          <a:xfrm>
            <a:off x="1214414" y="1600200"/>
            <a:ext cx="6929486" cy="4525963"/>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ARC WELDING- SHIELDED METAL ARC WELDING </a:t>
            </a:r>
            <a:endParaRPr lang="en-US"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 The heat is generated by an electric arc between base metal and a consumable electrode.   </a:t>
            </a:r>
          </a:p>
          <a:p>
            <a:r>
              <a:rPr lang="en-US" dirty="0" smtClean="0"/>
              <a:t> In this process electrode movement is manually controlled hence it is termed as manual metal arc welding </a:t>
            </a:r>
          </a:p>
          <a:p>
            <a:r>
              <a:rPr lang="en-US" dirty="0" smtClean="0"/>
              <a:t>In shielded metal arc welding, the protection to the weld pool is provided by covering of a) slag formed over the surface of weld pool/metal and b) inactive gases generated through thermal decomposition of flux/coating materials on the electrode </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ARC WELDING- SHIELDED METAL ARC WELDING </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This process can use both AC and DC. The constant current DC power source is invariably used with all types of electrode  irrespective of base metal (ferrous and nonferrous) </a:t>
            </a:r>
          </a:p>
          <a:p>
            <a:pPr>
              <a:buNone/>
            </a:pPr>
            <a:r>
              <a:rPr lang="en-US" dirty="0" smtClean="0"/>
              <a:t> </a:t>
            </a:r>
          </a:p>
          <a:p>
            <a:r>
              <a:rPr lang="en-US" dirty="0" smtClean="0"/>
              <a:t> AC can be unsuitable for certain types of electrodes and base materials </a:t>
            </a:r>
          </a:p>
          <a:p>
            <a:pPr>
              <a:buNone/>
            </a:pPr>
            <a:r>
              <a:rPr lang="en-US" dirty="0" smtClean="0"/>
              <a:t> </a:t>
            </a:r>
          </a:p>
          <a:p>
            <a:r>
              <a:rPr lang="en-US" dirty="0" smtClean="0"/>
              <a:t> SHIELDED METAL ARC WELDING </a:t>
            </a:r>
            <a:r>
              <a:rPr lang="en-US" dirty="0" err="1" smtClean="0"/>
              <a:t>welding</a:t>
            </a:r>
            <a:r>
              <a:rPr lang="en-US" dirty="0" smtClean="0"/>
              <a:t> normally uses constant current type of power source with welding current 50-600A and voltage 20-80V </a:t>
            </a:r>
          </a:p>
          <a:p>
            <a:pPr>
              <a:buNone/>
            </a:pPr>
            <a:endParaRPr lang="en-US" dirty="0" smtClean="0"/>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JINU MATHEW\Desktop\213.PNG"/>
          <p:cNvPicPr>
            <a:picLocks noGrp="1" noChangeAspect="1" noChangeArrowheads="1"/>
          </p:cNvPicPr>
          <p:nvPr>
            <p:ph idx="1"/>
          </p:nvPr>
        </p:nvPicPr>
        <p:blipFill>
          <a:blip r:embed="rId2"/>
          <a:srcRect/>
          <a:stretch>
            <a:fillRect/>
          </a:stretch>
        </p:blipFill>
        <p:spPr bwMode="auto">
          <a:xfrm>
            <a:off x="928662" y="214290"/>
            <a:ext cx="7429552" cy="5911873"/>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FF0000"/>
                </a:solidFill>
              </a:rPr>
              <a:t>RESISTANCE WELDING</a:t>
            </a:r>
            <a:endParaRPr lang="en-US" b="1" u="sng" dirty="0">
              <a:solidFill>
                <a:srgbClr val="FF0000"/>
              </a:solidFill>
            </a:endParaRPr>
          </a:p>
        </p:txBody>
      </p:sp>
      <p:sp>
        <p:nvSpPr>
          <p:cNvPr id="3" name="Content Placeholder 2"/>
          <p:cNvSpPr>
            <a:spLocks noGrp="1"/>
          </p:cNvSpPr>
          <p:nvPr>
            <p:ph idx="1"/>
          </p:nvPr>
        </p:nvSpPr>
        <p:spPr/>
        <p:txBody>
          <a:bodyPr>
            <a:normAutofit/>
          </a:bodyPr>
          <a:lstStyle/>
          <a:p>
            <a:r>
              <a:rPr lang="en-US" dirty="0" smtClean="0"/>
              <a:t>Parts to be joined are heated to a plastic state over a limited area by their resistance to flow of electric current(resistance heating) and then by mechanically pressing together </a:t>
            </a:r>
          </a:p>
          <a:p>
            <a:pPr>
              <a:buNone/>
            </a:pPr>
            <a:r>
              <a:rPr lang="en-US" dirty="0" smtClean="0"/>
              <a:t>• Pressure is applied continuously till the weld cools down </a:t>
            </a:r>
          </a:p>
          <a:p>
            <a:pPr>
              <a:buNone/>
            </a:pPr>
            <a:r>
              <a:rPr lang="en-US" dirty="0" smtClean="0"/>
              <a:t> • It is generally used for joining thin plates and structures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JINU MATHEW\Desktop\214.PNG"/>
          <p:cNvPicPr>
            <a:picLocks noGrp="1" noChangeAspect="1" noChangeArrowheads="1"/>
          </p:cNvPicPr>
          <p:nvPr>
            <p:ph idx="1"/>
          </p:nvPr>
        </p:nvPicPr>
        <p:blipFill>
          <a:blip r:embed="rId2"/>
          <a:srcRect/>
          <a:stretch>
            <a:fillRect/>
          </a:stretch>
        </p:blipFill>
        <p:spPr bwMode="auto">
          <a:xfrm>
            <a:off x="1071538" y="357166"/>
            <a:ext cx="7000924" cy="5458913"/>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1.RESISTANCE SPOT WELDING</a:t>
            </a:r>
            <a:endParaRPr lang="en-US" dirty="0">
              <a:solidFill>
                <a:srgbClr val="FF0000"/>
              </a:solidFill>
            </a:endParaRPr>
          </a:p>
        </p:txBody>
      </p:sp>
      <p:sp>
        <p:nvSpPr>
          <p:cNvPr id="3" name="Content Placeholder 2"/>
          <p:cNvSpPr>
            <a:spLocks noGrp="1"/>
          </p:cNvSpPr>
          <p:nvPr>
            <p:ph idx="1"/>
          </p:nvPr>
        </p:nvSpPr>
        <p:spPr/>
        <p:txBody>
          <a:bodyPr/>
          <a:lstStyle/>
          <a:p>
            <a:r>
              <a:rPr lang="en-US" dirty="0" smtClean="0"/>
              <a:t>Pieces are assembled and placed between electrodes and pressure is applied  </a:t>
            </a:r>
          </a:p>
          <a:p>
            <a:r>
              <a:rPr lang="en-US" dirty="0" smtClean="0"/>
              <a:t> When current passes, the pieces are heated at the contact area, and due to the pressure, the contact spot gets welded</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JINU MATHEW\Desktop\216.PNG"/>
          <p:cNvPicPr>
            <a:picLocks noGrp="1" noChangeAspect="1" noChangeArrowheads="1"/>
          </p:cNvPicPr>
          <p:nvPr>
            <p:ph idx="1"/>
          </p:nvPr>
        </p:nvPicPr>
        <p:blipFill>
          <a:blip r:embed="rId2"/>
          <a:srcRect/>
          <a:stretch>
            <a:fillRect/>
          </a:stretch>
        </p:blipFill>
        <p:spPr bwMode="auto">
          <a:xfrm>
            <a:off x="928662" y="642919"/>
            <a:ext cx="7429552" cy="5430372"/>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2.RESISTANCE SEAM WELDING</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Similar to spot welding except that the electrodes are disc shaped rollers  </a:t>
            </a:r>
          </a:p>
          <a:p>
            <a:pPr>
              <a:buNone/>
            </a:pPr>
            <a:r>
              <a:rPr lang="en-US" dirty="0" smtClean="0"/>
              <a:t>• Electrodes roll over the sheet and a continuous weld is obtained </a:t>
            </a:r>
          </a:p>
          <a:p>
            <a:pPr>
              <a:buNone/>
            </a:pPr>
            <a:r>
              <a:rPr lang="en-US" dirty="0" smtClean="0"/>
              <a:t> </a:t>
            </a:r>
          </a:p>
          <a:p>
            <a:pPr>
              <a:buNone/>
            </a:pPr>
            <a:r>
              <a:rPr lang="en-US" dirty="0" smtClean="0"/>
              <a:t>• Process is also called continuous spot weld process </a:t>
            </a:r>
          </a:p>
          <a:p>
            <a:pPr>
              <a:buNone/>
            </a:pPr>
            <a:r>
              <a:rPr lang="en-US" dirty="0" smtClean="0"/>
              <a:t> </a:t>
            </a:r>
          </a:p>
          <a:p>
            <a:pPr>
              <a:buNone/>
            </a:pPr>
            <a:r>
              <a:rPr lang="en-US" dirty="0" smtClean="0"/>
              <a:t>• Timed pulses of  current pass through the metal to form the overlapping welds. Welding  current is usually higher than the conventional spot welding </a:t>
            </a:r>
          </a:p>
          <a:p>
            <a:pPr>
              <a:buNone/>
            </a:pPr>
            <a:r>
              <a:rPr lang="en-US" dirty="0" smtClean="0"/>
              <a:t>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285852" y="785794"/>
            <a:ext cx="5953148" cy="5191937"/>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3.RESISTANCE BUTT WELDING</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Heat obtained from the resistance to electric current through the area of contact of  two surfaces </a:t>
            </a:r>
          </a:p>
          <a:p>
            <a:pPr>
              <a:buNone/>
            </a:pPr>
            <a:endParaRPr lang="en-US" dirty="0" smtClean="0"/>
          </a:p>
          <a:p>
            <a:pPr>
              <a:buNone/>
            </a:pPr>
            <a:r>
              <a:rPr lang="en-US" dirty="0" smtClean="0"/>
              <a:t>• Pressure is applied before heating is started and is maintained throughout the heating period </a:t>
            </a:r>
          </a:p>
          <a:p>
            <a:pPr>
              <a:buNone/>
            </a:pPr>
            <a:r>
              <a:rPr lang="en-US" dirty="0" smtClean="0"/>
              <a:t> </a:t>
            </a:r>
          </a:p>
          <a:p>
            <a:pPr>
              <a:buNone/>
            </a:pPr>
            <a:r>
              <a:rPr lang="en-US" dirty="0" smtClean="0"/>
              <a:t>• Heavy current is passed from one metal piece to other. The resistance to electric current flow heats the faces to fusion temperature  </a:t>
            </a:r>
          </a:p>
          <a:p>
            <a:pPr>
              <a:buNone/>
            </a:pPr>
            <a:r>
              <a:rPr lang="en-US" dirty="0" smtClean="0"/>
              <a:t>• Both pressure and current are applied throughout the weld cycle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When the faces of the pieces become plastic, they are pressed together more firmly, upsetting the metal piece to form a dense joint </a:t>
            </a:r>
          </a:p>
          <a:p>
            <a:pPr>
              <a:buNone/>
            </a:pPr>
            <a:r>
              <a:rPr lang="en-US" dirty="0" smtClean="0"/>
              <a:t> </a:t>
            </a:r>
          </a:p>
          <a:p>
            <a:pPr>
              <a:buNone/>
            </a:pPr>
            <a:r>
              <a:rPr lang="en-US" dirty="0" smtClean="0"/>
              <a:t>• Force is released as the welded joint has cooled to the desired temperature </a:t>
            </a:r>
          </a:p>
          <a:p>
            <a:pPr>
              <a:buNone/>
            </a:pPr>
            <a:r>
              <a:rPr lang="en-US" dirty="0" smtClean="0"/>
              <a:t> </a:t>
            </a:r>
          </a:p>
          <a:p>
            <a:pPr>
              <a:buNone/>
            </a:pPr>
            <a:r>
              <a:rPr lang="en-US" dirty="0" smtClean="0"/>
              <a:t>• Here  one Clamp is stationary and other one is movable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JINU MATHEW\Desktop\220.PNG"/>
          <p:cNvPicPr>
            <a:picLocks noGrp="1" noChangeAspect="1" noChangeArrowheads="1"/>
          </p:cNvPicPr>
          <p:nvPr>
            <p:ph idx="1"/>
          </p:nvPr>
        </p:nvPicPr>
        <p:blipFill>
          <a:blip r:embed="rId2"/>
          <a:srcRect/>
          <a:stretch>
            <a:fillRect/>
          </a:stretch>
        </p:blipFill>
        <p:spPr bwMode="auto">
          <a:xfrm>
            <a:off x="1214414" y="428604"/>
            <a:ext cx="6429420" cy="5263633"/>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WELDING DEFECTS</a:t>
            </a:r>
            <a:endParaRPr lang="en-US" dirty="0"/>
          </a:p>
        </p:txBody>
      </p:sp>
      <p:sp>
        <p:nvSpPr>
          <p:cNvPr id="3" name="Content Placeholder 2"/>
          <p:cNvSpPr>
            <a:spLocks noGrp="1"/>
          </p:cNvSpPr>
          <p:nvPr>
            <p:ph idx="1"/>
          </p:nvPr>
        </p:nvSpPr>
        <p:spPr/>
        <p:txBody>
          <a:bodyPr>
            <a:normAutofit lnSpcReduction="10000"/>
          </a:bodyPr>
          <a:lstStyle/>
          <a:p>
            <a:r>
              <a:rPr lang="en-IN" dirty="0" smtClean="0"/>
              <a:t>Weld crack</a:t>
            </a:r>
          </a:p>
          <a:p>
            <a:r>
              <a:rPr lang="en-IN" dirty="0" smtClean="0"/>
              <a:t>Porosity</a:t>
            </a:r>
          </a:p>
          <a:p>
            <a:r>
              <a:rPr lang="en-IN" dirty="0" smtClean="0"/>
              <a:t>Undercut</a:t>
            </a:r>
          </a:p>
          <a:p>
            <a:r>
              <a:rPr lang="en-IN" dirty="0" smtClean="0"/>
              <a:t>Spatter</a:t>
            </a:r>
          </a:p>
          <a:p>
            <a:r>
              <a:rPr lang="en-IN" dirty="0" smtClean="0"/>
              <a:t>Slag inclusion</a:t>
            </a:r>
          </a:p>
          <a:p>
            <a:r>
              <a:rPr lang="en-IN" dirty="0" smtClean="0"/>
              <a:t>Poor fusion</a:t>
            </a:r>
          </a:p>
          <a:p>
            <a:r>
              <a:rPr lang="en-IN" dirty="0" err="1" smtClean="0"/>
              <a:t>Wraping</a:t>
            </a:r>
            <a:r>
              <a:rPr lang="en-IN" dirty="0" smtClean="0"/>
              <a:t> and distortion</a:t>
            </a:r>
          </a:p>
          <a:p>
            <a:r>
              <a:rPr lang="en-IN" dirty="0" smtClean="0"/>
              <a:t>Lack of penetration</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WELDING DEFECTS</a:t>
            </a:r>
            <a:endParaRPr lang="en-US" dirty="0">
              <a:solidFill>
                <a:srgbClr val="FF0000"/>
              </a:solidFill>
            </a:endParaRPr>
          </a:p>
        </p:txBody>
      </p:sp>
      <p:pic>
        <p:nvPicPr>
          <p:cNvPr id="2050" name="Picture 2" descr="C:\Users\JINU MATHEW\Desktop\44.PNG"/>
          <p:cNvPicPr>
            <a:picLocks noGrp="1" noChangeAspect="1" noChangeArrowheads="1"/>
          </p:cNvPicPr>
          <p:nvPr>
            <p:ph idx="1"/>
          </p:nvPr>
        </p:nvPicPr>
        <p:blipFill>
          <a:blip r:embed="rId2"/>
          <a:srcRect/>
          <a:stretch>
            <a:fillRect/>
          </a:stretch>
        </p:blipFill>
        <p:spPr bwMode="auto">
          <a:xfrm>
            <a:off x="214282" y="1142984"/>
            <a:ext cx="8643998" cy="5429288"/>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SOLDERING</a:t>
            </a:r>
            <a:endParaRPr lang="en-US" b="1" dirty="0">
              <a:solidFill>
                <a:srgbClr val="FF0000"/>
              </a:solidFill>
            </a:endParaRPr>
          </a:p>
        </p:txBody>
      </p:sp>
      <p:sp>
        <p:nvSpPr>
          <p:cNvPr id="3" name="Content Placeholder 2"/>
          <p:cNvSpPr>
            <a:spLocks noGrp="1"/>
          </p:cNvSpPr>
          <p:nvPr>
            <p:ph idx="1"/>
          </p:nvPr>
        </p:nvSpPr>
        <p:spPr>
          <a:xfrm>
            <a:off x="457200" y="1357298"/>
            <a:ext cx="8229600" cy="4768865"/>
          </a:xfrm>
        </p:spPr>
        <p:txBody>
          <a:bodyPr>
            <a:normAutofit/>
          </a:bodyPr>
          <a:lstStyle/>
          <a:p>
            <a:pPr>
              <a:buNone/>
            </a:pPr>
            <a:endParaRPr lang="en-US" dirty="0" smtClean="0"/>
          </a:p>
          <a:p>
            <a:pPr algn="just"/>
            <a:r>
              <a:rPr lang="en-US" dirty="0" smtClean="0"/>
              <a:t> Method of joining two or more metal pieces by means of a fusible alloy or metal called solder(filler alloy), applied in molten state </a:t>
            </a:r>
          </a:p>
          <a:p>
            <a:pPr algn="just">
              <a:buNone/>
            </a:pPr>
            <a:endParaRPr lang="en-US" dirty="0" smtClean="0"/>
          </a:p>
          <a:p>
            <a:pPr algn="just"/>
            <a:r>
              <a:rPr lang="en-US" dirty="0" smtClean="0"/>
              <a:t> </a:t>
            </a:r>
            <a:r>
              <a:rPr lang="en-US" dirty="0" smtClean="0">
                <a:solidFill>
                  <a:srgbClr val="FF0000"/>
                </a:solidFill>
              </a:rPr>
              <a:t>The melting temperature of filler metal is lower than 450°C and also lower than the melting point of the components to be joined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SOLDERING</a:t>
            </a:r>
            <a:endParaRPr lang="en-US" dirty="0">
              <a:solidFill>
                <a:srgbClr val="FF0000"/>
              </a:solidFill>
            </a:endParaRPr>
          </a:p>
        </p:txBody>
      </p:sp>
      <p:pic>
        <p:nvPicPr>
          <p:cNvPr id="1026" name="Picture 2" descr="C:\Users\JINU MATHEW\Desktop\45.PNG"/>
          <p:cNvPicPr>
            <a:picLocks noGrp="1" noChangeAspect="1" noChangeArrowheads="1"/>
          </p:cNvPicPr>
          <p:nvPr>
            <p:ph idx="1"/>
          </p:nvPr>
        </p:nvPicPr>
        <p:blipFill>
          <a:blip r:embed="rId2"/>
          <a:srcRect/>
          <a:stretch>
            <a:fillRect/>
          </a:stretch>
        </p:blipFill>
        <p:spPr bwMode="auto">
          <a:xfrm>
            <a:off x="918652" y="2110336"/>
            <a:ext cx="7306695" cy="350569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SOLDERING</a:t>
            </a: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pPr algn="just"/>
            <a:r>
              <a:rPr lang="en-US" dirty="0" smtClean="0"/>
              <a:t>No direct melting of the metals being joined </a:t>
            </a:r>
          </a:p>
          <a:p>
            <a:pPr algn="just">
              <a:buNone/>
            </a:pPr>
            <a:r>
              <a:rPr lang="en-US" dirty="0" smtClean="0"/>
              <a:t>• During  the process, the filler alloy(solder) flows between the two closely adjacent surfaces of the work pieces by capillary action </a:t>
            </a:r>
          </a:p>
          <a:p>
            <a:pPr algn="just">
              <a:buNone/>
            </a:pPr>
            <a:r>
              <a:rPr lang="en-US" dirty="0" smtClean="0"/>
              <a:t> </a:t>
            </a:r>
          </a:p>
          <a:p>
            <a:pPr algn="just">
              <a:buNone/>
            </a:pPr>
            <a:r>
              <a:rPr lang="en-US" dirty="0" smtClean="0"/>
              <a:t>• Solder is melted by using a soldering iron, which is heated by electrical resistance </a:t>
            </a:r>
          </a:p>
          <a:p>
            <a:pPr algn="just">
              <a:buNone/>
            </a:pPr>
            <a:r>
              <a:rPr lang="en-US" dirty="0" smtClean="0"/>
              <a:t> </a:t>
            </a:r>
          </a:p>
          <a:p>
            <a:pPr algn="just">
              <a:buNone/>
            </a:pPr>
            <a:r>
              <a:rPr lang="en-US" dirty="0" smtClean="0"/>
              <a:t>• Soldering iron tips are made of copper core plated with iron. The copper is used for heat transfer and the iron plating is used for durability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a:t>
            </a:r>
            <a:endParaRPr lang="en-US" dirty="0">
              <a:solidFill>
                <a:srgbClr val="FF0000"/>
              </a:solidFill>
            </a:endParaRPr>
          </a:p>
        </p:txBody>
      </p:sp>
      <p:sp>
        <p:nvSpPr>
          <p:cNvPr id="3" name="Content Placeholder 2"/>
          <p:cNvSpPr>
            <a:spLocks noGrp="1"/>
          </p:cNvSpPr>
          <p:nvPr>
            <p:ph idx="1"/>
          </p:nvPr>
        </p:nvSpPr>
        <p:spPr/>
        <p:txBody>
          <a:bodyPr/>
          <a:lstStyle/>
          <a:p>
            <a:pPr algn="just"/>
            <a:r>
              <a:rPr lang="en-IN" dirty="0" smtClean="0">
                <a:solidFill>
                  <a:srgbClr val="FF0000"/>
                </a:solidFill>
              </a:rPr>
              <a:t>Soft soldering </a:t>
            </a:r>
            <a:r>
              <a:rPr lang="en-IN" dirty="0" smtClean="0"/>
              <a:t>– generally used in sheet metal work for joining parts which are not subjected to high load or high </a:t>
            </a:r>
            <a:r>
              <a:rPr lang="en-IN" dirty="0" err="1" smtClean="0"/>
              <a:t>temeprature</a:t>
            </a:r>
            <a:r>
              <a:rPr lang="en-IN" dirty="0" smtClean="0"/>
              <a:t>. The melting point of solder using ranges from 150 to 300 </a:t>
            </a:r>
            <a:r>
              <a:rPr lang="en-US" dirty="0" smtClean="0">
                <a:solidFill>
                  <a:schemeClr val="tx2"/>
                </a:solidFill>
              </a:rPr>
              <a:t>°C</a:t>
            </a:r>
            <a:endParaRPr lang="en-IN" dirty="0" smtClean="0">
              <a:solidFill>
                <a:schemeClr val="tx2"/>
              </a:solidFill>
            </a:endParaRPr>
          </a:p>
          <a:p>
            <a:pPr algn="just"/>
            <a:r>
              <a:rPr lang="en-IN" dirty="0" smtClean="0">
                <a:solidFill>
                  <a:srgbClr val="FF0000"/>
                </a:solidFill>
              </a:rPr>
              <a:t>Hard soldering </a:t>
            </a:r>
            <a:r>
              <a:rPr lang="en-IN" dirty="0" smtClean="0"/>
              <a:t>– stronger than soft soldering. Silver alloy with tin is used as hard solder , the melting point of which is 300 to 600 </a:t>
            </a:r>
            <a:r>
              <a:rPr lang="en-US" dirty="0" smtClean="0">
                <a:solidFill>
                  <a:schemeClr val="tx2"/>
                </a:solidFill>
              </a:rPr>
              <a:t>°C</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JINU MATHEW\Desktop\203.PNG"/>
          <p:cNvPicPr>
            <a:picLocks noGrp="1" noChangeAspect="1" noChangeArrowheads="1"/>
          </p:cNvPicPr>
          <p:nvPr>
            <p:ph idx="1"/>
          </p:nvPr>
        </p:nvPicPr>
        <p:blipFill>
          <a:blip r:embed="rId2"/>
          <a:srcRect/>
          <a:stretch>
            <a:fillRect/>
          </a:stretch>
        </p:blipFill>
        <p:spPr bwMode="auto">
          <a:xfrm>
            <a:off x="642910" y="285728"/>
            <a:ext cx="7643866" cy="5840435"/>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JINU MATHEW\Desktop\200.PNG"/>
          <p:cNvPicPr>
            <a:picLocks noGrp="1" noChangeAspect="1" noChangeArrowheads="1"/>
          </p:cNvPicPr>
          <p:nvPr>
            <p:ph idx="1"/>
          </p:nvPr>
        </p:nvPicPr>
        <p:blipFill>
          <a:blip r:embed="rId2"/>
          <a:srcRect/>
          <a:stretch>
            <a:fillRect/>
          </a:stretch>
        </p:blipFill>
        <p:spPr bwMode="auto">
          <a:xfrm>
            <a:off x="500034" y="285728"/>
            <a:ext cx="7929618" cy="6143668"/>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Applications</a:t>
            </a:r>
            <a:endParaRPr lang="en-US" dirty="0">
              <a:solidFill>
                <a:srgbClr val="FF0000"/>
              </a:solidFill>
            </a:endParaRPr>
          </a:p>
        </p:txBody>
      </p:sp>
      <p:sp>
        <p:nvSpPr>
          <p:cNvPr id="3" name="Content Placeholder 2"/>
          <p:cNvSpPr>
            <a:spLocks noGrp="1"/>
          </p:cNvSpPr>
          <p:nvPr>
            <p:ph idx="1"/>
          </p:nvPr>
        </p:nvSpPr>
        <p:spPr/>
        <p:txBody>
          <a:bodyPr/>
          <a:lstStyle/>
          <a:p>
            <a:r>
              <a:rPr lang="en-IN" dirty="0" smtClean="0"/>
              <a:t>Joining wires in electric connections</a:t>
            </a:r>
          </a:p>
          <a:p>
            <a:r>
              <a:rPr lang="en-IN" dirty="0" smtClean="0"/>
              <a:t>Electronic boards and similar small parts which are not subjected to load and temperature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BRAZING </a:t>
            </a:r>
            <a:br>
              <a:rPr lang="en-US" b="1" dirty="0" smtClean="0">
                <a:solidFill>
                  <a:srgbClr val="FF0000"/>
                </a:solidFill>
              </a:rPr>
            </a:br>
            <a:endParaRPr lang="en-US" b="1" dirty="0">
              <a:solidFill>
                <a:srgbClr val="FF0000"/>
              </a:solidFill>
            </a:endParaRPr>
          </a:p>
        </p:txBody>
      </p:sp>
      <p:sp>
        <p:nvSpPr>
          <p:cNvPr id="3" name="Content Placeholder 2"/>
          <p:cNvSpPr>
            <a:spLocks noGrp="1"/>
          </p:cNvSpPr>
          <p:nvPr>
            <p:ph idx="1"/>
          </p:nvPr>
        </p:nvSpPr>
        <p:spPr>
          <a:xfrm>
            <a:off x="457200" y="1071546"/>
            <a:ext cx="8229600" cy="5572164"/>
          </a:xfrm>
        </p:spPr>
        <p:txBody>
          <a:bodyPr>
            <a:normAutofit fontScale="25000" lnSpcReduction="20000"/>
          </a:bodyPr>
          <a:lstStyle/>
          <a:p>
            <a:pPr algn="just">
              <a:buNone/>
            </a:pPr>
            <a:r>
              <a:rPr lang="en-US" sz="9600" dirty="0" smtClean="0"/>
              <a:t>•</a:t>
            </a:r>
            <a:r>
              <a:rPr lang="en-US" dirty="0" smtClean="0"/>
              <a:t> </a:t>
            </a:r>
            <a:r>
              <a:rPr lang="en-US" sz="9600" dirty="0" smtClean="0"/>
              <a:t>Metal pieces are joined by heating the closely placed parts and then filler alloy called </a:t>
            </a:r>
            <a:r>
              <a:rPr lang="en-US" sz="9600" dirty="0" err="1" smtClean="0"/>
              <a:t>spelter</a:t>
            </a:r>
            <a:r>
              <a:rPr lang="en-US" sz="9600" dirty="0" smtClean="0"/>
              <a:t> applied in the molten state which upon solidification produces the desired joint </a:t>
            </a:r>
          </a:p>
          <a:p>
            <a:pPr algn="just">
              <a:buNone/>
            </a:pPr>
            <a:r>
              <a:rPr lang="en-US" sz="9600" dirty="0" smtClean="0"/>
              <a:t> </a:t>
            </a:r>
          </a:p>
          <a:p>
            <a:pPr algn="just">
              <a:buNone/>
            </a:pPr>
            <a:r>
              <a:rPr lang="en-US" sz="9600" dirty="0" smtClean="0"/>
              <a:t>• </a:t>
            </a:r>
            <a:r>
              <a:rPr lang="en-US" sz="9600" dirty="0" smtClean="0">
                <a:solidFill>
                  <a:srgbClr val="FF0000"/>
                </a:solidFill>
              </a:rPr>
              <a:t>Melting temperature of filler metal is more than 450°C but lower than the melting temperature of  the components to be joined </a:t>
            </a:r>
          </a:p>
          <a:p>
            <a:pPr algn="just"/>
            <a:r>
              <a:rPr lang="en-US" sz="9600" dirty="0" smtClean="0"/>
              <a:t>No direct melting of the metals being joined </a:t>
            </a:r>
          </a:p>
          <a:p>
            <a:pPr algn="just">
              <a:buNone/>
            </a:pPr>
            <a:r>
              <a:rPr lang="en-US" sz="9600" dirty="0" smtClean="0"/>
              <a:t> </a:t>
            </a:r>
          </a:p>
          <a:p>
            <a:pPr algn="just">
              <a:buNone/>
            </a:pPr>
            <a:r>
              <a:rPr lang="en-US" sz="9600" dirty="0" smtClean="0"/>
              <a:t>• Brazing gives a much stronger joint compared to soldering </a:t>
            </a:r>
          </a:p>
          <a:p>
            <a:pPr algn="just">
              <a:buNone/>
            </a:pPr>
            <a:r>
              <a:rPr lang="en-US" sz="9600" dirty="0" smtClean="0"/>
              <a:t> </a:t>
            </a:r>
          </a:p>
          <a:p>
            <a:pPr algn="just">
              <a:buNone/>
            </a:pPr>
            <a:r>
              <a:rPr lang="en-US" sz="9600" dirty="0" smtClean="0"/>
              <a:t>• During  the process, the filler alloy(</a:t>
            </a:r>
            <a:r>
              <a:rPr lang="en-US" sz="9600" dirty="0" err="1" smtClean="0"/>
              <a:t>spelter</a:t>
            </a:r>
            <a:r>
              <a:rPr lang="en-US" sz="9600" dirty="0" smtClean="0"/>
              <a:t>) flows between the two closely adjacent surfaces of the work pieces by capillary action </a:t>
            </a:r>
          </a:p>
          <a:p>
            <a:pPr algn="just">
              <a:buNone/>
            </a:pPr>
            <a:r>
              <a:rPr lang="en-US" sz="9600" dirty="0" smtClean="0"/>
              <a:t> </a:t>
            </a:r>
          </a:p>
          <a:p>
            <a:pPr algn="just">
              <a:buNone/>
            </a:pPr>
            <a:r>
              <a:rPr lang="en-US" sz="9600" dirty="0" smtClean="0"/>
              <a:t>• Torch brazing is the most versatile method   (Oxygen-Acetylene) </a:t>
            </a:r>
          </a:p>
          <a:p>
            <a:pPr>
              <a:buNone/>
            </a:pPr>
            <a:endParaRPr lang="en-US"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TYPES</a:t>
            </a:r>
            <a:endParaRPr lang="en-US" dirty="0">
              <a:solidFill>
                <a:srgbClr val="FF0000"/>
              </a:solidFill>
            </a:endParaRPr>
          </a:p>
        </p:txBody>
      </p:sp>
      <p:sp>
        <p:nvSpPr>
          <p:cNvPr id="3" name="Content Placeholder 2"/>
          <p:cNvSpPr>
            <a:spLocks noGrp="1"/>
          </p:cNvSpPr>
          <p:nvPr>
            <p:ph idx="1"/>
          </p:nvPr>
        </p:nvSpPr>
        <p:spPr/>
        <p:txBody>
          <a:bodyPr/>
          <a:lstStyle/>
          <a:p>
            <a:r>
              <a:rPr lang="en-IN" dirty="0" smtClean="0"/>
              <a:t>TORCH BRAZING</a:t>
            </a:r>
          </a:p>
          <a:p>
            <a:r>
              <a:rPr lang="en-IN" dirty="0" smtClean="0"/>
              <a:t>FURNACE BRAZING</a:t>
            </a:r>
          </a:p>
          <a:p>
            <a:r>
              <a:rPr lang="en-IN" dirty="0" smtClean="0"/>
              <a:t>RESISTANCE BRAZING</a:t>
            </a:r>
          </a:p>
          <a:p>
            <a:r>
              <a:rPr lang="en-IN" dirty="0" smtClean="0"/>
              <a:t>INDUCTIVE BRAZING</a:t>
            </a:r>
          </a:p>
          <a:p>
            <a:r>
              <a:rPr lang="en-IN" dirty="0" smtClean="0"/>
              <a:t>INFRA RED BRAZING</a:t>
            </a:r>
          </a:p>
          <a:p>
            <a:pPr>
              <a:buNone/>
            </a:pPr>
            <a:r>
              <a:rPr lang="en-IN" dirty="0" smtClean="0">
                <a:solidFill>
                  <a:srgbClr val="FF0000"/>
                </a:solidFill>
              </a:rPr>
              <a:t>APPLICATIONS -  </a:t>
            </a:r>
            <a:r>
              <a:rPr lang="en-IN" dirty="0" smtClean="0">
                <a:solidFill>
                  <a:schemeClr val="tx2"/>
                </a:solidFill>
              </a:rPr>
              <a:t>Fastening of pipe fittings, stove burners, carbide tip on tools, radiators, heat exchangers, electrical parts</a:t>
            </a:r>
            <a:endParaRPr lang="en-US" dirty="0">
              <a:solidFill>
                <a:schemeClr val="tx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JINU MATHEW\Desktop\201.PNG"/>
          <p:cNvPicPr>
            <a:picLocks noGrp="1" noChangeAspect="1" noChangeArrowheads="1"/>
          </p:cNvPicPr>
          <p:nvPr>
            <p:ph idx="1"/>
          </p:nvPr>
        </p:nvPicPr>
        <p:blipFill>
          <a:blip r:embed="rId2"/>
          <a:srcRect/>
          <a:stretch>
            <a:fillRect/>
          </a:stretch>
        </p:blipFill>
        <p:spPr bwMode="auto">
          <a:xfrm>
            <a:off x="928662" y="714356"/>
            <a:ext cx="6325000" cy="5035039"/>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JINU MATHEW\Desktop\205.PNG"/>
          <p:cNvPicPr>
            <a:picLocks noGrp="1" noChangeAspect="1" noChangeArrowheads="1"/>
          </p:cNvPicPr>
          <p:nvPr>
            <p:ph idx="1"/>
          </p:nvPr>
        </p:nvPicPr>
        <p:blipFill>
          <a:blip r:embed="rId2"/>
          <a:srcRect/>
          <a:stretch>
            <a:fillRect/>
          </a:stretch>
        </p:blipFill>
        <p:spPr bwMode="auto">
          <a:xfrm>
            <a:off x="642910" y="1357298"/>
            <a:ext cx="8143932" cy="3320384"/>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TotalTime>
  <Words>1867</Words>
  <Application>Microsoft Office PowerPoint</Application>
  <PresentationFormat>On-screen Show (4:3)</PresentationFormat>
  <Paragraphs>209</Paragraphs>
  <Slides>51</Slides>
  <Notes>0</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WELDING</vt:lpstr>
      <vt:lpstr>WELDING  </vt:lpstr>
      <vt:lpstr>Slide 3</vt:lpstr>
      <vt:lpstr>Classification Of Welding   </vt:lpstr>
      <vt:lpstr>Classification Of Welding   </vt:lpstr>
      <vt:lpstr>Slide 6</vt:lpstr>
      <vt:lpstr>Advantages Of Welding  </vt:lpstr>
      <vt:lpstr>Disadvantages Of Welding  </vt:lpstr>
      <vt:lpstr>APPLICATIONS</vt:lpstr>
      <vt:lpstr>GAS WELDING </vt:lpstr>
      <vt:lpstr>Types Of Gas Welding    </vt:lpstr>
      <vt:lpstr>Oxy-Acetylene Welding</vt:lpstr>
      <vt:lpstr>Slide 13</vt:lpstr>
      <vt:lpstr>OXY-ACETYLENE WELDING</vt:lpstr>
      <vt:lpstr>Oxy-acetylene Welding Equipment</vt:lpstr>
      <vt:lpstr>Oxy-acetylene Welding Equipment</vt:lpstr>
      <vt:lpstr>Oxy-acetylene Welding Equipment  </vt:lpstr>
      <vt:lpstr>Oxy-acetylene Welding Equipment</vt:lpstr>
      <vt:lpstr>TYPES OF FLAMES</vt:lpstr>
      <vt:lpstr>Slide 20</vt:lpstr>
      <vt:lpstr>Advantages Of Gas Welding</vt:lpstr>
      <vt:lpstr>Disadvantages Of Gas Welding </vt:lpstr>
      <vt:lpstr>ARC WELDING  </vt:lpstr>
      <vt:lpstr>Slide 24</vt:lpstr>
      <vt:lpstr>ARC WELDING</vt:lpstr>
      <vt:lpstr>MANUAL METAL ARC WELDING EQUIPMENT</vt:lpstr>
      <vt:lpstr>ARC WELDING- SHIELDED METAL ARC WELDING </vt:lpstr>
      <vt:lpstr>ARC WELDING- SHIELDED METAL ARC WELDING </vt:lpstr>
      <vt:lpstr>Slide 29</vt:lpstr>
      <vt:lpstr>RESISTANCE WELDING</vt:lpstr>
      <vt:lpstr>Slide 31</vt:lpstr>
      <vt:lpstr>1.RESISTANCE SPOT WELDING</vt:lpstr>
      <vt:lpstr>Slide 33</vt:lpstr>
      <vt:lpstr>2.RESISTANCE SEAM WELDING</vt:lpstr>
      <vt:lpstr>Slide 35</vt:lpstr>
      <vt:lpstr>3.RESISTANCE BUTT WELDING</vt:lpstr>
      <vt:lpstr>Slide 37</vt:lpstr>
      <vt:lpstr>Slide 38</vt:lpstr>
      <vt:lpstr>WELDING DEFECTS</vt:lpstr>
      <vt:lpstr>WELDING DEFECTS</vt:lpstr>
      <vt:lpstr>SOLDERING</vt:lpstr>
      <vt:lpstr>SOLDERING</vt:lpstr>
      <vt:lpstr>SOLDERING</vt:lpstr>
      <vt:lpstr>TYPES</vt:lpstr>
      <vt:lpstr>Slide 45</vt:lpstr>
      <vt:lpstr>Slide 46</vt:lpstr>
      <vt:lpstr>Applications</vt:lpstr>
      <vt:lpstr>BRAZING  </vt:lpstr>
      <vt:lpstr>TYPES</vt:lpstr>
      <vt:lpstr>Slide 50</vt:lpstr>
      <vt:lpstr>Slide 51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JJKL</dc:title>
  <dc:creator>JINU MATHEW</dc:creator>
  <cp:lastModifiedBy>JINU MATHEW</cp:lastModifiedBy>
  <cp:revision>24</cp:revision>
  <dcterms:created xsi:type="dcterms:W3CDTF">2019-11-12T16:49:15Z</dcterms:created>
  <dcterms:modified xsi:type="dcterms:W3CDTF">2019-11-14T07:49:19Z</dcterms:modified>
</cp:coreProperties>
</file>