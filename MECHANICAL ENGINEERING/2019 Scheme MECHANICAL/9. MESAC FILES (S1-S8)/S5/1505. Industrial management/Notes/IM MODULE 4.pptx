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86" r:id="rId3"/>
    <p:sldId id="287" r:id="rId4"/>
    <p:sldId id="288" r:id="rId5"/>
    <p:sldId id="308" r:id="rId6"/>
    <p:sldId id="289" r:id="rId7"/>
    <p:sldId id="290" r:id="rId8"/>
    <p:sldId id="291" r:id="rId9"/>
    <p:sldId id="292" r:id="rId10"/>
    <p:sldId id="293" r:id="rId11"/>
    <p:sldId id="294" r:id="rId12"/>
    <p:sldId id="309" r:id="rId13"/>
    <p:sldId id="310" r:id="rId14"/>
    <p:sldId id="311" r:id="rId15"/>
    <p:sldId id="312" r:id="rId16"/>
    <p:sldId id="306" r:id="rId17"/>
    <p:sldId id="307" r:id="rId18"/>
    <p:sldId id="297" r:id="rId19"/>
    <p:sldId id="298" r:id="rId20"/>
    <p:sldId id="299" r:id="rId21"/>
    <p:sldId id="300" r:id="rId22"/>
    <p:sldId id="301" r:id="rId23"/>
    <p:sldId id="302" r:id="rId24"/>
    <p:sldId id="303" r:id="rId25"/>
    <p:sldId id="304" r:id="rId26"/>
    <p:sldId id="305" r:id="rId27"/>
    <p:sldId id="313" r:id="rId28"/>
    <p:sldId id="314" r:id="rId29"/>
    <p:sldId id="315" r:id="rId30"/>
    <p:sldId id="316" r:id="rId31"/>
    <p:sldId id="317" r:id="rId32"/>
    <p:sldId id="318" r:id="rId33"/>
    <p:sldId id="319" r:id="rId34"/>
    <p:sldId id="320" r:id="rId35"/>
    <p:sldId id="321" r:id="rId36"/>
    <p:sldId id="322" r:id="rId37"/>
    <p:sldId id="323" r:id="rId38"/>
    <p:sldId id="324" r:id="rId39"/>
    <p:sldId id="325" r:id="rId40"/>
    <p:sldId id="32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00B050"/>
                </a:solidFill>
                <a:latin typeface="Algerian" pitchFamily="82" charset="0"/>
              </a:rPr>
              <a:t>MODULE 4</a:t>
            </a:r>
            <a:endParaRPr lang="en-IN" dirty="0"/>
          </a:p>
        </p:txBody>
      </p:sp>
      <p:sp>
        <p:nvSpPr>
          <p:cNvPr id="3" name="Subtitle 2"/>
          <p:cNvSpPr>
            <a:spLocks noGrp="1"/>
          </p:cNvSpPr>
          <p:nvPr>
            <p:ph type="subTitle" idx="1"/>
          </p:nvPr>
        </p:nvSpPr>
        <p:spPr>
          <a:xfrm>
            <a:off x="571472" y="3929066"/>
            <a:ext cx="7715304" cy="1709734"/>
          </a:xfrm>
        </p:spPr>
        <p:txBody>
          <a:bodyPr>
            <a:normAutofit/>
          </a:bodyPr>
          <a:lstStyle/>
          <a:p>
            <a:pPr algn="r"/>
            <a:r>
              <a:rPr lang="en-US" sz="2000" b="1" dirty="0" smtClean="0">
                <a:latin typeface="Blackadder ITC" pitchFamily="82" charset="0"/>
              </a:rPr>
              <a:t>Faizal K</a:t>
            </a:r>
          </a:p>
          <a:p>
            <a:pPr algn="r"/>
            <a:r>
              <a:rPr lang="en-US" sz="2000" b="1" dirty="0" smtClean="0">
                <a:latin typeface="Blackadder ITC" pitchFamily="82" charset="0"/>
              </a:rPr>
              <a:t>Asst. Professor </a:t>
            </a:r>
          </a:p>
          <a:p>
            <a:pPr algn="r"/>
            <a:r>
              <a:rPr lang="en-US" sz="2000" b="1" dirty="0" smtClean="0">
                <a:latin typeface="Blackadder ITC" pitchFamily="82" charset="0"/>
              </a:rPr>
              <a:t>Dept: of Mechanical Engineering</a:t>
            </a:r>
          </a:p>
          <a:p>
            <a:pPr algn="r"/>
            <a:r>
              <a:rPr lang="en-US" sz="2000" b="1" dirty="0" smtClean="0">
                <a:latin typeface="Blackadder ITC" pitchFamily="82" charset="0"/>
              </a:rPr>
              <a:t>School of Engineering, CUSAT</a:t>
            </a:r>
            <a:endParaRPr lang="en-IN" sz="2000" b="1" dirty="0">
              <a:latin typeface="Blackadder ITC"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00B050"/>
                </a:solidFill>
                <a:latin typeface="Algerian" pitchFamily="82" charset="0"/>
              </a:rPr>
              <a:t>Marketing</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Definition</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Marketing is the economic process by which goods and services are exchanged between the producer and the consumer and their values determined in terms of money.</a:t>
            </a:r>
          </a:p>
          <a:p>
            <a:pPr algn="just"/>
            <a:r>
              <a:rPr lang="en-US" sz="2400" dirty="0" smtClean="0">
                <a:latin typeface="Times New Roman" pitchFamily="18" charset="0"/>
                <a:cs typeface="Times New Roman" pitchFamily="18" charset="0"/>
              </a:rPr>
              <a:t>It’s a total system of interacting business designed to plan, promote and distribute need-satisfying products and services to existing and potential consumers.</a:t>
            </a:r>
          </a:p>
          <a:p>
            <a:pPr algn="just"/>
            <a:r>
              <a:rPr lang="en-US" sz="2400" dirty="0" smtClean="0">
                <a:latin typeface="Times New Roman" pitchFamily="18" charset="0"/>
                <a:cs typeface="Times New Roman" pitchFamily="18" charset="0"/>
              </a:rPr>
              <a:t>Marketing starts with the identification of a specific need on the part of the consumer and ends with the satisfaction of that need.</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smtClean="0">
                <a:latin typeface="Algerian" pitchFamily="82" charset="0"/>
              </a:rPr>
              <a:t>Concept of Marketing Vs Selling</a:t>
            </a:r>
            <a:endParaRPr lang="en-IN" sz="3200" b="1" dirty="0">
              <a:latin typeface="Algerian" pitchFamily="82" charset="0"/>
            </a:endParaRPr>
          </a:p>
        </p:txBody>
      </p:sp>
      <p:sp>
        <p:nvSpPr>
          <p:cNvPr id="3" name="Content Placeholder 2"/>
          <p:cNvSpPr>
            <a:spLocks noGrp="1"/>
          </p:cNvSpPr>
          <p:nvPr>
            <p:ph idx="1"/>
          </p:nvPr>
        </p:nvSpPr>
        <p:spPr>
          <a:xfrm>
            <a:off x="457200" y="1447800"/>
            <a:ext cx="8229600" cy="4525963"/>
          </a:xfrm>
        </p:spPr>
        <p:txBody>
          <a:bodyPr>
            <a:noAutofit/>
          </a:bodyPr>
          <a:lstStyle/>
          <a:p>
            <a:pPr algn="just"/>
            <a:r>
              <a:rPr lang="en-IN" sz="2400" dirty="0" smtClean="0">
                <a:latin typeface="Times New Roman" pitchFamily="18" charset="0"/>
                <a:cs typeface="Times New Roman" pitchFamily="18" charset="0"/>
              </a:rPr>
              <a:t>The marketing concept gives importance to consumers and the concept holds that the key to achieving organizational goal consists in determining the needs and wants of customers and delivering the desired satisfaction.</a:t>
            </a:r>
          </a:p>
          <a:p>
            <a:pPr algn="just">
              <a:buNone/>
            </a:pP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selling concept is product-oriented and the concept holds that the consumers normally will not buy enough of the organizations products and therefore efforts must be made to force the customers to buy the products.</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990601"/>
          <a:ext cx="8229600" cy="4953000"/>
        </p:xfrm>
        <a:graphic>
          <a:graphicData uri="http://schemas.openxmlformats.org/drawingml/2006/table">
            <a:tbl>
              <a:tblPr firstRow="1" bandRow="1">
                <a:tableStyleId>{5C22544A-7EE6-4342-B048-85BDC9FD1C3A}</a:tableStyleId>
              </a:tblPr>
              <a:tblGrid>
                <a:gridCol w="4114800"/>
                <a:gridCol w="4114800"/>
              </a:tblGrid>
              <a:tr h="733778">
                <a:tc>
                  <a:txBody>
                    <a:bodyPr/>
                    <a:lstStyle/>
                    <a:p>
                      <a:pPr algn="ctr"/>
                      <a:r>
                        <a:rPr lang="en-US" dirty="0" smtClean="0">
                          <a:latin typeface="Times New Roman" pitchFamily="18" charset="0"/>
                          <a:cs typeface="Times New Roman" pitchFamily="18" charset="0"/>
                        </a:rPr>
                        <a:t>Selling</a:t>
                      </a:r>
                      <a:endParaRPr lang="en-IN" dirty="0">
                        <a:latin typeface="Times New Roman" pitchFamily="18" charset="0"/>
                        <a:cs typeface="Times New Roman" pitchFamily="18" charset="0"/>
                      </a:endParaRPr>
                    </a:p>
                  </a:txBody>
                  <a:tcPr/>
                </a:tc>
                <a:tc>
                  <a:txBody>
                    <a:bodyPr/>
                    <a:lstStyle/>
                    <a:p>
                      <a:pPr algn="ctr"/>
                      <a:r>
                        <a:rPr lang="en-US" dirty="0" smtClean="0">
                          <a:latin typeface="Times New Roman" pitchFamily="18" charset="0"/>
                          <a:cs typeface="Times New Roman" pitchFamily="18" charset="0"/>
                        </a:rPr>
                        <a:t>Marketing</a:t>
                      </a:r>
                      <a:endParaRPr lang="en-IN" dirty="0">
                        <a:latin typeface="Times New Roman" pitchFamily="18" charset="0"/>
                        <a:cs typeface="Times New Roman" pitchFamily="18" charset="0"/>
                      </a:endParaRPr>
                    </a:p>
                  </a:txBody>
                  <a:tcPr/>
                </a:tc>
              </a:tr>
              <a:tr h="733778">
                <a:tc>
                  <a:txBody>
                    <a:bodyPr/>
                    <a:lstStyle/>
                    <a:p>
                      <a:pPr marL="342900" indent="-342900" algn="just">
                        <a:buFont typeface="+mj-lt"/>
                        <a:buNone/>
                      </a:pPr>
                      <a:r>
                        <a:rPr lang="en-US" dirty="0" smtClean="0">
                          <a:latin typeface="Times New Roman" pitchFamily="18" charset="0"/>
                          <a:cs typeface="Times New Roman" pitchFamily="18" charset="0"/>
                        </a:rPr>
                        <a:t>1. Product Oriented</a:t>
                      </a:r>
                      <a:endParaRPr lang="en-IN"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Customer oriented</a:t>
                      </a:r>
                    </a:p>
                  </a:txBody>
                  <a:tcPr/>
                </a:tc>
              </a:tr>
              <a:tr h="733778">
                <a:tc>
                  <a:txBody>
                    <a:bodyPr/>
                    <a:lstStyle/>
                    <a:p>
                      <a:pPr marL="342900" indent="-342900" algn="just">
                        <a:buFont typeface="+mj-lt"/>
                        <a:buNone/>
                      </a:pPr>
                      <a:r>
                        <a:rPr lang="en-US" dirty="0" smtClean="0">
                          <a:latin typeface="Times New Roman" pitchFamily="18" charset="0"/>
                          <a:cs typeface="Times New Roman" pitchFamily="18" charset="0"/>
                        </a:rPr>
                        <a:t>2. Emphasis on company (seller)</a:t>
                      </a:r>
                      <a:r>
                        <a:rPr lang="en-US" baseline="0" dirty="0" smtClean="0">
                          <a:latin typeface="Times New Roman" pitchFamily="18" charset="0"/>
                          <a:cs typeface="Times New Roman" pitchFamily="18" charset="0"/>
                        </a:rPr>
                        <a:t> needs</a:t>
                      </a:r>
                      <a:endParaRPr lang="en-IN"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Emphasis</a:t>
                      </a:r>
                      <a:r>
                        <a:rPr lang="en-US" baseline="0" dirty="0" smtClean="0">
                          <a:latin typeface="Times New Roman" pitchFamily="18" charset="0"/>
                          <a:cs typeface="Times New Roman" pitchFamily="18" charset="0"/>
                        </a:rPr>
                        <a:t> on customer’s need</a:t>
                      </a:r>
                      <a:endParaRPr lang="en-IN" dirty="0">
                        <a:latin typeface="Times New Roman" pitchFamily="18" charset="0"/>
                        <a:cs typeface="Times New Roman" pitchFamily="18" charset="0"/>
                      </a:endParaRPr>
                    </a:p>
                  </a:txBody>
                  <a:tcPr/>
                </a:tc>
              </a:tr>
              <a:tr h="733778">
                <a:tc>
                  <a:txBody>
                    <a:bodyPr/>
                    <a:lstStyle/>
                    <a:p>
                      <a:pPr marL="342900" indent="-342900" algn="just">
                        <a:buFont typeface="+mj-lt"/>
                        <a:buNone/>
                      </a:pPr>
                      <a:r>
                        <a:rPr lang="en-US" dirty="0" smtClean="0">
                          <a:latin typeface="Times New Roman" pitchFamily="18" charset="0"/>
                          <a:cs typeface="Times New Roman" pitchFamily="18" charset="0"/>
                        </a:rPr>
                        <a:t>3. Company oriented selling efforts</a:t>
                      </a:r>
                      <a:endParaRPr lang="en-IN"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Market oriented selling</a:t>
                      </a:r>
                      <a:r>
                        <a:rPr lang="en-US" baseline="0" dirty="0" smtClean="0">
                          <a:latin typeface="Times New Roman" pitchFamily="18" charset="0"/>
                          <a:cs typeface="Times New Roman" pitchFamily="18" charset="0"/>
                        </a:rPr>
                        <a:t> efforts</a:t>
                      </a:r>
                      <a:endParaRPr lang="en-IN" dirty="0">
                        <a:latin typeface="Times New Roman" pitchFamily="18" charset="0"/>
                        <a:cs typeface="Times New Roman" pitchFamily="18" charset="0"/>
                      </a:endParaRPr>
                    </a:p>
                  </a:txBody>
                  <a:tcPr/>
                </a:tc>
              </a:tr>
              <a:tr h="1284110">
                <a:tc>
                  <a:txBody>
                    <a:bodyPr/>
                    <a:lstStyle/>
                    <a:p>
                      <a:pPr marL="342900" indent="-342900" algn="just">
                        <a:buFont typeface="+mj-lt"/>
                        <a:buNone/>
                      </a:pPr>
                      <a:r>
                        <a:rPr lang="en-US" dirty="0" smtClean="0">
                          <a:latin typeface="Times New Roman" pitchFamily="18" charset="0"/>
                          <a:cs typeface="Times New Roman" pitchFamily="18" charset="0"/>
                        </a:rPr>
                        <a:t>4. Goods are already produced and then sold at profit</a:t>
                      </a:r>
                      <a:endParaRPr lang="en-IN"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Customer demand</a:t>
                      </a:r>
                      <a:r>
                        <a:rPr lang="en-US" baseline="0" dirty="0" smtClean="0">
                          <a:latin typeface="Times New Roman" pitchFamily="18" charset="0"/>
                          <a:cs typeface="Times New Roman" pitchFamily="18" charset="0"/>
                        </a:rPr>
                        <a:t> determines production</a:t>
                      </a:r>
                      <a:endParaRPr lang="en-IN" dirty="0">
                        <a:latin typeface="Times New Roman" pitchFamily="18" charset="0"/>
                        <a:cs typeface="Times New Roman" pitchFamily="18" charset="0"/>
                      </a:endParaRPr>
                    </a:p>
                  </a:txBody>
                  <a:tcPr/>
                </a:tc>
              </a:tr>
              <a:tr h="733778">
                <a:tc>
                  <a:txBody>
                    <a:bodyPr/>
                    <a:lstStyle/>
                    <a:p>
                      <a:pPr marL="342900" indent="-342900" algn="just">
                        <a:buFont typeface="+mj-lt"/>
                        <a:buNone/>
                      </a:pPr>
                      <a:r>
                        <a:rPr lang="en-US" dirty="0" smtClean="0">
                          <a:latin typeface="Times New Roman" pitchFamily="18" charset="0"/>
                          <a:cs typeface="Times New Roman" pitchFamily="18" charset="0"/>
                        </a:rPr>
                        <a:t>5. Selling aims</a:t>
                      </a:r>
                      <a:r>
                        <a:rPr lang="en-US" baseline="0" dirty="0" smtClean="0">
                          <a:latin typeface="Times New Roman" pitchFamily="18" charset="0"/>
                          <a:cs typeface="Times New Roman" pitchFamily="18" charset="0"/>
                        </a:rPr>
                        <a:t> at short term objectives</a:t>
                      </a:r>
                      <a:endParaRPr lang="en-IN"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Aims at long term objectives</a:t>
                      </a:r>
                      <a:endParaRPr lang="en-IN" dirty="0">
                        <a:latin typeface="Times New Roman" pitchFamily="18" charset="0"/>
                        <a:cs typeface="Times New Roman" pitchFamily="18"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Marketing System</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Input :- Product, price, place and promotion (Marketing Mix).</a:t>
            </a:r>
          </a:p>
          <a:p>
            <a:r>
              <a:rPr lang="en-US" sz="2400" dirty="0" smtClean="0">
                <a:latin typeface="Times New Roman" pitchFamily="18" charset="0"/>
                <a:cs typeface="Times New Roman" pitchFamily="18" charset="0"/>
              </a:rPr>
              <a:t>Processor:- business organisation.</a:t>
            </a:r>
          </a:p>
          <a:p>
            <a:r>
              <a:rPr lang="en-US" sz="2400" dirty="0" smtClean="0">
                <a:latin typeface="Times New Roman" pitchFamily="18" charset="0"/>
                <a:cs typeface="Times New Roman" pitchFamily="18" charset="0"/>
              </a:rPr>
              <a:t>Output:- Sale of goods</a:t>
            </a:r>
          </a:p>
          <a:p>
            <a:r>
              <a:rPr lang="en-US" sz="2400" dirty="0" smtClean="0">
                <a:latin typeface="Times New Roman" pitchFamily="18" charset="0"/>
                <a:cs typeface="Times New Roman" pitchFamily="18" charset="0"/>
              </a:rPr>
              <a:t>Controller</a:t>
            </a:r>
          </a:p>
          <a:p>
            <a:r>
              <a:rPr lang="en-US" sz="2400" dirty="0" smtClean="0">
                <a:latin typeface="Times New Roman" pitchFamily="18" charset="0"/>
                <a:cs typeface="Times New Roman" pitchFamily="18" charset="0"/>
              </a:rPr>
              <a:t>Objective:- Profit/Customer satisfaction</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Market segmentation</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Market segmentation is defined as “ taking the total heterogeneous market for a product and dividing it into several segments, each of which tends to be homogeneous in full significant aspects.</a:t>
            </a: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It consist of grouping of consumers according to such characteristics as income, age, taste for a product etc.</a:t>
            </a:r>
          </a:p>
          <a:p>
            <a:pPr algn="just">
              <a:buNone/>
            </a:pP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Types/methods of Market segmentation</a:t>
            </a:r>
            <a:endParaRPr lang="en-IN" sz="3200" b="1" dirty="0">
              <a:latin typeface="Algerian" pitchFamily="82" charset="0"/>
            </a:endParaRPr>
          </a:p>
        </p:txBody>
      </p:sp>
      <p:sp>
        <p:nvSpPr>
          <p:cNvPr id="3" name="Content Placeholder 2"/>
          <p:cNvSpPr>
            <a:spLocks noGrp="1"/>
          </p:cNvSpPr>
          <p:nvPr>
            <p:ph idx="1"/>
          </p:nvPr>
        </p:nvSpPr>
        <p:spPr/>
        <p:txBody>
          <a:bodyPr>
            <a:noAutofit/>
          </a:bodyPr>
          <a:lstStyle/>
          <a:p>
            <a:pPr marL="514350" indent="-514350" algn="just">
              <a:buAutoNum type="arabicPeriod"/>
            </a:pPr>
            <a:r>
              <a:rPr lang="en-US" sz="2400" dirty="0" smtClean="0">
                <a:latin typeface="Times New Roman" pitchFamily="18" charset="0"/>
                <a:cs typeface="Times New Roman" pitchFamily="18" charset="0"/>
              </a:rPr>
              <a:t>Geographic Segmentation:- Based on region, continent, country, climate of area etc.</a:t>
            </a:r>
          </a:p>
          <a:p>
            <a:pPr marL="514350" indent="-514350" algn="just">
              <a:buNone/>
            </a:pPr>
            <a:endParaRPr lang="en-US" sz="2400" dirty="0" smtClean="0">
              <a:latin typeface="Times New Roman" pitchFamily="18" charset="0"/>
              <a:cs typeface="Times New Roman" pitchFamily="18" charset="0"/>
            </a:endParaRPr>
          </a:p>
          <a:p>
            <a:pPr marL="514350" indent="-514350" algn="just">
              <a:buNone/>
            </a:pPr>
            <a:r>
              <a:rPr lang="en-US" sz="2400" dirty="0" smtClean="0">
                <a:latin typeface="Times New Roman" pitchFamily="18" charset="0"/>
                <a:cs typeface="Times New Roman" pitchFamily="18" charset="0"/>
              </a:rPr>
              <a:t>2.	Demographic Segmentation:- Based on age of customers, family size, religion, community, occupation etc.</a:t>
            </a:r>
          </a:p>
          <a:p>
            <a:pPr marL="514350" indent="-514350" algn="just">
              <a:buNone/>
            </a:pPr>
            <a:endParaRPr lang="en-US" sz="2400" dirty="0" smtClean="0">
              <a:latin typeface="Times New Roman" pitchFamily="18" charset="0"/>
              <a:cs typeface="Times New Roman" pitchFamily="18" charset="0"/>
            </a:endParaRPr>
          </a:p>
          <a:p>
            <a:pPr marL="514350" indent="-514350" algn="just">
              <a:buNone/>
            </a:pPr>
            <a:r>
              <a:rPr lang="en-US" sz="2400" dirty="0" smtClean="0">
                <a:latin typeface="Times New Roman" pitchFamily="18" charset="0"/>
                <a:cs typeface="Times New Roman" pitchFamily="18" charset="0"/>
              </a:rPr>
              <a:t>3.	Psychographic Segmentation:- Based on personality types, lifestyles etc.</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514350" indent="-514350" algn="just">
              <a:buAutoNum type="arabicPeriod" startAt="4"/>
            </a:pPr>
            <a:r>
              <a:rPr lang="en-US" sz="2400" dirty="0" smtClean="0">
                <a:latin typeface="Times New Roman" pitchFamily="18" charset="0"/>
                <a:cs typeface="Times New Roman" pitchFamily="18" charset="0"/>
              </a:rPr>
              <a:t>Buyer behaviour Segmentation:- Different customer groups expect different benefits from the same product and as such their motivations in owing it and their behaviour in buying it will be different.</a:t>
            </a:r>
          </a:p>
          <a:p>
            <a:pPr marL="514350" indent="-514350" algn="just">
              <a:buAutoNum type="arabicPeriod" startAt="4"/>
            </a:pPr>
            <a:endParaRPr lang="en-US" sz="2400" dirty="0" smtClean="0">
              <a:latin typeface="Times New Roman" pitchFamily="18" charset="0"/>
              <a:cs typeface="Times New Roman" pitchFamily="18" charset="0"/>
            </a:endParaRPr>
          </a:p>
          <a:p>
            <a:pPr marL="514350" indent="-514350" algn="just">
              <a:buNone/>
            </a:pPr>
            <a:r>
              <a:rPr lang="en-US" sz="2400" dirty="0" smtClean="0">
                <a:latin typeface="Times New Roman" pitchFamily="18" charset="0"/>
                <a:cs typeface="Times New Roman" pitchFamily="18" charset="0"/>
              </a:rPr>
              <a:t>5. 	Volume Segmentation:- Based on quantity of purchase or the potential quantity of purchase.</a:t>
            </a:r>
          </a:p>
          <a:p>
            <a:pPr marL="514350" indent="-514350" algn="just">
              <a:buNone/>
            </a:pPr>
            <a:endParaRPr lang="en-IN" sz="2400" dirty="0" smtClean="0">
              <a:latin typeface="Times New Roman" pitchFamily="18" charset="0"/>
              <a:cs typeface="Times New Roman" pitchFamily="18" charset="0"/>
            </a:endParaRPr>
          </a:p>
          <a:p>
            <a:pPr algn="just"/>
            <a:endParaRPr lang="en-IN"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Pricing</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pPr algn="just"/>
            <a:r>
              <a:rPr lang="en-IN" sz="2800" dirty="0" smtClean="0">
                <a:latin typeface="Times New Roman" pitchFamily="18" charset="0"/>
                <a:cs typeface="Times New Roman" pitchFamily="18" charset="0"/>
              </a:rPr>
              <a:t>Price refers to the exchange value of a product or a service.</a:t>
            </a:r>
          </a:p>
          <a:p>
            <a:pPr algn="just"/>
            <a:r>
              <a:rPr lang="en-IN" sz="2800" dirty="0" smtClean="0">
                <a:latin typeface="Times New Roman" pitchFamily="18" charset="0"/>
                <a:cs typeface="Times New Roman" pitchFamily="18" charset="0"/>
              </a:rPr>
              <a:t>One of the most important tasks of a marketing manager is pricing. </a:t>
            </a:r>
          </a:p>
          <a:p>
            <a:pPr algn="just"/>
            <a:r>
              <a:rPr lang="en-IN" sz="2800" dirty="0" smtClean="0">
                <a:latin typeface="Times New Roman" pitchFamily="18" charset="0"/>
                <a:cs typeface="Times New Roman" pitchFamily="18" charset="0"/>
              </a:rPr>
              <a:t>Unless the product is priced properly, all other elements of marketing mix may be rendered ineffective. </a:t>
            </a:r>
            <a:endParaRPr lang="en-IN"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257800"/>
          </a:xfrm>
        </p:spPr>
        <p:txBody>
          <a:bodyPr>
            <a:noAutofit/>
          </a:bodyPr>
          <a:lstStyle/>
          <a:p>
            <a:pPr algn="just"/>
            <a:r>
              <a:rPr lang="en-IN" sz="2400" dirty="0" smtClean="0">
                <a:latin typeface="Times New Roman" pitchFamily="18" charset="0"/>
                <a:cs typeface="Times New Roman" pitchFamily="18" charset="0"/>
              </a:rPr>
              <a:t>The </a:t>
            </a:r>
            <a:r>
              <a:rPr lang="en-IN" sz="2400" b="1" i="1" dirty="0" smtClean="0">
                <a:latin typeface="Times New Roman" pitchFamily="18" charset="0"/>
                <a:cs typeface="Times New Roman" pitchFamily="18" charset="0"/>
              </a:rPr>
              <a:t>key factors</a:t>
            </a:r>
            <a:r>
              <a:rPr lang="en-IN" sz="2400" dirty="0" smtClean="0">
                <a:latin typeface="Times New Roman" pitchFamily="18" charset="0"/>
                <a:cs typeface="Times New Roman" pitchFamily="18" charset="0"/>
              </a:rPr>
              <a:t> to be considered in pricing are:</a:t>
            </a:r>
          </a:p>
          <a:p>
            <a:pPr algn="just">
              <a:buNone/>
            </a:pP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1) Nature and extent of consumer demand</a:t>
            </a:r>
          </a:p>
          <a:p>
            <a:pPr algn="just">
              <a:buNone/>
            </a:pPr>
            <a:r>
              <a:rPr lang="en-IN" sz="2400" dirty="0" smtClean="0">
                <a:latin typeface="Times New Roman" pitchFamily="18" charset="0"/>
                <a:cs typeface="Times New Roman" pitchFamily="18" charset="0"/>
              </a:rPr>
              <a:t>2) Total cost associated with the product</a:t>
            </a:r>
          </a:p>
          <a:p>
            <a:pPr algn="just">
              <a:buNone/>
            </a:pPr>
            <a:r>
              <a:rPr lang="en-IN" sz="2400" dirty="0" smtClean="0">
                <a:latin typeface="Times New Roman" pitchFamily="18" charset="0"/>
                <a:cs typeface="Times New Roman" pitchFamily="18" charset="0"/>
              </a:rPr>
              <a:t>3) Legal aspects</a:t>
            </a:r>
          </a:p>
          <a:p>
            <a:pPr algn="just">
              <a:buNone/>
            </a:pPr>
            <a:r>
              <a:rPr lang="en-IN" sz="2400" dirty="0" smtClean="0">
                <a:latin typeface="Times New Roman" pitchFamily="18" charset="0"/>
                <a:cs typeface="Times New Roman" pitchFamily="18" charset="0"/>
              </a:rPr>
              <a:t>4) Prices for similar products offered by competing firms</a:t>
            </a:r>
          </a:p>
          <a:p>
            <a:pPr algn="just">
              <a:buNone/>
            </a:pPr>
            <a:r>
              <a:rPr lang="en-IN" sz="2400" dirty="0" smtClean="0">
                <a:latin typeface="Times New Roman" pitchFamily="18" charset="0"/>
                <a:cs typeface="Times New Roman" pitchFamily="18" charset="0"/>
              </a:rPr>
              <a:t>5) General economic conditions</a:t>
            </a:r>
          </a:p>
          <a:p>
            <a:pPr algn="just">
              <a:buNone/>
            </a:pPr>
            <a:r>
              <a:rPr lang="en-IN" sz="2400" dirty="0" smtClean="0">
                <a:latin typeface="Times New Roman" pitchFamily="18" charset="0"/>
                <a:cs typeface="Times New Roman" pitchFamily="18" charset="0"/>
              </a:rPr>
              <a:t>6) Type of customers</a:t>
            </a:r>
          </a:p>
          <a:p>
            <a:pPr algn="just">
              <a:buNone/>
            </a:pPr>
            <a:r>
              <a:rPr lang="en-IN" sz="2400" dirty="0" smtClean="0">
                <a:latin typeface="Times New Roman" pitchFamily="18" charset="0"/>
                <a:cs typeface="Times New Roman" pitchFamily="18" charset="0"/>
              </a:rPr>
              <a:t>7) Method of promotion</a:t>
            </a:r>
          </a:p>
          <a:p>
            <a:pPr algn="just">
              <a:buNone/>
            </a:pPr>
            <a:r>
              <a:rPr lang="en-IN" sz="2400" dirty="0" smtClean="0">
                <a:latin typeface="Times New Roman" pitchFamily="18" charset="0"/>
                <a:cs typeface="Times New Roman" pitchFamily="18" charset="0"/>
              </a:rPr>
              <a:t>8) Distribution channels</a:t>
            </a:r>
          </a:p>
          <a:p>
            <a:pPr algn="just">
              <a:buNone/>
            </a:pPr>
            <a:r>
              <a:rPr lang="en-IN" sz="2400" dirty="0" smtClean="0">
                <a:latin typeface="Times New Roman" pitchFamily="18" charset="0"/>
                <a:cs typeface="Times New Roman" pitchFamily="18" charset="0"/>
              </a:rPr>
              <a:t>9) Life cycle of the product</a:t>
            </a:r>
          </a:p>
          <a:p>
            <a:pPr algn="just">
              <a:buNone/>
            </a:pPr>
            <a:r>
              <a:rPr lang="en-IN" sz="2400" dirty="0" smtClean="0">
                <a:latin typeface="Times New Roman" pitchFamily="18" charset="0"/>
                <a:cs typeface="Times New Roman" pitchFamily="18" charset="0"/>
              </a:rPr>
              <a:t>10) Profit considerations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smtClean="0">
                <a:latin typeface="Algerian" pitchFamily="82" charset="0"/>
              </a:rPr>
              <a:t>Pricing Methods</a:t>
            </a:r>
            <a:endParaRPr lang="en-IN" sz="3200" b="1" dirty="0">
              <a:latin typeface="Algerian" pitchFamily="82" charset="0"/>
            </a:endParaRPr>
          </a:p>
        </p:txBody>
      </p:sp>
      <p:sp>
        <p:nvSpPr>
          <p:cNvPr id="3" name="Content Placeholder 2"/>
          <p:cNvSpPr>
            <a:spLocks noGrp="1"/>
          </p:cNvSpPr>
          <p:nvPr>
            <p:ph idx="1"/>
          </p:nvPr>
        </p:nvSpPr>
        <p:spPr/>
        <p:txBody>
          <a:bodyPr>
            <a:noAutofit/>
          </a:bodyPr>
          <a:lstStyle/>
          <a:p>
            <a:pPr algn="just"/>
            <a:r>
              <a:rPr lang="en-IN" sz="2400" dirty="0" smtClean="0">
                <a:latin typeface="Times New Roman" pitchFamily="18" charset="0"/>
                <a:cs typeface="Times New Roman" pitchFamily="18" charset="0"/>
              </a:rPr>
              <a:t>The two common methods of pricing are: </a:t>
            </a:r>
          </a:p>
          <a:p>
            <a:pPr algn="just">
              <a:buNone/>
            </a:pPr>
            <a:r>
              <a:rPr lang="en-IN" sz="2400" dirty="0" smtClean="0">
                <a:latin typeface="Times New Roman" pitchFamily="18" charset="0"/>
                <a:cs typeface="Times New Roman" pitchFamily="18" charset="0"/>
              </a:rPr>
              <a:t>(a) Cost plus approach </a:t>
            </a:r>
          </a:p>
          <a:p>
            <a:pPr algn="just">
              <a:buNone/>
            </a:pPr>
            <a:r>
              <a:rPr lang="en-IN" sz="2400" dirty="0" smtClean="0">
                <a:latin typeface="Times New Roman" pitchFamily="18" charset="0"/>
                <a:cs typeface="Times New Roman" pitchFamily="18" charset="0"/>
              </a:rPr>
              <a:t>(b) Market or demand approach</a:t>
            </a:r>
          </a:p>
          <a:p>
            <a:pPr algn="just"/>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(a) Cost Plus Approach:- this approach is one of the commonly used methods of pricing. In this method total cost associated with production, selling and distribution are added with the desired profit.</a:t>
            </a:r>
          </a:p>
          <a:p>
            <a:pPr algn="just"/>
            <a:endParaRPr lang="en-IN" sz="2400" dirty="0" smtClean="0">
              <a:latin typeface="Times New Roman" pitchFamily="18" charset="0"/>
              <a:cs typeface="Times New Roman" pitchFamily="18" charset="0"/>
            </a:endParaRPr>
          </a:p>
          <a:p>
            <a:pPr lvl="1" algn="just"/>
            <a:r>
              <a:rPr lang="en-US" sz="2400" dirty="0" smtClean="0">
                <a:latin typeface="Times New Roman" pitchFamily="18" charset="0"/>
                <a:cs typeface="Times New Roman" pitchFamily="18" charset="0"/>
              </a:rPr>
              <a:t>i.e. </a:t>
            </a:r>
            <a:r>
              <a:rPr lang="en-IN" sz="2400" i="1" dirty="0" smtClean="0">
                <a:latin typeface="Times New Roman" pitchFamily="18" charset="0"/>
                <a:cs typeface="Times New Roman" pitchFamily="18" charset="0"/>
              </a:rPr>
              <a:t>Product Price = Fixed Cost per Unit + Variable Cost per Unit + Profit margin</a:t>
            </a:r>
            <a:endParaRPr lang="en-IN" sz="2400" dirty="0" smtClean="0">
              <a:latin typeface="Times New Roman" pitchFamily="18" charset="0"/>
              <a:cs typeface="Times New Roman" pitchFamily="18" charset="0"/>
            </a:endParaRPr>
          </a:p>
          <a:p>
            <a:pPr algn="just"/>
            <a:endParaRPr lang="en-I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buNone/>
            </a:pPr>
            <a:r>
              <a:rPr lang="en-IN" sz="2400" dirty="0" smtClean="0">
                <a:latin typeface="Times New Roman" pitchFamily="18" charset="0"/>
                <a:cs typeface="Times New Roman" pitchFamily="18" charset="0"/>
              </a:rPr>
              <a:t>(b) The Market or Demand Approach:</a:t>
            </a:r>
          </a:p>
          <a:p>
            <a:pPr algn="just"/>
            <a:r>
              <a:rPr lang="en-IN" sz="2400" dirty="0" smtClean="0">
                <a:latin typeface="Times New Roman" pitchFamily="18" charset="0"/>
                <a:cs typeface="Times New Roman" pitchFamily="18" charset="0"/>
              </a:rPr>
              <a:t>In this method of pricing, prices are not based on the total cost but allow the market forces (supply and demand) to determine the product price.</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smtClean="0">
                <a:latin typeface="Algerian" pitchFamily="82" charset="0"/>
              </a:rPr>
              <a:t>Pricing Methods</a:t>
            </a:r>
            <a:endParaRPr lang="en-IN" sz="3200" b="1" dirty="0">
              <a:latin typeface="Algerian" pitchFamily="82" charset="0"/>
            </a:endParaRPr>
          </a:p>
        </p:txBody>
      </p:sp>
      <p:sp>
        <p:nvSpPr>
          <p:cNvPr id="3" name="Content Placeholder 2"/>
          <p:cNvSpPr>
            <a:spLocks noGrp="1"/>
          </p:cNvSpPr>
          <p:nvPr>
            <p:ph idx="1"/>
          </p:nvPr>
        </p:nvSpPr>
        <p:spPr/>
        <p:txBody>
          <a:bodyPr>
            <a:noAutofit/>
          </a:bodyPr>
          <a:lstStyle/>
          <a:p>
            <a:pPr algn="just"/>
            <a:r>
              <a:rPr lang="en-IN" sz="2400" dirty="0" smtClean="0">
                <a:latin typeface="Times New Roman" pitchFamily="18" charset="0"/>
                <a:cs typeface="Times New Roman" pitchFamily="18" charset="0"/>
              </a:rPr>
              <a:t>The two common methods of pricing are: </a:t>
            </a:r>
          </a:p>
          <a:p>
            <a:pPr algn="just">
              <a:buNone/>
            </a:pPr>
            <a:r>
              <a:rPr lang="en-IN" sz="2400" dirty="0" smtClean="0">
                <a:latin typeface="Times New Roman" pitchFamily="18" charset="0"/>
                <a:cs typeface="Times New Roman" pitchFamily="18" charset="0"/>
              </a:rPr>
              <a:t>(a) Cost plus approach </a:t>
            </a:r>
          </a:p>
          <a:p>
            <a:pPr algn="just">
              <a:buNone/>
            </a:pPr>
            <a:r>
              <a:rPr lang="en-IN" sz="2400" dirty="0" smtClean="0">
                <a:latin typeface="Times New Roman" pitchFamily="18" charset="0"/>
                <a:cs typeface="Times New Roman" pitchFamily="18" charset="0"/>
              </a:rPr>
              <a:t>(b) Market or demand approach</a:t>
            </a:r>
          </a:p>
          <a:p>
            <a:pPr algn="just"/>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(a) Cost Plus Approach:- this approach is one of the commonly used methods of pricing. In this method total cost associated with production, selling and distribution are added with the desired profit.</a:t>
            </a:r>
          </a:p>
          <a:p>
            <a:pPr algn="just"/>
            <a:endParaRPr lang="en-IN" sz="2400" dirty="0" smtClean="0">
              <a:latin typeface="Times New Roman" pitchFamily="18" charset="0"/>
              <a:cs typeface="Times New Roman" pitchFamily="18" charset="0"/>
            </a:endParaRPr>
          </a:p>
          <a:p>
            <a:pPr lvl="1" algn="just"/>
            <a:r>
              <a:rPr lang="en-US" sz="2400" dirty="0" smtClean="0">
                <a:latin typeface="Times New Roman" pitchFamily="18" charset="0"/>
                <a:cs typeface="Times New Roman" pitchFamily="18" charset="0"/>
              </a:rPr>
              <a:t>i.e. </a:t>
            </a:r>
            <a:r>
              <a:rPr lang="en-IN" sz="2400" i="1" dirty="0" smtClean="0">
                <a:latin typeface="Times New Roman" pitchFamily="18" charset="0"/>
                <a:cs typeface="Times New Roman" pitchFamily="18" charset="0"/>
              </a:rPr>
              <a:t>Product Price = Fixed Cost per Unit + Variable Cost per Unit + Profit margin</a:t>
            </a:r>
            <a:endParaRPr lang="en-IN" sz="2400" dirty="0" smtClean="0">
              <a:latin typeface="Times New Roman" pitchFamily="18" charset="0"/>
              <a:cs typeface="Times New Roman" pitchFamily="18" charset="0"/>
            </a:endParaRPr>
          </a:p>
          <a:p>
            <a:pPr algn="just"/>
            <a:endParaRPr lang="en-I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buNone/>
            </a:pPr>
            <a:r>
              <a:rPr lang="en-IN" sz="2400" dirty="0" smtClean="0">
                <a:latin typeface="Times New Roman" pitchFamily="18" charset="0"/>
                <a:cs typeface="Times New Roman" pitchFamily="18" charset="0"/>
              </a:rPr>
              <a:t>(b) The Market or Demand Approach:</a:t>
            </a:r>
          </a:p>
          <a:p>
            <a:pPr algn="just"/>
            <a:r>
              <a:rPr lang="en-IN" sz="2400" dirty="0" smtClean="0">
                <a:latin typeface="Times New Roman" pitchFamily="18" charset="0"/>
                <a:cs typeface="Times New Roman" pitchFamily="18" charset="0"/>
              </a:rPr>
              <a:t>In this method of pricing, prices are not based on the total cost but allow the market forces (supply and demand) to determine the product price.</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rmAutofit/>
          </a:bodyPr>
          <a:lstStyle/>
          <a:p>
            <a:pPr algn="l"/>
            <a:r>
              <a:rPr lang="en-IN" sz="3000" dirty="0" smtClean="0">
                <a:latin typeface="Algerian" pitchFamily="82" charset="0"/>
                <a:cs typeface="Times New Roman" pitchFamily="18" charset="0"/>
              </a:rPr>
              <a:t>Consumer market Vs Industrial markets</a:t>
            </a:r>
            <a:endParaRPr lang="en-IN" sz="3000" dirty="0">
              <a:latin typeface="Algerian" pitchFamily="82" charset="0"/>
            </a:endParaRPr>
          </a:p>
        </p:txBody>
      </p:sp>
      <p:sp>
        <p:nvSpPr>
          <p:cNvPr id="3" name="Content Placeholder 2"/>
          <p:cNvSpPr>
            <a:spLocks noGrp="1"/>
          </p:cNvSpPr>
          <p:nvPr>
            <p:ph idx="1"/>
          </p:nvPr>
        </p:nvSpPr>
        <p:spPr/>
        <p:txBody>
          <a:bodyPr>
            <a:normAutofit/>
          </a:bodyPr>
          <a:lstStyle/>
          <a:p>
            <a:pPr algn="just"/>
            <a:r>
              <a:rPr lang="en-IN" sz="2200" dirty="0" smtClean="0">
                <a:solidFill>
                  <a:srgbClr val="FF0000"/>
                </a:solidFill>
                <a:latin typeface="Times New Roman" pitchFamily="18" charset="0"/>
                <a:cs typeface="Times New Roman" pitchFamily="18" charset="0"/>
              </a:rPr>
              <a:t>Industrial Marketing</a:t>
            </a:r>
            <a:r>
              <a:rPr lang="en-IN" sz="2200" dirty="0" smtClean="0">
                <a:latin typeface="Times New Roman" pitchFamily="18" charset="0"/>
                <a:cs typeface="Times New Roman" pitchFamily="18" charset="0"/>
              </a:rPr>
              <a:t>: It refers to the sale of either products or services or both by one organization to other organizations that further resell the same or utilize to support their own system.</a:t>
            </a:r>
          </a:p>
          <a:p>
            <a:pPr algn="just"/>
            <a:r>
              <a:rPr lang="en-IN" sz="2200" dirty="0" smtClean="0">
                <a:solidFill>
                  <a:srgbClr val="FF0000"/>
                </a:solidFill>
                <a:latin typeface="Times New Roman" pitchFamily="18" charset="0"/>
                <a:cs typeface="Times New Roman" pitchFamily="18" charset="0"/>
              </a:rPr>
              <a:t>Consumer Marketing</a:t>
            </a:r>
            <a:r>
              <a:rPr lang="en-IN" sz="2200" dirty="0" smtClean="0">
                <a:latin typeface="Times New Roman" pitchFamily="18" charset="0"/>
                <a:cs typeface="Times New Roman" pitchFamily="18" charset="0"/>
              </a:rPr>
              <a:t>: on the other hand refers to the transaction of goods and services between organizations and potential customers.</a:t>
            </a:r>
          </a:p>
          <a:p>
            <a:pPr algn="just"/>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Industrial/Business marketers do not entertain consumers who purchase products and services for their end-use. They deal only with other businesses/firms to sell their products.</a:t>
            </a:r>
          </a:p>
          <a:p>
            <a:pPr algn="just"/>
            <a:r>
              <a:rPr lang="en-IN" sz="2200" dirty="0" smtClean="0">
                <a:latin typeface="Times New Roman" pitchFamily="18" charset="0"/>
                <a:cs typeface="Times New Roman" pitchFamily="18" charset="0"/>
              </a:rPr>
              <a:t>In consumer markets, products are sold to consumers either for their own use or use by their family members.</a:t>
            </a:r>
          </a:p>
          <a:p>
            <a:pPr algn="just"/>
            <a:endParaRPr lang="en-IN"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a:srcRect/>
          <a:stretch>
            <a:fillRect/>
          </a:stretch>
        </p:blipFill>
        <p:spPr bwMode="auto">
          <a:xfrm>
            <a:off x="457200" y="1371600"/>
            <a:ext cx="8001000"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Sales promotion</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All the activities that go into the development of sales or those that are intended to raise the demand level for a product very quickly can be termed as sales promotion. </a:t>
            </a:r>
          </a:p>
          <a:p>
            <a:pPr algn="just">
              <a:buNone/>
            </a:pP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idea behind sales promotion is to bring the name of product and that of the manufacturer constantly before wholesalers, retailers and the consumers in order to stimulate the interest in the product.</a:t>
            </a:r>
          </a:p>
          <a:p>
            <a:pPr algn="just"/>
            <a:endParaRPr lang="en-IN"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smtClean="0">
                <a:latin typeface="Algerian" pitchFamily="82" charset="0"/>
              </a:rPr>
              <a:t>Methods of Sales Promotion</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pPr algn="just">
              <a:buNone/>
            </a:pPr>
            <a:r>
              <a:rPr lang="en-IN" sz="2400" dirty="0" smtClean="0">
                <a:latin typeface="Times New Roman" pitchFamily="18" charset="0"/>
                <a:cs typeface="Times New Roman" pitchFamily="18" charset="0"/>
              </a:rPr>
              <a:t>1) Consumer Promotion: Persuading consumers to buy; these include samples, money refund offers, prices-off, trading stamps, contest and competitions, etc.</a:t>
            </a:r>
          </a:p>
          <a:p>
            <a:pPr algn="just">
              <a:buNone/>
            </a:pPr>
            <a:r>
              <a:rPr lang="en-IN" sz="2400" dirty="0" smtClean="0">
                <a:latin typeface="Times New Roman" pitchFamily="18" charset="0"/>
                <a:cs typeface="Times New Roman" pitchFamily="18" charset="0"/>
              </a:rPr>
              <a:t>2) Trade Promotion: Giving incentives to distributors and others to hold stocks of company products. </a:t>
            </a:r>
          </a:p>
          <a:p>
            <a:pPr algn="just">
              <a:buNone/>
            </a:pPr>
            <a:r>
              <a:rPr lang="en-IN" sz="2400" dirty="0" smtClean="0">
                <a:latin typeface="Times New Roman" pitchFamily="18" charset="0"/>
                <a:cs typeface="Times New Roman" pitchFamily="18" charset="0"/>
              </a:rPr>
              <a:t>3) Sales Force Promotion: Offering bonuses, contests etc. for the salesmen.</a:t>
            </a:r>
          </a:p>
          <a:p>
            <a:pPr algn="just">
              <a:buNone/>
            </a:pPr>
            <a:r>
              <a:rPr lang="en-IN" sz="2400" dirty="0" smtClean="0">
                <a:latin typeface="Times New Roman" pitchFamily="18" charset="0"/>
                <a:cs typeface="Times New Roman" pitchFamily="18" charset="0"/>
              </a:rPr>
              <a:t>4) Good Public Relations: Developing goodwill among general public and boosting sales. </a:t>
            </a:r>
            <a:endParaRPr lang="en-IN"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447800"/>
            <a:ext cx="8229600" cy="4525963"/>
          </a:xfrm>
        </p:spPr>
        <p:txBody>
          <a:bodyPr>
            <a:noAutofit/>
          </a:bodyPr>
          <a:lstStyle/>
          <a:p>
            <a:pPr algn="just">
              <a:buNone/>
            </a:pPr>
            <a:r>
              <a:rPr lang="en-IN" sz="2400" dirty="0" smtClean="0">
                <a:latin typeface="Times New Roman" pitchFamily="18" charset="0"/>
                <a:cs typeface="Times New Roman" pitchFamily="18" charset="0"/>
              </a:rPr>
              <a:t>(5) Display: Displays at the point of sale, using posters, banners, placards and leaflets, to attract the customers’ attention to the product.</a:t>
            </a:r>
          </a:p>
          <a:p>
            <a:pPr algn="just">
              <a:buNone/>
            </a:pPr>
            <a:r>
              <a:rPr lang="en-IN" sz="2400" dirty="0" smtClean="0">
                <a:latin typeface="Times New Roman" pitchFamily="18" charset="0"/>
                <a:cs typeface="Times New Roman" pitchFamily="18" charset="0"/>
              </a:rPr>
              <a:t>6) Good Customer Relations: Good customer relations are basically the result of the past transactions with the company.</a:t>
            </a:r>
          </a:p>
          <a:p>
            <a:pPr algn="just">
              <a:buFont typeface="Wingdings" pitchFamily="2" charset="2"/>
              <a:buChar char="§"/>
            </a:pPr>
            <a:r>
              <a:rPr lang="en-IN" sz="2400" dirty="0" smtClean="0">
                <a:latin typeface="Times New Roman" pitchFamily="18" charset="0"/>
                <a:cs typeface="Times New Roman" pitchFamily="18" charset="0"/>
              </a:rPr>
              <a:t>Speedy handling of complaint, assistance in emergencies, abiding by announced policies, etc. all develops good customer relations and increase future sale of company products.</a:t>
            </a:r>
          </a:p>
          <a:p>
            <a:pPr algn="just">
              <a:buNone/>
            </a:pPr>
            <a:r>
              <a:rPr lang="en-IN" sz="2400" dirty="0" smtClean="0">
                <a:latin typeface="Times New Roman" pitchFamily="18" charset="0"/>
                <a:cs typeface="Times New Roman" pitchFamily="18" charset="0"/>
              </a:rPr>
              <a:t>7) Product exhibitions, demonstrations, and conferences.</a:t>
            </a:r>
          </a:p>
          <a:p>
            <a:pPr algn="just">
              <a:buNone/>
            </a:pPr>
            <a:r>
              <a:rPr lang="en-IN" sz="2400" dirty="0" smtClean="0">
                <a:latin typeface="Times New Roman" pitchFamily="18" charset="0"/>
                <a:cs typeface="Times New Roman" pitchFamily="18" charset="0"/>
              </a:rPr>
              <a:t>8) Latest product styling and appealing product packaging catch the eye of the consumer and develop sales volume.</a:t>
            </a:r>
          </a:p>
          <a:p>
            <a:pPr algn="just"/>
            <a:endParaRPr lang="en-IN"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Physical Distribution/</a:t>
            </a:r>
            <a:r>
              <a:rPr lang="en-IN" sz="3200" b="1" dirty="0" smtClean="0">
                <a:latin typeface="Algerian" pitchFamily="82" charset="0"/>
              </a:rPr>
              <a:t>Channels of Distribution</a:t>
            </a:r>
            <a:endParaRPr lang="en-IN" sz="3200" b="1" dirty="0">
              <a:latin typeface="Algerian" pitchFamily="82" charset="0"/>
            </a:endParaRPr>
          </a:p>
        </p:txBody>
      </p:sp>
      <p:sp>
        <p:nvSpPr>
          <p:cNvPr id="3" name="Content Placeholder 2"/>
          <p:cNvSpPr>
            <a:spLocks noGrp="1"/>
          </p:cNvSpPr>
          <p:nvPr>
            <p:ph idx="1"/>
          </p:nvPr>
        </p:nvSpPr>
        <p:spPr/>
        <p:txBody>
          <a:bodyPr>
            <a:noAutofit/>
          </a:bodyPr>
          <a:lstStyle/>
          <a:p>
            <a:pPr algn="just"/>
            <a:r>
              <a:rPr lang="en-IN" sz="2400" dirty="0" smtClean="0">
                <a:latin typeface="Times New Roman" pitchFamily="18" charset="0"/>
                <a:cs typeface="Times New Roman" pitchFamily="18" charset="0"/>
              </a:rPr>
              <a:t>A channel of distribution is the route that the product follows in its passage from the producer to the consumer.</a:t>
            </a:r>
          </a:p>
          <a:p>
            <a:pPr algn="just"/>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Factors affecting this route are:</a:t>
            </a:r>
          </a:p>
          <a:p>
            <a:pPr algn="just">
              <a:buNone/>
            </a:pP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1) Nature of good</a:t>
            </a:r>
          </a:p>
          <a:p>
            <a:pPr algn="just">
              <a:buNone/>
            </a:pPr>
            <a:r>
              <a:rPr lang="en-IN" sz="2400" dirty="0" smtClean="0">
                <a:latin typeface="Times New Roman" pitchFamily="18" charset="0"/>
                <a:cs typeface="Times New Roman" pitchFamily="18" charset="0"/>
              </a:rPr>
              <a:t>2) Nature and location of the markets</a:t>
            </a:r>
          </a:p>
          <a:p>
            <a:pPr algn="just">
              <a:buNone/>
            </a:pPr>
            <a:r>
              <a:rPr lang="en-IN" sz="2400" dirty="0" smtClean="0">
                <a:latin typeface="Times New Roman" pitchFamily="18" charset="0"/>
                <a:cs typeface="Times New Roman" pitchFamily="18" charset="0"/>
              </a:rPr>
              <a:t>3) Price of the product</a:t>
            </a:r>
          </a:p>
          <a:p>
            <a:pPr algn="just">
              <a:buNone/>
            </a:pPr>
            <a:r>
              <a:rPr lang="en-IN" sz="2400" dirty="0" smtClean="0">
                <a:latin typeface="Times New Roman" pitchFamily="18" charset="0"/>
                <a:cs typeface="Times New Roman" pitchFamily="18" charset="0"/>
              </a:rPr>
              <a:t>4) Availability of middlemen, transportation</a:t>
            </a:r>
          </a:p>
          <a:p>
            <a:pPr algn="just">
              <a:buNone/>
            </a:pPr>
            <a:r>
              <a:rPr lang="en-IN" sz="2400" dirty="0" smtClean="0">
                <a:latin typeface="Times New Roman" pitchFamily="18" charset="0"/>
                <a:cs typeface="Times New Roman" pitchFamily="18" charset="0"/>
              </a:rPr>
              <a:t>5) Sales effort required by the middlemen, and</a:t>
            </a:r>
          </a:p>
          <a:p>
            <a:pPr algn="just">
              <a:buNone/>
            </a:pPr>
            <a:r>
              <a:rPr lang="en-IN" sz="2400" dirty="0" smtClean="0">
                <a:latin typeface="Times New Roman" pitchFamily="18" charset="0"/>
                <a:cs typeface="Times New Roman" pitchFamily="18" charset="0"/>
              </a:rPr>
              <a:t>6) Resources of the manufacturer</a:t>
            </a:r>
            <a:endParaRPr lang="en-IN"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Channel management mainly deals with two problems:</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1) Channel selection</a:t>
            </a:r>
          </a:p>
          <a:p>
            <a:pPr>
              <a:buNone/>
            </a:pPr>
            <a:r>
              <a:rPr lang="en-IN" sz="2400" dirty="0" smtClean="0">
                <a:latin typeface="Times New Roman" pitchFamily="18" charset="0"/>
                <a:cs typeface="Times New Roman" pitchFamily="18" charset="0"/>
              </a:rPr>
              <a:t>2) Maintaining the channel</a:t>
            </a:r>
          </a:p>
          <a:p>
            <a:pPr>
              <a:buNone/>
            </a:pPr>
            <a:endParaRPr lang="en-US"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96000"/>
          </a:xfrm>
        </p:spPr>
        <p:txBody>
          <a:bodyPr>
            <a:noAutofit/>
          </a:bodyPr>
          <a:lstStyle/>
          <a:p>
            <a:pPr marL="457200" indent="-457200" algn="just">
              <a:buAutoNum type="arabicParenR"/>
            </a:pPr>
            <a:r>
              <a:rPr lang="en-IN" sz="2400" dirty="0" smtClean="0">
                <a:latin typeface="Times New Roman" pitchFamily="18" charset="0"/>
                <a:cs typeface="Times New Roman" pitchFamily="18" charset="0"/>
              </a:rPr>
              <a:t>Channel selection: </a:t>
            </a:r>
          </a:p>
          <a:p>
            <a:pPr marL="457200" indent="-457200" algn="just">
              <a:buNone/>
            </a:pPr>
            <a:r>
              <a:rPr lang="en-IN" sz="2400" dirty="0" smtClean="0">
                <a:latin typeface="Times New Roman" pitchFamily="18" charset="0"/>
                <a:cs typeface="Times New Roman" pitchFamily="18" charset="0"/>
              </a:rPr>
              <a:t>	Three policy alternatives may be considered in the selection of the channel:</a:t>
            </a:r>
          </a:p>
          <a:p>
            <a:pPr marL="457200" indent="-457200" algn="just">
              <a:buNone/>
            </a:pPr>
            <a:endParaRPr lang="en-IN" sz="2400" dirty="0" smtClean="0">
              <a:latin typeface="Times New Roman" pitchFamily="18" charset="0"/>
              <a:cs typeface="Times New Roman" pitchFamily="18" charset="0"/>
            </a:endParaRPr>
          </a:p>
          <a:p>
            <a:pPr marL="457200" indent="-457200" algn="just">
              <a:buAutoNum type="alphaLcParenR"/>
            </a:pPr>
            <a:r>
              <a:rPr lang="en-IN" sz="2400" dirty="0" smtClean="0">
                <a:latin typeface="Times New Roman" pitchFamily="18" charset="0"/>
                <a:cs typeface="Times New Roman" pitchFamily="18" charset="0"/>
              </a:rPr>
              <a:t>The policy of </a:t>
            </a:r>
            <a:r>
              <a:rPr lang="en-IN" sz="2400" b="1" dirty="0" smtClean="0">
                <a:latin typeface="Times New Roman" pitchFamily="18" charset="0"/>
                <a:cs typeface="Times New Roman" pitchFamily="18" charset="0"/>
              </a:rPr>
              <a:t>general</a:t>
            </a:r>
            <a:r>
              <a:rPr lang="en-IN" sz="2400" dirty="0" smtClean="0">
                <a:latin typeface="Times New Roman" pitchFamily="18" charset="0"/>
                <a:cs typeface="Times New Roman" pitchFamily="18" charset="0"/>
              </a:rPr>
              <a:t> or </a:t>
            </a:r>
            <a:r>
              <a:rPr lang="en-IN" sz="2400" b="1" dirty="0" smtClean="0">
                <a:latin typeface="Times New Roman" pitchFamily="18" charset="0"/>
                <a:cs typeface="Times New Roman" pitchFamily="18" charset="0"/>
              </a:rPr>
              <a:t>intensive distribution </a:t>
            </a:r>
            <a:r>
              <a:rPr lang="en-IN" sz="2400" dirty="0" smtClean="0">
                <a:latin typeface="Times New Roman" pitchFamily="18" charset="0"/>
                <a:cs typeface="Times New Roman" pitchFamily="18" charset="0"/>
              </a:rPr>
              <a:t>whereby the firm seeks to obtain the widest possible distribution for its product by allowing it to be sold everywhere by anyone willing to stock it.</a:t>
            </a:r>
          </a:p>
          <a:p>
            <a:pPr marL="457200" indent="-457200" algn="just">
              <a:buAutoNum type="alphaLcParenR"/>
            </a:pP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b) The policy of </a:t>
            </a:r>
            <a:r>
              <a:rPr lang="en-IN" sz="2400" b="1" dirty="0" smtClean="0">
                <a:latin typeface="Times New Roman" pitchFamily="18" charset="0"/>
                <a:cs typeface="Times New Roman" pitchFamily="18" charset="0"/>
              </a:rPr>
              <a:t>selective distribution</a:t>
            </a:r>
            <a:r>
              <a:rPr lang="en-IN" sz="2400" dirty="0" smtClean="0">
                <a:latin typeface="Times New Roman" pitchFamily="18" charset="0"/>
                <a:cs typeface="Times New Roman" pitchFamily="18" charset="0"/>
              </a:rPr>
              <a:t>, where the manufacturer chooses only those outlets that are best able to serve that company’s needs.</a:t>
            </a:r>
          </a:p>
          <a:p>
            <a:pPr algn="just">
              <a:buNone/>
            </a:pP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c) The policy of using </a:t>
            </a:r>
            <a:r>
              <a:rPr lang="en-IN" sz="2400" b="1" dirty="0" smtClean="0">
                <a:latin typeface="Times New Roman" pitchFamily="18" charset="0"/>
                <a:cs typeface="Times New Roman" pitchFamily="18" charset="0"/>
              </a:rPr>
              <a:t>exclusive dealerships,</a:t>
            </a:r>
            <a:r>
              <a:rPr lang="en-IN" sz="2400" dirty="0" smtClean="0">
                <a:latin typeface="Times New Roman" pitchFamily="18" charset="0"/>
                <a:cs typeface="Times New Roman" pitchFamily="18" charset="0"/>
              </a:rPr>
              <a:t> which allows only one distributor to stock and sell the product in a given market.</a:t>
            </a:r>
          </a:p>
          <a:p>
            <a:pPr algn="just"/>
            <a:endParaRPr lang="en-IN"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buNone/>
            </a:pPr>
            <a:r>
              <a:rPr lang="en-IN" sz="2400" dirty="0" smtClean="0">
                <a:latin typeface="Times New Roman" pitchFamily="18" charset="0"/>
                <a:cs typeface="Times New Roman" pitchFamily="18" charset="0"/>
              </a:rPr>
              <a:t>2) Maintaining the channel:</a:t>
            </a:r>
          </a:p>
          <a:p>
            <a:pPr algn="just">
              <a:buNone/>
            </a:pP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It constitutes of 3 aspects:</a:t>
            </a: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a) Ensure that the terms of contract are followed by all parties.</a:t>
            </a:r>
          </a:p>
          <a:p>
            <a:pPr algn="just">
              <a:buNone/>
            </a:pPr>
            <a:r>
              <a:rPr lang="en-IN" sz="2400" dirty="0" smtClean="0">
                <a:latin typeface="Times New Roman" pitchFamily="18" charset="0"/>
                <a:cs typeface="Times New Roman" pitchFamily="18" charset="0"/>
              </a:rPr>
              <a:t>b) Maintain good relations with the middlemen and encourage them to cooperate fully.</a:t>
            </a:r>
          </a:p>
          <a:p>
            <a:pPr algn="just">
              <a:buNone/>
            </a:pPr>
            <a:r>
              <a:rPr lang="en-IN" sz="2400" dirty="0" smtClean="0">
                <a:latin typeface="Times New Roman" pitchFamily="18" charset="0"/>
                <a:cs typeface="Times New Roman" pitchFamily="18" charset="0"/>
              </a:rPr>
              <a:t>c) Represent his company to the middlemen by seeing that sufficient cooperation and assurance are provided.</a:t>
            </a:r>
          </a:p>
          <a:p>
            <a:pPr algn="just">
              <a:buNone/>
            </a:pPr>
            <a:endParaRPr lang="en-IN" sz="2400" dirty="0" smtClean="0">
              <a:latin typeface="Times New Roman" pitchFamily="18" charset="0"/>
              <a:cs typeface="Times New Roman" pitchFamily="18" charset="0"/>
            </a:endParaRPr>
          </a:p>
          <a:p>
            <a:pPr algn="just">
              <a:buNone/>
            </a:pPr>
            <a:endParaRPr lang="en-IN" sz="24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Advertising</a:t>
            </a:r>
            <a:endParaRPr lang="en-IN" sz="3200" b="1" dirty="0">
              <a:latin typeface="Algerian" pitchFamily="82" charset="0"/>
            </a:endParaRPr>
          </a:p>
        </p:txBody>
      </p:sp>
      <p:sp>
        <p:nvSpPr>
          <p:cNvPr id="3" name="Content Placeholder 2"/>
          <p:cNvSpPr>
            <a:spLocks noGrp="1"/>
          </p:cNvSpPr>
          <p:nvPr>
            <p:ph idx="1"/>
          </p:nvPr>
        </p:nvSpPr>
        <p:spPr/>
        <p:txBody>
          <a:bodyPr>
            <a:normAutofit/>
          </a:bodyPr>
          <a:lstStyle/>
          <a:p>
            <a:pPr algn="just"/>
            <a:r>
              <a:rPr lang="en-US" sz="2800" dirty="0" smtClean="0">
                <a:latin typeface="Times New Roman" pitchFamily="18" charset="0"/>
                <a:cs typeface="Times New Roman" pitchFamily="18" charset="0"/>
              </a:rPr>
              <a:t>Advertising is any form of paid non-personal presentation of ideas, goods or services for the purpose of inducing people to buy.</a:t>
            </a:r>
          </a:p>
          <a:p>
            <a:pPr algn="just"/>
            <a:r>
              <a:rPr lang="en-US" sz="2800" dirty="0" smtClean="0">
                <a:latin typeface="Times New Roman" pitchFamily="18" charset="0"/>
                <a:cs typeface="Times New Roman" pitchFamily="18" charset="0"/>
              </a:rPr>
              <a:t>In short, “advertising is salesmanship without a personal salesman”.</a:t>
            </a:r>
            <a:endParaRPr lang="en-IN" sz="28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Objectives</a:t>
            </a:r>
            <a:endParaRPr lang="en-IN" sz="3200" b="1" dirty="0">
              <a:latin typeface="Algerian" pitchFamily="82" charset="0"/>
            </a:endParaRPr>
          </a:p>
        </p:txBody>
      </p:sp>
      <p:sp>
        <p:nvSpPr>
          <p:cNvPr id="3" name="Content Placeholder 2"/>
          <p:cNvSpPr>
            <a:spLocks noGrp="1"/>
          </p:cNvSpPr>
          <p:nvPr>
            <p:ph idx="1"/>
          </p:nvPr>
        </p:nvSpPr>
        <p:spPr>
          <a:xfrm>
            <a:off x="457200" y="1447800"/>
            <a:ext cx="8229600" cy="4525963"/>
          </a:xfrm>
        </p:spPr>
        <p:txBody>
          <a:bodyPr>
            <a:noAutofit/>
          </a:bodyPr>
          <a:lstStyle/>
          <a:p>
            <a:pPr algn="just">
              <a:buNone/>
            </a:pPr>
            <a:r>
              <a:rPr lang="en-IN" sz="2400" dirty="0" smtClean="0">
                <a:latin typeface="Times New Roman" pitchFamily="18" charset="0"/>
                <a:cs typeface="Times New Roman" pitchFamily="18" charset="0"/>
              </a:rPr>
              <a:t>1) Providing general information about the existence of the product.</a:t>
            </a:r>
          </a:p>
          <a:p>
            <a:pPr algn="just">
              <a:buNone/>
            </a:pPr>
            <a:r>
              <a:rPr lang="en-IN" sz="2400" dirty="0" smtClean="0">
                <a:latin typeface="Times New Roman" pitchFamily="18" charset="0"/>
                <a:cs typeface="Times New Roman" pitchFamily="18" charset="0"/>
              </a:rPr>
              <a:t>2) Providing technical information about its functional characteristics or utilitarian purposes.</a:t>
            </a:r>
          </a:p>
          <a:p>
            <a:pPr algn="just">
              <a:buNone/>
            </a:pPr>
            <a:r>
              <a:rPr lang="en-IN" sz="2400" dirty="0" smtClean="0">
                <a:latin typeface="Times New Roman" pitchFamily="18" charset="0"/>
                <a:cs typeface="Times New Roman" pitchFamily="18" charset="0"/>
              </a:rPr>
              <a:t>3) Drawing the customers’ attention to those attributes of the product which he wants.</a:t>
            </a:r>
          </a:p>
          <a:p>
            <a:pPr algn="just">
              <a:buNone/>
            </a:pPr>
            <a:r>
              <a:rPr lang="en-IN" sz="2400" dirty="0" smtClean="0">
                <a:latin typeface="Times New Roman" pitchFamily="18" charset="0"/>
                <a:cs typeface="Times New Roman" pitchFamily="18" charset="0"/>
              </a:rPr>
              <a:t>4)Winning undecided customers by exhibiting possible attractions (such as colour, design, novelty and price) that may persuade him to prefer the product to one offered by competitors.</a:t>
            </a:r>
          </a:p>
          <a:p>
            <a:pPr algn="just">
              <a:buNone/>
            </a:pPr>
            <a:r>
              <a:rPr lang="en-IN" sz="2400" dirty="0" smtClean="0">
                <a:latin typeface="Times New Roman" pitchFamily="18" charset="0"/>
                <a:cs typeface="Times New Roman" pitchFamily="18" charset="0"/>
              </a:rPr>
              <a:t>5) Creating demand among a passive population of customers.</a:t>
            </a:r>
          </a:p>
          <a:p>
            <a:pPr>
              <a:buNone/>
            </a:pPr>
            <a:r>
              <a:rPr lang="en-IN" sz="2400" dirty="0" smtClean="0">
                <a:latin typeface="Times New Roman" pitchFamily="18" charset="0"/>
                <a:cs typeface="Times New Roman" pitchFamily="18" charset="0"/>
              </a:rPr>
              <a:t>6) Educating the customer, or telling him what he should want.</a:t>
            </a:r>
            <a:endParaRPr lang="en-IN"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00B050"/>
                </a:solidFill>
                <a:latin typeface="Algerian" pitchFamily="82" charset="0"/>
              </a:rPr>
              <a:t>Entrepreneurship development</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Entrepreneur..??</a:t>
            </a:r>
            <a:endParaRPr lang="en-IN" sz="3200" b="1" dirty="0">
              <a:latin typeface="Algerian" pitchFamily="82" charset="0"/>
            </a:endParaRPr>
          </a:p>
        </p:txBody>
      </p:sp>
      <p:sp>
        <p:nvSpPr>
          <p:cNvPr id="3" name="Content Placeholder 2"/>
          <p:cNvSpPr>
            <a:spLocks noGrp="1"/>
          </p:cNvSpPr>
          <p:nvPr>
            <p:ph idx="1"/>
          </p:nvPr>
        </p:nvSpPr>
        <p:spPr>
          <a:xfrm>
            <a:off x="457200" y="1447800"/>
            <a:ext cx="8229600" cy="4525963"/>
          </a:xfrm>
        </p:spPr>
        <p:txBody>
          <a:bodyPr>
            <a:noAutofit/>
          </a:bodyPr>
          <a:lstStyle/>
          <a:p>
            <a:pPr algn="just">
              <a:buNone/>
            </a:pPr>
            <a:endParaRPr lang="en-IN" sz="2400" dirty="0">
              <a:latin typeface="Times New Roman" pitchFamily="18" charset="0"/>
              <a:cs typeface="Times New Roman" pitchFamily="18" charset="0"/>
            </a:endParaRPr>
          </a:p>
        </p:txBody>
      </p:sp>
      <p:sp>
        <p:nvSpPr>
          <p:cNvPr id="4" name="TextBox 3"/>
          <p:cNvSpPr txBox="1">
            <a:spLocks noChangeArrowheads="1"/>
          </p:cNvSpPr>
          <p:nvPr/>
        </p:nvSpPr>
        <p:spPr bwMode="auto">
          <a:xfrm>
            <a:off x="685800" y="2286000"/>
            <a:ext cx="7086600" cy="1016000"/>
          </a:xfrm>
          <a:prstGeom prst="rect">
            <a:avLst/>
          </a:prstGeom>
          <a:noFill/>
          <a:ln w="9525">
            <a:noFill/>
            <a:miter lim="800000"/>
            <a:headEnd/>
            <a:tailEnd/>
          </a:ln>
        </p:spPr>
        <p:txBody>
          <a:bodyPr wrap="square">
            <a:spAutoFit/>
          </a:bodyPr>
          <a:lstStyle/>
          <a:p>
            <a:pPr algn="just"/>
            <a:r>
              <a:rPr lang="en-IN" sz="2000" dirty="0">
                <a:latin typeface="Times New Roman" pitchFamily="18" charset="0"/>
                <a:cs typeface="Times New Roman" pitchFamily="18" charset="0"/>
              </a:rPr>
              <a:t>An entrepreneur is defined as “person in effective control of commercial undertaking; one who undertakes a business or an enterprise”.</a:t>
            </a:r>
            <a:endParaRPr lang="en-US" sz="2000" dirty="0">
              <a:latin typeface="Times New Roman" pitchFamily="18" charset="0"/>
              <a:cs typeface="Times New Roman" pitchFamily="18" charset="0"/>
            </a:endParaRPr>
          </a:p>
        </p:txBody>
      </p:sp>
      <p:sp>
        <p:nvSpPr>
          <p:cNvPr id="5" name="Rectangle 4"/>
          <p:cNvSpPr>
            <a:spLocks noChangeArrowheads="1"/>
          </p:cNvSpPr>
          <p:nvPr/>
        </p:nvSpPr>
        <p:spPr bwMode="auto">
          <a:xfrm>
            <a:off x="762000" y="3733800"/>
            <a:ext cx="6858000" cy="1016000"/>
          </a:xfrm>
          <a:prstGeom prst="rect">
            <a:avLst/>
          </a:prstGeom>
          <a:noFill/>
          <a:ln w="9525">
            <a:noFill/>
            <a:miter lim="800000"/>
            <a:headEnd/>
            <a:tailEnd/>
          </a:ln>
        </p:spPr>
        <p:txBody>
          <a:bodyPr wrap="square">
            <a:spAutoFit/>
          </a:bodyPr>
          <a:lstStyle/>
          <a:p>
            <a:pPr algn="just"/>
            <a:r>
              <a:rPr lang="en-IN" sz="2000" dirty="0" smtClean="0">
                <a:latin typeface="Times New Roman" pitchFamily="18" charset="0"/>
                <a:cs typeface="Times New Roman" pitchFamily="18" charset="0"/>
              </a:rPr>
              <a:t>Entrepreneur is an innovative person who maximizes his profits by following new strategies or venturing into new products or services.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Entrepreneurship..??</a:t>
            </a:r>
            <a:endParaRPr lang="en-IN" sz="3200" b="1" dirty="0">
              <a:latin typeface="Algerian" pitchFamily="82" charset="0"/>
            </a:endParaRPr>
          </a:p>
        </p:txBody>
      </p:sp>
      <p:sp>
        <p:nvSpPr>
          <p:cNvPr id="6" name="Rectangle 1"/>
          <p:cNvSpPr>
            <a:spLocks noGrp="1" noChangeArrowheads="1"/>
          </p:cNvSpPr>
          <p:nvPr>
            <p:ph idx="1"/>
          </p:nvPr>
        </p:nvSpPr>
        <p:spPr bwMode="auto">
          <a:xfrm>
            <a:off x="457200" y="1447800"/>
            <a:ext cx="8229600" cy="3748719"/>
          </a:xfrm>
          <a:prstGeom prst="rect">
            <a:avLst/>
          </a:prstGeom>
          <a:noFill/>
          <a:ln w="9525">
            <a:noFill/>
            <a:miter lim="800000"/>
            <a:headEnd/>
            <a:tailEnd/>
          </a:ln>
        </p:spPr>
        <p:txBody>
          <a:bodyPr anchor="ctr">
            <a:spAutoFit/>
          </a:bodyPr>
          <a:lstStyle/>
          <a:p>
            <a:pPr algn="just" eaLnBrk="0" hangingPunct="0"/>
            <a:endParaRPr lang="en-US" sz="1800" dirty="0">
              <a:latin typeface="Times New Roman" pitchFamily="18" charset="0"/>
              <a:ea typeface="Calibri" pitchFamily="34" charset="0"/>
              <a:cs typeface="Times New Roman" pitchFamily="18" charset="0"/>
            </a:endParaRPr>
          </a:p>
          <a:p>
            <a:pPr algn="just" eaLnBrk="0" hangingPunct="0"/>
            <a:r>
              <a:rPr lang="en-US" sz="1800" dirty="0">
                <a:latin typeface="Times New Roman" pitchFamily="18" charset="0"/>
                <a:ea typeface="Calibri" pitchFamily="34" charset="0"/>
                <a:cs typeface="Times New Roman" pitchFamily="18" charset="0"/>
              </a:rPr>
              <a:t>Entrepreneurship</a:t>
            </a:r>
            <a:r>
              <a:rPr lang="en-IN" sz="1800" dirty="0">
                <a:latin typeface="Times New Roman" pitchFamily="18" charset="0"/>
                <a:ea typeface="Calibri" pitchFamily="34" charset="0"/>
                <a:cs typeface="Times New Roman" pitchFamily="18" charset="0"/>
              </a:rPr>
              <a:t> is the act of being an entrepreneur, who starts any economic activity for being self-employed. </a:t>
            </a:r>
          </a:p>
          <a:p>
            <a:pPr algn="just" eaLnBrk="0" hangingPunct="0"/>
            <a:endParaRPr lang="en-IN" sz="1800" dirty="0">
              <a:latin typeface="Times New Roman" pitchFamily="18" charset="0"/>
              <a:ea typeface="Calibri" pitchFamily="34" charset="0"/>
              <a:cs typeface="Times New Roman" pitchFamily="18" charset="0"/>
            </a:endParaRPr>
          </a:p>
          <a:p>
            <a:pPr algn="just" eaLnBrk="0" hangingPunct="0"/>
            <a:r>
              <a:rPr lang="en-IN" sz="1800" dirty="0">
                <a:latin typeface="Times New Roman" pitchFamily="18" charset="0"/>
                <a:ea typeface="Calibri" pitchFamily="34" charset="0"/>
                <a:cs typeface="Times New Roman" pitchFamily="18" charset="0"/>
              </a:rPr>
              <a:t>Entrepreneurship   is the “process of the entrepreneur”. It is an attempt to create value through recognition of business opportunity. It is basically communicative and management functions to mobilize financial and material resources.</a:t>
            </a:r>
            <a:r>
              <a:rPr lang="en-IN" sz="1800" b="1" dirty="0">
                <a:latin typeface="Times New Roman" pitchFamily="18" charset="0"/>
                <a:ea typeface="Calibri" pitchFamily="34" charset="0"/>
                <a:cs typeface="Times New Roman" pitchFamily="18" charset="0"/>
              </a:rPr>
              <a:t> </a:t>
            </a:r>
          </a:p>
          <a:p>
            <a:pPr algn="just" eaLnBrk="0" hangingPunct="0"/>
            <a:endParaRPr lang="en-IN" sz="1800" b="1" dirty="0">
              <a:latin typeface="Times New Roman" pitchFamily="18" charset="0"/>
              <a:ea typeface="Calibri" pitchFamily="34" charset="0"/>
              <a:cs typeface="Times New Roman" pitchFamily="18" charset="0"/>
            </a:endParaRPr>
          </a:p>
          <a:p>
            <a:pPr algn="just" eaLnBrk="0" hangingPunct="0"/>
            <a:r>
              <a:rPr lang="en-IN" sz="1800" dirty="0">
                <a:latin typeface="Times New Roman" pitchFamily="18" charset="0"/>
                <a:ea typeface="Calibri" pitchFamily="34" charset="0"/>
                <a:cs typeface="Times New Roman" pitchFamily="18" charset="0"/>
              </a:rPr>
              <a:t>The entrepreneurial activity is governed by varying combination of socio-economic, psychological, cultural and other factors: Caste/religion, Family background, Level of education, Level of perception, Occupational </a:t>
            </a:r>
            <a:r>
              <a:rPr lang="en-IN" sz="1800" dirty="0" smtClean="0">
                <a:latin typeface="Times New Roman" pitchFamily="18" charset="0"/>
                <a:ea typeface="Calibri" pitchFamily="34" charset="0"/>
                <a:cs typeface="Times New Roman" pitchFamily="18" charset="0"/>
              </a:rPr>
              <a:t>background etc.</a:t>
            </a:r>
            <a:endParaRPr lang="en-US" sz="1800" dirty="0">
              <a:latin typeface="Times New Roman" pitchFamily="18" charset="0"/>
              <a:ea typeface="Calibri" pitchFamily="34" charset="0"/>
              <a:cs typeface="Times New Roman" pitchFamily="18" charset="0"/>
            </a:endParaRPr>
          </a:p>
          <a:p>
            <a:pPr algn="just" eaLnBrk="0" hangingPunct="0"/>
            <a:endParaRPr lang="en-US" sz="1800" dirty="0">
              <a:latin typeface="Times New Roman" pitchFamily="18" charset="0"/>
              <a:ea typeface="Calibri" pitchFamily="34"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2000"/>
                                        <p:tgtEl>
                                          <p:spTgt spid="6">
                                            <p:txEl>
                                              <p:pRg st="1" end="1"/>
                                            </p:txEl>
                                          </p:spTgt>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animEffect transition="in" filter="fade">
                                      <p:cBhvr>
                                        <p:cTn id="11" dur="2000"/>
                                        <p:tgtEl>
                                          <p:spTgt spid="6">
                                            <p:txEl>
                                              <p:pRg st="3" end="3"/>
                                            </p:txEl>
                                          </p:spTgt>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Effect transition="in" filter="fade">
                                      <p:cBhvr>
                                        <p:cTn id="15" dur="20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Algerian" pitchFamily="82" charset="0"/>
              </a:rPr>
              <a:t>Entrepreneurial characteristics</a:t>
            </a:r>
            <a:endParaRPr lang="en-IN" sz="3200" b="1" dirty="0">
              <a:latin typeface="Algerian" pitchFamily="82" charset="0"/>
            </a:endParaRPr>
          </a:p>
        </p:txBody>
      </p:sp>
      <p:sp>
        <p:nvSpPr>
          <p:cNvPr id="5" name="Rectangle 3"/>
          <p:cNvSpPr>
            <a:spLocks noGrp="1" noChangeArrowheads="1"/>
          </p:cNvSpPr>
          <p:nvPr>
            <p:ph idx="1"/>
          </p:nvPr>
        </p:nvSpPr>
        <p:spPr>
          <a:xfrm>
            <a:off x="457200" y="1828800"/>
            <a:ext cx="8229600" cy="4525963"/>
          </a:xfrm>
        </p:spPr>
        <p:txBody>
          <a:bodyPr/>
          <a:lstStyle/>
          <a:p>
            <a:pPr marL="0" indent="0" algn="just" eaLnBrk="1" hangingPunct="1">
              <a:lnSpc>
                <a:spcPct val="80000"/>
              </a:lnSpc>
              <a:buFontTx/>
              <a:buNone/>
            </a:pPr>
            <a:r>
              <a:rPr lang="en-US" sz="2000" dirty="0" smtClean="0">
                <a:latin typeface="Times New Roman" pitchFamily="18" charset="0"/>
                <a:cs typeface="Times New Roman" pitchFamily="18" charset="0"/>
              </a:rPr>
              <a:t>Being an entrepreneur requires specific characteristics and skills that are often achieved through education, hard work, and planning.</a:t>
            </a:r>
          </a:p>
          <a:p>
            <a:pPr marL="0" indent="0" algn="just" eaLnBrk="1" hangingPunct="1">
              <a:lnSpc>
                <a:spcPct val="50000"/>
              </a:lnSpc>
              <a:buFontTx/>
              <a:buNone/>
            </a:pPr>
            <a:endParaRPr lang="en-US" sz="2000" dirty="0" smtClean="0">
              <a:latin typeface="Times New Roman" pitchFamily="18" charset="0"/>
              <a:cs typeface="Times New Roman" pitchFamily="18" charset="0"/>
            </a:endParaRPr>
          </a:p>
          <a:p>
            <a:pPr marL="0" indent="0" algn="just" eaLnBrk="1" hangingPunct="1">
              <a:lnSpc>
                <a:spcPct val="50000"/>
              </a:lnSpc>
              <a:buFontTx/>
              <a:buNone/>
            </a:pPr>
            <a:endParaRPr lang="en-US" sz="2000" dirty="0" smtClean="0">
              <a:latin typeface="Times New Roman" pitchFamily="18" charset="0"/>
              <a:cs typeface="Times New Roman" pitchFamily="18" charset="0"/>
            </a:endParaRPr>
          </a:p>
          <a:p>
            <a:pPr marL="0" indent="0" algn="just" eaLnBrk="1" hangingPunct="1">
              <a:lnSpc>
                <a:spcPct val="80000"/>
              </a:lnSpc>
              <a:buFontTx/>
              <a:buNone/>
            </a:pPr>
            <a:r>
              <a:rPr lang="en-US" sz="2000" b="1" dirty="0" smtClean="0">
                <a:solidFill>
                  <a:schemeClr val="accent2"/>
                </a:solidFill>
                <a:latin typeface="Times New Roman" pitchFamily="18" charset="0"/>
                <a:cs typeface="Times New Roman" pitchFamily="18" charset="0"/>
              </a:rPr>
              <a:t>Risk Taker</a:t>
            </a:r>
          </a:p>
          <a:p>
            <a:pPr marL="0" indent="0" algn="just" eaLnBrk="1" hangingPunct="1">
              <a:lnSpc>
                <a:spcPct val="80000"/>
              </a:lnSpc>
              <a:buFontTx/>
              <a:buNone/>
            </a:pPr>
            <a:r>
              <a:rPr lang="en-US" sz="2000" dirty="0" smtClean="0">
                <a:latin typeface="Times New Roman" pitchFamily="18" charset="0"/>
                <a:cs typeface="Times New Roman" pitchFamily="18" charset="0"/>
              </a:rPr>
              <a:t>Businesses face risk. Entrepreneurs minimize risk through research, planning, and skill development.</a:t>
            </a:r>
          </a:p>
          <a:p>
            <a:pPr marL="0" indent="0" algn="just" eaLnBrk="1" hangingPunct="1">
              <a:lnSpc>
                <a:spcPct val="60000"/>
              </a:lnSpc>
              <a:buFontTx/>
              <a:buNone/>
            </a:pPr>
            <a:endParaRPr lang="en-US" sz="2000" dirty="0" smtClean="0">
              <a:latin typeface="Times New Roman" pitchFamily="18" charset="0"/>
              <a:cs typeface="Times New Roman" pitchFamily="18" charset="0"/>
            </a:endParaRPr>
          </a:p>
          <a:p>
            <a:pPr marL="0" indent="0" algn="just" eaLnBrk="1" hangingPunct="1">
              <a:lnSpc>
                <a:spcPct val="80000"/>
              </a:lnSpc>
              <a:buFontTx/>
              <a:buNone/>
            </a:pPr>
            <a:r>
              <a:rPr lang="en-US" sz="2000" b="1" dirty="0" smtClean="0">
                <a:solidFill>
                  <a:schemeClr val="accent2"/>
                </a:solidFill>
                <a:latin typeface="Times New Roman" pitchFamily="18" charset="0"/>
                <a:cs typeface="Times New Roman" pitchFamily="18" charset="0"/>
              </a:rPr>
              <a:t>Perceptive</a:t>
            </a:r>
          </a:p>
          <a:p>
            <a:pPr marL="0" indent="0" algn="just" eaLnBrk="1" hangingPunct="1">
              <a:lnSpc>
                <a:spcPct val="80000"/>
              </a:lnSpc>
              <a:buFontTx/>
              <a:buNone/>
            </a:pPr>
            <a:r>
              <a:rPr lang="en-US" sz="2000" dirty="0" smtClean="0">
                <a:latin typeface="Times New Roman" pitchFamily="18" charset="0"/>
                <a:cs typeface="Times New Roman" pitchFamily="18" charset="0"/>
              </a:rPr>
              <a:t>Entrepreneurs view problems as opportunities and challenges.</a:t>
            </a:r>
          </a:p>
          <a:p>
            <a:pPr marL="0" indent="0" algn="just" eaLnBrk="1" hangingPunct="1">
              <a:lnSpc>
                <a:spcPct val="50000"/>
              </a:lnSpc>
              <a:buFontTx/>
              <a:buNone/>
            </a:pPr>
            <a:endParaRPr lang="en-US" sz="2000" dirty="0" smtClean="0">
              <a:latin typeface="Times New Roman" pitchFamily="18" charset="0"/>
              <a:cs typeface="Times New Roman" pitchFamily="18" charset="0"/>
            </a:endParaRPr>
          </a:p>
          <a:p>
            <a:pPr marL="0" indent="0" algn="just" eaLnBrk="1" hangingPunct="1">
              <a:lnSpc>
                <a:spcPct val="80000"/>
              </a:lnSpc>
              <a:buFontTx/>
              <a:buNone/>
            </a:pPr>
            <a:r>
              <a:rPr lang="en-US" sz="2000" b="1" dirty="0" smtClean="0">
                <a:solidFill>
                  <a:schemeClr val="accent2"/>
                </a:solidFill>
                <a:latin typeface="Times New Roman" pitchFamily="18" charset="0"/>
                <a:cs typeface="Times New Roman" pitchFamily="18" charset="0"/>
              </a:rPr>
              <a:t>Curious</a:t>
            </a:r>
          </a:p>
          <a:p>
            <a:pPr marL="0" indent="0" algn="just" eaLnBrk="1" hangingPunct="1">
              <a:lnSpc>
                <a:spcPct val="80000"/>
              </a:lnSpc>
              <a:buFontTx/>
              <a:buNone/>
            </a:pPr>
            <a:r>
              <a:rPr lang="en-US" sz="2000" dirty="0" smtClean="0">
                <a:latin typeface="Times New Roman" pitchFamily="18" charset="0"/>
                <a:cs typeface="Times New Roman" pitchFamily="18" charset="0"/>
              </a:rPr>
              <a:t>Entrepreneurs like to know how things work. They take the time and initiative to pursue the unknown.</a:t>
            </a:r>
            <a:endParaRPr lang="en-CA"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Effect transition="in" filter="fade">
                                      <p:cBhvr>
                                        <p:cTn id="11" dur="2000"/>
                                        <p:tgtEl>
                                          <p:spTgt spid="5">
                                            <p:txEl>
                                              <p:pRg st="3" end="3"/>
                                            </p:txEl>
                                          </p:spTgt>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2000"/>
                                        <p:tgtEl>
                                          <p:spTgt spid="5">
                                            <p:txEl>
                                              <p:pRg st="4" end="4"/>
                                            </p:txEl>
                                          </p:spTgt>
                                        </p:tgtEl>
                                      </p:cBhvr>
                                    </p:animEffect>
                                  </p:childTnLst>
                                </p:cTn>
                              </p:par>
                            </p:childTnLst>
                          </p:cTn>
                        </p:par>
                        <p:par>
                          <p:cTn id="16" fill="hold">
                            <p:stCondLst>
                              <p:cond delay="6000"/>
                            </p:stCondLst>
                            <p:childTnLst>
                              <p:par>
                                <p:cTn id="17" presetID="10" presetClass="entr" presetSubtype="0" fill="hold" nodeType="after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Effect transition="in" filter="fade">
                                      <p:cBhvr>
                                        <p:cTn id="19" dur="2000"/>
                                        <p:tgtEl>
                                          <p:spTgt spid="5">
                                            <p:txEl>
                                              <p:pRg st="6" end="6"/>
                                            </p:txEl>
                                          </p:spTgt>
                                        </p:tgtEl>
                                      </p:cBhvr>
                                    </p:animEffect>
                                  </p:childTnLst>
                                </p:cTn>
                              </p:par>
                            </p:childTnLst>
                          </p:cTn>
                        </p:par>
                        <p:par>
                          <p:cTn id="20" fill="hold">
                            <p:stCondLst>
                              <p:cond delay="8000"/>
                            </p:stCondLst>
                            <p:childTnLst>
                              <p:par>
                                <p:cTn id="21" presetID="10" presetClass="entr" presetSubtype="0" fill="hold" nodeType="after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animEffect transition="in" filter="fade">
                                      <p:cBhvr>
                                        <p:cTn id="23" dur="2000"/>
                                        <p:tgtEl>
                                          <p:spTgt spid="5">
                                            <p:txEl>
                                              <p:pRg st="7" end="7"/>
                                            </p:txEl>
                                          </p:spTgt>
                                        </p:tgtEl>
                                      </p:cBhvr>
                                    </p:animEffect>
                                  </p:childTnLst>
                                </p:cTn>
                              </p:par>
                            </p:childTnLst>
                          </p:cTn>
                        </p:par>
                        <p:par>
                          <p:cTn id="24" fill="hold">
                            <p:stCondLst>
                              <p:cond delay="10000"/>
                            </p:stCondLst>
                            <p:childTnLst>
                              <p:par>
                                <p:cTn id="25" presetID="10" presetClass="entr" presetSubtype="0" fill="hold" nodeType="after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animEffect transition="in" filter="fade">
                                      <p:cBhvr>
                                        <p:cTn id="27" dur="2000"/>
                                        <p:tgtEl>
                                          <p:spTgt spid="5">
                                            <p:txEl>
                                              <p:pRg st="9" end="9"/>
                                            </p:txEl>
                                          </p:spTgt>
                                        </p:tgtEl>
                                      </p:cBhvr>
                                    </p:animEffect>
                                  </p:childTnLst>
                                </p:cTn>
                              </p:par>
                            </p:childTnLst>
                          </p:cTn>
                        </p:par>
                        <p:par>
                          <p:cTn id="28" fill="hold">
                            <p:stCondLst>
                              <p:cond delay="12000"/>
                            </p:stCondLst>
                            <p:childTnLst>
                              <p:par>
                                <p:cTn id="29" presetID="10" presetClass="entr" presetSubtype="0" fill="hold" nodeType="after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Effect transition="in" filter="fade">
                                      <p:cBhvr>
                                        <p:cTn id="31" dur="20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3"/>
          <p:cNvSpPr>
            <a:spLocks noGrp="1" noChangeArrowheads="1"/>
          </p:cNvSpPr>
          <p:nvPr>
            <p:ph idx="1"/>
          </p:nvPr>
        </p:nvSpPr>
        <p:spPr/>
        <p:txBody>
          <a:bodyPr>
            <a:normAutofit/>
          </a:bodyPr>
          <a:lstStyle/>
          <a:p>
            <a:pPr marL="0" indent="0" algn="just" eaLnBrk="1" fontAlgn="auto" hangingPunct="1">
              <a:lnSpc>
                <a:spcPct val="80000"/>
              </a:lnSpc>
              <a:spcAft>
                <a:spcPts val="0"/>
              </a:spcAft>
              <a:buFontTx/>
              <a:buNone/>
              <a:defRPr/>
            </a:pPr>
            <a:r>
              <a:rPr lang="en-US" sz="2000" b="1" dirty="0">
                <a:solidFill>
                  <a:schemeClr val="accent2"/>
                </a:solidFill>
                <a:latin typeface="Times New Roman" pitchFamily="18" charset="0"/>
                <a:cs typeface="Times New Roman" pitchFamily="18" charset="0"/>
              </a:rPr>
              <a:t>Imaginative</a:t>
            </a:r>
          </a:p>
          <a:p>
            <a:pPr marL="0" indent="0" algn="just" eaLnBrk="1" fontAlgn="auto" hangingPunct="1">
              <a:lnSpc>
                <a:spcPct val="80000"/>
              </a:lnSpc>
              <a:spcAft>
                <a:spcPts val="0"/>
              </a:spcAft>
              <a:buFontTx/>
              <a:buNone/>
              <a:defRPr/>
            </a:pPr>
            <a:r>
              <a:rPr lang="en-US" sz="2000" dirty="0">
                <a:latin typeface="Times New Roman" pitchFamily="18" charset="0"/>
                <a:cs typeface="Times New Roman" pitchFamily="18" charset="0"/>
              </a:rPr>
              <a:t>Entrepreneurs are creative. They imagine solutions to problems that encourage them to create new products and generate ideas.</a:t>
            </a:r>
          </a:p>
          <a:p>
            <a:pPr marL="0" indent="0" algn="just" eaLnBrk="1" fontAlgn="auto" hangingPunct="1">
              <a:lnSpc>
                <a:spcPct val="40000"/>
              </a:lnSpc>
              <a:spcAft>
                <a:spcPts val="0"/>
              </a:spcAft>
              <a:buFontTx/>
              <a:buNone/>
              <a:defRPr/>
            </a:pPr>
            <a:endParaRPr lang="en-US" sz="2000" dirty="0">
              <a:latin typeface="Times New Roman" pitchFamily="18" charset="0"/>
              <a:cs typeface="Times New Roman" pitchFamily="18" charset="0"/>
            </a:endParaRPr>
          </a:p>
          <a:p>
            <a:pPr marL="0" indent="0" algn="just" eaLnBrk="1" fontAlgn="auto" hangingPunct="1">
              <a:lnSpc>
                <a:spcPct val="80000"/>
              </a:lnSpc>
              <a:spcAft>
                <a:spcPts val="0"/>
              </a:spcAft>
              <a:buFontTx/>
              <a:buNone/>
              <a:defRPr/>
            </a:pPr>
            <a:r>
              <a:rPr lang="en-US" sz="2000" b="1" dirty="0">
                <a:solidFill>
                  <a:schemeClr val="accent2"/>
                </a:solidFill>
                <a:latin typeface="Times New Roman" pitchFamily="18" charset="0"/>
                <a:cs typeface="Times New Roman" pitchFamily="18" charset="0"/>
              </a:rPr>
              <a:t>Persistent</a:t>
            </a:r>
          </a:p>
          <a:p>
            <a:pPr marL="0" indent="0" algn="just" eaLnBrk="1" fontAlgn="auto" hangingPunct="1">
              <a:lnSpc>
                <a:spcPct val="80000"/>
              </a:lnSpc>
              <a:spcAft>
                <a:spcPts val="0"/>
              </a:spcAft>
              <a:buFontTx/>
              <a:buNone/>
              <a:defRPr/>
            </a:pPr>
            <a:r>
              <a:rPr lang="en-US" sz="2000" dirty="0">
                <a:latin typeface="Times New Roman" pitchFamily="18" charset="0"/>
                <a:cs typeface="Times New Roman" pitchFamily="18" charset="0"/>
              </a:rPr>
              <a:t>True entrepreneurs face bureaucracy, make mistakes, receive criticism, and deal with money, family, or stress problems. But they still stick to their dreams of seeing the venture succeed.</a:t>
            </a:r>
          </a:p>
          <a:p>
            <a:pPr marL="0" indent="0" algn="just" eaLnBrk="1" fontAlgn="auto" hangingPunct="1">
              <a:lnSpc>
                <a:spcPct val="50000"/>
              </a:lnSpc>
              <a:spcAft>
                <a:spcPts val="0"/>
              </a:spcAft>
              <a:buFontTx/>
              <a:buNone/>
              <a:defRPr/>
            </a:pPr>
            <a:endParaRPr lang="en-US" sz="2000" dirty="0">
              <a:latin typeface="Times New Roman" pitchFamily="18" charset="0"/>
              <a:cs typeface="Times New Roman" pitchFamily="18" charset="0"/>
            </a:endParaRPr>
          </a:p>
          <a:p>
            <a:pPr marL="0" indent="0" algn="just" eaLnBrk="1" fontAlgn="auto" hangingPunct="1">
              <a:lnSpc>
                <a:spcPct val="80000"/>
              </a:lnSpc>
              <a:spcAft>
                <a:spcPts val="0"/>
              </a:spcAft>
              <a:buFontTx/>
              <a:buNone/>
              <a:defRPr/>
            </a:pPr>
            <a:r>
              <a:rPr lang="en-US" sz="2000" b="1" dirty="0">
                <a:solidFill>
                  <a:schemeClr val="accent2"/>
                </a:solidFill>
                <a:latin typeface="Times New Roman" pitchFamily="18" charset="0"/>
                <a:cs typeface="Times New Roman" pitchFamily="18" charset="0"/>
              </a:rPr>
              <a:t>Goal-setting</a:t>
            </a:r>
          </a:p>
          <a:p>
            <a:pPr marL="0" indent="0" algn="just" eaLnBrk="1" fontAlgn="auto" hangingPunct="1">
              <a:lnSpc>
                <a:spcPct val="80000"/>
              </a:lnSpc>
              <a:spcAft>
                <a:spcPts val="0"/>
              </a:spcAft>
              <a:buFontTx/>
              <a:buNone/>
              <a:defRPr/>
            </a:pPr>
            <a:r>
              <a:rPr lang="en-US" sz="2000" dirty="0">
                <a:latin typeface="Times New Roman" pitchFamily="18" charset="0"/>
                <a:cs typeface="Times New Roman" pitchFamily="18" charset="0"/>
              </a:rPr>
              <a:t>Entrepreneurs are motivated by the excitement of staring a new business. Once achieved, they seek out new goals or ventures to try.</a:t>
            </a:r>
          </a:p>
          <a:p>
            <a:pPr marL="0" indent="0" algn="just" eaLnBrk="1" fontAlgn="auto" hangingPunct="1">
              <a:lnSpc>
                <a:spcPct val="40000"/>
              </a:lnSpc>
              <a:spcAft>
                <a:spcPts val="0"/>
              </a:spcAft>
              <a:buFontTx/>
              <a:buNone/>
              <a:defRPr/>
            </a:pPr>
            <a:endParaRPr lang="en-US" sz="2000" dirty="0">
              <a:latin typeface="Times New Roman" pitchFamily="18" charset="0"/>
              <a:cs typeface="Times New Roman" pitchFamily="18" charset="0"/>
            </a:endParaRPr>
          </a:p>
          <a:p>
            <a:pPr marL="0" indent="0" algn="just" eaLnBrk="1" fontAlgn="auto" hangingPunct="1">
              <a:lnSpc>
                <a:spcPct val="80000"/>
              </a:lnSpc>
              <a:spcAft>
                <a:spcPts val="0"/>
              </a:spcAft>
              <a:buFontTx/>
              <a:buNone/>
              <a:defRPr/>
            </a:pPr>
            <a:r>
              <a:rPr lang="en-US" sz="2000" b="1" dirty="0">
                <a:solidFill>
                  <a:schemeClr val="accent2"/>
                </a:solidFill>
                <a:latin typeface="Times New Roman" pitchFamily="18" charset="0"/>
                <a:cs typeface="Times New Roman" pitchFamily="18" charset="0"/>
              </a:rPr>
              <a:t>Hardworking</a:t>
            </a:r>
          </a:p>
          <a:p>
            <a:pPr marL="0" indent="0" algn="just" eaLnBrk="1" fontAlgn="auto" hangingPunct="1">
              <a:lnSpc>
                <a:spcPct val="80000"/>
              </a:lnSpc>
              <a:spcAft>
                <a:spcPts val="0"/>
              </a:spcAft>
              <a:buFontTx/>
              <a:buNone/>
              <a:defRPr/>
            </a:pPr>
            <a:r>
              <a:rPr lang="en-US" sz="2000" dirty="0">
                <a:latin typeface="Times New Roman" pitchFamily="18" charset="0"/>
                <a:cs typeface="Times New Roman" pitchFamily="18" charset="0"/>
              </a:rPr>
              <a:t>Entrepreneurs need a great deal of energy to see a venture start and succeed. Yet they are not deterred by the long hours to achieve their goal.</a:t>
            </a:r>
            <a:endParaRPr lang="en-CA" sz="2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2000"/>
                                        <p:tgtEl>
                                          <p:spTgt spid="4">
                                            <p:txEl>
                                              <p:pRg st="1" end="1"/>
                                            </p:txEl>
                                          </p:spTgt>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par>
                          <p:cTn id="16" fill="hold">
                            <p:stCondLst>
                              <p:cond delay="6000"/>
                            </p:stCondLst>
                            <p:childTnLst>
                              <p:par>
                                <p:cTn id="17" presetID="10" presetClass="entr" presetSubtype="0" fill="hold" nodeType="after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childTnLst>
                          </p:cTn>
                        </p:par>
                        <p:par>
                          <p:cTn id="20" fill="hold">
                            <p:stCondLst>
                              <p:cond delay="8000"/>
                            </p:stCondLst>
                            <p:childTnLst>
                              <p:par>
                                <p:cTn id="21" presetID="10" presetClass="entr" presetSubtype="0" fill="hold" nodeType="after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animEffect transition="in" filter="fade">
                                      <p:cBhvr>
                                        <p:cTn id="23" dur="2000"/>
                                        <p:tgtEl>
                                          <p:spTgt spid="4">
                                            <p:txEl>
                                              <p:pRg st="6" end="6"/>
                                            </p:txEl>
                                          </p:spTgt>
                                        </p:tgtEl>
                                      </p:cBhvr>
                                    </p:animEffect>
                                  </p:childTnLst>
                                </p:cTn>
                              </p:par>
                            </p:childTnLst>
                          </p:cTn>
                        </p:par>
                        <p:par>
                          <p:cTn id="24" fill="hold">
                            <p:stCondLst>
                              <p:cond delay="10000"/>
                            </p:stCondLst>
                            <p:childTnLst>
                              <p:par>
                                <p:cTn id="25" presetID="10" presetClass="entr" presetSubtype="0" fill="hold" nodeType="after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fade">
                                      <p:cBhvr>
                                        <p:cTn id="32" dur="2000"/>
                                        <p:tgtEl>
                                          <p:spTgt spid="4">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animEffect transition="in" filter="fade">
                                      <p:cBhvr>
                                        <p:cTn id="35" dur="20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3"/>
          <p:cNvSpPr>
            <a:spLocks noGrp="1" noChangeArrowheads="1"/>
          </p:cNvSpPr>
          <p:nvPr>
            <p:ph idx="1"/>
          </p:nvPr>
        </p:nvSpPr>
        <p:spPr/>
        <p:txBody>
          <a:bodyPr/>
          <a:lstStyle/>
          <a:p>
            <a:pPr marL="0" indent="0" eaLnBrk="1" hangingPunct="1">
              <a:lnSpc>
                <a:spcPct val="90000"/>
              </a:lnSpc>
              <a:buFontTx/>
              <a:buNone/>
            </a:pPr>
            <a:r>
              <a:rPr lang="en-US" sz="2000" b="1" dirty="0" smtClean="0">
                <a:solidFill>
                  <a:schemeClr val="accent2"/>
                </a:solidFill>
                <a:latin typeface="Times New Roman" pitchFamily="18" charset="0"/>
                <a:cs typeface="Times New Roman" pitchFamily="18" charset="0"/>
              </a:rPr>
              <a:t>Self-confident</a:t>
            </a:r>
          </a:p>
          <a:p>
            <a:pPr marL="0" indent="0" algn="just" eaLnBrk="1" hangingPunct="1">
              <a:lnSpc>
                <a:spcPct val="90000"/>
              </a:lnSpc>
              <a:buFontTx/>
              <a:buNone/>
            </a:pPr>
            <a:r>
              <a:rPr lang="en-US" sz="2000" dirty="0" smtClean="0">
                <a:latin typeface="Times New Roman" pitchFamily="18" charset="0"/>
                <a:cs typeface="Times New Roman" pitchFamily="18" charset="0"/>
              </a:rPr>
              <a:t>Entrepreneurs believe in themselves. Their self-confidence takes care of any doubts they may have.</a:t>
            </a:r>
          </a:p>
          <a:p>
            <a:pPr marL="0" indent="0" algn="just" eaLnBrk="1" hangingPunct="1">
              <a:lnSpc>
                <a:spcPct val="90000"/>
              </a:lnSpc>
              <a:buFontTx/>
              <a:buNone/>
            </a:pPr>
            <a:endParaRPr lang="en-US" sz="2000" dirty="0" smtClean="0">
              <a:latin typeface="Times New Roman" pitchFamily="18" charset="0"/>
              <a:cs typeface="Times New Roman" pitchFamily="18" charset="0"/>
            </a:endParaRPr>
          </a:p>
          <a:p>
            <a:pPr marL="0" indent="0" algn="just" eaLnBrk="1" hangingPunct="1">
              <a:lnSpc>
                <a:spcPct val="90000"/>
              </a:lnSpc>
              <a:buFontTx/>
              <a:buNone/>
            </a:pPr>
            <a:r>
              <a:rPr lang="en-US" sz="2000" b="1" dirty="0" smtClean="0">
                <a:solidFill>
                  <a:schemeClr val="accent2"/>
                </a:solidFill>
                <a:latin typeface="Times New Roman" pitchFamily="18" charset="0"/>
                <a:cs typeface="Times New Roman" pitchFamily="18" charset="0"/>
              </a:rPr>
              <a:t>Flexible</a:t>
            </a:r>
          </a:p>
          <a:p>
            <a:pPr marL="0" indent="0" algn="just" eaLnBrk="1" hangingPunct="1">
              <a:lnSpc>
                <a:spcPct val="90000"/>
              </a:lnSpc>
              <a:buFontTx/>
              <a:buNone/>
            </a:pPr>
            <a:r>
              <a:rPr lang="en-US" sz="2000" dirty="0" smtClean="0">
                <a:latin typeface="Times New Roman" pitchFamily="18" charset="0"/>
                <a:cs typeface="Times New Roman" pitchFamily="18" charset="0"/>
              </a:rPr>
              <a:t>Entrepreneurs must be flexible in order to adapt to changing trends, markets, technologies, rules, and economic environments.</a:t>
            </a:r>
          </a:p>
          <a:p>
            <a:pPr marL="0" indent="0" algn="just" eaLnBrk="1" hangingPunct="1">
              <a:lnSpc>
                <a:spcPct val="90000"/>
              </a:lnSpc>
              <a:buFontTx/>
              <a:buNone/>
            </a:pPr>
            <a:endParaRPr lang="en-US" sz="2000" dirty="0" smtClean="0">
              <a:latin typeface="Times New Roman" pitchFamily="18" charset="0"/>
              <a:cs typeface="Times New Roman" pitchFamily="18" charset="0"/>
            </a:endParaRPr>
          </a:p>
          <a:p>
            <a:pPr marL="0" indent="0" algn="just" eaLnBrk="1" hangingPunct="1">
              <a:lnSpc>
                <a:spcPct val="90000"/>
              </a:lnSpc>
              <a:buFontTx/>
              <a:buNone/>
            </a:pPr>
            <a:r>
              <a:rPr lang="en-US" sz="2000" b="1" dirty="0" smtClean="0">
                <a:solidFill>
                  <a:schemeClr val="accent2"/>
                </a:solidFill>
                <a:latin typeface="Times New Roman" pitchFamily="18" charset="0"/>
                <a:cs typeface="Times New Roman" pitchFamily="18" charset="0"/>
              </a:rPr>
              <a:t>Independent</a:t>
            </a:r>
          </a:p>
          <a:p>
            <a:pPr marL="0" indent="0" algn="just" eaLnBrk="1" hangingPunct="1">
              <a:lnSpc>
                <a:spcPct val="90000"/>
              </a:lnSpc>
              <a:buFontTx/>
              <a:buNone/>
            </a:pPr>
            <a:r>
              <a:rPr lang="en-US" sz="2000" dirty="0" smtClean="0">
                <a:latin typeface="Times New Roman" pitchFamily="18" charset="0"/>
                <a:cs typeface="Times New Roman" pitchFamily="18" charset="0"/>
              </a:rPr>
              <a:t>An entrepreneur’s desire for control and the ability to make decisions often makes it difficult for them to work in a controlled environment.   </a:t>
            </a:r>
            <a:endParaRPr lang="en-CA"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2000"/>
                                        <p:tgtEl>
                                          <p:spTgt spid="4">
                                            <p:txEl>
                                              <p:pRg st="1" end="1"/>
                                            </p:txEl>
                                          </p:spTgt>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childTnLst>
                          </p:cTn>
                        </p:par>
                        <p:par>
                          <p:cTn id="16" fill="hold">
                            <p:stCondLst>
                              <p:cond delay="6000"/>
                            </p:stCondLst>
                            <p:childTnLst>
                              <p:par>
                                <p:cTn id="17" presetID="10" presetClass="entr" presetSubtype="0" fill="hold" nodeType="after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childTnLst>
                          </p:cTn>
                        </p:par>
                        <p:par>
                          <p:cTn id="20" fill="hold">
                            <p:stCondLst>
                              <p:cond delay="8000"/>
                            </p:stCondLst>
                            <p:childTnLst>
                              <p:par>
                                <p:cTn id="21" presetID="10" presetClass="entr" presetSubtype="0" fill="hold" nodeType="after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animEffect transition="in" filter="fade">
                                      <p:cBhvr>
                                        <p:cTn id="23" dur="2000"/>
                                        <p:tgtEl>
                                          <p:spTgt spid="4">
                                            <p:txEl>
                                              <p:pRg st="6" end="6"/>
                                            </p:txEl>
                                          </p:spTgt>
                                        </p:tgtEl>
                                      </p:cBhvr>
                                    </p:animEffect>
                                  </p:childTnLst>
                                </p:cTn>
                              </p:par>
                            </p:childTnLst>
                          </p:cTn>
                        </p:par>
                        <p:par>
                          <p:cTn id="24" fill="hold">
                            <p:stCondLst>
                              <p:cond delay="10000"/>
                            </p:stCondLst>
                            <p:childTnLst>
                              <p:par>
                                <p:cTn id="25" presetID="10" presetClass="entr" presetSubtype="0" fill="hold" nodeType="after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Algerian" pitchFamily="82" charset="0"/>
              </a:rPr>
              <a:t>Factors affecting Entrepreneurship development</a:t>
            </a:r>
            <a:endParaRPr lang="en-IN" sz="3200" dirty="0"/>
          </a:p>
        </p:txBody>
      </p:sp>
      <p:pic>
        <p:nvPicPr>
          <p:cNvPr id="1026" name="Picture 2"/>
          <p:cNvPicPr>
            <a:picLocks noGrp="1" noChangeAspect="1" noChangeArrowheads="1"/>
          </p:cNvPicPr>
          <p:nvPr>
            <p:ph idx="1"/>
          </p:nvPr>
        </p:nvPicPr>
        <p:blipFill>
          <a:blip r:embed="rId2"/>
          <a:srcRect/>
          <a:stretch>
            <a:fillRect/>
          </a:stretch>
        </p:blipFill>
        <p:spPr bwMode="auto">
          <a:xfrm>
            <a:off x="1371600" y="1677194"/>
            <a:ext cx="5943600" cy="437197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4724400" cy="596900"/>
          </a:xfrm>
        </p:spPr>
        <p:txBody>
          <a:bodyPr>
            <a:normAutofit/>
          </a:bodyPr>
          <a:lstStyle/>
          <a:p>
            <a:r>
              <a:rPr lang="en-US" sz="2400" dirty="0" smtClean="0">
                <a:latin typeface="Algerian" pitchFamily="82" charset="0"/>
              </a:rPr>
              <a:t>Economic Factors </a:t>
            </a:r>
            <a:endParaRPr lang="en-IN" sz="2400" dirty="0"/>
          </a:p>
        </p:txBody>
      </p:sp>
      <p:sp>
        <p:nvSpPr>
          <p:cNvPr id="4" name="Text Placeholder 3"/>
          <p:cNvSpPr>
            <a:spLocks noGrp="1"/>
          </p:cNvSpPr>
          <p:nvPr>
            <p:ph type="body" sz="half" idx="2"/>
          </p:nvPr>
        </p:nvSpPr>
        <p:spPr>
          <a:xfrm>
            <a:off x="533400" y="1435100"/>
            <a:ext cx="3505200" cy="4691063"/>
          </a:xfrm>
        </p:spPr>
        <p:txBody>
          <a:bodyPr>
            <a:normAutofit/>
          </a:bodyPr>
          <a:lstStyle/>
          <a:p>
            <a:pPr algn="just"/>
            <a:r>
              <a:rPr lang="en-IN" sz="2000" dirty="0" smtClean="0">
                <a:solidFill>
                  <a:srgbClr val="111111"/>
                </a:solidFill>
                <a:latin typeface="Times New Roman" pitchFamily="18" charset="0"/>
                <a:cs typeface="Times New Roman" pitchFamily="18" charset="0"/>
              </a:rPr>
              <a:t>From a strictly economic viewpoint, it can be said that the same factors </a:t>
            </a:r>
            <a:r>
              <a:rPr lang="en-IN" sz="2000" dirty="0" smtClean="0">
                <a:solidFill>
                  <a:srgbClr val="111111"/>
                </a:solidFill>
                <a:latin typeface="Times New Roman" pitchFamily="18" charset="0"/>
                <a:cs typeface="Times New Roman" pitchFamily="18" charset="0"/>
              </a:rPr>
              <a:t>which promote economic development </a:t>
            </a:r>
            <a:r>
              <a:rPr lang="en-IN" sz="2000" dirty="0" smtClean="0">
                <a:solidFill>
                  <a:srgbClr val="111111"/>
                </a:solidFill>
                <a:latin typeface="Times New Roman" pitchFamily="18" charset="0"/>
                <a:cs typeface="Times New Roman" pitchFamily="18" charset="0"/>
              </a:rPr>
              <a:t>account for the emergence </a:t>
            </a:r>
            <a:r>
              <a:rPr lang="en-IN" sz="2000" dirty="0" smtClean="0">
                <a:solidFill>
                  <a:srgbClr val="111111"/>
                </a:solidFill>
                <a:latin typeface="Times New Roman" pitchFamily="18" charset="0"/>
                <a:cs typeface="Times New Roman" pitchFamily="18" charset="0"/>
              </a:rPr>
              <a:t>of entrepreneurship </a:t>
            </a:r>
            <a:r>
              <a:rPr lang="en-IN" sz="2000" dirty="0" smtClean="0">
                <a:solidFill>
                  <a:srgbClr val="111111"/>
                </a:solidFill>
                <a:latin typeface="Times New Roman" pitchFamily="18" charset="0"/>
                <a:cs typeface="Times New Roman" pitchFamily="18" charset="0"/>
              </a:rPr>
              <a:t>also.</a:t>
            </a:r>
            <a:endParaRPr lang="en-IN" sz="2000" dirty="0">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4724400" y="1370806"/>
            <a:ext cx="3733800" cy="4801394"/>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algn="just"/>
            <a:r>
              <a:rPr lang="en-IN" b="1" i="1" dirty="0" smtClean="0">
                <a:latin typeface="Times New Roman" pitchFamily="18" charset="0"/>
                <a:cs typeface="Times New Roman" pitchFamily="18" charset="0"/>
              </a:rPr>
              <a:t>Capital</a:t>
            </a:r>
            <a:r>
              <a:rPr lang="en-IN" b="1" i="1" dirty="0" smtClean="0">
                <a:latin typeface="Times New Roman" pitchFamily="18" charset="0"/>
                <a:cs typeface="Times New Roman" pitchFamily="18" charset="0"/>
              </a:rPr>
              <a:t>:</a:t>
            </a:r>
          </a:p>
          <a:p>
            <a:pPr algn="just">
              <a:buNone/>
            </a:pPr>
            <a:endParaRPr lang="en-IN" dirty="0" smtClean="0">
              <a:latin typeface="Times New Roman" pitchFamily="18" charset="0"/>
              <a:cs typeface="Times New Roman" pitchFamily="18" charset="0"/>
            </a:endParaRPr>
          </a:p>
          <a:p>
            <a:pPr lvl="1" algn="just"/>
            <a:r>
              <a:rPr lang="en-IN" dirty="0" smtClean="0">
                <a:latin typeface="Times New Roman" pitchFamily="18" charset="0"/>
                <a:cs typeface="Times New Roman" pitchFamily="18" charset="0"/>
              </a:rPr>
              <a:t>Capital </a:t>
            </a:r>
            <a:r>
              <a:rPr lang="en-IN" dirty="0" smtClean="0">
                <a:latin typeface="Times New Roman" pitchFamily="18" charset="0"/>
                <a:cs typeface="Times New Roman" pitchFamily="18" charset="0"/>
              </a:rPr>
              <a:t>is one of the most important prerequisites to establish </a:t>
            </a:r>
            <a:r>
              <a:rPr lang="en-IN" dirty="0" smtClean="0">
                <a:latin typeface="Times New Roman" pitchFamily="18" charset="0"/>
                <a:cs typeface="Times New Roman" pitchFamily="18" charset="0"/>
              </a:rPr>
              <a:t>an enterprise</a:t>
            </a:r>
            <a:r>
              <a:rPr lang="en-IN" dirty="0" smtClean="0">
                <a:latin typeface="Times New Roman" pitchFamily="18" charset="0"/>
                <a:cs typeface="Times New Roman" pitchFamily="18" charset="0"/>
              </a:rPr>
              <a:t>.</a:t>
            </a:r>
          </a:p>
          <a:p>
            <a:pPr lvl="1" algn="just"/>
            <a:r>
              <a:rPr lang="en-IN" dirty="0" smtClean="0">
                <a:latin typeface="Times New Roman" pitchFamily="18" charset="0"/>
                <a:cs typeface="Times New Roman" pitchFamily="18" charset="0"/>
              </a:rPr>
              <a:t>Availability </a:t>
            </a:r>
            <a:r>
              <a:rPr lang="en-IN" dirty="0" smtClean="0">
                <a:latin typeface="Times New Roman" pitchFamily="18" charset="0"/>
                <a:cs typeface="Times New Roman" pitchFamily="18" charset="0"/>
              </a:rPr>
              <a:t>of capital facilitates the entrepreneur to bring </a:t>
            </a:r>
            <a:r>
              <a:rPr lang="en-IN" dirty="0" smtClean="0">
                <a:latin typeface="Times New Roman" pitchFamily="18" charset="0"/>
                <a:cs typeface="Times New Roman" pitchFamily="18" charset="0"/>
              </a:rPr>
              <a:t>together the </a:t>
            </a:r>
            <a:r>
              <a:rPr lang="en-IN" dirty="0" smtClean="0">
                <a:latin typeface="Times New Roman" pitchFamily="18" charset="0"/>
                <a:cs typeface="Times New Roman" pitchFamily="18" charset="0"/>
              </a:rPr>
              <a:t>land of one, machine of another and raw material of yet another </a:t>
            </a:r>
            <a:r>
              <a:rPr lang="en-IN" dirty="0" smtClean="0">
                <a:latin typeface="Times New Roman" pitchFamily="18" charset="0"/>
                <a:cs typeface="Times New Roman" pitchFamily="18" charset="0"/>
              </a:rPr>
              <a:t>to combine </a:t>
            </a:r>
            <a:r>
              <a:rPr lang="en-IN" dirty="0" smtClean="0">
                <a:latin typeface="Times New Roman" pitchFamily="18" charset="0"/>
                <a:cs typeface="Times New Roman" pitchFamily="18" charset="0"/>
              </a:rPr>
              <a:t>them to produce goods.</a:t>
            </a:r>
          </a:p>
          <a:p>
            <a:pPr lvl="1" algn="just"/>
            <a:r>
              <a:rPr lang="en-IN" dirty="0" smtClean="0">
                <a:latin typeface="Times New Roman" pitchFamily="18" charset="0"/>
                <a:cs typeface="Times New Roman" pitchFamily="18" charset="0"/>
              </a:rPr>
              <a:t>Capital </a:t>
            </a:r>
            <a:r>
              <a:rPr lang="en-IN" dirty="0" smtClean="0">
                <a:latin typeface="Times New Roman" pitchFamily="18" charset="0"/>
                <a:cs typeface="Times New Roman" pitchFamily="18" charset="0"/>
              </a:rPr>
              <a:t>is therefore, regarded as lubricant to the process </a:t>
            </a:r>
            <a:r>
              <a:rPr lang="en-IN" dirty="0" smtClean="0">
                <a:latin typeface="Times New Roman" pitchFamily="18" charset="0"/>
                <a:cs typeface="Times New Roman" pitchFamily="18" charset="0"/>
              </a:rPr>
              <a:t>of production/render </a:t>
            </a:r>
            <a:r>
              <a:rPr lang="en-IN" dirty="0" smtClean="0">
                <a:latin typeface="Times New Roman" pitchFamily="18" charset="0"/>
                <a:cs typeface="Times New Roman" pitchFamily="18" charset="0"/>
              </a:rPr>
              <a:t>services</a:t>
            </a:r>
            <a:r>
              <a:rPr lang="en-IN" dirty="0" smtClean="0">
                <a:latin typeface="Times New Roman" pitchFamily="18" charset="0"/>
                <a:cs typeface="Times New Roman" pitchFamily="18" charset="0"/>
              </a:rPr>
              <a:t>.</a:t>
            </a:r>
          </a:p>
          <a:p>
            <a:pPr algn="just"/>
            <a:endParaRPr lang="en-IN" dirty="0" smtClean="0">
              <a:latin typeface="Times New Roman" pitchFamily="18" charset="0"/>
              <a:cs typeface="Times New Roman" pitchFamily="18" charset="0"/>
            </a:endParaRPr>
          </a:p>
          <a:p>
            <a:pPr algn="just"/>
            <a:r>
              <a:rPr lang="en-IN" b="1" i="1" dirty="0" smtClean="0">
                <a:latin typeface="Times New Roman" pitchFamily="18" charset="0"/>
                <a:cs typeface="Times New Roman" pitchFamily="18" charset="0"/>
              </a:rPr>
              <a:t>Labour</a:t>
            </a:r>
            <a:r>
              <a:rPr lang="en-IN" b="1" i="1" dirty="0" smtClean="0">
                <a:latin typeface="Times New Roman" pitchFamily="18" charset="0"/>
                <a:cs typeface="Times New Roman" pitchFamily="18" charset="0"/>
              </a:rPr>
              <a:t>: </a:t>
            </a:r>
            <a:endParaRPr lang="en-IN" b="1" i="1" dirty="0" smtClean="0">
              <a:latin typeface="Times New Roman" pitchFamily="18" charset="0"/>
              <a:cs typeface="Times New Roman" pitchFamily="18" charset="0"/>
            </a:endParaRPr>
          </a:p>
          <a:p>
            <a:pPr algn="just"/>
            <a:endParaRPr lang="en-IN" b="1" dirty="0" smtClean="0">
              <a:latin typeface="Times New Roman" pitchFamily="18" charset="0"/>
              <a:cs typeface="Times New Roman" pitchFamily="18" charset="0"/>
            </a:endParaRPr>
          </a:p>
          <a:p>
            <a:pPr lvl="1"/>
            <a:r>
              <a:rPr lang="en-IN" dirty="0" smtClean="0">
                <a:latin typeface="Times New Roman" pitchFamily="18" charset="0"/>
                <a:cs typeface="Times New Roman" pitchFamily="18" charset="0"/>
              </a:rPr>
              <a:t>The </a:t>
            </a:r>
            <a:r>
              <a:rPr lang="en-IN" dirty="0" smtClean="0">
                <a:latin typeface="Times New Roman" pitchFamily="18" charset="0"/>
                <a:cs typeface="Times New Roman" pitchFamily="18" charset="0"/>
              </a:rPr>
              <a:t>quality rather quantity of labour in another factor </a:t>
            </a:r>
            <a:r>
              <a:rPr lang="en-IN" dirty="0" smtClean="0">
                <a:latin typeface="Times New Roman" pitchFamily="18" charset="0"/>
                <a:cs typeface="Times New Roman" pitchFamily="18" charset="0"/>
              </a:rPr>
              <a:t>which influences the emergence of entrepreneurship.</a:t>
            </a:r>
            <a:endParaRPr lang="en-IN"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153400" cy="4525963"/>
          </a:xfrm>
        </p:spPr>
        <p:txBody>
          <a:bodyPr>
            <a:noAutofit/>
          </a:bodyPr>
          <a:lstStyle/>
          <a:p>
            <a:r>
              <a:rPr lang="en-IN" sz="2000" b="1" i="1" dirty="0" smtClean="0">
                <a:latin typeface="Times New Roman" pitchFamily="18" charset="0"/>
                <a:cs typeface="Times New Roman" pitchFamily="18" charset="0"/>
              </a:rPr>
              <a:t>Raw Materials</a:t>
            </a:r>
            <a:r>
              <a:rPr lang="en-IN" sz="2000" i="1" dirty="0" smtClean="0">
                <a:latin typeface="Times New Roman" pitchFamily="18" charset="0"/>
                <a:cs typeface="Times New Roman" pitchFamily="18" charset="0"/>
              </a:rPr>
              <a:t>:</a:t>
            </a:r>
            <a:endParaRPr lang="en-IN" sz="2000" i="1" dirty="0" smtClean="0">
              <a:latin typeface="Times New Roman" pitchFamily="18" charset="0"/>
              <a:cs typeface="Times New Roman" pitchFamily="18" charset="0"/>
            </a:endParaRPr>
          </a:p>
          <a:p>
            <a:pPr lvl="1"/>
            <a:r>
              <a:rPr lang="en-IN"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necessity of raw material hardly needs any emphasis </a:t>
            </a:r>
            <a:r>
              <a:rPr lang="en-IN" sz="2000" dirty="0" smtClean="0">
                <a:latin typeface="Times New Roman" pitchFamily="18" charset="0"/>
                <a:cs typeface="Times New Roman" pitchFamily="18" charset="0"/>
              </a:rPr>
              <a:t>for establishing </a:t>
            </a:r>
            <a:r>
              <a:rPr lang="en-IN" sz="2000" dirty="0" smtClean="0">
                <a:latin typeface="Times New Roman" pitchFamily="18" charset="0"/>
                <a:cs typeface="Times New Roman" pitchFamily="18" charset="0"/>
              </a:rPr>
              <a:t>any industrial activity and therefore it influences in </a:t>
            </a:r>
            <a:r>
              <a:rPr lang="en-IN" sz="2000" dirty="0" smtClean="0">
                <a:latin typeface="Times New Roman" pitchFamily="18" charset="0"/>
                <a:cs typeface="Times New Roman" pitchFamily="18" charset="0"/>
              </a:rPr>
              <a:t>the emergence </a:t>
            </a:r>
            <a:r>
              <a:rPr lang="en-IN" sz="2000" dirty="0" smtClean="0">
                <a:latin typeface="Times New Roman" pitchFamily="18" charset="0"/>
                <a:cs typeface="Times New Roman" pitchFamily="18" charset="0"/>
              </a:rPr>
              <a:t>of entrepreneurship.</a:t>
            </a:r>
          </a:p>
          <a:p>
            <a:pPr lvl="1"/>
            <a:r>
              <a:rPr lang="en-IN" sz="2000" dirty="0" smtClean="0">
                <a:latin typeface="Times New Roman" pitchFamily="18" charset="0"/>
                <a:cs typeface="Times New Roman" pitchFamily="18" charset="0"/>
              </a:rPr>
              <a:t>In </a:t>
            </a:r>
            <a:r>
              <a:rPr lang="en-IN" sz="2000" dirty="0" smtClean="0">
                <a:latin typeface="Times New Roman" pitchFamily="18" charset="0"/>
                <a:cs typeface="Times New Roman" pitchFamily="18" charset="0"/>
              </a:rPr>
              <a:t>the absence of raw materials, neither any enterprise can </a:t>
            </a:r>
            <a:r>
              <a:rPr lang="en-IN" sz="2000" dirty="0" smtClean="0">
                <a:latin typeface="Times New Roman" pitchFamily="18" charset="0"/>
                <a:cs typeface="Times New Roman" pitchFamily="18" charset="0"/>
              </a:rPr>
              <a:t>be established </a:t>
            </a:r>
            <a:r>
              <a:rPr lang="en-IN" sz="2000" dirty="0" smtClean="0">
                <a:latin typeface="Times New Roman" pitchFamily="18" charset="0"/>
                <a:cs typeface="Times New Roman" pitchFamily="18" charset="0"/>
              </a:rPr>
              <a:t>nor an entrepreneur can emerged</a:t>
            </a:r>
            <a:r>
              <a:rPr lang="en-IN" sz="2000" dirty="0" smtClean="0">
                <a:latin typeface="Times New Roman" pitchFamily="18" charset="0"/>
                <a:cs typeface="Times New Roman" pitchFamily="18" charset="0"/>
              </a:rPr>
              <a:t>.</a:t>
            </a:r>
          </a:p>
          <a:p>
            <a:pPr>
              <a:buNone/>
            </a:pPr>
            <a:endParaRPr lang="en-IN" sz="2000" dirty="0" smtClean="0">
              <a:latin typeface="Times New Roman" pitchFamily="18" charset="0"/>
              <a:cs typeface="Times New Roman" pitchFamily="18" charset="0"/>
            </a:endParaRPr>
          </a:p>
          <a:p>
            <a:r>
              <a:rPr lang="en-IN" sz="2000" b="1" i="1" dirty="0" smtClean="0">
                <a:latin typeface="Times New Roman" pitchFamily="18" charset="0"/>
                <a:cs typeface="Times New Roman" pitchFamily="18" charset="0"/>
              </a:rPr>
              <a:t>Market</a:t>
            </a:r>
            <a:r>
              <a:rPr lang="en-IN" sz="2000" i="1" dirty="0" smtClean="0">
                <a:latin typeface="Times New Roman" pitchFamily="18" charset="0"/>
                <a:cs typeface="Times New Roman" pitchFamily="18" charset="0"/>
              </a:rPr>
              <a:t>:</a:t>
            </a:r>
          </a:p>
          <a:p>
            <a:pPr lvl="1"/>
            <a:r>
              <a:rPr lang="en-IN"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fact remains that the potential of the market constitutes </a:t>
            </a:r>
            <a:r>
              <a:rPr lang="en-IN" sz="2000" dirty="0" smtClean="0">
                <a:latin typeface="Times New Roman" pitchFamily="18" charset="0"/>
                <a:cs typeface="Times New Roman" pitchFamily="18" charset="0"/>
              </a:rPr>
              <a:t>the major </a:t>
            </a:r>
            <a:r>
              <a:rPr lang="en-IN" sz="2000" dirty="0" smtClean="0">
                <a:latin typeface="Times New Roman" pitchFamily="18" charset="0"/>
                <a:cs typeface="Times New Roman" pitchFamily="18" charset="0"/>
              </a:rPr>
              <a:t>determinant of probable rewards from entrepreneurial function.</a:t>
            </a:r>
          </a:p>
          <a:p>
            <a:pPr lvl="1"/>
            <a:r>
              <a:rPr lang="en-IN" sz="2000" dirty="0" smtClean="0">
                <a:latin typeface="Times New Roman" pitchFamily="18" charset="0"/>
                <a:cs typeface="Times New Roman" pitchFamily="18" charset="0"/>
              </a:rPr>
              <a:t>The </a:t>
            </a:r>
            <a:r>
              <a:rPr lang="en-IN" sz="2000" dirty="0" smtClean="0">
                <a:latin typeface="Times New Roman" pitchFamily="18" charset="0"/>
                <a:cs typeface="Times New Roman" pitchFamily="18" charset="0"/>
              </a:rPr>
              <a:t>size and composition of market both influence </a:t>
            </a:r>
            <a:r>
              <a:rPr lang="en-IN" sz="2000" dirty="0" smtClean="0">
                <a:latin typeface="Times New Roman" pitchFamily="18" charset="0"/>
                <a:cs typeface="Times New Roman" pitchFamily="18" charset="0"/>
              </a:rPr>
              <a:t>entrepreneurship in </a:t>
            </a:r>
            <a:r>
              <a:rPr lang="en-IN" sz="2000" dirty="0" smtClean="0">
                <a:latin typeface="Times New Roman" pitchFamily="18" charset="0"/>
                <a:cs typeface="Times New Roman" pitchFamily="18" charset="0"/>
              </a:rPr>
              <a:t>their own ways.</a:t>
            </a:r>
            <a:endParaRPr lang="en-IN" sz="20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dirty="0" smtClean="0">
                <a:latin typeface="Algerian" pitchFamily="82" charset="0"/>
              </a:rPr>
              <a:t>Non Economical </a:t>
            </a:r>
            <a:r>
              <a:rPr lang="en-US" sz="2000" b="1" dirty="0" smtClean="0">
                <a:latin typeface="Algerian" pitchFamily="82" charset="0"/>
              </a:rPr>
              <a:t>Factors </a:t>
            </a:r>
            <a:endParaRPr lang="en-IN" sz="2000" b="1" dirty="0"/>
          </a:p>
        </p:txBody>
      </p:sp>
      <p:pic>
        <p:nvPicPr>
          <p:cNvPr id="3074" name="Picture 2"/>
          <p:cNvPicPr>
            <a:picLocks noGrp="1" noChangeAspect="1" noChangeArrowheads="1"/>
          </p:cNvPicPr>
          <p:nvPr>
            <p:ph idx="1"/>
          </p:nvPr>
        </p:nvPicPr>
        <p:blipFill>
          <a:blip r:embed="rId2"/>
          <a:srcRect/>
          <a:stretch>
            <a:fillRect/>
          </a:stretch>
        </p:blipFill>
        <p:spPr bwMode="auto">
          <a:xfrm>
            <a:off x="533400" y="1676400"/>
            <a:ext cx="7667625" cy="31242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400800"/>
          </a:xfrm>
        </p:spPr>
        <p:txBody>
          <a:bodyPr>
            <a:noAutofit/>
          </a:bodyPr>
          <a:lstStyle/>
          <a:p>
            <a:pPr>
              <a:buNone/>
            </a:pPr>
            <a:r>
              <a:rPr lang="en-IN" sz="2000" b="1" i="1" dirty="0" smtClean="0">
                <a:latin typeface="Times New Roman" pitchFamily="18" charset="0"/>
                <a:cs typeface="Times New Roman" pitchFamily="18" charset="0"/>
              </a:rPr>
              <a:t>Social </a:t>
            </a:r>
            <a:r>
              <a:rPr lang="en-IN" sz="2000" b="1" i="1" dirty="0" smtClean="0">
                <a:latin typeface="Times New Roman" pitchFamily="18" charset="0"/>
                <a:cs typeface="Times New Roman" pitchFamily="18" charset="0"/>
              </a:rPr>
              <a:t>Conditions</a:t>
            </a:r>
          </a:p>
          <a:p>
            <a:endParaRPr lang="en-IN" sz="1750" b="1" dirty="0" smtClean="0">
              <a:latin typeface="Times New Roman" pitchFamily="18" charset="0"/>
              <a:cs typeface="Times New Roman" pitchFamily="18" charset="0"/>
            </a:endParaRPr>
          </a:p>
          <a:p>
            <a:r>
              <a:rPr lang="en-IN" sz="1750" b="1" dirty="0" smtClean="0">
                <a:latin typeface="Times New Roman" pitchFamily="18" charset="0"/>
                <a:cs typeface="Times New Roman" pitchFamily="18" charset="0"/>
              </a:rPr>
              <a:t>Legitimacy </a:t>
            </a:r>
            <a:r>
              <a:rPr lang="en-IN" sz="1750" b="1" dirty="0" smtClean="0">
                <a:latin typeface="Times New Roman" pitchFamily="18" charset="0"/>
                <a:cs typeface="Times New Roman" pitchFamily="18" charset="0"/>
              </a:rPr>
              <a:t>of Entrepreneurship</a:t>
            </a:r>
            <a:r>
              <a:rPr lang="en-IN" sz="1750" dirty="0" smtClean="0">
                <a:latin typeface="Times New Roman" pitchFamily="18" charset="0"/>
                <a:cs typeface="Times New Roman" pitchFamily="18" charset="0"/>
              </a:rPr>
              <a:t>: The proponents of </a:t>
            </a:r>
            <a:r>
              <a:rPr lang="en-IN" sz="1750" dirty="0" smtClean="0">
                <a:latin typeface="Times New Roman" pitchFamily="18" charset="0"/>
                <a:cs typeface="Times New Roman" pitchFamily="18" charset="0"/>
              </a:rPr>
              <a:t>non-economic factors </a:t>
            </a:r>
            <a:r>
              <a:rPr lang="en-IN" sz="1750" dirty="0" smtClean="0">
                <a:latin typeface="Times New Roman" pitchFamily="18" charset="0"/>
                <a:cs typeface="Times New Roman" pitchFamily="18" charset="0"/>
              </a:rPr>
              <a:t>give emphasis to the relevance of a system of norms and </a:t>
            </a:r>
            <a:r>
              <a:rPr lang="en-IN" sz="1750" dirty="0" smtClean="0">
                <a:latin typeface="Times New Roman" pitchFamily="18" charset="0"/>
                <a:cs typeface="Times New Roman" pitchFamily="18" charset="0"/>
              </a:rPr>
              <a:t>values within </a:t>
            </a:r>
            <a:r>
              <a:rPr lang="en-IN" sz="1750" dirty="0" smtClean="0">
                <a:latin typeface="Times New Roman" pitchFamily="18" charset="0"/>
                <a:cs typeface="Times New Roman" pitchFamily="18" charset="0"/>
              </a:rPr>
              <a:t>a socio-cultural setting for the emergence of entrepreneurship</a:t>
            </a:r>
            <a:r>
              <a:rPr lang="en-IN" sz="1750" dirty="0" smtClean="0">
                <a:latin typeface="Times New Roman" pitchFamily="18" charset="0"/>
                <a:cs typeface="Times New Roman" pitchFamily="18" charset="0"/>
              </a:rPr>
              <a:t>.</a:t>
            </a:r>
          </a:p>
          <a:p>
            <a:endParaRPr lang="en-IN" sz="1750" dirty="0" smtClean="0">
              <a:latin typeface="Times New Roman" pitchFamily="18" charset="0"/>
              <a:cs typeface="Times New Roman" pitchFamily="18" charset="0"/>
            </a:endParaRPr>
          </a:p>
          <a:p>
            <a:r>
              <a:rPr lang="en-IN" sz="1750" b="1" dirty="0" smtClean="0">
                <a:latin typeface="Times New Roman" pitchFamily="18" charset="0"/>
                <a:cs typeface="Times New Roman" pitchFamily="18" charset="0"/>
              </a:rPr>
              <a:t>Social </a:t>
            </a:r>
            <a:r>
              <a:rPr lang="en-IN" sz="1750" b="1" dirty="0" smtClean="0">
                <a:latin typeface="Times New Roman" pitchFamily="18" charset="0"/>
                <a:cs typeface="Times New Roman" pitchFamily="18" charset="0"/>
              </a:rPr>
              <a:t>Mobility: </a:t>
            </a:r>
            <a:r>
              <a:rPr lang="en-IN" sz="1750" dirty="0" smtClean="0">
                <a:latin typeface="Times New Roman" pitchFamily="18" charset="0"/>
                <a:cs typeface="Times New Roman" pitchFamily="18" charset="0"/>
              </a:rPr>
              <a:t>Social mobility involves the degree of mobility, </a:t>
            </a:r>
            <a:r>
              <a:rPr lang="en-IN" sz="1750" dirty="0" smtClean="0">
                <a:latin typeface="Times New Roman" pitchFamily="18" charset="0"/>
                <a:cs typeface="Times New Roman" pitchFamily="18" charset="0"/>
              </a:rPr>
              <a:t>both social </a:t>
            </a:r>
            <a:r>
              <a:rPr lang="en-IN" sz="1750" dirty="0" smtClean="0">
                <a:latin typeface="Times New Roman" pitchFamily="18" charset="0"/>
                <a:cs typeface="Times New Roman" pitchFamily="18" charset="0"/>
              </a:rPr>
              <a:t>and geographical, and the nature of mobility channels within </a:t>
            </a:r>
            <a:r>
              <a:rPr lang="en-IN" sz="1750" dirty="0" smtClean="0">
                <a:latin typeface="Times New Roman" pitchFamily="18" charset="0"/>
                <a:cs typeface="Times New Roman" pitchFamily="18" charset="0"/>
              </a:rPr>
              <a:t>a system.</a:t>
            </a:r>
          </a:p>
          <a:p>
            <a:endParaRPr lang="en-IN" sz="1750" dirty="0" smtClean="0">
              <a:latin typeface="Times New Roman" pitchFamily="18" charset="0"/>
              <a:cs typeface="Times New Roman" pitchFamily="18" charset="0"/>
            </a:endParaRPr>
          </a:p>
          <a:p>
            <a:r>
              <a:rPr lang="en-IN" sz="1750" b="1" dirty="0" smtClean="0">
                <a:latin typeface="Times New Roman" pitchFamily="18" charset="0"/>
                <a:cs typeface="Times New Roman" pitchFamily="18" charset="0"/>
              </a:rPr>
              <a:t>Marginality:</a:t>
            </a:r>
          </a:p>
          <a:p>
            <a:endParaRPr lang="en-IN" sz="1750" b="1" dirty="0" smtClean="0">
              <a:latin typeface="Times New Roman" pitchFamily="18" charset="0"/>
              <a:cs typeface="Times New Roman" pitchFamily="18" charset="0"/>
            </a:endParaRPr>
          </a:p>
          <a:p>
            <a:pPr lvl="1"/>
            <a:r>
              <a:rPr lang="en-IN" sz="1750" dirty="0" smtClean="0">
                <a:latin typeface="Times New Roman" pitchFamily="18" charset="0"/>
                <a:cs typeface="Times New Roman" pitchFamily="18" charset="0"/>
              </a:rPr>
              <a:t>A </a:t>
            </a:r>
            <a:r>
              <a:rPr lang="en-IN" sz="1750" dirty="0" smtClean="0">
                <a:latin typeface="Times New Roman" pitchFamily="18" charset="0"/>
                <a:cs typeface="Times New Roman" pitchFamily="18" charset="0"/>
              </a:rPr>
              <a:t>group of scholars hold a strong view that social marginality </a:t>
            </a:r>
            <a:r>
              <a:rPr lang="en-IN" sz="1750" dirty="0" smtClean="0">
                <a:latin typeface="Times New Roman" pitchFamily="18" charset="0"/>
                <a:cs typeface="Times New Roman" pitchFamily="18" charset="0"/>
              </a:rPr>
              <a:t>also promotes </a:t>
            </a:r>
            <a:r>
              <a:rPr lang="en-IN" sz="1750" dirty="0" smtClean="0">
                <a:latin typeface="Times New Roman" pitchFamily="18" charset="0"/>
                <a:cs typeface="Times New Roman" pitchFamily="18" charset="0"/>
              </a:rPr>
              <a:t>entrepreneurship.</a:t>
            </a:r>
          </a:p>
          <a:p>
            <a:pPr lvl="1"/>
            <a:r>
              <a:rPr lang="en-IN" sz="1750" dirty="0" smtClean="0">
                <a:latin typeface="Times New Roman" pitchFamily="18" charset="0"/>
                <a:cs typeface="Times New Roman" pitchFamily="18" charset="0"/>
              </a:rPr>
              <a:t>Individuals </a:t>
            </a:r>
            <a:r>
              <a:rPr lang="en-IN" sz="1750" dirty="0" smtClean="0">
                <a:latin typeface="Times New Roman" pitchFamily="18" charset="0"/>
                <a:cs typeface="Times New Roman" pitchFamily="18" charset="0"/>
              </a:rPr>
              <a:t>or groups on the perimeter of a given social system </a:t>
            </a:r>
            <a:r>
              <a:rPr lang="en-IN" sz="1750" dirty="0" smtClean="0">
                <a:latin typeface="Times New Roman" pitchFamily="18" charset="0"/>
                <a:cs typeface="Times New Roman" pitchFamily="18" charset="0"/>
              </a:rPr>
              <a:t>or between </a:t>
            </a:r>
            <a:r>
              <a:rPr lang="en-IN" sz="1750" dirty="0" smtClean="0">
                <a:latin typeface="Times New Roman" pitchFamily="18" charset="0"/>
                <a:cs typeface="Times New Roman" pitchFamily="18" charset="0"/>
              </a:rPr>
              <a:t>two social systems provide the personnel to assume </a:t>
            </a:r>
            <a:r>
              <a:rPr lang="en-IN" sz="1750" dirty="0" smtClean="0">
                <a:latin typeface="Times New Roman" pitchFamily="18" charset="0"/>
                <a:cs typeface="Times New Roman" pitchFamily="18" charset="0"/>
              </a:rPr>
              <a:t>the entrepreneurial </a:t>
            </a:r>
            <a:r>
              <a:rPr lang="en-IN" sz="1750" dirty="0" smtClean="0">
                <a:latin typeface="Times New Roman" pitchFamily="18" charset="0"/>
                <a:cs typeface="Times New Roman" pitchFamily="18" charset="0"/>
              </a:rPr>
              <a:t>roles</a:t>
            </a:r>
            <a:r>
              <a:rPr lang="en-IN" sz="1750" dirty="0" smtClean="0">
                <a:latin typeface="Times New Roman" pitchFamily="18" charset="0"/>
                <a:cs typeface="Times New Roman" pitchFamily="18" charset="0"/>
              </a:rPr>
              <a:t>.</a:t>
            </a:r>
          </a:p>
          <a:p>
            <a:pPr lvl="1"/>
            <a:endParaRPr lang="en-US" sz="1750" dirty="0" smtClean="0">
              <a:latin typeface="Times New Roman" pitchFamily="18" charset="0"/>
              <a:cs typeface="Times New Roman" pitchFamily="18" charset="0"/>
            </a:endParaRPr>
          </a:p>
          <a:p>
            <a:pPr algn="just"/>
            <a:r>
              <a:rPr lang="en-IN" sz="1750" b="1" dirty="0" smtClean="0">
                <a:latin typeface="Times New Roman" pitchFamily="18" charset="0"/>
                <a:cs typeface="Times New Roman" pitchFamily="18" charset="0"/>
              </a:rPr>
              <a:t>Security</a:t>
            </a:r>
            <a:r>
              <a:rPr lang="en-IN" sz="1750" dirty="0" smtClean="0">
                <a:latin typeface="Times New Roman" pitchFamily="18" charset="0"/>
                <a:cs typeface="Times New Roman" pitchFamily="18" charset="0"/>
              </a:rPr>
              <a:t>:</a:t>
            </a:r>
          </a:p>
          <a:p>
            <a:pPr lvl="1" algn="just"/>
            <a:r>
              <a:rPr lang="en-IN" sz="1750" dirty="0" smtClean="0">
                <a:latin typeface="Times New Roman" pitchFamily="18" charset="0"/>
                <a:cs typeface="Times New Roman" pitchFamily="18" charset="0"/>
              </a:rPr>
              <a:t>Security is a significant factor for entrepreneurial development.</a:t>
            </a:r>
          </a:p>
          <a:p>
            <a:pPr lvl="1" algn="just"/>
            <a:r>
              <a:rPr lang="en-IN" sz="1750" dirty="0" smtClean="0">
                <a:latin typeface="Times New Roman" pitchFamily="18" charset="0"/>
                <a:cs typeface="Times New Roman" pitchFamily="18" charset="0"/>
              </a:rPr>
              <a:t>If individuals are fearful of losing their economic assets or of being subjected to various negative sanctions, they will not be inclined to increase their insecurity by behaving entrepreneurially.</a:t>
            </a:r>
          </a:p>
          <a:p>
            <a:pPr lvl="1"/>
            <a:endParaRPr lang="en-IN" sz="1750" dirty="0" smtClean="0">
              <a:latin typeface="Times New Roman" pitchFamily="18" charset="0"/>
              <a:cs typeface="Times New Roman" pitchFamily="18" charset="0"/>
            </a:endParaRPr>
          </a:p>
          <a:p>
            <a:endParaRPr lang="en-IN" sz="1750" dirty="0" smtClean="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Autofit/>
          </a:bodyPr>
          <a:lstStyle/>
          <a:p>
            <a:pPr lvl="1" algn="just"/>
            <a:endParaRPr lang="en-US" sz="2000" i="1" dirty="0" smtClean="0">
              <a:latin typeface="Times New Roman" pitchFamily="18" charset="0"/>
              <a:cs typeface="Times New Roman" pitchFamily="18" charset="0"/>
            </a:endParaRPr>
          </a:p>
          <a:p>
            <a:pPr lvl="1" algn="just">
              <a:buNone/>
            </a:pPr>
            <a:r>
              <a:rPr lang="en-IN" sz="2000" b="1" i="1" dirty="0" smtClean="0">
                <a:latin typeface="Times New Roman" pitchFamily="18" charset="0"/>
                <a:cs typeface="Times New Roman" pitchFamily="18" charset="0"/>
              </a:rPr>
              <a:t>Psychological </a:t>
            </a:r>
            <a:r>
              <a:rPr lang="en-IN" sz="2000" b="1" i="1" dirty="0" smtClean="0">
                <a:latin typeface="Times New Roman" pitchFamily="18" charset="0"/>
                <a:cs typeface="Times New Roman" pitchFamily="18" charset="0"/>
              </a:rPr>
              <a:t>Factors</a:t>
            </a:r>
          </a:p>
          <a:p>
            <a:pPr lvl="1" algn="just">
              <a:buNone/>
            </a:pPr>
            <a:endParaRPr lang="en-IN" sz="1800" b="1" dirty="0" smtClean="0">
              <a:latin typeface="Times New Roman" pitchFamily="18" charset="0"/>
              <a:cs typeface="Times New Roman" pitchFamily="18" charset="0"/>
            </a:endParaRPr>
          </a:p>
          <a:p>
            <a:pPr algn="just"/>
            <a:r>
              <a:rPr lang="en-IN" sz="1800" b="1" dirty="0" smtClean="0">
                <a:latin typeface="Times New Roman" pitchFamily="18" charset="0"/>
                <a:cs typeface="Times New Roman" pitchFamily="18" charset="0"/>
              </a:rPr>
              <a:t>Need Achievement</a:t>
            </a:r>
            <a:r>
              <a:rPr lang="en-IN" sz="1800" dirty="0" smtClean="0">
                <a:latin typeface="Times New Roman" pitchFamily="18" charset="0"/>
                <a:cs typeface="Times New Roman" pitchFamily="18" charset="0"/>
              </a:rPr>
              <a:t>:</a:t>
            </a:r>
          </a:p>
          <a:p>
            <a:pPr lvl="1" algn="just"/>
            <a:r>
              <a:rPr lang="en-IN" sz="1800" dirty="0" smtClean="0">
                <a:latin typeface="Times New Roman" pitchFamily="18" charset="0"/>
                <a:cs typeface="Times New Roman" pitchFamily="18" charset="0"/>
              </a:rPr>
              <a:t>According </a:t>
            </a:r>
            <a:r>
              <a:rPr lang="en-IN" sz="1800" dirty="0" smtClean="0">
                <a:latin typeface="Times New Roman" pitchFamily="18" charset="0"/>
                <a:cs typeface="Times New Roman" pitchFamily="18" charset="0"/>
              </a:rPr>
              <a:t>to David </a:t>
            </a:r>
            <a:r>
              <a:rPr lang="en-IN" sz="1800" dirty="0" err="1" smtClean="0">
                <a:latin typeface="Times New Roman" pitchFamily="18" charset="0"/>
                <a:cs typeface="Times New Roman" pitchFamily="18" charset="0"/>
              </a:rPr>
              <a:t>Mcclelland’s</a:t>
            </a:r>
            <a:r>
              <a:rPr lang="en-IN" sz="1800" dirty="0" smtClean="0">
                <a:latin typeface="Times New Roman" pitchFamily="18" charset="0"/>
                <a:cs typeface="Times New Roman" pitchFamily="18" charset="0"/>
              </a:rPr>
              <a:t> psychological theory of need achievement, </a:t>
            </a:r>
            <a:r>
              <a:rPr lang="en-IN" sz="1800" dirty="0" smtClean="0">
                <a:latin typeface="Times New Roman" pitchFamily="18" charset="0"/>
                <a:cs typeface="Times New Roman" pitchFamily="18" charset="0"/>
              </a:rPr>
              <a:t>a constellation </a:t>
            </a:r>
            <a:r>
              <a:rPr lang="en-IN" sz="1800" dirty="0" smtClean="0">
                <a:latin typeface="Times New Roman" pitchFamily="18" charset="0"/>
                <a:cs typeface="Times New Roman" pitchFamily="18" charset="0"/>
              </a:rPr>
              <a:t>of personality characteristics which are indicative of high </a:t>
            </a:r>
            <a:r>
              <a:rPr lang="en-IN" sz="1800" dirty="0" smtClean="0">
                <a:latin typeface="Times New Roman" pitchFamily="18" charset="0"/>
                <a:cs typeface="Times New Roman" pitchFamily="18" charset="0"/>
              </a:rPr>
              <a:t>need achievement </a:t>
            </a:r>
            <a:r>
              <a:rPr lang="en-IN" sz="1800" dirty="0" smtClean="0">
                <a:latin typeface="Times New Roman" pitchFamily="18" charset="0"/>
                <a:cs typeface="Times New Roman" pitchFamily="18" charset="0"/>
              </a:rPr>
              <a:t>is the major determinant of entrepreneurship development.</a:t>
            </a:r>
          </a:p>
          <a:p>
            <a:pPr lvl="1" algn="just"/>
            <a:r>
              <a:rPr lang="en-IN" sz="1800" dirty="0" smtClean="0">
                <a:latin typeface="Times New Roman" pitchFamily="18" charset="0"/>
                <a:cs typeface="Times New Roman" pitchFamily="18" charset="0"/>
              </a:rPr>
              <a:t>If </a:t>
            </a:r>
            <a:r>
              <a:rPr lang="en-IN" sz="1800" dirty="0" smtClean="0">
                <a:latin typeface="Times New Roman" pitchFamily="18" charset="0"/>
                <a:cs typeface="Times New Roman" pitchFamily="18" charset="0"/>
              </a:rPr>
              <a:t>the average level of need achievement </a:t>
            </a:r>
            <a:r>
              <a:rPr lang="en-IN" sz="1800" dirty="0" smtClean="0">
                <a:latin typeface="Times New Roman" pitchFamily="18" charset="0"/>
                <a:cs typeface="Times New Roman" pitchFamily="18" charset="0"/>
              </a:rPr>
              <a:t>in </a:t>
            </a:r>
            <a:r>
              <a:rPr lang="en-IN" sz="1800" dirty="0" smtClean="0">
                <a:latin typeface="Times New Roman" pitchFamily="18" charset="0"/>
                <a:cs typeface="Times New Roman" pitchFamily="18" charset="0"/>
              </a:rPr>
              <a:t>a society is relatively high, </a:t>
            </a:r>
            <a:r>
              <a:rPr lang="en-IN" sz="1800" dirty="0" smtClean="0">
                <a:latin typeface="Times New Roman" pitchFamily="18" charset="0"/>
                <a:cs typeface="Times New Roman" pitchFamily="18" charset="0"/>
              </a:rPr>
              <a:t>one would </a:t>
            </a:r>
            <a:r>
              <a:rPr lang="en-IN" sz="1800" dirty="0" smtClean="0">
                <a:latin typeface="Times New Roman" pitchFamily="18" charset="0"/>
                <a:cs typeface="Times New Roman" pitchFamily="18" charset="0"/>
              </a:rPr>
              <a:t>expect a relatively high amount of entrepreneurship development in </a:t>
            </a:r>
            <a:r>
              <a:rPr lang="en-IN" sz="1800" dirty="0" smtClean="0">
                <a:latin typeface="Times New Roman" pitchFamily="18" charset="0"/>
                <a:cs typeface="Times New Roman" pitchFamily="18" charset="0"/>
              </a:rPr>
              <a:t>the society.</a:t>
            </a:r>
          </a:p>
          <a:p>
            <a:pPr lvl="1" algn="just"/>
            <a:endParaRPr lang="en-IN" sz="1800" dirty="0" smtClean="0">
              <a:latin typeface="Times New Roman" pitchFamily="18" charset="0"/>
              <a:cs typeface="Times New Roman" pitchFamily="18" charset="0"/>
            </a:endParaRPr>
          </a:p>
          <a:p>
            <a:pPr algn="just"/>
            <a:r>
              <a:rPr lang="en-IN" sz="1800" b="1" dirty="0" smtClean="0">
                <a:latin typeface="Times New Roman" pitchFamily="18" charset="0"/>
                <a:cs typeface="Times New Roman" pitchFamily="18" charset="0"/>
              </a:rPr>
              <a:t>Withdrawal </a:t>
            </a:r>
            <a:r>
              <a:rPr lang="en-IN" sz="1800" b="1" dirty="0" smtClean="0">
                <a:latin typeface="Times New Roman" pitchFamily="18" charset="0"/>
                <a:cs typeface="Times New Roman" pitchFamily="18" charset="0"/>
              </a:rPr>
              <a:t>of Social Respec</a:t>
            </a:r>
            <a:r>
              <a:rPr lang="en-IN" sz="1800" dirty="0" smtClean="0">
                <a:latin typeface="Times New Roman" pitchFamily="18" charset="0"/>
                <a:cs typeface="Times New Roman" pitchFamily="18" charset="0"/>
              </a:rPr>
              <a:t>t: </a:t>
            </a:r>
            <a:endParaRPr lang="en-IN" sz="1800" dirty="0" smtClean="0">
              <a:latin typeface="Times New Roman" pitchFamily="18" charset="0"/>
              <a:cs typeface="Times New Roman" pitchFamily="18" charset="0"/>
            </a:endParaRPr>
          </a:p>
          <a:p>
            <a:pPr lvl="1" algn="just"/>
            <a:r>
              <a:rPr lang="en-IN" sz="1800" dirty="0" smtClean="0">
                <a:latin typeface="Times New Roman" pitchFamily="18" charset="0"/>
                <a:cs typeface="Times New Roman" pitchFamily="18" charset="0"/>
              </a:rPr>
              <a:t>Hagan </a:t>
            </a:r>
            <a:r>
              <a:rPr lang="en-IN" sz="1800" dirty="0" smtClean="0">
                <a:latin typeface="Times New Roman" pitchFamily="18" charset="0"/>
                <a:cs typeface="Times New Roman" pitchFamily="18" charset="0"/>
              </a:rPr>
              <a:t>believes that the initial </a:t>
            </a:r>
            <a:r>
              <a:rPr lang="en-IN" sz="1800" dirty="0" smtClean="0">
                <a:latin typeface="Times New Roman" pitchFamily="18" charset="0"/>
                <a:cs typeface="Times New Roman" pitchFamily="18" charset="0"/>
              </a:rPr>
              <a:t>condition leading </a:t>
            </a:r>
            <a:r>
              <a:rPr lang="en-IN" sz="1800" dirty="0" smtClean="0">
                <a:latin typeface="Times New Roman" pitchFamily="18" charset="0"/>
                <a:cs typeface="Times New Roman" pitchFamily="18" charset="0"/>
              </a:rPr>
              <a:t>to eventual entrepreneurial </a:t>
            </a:r>
            <a:r>
              <a:rPr lang="en-IN" sz="1800" dirty="0" smtClean="0">
                <a:latin typeface="Times New Roman" pitchFamily="18" charset="0"/>
                <a:cs typeface="Times New Roman" pitchFamily="18" charset="0"/>
              </a:rPr>
              <a:t>behaviour </a:t>
            </a:r>
            <a:r>
              <a:rPr lang="en-IN" sz="1800" dirty="0" smtClean="0">
                <a:latin typeface="Times New Roman" pitchFamily="18" charset="0"/>
                <a:cs typeface="Times New Roman" pitchFamily="18" charset="0"/>
              </a:rPr>
              <a:t>is the loss of </a:t>
            </a:r>
            <a:r>
              <a:rPr lang="en-IN" sz="1800" dirty="0" smtClean="0">
                <a:latin typeface="Times New Roman" pitchFamily="18" charset="0"/>
                <a:cs typeface="Times New Roman" pitchFamily="18" charset="0"/>
              </a:rPr>
              <a:t>status </a:t>
            </a:r>
            <a:r>
              <a:rPr lang="en-IN" sz="1800" dirty="0" smtClean="0">
                <a:latin typeface="Times New Roman" pitchFamily="18" charset="0"/>
                <a:cs typeface="Times New Roman" pitchFamily="18" charset="0"/>
              </a:rPr>
              <a:t>by a group.</a:t>
            </a:r>
          </a:p>
          <a:p>
            <a:pPr lvl="1" algn="just"/>
            <a:r>
              <a:rPr lang="en-IN" sz="1800" dirty="0" smtClean="0">
                <a:latin typeface="Times New Roman" pitchFamily="18" charset="0"/>
                <a:cs typeface="Times New Roman" pitchFamily="18" charset="0"/>
              </a:rPr>
              <a:t>He postulates that four types of events can produce status withdrawal:</a:t>
            </a:r>
          </a:p>
          <a:p>
            <a:pPr lvl="1" algn="just">
              <a:buNone/>
            </a:pPr>
            <a:r>
              <a:rPr lang="en-IN" sz="1800" dirty="0" smtClean="0">
                <a:latin typeface="Times New Roman" pitchFamily="18" charset="0"/>
                <a:cs typeface="Times New Roman" pitchFamily="18" charset="0"/>
              </a:rPr>
              <a:t>It may drift into situation of status inconsistency; and</a:t>
            </a:r>
          </a:p>
          <a:p>
            <a:pPr lvl="1" algn="just">
              <a:buNone/>
            </a:pPr>
            <a:r>
              <a:rPr lang="en-IN" sz="1800" dirty="0" smtClean="0">
                <a:latin typeface="Times New Roman" pitchFamily="18" charset="0"/>
                <a:cs typeface="Times New Roman" pitchFamily="18" charset="0"/>
              </a:rPr>
              <a:t>It may mot be accepted into expected status on migration in a new society.</a:t>
            </a:r>
          </a:p>
          <a:p>
            <a:pPr lvl="1" algn="just">
              <a:buNone/>
            </a:pPr>
            <a:r>
              <a:rPr lang="en-IN" sz="1800" dirty="0" smtClean="0">
                <a:latin typeface="Times New Roman" pitchFamily="18" charset="0"/>
                <a:cs typeface="Times New Roman" pitchFamily="18" charset="0"/>
              </a:rPr>
              <a:t>The group may be displaced by force;</a:t>
            </a:r>
          </a:p>
          <a:p>
            <a:pPr lvl="1" algn="just">
              <a:buNone/>
            </a:pPr>
            <a:r>
              <a:rPr lang="en-IN" sz="1800" dirty="0" smtClean="0">
                <a:latin typeface="Times New Roman" pitchFamily="18" charset="0"/>
                <a:cs typeface="Times New Roman" pitchFamily="18" charset="0"/>
              </a:rPr>
              <a:t>It may have its valued symbols denigrated</a:t>
            </a:r>
          </a:p>
          <a:p>
            <a:pPr lvl="1" algn="just"/>
            <a:endParaRPr lang="en-US" sz="1800" dirty="0" smtClean="0">
              <a:latin typeface="Times New Roman" pitchFamily="18" charset="0"/>
              <a:cs typeface="Times New Roman" pitchFamily="18" charset="0"/>
            </a:endParaRPr>
          </a:p>
          <a:p>
            <a:pPr lvl="1" algn="just">
              <a:buNone/>
            </a:pPr>
            <a:endParaRPr lang="en-IN" sz="1800" dirty="0" smtClean="0">
              <a:latin typeface="Times New Roman" pitchFamily="18" charset="0"/>
              <a:cs typeface="Times New Roman" pitchFamily="18" charset="0"/>
            </a:endParaRPr>
          </a:p>
          <a:p>
            <a:pPr algn="just"/>
            <a:endParaRPr lang="en-IN" sz="18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pPr algn="just"/>
            <a:r>
              <a:rPr lang="en-US" sz="1800" b="1" dirty="0" smtClean="0">
                <a:latin typeface="Times New Roman" pitchFamily="18" charset="0"/>
                <a:cs typeface="Times New Roman" pitchFamily="18" charset="0"/>
              </a:rPr>
              <a:t>Government action</a:t>
            </a:r>
          </a:p>
          <a:p>
            <a:pPr algn="just"/>
            <a:endParaRPr lang="en-US" sz="1800" dirty="0" smtClean="0">
              <a:latin typeface="Times New Roman" pitchFamily="18" charset="0"/>
              <a:cs typeface="Times New Roman" pitchFamily="18" charset="0"/>
            </a:endParaRPr>
          </a:p>
          <a:p>
            <a:pPr lvl="1" algn="just"/>
            <a:r>
              <a:rPr lang="en-IN" sz="1800" dirty="0" smtClean="0">
                <a:latin typeface="Times New Roman" pitchFamily="18" charset="0"/>
                <a:cs typeface="Times New Roman" pitchFamily="18" charset="0"/>
              </a:rPr>
              <a:t>The government by its actions or failure to act also does influence both </a:t>
            </a:r>
            <a:r>
              <a:rPr lang="en-IN" sz="1800" dirty="0" smtClean="0">
                <a:latin typeface="Times New Roman" pitchFamily="18" charset="0"/>
                <a:cs typeface="Times New Roman" pitchFamily="18" charset="0"/>
              </a:rPr>
              <a:t>the economic </a:t>
            </a:r>
            <a:r>
              <a:rPr lang="en-IN" sz="1800" dirty="0" smtClean="0">
                <a:latin typeface="Times New Roman" pitchFamily="18" charset="0"/>
                <a:cs typeface="Times New Roman" pitchFamily="18" charset="0"/>
              </a:rPr>
              <a:t>and non-economic factors for entrepreneurship development.</a:t>
            </a:r>
          </a:p>
          <a:p>
            <a:pPr lvl="1" algn="just"/>
            <a:r>
              <a:rPr lang="en-IN" sz="1800" dirty="0" smtClean="0">
                <a:latin typeface="Times New Roman" pitchFamily="18" charset="0"/>
                <a:cs typeface="Times New Roman" pitchFamily="18" charset="0"/>
              </a:rPr>
              <a:t>Any </a:t>
            </a:r>
            <a:r>
              <a:rPr lang="en-IN" sz="1800" dirty="0" smtClean="0">
                <a:latin typeface="Times New Roman" pitchFamily="18" charset="0"/>
                <a:cs typeface="Times New Roman" pitchFamily="18" charset="0"/>
              </a:rPr>
              <a:t>interested government in economic can help, through its </a:t>
            </a:r>
            <a:r>
              <a:rPr lang="en-IN" sz="1800" dirty="0" smtClean="0">
                <a:latin typeface="Times New Roman" pitchFamily="18" charset="0"/>
                <a:cs typeface="Times New Roman" pitchFamily="18" charset="0"/>
              </a:rPr>
              <a:t>clear expressed </a:t>
            </a:r>
            <a:r>
              <a:rPr lang="en-IN" sz="1800" dirty="0" smtClean="0">
                <a:latin typeface="Times New Roman" pitchFamily="18" charset="0"/>
                <a:cs typeface="Times New Roman" pitchFamily="18" charset="0"/>
              </a:rPr>
              <a:t>industrial policy, promote entrepreneurship in one way or other, </a:t>
            </a:r>
            <a:r>
              <a:rPr lang="en-IN" sz="1800" dirty="0" smtClean="0">
                <a:latin typeface="Times New Roman" pitchFamily="18" charset="0"/>
                <a:cs typeface="Times New Roman" pitchFamily="18" charset="0"/>
              </a:rPr>
              <a:t>by creating </a:t>
            </a:r>
            <a:r>
              <a:rPr lang="en-IN" sz="1800" dirty="0" smtClean="0">
                <a:latin typeface="Times New Roman" pitchFamily="18" charset="0"/>
                <a:cs typeface="Times New Roman" pitchFamily="18" charset="0"/>
              </a:rPr>
              <a:t>basic facilities, utilities and services and by providing </a:t>
            </a:r>
            <a:r>
              <a:rPr lang="en-IN" sz="1800" dirty="0" smtClean="0">
                <a:latin typeface="Times New Roman" pitchFamily="18" charset="0"/>
                <a:cs typeface="Times New Roman" pitchFamily="18" charset="0"/>
              </a:rPr>
              <a:t>incentives and concessions.</a:t>
            </a:r>
            <a:endParaRPr lang="en-IN" sz="1800" dirty="0" smtClean="0">
              <a:latin typeface="Times New Roman" pitchFamily="18" charset="0"/>
              <a:cs typeface="Times New Roman" pitchFamily="18" charset="0"/>
            </a:endParaRPr>
          </a:p>
          <a:p>
            <a:pPr lvl="1" algn="just"/>
            <a:r>
              <a:rPr lang="en-IN" sz="1800" dirty="0" smtClean="0">
                <a:latin typeface="Times New Roman" pitchFamily="18" charset="0"/>
                <a:cs typeface="Times New Roman" pitchFamily="18" charset="0"/>
              </a:rPr>
              <a:t>The </a:t>
            </a:r>
            <a:r>
              <a:rPr lang="en-IN" sz="1800" dirty="0" smtClean="0">
                <a:latin typeface="Times New Roman" pitchFamily="18" charset="0"/>
                <a:cs typeface="Times New Roman" pitchFamily="18" charset="0"/>
              </a:rPr>
              <a:t>government can provide the prospective entrepreneurs a </a:t>
            </a:r>
            <a:r>
              <a:rPr lang="en-IN" sz="1800" dirty="0" smtClean="0">
                <a:latin typeface="Times New Roman" pitchFamily="18" charset="0"/>
                <a:cs typeface="Times New Roman" pitchFamily="18" charset="0"/>
              </a:rPr>
              <a:t>facilitative socio-economic </a:t>
            </a:r>
            <a:r>
              <a:rPr lang="en-IN" sz="1800" dirty="0" smtClean="0">
                <a:latin typeface="Times New Roman" pitchFamily="18" charset="0"/>
                <a:cs typeface="Times New Roman" pitchFamily="18" charset="0"/>
              </a:rPr>
              <a:t>setting. Such conductive setting minimizes the risks which </a:t>
            </a:r>
            <a:r>
              <a:rPr lang="en-IN" sz="1800" dirty="0" smtClean="0">
                <a:latin typeface="Times New Roman" pitchFamily="18" charset="0"/>
                <a:cs typeface="Times New Roman" pitchFamily="18" charset="0"/>
              </a:rPr>
              <a:t>the entrepreneurs </a:t>
            </a:r>
            <a:r>
              <a:rPr lang="en-IN" sz="1800" dirty="0" smtClean="0">
                <a:latin typeface="Times New Roman" pitchFamily="18" charset="0"/>
                <a:cs typeface="Times New Roman" pitchFamily="18" charset="0"/>
              </a:rPr>
              <a:t>are to encounter.</a:t>
            </a:r>
          </a:p>
          <a:p>
            <a:pPr lvl="1" algn="just"/>
            <a:r>
              <a:rPr lang="en-IN" sz="1800" dirty="0" smtClean="0">
                <a:latin typeface="Times New Roman" pitchFamily="18" charset="0"/>
                <a:cs typeface="Times New Roman" pitchFamily="18" charset="0"/>
              </a:rPr>
              <a:t>The </a:t>
            </a:r>
            <a:r>
              <a:rPr lang="en-IN" sz="1800" dirty="0" smtClean="0">
                <a:latin typeface="Times New Roman" pitchFamily="18" charset="0"/>
                <a:cs typeface="Times New Roman" pitchFamily="18" charset="0"/>
              </a:rPr>
              <a:t>supportive actions of the government appears as the most conductive </a:t>
            </a:r>
            <a:r>
              <a:rPr lang="en-IN" sz="1800" dirty="0" smtClean="0">
                <a:latin typeface="Times New Roman" pitchFamily="18" charset="0"/>
                <a:cs typeface="Times New Roman" pitchFamily="18" charset="0"/>
              </a:rPr>
              <a:t>to the </a:t>
            </a:r>
            <a:r>
              <a:rPr lang="en-IN" sz="1800" dirty="0" smtClean="0">
                <a:latin typeface="Times New Roman" pitchFamily="18" charset="0"/>
                <a:cs typeface="Times New Roman" pitchFamily="18" charset="0"/>
              </a:rPr>
              <a:t>entrepreneurial growth.</a:t>
            </a:r>
            <a:endParaRPr lang="en-IN" sz="18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2248</Words>
  <Application>Microsoft Office PowerPoint</Application>
  <PresentationFormat>On-screen Show (4:3)</PresentationFormat>
  <Paragraphs>239</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MODULE 4</vt:lpstr>
      <vt:lpstr>Marketing</vt:lpstr>
      <vt:lpstr>Definition</vt:lpstr>
      <vt:lpstr>Concept of Marketing Vs Selling</vt:lpstr>
      <vt:lpstr>Slide 5</vt:lpstr>
      <vt:lpstr>Marketing System</vt:lpstr>
      <vt:lpstr>Market segmentation</vt:lpstr>
      <vt:lpstr>Types/methods of Market segmentation</vt:lpstr>
      <vt:lpstr>Slide 9</vt:lpstr>
      <vt:lpstr>Pricing</vt:lpstr>
      <vt:lpstr>Slide 11</vt:lpstr>
      <vt:lpstr>Pricing Methods</vt:lpstr>
      <vt:lpstr>Slide 13</vt:lpstr>
      <vt:lpstr>Pricing Methods</vt:lpstr>
      <vt:lpstr>Slide 15</vt:lpstr>
      <vt:lpstr>Consumer market Vs Industrial markets</vt:lpstr>
      <vt:lpstr>Slide 17</vt:lpstr>
      <vt:lpstr>Sales promotion</vt:lpstr>
      <vt:lpstr>Methods of Sales Promotion</vt:lpstr>
      <vt:lpstr>Slide 20</vt:lpstr>
      <vt:lpstr>Physical Distribution/Channels of Distribution</vt:lpstr>
      <vt:lpstr>Slide 22</vt:lpstr>
      <vt:lpstr>Slide 23</vt:lpstr>
      <vt:lpstr>Slide 24</vt:lpstr>
      <vt:lpstr>Advertising</vt:lpstr>
      <vt:lpstr>Objectives</vt:lpstr>
      <vt:lpstr>Entrepreneurship development</vt:lpstr>
      <vt:lpstr>Entrepreneur..??</vt:lpstr>
      <vt:lpstr>Entrepreneurship..??</vt:lpstr>
      <vt:lpstr>Entrepreneurial characteristics</vt:lpstr>
      <vt:lpstr>Slide 31</vt:lpstr>
      <vt:lpstr>Slide 32</vt:lpstr>
      <vt:lpstr>Factors affecting Entrepreneurship development</vt:lpstr>
      <vt:lpstr>Economic Factors </vt:lpstr>
      <vt:lpstr>Slide 35</vt:lpstr>
      <vt:lpstr>Slide 36</vt:lpstr>
      <vt:lpstr>Non Economical Factors </vt:lpstr>
      <vt:lpstr>Slide 38</vt:lpstr>
      <vt:lpstr>Slide 39</vt:lpstr>
      <vt:lpstr>Slide 40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Personnel Management</dc:title>
  <dc:creator>Faizal</dc:creator>
  <cp:lastModifiedBy>Faizal</cp:lastModifiedBy>
  <cp:revision>46</cp:revision>
  <dcterms:created xsi:type="dcterms:W3CDTF">2006-08-16T00:00:00Z</dcterms:created>
  <dcterms:modified xsi:type="dcterms:W3CDTF">2018-10-10T03:14:21Z</dcterms:modified>
</cp:coreProperties>
</file>