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7" r:id="rId2"/>
    <p:sldId id="258" r:id="rId3"/>
    <p:sldId id="259" r:id="rId4"/>
    <p:sldId id="260" r:id="rId5"/>
    <p:sldId id="261" r:id="rId6"/>
    <p:sldId id="262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80" r:id="rId15"/>
    <p:sldId id="281" r:id="rId16"/>
    <p:sldId id="282" r:id="rId17"/>
    <p:sldId id="276" r:id="rId18"/>
    <p:sldId id="279" r:id="rId19"/>
    <p:sldId id="277" r:id="rId20"/>
    <p:sldId id="278" r:id="rId21"/>
    <p:sldId id="283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  <p:sldId id="316" r:id="rId54"/>
    <p:sldId id="317" r:id="rId55"/>
    <p:sldId id="318" r:id="rId56"/>
    <p:sldId id="319" r:id="rId57"/>
    <p:sldId id="320" r:id="rId58"/>
    <p:sldId id="321" r:id="rId59"/>
    <p:sldId id="322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9E769B-0155-4AB7-94DC-A5C054A458D7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13EEC0BA-8B99-4629-B6B1-BC0F9E302E90}">
      <dgm:prSet phldrT="[Text]" custT="1"/>
      <dgm:spPr/>
      <dgm:t>
        <a:bodyPr/>
        <a:lstStyle/>
        <a:p>
          <a:endParaRPr lang="en-US" sz="2000" dirty="0" smtClean="0"/>
        </a:p>
        <a:p>
          <a:r>
            <a:rPr lang="en-US" sz="2000" dirty="0" smtClean="0"/>
            <a:t>Top </a:t>
          </a:r>
        </a:p>
        <a:p>
          <a:r>
            <a:rPr lang="en-US" sz="2000" dirty="0" smtClean="0"/>
            <a:t>Level</a:t>
          </a:r>
          <a:endParaRPr lang="en-IN" sz="2000" dirty="0"/>
        </a:p>
      </dgm:t>
    </dgm:pt>
    <dgm:pt modelId="{1BBD0A6C-E61F-4972-9D5F-E5F89436874A}" type="parTrans" cxnId="{F7010F78-4A80-4367-A9DE-44FD7ABD2D7E}">
      <dgm:prSet/>
      <dgm:spPr/>
      <dgm:t>
        <a:bodyPr/>
        <a:lstStyle/>
        <a:p>
          <a:endParaRPr lang="en-IN"/>
        </a:p>
      </dgm:t>
    </dgm:pt>
    <dgm:pt modelId="{14135433-5AF4-4375-B2F4-7784E8F68548}" type="sibTrans" cxnId="{F7010F78-4A80-4367-A9DE-44FD7ABD2D7E}">
      <dgm:prSet/>
      <dgm:spPr/>
      <dgm:t>
        <a:bodyPr/>
        <a:lstStyle/>
        <a:p>
          <a:endParaRPr lang="en-IN"/>
        </a:p>
      </dgm:t>
    </dgm:pt>
    <dgm:pt modelId="{B1E2FF18-9D09-40B3-941D-C40650757201}">
      <dgm:prSet phldrT="[Text]" custT="1"/>
      <dgm:spPr/>
      <dgm:t>
        <a:bodyPr/>
        <a:lstStyle/>
        <a:p>
          <a:endParaRPr lang="en-US" sz="2000" dirty="0" smtClean="0"/>
        </a:p>
        <a:p>
          <a:r>
            <a:rPr lang="en-US" sz="2000" dirty="0" smtClean="0"/>
            <a:t>Middle Level</a:t>
          </a:r>
          <a:endParaRPr lang="en-IN" sz="2000" dirty="0"/>
        </a:p>
      </dgm:t>
    </dgm:pt>
    <dgm:pt modelId="{F6D8BA95-A0C0-4114-9FDE-BFC1D88D7050}" type="parTrans" cxnId="{584EDA72-4AF7-48A6-B721-AA5C7B86F775}">
      <dgm:prSet/>
      <dgm:spPr/>
      <dgm:t>
        <a:bodyPr/>
        <a:lstStyle/>
        <a:p>
          <a:endParaRPr lang="en-IN"/>
        </a:p>
      </dgm:t>
    </dgm:pt>
    <dgm:pt modelId="{D4B6CA8E-EC1C-4336-8892-ADC95176178D}" type="sibTrans" cxnId="{584EDA72-4AF7-48A6-B721-AA5C7B86F775}">
      <dgm:prSet/>
      <dgm:spPr/>
      <dgm:t>
        <a:bodyPr/>
        <a:lstStyle/>
        <a:p>
          <a:endParaRPr lang="en-IN"/>
        </a:p>
      </dgm:t>
    </dgm:pt>
    <dgm:pt modelId="{06599CC7-C478-465F-AE16-4B8CC0CA3A13}">
      <dgm:prSet phldrT="[Text]" custT="1"/>
      <dgm:spPr/>
      <dgm:t>
        <a:bodyPr/>
        <a:lstStyle/>
        <a:p>
          <a:endParaRPr lang="en-US" sz="2000" dirty="0" smtClean="0"/>
        </a:p>
        <a:p>
          <a:r>
            <a:rPr lang="en-US" sz="2000" dirty="0" smtClean="0"/>
            <a:t>Lowest Level</a:t>
          </a:r>
          <a:endParaRPr lang="en-IN" sz="2000" dirty="0"/>
        </a:p>
      </dgm:t>
    </dgm:pt>
    <dgm:pt modelId="{45380F40-521E-46F3-B09A-5067E82E9EA1}" type="parTrans" cxnId="{6D95A922-2B49-4C81-A9BA-0387AACFAB0B}">
      <dgm:prSet/>
      <dgm:spPr/>
      <dgm:t>
        <a:bodyPr/>
        <a:lstStyle/>
        <a:p>
          <a:endParaRPr lang="en-IN"/>
        </a:p>
      </dgm:t>
    </dgm:pt>
    <dgm:pt modelId="{FE1A784A-B0B9-4778-AA90-E27A87A04D42}" type="sibTrans" cxnId="{6D95A922-2B49-4C81-A9BA-0387AACFAB0B}">
      <dgm:prSet/>
      <dgm:spPr/>
      <dgm:t>
        <a:bodyPr/>
        <a:lstStyle/>
        <a:p>
          <a:endParaRPr lang="en-IN"/>
        </a:p>
      </dgm:t>
    </dgm:pt>
    <dgm:pt modelId="{4AC161E1-1087-4D9A-8924-60D5A10A2FBC}" type="pres">
      <dgm:prSet presAssocID="{D69E769B-0155-4AB7-94DC-A5C054A458D7}" presName="Name0" presStyleCnt="0">
        <dgm:presLayoutVars>
          <dgm:dir/>
          <dgm:animLvl val="lvl"/>
          <dgm:resizeHandles val="exact"/>
        </dgm:presLayoutVars>
      </dgm:prSet>
      <dgm:spPr/>
    </dgm:pt>
    <dgm:pt modelId="{97E00719-5081-4BE9-83CE-3798C2C8D7DA}" type="pres">
      <dgm:prSet presAssocID="{13EEC0BA-8B99-4629-B6B1-BC0F9E302E90}" presName="Name8" presStyleCnt="0"/>
      <dgm:spPr/>
    </dgm:pt>
    <dgm:pt modelId="{4BE91292-99AC-46C1-9A8E-AB7297469F82}" type="pres">
      <dgm:prSet presAssocID="{13EEC0BA-8B99-4629-B6B1-BC0F9E302E90}" presName="level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50EB89E-F224-4824-B51E-1FE87E805DC1}" type="pres">
      <dgm:prSet presAssocID="{13EEC0BA-8B99-4629-B6B1-BC0F9E302E90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793F537-A512-475C-B79A-EBB89F3355B0}" type="pres">
      <dgm:prSet presAssocID="{B1E2FF18-9D09-40B3-941D-C40650757201}" presName="Name8" presStyleCnt="0"/>
      <dgm:spPr/>
    </dgm:pt>
    <dgm:pt modelId="{396E1E59-294A-42D9-AC0C-79F4AF7604EA}" type="pres">
      <dgm:prSet presAssocID="{B1E2FF18-9D09-40B3-941D-C40650757201}" presName="level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7B94707-8025-41C7-AC2A-660EFA2CB080}" type="pres">
      <dgm:prSet presAssocID="{B1E2FF18-9D09-40B3-941D-C40650757201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B922D52-2564-4970-B095-09952E17223D}" type="pres">
      <dgm:prSet presAssocID="{06599CC7-C478-465F-AE16-4B8CC0CA3A13}" presName="Name8" presStyleCnt="0"/>
      <dgm:spPr/>
    </dgm:pt>
    <dgm:pt modelId="{12BA469C-2DF6-425D-B12F-4FEF27543A24}" type="pres">
      <dgm:prSet presAssocID="{06599CC7-C478-465F-AE16-4B8CC0CA3A13}" presName="level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F07CEC2-45D4-43F4-8882-CBA527538EA8}" type="pres">
      <dgm:prSet presAssocID="{06599CC7-C478-465F-AE16-4B8CC0CA3A13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627A5B23-4C4D-4D0A-B99E-979A62BDFA00}" type="presOf" srcId="{D69E769B-0155-4AB7-94DC-A5C054A458D7}" destId="{4AC161E1-1087-4D9A-8924-60D5A10A2FBC}" srcOrd="0" destOrd="0" presId="urn:microsoft.com/office/officeart/2005/8/layout/pyramid1"/>
    <dgm:cxn modelId="{8C4879CD-7482-4B20-B734-CCC59DB06CF9}" type="presOf" srcId="{13EEC0BA-8B99-4629-B6B1-BC0F9E302E90}" destId="{D50EB89E-F224-4824-B51E-1FE87E805DC1}" srcOrd="1" destOrd="0" presId="urn:microsoft.com/office/officeart/2005/8/layout/pyramid1"/>
    <dgm:cxn modelId="{584EDA72-4AF7-48A6-B721-AA5C7B86F775}" srcId="{D69E769B-0155-4AB7-94DC-A5C054A458D7}" destId="{B1E2FF18-9D09-40B3-941D-C40650757201}" srcOrd="1" destOrd="0" parTransId="{F6D8BA95-A0C0-4114-9FDE-BFC1D88D7050}" sibTransId="{D4B6CA8E-EC1C-4336-8892-ADC95176178D}"/>
    <dgm:cxn modelId="{F7010F78-4A80-4367-A9DE-44FD7ABD2D7E}" srcId="{D69E769B-0155-4AB7-94DC-A5C054A458D7}" destId="{13EEC0BA-8B99-4629-B6B1-BC0F9E302E90}" srcOrd="0" destOrd="0" parTransId="{1BBD0A6C-E61F-4972-9D5F-E5F89436874A}" sibTransId="{14135433-5AF4-4375-B2F4-7784E8F68548}"/>
    <dgm:cxn modelId="{77319DA7-0DAC-4022-AA30-2A49CBDD942A}" type="presOf" srcId="{B1E2FF18-9D09-40B3-941D-C40650757201}" destId="{07B94707-8025-41C7-AC2A-660EFA2CB080}" srcOrd="1" destOrd="0" presId="urn:microsoft.com/office/officeart/2005/8/layout/pyramid1"/>
    <dgm:cxn modelId="{1DEB44C9-091A-47D8-B248-1B497080F303}" type="presOf" srcId="{06599CC7-C478-465F-AE16-4B8CC0CA3A13}" destId="{12BA469C-2DF6-425D-B12F-4FEF27543A24}" srcOrd="0" destOrd="0" presId="urn:microsoft.com/office/officeart/2005/8/layout/pyramid1"/>
    <dgm:cxn modelId="{A397D7EB-6EFB-48B8-9570-7E1CC7014387}" type="presOf" srcId="{06599CC7-C478-465F-AE16-4B8CC0CA3A13}" destId="{EF07CEC2-45D4-43F4-8882-CBA527538EA8}" srcOrd="1" destOrd="0" presId="urn:microsoft.com/office/officeart/2005/8/layout/pyramid1"/>
    <dgm:cxn modelId="{ABCAD560-48B7-481A-9CF9-22486902FCE7}" type="presOf" srcId="{13EEC0BA-8B99-4629-B6B1-BC0F9E302E90}" destId="{4BE91292-99AC-46C1-9A8E-AB7297469F82}" srcOrd="0" destOrd="0" presId="urn:microsoft.com/office/officeart/2005/8/layout/pyramid1"/>
    <dgm:cxn modelId="{9DDA6CA2-8901-4EC9-B1AC-8DBCDA352844}" type="presOf" srcId="{B1E2FF18-9D09-40B3-941D-C40650757201}" destId="{396E1E59-294A-42D9-AC0C-79F4AF7604EA}" srcOrd="0" destOrd="0" presId="urn:microsoft.com/office/officeart/2005/8/layout/pyramid1"/>
    <dgm:cxn modelId="{6D95A922-2B49-4C81-A9BA-0387AACFAB0B}" srcId="{D69E769B-0155-4AB7-94DC-A5C054A458D7}" destId="{06599CC7-C478-465F-AE16-4B8CC0CA3A13}" srcOrd="2" destOrd="0" parTransId="{45380F40-521E-46F3-B09A-5067E82E9EA1}" sibTransId="{FE1A784A-B0B9-4778-AA90-E27A87A04D42}"/>
    <dgm:cxn modelId="{AD63224A-9081-4BB0-B893-72512339E95F}" type="presParOf" srcId="{4AC161E1-1087-4D9A-8924-60D5A10A2FBC}" destId="{97E00719-5081-4BE9-83CE-3798C2C8D7DA}" srcOrd="0" destOrd="0" presId="urn:microsoft.com/office/officeart/2005/8/layout/pyramid1"/>
    <dgm:cxn modelId="{17B4532D-186C-4FED-817A-B56758ADFA2B}" type="presParOf" srcId="{97E00719-5081-4BE9-83CE-3798C2C8D7DA}" destId="{4BE91292-99AC-46C1-9A8E-AB7297469F82}" srcOrd="0" destOrd="0" presId="urn:microsoft.com/office/officeart/2005/8/layout/pyramid1"/>
    <dgm:cxn modelId="{F822F182-5DF0-4329-8875-FF9C5457B60C}" type="presParOf" srcId="{97E00719-5081-4BE9-83CE-3798C2C8D7DA}" destId="{D50EB89E-F224-4824-B51E-1FE87E805DC1}" srcOrd="1" destOrd="0" presId="urn:microsoft.com/office/officeart/2005/8/layout/pyramid1"/>
    <dgm:cxn modelId="{66A5E3E0-2B54-4B26-9073-50178F7B9DA1}" type="presParOf" srcId="{4AC161E1-1087-4D9A-8924-60D5A10A2FBC}" destId="{F793F537-A512-475C-B79A-EBB89F3355B0}" srcOrd="1" destOrd="0" presId="urn:microsoft.com/office/officeart/2005/8/layout/pyramid1"/>
    <dgm:cxn modelId="{B13EF07D-40E9-4693-9434-3E662E4F52F0}" type="presParOf" srcId="{F793F537-A512-475C-B79A-EBB89F3355B0}" destId="{396E1E59-294A-42D9-AC0C-79F4AF7604EA}" srcOrd="0" destOrd="0" presId="urn:microsoft.com/office/officeart/2005/8/layout/pyramid1"/>
    <dgm:cxn modelId="{1919D373-392D-478B-8D3A-76115721B69D}" type="presParOf" srcId="{F793F537-A512-475C-B79A-EBB89F3355B0}" destId="{07B94707-8025-41C7-AC2A-660EFA2CB080}" srcOrd="1" destOrd="0" presId="urn:microsoft.com/office/officeart/2005/8/layout/pyramid1"/>
    <dgm:cxn modelId="{016CAD1A-78C0-46CB-8897-1D6A3B420FA0}" type="presParOf" srcId="{4AC161E1-1087-4D9A-8924-60D5A10A2FBC}" destId="{4B922D52-2564-4970-B095-09952E17223D}" srcOrd="2" destOrd="0" presId="urn:microsoft.com/office/officeart/2005/8/layout/pyramid1"/>
    <dgm:cxn modelId="{04C07D57-5968-406D-87AC-57C0AEE2F2B0}" type="presParOf" srcId="{4B922D52-2564-4970-B095-09952E17223D}" destId="{12BA469C-2DF6-425D-B12F-4FEF27543A24}" srcOrd="0" destOrd="0" presId="urn:microsoft.com/office/officeart/2005/8/layout/pyramid1"/>
    <dgm:cxn modelId="{09B7980B-7A5C-421F-B3D5-563A8387D07E}" type="presParOf" srcId="{4B922D52-2564-4970-B095-09952E17223D}" destId="{EF07CEC2-45D4-43F4-8882-CBA527538EA8}" srcOrd="1" destOrd="0" presId="urn:microsoft.com/office/officeart/2005/8/layout/pyramid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959A0-D7AF-4AD5-8CDC-50076C4CE05E}" type="datetimeFigureOut">
              <a:rPr lang="en-US" smtClean="0"/>
              <a:pPr/>
              <a:t>8/6/2018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36E3FD-6D8C-46FF-AC2F-4917D4B60DD1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5A2AD3-B36D-449C-B360-DDD158F63779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5A2AD3-B36D-449C-B360-DDD158F63779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5A2AD3-B36D-449C-B360-DDD158F63779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5A2AD3-B36D-449C-B360-DDD158F63779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5A2AD3-B36D-449C-B360-DDD158F63779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D9DC-8F1F-48DD-B576-737F27CABCC2}" type="datetimeFigureOut">
              <a:rPr lang="en-US" smtClean="0"/>
              <a:pPr/>
              <a:t>8/6/2018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D9DC-8F1F-48DD-B576-737F27CABCC2}" type="datetimeFigureOut">
              <a:rPr lang="en-US" smtClean="0"/>
              <a:pPr/>
              <a:t>8/6/2018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D9DC-8F1F-48DD-B576-737F27CABCC2}" type="datetimeFigureOut">
              <a:rPr lang="en-US" smtClean="0"/>
              <a:pPr/>
              <a:t>8/6/2018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D9DC-8F1F-48DD-B576-737F27CABCC2}" type="datetimeFigureOut">
              <a:rPr lang="en-US" smtClean="0"/>
              <a:pPr/>
              <a:t>8/6/2018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D9DC-8F1F-48DD-B576-737F27CABCC2}" type="datetimeFigureOut">
              <a:rPr lang="en-US" smtClean="0"/>
              <a:pPr/>
              <a:t>8/6/2018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D9DC-8F1F-48DD-B576-737F27CABCC2}" type="datetimeFigureOut">
              <a:rPr lang="en-US" smtClean="0"/>
              <a:pPr/>
              <a:t>8/6/2018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D9DC-8F1F-48DD-B576-737F27CABCC2}" type="datetimeFigureOut">
              <a:rPr lang="en-US" smtClean="0"/>
              <a:pPr/>
              <a:t>8/6/2018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D9DC-8F1F-48DD-B576-737F27CABCC2}" type="datetimeFigureOut">
              <a:rPr lang="en-US" smtClean="0"/>
              <a:pPr/>
              <a:t>8/6/2018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D9DC-8F1F-48DD-B576-737F27CABCC2}" type="datetimeFigureOut">
              <a:rPr lang="en-US" smtClean="0"/>
              <a:pPr/>
              <a:t>8/6/2018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D9DC-8F1F-48DD-B576-737F27CABCC2}" type="datetimeFigureOut">
              <a:rPr lang="en-US" smtClean="0"/>
              <a:pPr/>
              <a:t>8/6/2018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D9DC-8F1F-48DD-B576-737F27CABCC2}" type="datetimeFigureOut">
              <a:rPr lang="en-US" smtClean="0"/>
              <a:pPr/>
              <a:t>8/6/2018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6D9DC-8F1F-48DD-B576-737F27CABCC2}" type="datetimeFigureOut">
              <a:rPr lang="en-US" smtClean="0"/>
              <a:pPr/>
              <a:t>8/6/2018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  <a:latin typeface="Algerian" pitchFamily="82" charset="0"/>
              </a:rPr>
              <a:t>MODULE 1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472" y="3929066"/>
            <a:ext cx="7715304" cy="1709734"/>
          </a:xfrm>
        </p:spPr>
        <p:txBody>
          <a:bodyPr>
            <a:normAutofit/>
          </a:bodyPr>
          <a:lstStyle/>
          <a:p>
            <a:pPr algn="r"/>
            <a:r>
              <a:rPr lang="en-US" sz="2000" b="1" dirty="0" smtClean="0">
                <a:latin typeface="Blackadder ITC" pitchFamily="82" charset="0"/>
              </a:rPr>
              <a:t>Faizal K</a:t>
            </a:r>
          </a:p>
          <a:p>
            <a:pPr algn="r"/>
            <a:r>
              <a:rPr lang="en-US" sz="2000" b="1" dirty="0" smtClean="0">
                <a:latin typeface="Blackadder ITC" pitchFamily="82" charset="0"/>
              </a:rPr>
              <a:t>Asst. Professor </a:t>
            </a:r>
          </a:p>
          <a:p>
            <a:pPr algn="r"/>
            <a:r>
              <a:rPr lang="en-US" sz="2000" b="1" dirty="0" smtClean="0">
                <a:latin typeface="Blackadder ITC" pitchFamily="82" charset="0"/>
              </a:rPr>
              <a:t>Dept: of Mechanical Engineering</a:t>
            </a:r>
          </a:p>
          <a:p>
            <a:pPr algn="r"/>
            <a:r>
              <a:rPr lang="en-US" sz="2000" b="1" dirty="0" smtClean="0">
                <a:latin typeface="Blackadder ITC" pitchFamily="82" charset="0"/>
              </a:rPr>
              <a:t>School of Engineering, CUSAT</a:t>
            </a:r>
            <a:endParaRPr lang="en-IN" sz="2000" b="1" dirty="0">
              <a:latin typeface="Blackadder ITC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lgerian" pitchFamily="82" charset="0"/>
              </a:rPr>
              <a:t>TOPICS (part 1)</a:t>
            </a:r>
            <a:endParaRPr lang="en-IN"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Basic concept of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management</a:t>
            </a: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Definition, Characteristics and Levels of management </a:t>
            </a: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Functions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management</a:t>
            </a: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Scientific management</a:t>
            </a: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Contribution of Gilbreth-Gantt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Management by Objective (MBO)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Autofit/>
          </a:bodyPr>
          <a:lstStyle/>
          <a:p>
            <a:pPr algn="l"/>
            <a:r>
              <a:rPr lang="en-IN" sz="2900" dirty="0" smtClean="0">
                <a:latin typeface="Algerian" pitchFamily="82" charset="0"/>
                <a:cs typeface="Times New Roman" pitchFamily="18" charset="0"/>
              </a:rPr>
              <a:t>Basic concept of management..??	      </a:t>
            </a:r>
            <a:r>
              <a:rPr lang="en-IN" sz="2900" dirty="0" smtClean="0">
                <a:solidFill>
                  <a:srgbClr val="FF0000"/>
                </a:solidFill>
                <a:latin typeface="Algerian" pitchFamily="82" charset="0"/>
                <a:cs typeface="Times New Roman" pitchFamily="18" charset="0"/>
              </a:rPr>
              <a:t>(c/w)</a:t>
            </a:r>
            <a:r>
              <a:rPr lang="en-IN" sz="2900" dirty="0" smtClean="0">
                <a:latin typeface="Algerian" pitchFamily="82" charset="0"/>
                <a:cs typeface="Times New Roman" pitchFamily="18" charset="0"/>
              </a:rPr>
              <a:t/>
            </a:r>
            <a:br>
              <a:rPr lang="en-IN" sz="2900" dirty="0" smtClean="0">
                <a:latin typeface="Algerian" pitchFamily="82" charset="0"/>
                <a:cs typeface="Times New Roman" pitchFamily="18" charset="0"/>
              </a:rPr>
            </a:br>
            <a:endParaRPr lang="en-IN" sz="29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lgerian" pitchFamily="82" charset="0"/>
              </a:rPr>
              <a:t>definition</a:t>
            </a:r>
            <a:endParaRPr lang="en-IN"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Management is an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art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of getting the work done through the efforts of people and by the effective utilisation of resources.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For getting the work done, it is necessary to guide, direct, coordinate and control human efforts for the fulfillment of the goals of the enterprise.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Management does not frame policies, it only implements/executes the policies laid down by the administration.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lgerian" pitchFamily="82" charset="0"/>
              </a:rPr>
              <a:t>CHARACTRISTICS OF MANAGEMENT</a:t>
            </a:r>
            <a:endParaRPr lang="en-IN"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Management is a purposeful activity: Objectives differ from organisation to organisation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Efficient management of economic resources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Management is a distinct process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Management is universal: applicable to all group of activities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As a team of managers and system of authority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 ordination is the soul of management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Management is dynamic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Management is decision making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Management is a profession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lgerian" pitchFamily="82" charset="0"/>
              </a:rPr>
              <a:t>LEVELS OF MANAGEMENT</a:t>
            </a:r>
            <a:endParaRPr lang="en-IN"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285860"/>
            <a:ext cx="8229600" cy="52578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3 levels of management that are commonly found in an organisation are: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Top management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Middle management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Lowest or supervisory management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Board of Directors, MD, CEO, GM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Departmental heads, Superintendents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Foreman, supervisors etc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Diagram 8"/>
          <p:cNvGraphicFramePr/>
          <p:nvPr/>
        </p:nvGraphicFramePr>
        <p:xfrm>
          <a:off x="4333884" y="3214686"/>
          <a:ext cx="4810116" cy="3357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rot="10800000">
            <a:off x="5000628" y="3714752"/>
            <a:ext cx="107157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0800000">
            <a:off x="5072066" y="4786322"/>
            <a:ext cx="42862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0800000">
            <a:off x="4071934" y="5857892"/>
            <a:ext cx="71438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lgerian" pitchFamily="82" charset="0"/>
              </a:rPr>
              <a:t>Functions of management</a:t>
            </a:r>
            <a:endParaRPr lang="en-IN" sz="3200" dirty="0">
              <a:latin typeface="Algerian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Planning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Forecasting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Organizing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Staffing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Directing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Coordinating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Controlling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Decision making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Motivating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Communicating</a:t>
            </a:r>
          </a:p>
          <a:p>
            <a:pPr marL="514350" indent="-514350">
              <a:buFont typeface="+mj-lt"/>
              <a:buAutoNum type="arabicPeriod"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285728"/>
            <a:ext cx="8229600" cy="4525963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200" b="1" i="1" dirty="0" smtClean="0">
                <a:latin typeface="Times New Roman" pitchFamily="18" charset="0"/>
                <a:cs typeface="Times New Roman" pitchFamily="18" charset="0"/>
              </a:rPr>
              <a:t>1.	Planning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the most important and prerequisite of all the other functions.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the process of establishing goals and suitable course of action to achieve that goals.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consists of goals, policies, procedures, rules, strategies etc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done in accordance with past events and forecasting events in the future.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200" b="1" i="1" dirty="0" smtClean="0">
                <a:latin typeface="Times New Roman" pitchFamily="18" charset="0"/>
                <a:cs typeface="Times New Roman" pitchFamily="18" charset="0"/>
              </a:rPr>
              <a:t>2.	Forecasting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defined as an estimate of future events, by systematically combining past and present data.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forms the basis of planning of activities of an organization.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survival of any manufacturing enterprise depends on its ability to assess, with reasonable accuracy, the market trends several years ahead.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Forecasting begins with sales forecast and is followed by production forecast and forecast for costs, finance, purchase, profit etc.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3.	Organizing</a:t>
            </a:r>
          </a:p>
          <a:p>
            <a:pPr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Organizing is the process of arranging and allocating work, authority, and resources among an organization’s members so that they can achieve organization’s goals.</a:t>
            </a:r>
          </a:p>
          <a:p>
            <a:pPr algn="just"/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process of organizing involves: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Identifying the works to be performed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Classify the work or group the work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Assigning activities to the groups or work to individuals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Fixing responsibilities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Deciding the hierarchy of authority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357166"/>
            <a:ext cx="8229600" cy="4525963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100" b="1" i="1" dirty="0" smtClean="0">
                <a:latin typeface="Times New Roman" pitchFamily="18" charset="0"/>
                <a:cs typeface="Times New Roman" pitchFamily="18" charset="0"/>
              </a:rPr>
              <a:t>4.	Staffing</a:t>
            </a: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It involves manning the positions created by organization process.</a:t>
            </a: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It is a process of filling or keeping filled the various positions in the organizational structure.</a:t>
            </a: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It involves: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Manpower planning (both in quantity and quality)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Recruitment selection and training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Placement of manpower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Conducting periodic appraisal</a:t>
            </a:r>
          </a:p>
          <a:p>
            <a:pPr marL="514350" indent="-514350" algn="just">
              <a:buFont typeface="+mj-lt"/>
              <a:buAutoNum type="alphaLcPeriod"/>
            </a:pPr>
            <a:endParaRPr lang="en-US" sz="21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100" b="1" i="1" dirty="0" smtClean="0">
                <a:latin typeface="Times New Roman" pitchFamily="18" charset="0"/>
                <a:cs typeface="Times New Roman" pitchFamily="18" charset="0"/>
              </a:rPr>
              <a:t>5.	Directing</a:t>
            </a:r>
          </a:p>
          <a:p>
            <a:pPr algn="just"/>
            <a:r>
              <a:rPr lang="en-IN" sz="2100" dirty="0" smtClean="0">
                <a:latin typeface="Times New Roman" pitchFamily="18" charset="0"/>
                <a:cs typeface="Times New Roman" pitchFamily="18" charset="0"/>
              </a:rPr>
              <a:t>Directing is said to be a process in which the managers instruct, guide and oversee the performance of the workers to achieve predetermined goals.</a:t>
            </a: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It includes:</a:t>
            </a:r>
          </a:p>
          <a:p>
            <a:pPr marL="457200" indent="-457200" algn="just">
              <a:buFont typeface="+mj-lt"/>
              <a:buAutoNum type="alphaLcPeriod"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Leadership (inspiring confidence and trust) 	c) Communication</a:t>
            </a:r>
          </a:p>
          <a:p>
            <a:pPr marL="457200" indent="-457200" algn="just">
              <a:buFont typeface="+mj-lt"/>
              <a:buAutoNum type="alphaLcPeriod"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Motivating 					d) Supervision</a:t>
            </a:r>
          </a:p>
          <a:p>
            <a:pPr algn="just"/>
            <a:endParaRPr lang="en-IN" sz="21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214290"/>
            <a:ext cx="8229600" cy="5697559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IN" sz="2100" b="1" i="1" dirty="0" smtClean="0">
                <a:latin typeface="Times New Roman" pitchFamily="18" charset="0"/>
                <a:cs typeface="Times New Roman" pitchFamily="18" charset="0"/>
              </a:rPr>
              <a:t>6.	Coordinating</a:t>
            </a:r>
          </a:p>
          <a:p>
            <a:pPr algn="just"/>
            <a:r>
              <a:rPr lang="en-IN" sz="2100" dirty="0" smtClean="0">
                <a:latin typeface="Times New Roman" pitchFamily="18" charset="0"/>
                <a:cs typeface="Times New Roman" pitchFamily="18" charset="0"/>
              </a:rPr>
              <a:t>Coordination is the process of integration of the activities of separate departments of an organization to accomplish organizational goals. </a:t>
            </a: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It involves harmonizing the individual goals of the subordinates with the goals of the organization</a:t>
            </a:r>
            <a:endParaRPr lang="en-IN" sz="21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100" dirty="0" smtClean="0">
                <a:latin typeface="Times New Roman" pitchFamily="18" charset="0"/>
                <a:cs typeface="Times New Roman" pitchFamily="18" charset="0"/>
              </a:rPr>
              <a:t>The extent of coordination depends on the nature of activities performed and the type of organization structure.</a:t>
            </a:r>
          </a:p>
          <a:p>
            <a:pPr algn="just"/>
            <a:endParaRPr lang="en-IN" sz="21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100" b="1" i="1" dirty="0" smtClean="0">
                <a:latin typeface="Times New Roman" pitchFamily="18" charset="0"/>
                <a:cs typeface="Times New Roman" pitchFamily="18" charset="0"/>
              </a:rPr>
              <a:t>7.	Controlling</a:t>
            </a:r>
          </a:p>
          <a:p>
            <a:pPr algn="just"/>
            <a:r>
              <a:rPr lang="en-IN" sz="2100" dirty="0" smtClean="0">
                <a:latin typeface="Times New Roman" pitchFamily="18" charset="0"/>
                <a:cs typeface="Times New Roman" pitchFamily="18" charset="0"/>
              </a:rPr>
              <a:t>Controlling is the process of ensuring that actual activities conform to plan activities.</a:t>
            </a: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It measures the progress of operations and making sure that things are proceeding in the right direction as planned</a:t>
            </a: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It involves: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IN" sz="2100" dirty="0" smtClean="0">
                <a:latin typeface="Times New Roman" pitchFamily="18" charset="0"/>
                <a:cs typeface="Times New Roman" pitchFamily="18" charset="0"/>
              </a:rPr>
              <a:t>Establishing standards of performance.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IN" sz="2100" dirty="0" smtClean="0">
                <a:latin typeface="Times New Roman" pitchFamily="18" charset="0"/>
                <a:cs typeface="Times New Roman" pitchFamily="18" charset="0"/>
              </a:rPr>
              <a:t>Measuring actual performance.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IN" sz="2100" dirty="0" smtClean="0">
                <a:latin typeface="Times New Roman" pitchFamily="18" charset="0"/>
                <a:cs typeface="Times New Roman" pitchFamily="18" charset="0"/>
              </a:rPr>
              <a:t>Comparing actual performance to the established standards.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IN" sz="2100" dirty="0" smtClean="0">
                <a:latin typeface="Times New Roman" pitchFamily="18" charset="0"/>
                <a:cs typeface="Times New Roman" pitchFamily="18" charset="0"/>
              </a:rPr>
              <a:t>Taking corrective action if deviations are detected.</a:t>
            </a:r>
            <a:endParaRPr lang="en-IN" sz="21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34"/>
          </a:xfrm>
        </p:spPr>
        <p:txBody>
          <a:bodyPr>
            <a:noAutofit/>
          </a:bodyPr>
          <a:lstStyle/>
          <a:p>
            <a:pPr marL="514350" indent="-514350">
              <a:buAutoNum type="arabicPeriod" startAt="8"/>
            </a:pPr>
            <a:r>
              <a:rPr lang="en-US" sz="2100" b="1" i="1" dirty="0" smtClean="0">
                <a:latin typeface="Times New Roman" pitchFamily="18" charset="0"/>
                <a:cs typeface="Times New Roman" pitchFamily="18" charset="0"/>
              </a:rPr>
              <a:t>Decision making</a:t>
            </a:r>
          </a:p>
          <a:p>
            <a:r>
              <a:rPr lang="en-IN" sz="2100" dirty="0" smtClean="0">
                <a:latin typeface="Times New Roman" pitchFamily="18" charset="0"/>
                <a:cs typeface="Times New Roman" pitchFamily="18" charset="0"/>
              </a:rPr>
              <a:t>Decision-making is the process of identifying and selecting a course of action from among alternatives.</a:t>
            </a:r>
          </a:p>
          <a:p>
            <a:r>
              <a:rPr lang="en-IN" sz="2100" dirty="0" smtClean="0">
                <a:latin typeface="Times New Roman" pitchFamily="18" charset="0"/>
                <a:cs typeface="Times New Roman" pitchFamily="18" charset="0"/>
              </a:rPr>
              <a:t>Decision-making is an important part of every manager’s job and it requires all the skill and judgment a manager accumulates over the years.</a:t>
            </a:r>
          </a:p>
          <a:p>
            <a:endParaRPr lang="en-IN" sz="21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AutoNum type="arabicPeriod" startAt="9"/>
            </a:pPr>
            <a:r>
              <a:rPr lang="en-US" sz="2100" b="1" i="1" dirty="0" smtClean="0">
                <a:latin typeface="Times New Roman" pitchFamily="18" charset="0"/>
                <a:cs typeface="Times New Roman" pitchFamily="18" charset="0"/>
              </a:rPr>
              <a:t>Motivating</a:t>
            </a: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It means inspiring people to intensify their desire and willingness to perform their duties effectively and co-operate for the achievement of common objectives of the business.</a:t>
            </a:r>
          </a:p>
          <a:p>
            <a:r>
              <a:rPr lang="en-IN" sz="2100" dirty="0" smtClean="0">
                <a:latin typeface="Times New Roman" pitchFamily="18" charset="0"/>
                <a:cs typeface="Times New Roman" pitchFamily="18" charset="0"/>
              </a:rPr>
              <a:t>Motivation is a human psychological characteristic. </a:t>
            </a:r>
          </a:p>
          <a:p>
            <a:r>
              <a:rPr lang="en-IN" sz="2100" dirty="0" smtClean="0">
                <a:latin typeface="Times New Roman" pitchFamily="18" charset="0"/>
                <a:cs typeface="Times New Roman" pitchFamily="18" charset="0"/>
              </a:rPr>
              <a:t>It pertains to various drives, desires, needs, wishes and other forces.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IN" sz="21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2200" b="1" i="1" dirty="0" smtClean="0">
                <a:latin typeface="Times New Roman" pitchFamily="18" charset="0"/>
                <a:cs typeface="Times New Roman" pitchFamily="18" charset="0"/>
              </a:rPr>
              <a:t>10. Communicating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It’s a process by which instructions, ideas, thoughts or information are transmitted, received and understand by persons working in organisation.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Methods of communication are:</a:t>
            </a:r>
          </a:p>
          <a:p>
            <a:pPr marL="457200" indent="-45720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a.	Verbal or written communication</a:t>
            </a:r>
          </a:p>
          <a:p>
            <a:pPr marL="457200" indent="-45720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b.	Formal or informal communication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lgerian" pitchFamily="82" charset="0"/>
              </a:rPr>
              <a:t>MANAGERIAL SKILLS</a:t>
            </a:r>
            <a:endParaRPr lang="en-IN"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It’s the ability of a manager to make a smooth functioning team of people working under him.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involves obligation to make effective utilization of human and material resources.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Types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Technical skills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Conceptual skills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Human relational skills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00496" y="3000372"/>
            <a:ext cx="4929222" cy="3276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2200" b="1" i="1" dirty="0" smtClean="0">
                <a:latin typeface="Times New Roman" pitchFamily="18" charset="0"/>
                <a:cs typeface="Times New Roman" pitchFamily="18" charset="0"/>
              </a:rPr>
              <a:t>1.	Technical skills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refers to the proficiency in handling methods &amp; techniques to perform particular tasks.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200" b="1" i="1" dirty="0" smtClean="0">
                <a:latin typeface="Times New Roman" pitchFamily="18" charset="0"/>
                <a:cs typeface="Times New Roman" pitchFamily="18" charset="0"/>
              </a:rPr>
              <a:t>2.	Conceptual skills</a:t>
            </a:r>
          </a:p>
          <a:p>
            <a:pPr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It is the ability to coordinate and integrate the entire organizational interests and activities.</a:t>
            </a:r>
          </a:p>
          <a:p>
            <a:pPr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a)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Decision making skill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 ability to make accurate and right decisions at the right time.</a:t>
            </a:r>
          </a:p>
          <a:p>
            <a:pPr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b)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Organizational skill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 ability to recruit and allocate right person for the right job.</a:t>
            </a:r>
          </a:p>
          <a:p>
            <a:pPr algn="just"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2200" b="1" i="1" dirty="0" smtClean="0">
                <a:latin typeface="Times New Roman" pitchFamily="18" charset="0"/>
                <a:cs typeface="Times New Roman" pitchFamily="18" charset="0"/>
              </a:rPr>
              <a:t>3.	Human relational skills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the ability to build cooperative workgroups to achieve organizational goals.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a)Communication skills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 ability to pass on information to 	others.</a:t>
            </a:r>
          </a:p>
          <a:p>
            <a:pPr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b)Motivating skills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 ability to encourage the subordinates.</a:t>
            </a:r>
          </a:p>
          <a:p>
            <a:pPr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c)Leadership skills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 ability to inspire confidence and trust in 	subordinates in order to have max. cooperation from them for 	getting work done.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3600" b="1" dirty="0" smtClean="0">
                <a:latin typeface="Algerian" pitchFamily="82" charset="0"/>
              </a:rPr>
              <a:t>Scientific management (F W TAYLOR)</a:t>
            </a:r>
            <a:endParaRPr lang="en-US" sz="3600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“Art of knowing exactly what is to be done and the best way of doing it”.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It’s the result of applying scientific knowledge and the scientific methods to the various aspects of management and the problems that arise from them.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Helps to improve productivity and standardize human efforts.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lgerian" pitchFamily="82" charset="0"/>
              </a:rPr>
              <a:t>Principles of Scientific Management</a:t>
            </a:r>
            <a:endParaRPr lang="en-US" sz="3200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>
            <a:no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Development of science for each element of work:-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analyze the work scientifically (what, when, who, how.??)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Scientific selection, placement and training of workers.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Division of Labour (POS)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Standardization of methods, procedures, tools and equipment.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Use of Time and motion study.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Differential wage system:- </a:t>
            </a:r>
            <a:r>
              <a:rPr lang="en-US" sz="2200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Doesn’t guarantee a min: wage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 operation between Labour and management.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Principle of management by Exception:- </a:t>
            </a:r>
            <a:r>
              <a:rPr lang="en-US" sz="2200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Only significant deviations b/w actual performance and standard performance should be reported to top managers.</a:t>
            </a:r>
            <a:endParaRPr lang="en-US" sz="2200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lgerian" pitchFamily="82" charset="0"/>
              </a:rPr>
              <a:t>CONTRIBUTIONS OF GILBRETH</a:t>
            </a:r>
            <a:endParaRPr lang="en-US" sz="3200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72110"/>
          </a:xfrm>
        </p:spPr>
        <p:txBody>
          <a:bodyPr>
            <a:noAutofit/>
          </a:bodyPr>
          <a:lstStyle/>
          <a:p>
            <a:pPr marL="514350" indent="-514350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Helps to improve work methods and thus to discover best way of doing a job.</a:t>
            </a:r>
          </a:p>
          <a:p>
            <a:pPr marL="514350" indent="-514350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He defined “Motion study”, as the science of eliminating wastefulness resulting from unnecessary, ill-directed and inefficient motions. </a:t>
            </a:r>
          </a:p>
          <a:p>
            <a:pPr marL="514350" indent="-514350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He defined “Principles of motion economy”.</a:t>
            </a:r>
          </a:p>
          <a:p>
            <a:pPr marL="514350" indent="-514350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He introduced process chart.</a:t>
            </a:r>
          </a:p>
          <a:p>
            <a:pPr marL="514350" indent="-514350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He also identified Therbligs- the fundamental motions involved in doing an activity.</a:t>
            </a:r>
          </a:p>
          <a:p>
            <a:pPr marL="514350" indent="-514350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He developed micro motion study, invented cycle graph, chrono cycle graph and flow diagram.</a:t>
            </a:r>
          </a:p>
          <a:p>
            <a:pPr marL="514350" indent="-514350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Carried out studies on fatigue caused to the industrial worker and its elimination by allowing rest periods, improving working conditions, planning seating arrangement etc.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lgerian" pitchFamily="82" charset="0"/>
              </a:rPr>
              <a:t>CONTRIBUTIONS OF GANTT</a:t>
            </a:r>
            <a:endParaRPr lang="en-US" sz="3200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72110"/>
          </a:xfrm>
        </p:spPr>
        <p:txBody>
          <a:bodyPr>
            <a:noAutofit/>
          </a:bodyPr>
          <a:lstStyle/>
          <a:p>
            <a:pPr marL="514350" indent="-514350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Improved differential piece rate wage system and introduced his task and bonus plan.</a:t>
            </a:r>
          </a:p>
          <a:p>
            <a:pPr marL="514350" indent="-514350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Developed  a Gantt chart which is still used as a scheduling technique to compare between the planned work and the actual progress of work.</a:t>
            </a:r>
          </a:p>
          <a:p>
            <a:pPr marL="514350" indent="-514350"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lgerian" pitchFamily="82" charset="0"/>
              </a:rPr>
              <a:t>Management by objectives (mbo)</a:t>
            </a:r>
            <a:endParaRPr lang="en-US" sz="3200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72110"/>
          </a:xfrm>
        </p:spPr>
        <p:txBody>
          <a:bodyPr>
            <a:noAutofit/>
          </a:bodyPr>
          <a:lstStyle/>
          <a:p>
            <a:pPr marL="514350" indent="-514350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Management by objectives (MBO) is a management model that aims to improve the performance of an organization by clearly defining objectives that are agreed to by both management and employees.</a:t>
            </a:r>
          </a:p>
          <a:p>
            <a:pPr marL="514350" indent="-514350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It aims to increase organizational performance by aligning goals and subordinate objectives throughout the organization. </a:t>
            </a:r>
          </a:p>
          <a:p>
            <a:pPr marL="514350" indent="-514350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Ideally, employees get strong input to identify their objectives, time lines for completion, etc. </a:t>
            </a:r>
          </a:p>
          <a:p>
            <a:pPr marL="514350" indent="-514350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MBO includes ongoing tracking and feedback in the process to reach objectives.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Algerian" pitchFamily="82" charset="0"/>
              </a:rPr>
              <a:t>Mbo PROCESS</a:t>
            </a:r>
            <a:endParaRPr lang="en-IN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071546"/>
            <a:ext cx="4286280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	A process consisting of a series of interdependence and interrelated steps:</a:t>
            </a: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formation of clear, concise statements of objectives</a:t>
            </a:r>
          </a:p>
          <a:p>
            <a:pPr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development of realistic action plans for their attainment,</a:t>
            </a:r>
          </a:p>
          <a:p>
            <a:pPr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systematic monitoring and measuring of performance and achievement.</a:t>
            </a:r>
          </a:p>
          <a:p>
            <a:pPr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taking of corrective actions necessary to achieve the planned results</a:t>
            </a:r>
          </a:p>
          <a:p>
            <a:endParaRPr lang="en-IN" sz="2200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1214422"/>
            <a:ext cx="4357718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lgerian" pitchFamily="82" charset="0"/>
              </a:rPr>
              <a:t>MBO Advantages &amp; Disadvantages</a:t>
            </a:r>
            <a:endParaRPr lang="en-US" sz="3200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72110"/>
          </a:xfrm>
        </p:spPr>
        <p:txBody>
          <a:bodyPr>
            <a:noAutofit/>
          </a:bodyPr>
          <a:lstStyle/>
          <a:p>
            <a:pPr marL="514350" indent="-514350" algn="just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Advantages</a:t>
            </a:r>
          </a:p>
          <a:p>
            <a:pPr marL="514350" indent="-514350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MBO programs continually emphasize what should be done in an organization to achieve organizational goals. </a:t>
            </a:r>
          </a:p>
          <a:p>
            <a:pPr marL="514350" indent="-514350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MBO process secures employee commitment to attaining organizational goals. </a:t>
            </a:r>
          </a:p>
          <a:p>
            <a:pPr marL="514350" indent="-514350" algn="just"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Disadvantages</a:t>
            </a:r>
          </a:p>
          <a:p>
            <a:pPr marL="514350" indent="-514350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development of objectives can be time consuming, leaving both managers and employees less time in which to do their actual work. </a:t>
            </a:r>
          </a:p>
          <a:p>
            <a:pPr marL="514350" indent="-514350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elaborate written goals, careful communication of goals, and detailed performance evaluation required in an MBO program increase the volume of paperwork in an organization.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lgerian" pitchFamily="82" charset="0"/>
              </a:rPr>
              <a:t>TOPICS (part 2)</a:t>
            </a:r>
            <a:endParaRPr lang="en-IN"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Introduction to Organization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Necessity and Elements of Organization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Process of Organization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Principles of Organization</a:t>
            </a: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Formal and Informal Organization</a:t>
            </a: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Organization structure </a:t>
            </a: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Types of Organization structure </a:t>
            </a: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lgerian" pitchFamily="82" charset="0"/>
              </a:rPr>
              <a:t>Definition</a:t>
            </a:r>
            <a:endParaRPr lang="en-IN"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Organization is a pattern of relationships among the individuals working together for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a common goal.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a system consisting of men, materials,   machinery and money working for a common goal.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concerned with building, developing and maintaining of effective machinery for accomplishing the objectives of the enterprise.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Eg: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anking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ystem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dirty="0" smtClean="0">
                <a:latin typeface="Algerian" pitchFamily="82" charset="0"/>
                <a:cs typeface="Times New Roman" pitchFamily="18" charset="0"/>
              </a:rPr>
              <a:t>Necessity of organisation</a:t>
            </a:r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Complexity of Industry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Growing Competition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Optimum utilization of resources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Fixation of authority and responsibility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Reduced labour problems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Co-ordination and directing efforts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Facilitates administration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Stimulates creativity.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lgerian" pitchFamily="82" charset="0"/>
              </a:rPr>
              <a:t>essential Elements of good organization</a:t>
            </a:r>
            <a:endParaRPr lang="en-IN"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must be helpful in the achievement of objectives.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There must be harmonious grouping of activities.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activities of the organisation must be co- ordinated properly.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 organisation must be complete in all respects.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 organisation should have an effective communication system.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Span of control should be reasonable.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Provision of expansion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Clear and well defined policies and procedures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Employees satisfaction is essential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Proper division of authority and responsibility.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lgerian" pitchFamily="82" charset="0"/>
              </a:rPr>
              <a:t>Process of Organisation</a:t>
            </a:r>
            <a:br>
              <a:rPr lang="en-US" sz="3200" dirty="0" smtClean="0">
                <a:latin typeface="Algerian" pitchFamily="82" charset="0"/>
              </a:rPr>
            </a:br>
            <a:r>
              <a:rPr lang="en-US" sz="3200" dirty="0" smtClean="0">
                <a:latin typeface="Algerian" pitchFamily="82" charset="0"/>
              </a:rPr>
              <a:t>(Steps in Organising process)</a:t>
            </a:r>
            <a:endParaRPr lang="en-IN"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Determination of objectives, strategies, plans and policies.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Determination of activities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Separation and grouping of activities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Delegation of authority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Delegation of responsibility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To establish inter-relationships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Providing physical facilities and proper environment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Preparation of Organisation chart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lgerian" pitchFamily="82" charset="0"/>
              </a:rPr>
              <a:t>Principles of Organisation</a:t>
            </a:r>
            <a:endParaRPr lang="en-IN"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 algn="just">
              <a:buClr>
                <a:schemeClr val="tx1"/>
              </a:buClr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Consideration of unity of objectives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the objectives must be clearly defined for the entire enterprise, for each dept. and even for each position in the organisation structure.</a:t>
            </a:r>
          </a:p>
          <a:p>
            <a:pPr marL="514350" indent="-514350" algn="just">
              <a:buClr>
                <a:schemeClr val="tx1"/>
              </a:buClr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Principle of specialization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Work should be distributed among the persons very carefully on the basis of their skill, experience and ability to do that work.</a:t>
            </a:r>
          </a:p>
          <a:p>
            <a:pPr marL="514350" indent="-514350" algn="just">
              <a:buClr>
                <a:schemeClr val="tx1"/>
              </a:buClr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Principle of authority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Line of authority should be clearly established in the structure of organisation in order to avoid overlapping actions, omission of acts etc.</a:t>
            </a:r>
          </a:p>
          <a:p>
            <a:pPr marL="514350" indent="-514350" algn="just">
              <a:buClr>
                <a:schemeClr val="tx1"/>
              </a:buClr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Principle of Co-ordination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Different depts. should have to co-ordinate with each other to achieve common goals.</a:t>
            </a:r>
          </a:p>
          <a:p>
            <a:pPr marL="514350" indent="-514350" algn="just">
              <a:buClr>
                <a:schemeClr val="tx1"/>
              </a:buClr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Principle of unity  of command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Each sub ordinate should have only one superior and dual sub ordination should be avoided.</a:t>
            </a:r>
          </a:p>
          <a:p>
            <a:pPr marL="514350" indent="-514350" algn="just">
              <a:buClr>
                <a:schemeClr val="tx1"/>
              </a:buClr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Principle of Span of control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The no: of persons who are directly responsible to the executive is called span of control. In an average firm SOC range is from 6 to 20.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428736"/>
            <a:ext cx="8229600" cy="5214974"/>
          </a:xfrm>
        </p:spPr>
        <p:txBody>
          <a:bodyPr>
            <a:noAutofit/>
          </a:bodyPr>
          <a:lstStyle/>
          <a:p>
            <a:pPr marL="514350" indent="-514350" algn="just">
              <a:buClr>
                <a:schemeClr val="tx1"/>
              </a:buClr>
              <a:buFont typeface="+mj-lt"/>
              <a:buAutoNum type="arabicPeriod" startAt="7"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Principle of exception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Only exceptionally complex matters should be referred to the executives for their decision and matters of routine nature should be decided by the sub-ordinate themselves.</a:t>
            </a:r>
          </a:p>
          <a:p>
            <a:pPr marL="514350" indent="-514350" algn="just">
              <a:buClr>
                <a:schemeClr val="tx1"/>
              </a:buClr>
              <a:buFont typeface="+mj-lt"/>
              <a:buAutoNum type="arabicPeriod" startAt="7"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Principle of flexibility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The organisational structure should be flexible enough to permit slight alterations and expansions whenever needed, due to changed circumstances.</a:t>
            </a:r>
          </a:p>
          <a:p>
            <a:pPr marL="514350" indent="-514350" algn="just">
              <a:buClr>
                <a:schemeClr val="tx1"/>
              </a:buClr>
              <a:buFont typeface="+mj-lt"/>
              <a:buAutoNum type="arabicPeriod" startAt="7"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Principle of simplicity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The organisational structure should be simple with minimum no: of levels</a:t>
            </a:r>
          </a:p>
          <a:p>
            <a:pPr marL="514350" indent="-514350" algn="just">
              <a:buClr>
                <a:schemeClr val="tx1"/>
              </a:buClr>
              <a:buFont typeface="+mj-lt"/>
              <a:buAutoNum type="arabicPeriod" startAt="7"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Principle of Responsibility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the superior should be held responsible for the acts of his subordinates to whom he has delegated authority.</a:t>
            </a:r>
          </a:p>
          <a:p>
            <a:pPr marL="514350" indent="-514350" algn="just">
              <a:buClr>
                <a:schemeClr val="tx1"/>
              </a:buClr>
              <a:buFont typeface="+mj-lt"/>
              <a:buAutoNum type="arabicPeriod" startAt="7"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Principle of balance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There should be balance between;</a:t>
            </a:r>
          </a:p>
          <a:p>
            <a:pPr marL="971550" lvl="1" indent="-514350" algn="just">
              <a:buClr>
                <a:schemeClr val="tx1"/>
              </a:buCl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-the activities</a:t>
            </a:r>
          </a:p>
          <a:p>
            <a:pPr marL="971550" lvl="1" indent="-514350" algn="just">
              <a:buClr>
                <a:schemeClr val="tx1"/>
              </a:buCl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-authority and responsibility</a:t>
            </a:r>
          </a:p>
          <a:p>
            <a:pPr marL="971550" lvl="1" indent="-514350" algn="just">
              <a:buClr>
                <a:schemeClr val="tx1"/>
              </a:buCl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-standardization of procedures and flexibility</a:t>
            </a:r>
          </a:p>
          <a:p>
            <a:pPr marL="971550" lvl="1" indent="-514350" algn="just">
              <a:buClr>
                <a:schemeClr val="tx1"/>
              </a:buCl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-centralization and decentralization</a:t>
            </a:r>
          </a:p>
          <a:p>
            <a:pPr marL="971550" lvl="1" indent="-514350" algn="just">
              <a:buClr>
                <a:schemeClr val="tx1"/>
              </a:buClr>
              <a:buFont typeface="+mj-lt"/>
              <a:buAutoNum type="arabicPeriod" startAt="7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971550" lvl="1" indent="-514350" algn="just">
              <a:buClr>
                <a:schemeClr val="tx1"/>
              </a:buClr>
              <a:buFont typeface="+mj-lt"/>
              <a:buAutoNum type="arabicPeriod" startAt="7"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Clr>
                <a:schemeClr val="tx1"/>
              </a:buClr>
              <a:buFont typeface="+mj-lt"/>
              <a:buAutoNum type="arabicPeriod" startAt="12"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Principle of continuity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The Org. structure should be in such a way that it enables to continue its useful existence for a longer period.</a:t>
            </a:r>
          </a:p>
          <a:p>
            <a:pPr marL="514350" indent="-514350" algn="just">
              <a:buClr>
                <a:schemeClr val="tx1"/>
              </a:buClr>
              <a:buFont typeface="+mj-lt"/>
              <a:buAutoNum type="arabicPeriod" startAt="12"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Scalar principle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The authority originating from the top should flow below without any interruption.</a:t>
            </a:r>
          </a:p>
          <a:p>
            <a:pPr marL="514350" indent="-514350" algn="just">
              <a:buClr>
                <a:schemeClr val="tx1"/>
              </a:buClr>
              <a:buFont typeface="+mj-lt"/>
              <a:buAutoNum type="arabicPeriod" startAt="12"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Principle of parity between authority and responsibility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Authority means ability of the superior to command and responsibility means the obligation of the subordinates to a superior to perform the assigned task. Both should go hand in hand.</a:t>
            </a:r>
          </a:p>
          <a:p>
            <a:pPr marL="514350" indent="-514350" algn="just">
              <a:buClr>
                <a:schemeClr val="tx1"/>
              </a:buClr>
              <a:buFont typeface="+mj-lt"/>
              <a:buAutoNum type="arabicPeriod" startAt="12"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Principle of efficiency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Enabling the enterprise to attain objectives with minimum cost and effort.</a:t>
            </a:r>
          </a:p>
          <a:p>
            <a:pPr marL="514350" indent="-514350" algn="just">
              <a:buClr>
                <a:schemeClr val="tx1"/>
              </a:buClr>
              <a:buFont typeface="+mj-lt"/>
              <a:buAutoNum type="arabicPeriod" startAt="12"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Principle of Communication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A good communication system is essential for smooth flow of information.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lgerian" pitchFamily="82" charset="0"/>
              </a:rPr>
              <a:t>Types of Organisation</a:t>
            </a:r>
            <a:endParaRPr lang="en-US"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Formal Organisation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FO are those which have a system of well defined positions, authority, responsibility, rules, policies, principles etc. 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They are co ordinated towards a common objectives.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Informal Organisation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Arises  from the personal and social relations of the people which may or may not be work related.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They bring cohesiveness and comes along with the formal organisation.</a:t>
            </a:r>
          </a:p>
          <a:p>
            <a:pPr lvl="1"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lgerian" pitchFamily="82" charset="0"/>
                <a:cs typeface="Times New Roman" pitchFamily="18" charset="0"/>
              </a:rPr>
              <a:t>Organisation Structure</a:t>
            </a:r>
            <a:endParaRPr lang="en-US" sz="3200" dirty="0">
              <a:latin typeface="Algerian" pitchFamily="82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OS means the systematic arrangement of people working for the organisation and their relationship b/w positions.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defines the functions to be performed, objectives to be established, the availability of resources, working relationship of the individual participants etc. 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Factors</a:t>
            </a:r>
          </a:p>
          <a:p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Size of Org.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Nature of the product being manufactured.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Complexity of problem being faced.</a:t>
            </a: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lgerian" pitchFamily="82" charset="0"/>
              </a:rPr>
              <a:t>Types of Organisation Structure</a:t>
            </a:r>
            <a:endParaRPr lang="en-US"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1.	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Line Organisation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Based on similarities of activities, diff depts: are created.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Each dept is placed under one dept head &amp; he has the full authority all over them.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Authority flows from top to bottom in a vertical line.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Unity of command is maintained.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Superior will be responsible for the performance of sub ordinate to his commanding officer.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5572140"/>
            <a:ext cx="8229600" cy="703282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Line Organisation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Faizal\Pictures\DSC_2228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000108"/>
            <a:ext cx="8229600" cy="436034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2.	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Functional Organisation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Modified form of line organisation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Authority rests with functional heads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Staffs are grouped and located by specialty into functional depts: each headed by a functional manager. Each member of staff has one clear boss.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Functional manager are specialists in their respective areas and is based on high degree of specialization.</a:t>
            </a:r>
          </a:p>
          <a:p>
            <a:pPr lvl="1"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5429264"/>
            <a:ext cx="8229600" cy="846158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Functional Organisation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 descr="C:\Users\Faizal\Pictures\DSC_2234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928670"/>
            <a:ext cx="8229600" cy="440352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3.	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Line and staff organisation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 a big organisation manager will have to do a variety of functions and he may not be expertise in all areas.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Special executives will be employed to assist line executives and they were known as staff, whom to perform specialized function.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Supervisory authority will be given for line executives and the staff executives gives advices and expert opinion. 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5857892"/>
            <a:ext cx="8229600" cy="63184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Line and staff organisation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600201"/>
            <a:ext cx="8258204" cy="411481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2" descr="C:\Users\Faizal\Pictures\DSC_223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071546"/>
            <a:ext cx="8358246" cy="471490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4.	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Project Organisation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consist of an autonomous project team, existing independently of the rest of organisation.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project team is assembled for a specific project under the action of project manager.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team is thus temporary and will be dispersed when the project is completed.</a:t>
            </a:r>
          </a:p>
          <a:p>
            <a:pPr lvl="1"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48" y="5715016"/>
            <a:ext cx="8229600" cy="560406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Project Organisation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928670"/>
            <a:ext cx="764239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5.	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Matrix Organisation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They are those that comes b/w fully functional and fully project organisational structure.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Staffs are grouped and located by speciality into functional units headed by a functional manager.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project manager works with the functional manager for timely completion of project.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5857892"/>
            <a:ext cx="8229600" cy="63184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Matrix Organisation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9" name="Picture 3" descr="C:\Users\Faizal\Pictures\DSC_2235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68963"/>
            <a:ext cx="8229600" cy="37884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3200" dirty="0" smtClean="0">
                <a:latin typeface="Algerian" pitchFamily="82" charset="0"/>
              </a:rPr>
              <a:t>Topics  (part 2) </a:t>
            </a:r>
            <a:br>
              <a:rPr lang="en-US" sz="3200" dirty="0" smtClean="0">
                <a:latin typeface="Algerian" pitchFamily="82" charset="0"/>
              </a:rPr>
            </a:br>
            <a:r>
              <a:rPr lang="en-US" sz="3200" dirty="0" smtClean="0">
                <a:latin typeface="Algerian" pitchFamily="82" charset="0"/>
              </a:rPr>
              <a:t/>
            </a:r>
            <a:br>
              <a:rPr lang="en-US" sz="3200" dirty="0" smtClean="0">
                <a:latin typeface="Algerian" pitchFamily="82" charset="0"/>
              </a:rPr>
            </a:br>
            <a:r>
              <a:rPr lang="en-US" sz="3200" dirty="0" smtClean="0">
                <a:latin typeface="Algerian" pitchFamily="82" charset="0"/>
              </a:rPr>
              <a:t>Forms of business organization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Concept of Ownership organization</a:t>
            </a: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Types of ownership</a:t>
            </a:r>
          </a:p>
          <a:p>
            <a:pPr lvl="1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Individual ownership</a:t>
            </a:r>
          </a:p>
          <a:p>
            <a:pPr lvl="1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Partnership</a:t>
            </a:r>
          </a:p>
          <a:p>
            <a:pPr lvl="1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Joint stock company</a:t>
            </a:r>
          </a:p>
          <a:p>
            <a:pPr lvl="2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Private and public limited company, </a:t>
            </a:r>
          </a:p>
          <a:p>
            <a:pPr lvl="1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Co-operative organizations</a:t>
            </a:r>
          </a:p>
          <a:p>
            <a:pPr lvl="1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State ownership</a:t>
            </a: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Public corporation 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lgerian" pitchFamily="82" charset="0"/>
              </a:rPr>
              <a:t>Ownership Organisation</a:t>
            </a:r>
            <a:endParaRPr lang="en-US"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firm is an Ownership organisation which combine the factors of production (4M) in a plant for the purpose of producing goods or services and selling them at profit.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Factors</a:t>
            </a:r>
          </a:p>
          <a:p>
            <a:pPr lvl="1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Size and nature of organisation</a:t>
            </a:r>
          </a:p>
          <a:p>
            <a:pPr lvl="1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Technical difficulties</a:t>
            </a:r>
          </a:p>
          <a:p>
            <a:pPr lvl="1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Market competition and scope of articles in markets</a:t>
            </a:r>
          </a:p>
          <a:p>
            <a:pPr lvl="1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Capital required</a:t>
            </a:r>
          </a:p>
          <a:p>
            <a:pPr lvl="1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Limitations and restriction put forth by govt.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Rounded Rectangle 3"/>
          <p:cNvSpPr/>
          <p:nvPr/>
        </p:nvSpPr>
        <p:spPr>
          <a:xfrm>
            <a:off x="2786050" y="1000108"/>
            <a:ext cx="2971800" cy="7620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Types of Ownership</a:t>
            </a:r>
            <a:endParaRPr lang="en-IN" sz="2000" b="1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85720" y="2500306"/>
            <a:ext cx="2971800" cy="1676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US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Private Sector</a:t>
            </a:r>
          </a:p>
          <a:p>
            <a:pPr lvl="0" algn="ctr"/>
            <a:endParaRPr lang="en-US" b="1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Individual Ownership</a:t>
            </a:r>
          </a:p>
          <a:p>
            <a:pPr lvl="0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Partnership</a:t>
            </a:r>
          </a:p>
          <a:p>
            <a:pPr lvl="0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Joint Stock Company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57818" y="2500306"/>
            <a:ext cx="3276600" cy="157163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US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Public Sector</a:t>
            </a:r>
          </a:p>
          <a:p>
            <a:pPr lvl="0" algn="ctr"/>
            <a:endParaRPr lang="en-US" b="1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Departmental Organisations</a:t>
            </a:r>
          </a:p>
          <a:p>
            <a:pPr lvl="0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Public corporations</a:t>
            </a:r>
          </a:p>
          <a:p>
            <a:pPr lvl="0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Government Companies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86050" y="4643446"/>
            <a:ext cx="3143272" cy="2057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US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 operative sector</a:t>
            </a:r>
          </a:p>
          <a:p>
            <a:pPr lvl="0" algn="ctr"/>
            <a:endParaRPr lang="en-US" b="1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Producers Co Op: society</a:t>
            </a:r>
          </a:p>
          <a:p>
            <a:pPr lvl="0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Consumers Co Op: society</a:t>
            </a:r>
          </a:p>
          <a:p>
            <a:pPr lvl="0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Housing Co Op: society</a:t>
            </a:r>
          </a:p>
          <a:p>
            <a:pPr lvl="0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4. Co Op:  Credit society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Elbow Connector 15"/>
          <p:cNvCxnSpPr>
            <a:endCxn id="7" idx="0"/>
          </p:cNvCxnSpPr>
          <p:nvPr/>
        </p:nvCxnSpPr>
        <p:spPr>
          <a:xfrm>
            <a:off x="4286248" y="2071678"/>
            <a:ext cx="2709870" cy="428628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endCxn id="6" idx="0"/>
          </p:cNvCxnSpPr>
          <p:nvPr/>
        </p:nvCxnSpPr>
        <p:spPr>
          <a:xfrm rot="10800000" flipV="1">
            <a:off x="1771620" y="2073266"/>
            <a:ext cx="2514628" cy="42704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8" idx="0"/>
          </p:cNvCxnSpPr>
          <p:nvPr/>
        </p:nvCxnSpPr>
        <p:spPr>
          <a:xfrm rot="16200000" flipH="1">
            <a:off x="2893207" y="3178967"/>
            <a:ext cx="2857520" cy="714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8229600" cy="714380"/>
          </a:xfrm>
        </p:spPr>
        <p:txBody>
          <a:bodyPr>
            <a:noAutofit/>
          </a:bodyPr>
          <a:lstStyle/>
          <a:p>
            <a:pPr algn="l"/>
            <a:r>
              <a:rPr lang="en-US" sz="3200" dirty="0" smtClean="0">
                <a:latin typeface="Algerian" pitchFamily="82" charset="0"/>
                <a:cs typeface="Times New Roman" pitchFamily="18" charset="0"/>
              </a:rPr>
              <a:t>PRIVATE SECTOR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 smtClean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714356"/>
            <a:ext cx="8229600" cy="4525963"/>
          </a:xfrm>
        </p:spPr>
        <p:txBody>
          <a:bodyPr>
            <a:noAutofit/>
          </a:bodyPr>
          <a:lstStyle/>
          <a:p>
            <a:pPr algn="just"/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Private sector organizations, as the name indicates, are exclusively owned by private individuals. </a:t>
            </a:r>
          </a:p>
          <a:p>
            <a:pPr algn="just"/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The efficiency of the private sector organizations is usually very high</a:t>
            </a:r>
          </a:p>
          <a:p>
            <a:pPr algn="just">
              <a:buNone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	compared to organizations from any other sector.</a:t>
            </a:r>
          </a:p>
          <a:p>
            <a:pPr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1. Individual Ownership</a:t>
            </a: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Simplest and oldest form of Organisation.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Individual entrepreneur supplies the entire capital.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Entire Authority &amp; responsibility belongs to him and also the profit and loss.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Short it’s a “one man business”, if need he can employ a person to assist him.</a:t>
            </a:r>
          </a:p>
          <a:p>
            <a:pPr lvl="1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Applications.</a:t>
            </a:r>
          </a:p>
          <a:p>
            <a:pPr lvl="2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Small scale industries</a:t>
            </a:r>
          </a:p>
          <a:p>
            <a:pPr lvl="2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Risk covered is not too heavy</a:t>
            </a:r>
          </a:p>
          <a:p>
            <a:pPr lvl="2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Management by 1 man is possible</a:t>
            </a:r>
          </a:p>
          <a:p>
            <a:pPr lvl="2"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2. Partnership Organisation</a:t>
            </a:r>
          </a:p>
          <a:p>
            <a:pPr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Owned by 2 or more persons who share the power, responsibilities and profits according to an agreement reached amongst themselves.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Person may possess exceptional business ability, experience, talent but no capital, then he can have a financing partner (vice versa).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“Partnership deed” – written agreement</a:t>
            </a: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3.  Joint Stock Company</a:t>
            </a:r>
          </a:p>
          <a:p>
            <a:pPr marL="514350" indent="-514350" algn="just">
              <a:buAutoNum type="arabicPeriod" startAt="3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Legal business owned by the shareholders having limited liability and managed by an elected Board of Directors.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Capital is contributed by large no: of persons in the form of shares of different values.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Persons who purchase shares are called Share Holders and managing body is known as Board of Directors, whom elected by the SH.</a:t>
            </a: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Types</a:t>
            </a:r>
          </a:p>
          <a:p>
            <a:pPr lvl="2"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a. Private Ltd Company</a:t>
            </a:r>
          </a:p>
          <a:p>
            <a:pPr lvl="2"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b. Public Ltd Company</a:t>
            </a:r>
          </a:p>
          <a:p>
            <a:pPr lvl="1"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a. Private: Ltd Company</a:t>
            </a:r>
          </a:p>
          <a:p>
            <a:pPr marL="457200" indent="-457200" algn="just">
              <a:buAutoNum type="alphaLcPeriod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Owned and managed by a group of members from family, relatives or friends.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Formed by 2 or more members &amp; max is limited to 50.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Transfer of share is limited to members only and general public cannot be invited to purchase shares. </a:t>
            </a:r>
          </a:p>
          <a:p>
            <a:pPr lvl="1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Eg: Indus motors, Popular automobiles etc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b. Public Ltd company</a:t>
            </a:r>
          </a:p>
          <a:p>
            <a:pPr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opened to general public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Min no: of persons are 7 and there is no upper limit.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They are subjected to greater control and supervision of the govt.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Shares are transferable without any prior approval.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affairs of company are managed by BOD</a:t>
            </a:r>
          </a:p>
          <a:p>
            <a:pPr lvl="1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Eg: Reliance India Ltd, L&amp;T Ltd, Tata etc.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Private Ltd Company Vs Public Ltd Company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617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00090"/>
                <a:gridCol w="321471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SL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No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Basis of Description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Private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Ltd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Public Ltd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Minimum no: of members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Two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Seven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Maximum no: members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Fifty 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Unlimited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Invitation of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public for capital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Transferability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of shares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Restricted to members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Free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Secrecy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Possible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Not possible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Prospectus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Not necessary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Yes, necessary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Minimum no: of directors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Two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Three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Exemption from legal restrictions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Quick Decision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Possible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Not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Possible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Protection to members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Less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More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lgerian" pitchFamily="82" charset="0"/>
              </a:rPr>
              <a:t>CO OPERATIVE SECTOR</a:t>
            </a:r>
            <a:endParaRPr lang="en-US"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Its an Organisation where in persons voluntarily associate as human beings for the fulfillment of their common economic interests.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Set up with a primary objective of helping its members rather than making profit.</a:t>
            </a: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Types</a:t>
            </a:r>
          </a:p>
          <a:p>
            <a:pPr lvl="1"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1. Producers Co Op: society</a:t>
            </a:r>
          </a:p>
          <a:p>
            <a:pPr lvl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2. Consumers Co Op: society</a:t>
            </a:r>
          </a:p>
          <a:p>
            <a:pPr lvl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3. Housing Co Op: society</a:t>
            </a:r>
          </a:p>
          <a:p>
            <a:pPr lvl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4. Co Op:  Credit society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AutoNum type="arabicPeriod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Producer’s Co operative society</a:t>
            </a:r>
          </a:p>
          <a:p>
            <a:pPr marL="457200" indent="-457200" algn="just">
              <a:buAutoNum type="arabicPeriod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They are formed to protect the interest of small producers by making available items of their need for production (like raw materials, tools etc)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buying and selling the products, produced/cultivated by the members to eliminate middlemen and get better prices.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Eg: handlooms, coir, handicrafts etc.</a:t>
            </a: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2. Consumer’s Co operative society</a:t>
            </a:r>
          </a:p>
          <a:p>
            <a:pPr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the retail trade of household and consumable items.</a:t>
            </a:r>
          </a:p>
          <a:p>
            <a:pPr lvl="1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Eg: Stores in School &amp; Colleges.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3. Housing Co operative society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Formed for the purpose of getting plots or constructing houses for needy persons by providing loans, reducing cost of construction etc.</a:t>
            </a: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4. Co operative credit Society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It’s objective is to finance the poor cultivators by providing loans at low ROI for developing land, buying agro machineries etc.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Formed by persons working in the same organisation to provide loans to the members in case of financial difficulties etc.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lgerian" pitchFamily="82" charset="0"/>
              </a:rPr>
              <a:t>PUBLIC SECTOR</a:t>
            </a:r>
            <a:endParaRPr lang="en-US"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Owned and managed by Central or State government.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Controlled and operated by the govt: or in association with private enterprises.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Capital is invested by the govt: or govt: controlled financial institutions like LIC, UTI, Public sector banks etc.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Public Sector Undertaking (PSU) is a term used to refer companies in which the govt: owned a majority (51% or more) of the company equity.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Eg: Iron &amp;steel industries , fertilizers, defense industries etc.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1.	Departmental Organizations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It’s the business organisation which are owned, managed and run by the govt: or local bodies like municipality, district board etc.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Generally done in the case of water supply, electricity, gas, bus, railways, navigation etc.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Social benefit is of primary importance while profit motive is given as secondary consideration.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Eg: Railways, Posts and Telegraphs etc.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2.	Public Corporations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Owned by the govt-either Central, State or local bodies.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managed by the Board of Directors nominated by the government.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combines the public interest of the govt body &amp; autonomous management of the public sector.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They have no profit motive and work for the sake of social welfare.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Eg: FCI, ONGC, Financial corporation, Industrial development corporation etc.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3. 	Government Companies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govt: company is any company in which not less than 51% of the share capital is held by the Central or State govt: or partly by both.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Managed by elected Board of Directors.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Eg: FACT, HAL, HLL, HMT etc.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2503</Words>
  <Application>Microsoft Office PowerPoint</Application>
  <PresentationFormat>On-screen Show (4:3)</PresentationFormat>
  <Paragraphs>470</Paragraphs>
  <Slides>59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Office Theme</vt:lpstr>
      <vt:lpstr>MODULE 1</vt:lpstr>
      <vt:lpstr>TOPICS (part 1)</vt:lpstr>
      <vt:lpstr>Basic concept of management..??       (c/w) </vt:lpstr>
      <vt:lpstr>definition</vt:lpstr>
      <vt:lpstr>CHARACTRISTICS OF MANAGEMENT</vt:lpstr>
      <vt:lpstr>LEVELS OF MANAGEMENT</vt:lpstr>
      <vt:lpstr>Functions of management</vt:lpstr>
      <vt:lpstr>Slide 8</vt:lpstr>
      <vt:lpstr>Slide 9</vt:lpstr>
      <vt:lpstr>Slide 10</vt:lpstr>
      <vt:lpstr>Slide 11</vt:lpstr>
      <vt:lpstr>Slide 12</vt:lpstr>
      <vt:lpstr>Slide 13</vt:lpstr>
      <vt:lpstr>MANAGERIAL SKILLS</vt:lpstr>
      <vt:lpstr>Slide 15</vt:lpstr>
      <vt:lpstr>Slide 16</vt:lpstr>
      <vt:lpstr>Scientific management (F W TAYLOR)</vt:lpstr>
      <vt:lpstr>Principles of Scientific Management</vt:lpstr>
      <vt:lpstr>CONTRIBUTIONS OF GILBRETH</vt:lpstr>
      <vt:lpstr>CONTRIBUTIONS OF GANTT</vt:lpstr>
      <vt:lpstr>Management by objectives (mbo)</vt:lpstr>
      <vt:lpstr>Mbo PROCESS</vt:lpstr>
      <vt:lpstr>MBO Advantages &amp; Disadvantages</vt:lpstr>
      <vt:lpstr>TOPICS (part 2)</vt:lpstr>
      <vt:lpstr>Definition</vt:lpstr>
      <vt:lpstr>Necessity of organisation</vt:lpstr>
      <vt:lpstr>essential Elements of good organization</vt:lpstr>
      <vt:lpstr>Process of Organisation (Steps in Organising process)</vt:lpstr>
      <vt:lpstr>Principles of Organisation</vt:lpstr>
      <vt:lpstr>Slide 30</vt:lpstr>
      <vt:lpstr>Slide 31</vt:lpstr>
      <vt:lpstr>Types of Organisation</vt:lpstr>
      <vt:lpstr>Organisation Structure</vt:lpstr>
      <vt:lpstr>Types of Organisation Structure</vt:lpstr>
      <vt:lpstr>Line Organisation </vt:lpstr>
      <vt:lpstr>Slide 36</vt:lpstr>
      <vt:lpstr>Functional Organisation</vt:lpstr>
      <vt:lpstr>Slide 38</vt:lpstr>
      <vt:lpstr>Line and staff organisation</vt:lpstr>
      <vt:lpstr>Slide 40</vt:lpstr>
      <vt:lpstr>Project Organisation</vt:lpstr>
      <vt:lpstr>Slide 42</vt:lpstr>
      <vt:lpstr>Matrix Organisation</vt:lpstr>
      <vt:lpstr>Topics  (part 2)   Forms of business organization</vt:lpstr>
      <vt:lpstr>Ownership Organisation</vt:lpstr>
      <vt:lpstr>Slide 46</vt:lpstr>
      <vt:lpstr>PRIVATE SECTOR </vt:lpstr>
      <vt:lpstr>Slide 48</vt:lpstr>
      <vt:lpstr>Slide 49</vt:lpstr>
      <vt:lpstr>Slide 50</vt:lpstr>
      <vt:lpstr>Slide 51</vt:lpstr>
      <vt:lpstr>Private Ltd Company Vs Public Ltd Company</vt:lpstr>
      <vt:lpstr>CO OPERATIVE SECTOR</vt:lpstr>
      <vt:lpstr>Slide 54</vt:lpstr>
      <vt:lpstr>Slide 55</vt:lpstr>
      <vt:lpstr>PUBLIC SECTOR</vt:lpstr>
      <vt:lpstr>Slide 57</vt:lpstr>
      <vt:lpstr>Slide 58</vt:lpstr>
      <vt:lpstr>Slide 59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</dc:title>
  <dc:creator>Faizal</dc:creator>
  <cp:lastModifiedBy>Faizal</cp:lastModifiedBy>
  <cp:revision>71</cp:revision>
  <dcterms:created xsi:type="dcterms:W3CDTF">2016-07-20T05:03:16Z</dcterms:created>
  <dcterms:modified xsi:type="dcterms:W3CDTF">2018-08-06T09:17:11Z</dcterms:modified>
</cp:coreProperties>
</file>