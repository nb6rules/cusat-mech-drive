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0A8FD-AFD6-44CF-815B-52615DC6C866}" type="datetimeFigureOut">
              <a:rPr lang="en-US" smtClean="0"/>
              <a:pPr/>
              <a:t>10/18/2016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C1B8D-A788-47FD-ACB0-620D89A8FF7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  <a:latin typeface="Algerian" pitchFamily="82" charset="0"/>
              </a:rPr>
              <a:t>FINANCE MANAGEMENT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Financial management deals with how the corporation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obtain the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funds and how it uses them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Financial management may also be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defined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“that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part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of management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, which is concerned mainly with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raising </a:t>
            </a: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the funds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for the enterprise in the most economical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manner.</a:t>
            </a:r>
          </a:p>
          <a:p>
            <a:pPr algn="just"/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Utilising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those funds as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profitably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as possible for a given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risk level, planning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future investments and controlling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current performance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and future developments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through </a:t>
            </a: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accounting, budgeting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and other </a:t>
            </a: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means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”.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Functions</a:t>
            </a:r>
            <a:endParaRPr lang="en-IN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1)	Financial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planning and control</a:t>
            </a:r>
          </a:p>
          <a:p>
            <a:pPr algn="just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2) Determination of capital requirements</a:t>
            </a: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3) Acquisition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of funds by determining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financing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mix</a:t>
            </a:r>
          </a:p>
          <a:p>
            <a:pPr algn="just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4) Allocation of capital funds</a:t>
            </a:r>
          </a:p>
          <a:p>
            <a:pPr algn="just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5) Management of current assets</a:t>
            </a:r>
          </a:p>
          <a:p>
            <a:pPr algn="just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6) Determination of dividend payout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Sources of Finance</a:t>
            </a:r>
            <a:endParaRPr lang="en-IN" sz="3200" b="1" dirty="0">
              <a:latin typeface="Algerian" pitchFamily="82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7274" y="2027732"/>
            <a:ext cx="7713816" cy="306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Issue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Shares</a:t>
            </a:r>
          </a:p>
          <a:p>
            <a:pPr algn="just"/>
            <a:endParaRPr lang="en-US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most important source of long term fund is issue of shares.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company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invites members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of the public through its prospectus to purchase shares and the persons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who purchase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the shares are called share holders.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liability of the share holders is limited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their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capital contributions and they are entitled to transfer shares.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Issue of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Debentures</a:t>
            </a:r>
          </a:p>
          <a:p>
            <a:endParaRPr lang="en-IN" sz="2400" i="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 debenture is an acknowledgement of debt issued under the seal of the company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Debentures are issued by the company when it wants to raise the money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without increasing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its share capital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Term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Loans</a:t>
            </a:r>
          </a:p>
          <a:p>
            <a:pPr algn="just"/>
            <a:endParaRPr lang="en-IN" sz="2200" i="1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Term loan refers to long term financial assistance that is generally repayable in more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than one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year but less than ten years.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repayment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of principal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amount of the term loan plus interest is a statutory obligation irrespective of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financial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position of the company.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Ploughing Back of </a:t>
            </a: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Earnings</a:t>
            </a:r>
          </a:p>
          <a:p>
            <a:pPr algn="just"/>
            <a:endParaRPr lang="en-IN" sz="2200" i="1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Under this system, the entire profit generated by the company will 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not be </a:t>
            </a: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distributed among 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the share holders or owners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but a portion of it will be retained by the company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to serve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as a source of finance for expansion and growth of the concern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This is also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referred 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IN" sz="2200" i="1" dirty="0">
                <a:latin typeface="Times New Roman" pitchFamily="18" charset="0"/>
                <a:cs typeface="Times New Roman" pitchFamily="18" charset="0"/>
              </a:rPr>
              <a:t>internal financing or </a:t>
            </a:r>
            <a:r>
              <a:rPr lang="en-IN" sz="2200" b="1" i="1" dirty="0">
                <a:latin typeface="Times New Roman" pitchFamily="18" charset="0"/>
                <a:cs typeface="Times New Roman" pitchFamily="18" charset="0"/>
              </a:rPr>
              <a:t>self financing.</a:t>
            </a:r>
            <a:endParaRPr lang="en-IN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200" i="1" dirty="0">
                <a:latin typeface="Times New Roman" pitchFamily="18" charset="0"/>
                <a:cs typeface="Times New Roman" pitchFamily="18" charset="0"/>
              </a:rPr>
              <a:t>Trade 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Credit</a:t>
            </a:r>
          </a:p>
          <a:p>
            <a:pPr algn="just"/>
            <a:endParaRPr lang="en-IN" sz="2200" i="1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This represents the credit granted by other firms or suppliers, usually for a period of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thirty to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ninety days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Trade credit is usually granted to the company on the basis of its good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will and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also the financial position.</a:t>
            </a:r>
          </a:p>
          <a:p>
            <a:pPr algn="just"/>
            <a:endParaRPr lang="en-IN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Bank 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Credit</a:t>
            </a:r>
          </a:p>
          <a:p>
            <a:pPr algn="just"/>
            <a:endParaRPr lang="en-IN" sz="2200" i="1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This is an important source of short term finance and may be in the form of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advances, loans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cash credits, overdrafts, etc.</a:t>
            </a:r>
          </a:p>
          <a:p>
            <a:pPr algn="just"/>
            <a:endParaRPr lang="en-IN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Autofit/>
          </a:bodyPr>
          <a:lstStyle/>
          <a:p>
            <a:pPr algn="just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Installment 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Credit</a:t>
            </a:r>
          </a:p>
          <a:p>
            <a:pPr algn="just"/>
            <a:endParaRPr lang="en-IN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This type of finance is generally employed by the companies to purchase equipments and machinery and the payment is made on easy instalments.</a:t>
            </a:r>
          </a:p>
          <a:p>
            <a:pPr lvl="1"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Customer 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Advances</a:t>
            </a:r>
          </a:p>
          <a:p>
            <a:pPr algn="just"/>
            <a:endParaRPr lang="en-IN" sz="22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These advances are obtained from the customers at the time of ordering or booking of the product and it represents a part of the product cost. </a:t>
            </a: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period of such credit will depend upon the time taken to deliver the product.</a:t>
            </a:r>
            <a:endParaRPr lang="en-IN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Inflation</a:t>
            </a:r>
            <a:endParaRPr lang="en-IN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Inflation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rate at which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general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level of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prices of goods and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is rising and consequently the purchasing power of currency is falling.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measured as an annual percentage increase.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As inflation rises, every Rupee you own buys a smaller percentage of a good or service.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Types of Inflation</a:t>
            </a:r>
            <a:endParaRPr lang="en-IN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Demand-pull Inflation</a:t>
            </a:r>
          </a:p>
          <a:p>
            <a:pPr algn="just">
              <a:buNone/>
            </a:pPr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This type of inflation occurs when total demand for goods and services in an economy exceeds the supply of the same. </a:t>
            </a:r>
          </a:p>
          <a:p>
            <a:pPr lvl="1"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When the supply is less, the prices of these goods and services would rise, leading to a situation called as demand-pull inflation. </a:t>
            </a:r>
          </a:p>
          <a:p>
            <a:pPr lvl="1"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This type of inflation affects the market economy adversely during the wartime.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Cost-push Inflation</a:t>
            </a:r>
          </a:p>
          <a:p>
            <a:pPr algn="just">
              <a:buNone/>
            </a:pPr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As the name suggests, if there is increase in the cost of production of goods and services, there is likely to be a forceful increase in the prices of finished goods and services. </a:t>
            </a:r>
          </a:p>
          <a:p>
            <a:pPr lvl="1"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For instance, a rise in the wages of workers would raise the unit costs of production and this would lead to rise in prices for the related end product. </a:t>
            </a:r>
          </a:p>
          <a:p>
            <a:pPr lvl="1"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This type of inflation may or may not occur in conjunction with demand-pull inflation.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Pricing Power Inflation</a:t>
            </a:r>
          </a:p>
          <a:p>
            <a:pPr algn="just">
              <a:buNone/>
            </a:pPr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Pricing power inflation is more often called as administered price inflation. </a:t>
            </a:r>
          </a:p>
          <a:p>
            <a:pPr lvl="1"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This type of inflation occurs when the business houses and industries decide to increase the price of their respective goods and services to increase their profit margins.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Sectoral Inflation</a:t>
            </a:r>
          </a:p>
          <a:p>
            <a:pPr algn="just">
              <a:buNone/>
            </a:pPr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This type of inflation takes place when there is an increase in the price of the goods and services produced by a certain sector of industries.</a:t>
            </a:r>
          </a:p>
          <a:p>
            <a:pPr lvl="1"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For instance, an increase in the cost of crude oil would directly affect all the other sectors, which are directly related to the oil industry.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Cost</a:t>
            </a:r>
            <a:endParaRPr lang="en-IN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It’s the value of money used to produce something.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Classified into 2 types:</a:t>
            </a:r>
          </a:p>
          <a:p>
            <a:pPr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Direct Cost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Direct costs are those which can be identified with or related to the product or services.</a:t>
            </a:r>
          </a:p>
          <a:p>
            <a:pPr lvl="1"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An increase or decrease of a unit of product or service will affect the cost proportionately.</a:t>
            </a:r>
          </a:p>
          <a:p>
            <a:pPr lvl="1" algn="just"/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Indirect Cost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: which cannot be identified or traced to a given cost object but are related to the expenses incurred for maintaining facilities for such production or services.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 smtClean="0">
                <a:latin typeface="Algerian" pitchFamily="82" charset="0"/>
              </a:rPr>
              <a:t>Overhead</a:t>
            </a:r>
            <a:endParaRPr lang="en-IN" sz="36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Thus, the elements of cost may be summarised as follows – </a:t>
            </a:r>
          </a:p>
          <a:p>
            <a:pPr algn="just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(a) Direct materials cost and indirect materials cost</a:t>
            </a:r>
          </a:p>
          <a:p>
            <a:pPr algn="just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(b) Direct wages and indirect wages</a:t>
            </a:r>
          </a:p>
          <a:p>
            <a:pPr algn="just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(c) Direct expense and indirect expense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aggregate of direct materials cost, direct wages and direct expense is called </a:t>
            </a: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Prime cost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aggregate of indirect materials cost, indirect wages and indirect expenses are collectively called </a:t>
            </a: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Overhead Cost.</a:t>
            </a:r>
          </a:p>
          <a:p>
            <a:pPr algn="just">
              <a:buNone/>
            </a:pP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					Or</a:t>
            </a:r>
          </a:p>
          <a:p>
            <a:pPr algn="just"/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Overhead Cost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refers to any costs not specifically or directly associated with the production of identifiable goods or services.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Overheads are classified into :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just">
              <a:buAutoNum type="romanLcParenBoth"/>
            </a:pP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Production overheads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:- i.e. indirect costs relating to manufacturing activities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algn="just">
              <a:buAutoNum type="romanLcParenBoth"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just">
              <a:buAutoNum type="romanLcParenBoth"/>
            </a:pP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Administration overheads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:- i.e. costs relating to formulating the policy, directing the organisation and controlling operations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algn="just">
              <a:buAutoNum type="romanLcParenBoth"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just">
              <a:buAutoNum type="romanLcParenBoth"/>
            </a:pP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Selling and distribution overheads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:- i.e. indirect costs relating to the activity of creating and stimulating demand and securing orders as well as operations relating to distribution of goods from factory warehouse to customers.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Algerian" pitchFamily="82" charset="0"/>
              </a:rPr>
              <a:t>Elements of cost</a:t>
            </a:r>
            <a:endParaRPr lang="en-IN" sz="3200" b="1" dirty="0">
              <a:latin typeface="Algerian" pitchFamily="82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28802"/>
            <a:ext cx="8522205" cy="3571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>
                <a:latin typeface="Algerian" pitchFamily="82" charset="0"/>
              </a:rPr>
              <a:t>Allocation of Overheads</a:t>
            </a:r>
            <a:endParaRPr lang="en-IN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If an industry is making only one product, a uniform charge for overhead may be possible.</a:t>
            </a:r>
          </a:p>
          <a:p>
            <a:pPr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But if a number of different products are being manufactured, an equitable base must be sought out to 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charge each product with a fair and reasonable share of the overhead cost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, so that the total cost of each unit may be calculated.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>
                <a:latin typeface="Algerian" pitchFamily="82" charset="0"/>
              </a:rPr>
              <a:t>Methods for the allocation of Overheads :</a:t>
            </a:r>
            <a:endParaRPr lang="en-IN" sz="32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00024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Direct material cost method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Overhead for an item = (Factory overhead × Direct material cost of the item concerned) / Total direct material cost</a:t>
            </a:r>
          </a:p>
          <a:p>
            <a:pPr lvl="1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Direct labour cost method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Overhead for an item = (Factory overhead × Direct labour cost of the item concerned) / Total direct labour cost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3)	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Prime cost method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Overhead for an item = (Factory overhead × Prime cost of the item concerned) / Total prime cost</a:t>
            </a:r>
          </a:p>
          <a:p>
            <a:pPr lvl="1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4)	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Labour hour rate method</a:t>
            </a:r>
          </a:p>
          <a:p>
            <a:pPr lvl="1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Overhead for an item = (Factory overhead × Labour hours associated with the item concerned) / Total labour hours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5)	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Machine hour rate method</a:t>
            </a:r>
          </a:p>
          <a:p>
            <a:pPr algn="just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Overhead for an item = (Factory overhead × Machine hours associated with the item concerned) / Total machine hours</a:t>
            </a:r>
          </a:p>
          <a:p>
            <a:pPr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6)	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Production Unit method</a:t>
            </a:r>
          </a:p>
          <a:p>
            <a:pPr algn="just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Overhead associated with a production order = (Factory overhead × Number of units produced as per the production order ) / Total production in terms of units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sz="3600" b="1" dirty="0" smtClean="0">
                <a:latin typeface="Algerian" pitchFamily="82" charset="0"/>
              </a:rPr>
              <a:t>Standard Costing Vs. Marginal Costing</a:t>
            </a:r>
            <a:endParaRPr lang="en-IN" sz="3600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Standard costing</a:t>
            </a:r>
          </a:p>
          <a:p>
            <a:pPr algn="just">
              <a:buNone/>
            </a:pPr>
            <a:endParaRPr lang="en-IN" sz="22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Standard cost is defined as a predetermined cost which is calculated from management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standards of efficient operations and the relevant necessary expenditure. </a:t>
            </a:r>
          </a:p>
          <a:p>
            <a:pPr lvl="1" algn="just">
              <a:buFont typeface="Courier New" pitchFamily="49" charset="0"/>
              <a:buChar char="o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They are the predetermined costs on technical estimate of material, labour and overhead for a selected period of time and for a prescribed set of working conditions. </a:t>
            </a:r>
          </a:p>
          <a:p>
            <a:pPr lvl="1" algn="just">
              <a:buFont typeface="Courier New" pitchFamily="49" charset="0"/>
              <a:buChar char="o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In other words, 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a standard cost is a planned cost for a unit of product or service rendered.</a:t>
            </a:r>
            <a:endParaRPr lang="en-IN" sz="22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buFont typeface="Courier New" pitchFamily="49" charset="0"/>
              <a:buChar char="o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technique of using standard costs for the purposes of cost control is known as </a:t>
            </a:r>
            <a:r>
              <a:rPr lang="en-IN" sz="2200" b="1" i="1" dirty="0" smtClean="0">
                <a:latin typeface="Times New Roman" pitchFamily="18" charset="0"/>
                <a:cs typeface="Times New Roman" pitchFamily="18" charset="0"/>
              </a:rPr>
              <a:t>Standard costing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>
              <a:buFont typeface="Courier New" pitchFamily="49" charset="0"/>
              <a:buChar char="o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a system of cost accounting which is designed to find out how much should be the cost of a product under the existing conditions.</a:t>
            </a:r>
          </a:p>
          <a:p>
            <a:pPr lvl="1" algn="just">
              <a:buFont typeface="Courier New" pitchFamily="49" charset="0"/>
              <a:buChar char="o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predetermined cost is compared to the actual cost and a variance between the two enables the management to take necessary corrective measures.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Marginal cost</a:t>
            </a:r>
          </a:p>
          <a:p>
            <a:pPr algn="just">
              <a:buNone/>
            </a:pP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Marginal cost means the cost of the marginal or last unit produced.</a:t>
            </a:r>
          </a:p>
          <a:p>
            <a:pPr lvl="1" algn="just">
              <a:buNone/>
            </a:pP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is also defined as the cost of one more or one less unit produced besides existing level of production.</a:t>
            </a:r>
          </a:p>
          <a:p>
            <a:pPr lvl="1" algn="just">
              <a:buFont typeface="Courier New" pitchFamily="49" charset="0"/>
              <a:buChar char="o"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marginal cost of a product is its Variable cost.</a:t>
            </a:r>
          </a:p>
          <a:p>
            <a:pPr lvl="1" algn="just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Normally taken to be direct labour, direct material, direct expenses and the variable part of overheads.</a:t>
            </a: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Marginal costing technique has given birth to a very useful concept of  called “Contribution” where contribution is given by: </a:t>
            </a:r>
            <a:r>
              <a:rPr lang="en-IN" sz="2400" b="1" i="1" dirty="0" smtClean="0">
                <a:latin typeface="Times New Roman" pitchFamily="18" charset="0"/>
                <a:cs typeface="Times New Roman" pitchFamily="18" charset="0"/>
              </a:rPr>
              <a:t>Sales revenue less variable cost</a:t>
            </a:r>
          </a:p>
          <a:p>
            <a:pPr lvl="1" algn="just">
              <a:buFont typeface="Courier New" pitchFamily="49" charset="0"/>
              <a:buChar char="o"/>
            </a:pPr>
            <a:endParaRPr lang="en-IN" sz="2400"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Contribution may be defined as the “Profit before the recovery of fixed costs”. </a:t>
            </a:r>
          </a:p>
          <a:p>
            <a:pPr lvl="1" algn="just">
              <a:buFont typeface="Courier New" pitchFamily="49" charset="0"/>
              <a:buChar char="o"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Thus, contribution goes toward the recovery of fixed cost and profit, and is equal to fixed cost plus profit i.e.(C = F + P).</a:t>
            </a:r>
          </a:p>
          <a:p>
            <a:pPr lvl="1" algn="just">
              <a:buFont typeface="Courier New" pitchFamily="49" charset="0"/>
              <a:buChar char="o"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Courier New" pitchFamily="49" charset="0"/>
              <a:buChar char="o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In case a firm neither makes profit nor suffers loss, contribution will be just equal to fixed cost (C = F). This is known as break even point.</a:t>
            </a:r>
            <a:endParaRPr lang="en-IN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1432</Words>
  <Application>Microsoft Office PowerPoint</Application>
  <PresentationFormat>On-screen Show (4:3)</PresentationFormat>
  <Paragraphs>150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FINANCE MANAGEMENT</vt:lpstr>
      <vt:lpstr>Slide 2</vt:lpstr>
      <vt:lpstr>Functions</vt:lpstr>
      <vt:lpstr>Sources of Finance</vt:lpstr>
      <vt:lpstr>Slide 5</vt:lpstr>
      <vt:lpstr>Slide 6</vt:lpstr>
      <vt:lpstr>Slide 7</vt:lpstr>
      <vt:lpstr>Slide 8</vt:lpstr>
      <vt:lpstr>Slide 9</vt:lpstr>
      <vt:lpstr>Slide 10</vt:lpstr>
      <vt:lpstr>Inflation</vt:lpstr>
      <vt:lpstr>Types of Inflation</vt:lpstr>
      <vt:lpstr>Slide 13</vt:lpstr>
      <vt:lpstr>Slide 14</vt:lpstr>
      <vt:lpstr>Slide 15</vt:lpstr>
      <vt:lpstr>Cost</vt:lpstr>
      <vt:lpstr>Overhead</vt:lpstr>
      <vt:lpstr>Slide 18</vt:lpstr>
      <vt:lpstr>Elements of cost</vt:lpstr>
      <vt:lpstr>Allocation of Overheads</vt:lpstr>
      <vt:lpstr>Methods for the allocation of Overheads :</vt:lpstr>
      <vt:lpstr>Slide 22</vt:lpstr>
      <vt:lpstr>Slide 23</vt:lpstr>
      <vt:lpstr>Standard Costing Vs. Marginal Costing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MANAGEMENT</dc:title>
  <dc:creator>Faizal</dc:creator>
  <cp:lastModifiedBy>Faizal</cp:lastModifiedBy>
  <cp:revision>34</cp:revision>
  <dcterms:created xsi:type="dcterms:W3CDTF">2015-10-08T06:25:36Z</dcterms:created>
  <dcterms:modified xsi:type="dcterms:W3CDTF">2016-10-18T06:22:04Z</dcterms:modified>
</cp:coreProperties>
</file>