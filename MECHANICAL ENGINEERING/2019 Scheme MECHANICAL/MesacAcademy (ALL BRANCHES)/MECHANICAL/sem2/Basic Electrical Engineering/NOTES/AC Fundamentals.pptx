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4"/>
  </p:notesMasterIdLst>
  <p:sldIdLst>
    <p:sldId id="256" r:id="rId2"/>
    <p:sldId id="257" r:id="rId3"/>
    <p:sldId id="281" r:id="rId4"/>
    <p:sldId id="258" r:id="rId5"/>
    <p:sldId id="283" r:id="rId6"/>
    <p:sldId id="282" r:id="rId7"/>
    <p:sldId id="259" r:id="rId8"/>
    <p:sldId id="285" r:id="rId9"/>
    <p:sldId id="286" r:id="rId10"/>
    <p:sldId id="284" r:id="rId11"/>
    <p:sldId id="260" r:id="rId12"/>
    <p:sldId id="287" r:id="rId13"/>
    <p:sldId id="288" r:id="rId14"/>
    <p:sldId id="289" r:id="rId15"/>
    <p:sldId id="290" r:id="rId16"/>
    <p:sldId id="291" r:id="rId17"/>
    <p:sldId id="261" r:id="rId18"/>
    <p:sldId id="292" r:id="rId19"/>
    <p:sldId id="262" r:id="rId20"/>
    <p:sldId id="293" r:id="rId21"/>
    <p:sldId id="294" r:id="rId22"/>
    <p:sldId id="295" r:id="rId23"/>
    <p:sldId id="297" r:id="rId24"/>
    <p:sldId id="263" r:id="rId25"/>
    <p:sldId id="296" r:id="rId26"/>
    <p:sldId id="299" r:id="rId27"/>
    <p:sldId id="298" r:id="rId28"/>
    <p:sldId id="300" r:id="rId29"/>
    <p:sldId id="265" r:id="rId30"/>
    <p:sldId id="266" r:id="rId31"/>
    <p:sldId id="301" r:id="rId32"/>
    <p:sldId id="302" r:id="rId33"/>
    <p:sldId id="303" r:id="rId34"/>
    <p:sldId id="267" r:id="rId35"/>
    <p:sldId id="304" r:id="rId36"/>
    <p:sldId id="305" r:id="rId37"/>
    <p:sldId id="268" r:id="rId38"/>
    <p:sldId id="306" r:id="rId39"/>
    <p:sldId id="308" r:id="rId40"/>
    <p:sldId id="269" r:id="rId41"/>
    <p:sldId id="309" r:id="rId42"/>
    <p:sldId id="310" r:id="rId43"/>
    <p:sldId id="312" r:id="rId44"/>
    <p:sldId id="270" r:id="rId45"/>
    <p:sldId id="311" r:id="rId46"/>
    <p:sldId id="271" r:id="rId47"/>
    <p:sldId id="321" r:id="rId48"/>
    <p:sldId id="280" r:id="rId49"/>
    <p:sldId id="315" r:id="rId50"/>
    <p:sldId id="313" r:id="rId51"/>
    <p:sldId id="273" r:id="rId52"/>
    <p:sldId id="274" r:id="rId53"/>
    <p:sldId id="314" r:id="rId54"/>
    <p:sldId id="316" r:id="rId55"/>
    <p:sldId id="275" r:id="rId56"/>
    <p:sldId id="317" r:id="rId57"/>
    <p:sldId id="276" r:id="rId58"/>
    <p:sldId id="277" r:id="rId59"/>
    <p:sldId id="318" r:id="rId60"/>
    <p:sldId id="319" r:id="rId61"/>
    <p:sldId id="320" r:id="rId62"/>
    <p:sldId id="322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24CA9-24BD-4B7F-9705-B4BD98792F54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EC39E-2C9B-4C34-A792-1E1B881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93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0EC39E-2C9B-4C34-A792-1E1B8818600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664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0EC39E-2C9B-4C34-A792-1E1B8818600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160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0EC39E-2C9B-4C34-A792-1E1B8818600B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30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0EC39E-2C9B-4C34-A792-1E1B8818600B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258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0EC39E-2C9B-4C34-A792-1E1B8818600B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031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0EC39E-2C9B-4C34-A792-1E1B8818600B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366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2AF-6B37-40D8-99C8-6CF2B83816D4}" type="datetime1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87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97DAB-72B2-43A4-82FF-E21B59C2FBE4}" type="datetime1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21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D6E7-1BFD-44D5-A473-7E34F797DC08}" type="datetime1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631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1C463-0E33-42E7-A640-117C75C82BB2}" type="datetime1">
              <a:rPr lang="en-IN" smtClean="0"/>
              <a:t>18-06-2020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744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58B1-4840-4A90-9E69-BF31A398948E}" type="datetime1">
              <a:rPr lang="en-IN" smtClean="0"/>
              <a:t>18-06-2020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005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C530-4264-422D-9A61-24B9D707DAAA}" type="datetime1">
              <a:rPr lang="en-IN" smtClean="0"/>
              <a:t>18-06-2020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487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46D5-018A-4C49-BCEE-9913659D18FC}" type="datetime1">
              <a:rPr lang="en-IN" smtClean="0"/>
              <a:t>18-06-2020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28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C964C-7143-4B3E-A685-28A55F5BEA34}" type="datetime1">
              <a:rPr lang="en-IN" smtClean="0"/>
              <a:t>18-06-2020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06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26F2-415E-48EB-8AC9-87FFC703CABB}" type="datetime1">
              <a:rPr lang="en-IN" smtClean="0"/>
              <a:t>18-06-2020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234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4EDE-526C-4C66-AB54-37F43AB67973}" type="datetime1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95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9B16-089D-4032-9E3B-CF141BD9B6BB}" type="datetime1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913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5EE4F-D79D-4B45-AEA0-7BAABE593D43}" type="datetime1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D5E84-7405-44D9-B926-5E764DB5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755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p-content/uploads/2015/10/RC-SERIES-CKT-EQ8-compressor.jpg" TargetMode="Externa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technology.org/2019/07/what-is-inductor.html" TargetMode="External"/><Relationship Id="rId2" Type="http://schemas.openxmlformats.org/officeDocument/2006/relationships/hyperlink" Target="https://www.electricaltechnology.org/2014/11/solenoid-and-solenoid-magnetic-field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ectricaltechnology.org/2018/12/capacitor-types-capacitors-fixed-variable-polar-non-polar.html" TargetMode="Externa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7648" y="0"/>
            <a:ext cx="9144000" cy="2387600"/>
          </a:xfrm>
        </p:spPr>
        <p:txBody>
          <a:bodyPr/>
          <a:lstStyle/>
          <a:p>
            <a:pPr algn="ctr"/>
            <a:r>
              <a:rPr lang="en-IN" b="1" dirty="0" smtClean="0">
                <a:latin typeface="+mn-lt"/>
              </a:rPr>
              <a:t>AC FUNDAMENTALS</a:t>
            </a:r>
            <a:endParaRPr lang="en-IN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9269" y="2646695"/>
            <a:ext cx="9144000" cy="2907944"/>
          </a:xfrm>
        </p:spPr>
        <p:txBody>
          <a:bodyPr>
            <a:normAutofit/>
          </a:bodyPr>
          <a:lstStyle/>
          <a:p>
            <a:pPr algn="ctr"/>
            <a:endParaRPr lang="en-IN" sz="36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IN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Lecture by: </a:t>
            </a:r>
          </a:p>
          <a:p>
            <a:pPr algn="ctr"/>
            <a:r>
              <a:rPr lang="en-IN" sz="36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Sanjna</a:t>
            </a:r>
            <a:r>
              <a:rPr lang="en-IN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Salim</a:t>
            </a:r>
          </a:p>
          <a:p>
            <a:pPr algn="ctr"/>
            <a:r>
              <a:rPr lang="en-IN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Division of Electrical </a:t>
            </a:r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</a:t>
            </a:r>
            <a:r>
              <a:rPr lang="en-IN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ngineering, </a:t>
            </a:r>
            <a:r>
              <a:rPr lang="en-IN" sz="36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SoE</a:t>
            </a:r>
            <a:r>
              <a:rPr lang="en-IN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CUSAT</a:t>
            </a:r>
            <a:endParaRPr lang="en-IN" sz="3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08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6603"/>
            <a:ext cx="11155680" cy="1450757"/>
          </a:xfrm>
        </p:spPr>
        <p:txBody>
          <a:bodyPr/>
          <a:lstStyle/>
          <a:p>
            <a:r>
              <a:rPr lang="en-I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Alternating voltage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 and</a:t>
            </a:r>
            <a:r>
              <a:rPr lang="en-I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current </a:t>
            </a:r>
            <a:r>
              <a:rPr lang="en-I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equation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sz="32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3600" dirty="0" smtClean="0"/>
              <a:t>Instantaneous voltage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32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3600" dirty="0" smtClean="0"/>
              <a:t>Instantaneous current      </a:t>
            </a:r>
            <a:r>
              <a:rPr lang="en-IN" sz="3600" b="1" dirty="0" err="1" smtClean="0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IN" sz="36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baseline="-250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IN" sz="36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</a:t>
            </a:r>
            <a:r>
              <a:rPr lang="en-IN" sz="36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𝜔</a:t>
            </a:r>
            <a:r>
              <a:rPr lang="en-IN" sz="36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515168" y="2376641"/>
            <a:ext cx="230499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v=</a:t>
            </a:r>
            <a:r>
              <a:rPr lang="en-IN" sz="3600" b="1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sz="3600" b="1" baseline="-250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IN" sz="3600" b="1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</a:t>
            </a:r>
            <a:r>
              <a:rPr lang="en-IN" sz="3600" b="1" dirty="0" smtClean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𝜔</a:t>
            </a:r>
            <a:r>
              <a:rPr lang="en-IN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IN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85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10" y="150126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Waveform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883"/>
            <a:ext cx="12192000" cy="485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6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17" y="104946"/>
            <a:ext cx="1132952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AC through pure resistive circuit(R Circuit)</a:t>
            </a:r>
            <a:endParaRPr lang="en-IN" b="1" dirty="0">
              <a:latin typeface="+mn-lt"/>
            </a:endParaRPr>
          </a:p>
        </p:txBody>
      </p:sp>
      <p:pic>
        <p:nvPicPr>
          <p:cNvPr id="2050" name="Picture 2" descr="pure-resistive-circui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7" y="1902364"/>
            <a:ext cx="6229264" cy="495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</a:t>
            </a:fld>
            <a:endParaRPr lang="en-IN"/>
          </a:p>
        </p:txBody>
      </p:sp>
      <p:pic>
        <p:nvPicPr>
          <p:cNvPr id="2052" name="Picture 4" descr="pure resistive circuit eq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202" y="1628509"/>
            <a:ext cx="5646167" cy="167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circuitglobe.com/wp-content/uploads/2015/10/pure-resistive-circuit-eq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681" y="3154494"/>
            <a:ext cx="5373211" cy="190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circuitglobe.com/wp-content/uploads/2015/10/pure-resistive-circuit-eq3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616" y="4953693"/>
            <a:ext cx="5523337" cy="140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35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/>
              <a:t>Reflection Spot 1</a:t>
            </a:r>
            <a:endParaRPr lang="en-IN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b="1" dirty="0" smtClean="0"/>
              <a:t>Looking at the voltage and current expression, what can you say about the phase difference between them?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 smtClean="0"/>
              <a:t>How will the waveform and phasor diagram for the circuit look like?</a:t>
            </a:r>
            <a:endParaRPr lang="en-IN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56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14663"/>
            <a:ext cx="11464119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Waveform and Phasor Diagram-R Circuit</a:t>
            </a:r>
            <a:endParaRPr lang="en-IN" b="1" dirty="0">
              <a:latin typeface="+mn-lt"/>
            </a:endParaRPr>
          </a:p>
        </p:txBody>
      </p:sp>
      <p:pic>
        <p:nvPicPr>
          <p:cNvPr id="5" name="Picture 12" descr="Resistors in AC Circuits | AC Power, Voltage and Curr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5420"/>
            <a:ext cx="6919415" cy="509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14" descr="AC Resistance and Impedance in an AC Circu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856" y="1937982"/>
            <a:ext cx="5732059" cy="452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01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50" y="15292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Power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7</a:t>
            </a:fld>
            <a:endParaRPr lang="en-IN"/>
          </a:p>
        </p:txBody>
      </p:sp>
      <p:pic>
        <p:nvPicPr>
          <p:cNvPr id="3074" name="Picture 2" descr="https://circuitglobe.com/wp-content/uploads/2015/10/pure-resistive-circuit-eq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3" y="2279176"/>
            <a:ext cx="11787571" cy="444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2333" y="1781415"/>
            <a:ext cx="5016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Instantaneous power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049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Power-Waveform</a:t>
            </a:r>
            <a:endParaRPr lang="en-IN" b="1" dirty="0">
              <a:latin typeface="+mn-lt"/>
            </a:endParaRPr>
          </a:p>
        </p:txBody>
      </p:sp>
      <p:pic>
        <p:nvPicPr>
          <p:cNvPr id="5" name="Picture 8" descr="resistive-circuit-waveform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0757"/>
            <a:ext cx="12192000" cy="482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96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/>
              <a:t>Reflection Spot 2</a:t>
            </a:r>
            <a:endParaRPr lang="en-IN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sz="3200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3200" b="1" dirty="0" smtClean="0"/>
              <a:t>Looking at the waveform in the previous slide what can be said about the average power in the circuit?</a:t>
            </a:r>
            <a:endParaRPr lang="en-IN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21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648" y="127212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Power-R circuit-</a:t>
            </a:r>
            <a:r>
              <a:rPr lang="en-IN" b="1" dirty="0" err="1" smtClean="0">
                <a:latin typeface="+mn-lt"/>
              </a:rPr>
              <a:t>contd</a:t>
            </a:r>
            <a:r>
              <a:rPr lang="en-IN" b="1" dirty="0" smtClean="0">
                <a:latin typeface="+mn-lt"/>
              </a:rPr>
              <a:t>…</a:t>
            </a:r>
            <a:endParaRPr lang="en-IN" b="1" dirty="0">
              <a:latin typeface="+mn-lt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0" y="1845734"/>
            <a:ext cx="100584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b="1" dirty="0" smtClean="0"/>
              <a:t>Average power</a:t>
            </a:r>
            <a:endParaRPr lang="en-IN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10</a:t>
            </a:fld>
            <a:endParaRPr lang="en-IN"/>
          </a:p>
        </p:txBody>
      </p:sp>
      <p:pic>
        <p:nvPicPr>
          <p:cNvPr id="6" name="Picture 4" descr="pure resistive circuit eq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19" y="2649030"/>
            <a:ext cx="11155981" cy="271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pure resistive circuit eq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19" y="4994557"/>
            <a:ext cx="7458575" cy="173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69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3682"/>
            <a:ext cx="10058400" cy="1450757"/>
          </a:xfrm>
        </p:spPr>
        <p:txBody>
          <a:bodyPr/>
          <a:lstStyle/>
          <a:p>
            <a:r>
              <a:rPr lang="en-IN" b="1" dirty="0">
                <a:latin typeface="+mn-lt"/>
              </a:rPr>
              <a:t>AC through pure </a:t>
            </a:r>
            <a:r>
              <a:rPr lang="en-IN" b="1" dirty="0" smtClean="0">
                <a:latin typeface="+mn-lt"/>
              </a:rPr>
              <a:t>inductive circuit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11</a:t>
            </a:fld>
            <a:endParaRPr lang="en-IN"/>
          </a:p>
        </p:txBody>
      </p:sp>
      <p:pic>
        <p:nvPicPr>
          <p:cNvPr id="4098" name="Picture 2" descr="pure-INDUCTIVE-circu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9" y="1737360"/>
            <a:ext cx="6496740" cy="459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ircuitglobe.com/wp-content/uploads/2015/10/PURE-INDUCTIVE-CIRCUIT-EQ1-compresso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1737360"/>
            <a:ext cx="5965436" cy="284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URE-INDUCTIVE-CIRCUIT-EQ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79" y="4380055"/>
            <a:ext cx="5509788" cy="195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8" descr="AC Inductance and Inductive Reactance in an AC Circu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91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5" y="0"/>
            <a:ext cx="10058400" cy="1450757"/>
          </a:xfrm>
        </p:spPr>
        <p:txBody>
          <a:bodyPr>
            <a:normAutofit/>
          </a:bodyPr>
          <a:lstStyle/>
          <a:p>
            <a:r>
              <a:rPr lang="en-IN" sz="4800" b="1" dirty="0" smtClean="0">
                <a:latin typeface="+mn-lt"/>
              </a:rPr>
              <a:t>L Circuit- </a:t>
            </a:r>
            <a:r>
              <a:rPr lang="en-IN" sz="4800" b="1" dirty="0" err="1" smtClean="0">
                <a:latin typeface="+mn-lt"/>
              </a:rPr>
              <a:t>Contd</a:t>
            </a:r>
            <a:r>
              <a:rPr lang="en-IN" sz="4800" b="1" dirty="0" smtClean="0">
                <a:latin typeface="+mn-lt"/>
              </a:rPr>
              <a:t>…</a:t>
            </a:r>
            <a:endParaRPr lang="en-IN" sz="4800" b="1" dirty="0">
              <a:latin typeface="+mn-lt"/>
            </a:endParaRPr>
          </a:p>
        </p:txBody>
      </p:sp>
      <p:pic>
        <p:nvPicPr>
          <p:cNvPr id="5" name="Picture 10" descr="https://circuitglobe.com/wp-content/uploads/2015/10/PURE-INDUCTIVE-CIRCUIT-EQ4-compressor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6" y="1860190"/>
            <a:ext cx="11588314" cy="425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8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1290844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L Circuit-</a:t>
            </a:r>
            <a:r>
              <a:rPr lang="en-IN" b="1" dirty="0" err="1" smtClean="0">
                <a:latin typeface="+mn-lt"/>
              </a:rPr>
              <a:t>Contd</a:t>
            </a:r>
            <a:r>
              <a:rPr lang="en-IN" b="1" dirty="0" smtClean="0">
                <a:latin typeface="+mn-lt"/>
              </a:rPr>
              <a:t>…</a:t>
            </a:r>
            <a:endParaRPr lang="en-IN" b="1" dirty="0">
              <a:latin typeface="+mn-lt"/>
            </a:endParaRPr>
          </a:p>
        </p:txBody>
      </p:sp>
      <p:pic>
        <p:nvPicPr>
          <p:cNvPr id="5" name="Picture 12" descr="PURE-INDUCTIVE-CIRCUIT-EQ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09182" y="1241946"/>
            <a:ext cx="11081982" cy="561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92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014" y="330768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L Circuit-</a:t>
            </a:r>
            <a:r>
              <a:rPr lang="en-IN" b="1" dirty="0" err="1" smtClean="0">
                <a:latin typeface="+mn-lt"/>
              </a:rPr>
              <a:t>Contd</a:t>
            </a:r>
            <a:r>
              <a:rPr lang="en-IN" b="1" dirty="0" smtClean="0">
                <a:latin typeface="+mn-lt"/>
              </a:rPr>
              <a:t>…</a:t>
            </a:r>
            <a:endParaRPr lang="en-IN" b="1" dirty="0">
              <a:latin typeface="+mn-lt"/>
            </a:endParaRPr>
          </a:p>
        </p:txBody>
      </p:sp>
      <p:pic>
        <p:nvPicPr>
          <p:cNvPr id="5" name="Picture 14" descr="PURE-INDUCTIVE-CIRCUIT-EQ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82" y="1916104"/>
            <a:ext cx="5868537" cy="1550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16" descr="PURE-INDUCTIVE-CIRCUIT-EQ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82" y="5020831"/>
            <a:ext cx="9266830" cy="144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-15014" y="3335825"/>
            <a:ext cx="1220701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3200" b="1" dirty="0">
                <a:solidFill>
                  <a:srgbClr val="000000"/>
                </a:solidFill>
                <a:latin typeface="Verdana" panose="020B0604030504040204" pitchFamily="34" charset="0"/>
              </a:rPr>
              <a:t>X</a:t>
            </a:r>
            <a:r>
              <a:rPr lang="en-IN" sz="3200" b="1" baseline="-25000" dirty="0">
                <a:solidFill>
                  <a:srgbClr val="000000"/>
                </a:solidFill>
                <a:latin typeface="Verdana" panose="020B0604030504040204" pitchFamily="34" charset="0"/>
              </a:rPr>
              <a:t>L</a:t>
            </a:r>
            <a:r>
              <a:rPr lang="en-IN" sz="3200" b="1" dirty="0">
                <a:solidFill>
                  <a:srgbClr val="000000"/>
                </a:solidFill>
                <a:latin typeface="Verdana" panose="020B0604030504040204" pitchFamily="34" charset="0"/>
              </a:rPr>
              <a:t> = </a:t>
            </a:r>
            <a:r>
              <a:rPr lang="en-IN" sz="3200" b="1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ωL</a:t>
            </a:r>
            <a:r>
              <a:rPr lang="en-IN" sz="32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IN" sz="3200" dirty="0">
                <a:solidFill>
                  <a:srgbClr val="000000"/>
                </a:solidFill>
                <a:latin typeface="Verdana" panose="020B0604030504040204" pitchFamily="34" charset="0"/>
              </a:rPr>
              <a:t>is the opposition offered to the flow of alternating current by a pure inductance and is called </a:t>
            </a:r>
            <a:r>
              <a:rPr lang="en-IN" sz="3200" b="1" dirty="0">
                <a:solidFill>
                  <a:srgbClr val="000000"/>
                </a:solidFill>
                <a:latin typeface="Verdana" panose="020B0604030504040204" pitchFamily="34" charset="0"/>
              </a:rPr>
              <a:t>inductive reactance.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78710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/>
              <a:t>Reflection Spot 3</a:t>
            </a:r>
            <a:endParaRPr lang="en-IN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sz="3200" dirty="0" smtClean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3200" dirty="0" smtClean="0"/>
              <a:t>What change has occurred in the voltage and current relationship compared to the previous case?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24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239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Waveform and phasor diagram</a:t>
            </a:r>
            <a:endParaRPr lang="en-IN" b="1" dirty="0">
              <a:latin typeface="+mn-lt"/>
            </a:endParaRPr>
          </a:p>
        </p:txBody>
      </p:sp>
      <p:pic>
        <p:nvPicPr>
          <p:cNvPr id="1028" name="Picture 4" descr="https://circuitglobe.com/wp-content/uploads/2015/10/INDUCTIVE-CIRCUIT-WAVEFORM-compressor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2890"/>
            <a:ext cx="12050973" cy="517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81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8522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Power-L Circuit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17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0" y="1737360"/>
            <a:ext cx="5631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Instantaneous power</a:t>
            </a:r>
            <a:endParaRPr lang="en-IN" sz="32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2281237"/>
            <a:ext cx="11639550" cy="343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9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98" y="394977"/>
            <a:ext cx="10058400" cy="1450757"/>
          </a:xfrm>
        </p:spPr>
        <p:txBody>
          <a:bodyPr/>
          <a:lstStyle/>
          <a:p>
            <a:r>
              <a:rPr lang="en-IN" b="1" dirty="0" err="1" smtClean="0">
                <a:latin typeface="+mn-lt"/>
              </a:rPr>
              <a:t>Contd</a:t>
            </a:r>
            <a:r>
              <a:rPr lang="en-IN" b="1" dirty="0" smtClean="0">
                <a:latin typeface="+mn-lt"/>
              </a:rPr>
              <a:t>…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98" y="1968563"/>
            <a:ext cx="12118302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sz="36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3600" dirty="0" smtClean="0"/>
              <a:t>The </a:t>
            </a:r>
            <a:r>
              <a:rPr lang="en-IN" sz="3600" dirty="0"/>
              <a:t>average power consumed in a purely inductive circuit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32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+mn-lt"/>
              </a:rPr>
              <a:t>AC through pure capacitive circuit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19</a:t>
            </a:fld>
            <a:endParaRPr lang="en-IN"/>
          </a:p>
        </p:txBody>
      </p:sp>
      <p:pic>
        <p:nvPicPr>
          <p:cNvPr id="6146" name="Picture 2" descr="pure-capacitive--circu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1521"/>
            <a:ext cx="5663821" cy="4328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circuitglobe.com/wp-content/uploads/2015/10/PURE-CAPACITOR-EQ1-compresso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344" y="1737360"/>
            <a:ext cx="6065520" cy="1275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URE-CAPACITOR-EQ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821" y="3127285"/>
            <a:ext cx="6115562" cy="1266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PURE-CAPACITOR-EQ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570" y="4403142"/>
            <a:ext cx="5653294" cy="1902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79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8365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C Circuit-</a:t>
            </a:r>
            <a:r>
              <a:rPr lang="en-IN" b="1" dirty="0" err="1" smtClean="0">
                <a:latin typeface="+mn-lt"/>
              </a:rPr>
              <a:t>Contd</a:t>
            </a:r>
            <a:r>
              <a:rPr lang="en-IN" b="1" dirty="0" smtClean="0">
                <a:latin typeface="+mn-lt"/>
              </a:rPr>
              <a:t>…</a:t>
            </a:r>
            <a:endParaRPr lang="en-IN" b="1" dirty="0">
              <a:latin typeface="+mn-lt"/>
            </a:endParaRPr>
          </a:p>
        </p:txBody>
      </p:sp>
      <p:pic>
        <p:nvPicPr>
          <p:cNvPr id="5" name="Picture 12" descr="PURE-CAPACITOR-EQ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351128"/>
            <a:ext cx="12091916" cy="53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39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63" y="257214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C Circuit- </a:t>
            </a:r>
            <a:r>
              <a:rPr lang="en-IN" b="1" dirty="0" err="1" smtClean="0">
                <a:latin typeface="+mn-lt"/>
              </a:rPr>
              <a:t>Contd</a:t>
            </a:r>
            <a:r>
              <a:rPr lang="en-IN" b="1" dirty="0" smtClean="0">
                <a:latin typeface="+mn-lt"/>
              </a:rPr>
              <a:t>…</a:t>
            </a:r>
            <a:endParaRPr lang="en-IN" b="1" dirty="0">
              <a:latin typeface="+mn-lt"/>
            </a:endParaRPr>
          </a:p>
        </p:txBody>
      </p:sp>
      <p:pic>
        <p:nvPicPr>
          <p:cNvPr id="5" name="Picture 14" descr="PURE-CAPACITOR-EQ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04" y="2012616"/>
            <a:ext cx="4256159" cy="19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21</a:t>
            </a:fld>
            <a:endParaRPr lang="en-IN"/>
          </a:p>
        </p:txBody>
      </p:sp>
      <p:pic>
        <p:nvPicPr>
          <p:cNvPr id="6" name="Picture 16" descr="PURE-CAPACITOR-EQ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0" y="5191876"/>
            <a:ext cx="7269709" cy="148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5063" y="3682910"/>
            <a:ext cx="1148686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3200" dirty="0" err="1">
                <a:solidFill>
                  <a:srgbClr val="000000"/>
                </a:solidFill>
                <a:latin typeface="Verdana" panose="020B0604030504040204" pitchFamily="34" charset="0"/>
              </a:rPr>
              <a:t>Xc</a:t>
            </a:r>
            <a:r>
              <a:rPr lang="en-IN" sz="3200" dirty="0">
                <a:solidFill>
                  <a:srgbClr val="000000"/>
                </a:solidFill>
                <a:latin typeface="Verdana" panose="020B0604030504040204" pitchFamily="34" charset="0"/>
              </a:rPr>
              <a:t> = 1/</a:t>
            </a:r>
            <a:r>
              <a:rPr lang="en-IN" sz="3200" dirty="0" err="1">
                <a:solidFill>
                  <a:srgbClr val="000000"/>
                </a:solidFill>
                <a:latin typeface="Verdana" panose="020B0604030504040204" pitchFamily="34" charset="0"/>
              </a:rPr>
              <a:t>ωC</a:t>
            </a:r>
            <a:r>
              <a:rPr lang="en-IN" sz="3200" dirty="0">
                <a:solidFill>
                  <a:srgbClr val="000000"/>
                </a:solidFill>
                <a:latin typeface="Verdana" panose="020B0604030504040204" pitchFamily="34" charset="0"/>
              </a:rPr>
              <a:t> is the opposition offered to the flow of alternating current by a pure capacitor and is called </a:t>
            </a:r>
            <a:r>
              <a:rPr lang="en-IN" sz="3200" b="1" dirty="0">
                <a:solidFill>
                  <a:srgbClr val="000000"/>
                </a:solidFill>
                <a:latin typeface="Verdana" panose="020B0604030504040204" pitchFamily="34" charset="0"/>
              </a:rPr>
              <a:t>Capacitive Reactance.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0895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/>
              <a:t>Reflection spot 4</a:t>
            </a:r>
            <a:endParaRPr lang="en-IN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sz="32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3200" dirty="0" smtClean="0"/>
              <a:t>Compare the current equations in L circuit and C circuit and determine how will the phasor diagram look like for the two cases?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62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Waveform and Phasor diagram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23</a:t>
            </a:fld>
            <a:endParaRPr lang="en-IN"/>
          </a:p>
        </p:txBody>
      </p:sp>
      <p:pic>
        <p:nvPicPr>
          <p:cNvPr id="5" name="Picture 2" descr="CAPACITIVE-CIRCUIT-WAVEFOR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0758"/>
            <a:ext cx="12091916" cy="500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2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1069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 smtClean="0">
                <a:latin typeface="+mn-lt"/>
              </a:rPr>
              <a:t>Power-C circuit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24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72789" y="1759292"/>
            <a:ext cx="918039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0000"/>
                </a:solidFill>
                <a:latin typeface="Verdana" panose="020B0604030504040204" pitchFamily="34" charset="0"/>
              </a:rPr>
              <a:t>Instantaneous power is given by p = vi</a:t>
            </a:r>
            <a:r>
              <a:rPr lang="en-IN" sz="3200" dirty="0" smtClean="0"/>
              <a:t/>
            </a:r>
            <a:br>
              <a:rPr lang="en-IN" sz="3200" dirty="0" smtClean="0"/>
            </a:br>
            <a:endParaRPr lang="en-IN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09" y="2388358"/>
            <a:ext cx="11459570" cy="407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8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9307"/>
            <a:ext cx="10058400" cy="1450757"/>
          </a:xfrm>
        </p:spPr>
        <p:txBody>
          <a:bodyPr/>
          <a:lstStyle/>
          <a:p>
            <a:r>
              <a:rPr lang="en-IN" b="1" dirty="0" err="1" smtClean="0">
                <a:latin typeface="+mn-lt"/>
              </a:rPr>
              <a:t>Contd</a:t>
            </a:r>
            <a:r>
              <a:rPr lang="en-IN" b="1" dirty="0" smtClean="0">
                <a:latin typeface="+mn-lt"/>
              </a:rPr>
              <a:t>…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81553"/>
            <a:ext cx="12192000" cy="465100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sz="32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3200" dirty="0" smtClean="0"/>
              <a:t>The </a:t>
            </a:r>
            <a:r>
              <a:rPr lang="en-IN" sz="3200" dirty="0"/>
              <a:t>average power consumed in a purely </a:t>
            </a:r>
            <a:r>
              <a:rPr lang="en-IN" sz="3200" dirty="0" smtClean="0"/>
              <a:t>capacitive </a:t>
            </a:r>
            <a:r>
              <a:rPr lang="en-IN" sz="3200" dirty="0"/>
              <a:t>circuit is zero.</a:t>
            </a:r>
          </a:p>
          <a:p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79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50" y="191070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Problem 1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49" y="1832086"/>
            <a:ext cx="11868093" cy="40233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 smtClean="0"/>
              <a:t>A 50 Hz alternating voltage of 150 V(</a:t>
            </a:r>
            <a:r>
              <a:rPr lang="en-IN" sz="3200" b="1" dirty="0" err="1" smtClean="0"/>
              <a:t>r.m.s</a:t>
            </a:r>
            <a:r>
              <a:rPr lang="en-IN" sz="3200" b="1" dirty="0" smtClean="0"/>
              <a:t>) is applied independently to a (</a:t>
            </a:r>
            <a:r>
              <a:rPr lang="en-IN" sz="3200" b="1" dirty="0" err="1" smtClean="0"/>
              <a:t>i</a:t>
            </a:r>
            <a:r>
              <a:rPr lang="en-IN" sz="3200" b="1" dirty="0" smtClean="0"/>
              <a:t>) resistance of 10</a:t>
            </a:r>
            <a:r>
              <a:rPr lang="el-GR" sz="3200" b="1" dirty="0" smtClean="0"/>
              <a:t>Ω</a:t>
            </a:r>
            <a:r>
              <a:rPr lang="en-IN" sz="3200" b="1" dirty="0" smtClean="0"/>
              <a:t> ii)inductance of 0.2 H iii) capacitance of 50</a:t>
            </a:r>
            <a:r>
              <a:rPr lang="el-GR" sz="3200" b="1" dirty="0" smtClean="0"/>
              <a:t>μ</a:t>
            </a:r>
            <a:r>
              <a:rPr lang="en-IN" sz="3200" b="1" dirty="0" smtClean="0"/>
              <a:t>F. Find the expression for instantaneous current in each case. Draw the phasor diagram</a:t>
            </a:r>
            <a:endParaRPr lang="en-IN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5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5978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84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2859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95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29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091916" cy="30707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5212"/>
            <a:ext cx="12192000" cy="388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1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AC through series RL circuit</a:t>
            </a:r>
            <a:endParaRPr lang="en-IN" b="1" dirty="0"/>
          </a:p>
        </p:txBody>
      </p:sp>
      <p:pic>
        <p:nvPicPr>
          <p:cNvPr id="8194" name="Picture 2" descr="R-L-SERIES-circui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90688"/>
            <a:ext cx="12192000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61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3676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RL circuit-</a:t>
            </a:r>
            <a:r>
              <a:rPr lang="en-IN" b="1" dirty="0" err="1" smtClean="0">
                <a:latin typeface="+mn-lt"/>
              </a:rPr>
              <a:t>Contd</a:t>
            </a:r>
            <a:r>
              <a:rPr lang="en-IN" b="1" dirty="0" smtClean="0">
                <a:latin typeface="+mn-lt"/>
              </a:rPr>
              <a:t>…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31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95535" y="1978926"/>
            <a:ext cx="1209646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000000"/>
                </a:solidFill>
                <a:latin typeface="+mj-lt"/>
              </a:rPr>
              <a:t>Current I is taken as a reference.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3200" b="1" dirty="0" smtClean="0">
              <a:solidFill>
                <a:srgbClr val="000000"/>
              </a:solidFill>
              <a:latin typeface="+mj-lt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 smtClean="0">
                <a:solidFill>
                  <a:srgbClr val="000000"/>
                </a:solidFill>
                <a:latin typeface="+mj-lt"/>
              </a:rPr>
              <a:t>V</a:t>
            </a:r>
            <a:r>
              <a:rPr lang="en-IN" sz="3200" b="1" baseline="-25000" dirty="0" smtClean="0">
                <a:solidFill>
                  <a:srgbClr val="000000"/>
                </a:solidFill>
                <a:latin typeface="+mj-lt"/>
              </a:rPr>
              <a:t>R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 = I</a:t>
            </a:r>
            <a:r>
              <a:rPr lang="en-IN" sz="3200" b="1" baseline="-25000" dirty="0">
                <a:solidFill>
                  <a:srgbClr val="000000"/>
                </a:solidFill>
                <a:latin typeface="+mj-lt"/>
              </a:rPr>
              <a:t>R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 is drawn in phase with the current I.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3200" b="1" dirty="0" smtClean="0">
              <a:solidFill>
                <a:srgbClr val="000000"/>
              </a:solidFill>
              <a:latin typeface="+mj-lt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 smtClean="0">
                <a:solidFill>
                  <a:srgbClr val="000000"/>
                </a:solidFill>
                <a:latin typeface="+mj-lt"/>
              </a:rPr>
              <a:t>V</a:t>
            </a:r>
            <a:r>
              <a:rPr lang="en-IN" sz="3200" b="1" baseline="-25000" dirty="0" smtClean="0">
                <a:solidFill>
                  <a:srgbClr val="000000"/>
                </a:solidFill>
                <a:latin typeface="+mj-lt"/>
              </a:rPr>
              <a:t>L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 =IX</a:t>
            </a:r>
            <a:r>
              <a:rPr lang="en-IN" sz="3200" b="1" baseline="-25000" dirty="0">
                <a:solidFill>
                  <a:srgbClr val="000000"/>
                </a:solidFill>
                <a:latin typeface="+mj-lt"/>
              </a:rPr>
              <a:t>L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 is drawn ahead of the current I. </a:t>
            </a:r>
            <a:endParaRPr lang="en-IN" sz="3200" b="1" dirty="0" smtClean="0">
              <a:solidFill>
                <a:srgbClr val="000000"/>
              </a:solidFill>
              <a:latin typeface="+mj-lt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IN" sz="3200" b="1" dirty="0" smtClean="0">
              <a:solidFill>
                <a:srgbClr val="000000"/>
              </a:solidFill>
              <a:latin typeface="+mj-lt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 smtClean="0">
                <a:solidFill>
                  <a:srgbClr val="000000"/>
                </a:solidFill>
                <a:latin typeface="+mj-lt"/>
              </a:rPr>
              <a:t>The 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vector sum of the two voltages drops V</a:t>
            </a:r>
            <a:r>
              <a:rPr lang="en-IN" sz="3200" b="1" baseline="-25000" dirty="0">
                <a:solidFill>
                  <a:srgbClr val="000000"/>
                </a:solidFill>
                <a:latin typeface="+mj-lt"/>
              </a:rPr>
              <a:t>R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 and V</a:t>
            </a:r>
            <a:r>
              <a:rPr lang="en-IN" sz="3200" b="1" baseline="-25000" dirty="0">
                <a:solidFill>
                  <a:srgbClr val="000000"/>
                </a:solidFill>
                <a:latin typeface="+mj-lt"/>
              </a:rPr>
              <a:t>L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 is equal to the applied voltage V.</a:t>
            </a:r>
          </a:p>
        </p:txBody>
      </p:sp>
    </p:spTree>
    <p:extLst>
      <p:ext uri="{BB962C8B-B14F-4D97-AF65-F5344CB8AC3E}">
        <p14:creationId xmlns:p14="http://schemas.microsoft.com/office/powerpoint/2010/main" val="200790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2955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Phasor diagram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32</a:t>
            </a:fld>
            <a:endParaRPr lang="en-IN"/>
          </a:p>
        </p:txBody>
      </p:sp>
      <p:pic>
        <p:nvPicPr>
          <p:cNvPr id="5" name="Picture 4" descr="PHASOR-DIAGRAM-OF-R-L-SERIES-CK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723711"/>
            <a:ext cx="12192000" cy="485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42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50" y="259308"/>
            <a:ext cx="10058400" cy="1450757"/>
          </a:xfrm>
        </p:spPr>
        <p:txBody>
          <a:bodyPr/>
          <a:lstStyle/>
          <a:p>
            <a:r>
              <a:rPr lang="en-IN" b="1" i="1" dirty="0" smtClean="0"/>
              <a:t>Reflection spot 5</a:t>
            </a:r>
            <a:endParaRPr lang="en-IN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50" y="1818438"/>
            <a:ext cx="12131950" cy="44458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sz="3200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3200" dirty="0" smtClean="0"/>
              <a:t>Why is current taken as reference in RL circuit?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73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28508"/>
            <a:ext cx="10058400" cy="1450757"/>
          </a:xfrm>
        </p:spPr>
        <p:txBody>
          <a:bodyPr/>
          <a:lstStyle/>
          <a:p>
            <a:r>
              <a:rPr lang="en-IN" b="1" dirty="0" smtClean="0"/>
              <a:t>RL circuit- </a:t>
            </a:r>
            <a:r>
              <a:rPr lang="en-IN" b="1" dirty="0" err="1" smtClean="0"/>
              <a:t>contd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34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12775" y="1895558"/>
            <a:ext cx="58619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solidFill>
                  <a:srgbClr val="000000"/>
                </a:solidFill>
                <a:latin typeface="+mj-lt"/>
              </a:rPr>
              <a:t>V</a:t>
            </a:r>
            <a:r>
              <a:rPr lang="en-IN" sz="3200" b="1" baseline="-25000" dirty="0">
                <a:solidFill>
                  <a:srgbClr val="000000"/>
                </a:solidFill>
                <a:latin typeface="+mj-lt"/>
              </a:rPr>
              <a:t>R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 = I</a:t>
            </a:r>
            <a:r>
              <a:rPr lang="en-IN" sz="3200" b="1" baseline="-25000" dirty="0">
                <a:solidFill>
                  <a:srgbClr val="000000"/>
                </a:solidFill>
                <a:latin typeface="+mj-lt"/>
              </a:rPr>
              <a:t>R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 and V</a:t>
            </a:r>
            <a:r>
              <a:rPr lang="en-IN" sz="3200" b="1" baseline="-25000" dirty="0">
                <a:solidFill>
                  <a:srgbClr val="000000"/>
                </a:solidFill>
                <a:latin typeface="+mj-lt"/>
              </a:rPr>
              <a:t>L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 = IX</a:t>
            </a:r>
            <a:r>
              <a:rPr lang="en-IN" sz="3200" b="1" baseline="-25000" dirty="0">
                <a:solidFill>
                  <a:srgbClr val="000000"/>
                </a:solidFill>
                <a:latin typeface="+mj-lt"/>
              </a:rPr>
              <a:t>L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 where X</a:t>
            </a:r>
            <a:r>
              <a:rPr lang="en-IN" sz="3200" b="1" baseline="-25000" dirty="0">
                <a:solidFill>
                  <a:srgbClr val="000000"/>
                </a:solidFill>
                <a:latin typeface="+mj-lt"/>
              </a:rPr>
              <a:t>L 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= 2π</a:t>
            </a:r>
            <a:r>
              <a:rPr lang="en-IN" sz="3200" b="1" dirty="0" err="1">
                <a:solidFill>
                  <a:srgbClr val="000000"/>
                </a:solidFill>
                <a:latin typeface="+mj-lt"/>
              </a:rPr>
              <a:t>fL</a:t>
            </a:r>
            <a:endParaRPr lang="en-IN" sz="3200" b="1" dirty="0">
              <a:latin typeface="+mj-lt"/>
            </a:endParaRPr>
          </a:p>
        </p:txBody>
      </p:sp>
      <p:sp>
        <p:nvSpPr>
          <p:cNvPr id="10" name="AutoShape 12" descr="RL Series Circuit Analysis (Phasor Diagram, Examples &amp; Derivation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230" name="Picture 14" descr="RL Series Circuit Analysis (Phasor Diagram, Examples &amp; Derivation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565779"/>
            <a:ext cx="11395880" cy="379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766782" y="6334780"/>
            <a:ext cx="3289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Impedance Triangle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38307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594"/>
            <a:ext cx="10058400" cy="1450757"/>
          </a:xfrm>
        </p:spPr>
        <p:txBody>
          <a:bodyPr>
            <a:normAutofit/>
          </a:bodyPr>
          <a:lstStyle/>
          <a:p>
            <a:r>
              <a:rPr lang="en-IN" sz="4800" b="1" dirty="0" smtClean="0">
                <a:latin typeface="+mn-lt"/>
              </a:rPr>
              <a:t>RL circuit </a:t>
            </a:r>
            <a:r>
              <a:rPr lang="en-IN" sz="4800" b="1" dirty="0" err="1" smtClean="0">
                <a:latin typeface="+mn-lt"/>
              </a:rPr>
              <a:t>Contd</a:t>
            </a:r>
            <a:r>
              <a:rPr lang="en-IN" sz="4800" b="1" dirty="0" smtClean="0">
                <a:latin typeface="+mn-lt"/>
              </a:rPr>
              <a:t>…</a:t>
            </a:r>
            <a:endParaRPr lang="en-IN" sz="48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35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096642" y="5765752"/>
            <a:ext cx="1856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Impedance</a:t>
            </a:r>
            <a:endParaRPr lang="en-IN" sz="2800" b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9" y="1716143"/>
            <a:ext cx="11269441" cy="51244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943" y="5626946"/>
            <a:ext cx="4539494" cy="1141479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3202325" y="6105792"/>
            <a:ext cx="1696479" cy="366359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6752134" y="4887219"/>
            <a:ext cx="41079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/>
              <a:t>Z=</a:t>
            </a:r>
            <a:r>
              <a:rPr lang="en-IN" sz="3600" b="1" dirty="0" err="1"/>
              <a:t>R+jX</a:t>
            </a:r>
            <a:r>
              <a:rPr lang="en-IN" sz="3600" b="1" baseline="-25000" dirty="0" err="1"/>
              <a:t>L</a:t>
            </a:r>
            <a:endParaRPr lang="en-IN" sz="3600" b="1" dirty="0"/>
          </a:p>
        </p:txBody>
      </p:sp>
      <p:cxnSp>
        <p:nvCxnSpPr>
          <p:cNvPr id="20" name="Curved Connector 19"/>
          <p:cNvCxnSpPr/>
          <p:nvPr/>
        </p:nvCxnSpPr>
        <p:spPr>
          <a:xfrm flipV="1">
            <a:off x="5441149" y="5094831"/>
            <a:ext cx="1310985" cy="955912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589361" y="5533550"/>
            <a:ext cx="1851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dirty="0" smtClean="0"/>
              <a:t>Impedance</a:t>
            </a:r>
            <a:endParaRPr lang="en-IN" sz="2400" b="1" i="1" dirty="0"/>
          </a:p>
        </p:txBody>
      </p:sp>
    </p:spTree>
    <p:extLst>
      <p:ext uri="{BB962C8B-B14F-4D97-AF65-F5344CB8AC3E}">
        <p14:creationId xmlns:p14="http://schemas.microsoft.com/office/powerpoint/2010/main" val="234276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+mn-lt"/>
              </a:rPr>
              <a:t>Phase angle-RL circuit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36</a:t>
            </a:fld>
            <a:endParaRPr lang="en-IN"/>
          </a:p>
        </p:txBody>
      </p:sp>
      <p:pic>
        <p:nvPicPr>
          <p:cNvPr id="5" name="Picture 8" descr="RL-SERIES-CKT-EQ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83" y="2103409"/>
            <a:ext cx="9526136" cy="358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78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Power in RL circuit</a:t>
            </a:r>
            <a:endParaRPr lang="en-IN" b="1" dirty="0"/>
          </a:p>
        </p:txBody>
      </p:sp>
      <p:pic>
        <p:nvPicPr>
          <p:cNvPr id="10242" name="Picture 2" descr="https://circuitglobe.com/wp-content/uploads/2015/10/RL-SERIES-CKT-EQ6-compressor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184" y="1508718"/>
            <a:ext cx="4702294" cy="96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37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70833" y="1498963"/>
            <a:ext cx="7165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Instantaneous power</a:t>
            </a:r>
            <a:endParaRPr lang="en-IN" sz="3200" dirty="0"/>
          </a:p>
        </p:txBody>
      </p:sp>
      <p:pic>
        <p:nvPicPr>
          <p:cNvPr id="10244" name="Picture 4" descr="RL-SERIES-CKT-EQ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33" y="2476789"/>
            <a:ext cx="11248128" cy="438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42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98" y="313898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Average Power-RL Circuit</a:t>
            </a:r>
            <a:endParaRPr lang="en-IN" b="1" dirty="0">
              <a:latin typeface="+mn-lt"/>
            </a:endParaRPr>
          </a:p>
        </p:txBody>
      </p:sp>
      <p:pic>
        <p:nvPicPr>
          <p:cNvPr id="5" name="Picture 6" descr="equation-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1820"/>
            <a:ext cx="12192000" cy="379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38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96788" y="5954137"/>
            <a:ext cx="7506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err="1">
                <a:solidFill>
                  <a:srgbClr val="000000"/>
                </a:solidFill>
                <a:latin typeface="+mj-lt"/>
              </a:rPr>
              <a:t>cosϕ</a:t>
            </a:r>
            <a:r>
              <a:rPr lang="en-IN" sz="3200" b="1" dirty="0">
                <a:solidFill>
                  <a:srgbClr val="000000"/>
                </a:solidFill>
                <a:latin typeface="+mj-lt"/>
              </a:rPr>
              <a:t> is called the power factor of the circuit</a:t>
            </a:r>
            <a:r>
              <a:rPr lang="en-IN" b="1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8315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108" y="378773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 smtClean="0">
                <a:latin typeface="+mn-lt"/>
              </a:rPr>
              <a:t>Power Factor</a:t>
            </a:r>
            <a:endParaRPr lang="en-IN" sz="48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39</a:t>
            </a:fld>
            <a:endParaRPr lang="en-IN"/>
          </a:p>
        </p:txBody>
      </p:sp>
      <p:pic>
        <p:nvPicPr>
          <p:cNvPr id="5" name="Picture 8" descr="RL-SERIES-CKT-EQ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36" y="1897832"/>
            <a:ext cx="8780700" cy="281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55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AC through series RC Circuit</a:t>
            </a:r>
            <a:endParaRPr lang="en-IN" b="1" dirty="0"/>
          </a:p>
        </p:txBody>
      </p:sp>
      <p:pic>
        <p:nvPicPr>
          <p:cNvPr id="11266" name="Picture 2" descr="R-C-SERIES-circui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172" y="1784905"/>
            <a:ext cx="11113827" cy="471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48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2694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 smtClean="0">
                <a:latin typeface="+mn-lt"/>
              </a:rPr>
              <a:t>RC Circuit-</a:t>
            </a:r>
            <a:r>
              <a:rPr lang="en-IN" sz="4800" b="1" dirty="0" err="1" smtClean="0">
                <a:latin typeface="+mn-lt"/>
              </a:rPr>
              <a:t>Contd</a:t>
            </a:r>
            <a:r>
              <a:rPr lang="en-IN" sz="4800" b="1" dirty="0" smtClean="0">
                <a:latin typeface="+mn-lt"/>
              </a:rPr>
              <a:t>…</a:t>
            </a:r>
            <a:endParaRPr lang="en-IN" sz="48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41</a:t>
            </a:fld>
            <a:endParaRPr lang="en-IN"/>
          </a:p>
        </p:txBody>
      </p:sp>
      <p:pic>
        <p:nvPicPr>
          <p:cNvPr id="5" name="Picture 6" descr="RC-SERIES-CKT-EQ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53" y="1981044"/>
            <a:ext cx="8288396" cy="418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RC-SERIES-CKT-EQ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335" y="4385221"/>
            <a:ext cx="4061583" cy="165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ight Arrow 6"/>
          <p:cNvSpPr/>
          <p:nvPr/>
        </p:nvSpPr>
        <p:spPr>
          <a:xfrm>
            <a:off x="4844955" y="5199082"/>
            <a:ext cx="1992573" cy="177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479506" y="6136700"/>
            <a:ext cx="65845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 smtClean="0"/>
              <a:t>In complex terms </a:t>
            </a:r>
            <a:r>
              <a:rPr lang="en-IN" sz="3200" b="1" dirty="0" smtClean="0"/>
              <a:t>Z=R-</a:t>
            </a:r>
            <a:r>
              <a:rPr lang="en-IN" sz="3200" b="1" dirty="0" err="1" smtClean="0"/>
              <a:t>jXc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28995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82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 smtClean="0">
                <a:latin typeface="+mn-lt"/>
              </a:rPr>
              <a:t>Phase Angle-RC Circuit</a:t>
            </a:r>
            <a:endParaRPr lang="en-IN" sz="48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42</a:t>
            </a:fld>
            <a:endParaRPr lang="en-IN"/>
          </a:p>
        </p:txBody>
      </p:sp>
      <p:pic>
        <p:nvPicPr>
          <p:cNvPr id="5" name="Picture 10" descr="https://circuitglobe.com/wp-content/uploads/2015/10/RC-SERIES-CKT-EQ3-compress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187" y="1628631"/>
            <a:ext cx="4752138" cy="414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HASOR-DIAGRAM-OF-R-C-SERIES-CKT-compress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2" y="1514902"/>
            <a:ext cx="7252205" cy="5343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77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/>
              <a:t>Reflection spot 6</a:t>
            </a:r>
            <a:endParaRPr lang="en-IN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3200" dirty="0" smtClean="0"/>
          </a:p>
          <a:p>
            <a:r>
              <a:rPr lang="en-IN" sz="3200" dirty="0" smtClean="0"/>
              <a:t>From the phasor diagram what will be the expression of current with respect to voltage in RL and RC circuit?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41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08" y="251108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 smtClean="0">
                <a:latin typeface="+mn-lt"/>
              </a:rPr>
              <a:t>Power in RC circuit</a:t>
            </a:r>
            <a:endParaRPr lang="en-IN" sz="48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608" y="1446663"/>
            <a:ext cx="10058400" cy="4531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Instantaneous power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44</a:t>
            </a:fld>
            <a:endParaRPr lang="en-IN"/>
          </a:p>
        </p:txBody>
      </p:sp>
      <p:pic>
        <p:nvPicPr>
          <p:cNvPr id="12290" name="Picture 2" descr="RC-SERIES-CKT-EQ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05" y="1941795"/>
            <a:ext cx="10980989" cy="477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29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34" y="32067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4800" b="1" dirty="0" smtClean="0">
                <a:solidFill>
                  <a:srgbClr val="000000"/>
                </a:solidFill>
                <a:latin typeface="+mn-lt"/>
              </a:rPr>
              <a:t>Average power and Power Factor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45</a:t>
            </a:fld>
            <a:endParaRPr lang="en-IN"/>
          </a:p>
        </p:txBody>
      </p:sp>
      <p:pic>
        <p:nvPicPr>
          <p:cNvPr id="5" name="Content Placeholder 4" descr="RC-SERIES-CKT-EQ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4" y="1196537"/>
            <a:ext cx="10939818" cy="393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691116" y="4234950"/>
            <a:ext cx="66294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err="1">
                <a:solidFill>
                  <a:srgbClr val="000000"/>
                </a:solidFill>
                <a:latin typeface="Verdana" panose="020B0604030504040204" pitchFamily="34" charset="0"/>
              </a:rPr>
              <a:t>cosϕ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 is called the </a:t>
            </a:r>
            <a:r>
              <a:rPr lang="en-IN" sz="2800" b="1" dirty="0">
                <a:solidFill>
                  <a:srgbClr val="000000"/>
                </a:solidFill>
                <a:latin typeface="Verdana" panose="020B0604030504040204" pitchFamily="34" charset="0"/>
              </a:rPr>
              <a:t>power factor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 of the circuit.</a:t>
            </a:r>
          </a:p>
          <a:p>
            <a:r>
              <a:rPr lang="en-IN" b="0" i="0" u="none" strike="noStrike" dirty="0" smtClean="0">
                <a:solidFill>
                  <a:srgbClr val="4682B4"/>
                </a:solidFill>
                <a:effectLst/>
                <a:latin typeface="Verdana" panose="020B0604030504040204" pitchFamily="34" charset="0"/>
                <a:hlinkClick r:id="rId3"/>
              </a:rPr>
              <a:t/>
            </a:r>
            <a:br>
              <a:rPr lang="en-IN" b="0" i="0" u="none" strike="noStrike" dirty="0" smtClean="0">
                <a:solidFill>
                  <a:srgbClr val="4682B4"/>
                </a:solidFill>
                <a:effectLst/>
                <a:latin typeface="Verdana" panose="020B0604030504040204" pitchFamily="34" charset="0"/>
                <a:hlinkClick r:id="rId3"/>
              </a:rPr>
            </a:br>
            <a:endParaRPr lang="en-IN" dirty="0"/>
          </a:p>
        </p:txBody>
      </p:sp>
      <p:pic>
        <p:nvPicPr>
          <p:cNvPr id="7" name="Picture 6" descr="https://circuitglobe.com/wp-content/uploads/2015/10/RC-SERIES-CKT-EQ8-compresso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4" y="5129761"/>
            <a:ext cx="9261144" cy="1421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/>
          <p:cNvSpPr/>
          <p:nvPr/>
        </p:nvSpPr>
        <p:spPr>
          <a:xfrm>
            <a:off x="5202640" y="4582497"/>
            <a:ext cx="573206" cy="2909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07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43" y="-559558"/>
            <a:ext cx="10058400" cy="157904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sz="5300" b="1" dirty="0" smtClean="0">
                <a:latin typeface="+mn-lt"/>
              </a:rPr>
              <a:t>Power in AC circuits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73708"/>
            <a:ext cx="12192000" cy="5286077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3500" b="1" dirty="0"/>
              <a:t>Active Power: (P</a:t>
            </a:r>
            <a:r>
              <a:rPr lang="en-IN" sz="3500" b="1" dirty="0" smtClean="0"/>
              <a:t>)-</a:t>
            </a:r>
            <a:r>
              <a:rPr lang="en-IN" sz="3500" b="1" dirty="0"/>
              <a:t> the actual power which is really transferred to the </a:t>
            </a:r>
            <a:r>
              <a:rPr lang="en-IN" sz="3500" b="1" dirty="0" smtClean="0"/>
              <a:t>load-</a:t>
            </a:r>
            <a:r>
              <a:rPr lang="en-IN" sz="3500" b="1" dirty="0"/>
              <a:t>Real Power (Actual Power, True Power, Watt-full Power, Useful Power, Real Power, and Active Power) and denoted by (P) and measured in units of Watts (W</a:t>
            </a:r>
            <a:r>
              <a:rPr lang="en-IN" sz="3500" b="1" dirty="0" smtClean="0"/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IN" sz="3500" b="1" dirty="0" smtClean="0"/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3500" b="1" dirty="0" smtClean="0"/>
              <a:t>Reactive </a:t>
            </a:r>
            <a:r>
              <a:rPr lang="en-IN" sz="3500" b="1" dirty="0"/>
              <a:t>Power: (Q) </a:t>
            </a:r>
            <a:r>
              <a:rPr lang="en-IN" sz="3500" b="1" dirty="0" smtClean="0"/>
              <a:t>-energy </a:t>
            </a:r>
            <a:r>
              <a:rPr lang="en-IN" sz="3500" b="1" dirty="0"/>
              <a:t>is first stored and then released in the form of </a:t>
            </a:r>
            <a:r>
              <a:rPr lang="en-IN" sz="3500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magnetic field</a:t>
            </a:r>
            <a:r>
              <a:rPr lang="en-IN" sz="3500" b="1" dirty="0"/>
              <a:t> or electrostatic field in case of </a:t>
            </a:r>
            <a:r>
              <a:rPr lang="en-IN" sz="3500" b="1" dirty="0">
                <a:hlinkClick r:id="rId3"/>
              </a:rPr>
              <a:t>inductor </a:t>
            </a:r>
            <a:r>
              <a:rPr lang="en-IN" sz="3500" b="1" dirty="0"/>
              <a:t>and </a:t>
            </a:r>
            <a:r>
              <a:rPr lang="en-IN" sz="3500" b="1" dirty="0">
                <a:hlinkClick r:id="rId4"/>
              </a:rPr>
              <a:t>capacitor</a:t>
            </a:r>
            <a:r>
              <a:rPr lang="en-IN" sz="3500" b="1" dirty="0"/>
              <a:t> </a:t>
            </a:r>
            <a:r>
              <a:rPr lang="en-IN" sz="3500" b="1" dirty="0" smtClean="0"/>
              <a:t>respectively- unit </a:t>
            </a:r>
            <a:r>
              <a:rPr lang="en-IN" sz="3500" b="1" dirty="0"/>
              <a:t>of Reactive Power is Volt-Ampere reactive i.e. </a:t>
            </a:r>
            <a:r>
              <a:rPr lang="en-IN" sz="3500" b="1" dirty="0" smtClean="0"/>
              <a:t>VAR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IN" sz="3500" b="1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b="1" dirty="0"/>
          </a:p>
          <a:p>
            <a:pPr>
              <a:buFont typeface="Wingdings" panose="05000000000000000000" pitchFamily="2" charset="2"/>
              <a:buChar char="§"/>
            </a:pP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b="1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b="1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7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Power-</a:t>
            </a:r>
            <a:r>
              <a:rPr lang="en-IN" dirty="0" err="1" smtClean="0"/>
              <a:t>Contd</a:t>
            </a:r>
            <a:r>
              <a:rPr lang="en-IN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3200" b="1" dirty="0"/>
              <a:t>Apparent Power: (S)- Total power in an AC circuit, both dissipated and absorbed/returned is referred to as apparent power-measured in units of Volt-amp (VA).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49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2137"/>
            <a:ext cx="10058400" cy="1450757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Power Triangle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48</a:t>
            </a:fld>
            <a:endParaRPr lang="en-IN"/>
          </a:p>
        </p:txBody>
      </p:sp>
      <p:pic>
        <p:nvPicPr>
          <p:cNvPr id="2050" name="Picture 2" descr="The Power Triangle – WE ARE INFINITE ENERG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68" y="1378423"/>
            <a:ext cx="10699845" cy="53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70245" y="1832894"/>
            <a:ext cx="313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FF0000"/>
                </a:solidFill>
              </a:rPr>
              <a:t>VI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04282" y="2644515"/>
            <a:ext cx="2313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VI sin</a:t>
            </a:r>
            <a:r>
              <a:rPr lang="en-IN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𝝓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13511" y="6198254"/>
            <a:ext cx="13274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VI </a:t>
            </a:r>
            <a:r>
              <a:rPr lang="en-IN" sz="2800" b="1" dirty="0" smtClean="0">
                <a:solidFill>
                  <a:srgbClr val="FF0000"/>
                </a:solidFill>
              </a:rPr>
              <a:t>cos</a:t>
            </a:r>
            <a:r>
              <a:rPr lang="en-IN" sz="28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𝝓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44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Problem 2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 smtClean="0"/>
              <a:t>A resistance of 120 ohms and capacitive reactance of 250 ohms are connected in series across an </a:t>
            </a:r>
            <a:r>
              <a:rPr lang="en-IN" sz="3200" b="1" dirty="0" err="1" smtClean="0"/>
              <a:t>a.c</a:t>
            </a:r>
            <a:r>
              <a:rPr lang="en-IN" sz="3200" b="1" dirty="0" smtClean="0"/>
              <a:t> voltage </a:t>
            </a:r>
            <a:r>
              <a:rPr lang="en-IN" sz="3200" b="1" dirty="0" err="1" smtClean="0"/>
              <a:t>source.If</a:t>
            </a:r>
            <a:r>
              <a:rPr lang="en-IN" sz="3200" b="1" dirty="0" smtClean="0"/>
              <a:t> a current of 0.9A is flowing in the circuit,  find </a:t>
            </a:r>
            <a:r>
              <a:rPr lang="en-IN" sz="3200" b="1" dirty="0" err="1" smtClean="0"/>
              <a:t>i</a:t>
            </a:r>
            <a:r>
              <a:rPr lang="en-IN" sz="3200" b="1" dirty="0" smtClean="0"/>
              <a:t>) power factor ii)supply voltage iii)voltage across resistance and capacitance iv)active and reactive power</a:t>
            </a:r>
            <a:endParaRPr lang="en-IN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62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50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9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18364"/>
            <a:ext cx="12192000" cy="663963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24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0492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 smtClean="0">
                <a:latin typeface="+mn-lt"/>
              </a:rPr>
              <a:t>A.C in Series RLC circuit</a:t>
            </a:r>
            <a:endParaRPr lang="en-IN" sz="48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52</a:t>
            </a:fld>
            <a:endParaRPr lang="en-IN"/>
          </a:p>
        </p:txBody>
      </p:sp>
      <p:pic>
        <p:nvPicPr>
          <p:cNvPr id="14346" name="Picture 10" descr="RLC-SERIES-CIRCU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82010"/>
            <a:ext cx="12191999" cy="477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5923129" y="1882580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IN" sz="20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97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6887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 smtClean="0">
                <a:latin typeface="+mn-lt"/>
              </a:rPr>
              <a:t>Series RLC circuit-</a:t>
            </a:r>
            <a:r>
              <a:rPr lang="en-IN" sz="4800" b="1" dirty="0" err="1" smtClean="0">
                <a:latin typeface="+mn-lt"/>
              </a:rPr>
              <a:t>Contd</a:t>
            </a:r>
            <a:r>
              <a:rPr lang="en-IN" sz="4800" b="1" dirty="0" smtClean="0">
                <a:latin typeface="+mn-lt"/>
              </a:rPr>
              <a:t>…</a:t>
            </a:r>
            <a:endParaRPr lang="en-IN" sz="48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137" y="1296538"/>
            <a:ext cx="10971663" cy="5561462"/>
          </a:xfrm>
        </p:spPr>
        <p:txBody>
          <a:bodyPr>
            <a:normAutofit/>
          </a:bodyPr>
          <a:lstStyle/>
          <a:p>
            <a:pPr algn="just"/>
            <a:r>
              <a:rPr lang="en-IN" sz="3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V</a:t>
            </a:r>
            <a:r>
              <a:rPr lang="en-IN" sz="3200" baseline="-25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R</a:t>
            </a:r>
            <a:r>
              <a:rPr lang="en-IN" sz="3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 = IR that is the voltage across the resistance R and is in phase with the current I.</a:t>
            </a:r>
          </a:p>
          <a:p>
            <a:pPr algn="just"/>
            <a:endParaRPr lang="en-IN" sz="32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/>
            <a:r>
              <a:rPr lang="en-IN" sz="3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V</a:t>
            </a:r>
            <a:r>
              <a:rPr lang="en-IN" sz="3200" baseline="-25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L</a:t>
            </a:r>
            <a:r>
              <a:rPr lang="en-IN" sz="3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 = IX</a:t>
            </a:r>
            <a:r>
              <a:rPr lang="en-IN" sz="3200" baseline="-25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L</a:t>
            </a:r>
            <a:r>
              <a:rPr lang="en-IN" sz="3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 that is the voltage across the inductance L and it leads the current I by an angle of 90 degrees</a:t>
            </a:r>
          </a:p>
          <a:p>
            <a:pPr algn="just"/>
            <a:endParaRPr lang="en-IN" sz="32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IN" sz="32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285750" indent="-285750"/>
            <a:r>
              <a:rPr lang="en-IN" sz="3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V</a:t>
            </a:r>
            <a:r>
              <a:rPr lang="en-IN" sz="3200" baseline="-25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C</a:t>
            </a:r>
            <a:r>
              <a:rPr lang="en-IN" sz="3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 = IX</a:t>
            </a:r>
            <a:r>
              <a:rPr lang="en-IN" sz="3200" baseline="-25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C</a:t>
            </a:r>
            <a:r>
              <a:rPr lang="en-IN" sz="3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 that is the voltage across capacitor C and it lags the current I by an angle of 90 degrees.</a:t>
            </a:r>
            <a:endParaRPr lang="en-IN" sz="3200" dirty="0" smtClean="0"/>
          </a:p>
          <a:p>
            <a:pPr algn="just"/>
            <a:endParaRPr lang="en-IN" sz="32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29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/>
              <a:t>Reflection spot 8</a:t>
            </a:r>
            <a:endParaRPr lang="en-IN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pPr algn="just"/>
            <a:r>
              <a:rPr lang="en-IN" sz="3200" dirty="0" smtClean="0"/>
              <a:t>What will be the reference phasor for RLC circuit phasor diagram?</a:t>
            </a:r>
          </a:p>
          <a:p>
            <a:pPr algn="just"/>
            <a:r>
              <a:rPr lang="en-IN" sz="3200" dirty="0" smtClean="0"/>
              <a:t>How will the phasors be aligned due to the combined effect of L&amp;C?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56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Series RLC circuit- </a:t>
            </a:r>
            <a:r>
              <a:rPr lang="en-IN" b="1" dirty="0" err="1" smtClean="0"/>
              <a:t>contd</a:t>
            </a:r>
            <a:r>
              <a:rPr lang="en-IN" b="1" dirty="0" smtClean="0"/>
              <a:t>…</a:t>
            </a:r>
            <a:endParaRPr lang="en-IN" b="1" dirty="0"/>
          </a:p>
        </p:txBody>
      </p:sp>
      <p:pic>
        <p:nvPicPr>
          <p:cNvPr id="5" name="Picture 12" descr="phasor-diagram-of-RLC-Series-circui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7360"/>
            <a:ext cx="7533564" cy="512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55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7566546" y="2336757"/>
            <a:ext cx="2088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Phase angle</a:t>
            </a:r>
            <a:endParaRPr lang="en-IN" sz="2800" b="1" dirty="0"/>
          </a:p>
        </p:txBody>
      </p:sp>
      <p:pic>
        <p:nvPicPr>
          <p:cNvPr id="10" name="Picture 6" descr="RLC-SERIES-CKT-EQ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519" y="3006424"/>
            <a:ext cx="4385481" cy="311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32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34" y="333992"/>
            <a:ext cx="10515600" cy="1325563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Series RLC circuit-</a:t>
            </a:r>
            <a:r>
              <a:rPr lang="en-IN" b="1" dirty="0" err="1" smtClean="0">
                <a:latin typeface="+mn-lt"/>
              </a:rPr>
              <a:t>Contd</a:t>
            </a:r>
            <a:r>
              <a:rPr lang="en-IN" b="1" dirty="0" smtClean="0">
                <a:latin typeface="+mn-lt"/>
              </a:rPr>
              <a:t>…</a:t>
            </a:r>
            <a:endParaRPr lang="en-IN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56</a:t>
            </a:fld>
            <a:endParaRPr lang="en-IN"/>
          </a:p>
        </p:txBody>
      </p:sp>
      <p:pic>
        <p:nvPicPr>
          <p:cNvPr id="5" name="Picture 2" descr="RLC-SERIES-CKT-EQ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0" y="1683982"/>
            <a:ext cx="11336172" cy="506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LC-SERIES-CKT-EQ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160" y="4763069"/>
            <a:ext cx="3978840" cy="1958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ight Arrow 6"/>
          <p:cNvSpPr/>
          <p:nvPr/>
        </p:nvSpPr>
        <p:spPr>
          <a:xfrm>
            <a:off x="6469039" y="5472752"/>
            <a:ext cx="1624083" cy="47767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839803" y="4064941"/>
            <a:ext cx="5352197" cy="65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n-IN" sz="3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complex terms: Z=</a:t>
            </a:r>
            <a:r>
              <a:rPr lang="en-IN" sz="32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R+j</a:t>
            </a:r>
            <a:r>
              <a:rPr lang="en-IN" sz="3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32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IN" sz="3200" baseline="-250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IN" sz="32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-X</a:t>
            </a:r>
            <a:r>
              <a:rPr lang="en-IN" sz="3200" baseline="-250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IN" sz="3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Bent Arrow 8"/>
          <p:cNvSpPr/>
          <p:nvPr/>
        </p:nvSpPr>
        <p:spPr>
          <a:xfrm>
            <a:off x="6469039" y="4299046"/>
            <a:ext cx="368490" cy="1310138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03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78" y="140300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 smtClean="0">
                <a:latin typeface="+mn-lt"/>
              </a:rPr>
              <a:t>Power in RLC circuit</a:t>
            </a:r>
            <a:endParaRPr lang="en-IN" sz="4800" b="1" dirty="0">
              <a:latin typeface="+mn-lt"/>
            </a:endParaRPr>
          </a:p>
        </p:txBody>
      </p:sp>
      <p:pic>
        <p:nvPicPr>
          <p:cNvPr id="16386" name="Picture 2" descr="RLC-SERIES-CKT-EQ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3" y="1465863"/>
            <a:ext cx="5894924" cy="82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57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36477" y="2341114"/>
            <a:ext cx="573205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When X</a:t>
            </a:r>
            <a:r>
              <a:rPr lang="en-IN" sz="2800" baseline="-25000" dirty="0">
                <a:solidFill>
                  <a:srgbClr val="000000"/>
                </a:solidFill>
                <a:latin typeface="Verdana" panose="020B0604030504040204" pitchFamily="34" charset="0"/>
              </a:rPr>
              <a:t>L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 &gt; X</a:t>
            </a:r>
            <a:r>
              <a:rPr lang="en-IN" sz="2800" baseline="-25000" dirty="0">
                <a:solidFill>
                  <a:srgbClr val="000000"/>
                </a:solidFill>
                <a:latin typeface="Verdana" panose="020B0604030504040204" pitchFamily="34" charset="0"/>
              </a:rPr>
              <a:t>C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, the phase angle ϕ is </a:t>
            </a:r>
            <a:r>
              <a:rPr lang="en-IN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positive-RL 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series circuit </a:t>
            </a:r>
            <a:r>
              <a:rPr lang="en-IN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-current 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lags behind the applied voltage </a:t>
            </a:r>
            <a:r>
              <a:rPr lang="en-IN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-power 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factor is </a:t>
            </a:r>
            <a:r>
              <a:rPr lang="en-IN" sz="2800" b="1" dirty="0">
                <a:solidFill>
                  <a:srgbClr val="000000"/>
                </a:solidFill>
                <a:latin typeface="Verdana" panose="020B0604030504040204" pitchFamily="34" charset="0"/>
              </a:rPr>
              <a:t>lagging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When 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X</a:t>
            </a:r>
            <a:r>
              <a:rPr lang="en-IN" sz="2800" baseline="-25000" dirty="0">
                <a:solidFill>
                  <a:srgbClr val="000000"/>
                </a:solidFill>
                <a:latin typeface="Verdana" panose="020B0604030504040204" pitchFamily="34" charset="0"/>
              </a:rPr>
              <a:t>L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 &lt; X</a:t>
            </a:r>
            <a:r>
              <a:rPr lang="en-IN" sz="2800" baseline="-25000" dirty="0">
                <a:solidFill>
                  <a:srgbClr val="000000"/>
                </a:solidFill>
                <a:latin typeface="Verdana" panose="020B0604030504040204" pitchFamily="34" charset="0"/>
              </a:rPr>
              <a:t>C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, the phase angle ϕ is </a:t>
            </a:r>
            <a:r>
              <a:rPr lang="en-IN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negative- </a:t>
            </a:r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series RC circuit </a:t>
            </a:r>
            <a:r>
              <a:rPr lang="en-IN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–</a:t>
            </a:r>
            <a:r>
              <a:rPr lang="en-IN" sz="28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leading power factor.</a:t>
            </a:r>
            <a:endParaRPr lang="en-IN" sz="2800" b="1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32812" y="2367663"/>
            <a:ext cx="55591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000000"/>
                </a:solidFill>
              </a:rPr>
              <a:t>When X</a:t>
            </a:r>
            <a:r>
              <a:rPr lang="en-IN" sz="3200" baseline="-25000" dirty="0">
                <a:solidFill>
                  <a:srgbClr val="000000"/>
                </a:solidFill>
              </a:rPr>
              <a:t>L</a:t>
            </a:r>
            <a:r>
              <a:rPr lang="en-IN" sz="3200" dirty="0">
                <a:solidFill>
                  <a:srgbClr val="000000"/>
                </a:solidFill>
              </a:rPr>
              <a:t> = X</a:t>
            </a:r>
            <a:r>
              <a:rPr lang="en-IN" sz="3200" baseline="-25000" dirty="0">
                <a:solidFill>
                  <a:srgbClr val="000000"/>
                </a:solidFill>
              </a:rPr>
              <a:t>C</a:t>
            </a:r>
            <a:r>
              <a:rPr lang="en-IN" sz="3200" dirty="0">
                <a:solidFill>
                  <a:srgbClr val="000000"/>
                </a:solidFill>
              </a:rPr>
              <a:t>, the phase angle ϕ is </a:t>
            </a:r>
            <a:r>
              <a:rPr lang="en-IN" sz="3200" dirty="0" smtClean="0">
                <a:solidFill>
                  <a:srgbClr val="000000"/>
                </a:solidFill>
              </a:rPr>
              <a:t>zero- </a:t>
            </a:r>
            <a:r>
              <a:rPr lang="en-IN" sz="3200" dirty="0">
                <a:solidFill>
                  <a:srgbClr val="000000"/>
                </a:solidFill>
              </a:rPr>
              <a:t>the circuit behaves like a purely resistive </a:t>
            </a:r>
            <a:r>
              <a:rPr lang="en-IN" sz="3200" dirty="0" smtClean="0">
                <a:solidFill>
                  <a:srgbClr val="000000"/>
                </a:solidFill>
              </a:rPr>
              <a:t>circuit-the </a:t>
            </a:r>
            <a:r>
              <a:rPr lang="en-IN" sz="3200" dirty="0">
                <a:solidFill>
                  <a:srgbClr val="000000"/>
                </a:solidFill>
              </a:rPr>
              <a:t>current and voltage are in phase with each </a:t>
            </a:r>
            <a:r>
              <a:rPr lang="en-IN" sz="3200" dirty="0" smtClean="0">
                <a:solidFill>
                  <a:srgbClr val="000000"/>
                </a:solidFill>
              </a:rPr>
              <a:t>other-power </a:t>
            </a:r>
            <a:r>
              <a:rPr lang="en-IN" sz="3200" dirty="0">
                <a:solidFill>
                  <a:srgbClr val="000000"/>
                </a:solidFill>
              </a:rPr>
              <a:t>factor is </a:t>
            </a:r>
            <a:r>
              <a:rPr lang="en-IN" sz="3200" b="1" dirty="0">
                <a:solidFill>
                  <a:srgbClr val="000000"/>
                </a:solidFill>
              </a:rPr>
              <a:t>unity</a:t>
            </a:r>
            <a:r>
              <a:rPr lang="en-IN" sz="32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978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6015"/>
            <a:ext cx="10515600" cy="1325563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Impedance triangle-RLC circuit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12" y="1263064"/>
            <a:ext cx="10467833" cy="4023360"/>
          </a:xfrm>
        </p:spPr>
        <p:txBody>
          <a:bodyPr>
            <a:normAutofit/>
          </a:bodyPr>
          <a:lstStyle/>
          <a:p>
            <a:r>
              <a:rPr lang="en-IN" sz="3200" b="1" dirty="0"/>
              <a:t>when (X</a:t>
            </a:r>
            <a:r>
              <a:rPr lang="en-IN" sz="3200" b="1" baseline="-25000" dirty="0"/>
              <a:t>L</a:t>
            </a:r>
            <a:r>
              <a:rPr lang="en-IN" sz="3200" b="1" dirty="0"/>
              <a:t> &gt; X</a:t>
            </a:r>
            <a:r>
              <a:rPr lang="en-IN" sz="3200" b="1" baseline="-25000" dirty="0"/>
              <a:t>C</a:t>
            </a:r>
            <a:r>
              <a:rPr lang="en-IN" sz="3200" b="1" dirty="0"/>
              <a:t>)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58</a:t>
            </a:fld>
            <a:endParaRPr lang="en-IN"/>
          </a:p>
        </p:txBody>
      </p:sp>
      <p:pic>
        <p:nvPicPr>
          <p:cNvPr id="17410" name="Picture 2" descr="IMPEDANCE-TRIANGLE-OF-RLC-SERIES-CIRCUIT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5" y="2444810"/>
            <a:ext cx="5588620" cy="441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82086" y="1921590"/>
            <a:ext cx="52467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>
                <a:solidFill>
                  <a:srgbClr val="000000"/>
                </a:solidFill>
                <a:latin typeface="Verdana" panose="020B0604030504040204" pitchFamily="34" charset="0"/>
              </a:rPr>
              <a:t> </a:t>
            </a:r>
            <a:r>
              <a:rPr lang="en-IN" sz="2800" b="1" dirty="0">
                <a:solidFill>
                  <a:srgbClr val="000000"/>
                </a:solidFill>
                <a:latin typeface="Verdana" panose="020B0604030504040204" pitchFamily="34" charset="0"/>
              </a:rPr>
              <a:t>lagging phase angle</a:t>
            </a:r>
            <a:r>
              <a:rPr lang="en-IN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6130440" y="1186636"/>
            <a:ext cx="30545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000000"/>
                </a:solidFill>
              </a:rPr>
              <a:t>(X</a:t>
            </a:r>
            <a:r>
              <a:rPr lang="en-IN" sz="3200" b="1" baseline="-25000" dirty="0">
                <a:solidFill>
                  <a:srgbClr val="000000"/>
                </a:solidFill>
              </a:rPr>
              <a:t>L</a:t>
            </a:r>
            <a:r>
              <a:rPr lang="en-IN" sz="3200" b="1" dirty="0">
                <a:solidFill>
                  <a:srgbClr val="000000"/>
                </a:solidFill>
              </a:rPr>
              <a:t>&lt; X</a:t>
            </a:r>
            <a:r>
              <a:rPr lang="en-IN" sz="3200" b="1" baseline="-25000" dirty="0">
                <a:solidFill>
                  <a:srgbClr val="000000"/>
                </a:solidFill>
              </a:rPr>
              <a:t>C</a:t>
            </a:r>
            <a:r>
              <a:rPr lang="en-IN" sz="3200" b="1" dirty="0">
                <a:solidFill>
                  <a:srgbClr val="000000"/>
                </a:solidFill>
              </a:rPr>
              <a:t>)</a:t>
            </a:r>
            <a:endParaRPr lang="en-IN" sz="3200" b="1" dirty="0"/>
          </a:p>
        </p:txBody>
      </p:sp>
      <p:pic>
        <p:nvPicPr>
          <p:cNvPr id="17412" name="Picture 4" descr="IMPEDANCE-TRIANGLE-OF-RLC-SERIES-CIRCUIT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802" y="2861266"/>
            <a:ext cx="6131101" cy="353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393521" y="1898034"/>
            <a:ext cx="4401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Leading power factor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394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7" y="351478"/>
            <a:ext cx="10515600" cy="1067890"/>
          </a:xfrm>
        </p:spPr>
        <p:txBody>
          <a:bodyPr/>
          <a:lstStyle/>
          <a:p>
            <a:r>
              <a:rPr lang="en-IN" b="1" dirty="0" smtClean="0">
                <a:latin typeface="+mn-lt"/>
              </a:rPr>
              <a:t>Problem 3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107" y="1579966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IN" sz="3200" dirty="0" smtClean="0"/>
              <a:t>A series circuit having pure resistance of 40 ohms, pure inductance of 40.07 </a:t>
            </a:r>
            <a:r>
              <a:rPr lang="en-IN" sz="3200" dirty="0" err="1" smtClean="0"/>
              <a:t>mH</a:t>
            </a:r>
            <a:r>
              <a:rPr lang="en-IN" sz="3200" dirty="0" smtClean="0"/>
              <a:t> and a capacitor is connected across 400V , 50Hz </a:t>
            </a:r>
            <a:r>
              <a:rPr lang="en-IN" sz="3200" dirty="0" err="1" smtClean="0"/>
              <a:t>a.c</a:t>
            </a:r>
            <a:r>
              <a:rPr lang="en-IN" sz="3200" dirty="0" smtClean="0"/>
              <a:t> supply. This R,L,C combination draws a current of 10 A. Calculate </a:t>
            </a:r>
            <a:r>
              <a:rPr lang="en-IN" sz="3200" dirty="0" err="1" smtClean="0"/>
              <a:t>i</a:t>
            </a:r>
            <a:r>
              <a:rPr lang="en-IN" sz="3200" dirty="0" smtClean="0"/>
              <a:t>) power factor of the circuit and ii)capacitor value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52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60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4716"/>
            <a:ext cx="12192000" cy="706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4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61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7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689" y="3067383"/>
            <a:ext cx="10515600" cy="1325563"/>
          </a:xfrm>
        </p:spPr>
        <p:txBody>
          <a:bodyPr/>
          <a:lstStyle/>
          <a:p>
            <a:pPr algn="ctr"/>
            <a:r>
              <a:rPr lang="en-IN" b="1" dirty="0" smtClean="0"/>
              <a:t>THANK YOU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5E84-7405-44D9-B926-5E764DB56679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61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</TotalTime>
  <Words>721</Words>
  <Application>Microsoft Office PowerPoint</Application>
  <PresentationFormat>Widescreen</PresentationFormat>
  <Paragraphs>209</Paragraphs>
  <Slides>62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Theme</vt:lpstr>
      <vt:lpstr>AC FUNDAMENTALS</vt:lpstr>
      <vt:lpstr>Alternating voltage and current equation</vt:lpstr>
      <vt:lpstr>Waveform</vt:lpstr>
      <vt:lpstr>AC through pure resistive circuit(R Circuit)</vt:lpstr>
      <vt:lpstr>Reflection Spot 1</vt:lpstr>
      <vt:lpstr>Waveform and Phasor Diagram-R Circuit</vt:lpstr>
      <vt:lpstr>Power</vt:lpstr>
      <vt:lpstr>Power-Waveform</vt:lpstr>
      <vt:lpstr>Reflection Spot 2</vt:lpstr>
      <vt:lpstr>Power-R circuit-contd…</vt:lpstr>
      <vt:lpstr>AC through pure inductive circuit</vt:lpstr>
      <vt:lpstr>L Circuit- Contd…</vt:lpstr>
      <vt:lpstr>L Circuit-Contd…</vt:lpstr>
      <vt:lpstr>L Circuit-Contd…</vt:lpstr>
      <vt:lpstr>Reflection Spot 3</vt:lpstr>
      <vt:lpstr>Waveform and phasor diagram</vt:lpstr>
      <vt:lpstr>Power-L Circuit</vt:lpstr>
      <vt:lpstr>Contd…</vt:lpstr>
      <vt:lpstr>AC through pure capacitive circuit</vt:lpstr>
      <vt:lpstr>C Circuit-Contd…</vt:lpstr>
      <vt:lpstr>C Circuit- Contd…</vt:lpstr>
      <vt:lpstr>Reflection spot 4</vt:lpstr>
      <vt:lpstr>Waveform and Phasor diagram</vt:lpstr>
      <vt:lpstr>Power-C circuit</vt:lpstr>
      <vt:lpstr>Contd…</vt:lpstr>
      <vt:lpstr>Problem 1</vt:lpstr>
      <vt:lpstr>PowerPoint Presentation</vt:lpstr>
      <vt:lpstr>PowerPoint Presentation</vt:lpstr>
      <vt:lpstr>PowerPoint Presentation</vt:lpstr>
      <vt:lpstr>AC through series RL circuit</vt:lpstr>
      <vt:lpstr>RL circuit-Contd…</vt:lpstr>
      <vt:lpstr>Phasor diagram</vt:lpstr>
      <vt:lpstr>Reflection spot 5</vt:lpstr>
      <vt:lpstr>RL circuit- contd…</vt:lpstr>
      <vt:lpstr>RL circuit Contd…</vt:lpstr>
      <vt:lpstr>Phase angle-RL circuit</vt:lpstr>
      <vt:lpstr>Power in RL circuit</vt:lpstr>
      <vt:lpstr>Average Power-RL Circuit</vt:lpstr>
      <vt:lpstr>Power Factor</vt:lpstr>
      <vt:lpstr>AC through series RC Circuit</vt:lpstr>
      <vt:lpstr>RC Circuit-Contd…</vt:lpstr>
      <vt:lpstr>Phase Angle-RC Circuit</vt:lpstr>
      <vt:lpstr>Reflection spot 6</vt:lpstr>
      <vt:lpstr>Power in RC circuit</vt:lpstr>
      <vt:lpstr>Average power and Power Factor </vt:lpstr>
      <vt:lpstr>  Power in AC circuits </vt:lpstr>
      <vt:lpstr>Power-Contd…</vt:lpstr>
      <vt:lpstr>Power Triangle</vt:lpstr>
      <vt:lpstr>Problem 2</vt:lpstr>
      <vt:lpstr>PowerPoint Presentation</vt:lpstr>
      <vt:lpstr>PowerPoint Presentation</vt:lpstr>
      <vt:lpstr>A.C in Series RLC circuit</vt:lpstr>
      <vt:lpstr>Series RLC circuit-Contd…</vt:lpstr>
      <vt:lpstr>Reflection spot 8</vt:lpstr>
      <vt:lpstr>Series RLC circuit- contd…</vt:lpstr>
      <vt:lpstr>Series RLC circuit-Contd…</vt:lpstr>
      <vt:lpstr>Power in RLC circuit</vt:lpstr>
      <vt:lpstr>Impedance triangle-RLC circuit</vt:lpstr>
      <vt:lpstr>Problem 3</vt:lpstr>
      <vt:lpstr>PowerPoint Presentation</vt:lpstr>
      <vt:lpstr>PowerPoint Presentation</vt:lpstr>
      <vt:lpstr>THANK YOU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 FUNDAMENTALS</dc:title>
  <dc:creator>goku azif</dc:creator>
  <cp:lastModifiedBy>goku azif</cp:lastModifiedBy>
  <cp:revision>187</cp:revision>
  <dcterms:created xsi:type="dcterms:W3CDTF">2020-06-13T17:51:40Z</dcterms:created>
  <dcterms:modified xsi:type="dcterms:W3CDTF">2020-06-18T08:58:04Z</dcterms:modified>
</cp:coreProperties>
</file>