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7" r:id="rId5"/>
    <p:sldId id="258" r:id="rId6"/>
    <p:sldId id="262" r:id="rId7"/>
    <p:sldId id="263" r:id="rId8"/>
    <p:sldId id="264" r:id="rId9"/>
    <p:sldId id="265" r:id="rId10"/>
    <p:sldId id="266" r:id="rId11"/>
    <p:sldId id="260" r:id="rId12"/>
    <p:sldId id="270" r:id="rId13"/>
    <p:sldId id="261" r:id="rId14"/>
    <p:sldId id="267" r:id="rId15"/>
    <p:sldId id="268" r:id="rId16"/>
    <p:sldId id="269"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0.png"/><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Pipe joints</a:t>
            </a:r>
            <a:endParaRPr lang="en-US"/>
          </a:p>
        </p:txBody>
      </p:sp>
      <p:sp>
        <p:nvSpPr>
          <p:cNvPr id="3" name="Subtitle 2"/>
          <p:cNvSpPr>
            <a:spLocks noGrp="1"/>
          </p:cNvSpPr>
          <p:nvPr>
            <p:ph type="subTitle" idx="1"/>
          </p:nvPr>
        </p:nvSpPr>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01320" y="739140"/>
            <a:ext cx="10952480" cy="5438140"/>
          </a:xfrm>
        </p:spPr>
        <p:txBody>
          <a:bodyPr>
            <a:normAutofit fontScale="90000"/>
          </a:bodyPr>
          <a:p>
            <a:pPr>
              <a:lnSpc>
                <a:spcPct val="150000"/>
              </a:lnSpc>
            </a:pPr>
            <a:r>
              <a:rPr lang="en-US"/>
              <a:t>Pipes are made of cast-iron, steel, wrought-iron, brass, copper, lead or concrete or plastic.</a:t>
            </a:r>
            <a:endParaRPr lang="en-US"/>
          </a:p>
          <a:p>
            <a:pPr>
              <a:lnSpc>
                <a:spcPct val="150000"/>
              </a:lnSpc>
            </a:pPr>
            <a:r>
              <a:rPr lang="en-US"/>
              <a:t>They are used for carrying fluids — water, steam, gas, oil etc. from one place to another. </a:t>
            </a:r>
            <a:endParaRPr lang="en-US"/>
          </a:p>
          <a:p>
            <a:pPr>
              <a:lnSpc>
                <a:spcPct val="150000"/>
              </a:lnSpc>
            </a:pPr>
            <a:r>
              <a:rPr lang="en-US"/>
              <a:t>Various forms of joints are used for connecting them, depending upon the material of the pipes and the purpose for which they are used. </a:t>
            </a:r>
            <a:endParaRPr lang="en-US"/>
          </a:p>
          <a:p>
            <a:pPr>
              <a:lnSpc>
                <a:spcPct val="150000"/>
              </a:lnSpc>
            </a:pPr>
            <a:r>
              <a:rPr lang="en-US"/>
              <a:t>Pipes are specified by their internal diameter. </a:t>
            </a:r>
            <a:endParaRPr lang="en-US"/>
          </a:p>
          <a:p>
            <a:pPr>
              <a:lnSpc>
                <a:spcPct val="150000"/>
              </a:lnSpc>
            </a:pPr>
            <a:r>
              <a:rPr lang="en-US"/>
              <a:t>The fluid-circuit consists of the pipes, the valves, the pumps and the reservoirs.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Pipes are manufactured in small lengths of 2 to 6 meters.</a:t>
            </a:r>
            <a:endParaRPr lang="en-US"/>
          </a:p>
          <a:p>
            <a:pPr marL="0" indent="0">
              <a:buNone/>
            </a:pPr>
            <a:r>
              <a:rPr lang="en-US"/>
              <a:t>These small pieces of pipes are then joined together after placing them</a:t>
            </a:r>
            <a:endParaRPr lang="en-US"/>
          </a:p>
          <a:p>
            <a:pPr marL="0" indent="0">
              <a:buNone/>
            </a:pPr>
            <a:r>
              <a:rPr lang="en-US"/>
              <a:t>in position, to make one continuous length of the pipeline.</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PIPE FITTINGS</a:t>
            </a:r>
            <a:endParaRPr lang="en-US"/>
          </a:p>
        </p:txBody>
      </p:sp>
      <p:sp>
        <p:nvSpPr>
          <p:cNvPr id="3" name="Content Placeholder 2"/>
          <p:cNvSpPr>
            <a:spLocks noGrp="1"/>
          </p:cNvSpPr>
          <p:nvPr>
            <p:ph idx="1"/>
          </p:nvPr>
        </p:nvSpPr>
        <p:spPr/>
        <p:txBody>
          <a:bodyPr/>
          <a:p>
            <a:pPr marL="0" indent="0">
              <a:buNone/>
            </a:pPr>
            <a:r>
              <a:rPr lang="en-US"/>
              <a:t>Pipe fittings are those fittings that may be attached to pipes in order to:</a:t>
            </a:r>
            <a:endParaRPr lang="en-US"/>
          </a:p>
          <a:p>
            <a:pPr marL="0" indent="0">
              <a:buNone/>
            </a:pPr>
            <a:r>
              <a:rPr lang="en-US"/>
              <a:t>o Change the direction of flow in the pipe.</a:t>
            </a:r>
            <a:endParaRPr lang="en-US"/>
          </a:p>
          <a:p>
            <a:pPr marL="0" indent="0">
              <a:buNone/>
            </a:pPr>
            <a:r>
              <a:rPr lang="en-US"/>
              <a:t>o Connect a branch with a main water supply pipe.</a:t>
            </a:r>
            <a:endParaRPr lang="en-US"/>
          </a:p>
          <a:p>
            <a:pPr marL="0" indent="0">
              <a:buNone/>
            </a:pPr>
            <a:r>
              <a:rPr lang="en-US"/>
              <a:t>o Connect two or more pipes of different sizes.</a:t>
            </a:r>
            <a:endParaRPr lang="en-US"/>
          </a:p>
          <a:p>
            <a:pPr marL="0" indent="0">
              <a:buNone/>
            </a:pPr>
            <a:r>
              <a:rPr lang="en-US"/>
              <a:t>o Close the pipe ends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3527425" y="1480820"/>
            <a:ext cx="4206240" cy="41281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537585" y="1213485"/>
            <a:ext cx="4337050" cy="47269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087370" y="1178560"/>
            <a:ext cx="4989195" cy="46818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3088640" y="1111885"/>
            <a:ext cx="4953635" cy="4759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594610" y="1440180"/>
            <a:ext cx="6026785" cy="44088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Cast-iron pipes</a:t>
            </a:r>
            <a:r>
              <a:rPr lang="en-US"/>
              <a:t>  - Cast-iron flanged joint </a:t>
            </a:r>
            <a:endParaRPr lang="en-US"/>
          </a:p>
        </p:txBody>
      </p:sp>
      <p:pic>
        <p:nvPicPr>
          <p:cNvPr id="4" name="Content Placeholder 3"/>
          <p:cNvPicPr>
            <a:picLocks noChangeAspect="1"/>
          </p:cNvPicPr>
          <p:nvPr>
            <p:ph sz="half" idx="1"/>
          </p:nvPr>
        </p:nvPicPr>
        <p:blipFill>
          <a:blip r:embed="rId1"/>
          <a:stretch>
            <a:fillRect/>
          </a:stretch>
        </p:blipFill>
        <p:spPr>
          <a:xfrm>
            <a:off x="1527175" y="1951355"/>
            <a:ext cx="3802380" cy="4099560"/>
          </a:xfrm>
          <a:prstGeom prst="rect">
            <a:avLst/>
          </a:prstGeom>
        </p:spPr>
      </p:pic>
      <p:pic>
        <p:nvPicPr>
          <p:cNvPr id="5" name="Content Placeholder 4"/>
          <p:cNvPicPr>
            <a:picLocks noChangeAspect="1"/>
          </p:cNvPicPr>
          <p:nvPr>
            <p:ph sz="half" idx="2"/>
          </p:nvPr>
        </p:nvPicPr>
        <p:blipFill>
          <a:blip r:embed="rId2"/>
          <a:stretch>
            <a:fillRect/>
          </a:stretch>
        </p:blipFill>
        <p:spPr>
          <a:xfrm>
            <a:off x="6827520" y="1825625"/>
            <a:ext cx="3869690" cy="43516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End of caste and pipes </a:t>
            </a:r>
            <a:endParaRPr lang="en-US"/>
          </a:p>
        </p:txBody>
      </p:sp>
      <p:pic>
        <p:nvPicPr>
          <p:cNvPr id="7" name="Content Placeholder 6"/>
          <p:cNvPicPr>
            <a:picLocks noChangeAspect="1"/>
          </p:cNvPicPr>
          <p:nvPr>
            <p:ph idx="1"/>
          </p:nvPr>
        </p:nvPicPr>
        <p:blipFill>
          <a:blip r:embed="rId1"/>
          <a:stretch>
            <a:fillRect/>
          </a:stretch>
        </p:blipFill>
        <p:spPr>
          <a:xfrm>
            <a:off x="271145" y="1930400"/>
            <a:ext cx="11393170" cy="33737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Content Placeholder 5"/>
          <p:cNvSpPr>
            <a:spLocks noGrp="1"/>
          </p:cNvSpPr>
          <p:nvPr>
            <p:ph sz="half" idx="1"/>
          </p:nvPr>
        </p:nvSpPr>
        <p:spPr>
          <a:xfrm>
            <a:off x="390525" y="536575"/>
            <a:ext cx="5629275" cy="5640705"/>
          </a:xfrm>
        </p:spPr>
        <p:txBody>
          <a:bodyPr/>
          <a:p>
            <a:pPr marL="0" indent="0">
              <a:buNone/>
            </a:pPr>
            <a:r>
              <a:rPr lang="en-US"/>
              <a:t>Flanges are cast at the ends integral with the pipes. </a:t>
            </a:r>
            <a:endParaRPr lang="en-US"/>
          </a:p>
          <a:p>
            <a:pPr marL="0" indent="0">
              <a:buNone/>
            </a:pPr>
            <a:r>
              <a:rPr lang="en-US"/>
              <a:t>A packing-ring or gasket of soft material such as India-rubber, canvas etc., coated with red lead, is placed between the faces of the two flanges, which are joined together by means of bolts.</a:t>
            </a:r>
            <a:endParaRPr lang="en-US"/>
          </a:p>
          <a:p>
            <a:pPr marL="0" indent="0">
              <a:buNone/>
            </a:pPr>
            <a:r>
              <a:rPr lang="en-US"/>
              <a:t>Sometimes, flanges are provided with facings  of about 3 mmto 5 mm thickness, between which the packing ring is placed.</a:t>
            </a:r>
            <a:endParaRPr lang="en-US"/>
          </a:p>
          <a:p>
            <a:pPr marL="0" indent="0">
              <a:buNone/>
            </a:pPr>
            <a:endParaRPr lang="en-US"/>
          </a:p>
        </p:txBody>
      </p:sp>
      <p:pic>
        <p:nvPicPr>
          <p:cNvPr id="7" name="Content Placeholder 6"/>
          <p:cNvPicPr>
            <a:picLocks noChangeAspect="1"/>
          </p:cNvPicPr>
          <p:nvPr>
            <p:ph sz="half" idx="2"/>
          </p:nvPr>
        </p:nvPicPr>
        <p:blipFill>
          <a:blip r:embed="rId1"/>
          <a:stretch>
            <a:fillRect/>
          </a:stretch>
        </p:blipFill>
        <p:spPr>
          <a:xfrm>
            <a:off x="6198235" y="2106295"/>
            <a:ext cx="5607050" cy="3491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8200" y="180975"/>
            <a:ext cx="10223500" cy="1261745"/>
          </a:xfrm>
        </p:spPr>
        <p:txBody>
          <a:bodyPr/>
          <a:p>
            <a:r>
              <a:rPr lang="en-US"/>
              <a:t>Socket and spigot joint</a:t>
            </a:r>
            <a:endParaRPr lang="en-US"/>
          </a:p>
        </p:txBody>
      </p:sp>
      <p:pic>
        <p:nvPicPr>
          <p:cNvPr id="7" name="Content Placeholder 6"/>
          <p:cNvPicPr>
            <a:picLocks noChangeAspect="1"/>
          </p:cNvPicPr>
          <p:nvPr>
            <p:ph idx="1"/>
          </p:nvPr>
        </p:nvPicPr>
        <p:blipFill>
          <a:blip r:embed="rId1"/>
          <a:stretch>
            <a:fillRect/>
          </a:stretch>
        </p:blipFill>
        <p:spPr>
          <a:xfrm>
            <a:off x="1369060" y="1442720"/>
            <a:ext cx="9161145" cy="43516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13715" y="474345"/>
            <a:ext cx="10840085" cy="5702935"/>
          </a:xfrm>
        </p:spPr>
        <p:txBody>
          <a:bodyPr/>
          <a:p>
            <a:pPr marL="0" indent="0">
              <a:buNone/>
            </a:pPr>
            <a:r>
              <a:rPr lang="en-US"/>
              <a:t>Cast-iron pipes which are to be embedded in the ground are</a:t>
            </a:r>
            <a:endParaRPr lang="en-US"/>
          </a:p>
          <a:p>
            <a:pPr marL="0" indent="0">
              <a:buNone/>
            </a:pPr>
            <a:r>
              <a:rPr lang="en-US"/>
              <a:t>usually connected by this joint.</a:t>
            </a:r>
            <a:endParaRPr lang="en-US"/>
          </a:p>
          <a:p>
            <a:pPr marL="0" indent="0">
              <a:buNone/>
            </a:pPr>
            <a:r>
              <a:rPr lang="en-US"/>
              <a:t>The joint being slightly flexible, adopts itself to small changes in level due to settlement of earth. </a:t>
            </a:r>
            <a:endParaRPr lang="en-US"/>
          </a:p>
          <a:p>
            <a:pPr marL="0" indent="0">
              <a:buNone/>
            </a:pPr>
            <a:r>
              <a:rPr lang="en-US"/>
              <a:t>The spigot-end of one pipe enters the socket-end of the other. The joint is</a:t>
            </a:r>
            <a:endParaRPr lang="en-US"/>
          </a:p>
          <a:p>
            <a:pPr marL="0" indent="0">
              <a:buNone/>
            </a:pPr>
            <a:r>
              <a:rPr lang="en-US"/>
              <a:t>made by filling-up the space between the two, partly by several turns of</a:t>
            </a:r>
            <a:endParaRPr lang="en-US"/>
          </a:p>
          <a:p>
            <a:pPr marL="0" indent="0">
              <a:buNone/>
            </a:pPr>
            <a:r>
              <a:rPr lang="en-US"/>
              <a:t>jute yarn and the remaining by pouring molten lead. The lead when</a:t>
            </a:r>
            <a:endParaRPr lang="en-US"/>
          </a:p>
          <a:p>
            <a:pPr marL="0" indent="0">
              <a:buNone/>
            </a:pPr>
            <a:r>
              <a:rPr lang="en-US"/>
              <a:t>solidified, is caulked-in tightly with a hammer and a chisel.</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254000" y="646430"/>
            <a:ext cx="5765800" cy="5530850"/>
          </a:xfrm>
        </p:spPr>
        <p:txBody>
          <a:bodyPr/>
          <a:p>
            <a:pPr marL="0" indent="0">
              <a:buNone/>
            </a:pPr>
            <a:r>
              <a:rPr lang="en-US"/>
              <a:t>In the form of lead joint shown in fig, taper facings are provided</a:t>
            </a:r>
            <a:endParaRPr lang="en-US"/>
          </a:p>
          <a:p>
            <a:pPr marL="0" indent="0">
              <a:buNone/>
            </a:pPr>
            <a:r>
              <a:rPr lang="en-US"/>
              <a:t>on the inside of the socket and on the outside of the spigot. The facings</a:t>
            </a:r>
            <a:endParaRPr lang="en-US"/>
          </a:p>
          <a:p>
            <a:pPr marL="0" indent="0">
              <a:buNone/>
            </a:pPr>
            <a:r>
              <a:rPr lang="en-US"/>
              <a:t>are accurately machined to fit properly, and are smeared with red lead</a:t>
            </a:r>
            <a:endParaRPr lang="en-US"/>
          </a:p>
          <a:p>
            <a:pPr marL="0" indent="0">
              <a:buNone/>
            </a:pPr>
            <a:r>
              <a:rPr lang="en-US"/>
              <a:t>before forcing the pipes together. This joint is suitable for pipes in a straight line only.</a:t>
            </a:r>
            <a:endParaRPr lang="en-US"/>
          </a:p>
        </p:txBody>
      </p:sp>
      <p:pic>
        <p:nvPicPr>
          <p:cNvPr id="4" name="Content Placeholder 3"/>
          <p:cNvPicPr>
            <a:picLocks noChangeAspect="1"/>
          </p:cNvPicPr>
          <p:nvPr>
            <p:ph sz="half" idx="2"/>
          </p:nvPr>
        </p:nvPicPr>
        <p:blipFill>
          <a:blip r:embed="rId1"/>
          <a:stretch>
            <a:fillRect/>
          </a:stretch>
        </p:blipFill>
        <p:spPr>
          <a:xfrm>
            <a:off x="6669405" y="1503680"/>
            <a:ext cx="5181600" cy="2636520"/>
          </a:xfrm>
          <a:prstGeom prst="rect">
            <a:avLst/>
          </a:prstGeom>
        </p:spPr>
      </p:pic>
      <p:pic>
        <p:nvPicPr>
          <p:cNvPr id="6" name="Picture 5"/>
          <p:cNvPicPr>
            <a:picLocks noChangeAspect="1"/>
          </p:cNvPicPr>
          <p:nvPr/>
        </p:nvPicPr>
        <p:blipFill>
          <a:blip r:embed="rId2"/>
          <a:stretch>
            <a:fillRect/>
          </a:stretch>
        </p:blipFill>
        <p:spPr>
          <a:xfrm>
            <a:off x="8808085" y="4439920"/>
            <a:ext cx="1325880" cy="3581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38200" y="220980"/>
            <a:ext cx="10515600" cy="636270"/>
          </a:xfrm>
        </p:spPr>
        <p:txBody>
          <a:bodyPr>
            <a:normAutofit fontScale="90000"/>
          </a:bodyPr>
          <a:p>
            <a:r>
              <a:rPr lang="en-US"/>
              <a:t>Hydraulic joint</a:t>
            </a:r>
            <a:endParaRPr lang="en-US"/>
          </a:p>
        </p:txBody>
      </p:sp>
      <p:sp>
        <p:nvSpPr>
          <p:cNvPr id="6" name="Content Placeholder 5"/>
          <p:cNvSpPr>
            <a:spLocks noGrp="1"/>
          </p:cNvSpPr>
          <p:nvPr>
            <p:ph idx="1"/>
          </p:nvPr>
        </p:nvSpPr>
        <p:spPr>
          <a:xfrm>
            <a:off x="550545" y="1219200"/>
            <a:ext cx="10803255" cy="4958080"/>
          </a:xfrm>
        </p:spPr>
        <p:txBody>
          <a:bodyPr/>
          <a:p>
            <a:pPr marL="0" indent="0">
              <a:buNone/>
            </a:pPr>
            <a:r>
              <a:rPr lang="en-US"/>
              <a:t>This form of joint is used where fluids under high pressures varying</a:t>
            </a:r>
            <a:endParaRPr lang="en-US"/>
          </a:p>
          <a:p>
            <a:pPr marL="0" indent="0">
              <a:buNone/>
            </a:pPr>
            <a:r>
              <a:rPr lang="en-US"/>
              <a:t>from 60 to 90 kg per sq cm are to be conveyed. The flanges (of pipes) are</a:t>
            </a:r>
            <a:endParaRPr lang="en-US"/>
          </a:p>
          <a:p>
            <a:pPr marL="0" indent="0">
              <a:buNone/>
            </a:pPr>
            <a:r>
              <a:rPr lang="en-US"/>
              <a:t>cast, generally oval in shape. A small circular spigot, provided in the</a:t>
            </a:r>
            <a:endParaRPr lang="en-US"/>
          </a:p>
          <a:p>
            <a:pPr marL="0" indent="0">
              <a:buNone/>
            </a:pPr>
            <a:r>
              <a:rPr lang="en-US"/>
              <a:t>centre of one flange, enters and fits in an accurately machined socket</a:t>
            </a:r>
            <a:endParaRPr lang="en-US"/>
          </a:p>
          <a:p>
            <a:pPr marL="0" indent="0">
              <a:buNone/>
            </a:pPr>
            <a:r>
              <a:rPr lang="en-US"/>
              <a:t>(having a recess) in the other flange. The joint is made with a V-shaped</a:t>
            </a:r>
            <a:endParaRPr lang="en-US"/>
          </a:p>
          <a:p>
            <a:pPr marL="0" indent="0">
              <a:buNone/>
            </a:pPr>
            <a:r>
              <a:rPr lang="en-US"/>
              <a:t>gutta-percha ring inserted inside the recess. The flanges are connected</a:t>
            </a:r>
            <a:endParaRPr lang="en-US"/>
          </a:p>
          <a:p>
            <a:pPr marL="0" indent="0">
              <a:buNone/>
            </a:pPr>
            <a:r>
              <a:rPr lang="en-US"/>
              <a:t>together by two large-size bolts. The top half of the side view in</a:t>
            </a:r>
            <a:endParaRPr lang="en-US"/>
          </a:p>
          <a:p>
            <a:pPr marL="0" indent="0">
              <a:buNone/>
            </a:pPr>
            <a:r>
              <a:rPr lang="en-US"/>
              <a:t>fig.  shows the view of the face of the right-hand flange.</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sz="half" idx="1"/>
          </p:nvPr>
        </p:nvPicPr>
        <p:blipFill>
          <a:blip r:embed="rId1"/>
          <a:srcRect t="1595"/>
          <a:stretch>
            <a:fillRect/>
          </a:stretch>
        </p:blipFill>
        <p:spPr>
          <a:xfrm>
            <a:off x="2245360" y="431165"/>
            <a:ext cx="6572250" cy="5995035"/>
          </a:xfrm>
          <a:prstGeom prst="rect">
            <a:avLst/>
          </a:prstGeom>
        </p:spPr>
      </p:pic>
      <p:sp>
        <p:nvSpPr>
          <p:cNvPr id="8" name="Text Box 7"/>
          <p:cNvSpPr txBox="1"/>
          <p:nvPr/>
        </p:nvSpPr>
        <p:spPr>
          <a:xfrm>
            <a:off x="2571750" y="356870"/>
            <a:ext cx="4064000" cy="583565"/>
          </a:xfrm>
          <a:prstGeom prst="rect">
            <a:avLst/>
          </a:prstGeom>
          <a:noFill/>
        </p:spPr>
        <p:txBody>
          <a:bodyPr wrap="square" rtlCol="0">
            <a:spAutoFit/>
          </a:bodyPr>
          <a:p>
            <a:r>
              <a:rPr lang="en-US" sz="3200">
                <a:sym typeface="+mn-ea"/>
              </a:rPr>
              <a:t>Hydraulic joint</a:t>
            </a:r>
            <a:endParaRPr lang="en-US" sz="320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Content Placeholder 6"/>
          <p:cNvPicPr>
            <a:picLocks noChangeAspect="1"/>
          </p:cNvPicPr>
          <p:nvPr>
            <p:ph sz="half" idx="2"/>
          </p:nvPr>
        </p:nvPicPr>
        <p:blipFill>
          <a:blip r:embed="rId1"/>
          <a:stretch>
            <a:fillRect/>
          </a:stretch>
        </p:blipFill>
        <p:spPr>
          <a:xfrm>
            <a:off x="2139315" y="885190"/>
            <a:ext cx="7650480" cy="49136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55320" y="105410"/>
            <a:ext cx="10515600" cy="864235"/>
          </a:xfrm>
        </p:spPr>
        <p:txBody>
          <a:bodyPr/>
          <a:p>
            <a:r>
              <a:rPr lang="en-US"/>
              <a:t>Wrought-iron and steel pipes</a:t>
            </a:r>
            <a:endParaRPr lang="en-US"/>
          </a:p>
        </p:txBody>
      </p:sp>
      <p:sp>
        <p:nvSpPr>
          <p:cNvPr id="3" name="Content Placeholder 2"/>
          <p:cNvSpPr>
            <a:spLocks noGrp="1"/>
          </p:cNvSpPr>
          <p:nvPr>
            <p:ph idx="1"/>
          </p:nvPr>
        </p:nvSpPr>
        <p:spPr>
          <a:xfrm>
            <a:off x="838200" y="1114425"/>
            <a:ext cx="10515600" cy="5062855"/>
          </a:xfrm>
        </p:spPr>
        <p:txBody>
          <a:bodyPr>
            <a:normAutofit lnSpcReduction="20000"/>
          </a:bodyPr>
          <a:p>
            <a:pPr marL="0" indent="0">
              <a:buNone/>
            </a:pPr>
            <a:r>
              <a:rPr lang="en-US"/>
              <a:t>Wrought-iron pipes are generally butt-welded and are made in</a:t>
            </a:r>
            <a:endParaRPr lang="en-US"/>
          </a:p>
          <a:p>
            <a:pPr marL="0" indent="0">
              <a:buNone/>
            </a:pPr>
            <a:r>
              <a:rPr lang="en-US"/>
              <a:t>comparatively smaller sizes, viz. from 12 mm to 100 mm internal diameters.</a:t>
            </a:r>
            <a:endParaRPr lang="en-US"/>
          </a:p>
          <a:p>
            <a:pPr marL="0" indent="0">
              <a:buNone/>
            </a:pPr>
            <a:r>
              <a:rPr lang="en-US"/>
              <a:t>These pipes are mainly used for domestic purposes and are usually galvanized all over. Weldless or solid-drawn steel pipes have great strength and are used for carrying fluids under ordinary as well as high</a:t>
            </a:r>
            <a:endParaRPr lang="en-US"/>
          </a:p>
          <a:p>
            <a:pPr marL="0" indent="0">
              <a:buNone/>
            </a:pPr>
            <a:r>
              <a:rPr lang="en-US"/>
              <a:t>pressures. </a:t>
            </a:r>
            <a:endParaRPr lang="en-US"/>
          </a:p>
          <a:p>
            <a:pPr marL="0" indent="0">
              <a:buNone/>
            </a:pPr>
            <a:r>
              <a:rPr lang="en-US"/>
              <a:t>These pipes have largely superceded cast-iron pipes where high pressures are to be considered. These pipes are joined with their</a:t>
            </a:r>
            <a:endParaRPr lang="en-US"/>
          </a:p>
          <a:p>
            <a:pPr marL="0" indent="0">
              <a:buNone/>
            </a:pPr>
            <a:r>
              <a:rPr lang="en-US"/>
              <a:t>axes in alignment, by means of a socket or a coupler.</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endParaRPr lang="en-US"/>
          </a:p>
        </p:txBody>
      </p:sp>
      <p:sp>
        <p:nvSpPr>
          <p:cNvPr id="3" name="Content Placeholder 2"/>
          <p:cNvSpPr>
            <a:spLocks noGrp="1"/>
          </p:cNvSpPr>
          <p:nvPr>
            <p:ph sz="half" idx="1"/>
          </p:nvPr>
        </p:nvSpPr>
        <p:spPr/>
        <p:txBody>
          <a:bodyPr>
            <a:normAutofit fontScale="90000"/>
          </a:bodyPr>
          <a:p>
            <a:pPr marL="0" indent="0">
              <a:buNone/>
            </a:pPr>
            <a:r>
              <a:rPr lang="en-US"/>
              <a:t>The socket is threaded on the inside and screwed-on half-way on the</a:t>
            </a:r>
            <a:endParaRPr lang="en-US"/>
          </a:p>
          <a:p>
            <a:pPr marL="0" indent="0">
              <a:buNone/>
            </a:pPr>
            <a:r>
              <a:rPr lang="en-US"/>
              <a:t>threaded end of one pipe. The end of the other pipe is then screwed</a:t>
            </a:r>
            <a:endParaRPr lang="en-US"/>
          </a:p>
          <a:p>
            <a:pPr marL="0" indent="0">
              <a:buNone/>
            </a:pPr>
            <a:r>
              <a:rPr lang="en-US"/>
              <a:t>into the socket in the remaining half. To prevent leakage through the</a:t>
            </a:r>
            <a:endParaRPr lang="en-US"/>
          </a:p>
          <a:p>
            <a:pPr marL="0" indent="0">
              <a:buNone/>
            </a:pPr>
            <a:r>
              <a:rPr lang="en-US"/>
              <a:t>joint, a few strands of jute or hemp coated with red lead are wound round the bottom of the thread on each pipe-end.</a:t>
            </a:r>
            <a:endParaRPr lang="en-US"/>
          </a:p>
        </p:txBody>
      </p:sp>
      <p:pic>
        <p:nvPicPr>
          <p:cNvPr id="6" name="Content Placeholder 5"/>
          <p:cNvPicPr>
            <a:picLocks noChangeAspect="1"/>
          </p:cNvPicPr>
          <p:nvPr>
            <p:ph sz="half" idx="2"/>
          </p:nvPr>
        </p:nvPicPr>
        <p:blipFill>
          <a:blip r:embed="rId1"/>
          <a:stretch>
            <a:fillRect/>
          </a:stretch>
        </p:blipFill>
        <p:spPr>
          <a:xfrm>
            <a:off x="6172200" y="2392045"/>
            <a:ext cx="5181600" cy="32181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itle 7"/>
          <p:cNvSpPr>
            <a:spLocks noGrp="1"/>
          </p:cNvSpPr>
          <p:nvPr>
            <p:ph type="title"/>
          </p:nvPr>
        </p:nvSpPr>
        <p:spPr/>
        <p:txBody>
          <a:bodyPr/>
          <a:p>
            <a:r>
              <a:rPr lang="en-US"/>
              <a:t>Nipple</a:t>
            </a:r>
            <a:endParaRPr lang="en-US"/>
          </a:p>
        </p:txBody>
      </p:sp>
      <p:sp>
        <p:nvSpPr>
          <p:cNvPr id="6" name="Content Placeholder 5"/>
          <p:cNvSpPr>
            <a:spLocks noGrp="1"/>
          </p:cNvSpPr>
          <p:nvPr>
            <p:ph sz="half" idx="1"/>
          </p:nvPr>
        </p:nvSpPr>
        <p:spPr>
          <a:xfrm>
            <a:off x="529590" y="1825625"/>
            <a:ext cx="5490210" cy="4351655"/>
          </a:xfrm>
        </p:spPr>
        <p:txBody>
          <a:bodyPr/>
          <a:p>
            <a:pPr marL="0" indent="0">
              <a:buNone/>
            </a:pPr>
            <a:r>
              <a:rPr lang="en-US"/>
              <a:t>A </a:t>
            </a:r>
            <a:r>
              <a:rPr lang="en-US" b="1"/>
              <a:t>nipple</a:t>
            </a:r>
            <a:r>
              <a:rPr lang="en-US"/>
              <a:t>, which is threaded on the outside, is also sometimes used. It is screwed inside the internally threaded ends of the two pipes. In this case, the passage of the fluid is partially choked on account of the smaller inside diameter of the nipple.</a:t>
            </a:r>
            <a:endParaRPr lang="en-US"/>
          </a:p>
        </p:txBody>
      </p:sp>
      <p:pic>
        <p:nvPicPr>
          <p:cNvPr id="7" name="Content Placeholder 6"/>
          <p:cNvPicPr>
            <a:picLocks noChangeAspect="1"/>
          </p:cNvPicPr>
          <p:nvPr>
            <p:ph sz="half" idx="2"/>
          </p:nvPr>
        </p:nvPicPr>
        <p:blipFill>
          <a:blip r:embed="rId1"/>
          <a:stretch>
            <a:fillRect/>
          </a:stretch>
        </p:blipFill>
        <p:spPr>
          <a:xfrm>
            <a:off x="7503795" y="1744980"/>
            <a:ext cx="4457065" cy="28816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itle 7"/>
          <p:cNvSpPr>
            <a:spLocks noGrp="1"/>
          </p:cNvSpPr>
          <p:nvPr>
            <p:ph type="title"/>
          </p:nvPr>
        </p:nvSpPr>
        <p:spPr/>
        <p:txBody>
          <a:bodyPr/>
          <a:p>
            <a:endParaRPr lang="en-US"/>
          </a:p>
        </p:txBody>
      </p:sp>
      <p:sp>
        <p:nvSpPr>
          <p:cNvPr id="6" name="Content Placeholder 5"/>
          <p:cNvSpPr>
            <a:spLocks noGrp="1"/>
          </p:cNvSpPr>
          <p:nvPr>
            <p:ph sz="half" idx="1"/>
          </p:nvPr>
        </p:nvSpPr>
        <p:spPr>
          <a:xfrm>
            <a:off x="488950" y="1825625"/>
            <a:ext cx="5530850" cy="4351655"/>
          </a:xfrm>
        </p:spPr>
        <p:txBody>
          <a:bodyPr/>
          <a:p>
            <a:pPr marL="0" indent="0">
              <a:buNone/>
            </a:pPr>
            <a:r>
              <a:rPr lang="en-US"/>
              <a:t>Pipes of different diameters are joined by the use of reducing sockets. A pipe can be closed at the end with a plug.</a:t>
            </a:r>
            <a:endParaRPr lang="en-US"/>
          </a:p>
        </p:txBody>
      </p:sp>
      <p:pic>
        <p:nvPicPr>
          <p:cNvPr id="7" name="Content Placeholder 6"/>
          <p:cNvPicPr>
            <a:picLocks noChangeAspect="1"/>
          </p:cNvPicPr>
          <p:nvPr>
            <p:ph sz="half" idx="2"/>
          </p:nvPr>
        </p:nvPicPr>
        <p:blipFill>
          <a:blip r:embed="rId1"/>
          <a:stretch>
            <a:fillRect/>
          </a:stretch>
        </p:blipFill>
        <p:spPr>
          <a:xfrm>
            <a:off x="7050405" y="2300605"/>
            <a:ext cx="4803775" cy="25781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1095375"/>
            <a:ext cx="5181600" cy="5081905"/>
          </a:xfrm>
        </p:spPr>
        <p:txBody>
          <a:bodyPr/>
          <a:p>
            <a:pPr marL="0" indent="0">
              <a:buNone/>
            </a:pPr>
            <a:r>
              <a:rPr lang="en-US"/>
              <a:t>Pipes are connected or branched-off at right angles by means of fittings known as bends and elbows or tees and crosses</a:t>
            </a:r>
            <a:endParaRPr lang="en-US"/>
          </a:p>
        </p:txBody>
      </p:sp>
      <p:pic>
        <p:nvPicPr>
          <p:cNvPr id="5" name="Content Placeholder 4"/>
          <p:cNvPicPr>
            <a:picLocks noChangeAspect="1"/>
          </p:cNvPicPr>
          <p:nvPr>
            <p:ph sz="half" idx="2"/>
          </p:nvPr>
        </p:nvPicPr>
        <p:blipFill>
          <a:blip r:embed="rId1"/>
          <a:stretch>
            <a:fillRect/>
          </a:stretch>
        </p:blipFill>
        <p:spPr>
          <a:xfrm>
            <a:off x="6480175" y="447040"/>
            <a:ext cx="5098415" cy="2462530"/>
          </a:xfrm>
          <a:prstGeom prst="rect">
            <a:avLst/>
          </a:prstGeom>
        </p:spPr>
      </p:pic>
      <p:pic>
        <p:nvPicPr>
          <p:cNvPr id="6" name="Picture 5"/>
          <p:cNvPicPr>
            <a:picLocks noChangeAspect="1"/>
          </p:cNvPicPr>
          <p:nvPr/>
        </p:nvPicPr>
        <p:blipFill>
          <a:blip r:embed="rId2"/>
          <a:stretch>
            <a:fillRect/>
          </a:stretch>
        </p:blipFill>
        <p:spPr>
          <a:xfrm>
            <a:off x="7807960" y="3533775"/>
            <a:ext cx="4070985" cy="23622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itle 7"/>
          <p:cNvSpPr>
            <a:spLocks noGrp="1"/>
          </p:cNvSpPr>
          <p:nvPr>
            <p:ph type="title"/>
          </p:nvPr>
        </p:nvSpPr>
        <p:spPr/>
        <p:txBody>
          <a:bodyPr/>
          <a:p>
            <a:endParaRPr lang="en-US"/>
          </a:p>
        </p:txBody>
      </p:sp>
      <p:sp>
        <p:nvSpPr>
          <p:cNvPr id="6" name="Content Placeholder 5"/>
          <p:cNvSpPr>
            <a:spLocks noGrp="1"/>
          </p:cNvSpPr>
          <p:nvPr>
            <p:ph sz="half" idx="1"/>
          </p:nvPr>
        </p:nvSpPr>
        <p:spPr>
          <a:xfrm>
            <a:off x="426720" y="1825625"/>
            <a:ext cx="5593080" cy="4351655"/>
          </a:xfrm>
        </p:spPr>
        <p:txBody>
          <a:bodyPr/>
          <a:p>
            <a:pPr marL="0" indent="0">
              <a:buNone/>
            </a:pPr>
            <a:r>
              <a:rPr lang="en-US"/>
              <a:t>Pipes of large sizes are joined together by means of loose, cast-iron flanges screwed on the ends of the pipes and then bolted together. Rings made of asbestos or soft copper are placed between the raised facings.</a:t>
            </a:r>
            <a:endParaRPr lang="en-US"/>
          </a:p>
        </p:txBody>
      </p:sp>
      <p:pic>
        <p:nvPicPr>
          <p:cNvPr id="7" name="Content Placeholder 6"/>
          <p:cNvPicPr>
            <a:picLocks noChangeAspect="1"/>
          </p:cNvPicPr>
          <p:nvPr>
            <p:ph sz="half" idx="2"/>
          </p:nvPr>
        </p:nvPicPr>
        <p:blipFill>
          <a:blip r:embed="rId1"/>
          <a:stretch>
            <a:fillRect/>
          </a:stretch>
        </p:blipFill>
        <p:spPr>
          <a:xfrm>
            <a:off x="6499225" y="1993265"/>
            <a:ext cx="4526280" cy="40157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t>Copper pipes</a:t>
            </a:r>
            <a:endParaRPr lang="en-US"/>
          </a:p>
        </p:txBody>
      </p:sp>
      <p:sp>
        <p:nvSpPr>
          <p:cNvPr id="6" name="Content Placeholder 5"/>
          <p:cNvSpPr>
            <a:spLocks noGrp="1"/>
          </p:cNvSpPr>
          <p:nvPr>
            <p:ph idx="1"/>
          </p:nvPr>
        </p:nvSpPr>
        <p:spPr/>
        <p:txBody>
          <a:bodyPr/>
          <a:p>
            <a:pPr marL="0" indent="0">
              <a:buNone/>
            </a:pPr>
            <a:r>
              <a:rPr lang="en-US"/>
              <a:t>These are either solid-drawn or made from sheet copper with the</a:t>
            </a:r>
            <a:endParaRPr lang="en-US"/>
          </a:p>
          <a:p>
            <a:pPr marL="0" indent="0">
              <a:buNone/>
            </a:pPr>
            <a:r>
              <a:rPr lang="en-US"/>
              <a:t>longitudinal joint brazed or welded. Separate flanges made of brass or</a:t>
            </a:r>
            <a:endParaRPr lang="en-US"/>
          </a:p>
          <a:p>
            <a:pPr marL="0" indent="0">
              <a:buNone/>
            </a:pPr>
            <a:r>
              <a:rPr lang="en-US"/>
              <a:t>gun-metal are attached to the pipe-ends by brazing. In case of large-size pipes, the flanges are riveted to the pipe-ends before brazing. Copper pipes can be easily bent or coiled.</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272415"/>
            <a:ext cx="10515600" cy="708660"/>
          </a:xfrm>
        </p:spPr>
        <p:txBody>
          <a:bodyPr>
            <a:normAutofit fontScale="90000"/>
          </a:bodyPr>
          <a:p>
            <a:r>
              <a:rPr lang="en-US"/>
              <a:t>Union joint</a:t>
            </a:r>
            <a:endParaRPr lang="en-US"/>
          </a:p>
        </p:txBody>
      </p:sp>
      <p:sp>
        <p:nvSpPr>
          <p:cNvPr id="3" name="Content Placeholder 2"/>
          <p:cNvSpPr>
            <a:spLocks noGrp="1"/>
          </p:cNvSpPr>
          <p:nvPr>
            <p:ph idx="1"/>
          </p:nvPr>
        </p:nvSpPr>
        <p:spPr>
          <a:xfrm>
            <a:off x="438150" y="1497330"/>
            <a:ext cx="10915650" cy="4854575"/>
          </a:xfrm>
        </p:spPr>
        <p:txBody>
          <a:bodyPr/>
          <a:p>
            <a:pPr marL="0" indent="0">
              <a:buNone/>
            </a:pPr>
            <a:r>
              <a:rPr lang="en-US"/>
              <a:t>It is used for pipes of small sizes. The nut A which is threaded</a:t>
            </a:r>
            <a:endParaRPr lang="en-US"/>
          </a:p>
          <a:p>
            <a:pPr marL="0" indent="0">
              <a:buNone/>
            </a:pPr>
            <a:r>
              <a:rPr lang="en-US"/>
              <a:t>on its outside also, is screwed on the end of one pipe. Another nut B is</a:t>
            </a:r>
            <a:endParaRPr lang="en-US"/>
          </a:p>
          <a:p>
            <a:pPr marL="0" indent="0">
              <a:buNone/>
            </a:pPr>
            <a:r>
              <a:rPr lang="en-US"/>
              <a:t>screwed on the end of the other pipe. The two nuts, together with pipes,</a:t>
            </a:r>
            <a:endParaRPr lang="en-US"/>
          </a:p>
          <a:p>
            <a:pPr marL="0" indent="0">
              <a:buNone/>
            </a:pPr>
            <a:r>
              <a:rPr lang="en-US"/>
              <a:t>are drawn together by a coupler nut C. A packing ring, inserted between</a:t>
            </a:r>
            <a:endParaRPr lang="en-US"/>
          </a:p>
          <a:p>
            <a:pPr marL="0" indent="0">
              <a:buNone/>
            </a:pPr>
            <a:r>
              <a:rPr lang="en-US"/>
              <a:t>the ends of the two pipes, prevents leakage.</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2003425" y="1323340"/>
            <a:ext cx="7288530" cy="47694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t>If there is a long pipe line having many screwed joints in series, it is not possible to open any single joint unless the whole line is disconnected. Use of a union joint is very convenient when a long pipe line is to be opened at any intermediate location. It consists of two sockets and a coupler nut.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Title 9"/>
          <p:cNvSpPr>
            <a:spLocks noGrp="1"/>
          </p:cNvSpPr>
          <p:nvPr>
            <p:ph type="title"/>
          </p:nvPr>
        </p:nvSpPr>
        <p:spPr/>
        <p:txBody>
          <a:bodyPr/>
          <a:p>
            <a:endParaRPr lang="en-US"/>
          </a:p>
        </p:txBody>
      </p:sp>
      <p:pic>
        <p:nvPicPr>
          <p:cNvPr id="7" name="Content Placeholder 6"/>
          <p:cNvPicPr>
            <a:picLocks noChangeAspect="1"/>
          </p:cNvPicPr>
          <p:nvPr>
            <p:ph idx="1"/>
          </p:nvPr>
        </p:nvPicPr>
        <p:blipFill>
          <a:blip r:embed="rId1"/>
          <a:stretch>
            <a:fillRect/>
          </a:stretch>
        </p:blipFill>
        <p:spPr>
          <a:xfrm>
            <a:off x="1764030" y="2054860"/>
            <a:ext cx="7769225" cy="34912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28040" y="940435"/>
            <a:ext cx="10525760" cy="5236845"/>
          </a:xfrm>
        </p:spPr>
        <p:txBody>
          <a:bodyPr/>
          <a:p>
            <a:pPr marL="0" indent="0">
              <a:buNone/>
            </a:pPr>
            <a:r>
              <a:rPr lang="en-US"/>
              <a:t>Socket 1 has internal threads and is screwed over threaded end of one pipe. The socket is hexagonal for some length so that it can be tightened with a spanner. Rest of the length has external threads on  which the coupler nut is tightened.</a:t>
            </a:r>
            <a:endParaRPr lang="en-US"/>
          </a:p>
          <a:p>
            <a:pPr marL="0" indent="0">
              <a:buNone/>
            </a:pPr>
            <a:r>
              <a:rPr lang="en-US"/>
              <a:t>Socket 2 also has internal threads to accommodate the pipe end and has a step on its outside surface.</a:t>
            </a:r>
            <a:endParaRPr lang="en-US"/>
          </a:p>
          <a:p>
            <a:pPr marL="0" indent="0">
              <a:buNone/>
            </a:pPr>
            <a:r>
              <a:rPr lang="en-US"/>
              <a:t>Coupler nut is slipped over the second pipe before tightening socket 2. Then the coupler nut is tightened over socket 1 with a gasket in between the faces of sockets.</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PIPING SYMBOLS- </a:t>
            </a:r>
            <a:r>
              <a:rPr lang="en-US">
                <a:sym typeface="+mn-ea"/>
              </a:rPr>
              <a:t>Fitting Symbols</a:t>
            </a:r>
            <a:endParaRPr lang="en-US"/>
          </a:p>
        </p:txBody>
      </p:sp>
      <p:pic>
        <p:nvPicPr>
          <p:cNvPr id="4" name="Content Placeholder 3"/>
          <p:cNvPicPr>
            <a:picLocks noChangeAspect="1"/>
          </p:cNvPicPr>
          <p:nvPr>
            <p:ph idx="1"/>
          </p:nvPr>
        </p:nvPicPr>
        <p:blipFill>
          <a:blip r:embed="rId1"/>
          <a:stretch>
            <a:fillRect/>
          </a:stretch>
        </p:blipFill>
        <p:spPr>
          <a:xfrm>
            <a:off x="1520190" y="1582420"/>
            <a:ext cx="8718550" cy="460946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Joint Symbols</a:t>
            </a:r>
            <a:endParaRPr lang="en-US"/>
          </a:p>
        </p:txBody>
      </p:sp>
      <p:pic>
        <p:nvPicPr>
          <p:cNvPr id="4" name="Content Placeholder 3"/>
          <p:cNvPicPr>
            <a:picLocks noChangeAspect="1"/>
          </p:cNvPicPr>
          <p:nvPr>
            <p:ph idx="1"/>
          </p:nvPr>
        </p:nvPicPr>
        <p:blipFill>
          <a:blip r:embed="rId1"/>
          <a:stretch>
            <a:fillRect/>
          </a:stretch>
        </p:blipFill>
        <p:spPr>
          <a:xfrm>
            <a:off x="765175" y="1974215"/>
            <a:ext cx="10240645" cy="38944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a:t>Valve Symbols</a:t>
            </a:r>
            <a:endParaRPr lang="en-US"/>
          </a:p>
        </p:txBody>
      </p:sp>
      <p:pic>
        <p:nvPicPr>
          <p:cNvPr id="4" name="Content Placeholder 3"/>
          <p:cNvPicPr>
            <a:picLocks noChangeAspect="1"/>
          </p:cNvPicPr>
          <p:nvPr>
            <p:ph idx="1"/>
          </p:nvPr>
        </p:nvPicPr>
        <p:blipFill>
          <a:blip r:embed="rId1"/>
          <a:stretch>
            <a:fillRect/>
          </a:stretch>
        </p:blipFill>
        <p:spPr>
          <a:xfrm>
            <a:off x="1264285" y="2341245"/>
            <a:ext cx="9364345" cy="16738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Fluid Symbols</a:t>
            </a:r>
            <a:endParaRPr lang="en-US"/>
          </a:p>
        </p:txBody>
      </p:sp>
      <p:pic>
        <p:nvPicPr>
          <p:cNvPr id="4" name="Content Placeholder 3"/>
          <p:cNvPicPr>
            <a:picLocks noChangeAspect="1"/>
          </p:cNvPicPr>
          <p:nvPr>
            <p:ph idx="1"/>
          </p:nvPr>
        </p:nvPicPr>
        <p:blipFill>
          <a:blip r:embed="rId1"/>
          <a:stretch>
            <a:fillRect/>
          </a:stretch>
        </p:blipFill>
        <p:spPr>
          <a:xfrm>
            <a:off x="838200" y="3099435"/>
            <a:ext cx="10515600" cy="18027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PIPING LAYOUTS  - • Double line layout</a:t>
            </a:r>
            <a:endParaRPr lang="en-US"/>
          </a:p>
        </p:txBody>
      </p:sp>
      <p:pic>
        <p:nvPicPr>
          <p:cNvPr id="4" name="Content Placeholder 3"/>
          <p:cNvPicPr>
            <a:picLocks noChangeAspect="1"/>
          </p:cNvPicPr>
          <p:nvPr>
            <p:ph idx="1"/>
          </p:nvPr>
        </p:nvPicPr>
        <p:blipFill>
          <a:blip r:embed="rId1"/>
          <a:stretch>
            <a:fillRect/>
          </a:stretch>
        </p:blipFill>
        <p:spPr>
          <a:xfrm>
            <a:off x="1448435" y="1691005"/>
            <a:ext cx="9118600" cy="38950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Single line layout</a:t>
            </a:r>
            <a:endParaRPr lang="en-US"/>
          </a:p>
        </p:txBody>
      </p:sp>
      <p:pic>
        <p:nvPicPr>
          <p:cNvPr id="4" name="Content Placeholder 3"/>
          <p:cNvPicPr>
            <a:picLocks noChangeAspect="1"/>
          </p:cNvPicPr>
          <p:nvPr>
            <p:ph idx="1"/>
          </p:nvPr>
        </p:nvPicPr>
        <p:blipFill>
          <a:blip r:embed="rId1"/>
          <a:stretch>
            <a:fillRect/>
          </a:stretch>
        </p:blipFill>
        <p:spPr>
          <a:xfrm>
            <a:off x="965835" y="2192020"/>
            <a:ext cx="9500870" cy="335089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Placeholder 3"/>
          <p:cNvSpPr>
            <a:spLocks noGrp="1"/>
          </p:cNvSpPr>
          <p:nvPr>
            <p:ph type="body" idx="1"/>
          </p:nvPr>
        </p:nvSpPr>
        <p:spPr>
          <a:xfrm>
            <a:off x="839788" y="724218"/>
            <a:ext cx="5157787" cy="823912"/>
          </a:xfrm>
        </p:spPr>
        <p:txBody>
          <a:bodyPr/>
          <a:p>
            <a:r>
              <a:rPr lang="en-US">
                <a:sym typeface="+mn-ea"/>
              </a:rPr>
              <a:t>Orthographic views</a:t>
            </a:r>
            <a:endParaRPr lang="en-US"/>
          </a:p>
        </p:txBody>
      </p:sp>
      <p:sp>
        <p:nvSpPr>
          <p:cNvPr id="6" name="Text Placeholder 5"/>
          <p:cNvSpPr>
            <a:spLocks noGrp="1"/>
          </p:cNvSpPr>
          <p:nvPr>
            <p:ph type="body" sz="quarter" idx="3"/>
          </p:nvPr>
        </p:nvSpPr>
        <p:spPr>
          <a:xfrm>
            <a:off x="6284595" y="724218"/>
            <a:ext cx="5183188" cy="823912"/>
          </a:xfrm>
        </p:spPr>
        <p:txBody>
          <a:bodyPr/>
          <a:p>
            <a:r>
              <a:rPr lang="en-US"/>
              <a:t>Pictorial view</a:t>
            </a:r>
            <a:endParaRPr lang="en-US"/>
          </a:p>
        </p:txBody>
      </p:sp>
      <p:pic>
        <p:nvPicPr>
          <p:cNvPr id="8" name="Content Placeholder 7"/>
          <p:cNvPicPr>
            <a:picLocks noChangeAspect="1"/>
          </p:cNvPicPr>
          <p:nvPr>
            <p:ph sz="half" idx="2"/>
          </p:nvPr>
        </p:nvPicPr>
        <p:blipFill>
          <a:blip r:embed="rId1"/>
          <a:stretch>
            <a:fillRect/>
          </a:stretch>
        </p:blipFill>
        <p:spPr>
          <a:xfrm>
            <a:off x="1100455" y="1968500"/>
            <a:ext cx="3616960" cy="3712210"/>
          </a:xfrm>
          <a:prstGeom prst="rect">
            <a:avLst/>
          </a:prstGeom>
        </p:spPr>
      </p:pic>
      <p:pic>
        <p:nvPicPr>
          <p:cNvPr id="9" name="Content Placeholder 8"/>
          <p:cNvPicPr>
            <a:picLocks noChangeAspect="1"/>
          </p:cNvPicPr>
          <p:nvPr>
            <p:ph sz="quarter" idx="4"/>
          </p:nvPr>
        </p:nvPicPr>
        <p:blipFill>
          <a:blip r:embed="rId2"/>
          <a:stretch>
            <a:fillRect/>
          </a:stretch>
        </p:blipFill>
        <p:spPr>
          <a:xfrm>
            <a:off x="6377940" y="2233295"/>
            <a:ext cx="5200650" cy="2606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5904</Words>
  <Application>WPS Presentation</Application>
  <PresentationFormat>Widescreen</PresentationFormat>
  <Paragraphs>117</Paragraphs>
  <Slides>37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Arial</vt:lpstr>
      <vt:lpstr>SimSun</vt:lpstr>
      <vt:lpstr>Wingdings</vt:lpstr>
      <vt:lpstr>Calibri Light</vt:lpstr>
      <vt:lpstr>Calibri</vt:lpstr>
      <vt:lpstr>Microsoft YaHei</vt:lpstr>
      <vt:lpstr>Arial Unicode MS</vt:lpstr>
      <vt:lpstr>Office Theme</vt:lpstr>
      <vt:lpstr>Pipe joints</vt:lpstr>
      <vt:lpstr>PowerPoint 演示文稿</vt:lpstr>
      <vt:lpstr>PowerPoint 演示文稿</vt:lpstr>
      <vt:lpstr>PIPE FITTINGS</vt:lpstr>
      <vt:lpstr>PowerPoint 演示文稿</vt:lpstr>
      <vt:lpstr>PowerPoint 演示文稿</vt:lpstr>
      <vt:lpstr>PowerPoint 演示文稿</vt:lpstr>
      <vt:lpstr>PowerPoint 演示文稿</vt:lpstr>
      <vt:lpstr>PowerPoint 演示文稿</vt:lpstr>
      <vt:lpstr>Cast-iron pipes  - Cast-iron flanged joint </vt:lpstr>
      <vt:lpstr>End of caste and pipes </vt:lpstr>
      <vt:lpstr>PowerPoint 演示文稿</vt:lpstr>
      <vt:lpstr>Socket and spigot joint</vt:lpstr>
      <vt:lpstr>PowerPoint 演示文稿</vt:lpstr>
      <vt:lpstr>PowerPoint 演示文稿</vt:lpstr>
      <vt:lpstr>Hydraulic joint</vt:lpstr>
      <vt:lpstr>PowerPoint 演示文稿</vt:lpstr>
      <vt:lpstr>PowerPoint 演示文稿</vt:lpstr>
      <vt:lpstr>Wrought-iron and steel pipes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 joints</dc:title>
  <dc:creator>hp</dc:creator>
  <cp:lastModifiedBy>hp</cp:lastModifiedBy>
  <cp:revision>7</cp:revision>
  <dcterms:created xsi:type="dcterms:W3CDTF">2023-11-06T05:25:00Z</dcterms:created>
  <dcterms:modified xsi:type="dcterms:W3CDTF">2023-11-07T06:33:18Z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F191683DE84640D29B2C8F472C58A102_11</vt:lpwstr>
  </property>
  <property fmtid="{D5CDD505-2E9C-101B-9397-08002B2CF9AE}" pid="3" name="KSOProductBuildVer">
    <vt:lpwstr>1033-12.2.0.13266</vt:lpwstr>
  </property>
</Properties>
</file>