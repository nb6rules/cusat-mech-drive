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86" r:id="rId2"/>
    <p:sldId id="288"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6" r:id="rId18"/>
    <p:sldId id="271" r:id="rId19"/>
    <p:sldId id="272" r:id="rId20"/>
    <p:sldId id="273" r:id="rId21"/>
    <p:sldId id="275" r:id="rId22"/>
    <p:sldId id="279" r:id="rId23"/>
    <p:sldId id="278" r:id="rId24"/>
    <p:sldId id="280" r:id="rId25"/>
    <p:sldId id="281" r:id="rId26"/>
    <p:sldId id="282" r:id="rId27"/>
    <p:sldId id="285"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F0B339C-B040-4B8C-902F-FCB4DFC1FBB6}" type="datetimeFigureOut">
              <a:rPr lang="en-US" smtClean="0"/>
              <a:pPr/>
              <a:t>7/14/2023</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18C9796-AE00-4C19-8DAE-61FD1FDA6AF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F0B339C-B040-4B8C-902F-FCB4DFC1FBB6}"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8C9796-AE00-4C19-8DAE-61FD1FDA6AF6}"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F0B339C-B040-4B8C-902F-FCB4DFC1FBB6}"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8C9796-AE00-4C19-8DAE-61FD1FDA6AF6}"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F0B339C-B040-4B8C-902F-FCB4DFC1FBB6}"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8C9796-AE00-4C19-8DAE-61FD1FDA6AF6}"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F0B339C-B040-4B8C-902F-FCB4DFC1FBB6}" type="datetimeFigureOut">
              <a:rPr lang="en-US" smtClean="0"/>
              <a:pPr/>
              <a:t>7/14/2023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8C9796-AE00-4C19-8DAE-61FD1FDA6AF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F0B339C-B040-4B8C-902F-FCB4DFC1FBB6}" type="datetimeFigureOut">
              <a:rPr lang="en-US" smtClean="0"/>
              <a:pPr/>
              <a:t>7/14/2023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8C9796-AE00-4C19-8DAE-61FD1FDA6AF6}"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B339C-B040-4B8C-902F-FCB4DFC1FBB6}" type="datetimeFigureOut">
              <a:rPr lang="en-US" smtClean="0"/>
              <a:pPr/>
              <a:t>7/14/2023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8C9796-AE00-4C19-8DAE-61FD1FDA6AF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F0B339C-B040-4B8C-902F-FCB4DFC1FBB6}" type="datetimeFigureOut">
              <a:rPr lang="en-US" smtClean="0"/>
              <a:pPr/>
              <a:t>7/14/2023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8C9796-AE00-4C19-8DAE-61FD1FDA6AF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F0B339C-B040-4B8C-902F-FCB4DFC1FBB6}" type="datetimeFigureOut">
              <a:rPr lang="en-US" smtClean="0"/>
              <a:pPr/>
              <a:t>7/14/2023</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18C9796-AE00-4C19-8DAE-61FD1FDA6AF6}"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F0B339C-B040-4B8C-902F-FCB4DFC1FBB6}"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8C9796-AE00-4C19-8DAE-61FD1FDA6A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F0B339C-B040-4B8C-902F-FCB4DFC1FBB6}" type="datetimeFigureOut">
              <a:rPr lang="en-US" smtClean="0"/>
              <a:pPr/>
              <a:t>7/14/2023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8C9796-AE00-4C19-8DAE-61FD1FDA6A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F0B339C-B040-4B8C-902F-FCB4DFC1FBB6}" type="datetimeFigureOut">
              <a:rPr lang="en-US" smtClean="0"/>
              <a:pPr/>
              <a:t>7/14/2023</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18C9796-AE00-4C19-8DAE-61FD1FDA6AF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6.gif" /><Relationship Id="rId2" Type="http://schemas.openxmlformats.org/officeDocument/2006/relationships/hyperlink" Target="Wind%20Power%20Plant.mp4" TargetMode="Externa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hyperlink" Target="Photovoltaic.mp4" TargetMode="Externa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hyperlink" Target="Solar%20Thermal%20Power%20plant.mp4" TargetMode="Externa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p>
        </p:txBody>
      </p:sp>
      <p:sp>
        <p:nvSpPr>
          <p:cNvPr id="5" name="Subtitle 4"/>
          <p:cNvSpPr>
            <a:spLocks noGrp="1"/>
          </p:cNvSpPr>
          <p:nvPr>
            <p:ph type="subTitle" idx="1"/>
          </p:nvPr>
        </p:nvSpPr>
        <p:spPr/>
        <p:txBody>
          <a:bodyPr/>
          <a:lstStyle/>
          <a:p>
            <a:r>
              <a:rPr lang="en-IN" dirty="0"/>
              <a:t>Module 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534400" cy="4788091"/>
          </a:xfrm>
        </p:spPr>
        <p:txBody>
          <a:bodyPr>
            <a:normAutofit/>
          </a:bodyPr>
          <a:lstStyle/>
          <a:p>
            <a:pPr algn="just"/>
            <a:r>
              <a:rPr lang="en-US" dirty="0">
                <a:latin typeface="Times New Roman" pitchFamily="18" charset="0"/>
                <a:cs typeface="Times New Roman" pitchFamily="18" charset="0"/>
              </a:rPr>
              <a:t>A </a:t>
            </a:r>
            <a:r>
              <a:rPr lang="en-US" dirty="0">
                <a:solidFill>
                  <a:srgbClr val="FF0000"/>
                </a:solidFill>
                <a:latin typeface="Times New Roman" pitchFamily="18" charset="0"/>
                <a:cs typeface="Times New Roman" pitchFamily="18" charset="0"/>
              </a:rPr>
              <a:t>power plant </a:t>
            </a:r>
            <a:r>
              <a:rPr lang="en-US" dirty="0">
                <a:latin typeface="Times New Roman" pitchFamily="18" charset="0"/>
                <a:cs typeface="Times New Roman" pitchFamily="18" charset="0"/>
              </a:rPr>
              <a:t>is an industrial facility used to generate </a:t>
            </a:r>
            <a:r>
              <a:rPr lang="en-US" dirty="0">
                <a:solidFill>
                  <a:schemeClr val="accent3">
                    <a:lumMod val="75000"/>
                  </a:schemeClr>
                </a:solidFill>
                <a:latin typeface="Times New Roman" pitchFamily="18" charset="0"/>
                <a:cs typeface="Times New Roman" pitchFamily="18" charset="0"/>
              </a:rPr>
              <a:t>electric power</a:t>
            </a:r>
            <a:r>
              <a:rPr lang="en-US" dirty="0">
                <a:latin typeface="Times New Roman" pitchFamily="18" charset="0"/>
                <a:cs typeface="Times New Roman" pitchFamily="18" charset="0"/>
              </a:rPr>
              <a:t> with the help of one or more generators which converts different energy sources into electric power.</a:t>
            </a:r>
          </a:p>
          <a:p>
            <a:pPr algn="just"/>
            <a:r>
              <a:rPr lang="en-US" dirty="0">
                <a:latin typeface="Times New Roman" pitchFamily="18" charset="0"/>
                <a:cs typeface="Times New Roman" pitchFamily="18" charset="0"/>
              </a:rPr>
              <a:t>Electricity is a </a:t>
            </a:r>
            <a:r>
              <a:rPr lang="en-US" dirty="0">
                <a:solidFill>
                  <a:schemeClr val="accent3">
                    <a:lumMod val="75000"/>
                  </a:schemeClr>
                </a:solidFill>
                <a:latin typeface="Times New Roman" pitchFamily="18" charset="0"/>
                <a:cs typeface="Times New Roman" pitchFamily="18" charset="0"/>
              </a:rPr>
              <a:t>secondary energy source</a:t>
            </a:r>
            <a:r>
              <a:rPr lang="en-US" dirty="0">
                <a:latin typeface="Times New Roman" pitchFamily="18" charset="0"/>
                <a:cs typeface="Times New Roman" pitchFamily="18" charset="0"/>
              </a:rPr>
              <a:t> - obtained from the conversion of other </a:t>
            </a:r>
            <a:r>
              <a:rPr lang="en-US" dirty="0">
                <a:solidFill>
                  <a:schemeClr val="accent3">
                    <a:lumMod val="75000"/>
                  </a:schemeClr>
                </a:solidFill>
                <a:latin typeface="Times New Roman" pitchFamily="18" charset="0"/>
                <a:cs typeface="Times New Roman" pitchFamily="18" charset="0"/>
              </a:rPr>
              <a:t>primary sources of energy</a:t>
            </a:r>
            <a:r>
              <a:rPr lang="en-US" dirty="0">
                <a:latin typeface="Times New Roman" pitchFamily="18" charset="0"/>
                <a:cs typeface="Times New Roman" pitchFamily="18" charset="0"/>
              </a:rPr>
              <a:t> :-				</a:t>
            </a:r>
            <a:r>
              <a:rPr lang="en-US" dirty="0">
                <a:solidFill>
                  <a:srgbClr val="0070C0"/>
                </a:solidFill>
                <a:latin typeface="Times New Roman" pitchFamily="18" charset="0"/>
                <a:cs typeface="Times New Roman" pitchFamily="18" charset="0"/>
              </a:rPr>
              <a:t>coal, natural gas, nuclear, solar, 					hydraulic or wind energy. </a:t>
            </a:r>
          </a:p>
          <a:p>
            <a:pPr algn="just"/>
            <a:r>
              <a:rPr lang="en-US" dirty="0">
                <a:latin typeface="Times New Roman" pitchFamily="18" charset="0"/>
                <a:cs typeface="Times New Roman" pitchFamily="18" charset="0"/>
              </a:rPr>
              <a:t>Electricity itself is neither renewable nor non-renewable.</a:t>
            </a:r>
          </a:p>
          <a:p>
            <a:pPr algn="just"/>
            <a:r>
              <a:rPr lang="en-US" dirty="0">
                <a:latin typeface="Times New Roman" pitchFamily="18" charset="0"/>
                <a:cs typeface="Times New Roman" pitchFamily="18" charset="0"/>
              </a:rPr>
              <a:t>The power plant is the </a:t>
            </a:r>
            <a:r>
              <a:rPr lang="en-US" dirty="0">
                <a:solidFill>
                  <a:schemeClr val="accent3">
                    <a:lumMod val="75000"/>
                  </a:schemeClr>
                </a:solidFill>
                <a:latin typeface="Times New Roman" pitchFamily="18" charset="0"/>
                <a:cs typeface="Times New Roman" pitchFamily="18" charset="0"/>
              </a:rPr>
              <a:t>location</a:t>
            </a:r>
            <a:r>
              <a:rPr lang="en-US" dirty="0">
                <a:latin typeface="Times New Roman" pitchFamily="18" charset="0"/>
                <a:cs typeface="Times New Roman" pitchFamily="18" charset="0"/>
              </a:rPr>
              <a:t> in which the energy conversions take place.</a:t>
            </a:r>
          </a:p>
          <a:p>
            <a:pPr algn="just"/>
            <a:endParaRPr lang="en-US" dirty="0"/>
          </a:p>
        </p:txBody>
      </p:sp>
      <p:sp>
        <p:nvSpPr>
          <p:cNvPr id="2" name="Title 1"/>
          <p:cNvSpPr>
            <a:spLocks noGrp="1"/>
          </p:cNvSpPr>
          <p:nvPr>
            <p:ph type="title"/>
          </p:nvPr>
        </p:nvSpPr>
        <p:spPr>
          <a:xfrm>
            <a:off x="457200" y="274638"/>
            <a:ext cx="8229600" cy="944562"/>
          </a:xfrm>
        </p:spPr>
        <p:txBody>
          <a:bodyPr/>
          <a:lstStyle/>
          <a:p>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47800"/>
            <a:ext cx="8534400" cy="4559491"/>
          </a:xfrm>
        </p:spPr>
        <p:txBody>
          <a:bodyPr>
            <a:normAutofit/>
          </a:bodyPr>
          <a:lstStyle/>
          <a:p>
            <a:pPr>
              <a:lnSpc>
                <a:spcPct val="150000"/>
              </a:lnSpc>
            </a:pPr>
            <a:r>
              <a:rPr lang="en-US" dirty="0">
                <a:solidFill>
                  <a:srgbClr val="0070C0"/>
                </a:solidFill>
                <a:latin typeface="Times New Roman" pitchFamily="18" charset="0"/>
                <a:cs typeface="Times New Roman" pitchFamily="18" charset="0"/>
              </a:rPr>
              <a:t>Fossil fuel</a:t>
            </a:r>
            <a:r>
              <a:rPr lang="en-US" dirty="0">
                <a:latin typeface="Times New Roman" pitchFamily="18" charset="0"/>
                <a:cs typeface="Times New Roman" pitchFamily="18" charset="0"/>
              </a:rPr>
              <a:t> power plants: Generates electric power by burning </a:t>
            </a:r>
            <a:r>
              <a:rPr lang="en-US" dirty="0">
                <a:solidFill>
                  <a:srgbClr val="0070C0"/>
                </a:solidFill>
                <a:latin typeface="Times New Roman" pitchFamily="18" charset="0"/>
                <a:cs typeface="Times New Roman" pitchFamily="18" charset="0"/>
              </a:rPr>
              <a:t>fossil fuels</a:t>
            </a:r>
            <a:r>
              <a:rPr lang="en-US" dirty="0">
                <a:latin typeface="Times New Roman" pitchFamily="18" charset="0"/>
                <a:cs typeface="Times New Roman" pitchFamily="18" charset="0"/>
              </a:rPr>
              <a:t> like </a:t>
            </a:r>
            <a:r>
              <a:rPr lang="en-US" dirty="0">
                <a:solidFill>
                  <a:srgbClr val="0070C0"/>
                </a:solidFill>
                <a:latin typeface="Times New Roman" pitchFamily="18" charset="0"/>
                <a:cs typeface="Times New Roman" pitchFamily="18" charset="0"/>
              </a:rPr>
              <a:t>coal, natural gas </a:t>
            </a:r>
            <a:r>
              <a:rPr lang="en-US" dirty="0">
                <a:latin typeface="Times New Roman" pitchFamily="18" charset="0"/>
                <a:cs typeface="Times New Roman" pitchFamily="18" charset="0"/>
              </a:rPr>
              <a:t>or </a:t>
            </a:r>
            <a:r>
              <a:rPr lang="en-US" dirty="0">
                <a:solidFill>
                  <a:srgbClr val="0070C0"/>
                </a:solidFill>
                <a:latin typeface="Times New Roman" pitchFamily="18" charset="0"/>
                <a:cs typeface="Times New Roman" pitchFamily="18" charset="0"/>
              </a:rPr>
              <a:t>diesel</a:t>
            </a:r>
            <a:r>
              <a:rPr lang="en-US" dirty="0">
                <a:latin typeface="Times New Roman" pitchFamily="18" charset="0"/>
                <a:cs typeface="Times New Roman" pitchFamily="18" charset="0"/>
              </a:rPr>
              <a:t>.</a:t>
            </a:r>
          </a:p>
          <a:p>
            <a:pPr>
              <a:lnSpc>
                <a:spcPct val="150000"/>
              </a:lnSpc>
            </a:pPr>
            <a:r>
              <a:rPr lang="en-US" dirty="0">
                <a:solidFill>
                  <a:srgbClr val="0070C0"/>
                </a:solidFill>
                <a:latin typeface="Times New Roman" pitchFamily="18" charset="0"/>
                <a:cs typeface="Times New Roman" pitchFamily="18" charset="0"/>
              </a:rPr>
              <a:t>Nuclear</a:t>
            </a:r>
            <a:r>
              <a:rPr lang="en-US" dirty="0">
                <a:latin typeface="Times New Roman" pitchFamily="18" charset="0"/>
                <a:cs typeface="Times New Roman" pitchFamily="18" charset="0"/>
              </a:rPr>
              <a:t> power plants: Controlled </a:t>
            </a:r>
            <a:r>
              <a:rPr lang="en-US" dirty="0">
                <a:solidFill>
                  <a:srgbClr val="0070C0"/>
                </a:solidFill>
                <a:latin typeface="Times New Roman" pitchFamily="18" charset="0"/>
                <a:cs typeface="Times New Roman" pitchFamily="18" charset="0"/>
              </a:rPr>
              <a:t>nuclear</a:t>
            </a:r>
            <a:r>
              <a:rPr lang="en-US" dirty="0">
                <a:latin typeface="Times New Roman" pitchFamily="18" charset="0"/>
                <a:cs typeface="Times New Roman" pitchFamily="18" charset="0"/>
              </a:rPr>
              <a:t> reaction is maintained to generate </a:t>
            </a:r>
            <a:r>
              <a:rPr lang="en-US" dirty="0">
                <a:solidFill>
                  <a:srgbClr val="0070C0"/>
                </a:solidFill>
                <a:latin typeface="Times New Roman" pitchFamily="18" charset="0"/>
                <a:cs typeface="Times New Roman" pitchFamily="18" charset="0"/>
              </a:rPr>
              <a:t>electricity</a:t>
            </a:r>
            <a:r>
              <a:rPr lang="en-US" dirty="0">
                <a:latin typeface="Times New Roman" pitchFamily="18" charset="0"/>
                <a:cs typeface="Times New Roman" pitchFamily="18" charset="0"/>
              </a:rPr>
              <a:t>.</a:t>
            </a:r>
          </a:p>
          <a:p>
            <a:pPr>
              <a:lnSpc>
                <a:spcPct val="150000"/>
              </a:lnSpc>
            </a:pPr>
            <a:r>
              <a:rPr lang="en-US" dirty="0">
                <a:solidFill>
                  <a:srgbClr val="0070C0"/>
                </a:solidFill>
                <a:latin typeface="Times New Roman" pitchFamily="18" charset="0"/>
                <a:cs typeface="Times New Roman" pitchFamily="18" charset="0"/>
              </a:rPr>
              <a:t>Hydroelectric</a:t>
            </a:r>
            <a:r>
              <a:rPr lang="en-US" dirty="0">
                <a:latin typeface="Times New Roman" pitchFamily="18" charset="0"/>
                <a:cs typeface="Times New Roman" pitchFamily="18" charset="0"/>
              </a:rPr>
              <a:t> power plants: </a:t>
            </a:r>
            <a:r>
              <a:rPr lang="en-US" dirty="0">
                <a:solidFill>
                  <a:srgbClr val="0070C0"/>
                </a:solidFill>
                <a:latin typeface="Times New Roman" pitchFamily="18" charset="0"/>
                <a:cs typeface="Times New Roman" pitchFamily="18" charset="0"/>
              </a:rPr>
              <a:t>Electricity</a:t>
            </a:r>
            <a:r>
              <a:rPr lang="en-US" dirty="0">
                <a:latin typeface="Times New Roman" pitchFamily="18" charset="0"/>
                <a:cs typeface="Times New Roman" pitchFamily="18" charset="0"/>
              </a:rPr>
              <a:t> is produced by building dams on suitable rivers.</a:t>
            </a:r>
          </a:p>
        </p:txBody>
      </p:sp>
      <p:sp>
        <p:nvSpPr>
          <p:cNvPr id="2" name="Title 1"/>
          <p:cNvSpPr>
            <a:spLocks noGrp="1"/>
          </p:cNvSpPr>
          <p:nvPr>
            <p:ph type="title"/>
          </p:nvPr>
        </p:nvSpPr>
        <p:spPr>
          <a:xfrm>
            <a:off x="457200" y="274638"/>
            <a:ext cx="8229600" cy="944562"/>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Conventional Power Plants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7848600" cy="4559491"/>
          </a:xfrm>
        </p:spPr>
        <p:txBody>
          <a:bodyPr>
            <a:normAutofit fontScale="92500" lnSpcReduction="10000"/>
          </a:bodyPr>
          <a:lstStyle/>
          <a:p>
            <a:pPr algn="just">
              <a:lnSpc>
                <a:spcPct val="150000"/>
              </a:lnSpc>
            </a:pPr>
            <a:r>
              <a:rPr lang="en-US" dirty="0">
                <a:solidFill>
                  <a:srgbClr val="0070C0"/>
                </a:solidFill>
                <a:latin typeface="Times New Roman" pitchFamily="18" charset="0"/>
                <a:cs typeface="Times New Roman" pitchFamily="18" charset="0"/>
              </a:rPr>
              <a:t>Wind</a:t>
            </a:r>
            <a:r>
              <a:rPr lang="en-US" dirty="0">
                <a:latin typeface="Times New Roman" pitchFamily="18" charset="0"/>
                <a:cs typeface="Times New Roman" pitchFamily="18" charset="0"/>
              </a:rPr>
              <a:t> power plants: The kinetic energy of </a:t>
            </a:r>
            <a:r>
              <a:rPr lang="en-US" dirty="0">
                <a:solidFill>
                  <a:srgbClr val="0070C0"/>
                </a:solidFill>
                <a:latin typeface="Times New Roman" pitchFamily="18" charset="0"/>
                <a:cs typeface="Times New Roman" pitchFamily="18" charset="0"/>
              </a:rPr>
              <a:t>wind</a:t>
            </a:r>
            <a:r>
              <a:rPr lang="en-US" dirty="0">
                <a:latin typeface="Times New Roman" pitchFamily="18" charset="0"/>
                <a:cs typeface="Times New Roman" pitchFamily="18" charset="0"/>
              </a:rPr>
              <a:t> is used to create power.</a:t>
            </a:r>
          </a:p>
          <a:p>
            <a:pPr algn="just">
              <a:lnSpc>
                <a:spcPct val="150000"/>
              </a:lnSpc>
            </a:pPr>
            <a:r>
              <a:rPr lang="en-US" dirty="0">
                <a:solidFill>
                  <a:srgbClr val="0070C0"/>
                </a:solidFill>
                <a:latin typeface="Times New Roman" pitchFamily="18" charset="0"/>
                <a:cs typeface="Times New Roman" pitchFamily="18" charset="0"/>
              </a:rPr>
              <a:t>Solar</a:t>
            </a:r>
            <a:r>
              <a:rPr lang="en-US" dirty="0">
                <a:latin typeface="Times New Roman" pitchFamily="18" charset="0"/>
                <a:cs typeface="Times New Roman" pitchFamily="18" charset="0"/>
              </a:rPr>
              <a:t> power plants: Generates power by collecting </a:t>
            </a:r>
            <a:r>
              <a:rPr lang="en-US" dirty="0">
                <a:solidFill>
                  <a:srgbClr val="0070C0"/>
                </a:solidFill>
                <a:latin typeface="Times New Roman" pitchFamily="18" charset="0"/>
                <a:cs typeface="Times New Roman" pitchFamily="18" charset="0"/>
              </a:rPr>
              <a:t>solar</a:t>
            </a:r>
            <a:r>
              <a:rPr lang="en-US" dirty="0">
                <a:latin typeface="Times New Roman" pitchFamily="18" charset="0"/>
                <a:cs typeface="Times New Roman" pitchFamily="18" charset="0"/>
              </a:rPr>
              <a:t> radiation.</a:t>
            </a:r>
          </a:p>
          <a:p>
            <a:pPr algn="just">
              <a:lnSpc>
                <a:spcPct val="150000"/>
              </a:lnSpc>
            </a:pPr>
            <a:r>
              <a:rPr lang="en-US" dirty="0">
                <a:solidFill>
                  <a:srgbClr val="0070C0"/>
                </a:solidFill>
                <a:latin typeface="Times New Roman" pitchFamily="18" charset="0"/>
                <a:cs typeface="Times New Roman" pitchFamily="18" charset="0"/>
              </a:rPr>
              <a:t>Geothermal</a:t>
            </a:r>
            <a:r>
              <a:rPr lang="en-US" dirty="0">
                <a:latin typeface="Times New Roman" pitchFamily="18" charset="0"/>
                <a:cs typeface="Times New Roman" pitchFamily="18" charset="0"/>
              </a:rPr>
              <a:t> power plants: Uses the natural heat found in the deep levels of the earth to generate </a:t>
            </a:r>
            <a:r>
              <a:rPr lang="en-US" dirty="0">
                <a:solidFill>
                  <a:srgbClr val="0070C0"/>
                </a:solidFill>
                <a:latin typeface="Times New Roman" pitchFamily="18" charset="0"/>
                <a:cs typeface="Times New Roman" pitchFamily="18" charset="0"/>
              </a:rPr>
              <a:t>electricity</a:t>
            </a:r>
            <a:r>
              <a:rPr lang="en-US" dirty="0">
                <a:latin typeface="Times New Roman" pitchFamily="18" charset="0"/>
                <a:cs typeface="Times New Roman" pitchFamily="18" charset="0"/>
              </a:rPr>
              <a:t>.</a:t>
            </a:r>
          </a:p>
          <a:p>
            <a:pPr algn="just">
              <a:lnSpc>
                <a:spcPct val="150000"/>
              </a:lnSpc>
            </a:pPr>
            <a:r>
              <a:rPr lang="en-US" dirty="0">
                <a:solidFill>
                  <a:srgbClr val="0070C0"/>
                </a:solidFill>
                <a:latin typeface="Times New Roman" pitchFamily="18" charset="0"/>
                <a:cs typeface="Times New Roman" pitchFamily="18" charset="0"/>
              </a:rPr>
              <a:t>Biomass</a:t>
            </a:r>
            <a:r>
              <a:rPr lang="en-US" dirty="0">
                <a:latin typeface="Times New Roman" pitchFamily="18" charset="0"/>
                <a:cs typeface="Times New Roman" pitchFamily="18" charset="0"/>
              </a:rPr>
              <a:t> power plants: Natural organic matter is burnt to produce </a:t>
            </a:r>
            <a:r>
              <a:rPr lang="en-US" dirty="0">
                <a:solidFill>
                  <a:srgbClr val="0070C0"/>
                </a:solidFill>
                <a:latin typeface="Times New Roman" pitchFamily="18" charset="0"/>
                <a:cs typeface="Times New Roman" pitchFamily="18" charset="0"/>
              </a:rPr>
              <a:t>electricity</a:t>
            </a:r>
            <a:r>
              <a:rPr lang="en-US" dirty="0">
                <a:latin typeface="Times New Roman" pitchFamily="18" charset="0"/>
                <a:cs typeface="Times New Roman" pitchFamily="18" charset="0"/>
              </a:rPr>
              <a:t>.</a:t>
            </a:r>
            <a:endParaRPr lang="en-US" dirty="0">
              <a:solidFill>
                <a:srgbClr val="0070C0"/>
              </a:solidFill>
              <a:latin typeface="Times New Roman" pitchFamily="18" charset="0"/>
              <a:cs typeface="Times New Roman" pitchFamily="18" charset="0"/>
            </a:endParaRPr>
          </a:p>
        </p:txBody>
      </p:sp>
      <p:sp>
        <p:nvSpPr>
          <p:cNvPr id="2" name="Title 1"/>
          <p:cNvSpPr>
            <a:spLocks noGrp="1"/>
          </p:cNvSpPr>
          <p:nvPr>
            <p:ph type="title"/>
          </p:nvPr>
        </p:nvSpPr>
        <p:spPr>
          <a:xfrm>
            <a:off x="762000" y="274638"/>
            <a:ext cx="7924800" cy="944562"/>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Non-Conventional Power Plants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371600"/>
            <a:ext cx="7696200" cy="4635691"/>
          </a:xfrm>
        </p:spPr>
        <p:txBody>
          <a:bodyPr>
            <a:normAutofit/>
          </a:bodyPr>
          <a:lstStyle/>
          <a:p>
            <a:pPr>
              <a:lnSpc>
                <a:spcPct val="150000"/>
              </a:lnSpc>
            </a:pPr>
            <a:r>
              <a:rPr lang="en-US" dirty="0">
                <a:solidFill>
                  <a:schemeClr val="accent2">
                    <a:lumMod val="50000"/>
                  </a:schemeClr>
                </a:solidFill>
                <a:latin typeface="Times New Roman" pitchFamily="18" charset="0"/>
                <a:cs typeface="Times New Roman" pitchFamily="18" charset="0"/>
              </a:rPr>
              <a:t>Hydro-electric power plants</a:t>
            </a:r>
          </a:p>
          <a:p>
            <a:pPr>
              <a:lnSpc>
                <a:spcPct val="150000"/>
              </a:lnSpc>
            </a:pPr>
            <a:r>
              <a:rPr lang="en-US" dirty="0">
                <a:solidFill>
                  <a:schemeClr val="accent2">
                    <a:lumMod val="50000"/>
                  </a:schemeClr>
                </a:solidFill>
                <a:latin typeface="Times New Roman" pitchFamily="18" charset="0"/>
                <a:cs typeface="Times New Roman" pitchFamily="18" charset="0"/>
              </a:rPr>
              <a:t>Thermal power plants</a:t>
            </a:r>
          </a:p>
          <a:p>
            <a:pPr>
              <a:lnSpc>
                <a:spcPct val="150000"/>
              </a:lnSpc>
            </a:pPr>
            <a:r>
              <a:rPr lang="en-US" dirty="0">
                <a:solidFill>
                  <a:schemeClr val="accent2">
                    <a:lumMod val="50000"/>
                  </a:schemeClr>
                </a:solidFill>
                <a:latin typeface="Times New Roman" pitchFamily="18" charset="0"/>
                <a:cs typeface="Times New Roman" pitchFamily="18" charset="0"/>
              </a:rPr>
              <a:t>Nuclear power plants</a:t>
            </a:r>
          </a:p>
          <a:p>
            <a:pPr>
              <a:lnSpc>
                <a:spcPct val="150000"/>
              </a:lnSpc>
            </a:pPr>
            <a:r>
              <a:rPr lang="en-US" dirty="0">
                <a:solidFill>
                  <a:schemeClr val="accent2">
                    <a:lumMod val="50000"/>
                  </a:schemeClr>
                </a:solidFill>
                <a:latin typeface="Times New Roman" pitchFamily="18" charset="0"/>
                <a:cs typeface="Times New Roman" pitchFamily="18" charset="0"/>
              </a:rPr>
              <a:t>Diesel power plants</a:t>
            </a:r>
          </a:p>
          <a:p>
            <a:pPr>
              <a:lnSpc>
                <a:spcPct val="150000"/>
              </a:lnSpc>
            </a:pPr>
            <a:r>
              <a:rPr lang="en-US" dirty="0">
                <a:solidFill>
                  <a:schemeClr val="accent2">
                    <a:lumMod val="50000"/>
                  </a:schemeClr>
                </a:solidFill>
                <a:latin typeface="Times New Roman" pitchFamily="18" charset="0"/>
                <a:cs typeface="Times New Roman" pitchFamily="18" charset="0"/>
              </a:rPr>
              <a:t>Wind power plants</a:t>
            </a:r>
          </a:p>
          <a:p>
            <a:pPr>
              <a:lnSpc>
                <a:spcPct val="150000"/>
              </a:lnSpc>
            </a:pPr>
            <a:r>
              <a:rPr lang="en-US" dirty="0">
                <a:solidFill>
                  <a:schemeClr val="accent2">
                    <a:lumMod val="50000"/>
                  </a:schemeClr>
                </a:solidFill>
                <a:latin typeface="Times New Roman" pitchFamily="18" charset="0"/>
                <a:cs typeface="Times New Roman" pitchFamily="18" charset="0"/>
              </a:rPr>
              <a:t>Solar power plants</a:t>
            </a:r>
          </a:p>
        </p:txBody>
      </p:sp>
      <p:sp>
        <p:nvSpPr>
          <p:cNvPr id="2" name="Title 1"/>
          <p:cNvSpPr>
            <a:spLocks noGrp="1"/>
          </p:cNvSpPr>
          <p:nvPr>
            <p:ph type="title"/>
          </p:nvPr>
        </p:nvSpPr>
        <p:spPr>
          <a:xfrm>
            <a:off x="457200" y="274638"/>
            <a:ext cx="8229600" cy="944562"/>
          </a:xfrm>
        </p:spPr>
        <p:txBody>
          <a:bodyPr/>
          <a:lstStyle/>
          <a:p>
            <a:pPr algn="ct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0"/>
            <a:ext cx="8077200" cy="4788091"/>
          </a:xfrm>
        </p:spPr>
        <p:txBody>
          <a:bodyPr>
            <a:normAutofit/>
          </a:bodyPr>
          <a:lstStyle/>
          <a:p>
            <a:pPr>
              <a:lnSpc>
                <a:spcPct val="150000"/>
              </a:lnSpc>
            </a:pPr>
            <a:r>
              <a:rPr lang="en-US" sz="2400" dirty="0">
                <a:latin typeface="Times New Roman" pitchFamily="18" charset="0"/>
                <a:cs typeface="Times New Roman" pitchFamily="18" charset="0"/>
              </a:rPr>
              <a:t>Hydro energy:-  Energy generated by the force of water.</a:t>
            </a:r>
          </a:p>
          <a:p>
            <a:pPr>
              <a:lnSpc>
                <a:spcPct val="150000"/>
              </a:lnSpc>
            </a:pPr>
            <a:r>
              <a:rPr lang="en-US" sz="2400" dirty="0">
                <a:latin typeface="Times New Roman" pitchFamily="18" charset="0"/>
                <a:cs typeface="Times New Roman" pitchFamily="18" charset="0"/>
              </a:rPr>
              <a:t>Production of electricity depends upon:-</a:t>
            </a:r>
          </a:p>
          <a:p>
            <a:pPr marL="2487168" lvl="8" indent="-457200" algn="just">
              <a:lnSpc>
                <a:spcPct val="150000"/>
              </a:lnSpc>
              <a:buFont typeface="+mj-lt"/>
              <a:buAutoNum type="arabicPeriod"/>
            </a:pPr>
            <a:r>
              <a:rPr lang="en-US" sz="2400" dirty="0">
                <a:solidFill>
                  <a:srgbClr val="7030A0"/>
                </a:solidFill>
                <a:latin typeface="Times New Roman" pitchFamily="18" charset="0"/>
                <a:cs typeface="Times New Roman" pitchFamily="18" charset="0"/>
              </a:rPr>
              <a:t>Water level from the ground</a:t>
            </a:r>
          </a:p>
          <a:p>
            <a:pPr marL="2487168" lvl="8" indent="-457200" algn="just">
              <a:lnSpc>
                <a:spcPct val="150000"/>
              </a:lnSpc>
              <a:buFont typeface="+mj-lt"/>
              <a:buAutoNum type="arabicPeriod"/>
            </a:pPr>
            <a:r>
              <a:rPr lang="en-US" sz="2400" dirty="0">
                <a:solidFill>
                  <a:srgbClr val="7030A0"/>
                </a:solidFill>
                <a:latin typeface="Times New Roman" pitchFamily="18" charset="0"/>
                <a:cs typeface="Times New Roman" pitchFamily="18" charset="0"/>
              </a:rPr>
              <a:t>Flow rate of water</a:t>
            </a:r>
          </a:p>
          <a:p>
            <a:pPr marL="2487168" lvl="8" indent="-457200" algn="just">
              <a:lnSpc>
                <a:spcPct val="150000"/>
              </a:lnSpc>
              <a:buFont typeface="+mj-lt"/>
              <a:buAutoNum type="arabicPeriod"/>
            </a:pPr>
            <a:r>
              <a:rPr lang="en-US" sz="2400" dirty="0">
                <a:solidFill>
                  <a:srgbClr val="7030A0"/>
                </a:solidFill>
                <a:latin typeface="Times New Roman" pitchFamily="18" charset="0"/>
                <a:cs typeface="Times New Roman" pitchFamily="18" charset="0"/>
              </a:rPr>
              <a:t>Efficiency of turbine</a:t>
            </a:r>
          </a:p>
        </p:txBody>
      </p:sp>
      <p:sp>
        <p:nvSpPr>
          <p:cNvPr id="2" name="Title 1"/>
          <p:cNvSpPr>
            <a:spLocks noGrp="1"/>
          </p:cNvSpPr>
          <p:nvPr>
            <p:ph type="title"/>
          </p:nvPr>
        </p:nvSpPr>
        <p:spPr>
          <a:xfrm>
            <a:off x="457200" y="274638"/>
            <a:ext cx="8229600" cy="944562"/>
          </a:xfrm>
        </p:spPr>
        <p:txBody>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Hydro - electric</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Hydro-electric</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descr="F:\SOE\BME\online class\Hydro electric power plant.png"/>
          <p:cNvPicPr>
            <a:picLocks noGrp="1" noChangeAspect="1" noChangeArrowheads="1"/>
          </p:cNvPicPr>
          <p:nvPr>
            <p:ph idx="1"/>
          </p:nvPr>
        </p:nvPicPr>
        <p:blipFill>
          <a:blip r:embed="rId2" cstate="print"/>
          <a:srcRect/>
          <a:stretch>
            <a:fillRect/>
          </a:stretch>
        </p:blipFill>
        <p:spPr bwMode="auto">
          <a:xfrm>
            <a:off x="1600200" y="1143000"/>
            <a:ext cx="7389668" cy="500223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Hydro-electric</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152400" y="1219200"/>
            <a:ext cx="8763000" cy="5029200"/>
          </a:xfrm>
        </p:spPr>
        <p:txBody>
          <a:bodyPr>
            <a:noAutofit/>
          </a:bodyPr>
          <a:lstStyle/>
          <a:p>
            <a:pPr>
              <a:lnSpc>
                <a:spcPct val="150000"/>
              </a:lnSpc>
              <a:buFont typeface="Wingdings" pitchFamily="2" charset="2"/>
              <a:buChar char="q"/>
            </a:pPr>
            <a:r>
              <a:rPr lang="en-US" sz="2000" dirty="0">
                <a:latin typeface="Times New Roman" pitchFamily="18" charset="0"/>
                <a:cs typeface="Times New Roman" pitchFamily="18" charset="0"/>
              </a:rPr>
              <a:t>Advantages</a:t>
            </a:r>
          </a:p>
          <a:p>
            <a:pPr lvl="3">
              <a:lnSpc>
                <a:spcPct val="150000"/>
              </a:lnSpc>
              <a:buFont typeface="Wingdings" pitchFamily="2" charset="2"/>
              <a:buChar char="Ø"/>
            </a:pPr>
            <a:r>
              <a:rPr lang="en-US" sz="2000" dirty="0">
                <a:latin typeface="Times New Roman" pitchFamily="18" charset="0"/>
                <a:cs typeface="Times New Roman" pitchFamily="18" charset="0"/>
              </a:rPr>
              <a:t>The most important advantage is that it keeps the </a:t>
            </a:r>
            <a:r>
              <a:rPr lang="en-US" sz="2000" dirty="0">
                <a:solidFill>
                  <a:srgbClr val="FF0000"/>
                </a:solidFill>
                <a:latin typeface="Times New Roman" pitchFamily="18" charset="0"/>
                <a:cs typeface="Times New Roman" pitchFamily="18" charset="0"/>
              </a:rPr>
              <a:t>environment clean</a:t>
            </a:r>
          </a:p>
          <a:p>
            <a:pPr lvl="3">
              <a:lnSpc>
                <a:spcPct val="150000"/>
              </a:lnSpc>
              <a:buFont typeface="Wingdings" pitchFamily="2" charset="2"/>
              <a:buChar char="Ø"/>
            </a:pPr>
            <a:r>
              <a:rPr lang="en-US" sz="2000" dirty="0">
                <a:latin typeface="Times New Roman" pitchFamily="18" charset="0"/>
                <a:cs typeface="Times New Roman" pitchFamily="18" charset="0"/>
              </a:rPr>
              <a:t>Hydro energy can be stored in high level reservoirs and used whenever necessary.</a:t>
            </a:r>
          </a:p>
          <a:p>
            <a:pPr lvl="3">
              <a:lnSpc>
                <a:spcPct val="150000"/>
              </a:lnSpc>
              <a:buFont typeface="Wingdings" pitchFamily="2" charset="2"/>
              <a:buChar char="Ø"/>
            </a:pPr>
            <a:r>
              <a:rPr lang="en-US" sz="2000" dirty="0">
                <a:latin typeface="Times New Roman" pitchFamily="18" charset="0"/>
                <a:cs typeface="Times New Roman" pitchFamily="18" charset="0"/>
              </a:rPr>
              <a:t>Electricity is produced at a constant rate.</a:t>
            </a:r>
          </a:p>
          <a:p>
            <a:pPr lvl="3">
              <a:lnSpc>
                <a:spcPct val="150000"/>
              </a:lnSpc>
              <a:buFont typeface="Wingdings" pitchFamily="2" charset="2"/>
              <a:buChar char="Ø"/>
            </a:pPr>
            <a:r>
              <a:rPr lang="en-US" sz="2000" dirty="0">
                <a:latin typeface="Times New Roman" pitchFamily="18" charset="0"/>
                <a:cs typeface="Times New Roman" pitchFamily="18" charset="0"/>
              </a:rPr>
              <a:t>The life of dams and power plants last for many decades.</a:t>
            </a:r>
          </a:p>
          <a:p>
            <a:pPr lvl="3">
              <a:lnSpc>
                <a:spcPct val="150000"/>
              </a:lnSpc>
              <a:buFont typeface="Wingdings" pitchFamily="2" charset="2"/>
              <a:buChar char="Ø"/>
            </a:pPr>
            <a:r>
              <a:rPr lang="en-US" sz="2000" dirty="0">
                <a:latin typeface="Times New Roman" pitchFamily="18" charset="0"/>
                <a:cs typeface="Times New Roman" pitchFamily="18" charset="0"/>
              </a:rPr>
              <a:t>The water can be used for supplying </a:t>
            </a:r>
          </a:p>
          <a:p>
            <a:pPr marL="2400300" lvl="8" indent="-342900">
              <a:buFont typeface="+mj-lt"/>
              <a:buAutoNum type="arabicPeriod"/>
            </a:pPr>
            <a:r>
              <a:rPr lang="en-US" dirty="0">
                <a:latin typeface="Times New Roman" pitchFamily="18" charset="0"/>
                <a:cs typeface="Times New Roman" pitchFamily="18" charset="0"/>
              </a:rPr>
              <a:t>Drinking water</a:t>
            </a:r>
          </a:p>
          <a:p>
            <a:pPr marL="2400300" lvl="8" indent="-342900">
              <a:buFont typeface="+mj-lt"/>
              <a:buAutoNum type="arabicPeriod"/>
            </a:pPr>
            <a:r>
              <a:rPr lang="en-US" dirty="0">
                <a:latin typeface="Times New Roman" pitchFamily="18" charset="0"/>
                <a:cs typeface="Times New Roman" pitchFamily="18" charset="0"/>
              </a:rPr>
              <a:t>Irrigation</a:t>
            </a:r>
          </a:p>
          <a:p>
            <a:pPr marL="2400300" lvl="8" indent="-342900">
              <a:buFont typeface="+mj-lt"/>
              <a:buAutoNum type="arabicPeriod"/>
            </a:pPr>
            <a:r>
              <a:rPr lang="en-US" dirty="0">
                <a:latin typeface="Times New Roman" pitchFamily="18" charset="0"/>
                <a:cs typeface="Times New Roman" pitchFamily="18" charset="0"/>
              </a:rPr>
              <a:t>Water sports</a:t>
            </a:r>
          </a:p>
          <a:p>
            <a:pPr marL="2400300" lvl="8" indent="-342900">
              <a:buFont typeface="+mj-lt"/>
              <a:buAutoNum type="arabicPeriod"/>
            </a:pPr>
            <a:r>
              <a:rPr lang="en-US" dirty="0">
                <a:latin typeface="Times New Roman" pitchFamily="18" charset="0"/>
                <a:cs typeface="Times New Roman" pitchFamily="18" charset="0"/>
              </a:rPr>
              <a:t>Industries</a:t>
            </a:r>
          </a:p>
          <a:p>
            <a:pPr marL="2400300" lvl="8" indent="-342900">
              <a:buFont typeface="+mj-lt"/>
              <a:buAutoNum type="arabicPeriod"/>
            </a:pPr>
            <a:r>
              <a:rPr lang="en-US" dirty="0">
                <a:latin typeface="Times New Roman" pitchFamily="18" charset="0"/>
                <a:cs typeface="Times New Roman" pitchFamily="18" charset="0"/>
              </a:rPr>
              <a:t>Power plants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Hydro-electric</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152400" y="1219200"/>
            <a:ext cx="8763000" cy="5029200"/>
          </a:xfrm>
        </p:spPr>
        <p:txBody>
          <a:bodyPr>
            <a:noAutofit/>
          </a:bodyPr>
          <a:lstStyle/>
          <a:p>
            <a:pPr>
              <a:lnSpc>
                <a:spcPct val="150000"/>
              </a:lnSpc>
              <a:buFont typeface="Wingdings" pitchFamily="2" charset="2"/>
              <a:buChar char="q"/>
            </a:pPr>
            <a:r>
              <a:rPr lang="en-US" sz="2400" dirty="0">
                <a:latin typeface="Times New Roman" pitchFamily="18" charset="0"/>
                <a:cs typeface="Times New Roman" pitchFamily="18" charset="0"/>
              </a:rPr>
              <a:t>Disadvantages</a:t>
            </a:r>
          </a:p>
          <a:p>
            <a:pPr lvl="3">
              <a:lnSpc>
                <a:spcPct val="150000"/>
              </a:lnSpc>
              <a:buFont typeface="Wingdings" pitchFamily="2" charset="2"/>
              <a:buChar char="Ø"/>
            </a:pPr>
            <a:r>
              <a:rPr lang="en-US" sz="2400" dirty="0">
                <a:latin typeface="Times New Roman" pitchFamily="18" charset="0"/>
                <a:cs typeface="Times New Roman" pitchFamily="18" charset="0"/>
              </a:rPr>
              <a:t>Constructing hydroelectric power plants and dams are very expensive.</a:t>
            </a:r>
          </a:p>
          <a:p>
            <a:pPr lvl="3">
              <a:lnSpc>
                <a:spcPct val="150000"/>
              </a:lnSpc>
              <a:buFont typeface="Wingdings" pitchFamily="2" charset="2"/>
              <a:buChar char="Ø"/>
            </a:pPr>
            <a:r>
              <a:rPr lang="en-US" sz="2400" dirty="0">
                <a:latin typeface="Times New Roman" pitchFamily="18" charset="0"/>
                <a:cs typeface="Times New Roman" pitchFamily="18" charset="0"/>
              </a:rPr>
              <a:t>Requires large area.</a:t>
            </a:r>
          </a:p>
          <a:p>
            <a:pPr lvl="3">
              <a:lnSpc>
                <a:spcPct val="150000"/>
              </a:lnSpc>
              <a:buFont typeface="Wingdings" pitchFamily="2" charset="2"/>
              <a:buChar char="Ø"/>
            </a:pPr>
            <a:r>
              <a:rPr lang="en-US" sz="2400" dirty="0">
                <a:latin typeface="Times New Roman" pitchFamily="18" charset="0"/>
                <a:cs typeface="Times New Roman" pitchFamily="18" charset="0"/>
              </a:rPr>
              <a:t>Planning a hydro electric power plant and reservoir may lead to the disruption of  the lives of people as they have to relocate to another area.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Thermal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066800"/>
            <a:ext cx="8458200" cy="4724400"/>
          </a:xfrm>
        </p:spPr>
        <p:txBody>
          <a:bodyPr>
            <a:noAutofit/>
          </a:bodyPr>
          <a:lstStyle/>
          <a:p>
            <a:pPr algn="just">
              <a:lnSpc>
                <a:spcPct val="150000"/>
              </a:lnSpc>
              <a:buFont typeface="Wingdings" pitchFamily="2" charset="2"/>
              <a:buChar char="q"/>
            </a:pPr>
            <a:r>
              <a:rPr lang="en-US" sz="2200" dirty="0">
                <a:latin typeface="Times New Roman" pitchFamily="18" charset="0"/>
                <a:cs typeface="Times New Roman" pitchFamily="18" charset="0"/>
              </a:rPr>
              <a:t>A generating station which converts heat energy of coal combustion into electrical energy is known as a steam power station </a:t>
            </a:r>
          </a:p>
          <a:p>
            <a:pPr algn="just">
              <a:lnSpc>
                <a:spcPct val="150000"/>
              </a:lnSpc>
              <a:buFont typeface="Wingdings" pitchFamily="2" charset="2"/>
              <a:buChar char="q"/>
            </a:pPr>
            <a:r>
              <a:rPr lang="en-US" sz="2200" dirty="0">
                <a:latin typeface="Times New Roman" pitchFamily="18" charset="0"/>
                <a:cs typeface="Times New Roman" pitchFamily="18" charset="0"/>
              </a:rPr>
              <a:t>The heat produced for burning of coal &amp; with the help of water steam is produced. This produced steam flow towards turbine i.e. kinetic energy of the steam which converted into mechanical energy of the turbine. The input steam drives the prime mover or turbine, simultaneously the generator also start to rotate. At that time mechanical energy is converted into electrical energy. </a:t>
            </a:r>
          </a:p>
          <a:p>
            <a:pPr algn="just">
              <a:lnSpc>
                <a:spcPct val="150000"/>
              </a:lnSpc>
              <a:buFont typeface="Wingdings" pitchFamily="2" charset="2"/>
              <a:buChar char="q"/>
            </a:pPr>
            <a:r>
              <a:rPr lang="en-US" sz="2200" dirty="0" err="1">
                <a:latin typeface="Times New Roman" pitchFamily="18" charset="0"/>
                <a:cs typeface="Times New Roman" pitchFamily="18" charset="0"/>
              </a:rPr>
              <a:t>Rankine</a:t>
            </a:r>
            <a:r>
              <a:rPr lang="en-US" sz="2200" dirty="0">
                <a:latin typeface="Times New Roman" pitchFamily="18" charset="0"/>
                <a:cs typeface="Times New Roman" pitchFamily="18" charset="0"/>
              </a:rPr>
              <a:t> cycle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Thermal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0" y="914400"/>
            <a:ext cx="9144000" cy="60198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Thermal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066800"/>
            <a:ext cx="8458200" cy="4724400"/>
          </a:xfrm>
        </p:spPr>
        <p:txBody>
          <a:bodyPr>
            <a:noAutofit/>
          </a:bodyPr>
          <a:lstStyle/>
          <a:p>
            <a:pPr algn="just" fontAlgn="base">
              <a:lnSpc>
                <a:spcPct val="150000"/>
              </a:lnSpc>
              <a:buFont typeface="Wingdings" pitchFamily="2" charset="2"/>
              <a:buChar char="q"/>
            </a:pPr>
            <a:r>
              <a:rPr lang="en-US" sz="2400" dirty="0">
                <a:latin typeface="Times New Roman" pitchFamily="18" charset="0"/>
                <a:cs typeface="Times New Roman" pitchFamily="18" charset="0"/>
              </a:rPr>
              <a:t>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Less initial cost as compared to other generating stations.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It requires less land as compared to hydro power plant.</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The fuel (i.e. coal) is cheaper.</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The cost of generation is lesser than that of diesel power plants.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Thermal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066800"/>
            <a:ext cx="8458200" cy="4724400"/>
          </a:xfrm>
        </p:spPr>
        <p:txBody>
          <a:bodyPr>
            <a:noAutofit/>
          </a:bodyPr>
          <a:lstStyle/>
          <a:p>
            <a:pPr algn="just" fontAlgn="base">
              <a:lnSpc>
                <a:spcPct val="150000"/>
              </a:lnSpc>
              <a:buFont typeface="Wingdings" pitchFamily="2" charset="2"/>
              <a:buChar char="q"/>
            </a:pPr>
            <a:r>
              <a:rPr lang="en-US" sz="2400" dirty="0">
                <a:latin typeface="Times New Roman" pitchFamily="18" charset="0"/>
                <a:cs typeface="Times New Roman" pitchFamily="18" charset="0"/>
              </a:rPr>
              <a:t>Disadvantages: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It pollutes the atmosphere due to the production of large amount of smoke. This is one of the causes of global warming. </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The overall efficiency of a thermal power station is low (less than 30%).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848600" cy="10668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Nuclear</a:t>
            </a:r>
            <a:r>
              <a:rPr lang="en-US" dirty="0"/>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219200"/>
            <a:ext cx="8458200" cy="4953000"/>
          </a:xfrm>
        </p:spPr>
        <p:txBody>
          <a:bodyPr>
            <a:noAutofit/>
          </a:bodyPr>
          <a:lstStyle/>
          <a:p>
            <a:pPr algn="just" fontAlgn="base">
              <a:lnSpc>
                <a:spcPct val="150000"/>
              </a:lnSpc>
              <a:buFont typeface="Wingdings" pitchFamily="2" charset="2"/>
              <a:buChar char="q"/>
            </a:pPr>
            <a:r>
              <a:rPr lang="en-US" sz="2200" dirty="0">
                <a:latin typeface="Times New Roman" pitchFamily="18" charset="0"/>
                <a:cs typeface="Times New Roman" pitchFamily="18" charset="0"/>
              </a:rPr>
              <a:t>Nuclear power plants generate electricity in a very similar way to other traditional power plants, differing in the type of fuel used. All electricity generation plants produce heat that turns water into steam, which drives a turbine connected to a generator and subsequently produces electricity.</a:t>
            </a:r>
          </a:p>
          <a:p>
            <a:pPr algn="just" fontAlgn="base">
              <a:lnSpc>
                <a:spcPct val="150000"/>
              </a:lnSpc>
              <a:buFont typeface="Wingdings" pitchFamily="2" charset="2"/>
              <a:buChar char="q"/>
            </a:pPr>
            <a:r>
              <a:rPr lang="en-US" sz="2200" dirty="0">
                <a:latin typeface="Times New Roman" pitchFamily="18" charset="0"/>
                <a:cs typeface="Times New Roman" pitchFamily="18" charset="0"/>
              </a:rPr>
              <a:t>In a nuclear reactor, uranium atoms are split into smaller parts by changing their molecular structure using the fission process. The energy released during this split creates heat to produce steam, which is used by a turbine generator to generate electricity.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Nuclear</a:t>
            </a:r>
            <a:r>
              <a:rPr lang="en-US" dirty="0"/>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5" name="Picture 2" descr="F:\SOE\BME\online class\nuclear power plant.png"/>
          <p:cNvPicPr>
            <a:picLocks noGrp="1" noChangeAspect="1" noChangeArrowheads="1"/>
          </p:cNvPicPr>
          <p:nvPr>
            <p:ph idx="1"/>
          </p:nvPr>
        </p:nvPicPr>
        <p:blipFill>
          <a:blip r:embed="rId2" cstate="print"/>
          <a:srcRect/>
          <a:stretch>
            <a:fillRect/>
          </a:stretch>
        </p:blipFill>
        <p:spPr bwMode="auto">
          <a:xfrm>
            <a:off x="304801" y="1066800"/>
            <a:ext cx="8610600" cy="52578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Nuclear</a:t>
            </a:r>
            <a:r>
              <a:rPr lang="en-US" dirty="0"/>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752600"/>
            <a:ext cx="8229600" cy="4254691"/>
          </a:xfrm>
        </p:spPr>
        <p:txBody>
          <a:bodyPr>
            <a:normAutofit/>
          </a:bodyPr>
          <a:lstStyle/>
          <a:p>
            <a:pPr algn="just">
              <a:lnSpc>
                <a:spcPct val="150000"/>
              </a:lnSpc>
            </a:pPr>
            <a:r>
              <a:rPr lang="en-US" sz="2400" dirty="0">
                <a:latin typeface="Times New Roman" pitchFamily="18" charset="0"/>
                <a:cs typeface="Times New Roman" pitchFamily="18" charset="0"/>
              </a:rPr>
              <a:t>Advantages</a:t>
            </a:r>
          </a:p>
          <a:p>
            <a:pPr lvl="3" algn="just" fontAlgn="base">
              <a:lnSpc>
                <a:spcPct val="150000"/>
              </a:lnSpc>
              <a:buFont typeface="Wingdings" pitchFamily="2" charset="2"/>
              <a:buChar char="Ø"/>
            </a:pPr>
            <a:r>
              <a:rPr lang="en-US" sz="2200" dirty="0">
                <a:latin typeface="Times New Roman" pitchFamily="18" charset="0"/>
                <a:cs typeface="Times New Roman" pitchFamily="18" charset="0"/>
              </a:rPr>
              <a:t>Produces no polluting gases.</a:t>
            </a:r>
          </a:p>
          <a:p>
            <a:pPr lvl="3" algn="just" fontAlgn="base">
              <a:lnSpc>
                <a:spcPct val="150000"/>
              </a:lnSpc>
              <a:buFont typeface="Wingdings" pitchFamily="2" charset="2"/>
              <a:buChar char="Ø"/>
            </a:pPr>
            <a:r>
              <a:rPr lang="en-US" sz="2200" dirty="0">
                <a:latin typeface="Times New Roman" pitchFamily="18" charset="0"/>
                <a:cs typeface="Times New Roman" pitchFamily="18" charset="0"/>
              </a:rPr>
              <a:t>Does not contribute to global warming.</a:t>
            </a:r>
          </a:p>
          <a:p>
            <a:pPr lvl="3" algn="just" fontAlgn="base">
              <a:lnSpc>
                <a:spcPct val="150000"/>
              </a:lnSpc>
              <a:buFont typeface="Wingdings" pitchFamily="2" charset="2"/>
              <a:buChar char="Ø"/>
            </a:pPr>
            <a:r>
              <a:rPr lang="en-US" sz="2200" dirty="0">
                <a:latin typeface="Times New Roman" pitchFamily="18" charset="0"/>
                <a:cs typeface="Times New Roman" pitchFamily="18" charset="0"/>
              </a:rPr>
              <a:t>Low fuel quantity reduces mining and transportation effects on environment.</a:t>
            </a:r>
          </a:p>
          <a:p>
            <a:pPr lvl="3" algn="just" fontAlgn="base">
              <a:lnSpc>
                <a:spcPct val="150000"/>
              </a:lnSpc>
              <a:buFont typeface="Wingdings" pitchFamily="2" charset="2"/>
              <a:buChar char="Ø"/>
            </a:pPr>
            <a:r>
              <a:rPr lang="en-US" sz="2200" dirty="0">
                <a:latin typeface="Times New Roman" pitchFamily="18" charset="0"/>
                <a:cs typeface="Times New Roman" pitchFamily="18" charset="0"/>
              </a:rPr>
              <a:t>Power station has very long lifetime.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Nuclear</a:t>
            </a:r>
            <a:r>
              <a:rPr lang="en-US" dirty="0"/>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752600"/>
            <a:ext cx="8229600" cy="4254691"/>
          </a:xfrm>
        </p:spPr>
        <p:txBody>
          <a:bodyPr>
            <a:normAutofit fontScale="85000" lnSpcReduction="10000"/>
          </a:bodyPr>
          <a:lstStyle/>
          <a:p>
            <a:pPr algn="just">
              <a:lnSpc>
                <a:spcPct val="150000"/>
              </a:lnSpc>
            </a:pPr>
            <a:r>
              <a:rPr lang="en-US" sz="2800" dirty="0">
                <a:latin typeface="Times New Roman" pitchFamily="18" charset="0"/>
                <a:cs typeface="Times New Roman" pitchFamily="18" charset="0"/>
              </a:rPr>
              <a:t>Disadvantages</a:t>
            </a:r>
          </a:p>
          <a:p>
            <a:pPr lvl="3" algn="just" fontAlgn="base">
              <a:lnSpc>
                <a:spcPct val="170000"/>
              </a:lnSpc>
              <a:buFont typeface="Wingdings" pitchFamily="2" charset="2"/>
              <a:buChar char="Ø"/>
            </a:pPr>
            <a:r>
              <a:rPr lang="en-US" sz="2600" dirty="0">
                <a:latin typeface="Times New Roman" pitchFamily="18" charset="0"/>
                <a:cs typeface="Times New Roman" pitchFamily="18" charset="0"/>
              </a:rPr>
              <a:t>Waste is radioactive and safe disposal is very difficult and expensive.</a:t>
            </a:r>
          </a:p>
          <a:p>
            <a:pPr lvl="3" algn="just" fontAlgn="base">
              <a:lnSpc>
                <a:spcPct val="170000"/>
              </a:lnSpc>
              <a:buFont typeface="Wingdings" pitchFamily="2" charset="2"/>
              <a:buChar char="Ø"/>
            </a:pPr>
            <a:r>
              <a:rPr lang="en-US" sz="2600" dirty="0">
                <a:latin typeface="Times New Roman" pitchFamily="18" charset="0"/>
                <a:cs typeface="Times New Roman" pitchFamily="18" charset="0"/>
              </a:rPr>
              <a:t>Costs of building and safely decommissioning are very high.</a:t>
            </a:r>
          </a:p>
          <a:p>
            <a:pPr lvl="3" algn="just" fontAlgn="base">
              <a:lnSpc>
                <a:spcPct val="170000"/>
              </a:lnSpc>
              <a:buFont typeface="Wingdings" pitchFamily="2" charset="2"/>
              <a:buChar char="Ø"/>
            </a:pPr>
            <a:r>
              <a:rPr lang="en-US" sz="2600" dirty="0">
                <a:latin typeface="Times New Roman" pitchFamily="18" charset="0"/>
                <a:cs typeface="Times New Roman" pitchFamily="18" charset="0"/>
              </a:rPr>
              <a:t>Cannot react quickly to changes in electricity demand.</a:t>
            </a:r>
          </a:p>
          <a:p>
            <a:pPr lvl="3" algn="just" fontAlgn="base">
              <a:lnSpc>
                <a:spcPct val="170000"/>
              </a:lnSpc>
              <a:buFont typeface="Wingdings" pitchFamily="2" charset="2"/>
              <a:buChar char="Ø"/>
            </a:pPr>
            <a:r>
              <a:rPr lang="en-US" sz="2600" dirty="0">
                <a:latin typeface="Times New Roman" pitchFamily="18" charset="0"/>
                <a:cs typeface="Times New Roman" pitchFamily="18" charset="0"/>
              </a:rPr>
              <a:t>Local thermal pollution from wastewater affects marine life.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Diesel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p:txBody>
          <a:bodyPr>
            <a:normAutofit fontScale="92500"/>
          </a:bodyPr>
          <a:lstStyle/>
          <a:p>
            <a:pPr algn="just">
              <a:lnSpc>
                <a:spcPct val="150000"/>
              </a:lnSpc>
            </a:pPr>
            <a:r>
              <a:rPr lang="en-US" sz="2400" dirty="0">
                <a:latin typeface="Times New Roman" pitchFamily="18" charset="0"/>
                <a:cs typeface="Times New Roman" pitchFamily="18" charset="0"/>
              </a:rPr>
              <a:t>A Diesel power station (also known as Stand-by power station) uses a diesel engine as prime mover for the generation of electrical energy. This kind of power station can be used to produce limited amounts of electrical energy.</a:t>
            </a:r>
          </a:p>
          <a:p>
            <a:pPr algn="just">
              <a:lnSpc>
                <a:spcPct val="150000"/>
              </a:lnSpc>
            </a:pPr>
            <a:r>
              <a:rPr lang="en-US" sz="2400" dirty="0">
                <a:latin typeface="Times New Roman" pitchFamily="18" charset="0"/>
                <a:cs typeface="Times New Roman" pitchFamily="18" charset="0"/>
              </a:rPr>
              <a:t>The diesel burns inside the engine and the products of this combustion act as the working fluid to produce mechanical energy. The diesel engine drives alternator which converts mechanical energy into electrical energy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Diesel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098" name="Picture 2" descr="F:\SOE\BME\online class\article-Diesel-Power-Plants-aru.jpg"/>
          <p:cNvPicPr>
            <a:picLocks noGrp="1" noChangeAspect="1" noChangeArrowheads="1"/>
          </p:cNvPicPr>
          <p:nvPr>
            <p:ph idx="1"/>
          </p:nvPr>
        </p:nvPicPr>
        <p:blipFill>
          <a:blip r:embed="rId2" cstate="print"/>
          <a:srcRect/>
          <a:stretch>
            <a:fillRect/>
          </a:stretch>
        </p:blipFill>
        <p:spPr bwMode="auto">
          <a:xfrm>
            <a:off x="0" y="1066140"/>
            <a:ext cx="9144000" cy="579186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Diesel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219200"/>
            <a:ext cx="8229600" cy="4788091"/>
          </a:xfrm>
        </p:spPr>
        <p:txBody>
          <a:bodyPr>
            <a:normAutofit lnSpcReduction="10000"/>
          </a:bodyPr>
          <a:lstStyle/>
          <a:p>
            <a:pPr algn="just">
              <a:lnSpc>
                <a:spcPct val="150000"/>
              </a:lnSpc>
            </a:pPr>
            <a:r>
              <a:rPr lang="en-US" sz="2400" dirty="0">
                <a:latin typeface="Times New Roman" pitchFamily="18" charset="0"/>
                <a:cs typeface="Times New Roman" pitchFamily="18" charset="0"/>
              </a:rPr>
              <a:t>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Quick installation and commission</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Quick starting and easy pick-up of loads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Easy operation</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Required minimum </a:t>
            </a:r>
            <a:r>
              <a:rPr lang="en-US" sz="2400" dirty="0" err="1">
                <a:latin typeface="Times New Roman" pitchFamily="18" charset="0"/>
                <a:cs typeface="Times New Roman" pitchFamily="18" charset="0"/>
              </a:rPr>
              <a:t>labours</a:t>
            </a:r>
            <a:endParaRPr lang="en-US" sz="2400" dirty="0">
              <a:latin typeface="Times New Roman" pitchFamily="18" charset="0"/>
              <a:cs typeface="Times New Roman" pitchFamily="18" charset="0"/>
            </a:endParaRP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Simple fuel handling</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Efficient ash disposal</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High level of efficiency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Diesel</a:t>
            </a:r>
            <a:r>
              <a:rPr lang="en-US" dirty="0">
                <a:solidFill>
                  <a:schemeClr val="accent2">
                    <a:lumMod val="50000"/>
                  </a:schemeClr>
                </a:solidFill>
                <a:latin typeface="Times New Roman" pitchFamily="18" charset="0"/>
                <a:cs typeface="Times New Roman" pitchFamily="18" charset="0"/>
              </a:rPr>
              <a:t> </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57200" y="1752600"/>
            <a:ext cx="8229600" cy="4254691"/>
          </a:xfrm>
        </p:spPr>
        <p:txBody>
          <a:bodyPr>
            <a:normAutofit/>
          </a:bodyPr>
          <a:lstStyle/>
          <a:p>
            <a:pPr algn="just">
              <a:lnSpc>
                <a:spcPct val="150000"/>
              </a:lnSpc>
            </a:pPr>
            <a:r>
              <a:rPr lang="en-US" sz="2400" dirty="0">
                <a:latin typeface="Times New Roman" pitchFamily="18" charset="0"/>
                <a:cs typeface="Times New Roman" pitchFamily="18" charset="0"/>
              </a:rPr>
              <a:t>Disadvantages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Limited power generation capacity.</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Expensive due to the use of diesel.</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High maintenance cost.</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Relatively short life.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Wind</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752600"/>
            <a:ext cx="8229600" cy="4254691"/>
          </a:xfrm>
        </p:spPr>
        <p:txBody>
          <a:bodyPr>
            <a:normAutofit/>
          </a:bodyPr>
          <a:lstStyle/>
          <a:p>
            <a:pPr algn="just">
              <a:lnSpc>
                <a:spcPct val="150000"/>
              </a:lnSpc>
            </a:pPr>
            <a:r>
              <a:rPr lang="en-US" sz="2400" dirty="0">
                <a:latin typeface="Times New Roman" pitchFamily="18" charset="0"/>
                <a:cs typeface="Times New Roman" pitchFamily="18" charset="0"/>
              </a:rPr>
              <a:t>Wind turbines operate on a simple principle. The energy in the wind turns two or three propeller-like blades around a rotor. The rotor is connected to the main shaft, which spins a generator to create electricity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Wind</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er Plants</a:t>
            </a:r>
            <a:endPar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Content Placeholder 5"/>
          <p:cNvSpPr>
            <a:spLocks noGrp="1"/>
          </p:cNvSpPr>
          <p:nvPr>
            <p:ph idx="1"/>
          </p:nvPr>
        </p:nvSpPr>
        <p:spPr/>
        <p:txBody>
          <a:bodyPr/>
          <a:lstStyle/>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hlinkClick r:id="rId2" action="ppaction://hlinkfile"/>
              </a:rPr>
              <a:t>Wind Power Plant.mp4</a:t>
            </a:r>
            <a:endParaRPr lang="en-US" dirty="0"/>
          </a:p>
        </p:txBody>
      </p:sp>
      <p:pic>
        <p:nvPicPr>
          <p:cNvPr id="7" name="Picture 2" descr="F:\SOE\BME\online class\Figure1.gif"/>
          <p:cNvPicPr>
            <a:picLocks noChangeAspect="1" noChangeArrowheads="1"/>
          </p:cNvPicPr>
          <p:nvPr/>
        </p:nvPicPr>
        <p:blipFill>
          <a:blip r:embed="rId3" cstate="print"/>
          <a:srcRect/>
          <a:stretch>
            <a:fillRect/>
          </a:stretch>
        </p:blipFill>
        <p:spPr bwMode="auto">
          <a:xfrm>
            <a:off x="457200" y="1524000"/>
            <a:ext cx="7079307" cy="3484562"/>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Wind</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524000"/>
            <a:ext cx="8229600" cy="4483291"/>
          </a:xfrm>
        </p:spPr>
        <p:txBody>
          <a:bodyPr>
            <a:normAutofit/>
          </a:bodyPr>
          <a:lstStyle/>
          <a:p>
            <a:pPr algn="just">
              <a:lnSpc>
                <a:spcPct val="150000"/>
              </a:lnSpc>
            </a:pPr>
            <a:r>
              <a:rPr lang="en-US" sz="2400" dirty="0">
                <a:latin typeface="Times New Roman" pitchFamily="18" charset="0"/>
                <a:cs typeface="Times New Roman" pitchFamily="18" charset="0"/>
              </a:rPr>
              <a:t>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Clean &amp; Environment friendly Fuel source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Renewable &amp; Sustainable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Cost Effective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Industrial and Domestic Installation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Wind</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447800"/>
            <a:ext cx="8229600" cy="4559491"/>
          </a:xfrm>
        </p:spPr>
        <p:txBody>
          <a:bodyPr>
            <a:normAutofit/>
          </a:bodyPr>
          <a:lstStyle/>
          <a:p>
            <a:pPr algn="just">
              <a:lnSpc>
                <a:spcPct val="150000"/>
              </a:lnSpc>
            </a:pPr>
            <a:r>
              <a:rPr lang="en-US" sz="2400" dirty="0">
                <a:latin typeface="Times New Roman" pitchFamily="18" charset="0"/>
                <a:cs typeface="Times New Roman" pitchFamily="18" charset="0"/>
              </a:rPr>
              <a:t>Disadvantages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Fluctuation of Wind and Good wind sites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Noise and aesthetic pollution</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Not a profitable use of land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848600" cy="7620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Solar Power Plants</a:t>
            </a:r>
          </a:p>
        </p:txBody>
      </p:sp>
      <p:sp>
        <p:nvSpPr>
          <p:cNvPr id="4" name="Content Placeholder 3"/>
          <p:cNvSpPr>
            <a:spLocks noGrp="1"/>
          </p:cNvSpPr>
          <p:nvPr>
            <p:ph idx="1"/>
          </p:nvPr>
        </p:nvSpPr>
        <p:spPr>
          <a:xfrm>
            <a:off x="457200" y="914400"/>
            <a:ext cx="8229600" cy="5334000"/>
          </a:xfrm>
        </p:spPr>
        <p:txBody>
          <a:bodyPr>
            <a:normAutofit fontScale="92500" lnSpcReduction="20000"/>
          </a:bodyPr>
          <a:lstStyle/>
          <a:p>
            <a:pPr algn="just">
              <a:lnSpc>
                <a:spcPct val="160000"/>
              </a:lnSpc>
            </a:pPr>
            <a:r>
              <a:rPr lang="en-US" sz="2200" dirty="0">
                <a:latin typeface="Times New Roman" pitchFamily="18" charset="0"/>
                <a:cs typeface="Times New Roman" pitchFamily="18" charset="0"/>
              </a:rPr>
              <a:t>A solar power plant is any type of facility that converts sunlight either directly, like </a:t>
            </a:r>
            <a:r>
              <a:rPr lang="en-US" sz="2200" dirty="0" err="1">
                <a:latin typeface="Times New Roman" pitchFamily="18" charset="0"/>
                <a:cs typeface="Times New Roman" pitchFamily="18" charset="0"/>
              </a:rPr>
              <a:t>Photovoltaics</a:t>
            </a:r>
            <a:r>
              <a:rPr lang="en-US" sz="2200" dirty="0">
                <a:latin typeface="Times New Roman" pitchFamily="18" charset="0"/>
                <a:cs typeface="Times New Roman" pitchFamily="18" charset="0"/>
              </a:rPr>
              <a:t>, or indirectly, like Solar Thermal plants, into electricity. </a:t>
            </a:r>
          </a:p>
          <a:p>
            <a:pPr algn="just">
              <a:lnSpc>
                <a:spcPct val="160000"/>
              </a:lnSpc>
              <a:buNone/>
            </a:pPr>
            <a:r>
              <a:rPr lang="en-US" sz="2400" b="1" dirty="0" err="1">
                <a:solidFill>
                  <a:schemeClr val="accent3">
                    <a:lumMod val="75000"/>
                  </a:schemeClr>
                </a:solidFill>
                <a:latin typeface="Times New Roman" pitchFamily="18" charset="0"/>
                <a:cs typeface="Times New Roman" pitchFamily="18" charset="0"/>
              </a:rPr>
              <a:t>Photovoltaics</a:t>
            </a:r>
            <a:endParaRPr lang="en-US" sz="2400" b="1" dirty="0">
              <a:solidFill>
                <a:schemeClr val="accent3">
                  <a:lumMod val="75000"/>
                </a:schemeClr>
              </a:solidFill>
              <a:latin typeface="Times New Roman" pitchFamily="18" charset="0"/>
              <a:cs typeface="Times New Roman" pitchFamily="18" charset="0"/>
            </a:endParaRPr>
          </a:p>
          <a:p>
            <a:pPr algn="just">
              <a:lnSpc>
                <a:spcPct val="160000"/>
              </a:lnSpc>
            </a:pPr>
            <a:r>
              <a:rPr lang="en-US" sz="2200" dirty="0">
                <a:latin typeface="Times New Roman" pitchFamily="18" charset="0"/>
                <a:cs typeface="Times New Roman" pitchFamily="18" charset="0"/>
              </a:rPr>
              <a:t>When photons from sunlight hit the semiconductor material free electrons are generated which can then flow through the material to produce a direct electrical current - known as the photo - effect in physics.</a:t>
            </a:r>
          </a:p>
          <a:p>
            <a:pPr algn="just">
              <a:lnSpc>
                <a:spcPct val="160000"/>
              </a:lnSpc>
            </a:pPr>
            <a:r>
              <a:rPr lang="en-US" sz="2200" dirty="0">
                <a:latin typeface="Times New Roman" pitchFamily="18" charset="0"/>
                <a:cs typeface="Times New Roman" pitchFamily="18" charset="0"/>
              </a:rPr>
              <a:t>DC to AC - convertors </a:t>
            </a:r>
          </a:p>
          <a:p>
            <a:pPr algn="just">
              <a:lnSpc>
                <a:spcPct val="160000"/>
              </a:lnSpc>
            </a:pPr>
            <a:r>
              <a:rPr lang="en-US" sz="2200" dirty="0">
                <a:latin typeface="Times New Roman" pitchFamily="18" charset="0"/>
                <a:cs typeface="Times New Roman" pitchFamily="18" charset="0"/>
              </a:rPr>
              <a:t>Can use the photo-effect directly without the need of other processes or devices.</a:t>
            </a:r>
          </a:p>
          <a:p>
            <a:pPr algn="just">
              <a:lnSpc>
                <a:spcPct val="160000"/>
              </a:lnSpc>
              <a:buNone/>
            </a:pPr>
            <a:r>
              <a:rPr lang="en-US" sz="2200" dirty="0">
                <a:latin typeface="Times New Roman" pitchFamily="18" charset="0"/>
                <a:cs typeface="Times New Roman" pitchFamily="18" charset="0"/>
                <a:hlinkClick r:id="rId2" action="ppaction://hlinkfile"/>
              </a:rPr>
              <a:t>Photovoltaic.mp4</a:t>
            </a:r>
            <a:endParaRPr lang="en-US" sz="2200" dirty="0">
              <a:latin typeface="Times New Roman" pitchFamily="18" charset="0"/>
              <a:cs typeface="Times New Roman" pitchFamily="18" charset="0"/>
            </a:endParaRPr>
          </a:p>
          <a:p>
            <a:pPr algn="just">
              <a:lnSpc>
                <a:spcPct val="160000"/>
              </a:lnSpc>
            </a:pPr>
            <a:endParaRPr lang="en-US" sz="24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848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Solar </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447800"/>
            <a:ext cx="8229600" cy="4559491"/>
          </a:xfrm>
        </p:spPr>
        <p:txBody>
          <a:bodyPr>
            <a:normAutofit/>
          </a:bodyPr>
          <a:lstStyle/>
          <a:p>
            <a:pPr>
              <a:buNone/>
            </a:pPr>
            <a:r>
              <a:rPr lang="en-US" sz="2400" b="1" dirty="0">
                <a:solidFill>
                  <a:schemeClr val="accent3">
                    <a:lumMod val="75000"/>
                  </a:schemeClr>
                </a:solidFill>
                <a:latin typeface="Times New Roman" pitchFamily="18" charset="0"/>
                <a:cs typeface="Times New Roman" pitchFamily="18" charset="0"/>
              </a:rPr>
              <a:t>Solar  Thermal Power Plants</a:t>
            </a:r>
            <a:endParaRPr lang="en-US" sz="2400" b="1" dirty="0">
              <a:solidFill>
                <a:schemeClr val="accent3">
                  <a:lumMod val="75000"/>
                </a:schemeClr>
              </a:solidFill>
            </a:endParaRPr>
          </a:p>
          <a:p>
            <a:pPr algn="just">
              <a:lnSpc>
                <a:spcPct val="150000"/>
              </a:lnSpc>
            </a:pPr>
            <a:r>
              <a:rPr lang="en-US" sz="2200" dirty="0">
                <a:latin typeface="Times New Roman" pitchFamily="18" charset="0"/>
                <a:cs typeface="Times New Roman" pitchFamily="18" charset="0"/>
              </a:rPr>
              <a:t>These kinds of solar thermal power plant work by focusing sunlight from long parabolic mirrors onto receiver tubes that run the length of the mirror at their focal point. This concentrated solar energy heats up a fluid that continuously flows through the tubes.</a:t>
            </a:r>
          </a:p>
          <a:p>
            <a:pPr algn="just">
              <a:lnSpc>
                <a:spcPct val="150000"/>
              </a:lnSpc>
            </a:pPr>
            <a:r>
              <a:rPr lang="en-US" sz="2200" dirty="0">
                <a:latin typeface="Times New Roman" pitchFamily="18" charset="0"/>
                <a:cs typeface="Times New Roman" pitchFamily="18" charset="0"/>
              </a:rPr>
              <a:t>This heated fluid is then sent to a heat exchanger to boil water in a conventional steam-turbine generator to generate electricity.</a:t>
            </a:r>
          </a:p>
          <a:p>
            <a:pPr algn="just">
              <a:lnSpc>
                <a:spcPct val="150000"/>
              </a:lnSpc>
              <a:buNone/>
            </a:pPr>
            <a:r>
              <a:rPr lang="en-US" sz="2200" dirty="0">
                <a:latin typeface="Times New Roman" pitchFamily="18" charset="0"/>
                <a:cs typeface="Times New Roman" pitchFamily="18" charset="0"/>
                <a:hlinkClick r:id="rId2" action="ppaction://hlinkfile"/>
              </a:rPr>
              <a:t>Solar Thermal Power plant.mp4</a:t>
            </a:r>
            <a:endParaRPr lang="en-US" sz="2200" dirty="0">
              <a:latin typeface="Times New Roman" pitchFamily="18" charset="0"/>
              <a:cs typeface="Times New Roman" pitchFamily="18" charset="0"/>
            </a:endParaRPr>
          </a:p>
          <a:p>
            <a:pPr algn="just">
              <a:lnSpc>
                <a:spcPct val="150000"/>
              </a:lnSpc>
            </a:pP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Solar </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524000"/>
            <a:ext cx="8229600" cy="4483291"/>
          </a:xfrm>
        </p:spPr>
        <p:txBody>
          <a:bodyPr>
            <a:normAutofit/>
          </a:bodyPr>
          <a:lstStyle/>
          <a:p>
            <a:pPr algn="just">
              <a:lnSpc>
                <a:spcPct val="150000"/>
              </a:lnSpc>
            </a:pPr>
            <a:r>
              <a:rPr lang="en-US" sz="2400" dirty="0">
                <a:latin typeface="Times New Roman" pitchFamily="18" charset="0"/>
                <a:cs typeface="Times New Roman" pitchFamily="18" charset="0"/>
              </a:rPr>
              <a:t>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Renewable Energy Source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Reduces Electricity cost</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Diverse Applications </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Low Maintenance Costs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Technology Development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Solar </a:t>
            </a:r>
            <a:r>
              <a:rPr lang="en-US" dirty="0">
                <a:solidFill>
                  <a:schemeClr val="accent2">
                    <a:lumMod val="50000"/>
                  </a:schemeClr>
                </a:solidFill>
                <a:latin typeface="Times New Roman" pitchFamily="18" charset="0"/>
                <a:cs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Power Plants</a:t>
            </a:r>
          </a:p>
        </p:txBody>
      </p:sp>
      <p:sp>
        <p:nvSpPr>
          <p:cNvPr id="4" name="Content Placeholder 3"/>
          <p:cNvSpPr>
            <a:spLocks noGrp="1"/>
          </p:cNvSpPr>
          <p:nvPr>
            <p:ph idx="1"/>
          </p:nvPr>
        </p:nvSpPr>
        <p:spPr>
          <a:xfrm>
            <a:off x="457200" y="1524000"/>
            <a:ext cx="8229600" cy="4483291"/>
          </a:xfrm>
        </p:spPr>
        <p:txBody>
          <a:bodyPr>
            <a:normAutofit/>
          </a:bodyPr>
          <a:lstStyle/>
          <a:p>
            <a:pPr algn="just">
              <a:lnSpc>
                <a:spcPct val="150000"/>
              </a:lnSpc>
            </a:pPr>
            <a:r>
              <a:rPr lang="en-US" sz="2400" dirty="0">
                <a:latin typeface="Times New Roman" pitchFamily="18" charset="0"/>
                <a:cs typeface="Times New Roman" pitchFamily="18" charset="0"/>
              </a:rPr>
              <a:t>Disadvantages</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Weather Dependent</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Solar Energy Storage is Expensive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Uses a Lot of Space</a:t>
            </a:r>
          </a:p>
          <a:p>
            <a:pPr lvl="3" algn="just" fontAlgn="base">
              <a:lnSpc>
                <a:spcPct val="150000"/>
              </a:lnSpc>
              <a:buFont typeface="Wingdings" pitchFamily="2" charset="2"/>
              <a:buChar char="Ø"/>
            </a:pPr>
            <a:r>
              <a:rPr lang="en-US" sz="2400" dirty="0">
                <a:latin typeface="Times New Roman" pitchFamily="18" charset="0"/>
                <a:cs typeface="Times New Roman" pitchFamily="18" charset="0"/>
              </a:rPr>
              <a:t>   Associated with Pollution</a:t>
            </a:r>
          </a:p>
          <a:p>
            <a:pPr lvl="3" algn="just" fontAlgn="base">
              <a:lnSpc>
                <a:spcPct val="150000"/>
              </a:lnSpc>
              <a:buFont typeface="Wingdings" pitchFamily="2" charset="2"/>
              <a:buChar char="Ø"/>
            </a:pPr>
            <a:endParaRPr lang="en-US" sz="2400" dirty="0"/>
          </a:p>
          <a:p>
            <a:pPr lvl="3" algn="just" fontAlgn="base">
              <a:lnSpc>
                <a:spcPct val="150000"/>
              </a:lnSpc>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4033</TotalTime>
  <Words>807</Words>
  <Application>Microsoft Office PowerPoint</Application>
  <PresentationFormat>On-screen Show (4:3)</PresentationFormat>
  <Paragraphs>145</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Concourse</vt:lpstr>
      <vt:lpstr>POWER PLANTS</vt:lpstr>
      <vt:lpstr>POWER PLANTS</vt:lpstr>
      <vt:lpstr>Conventional Power Plants</vt:lpstr>
      <vt:lpstr>Non-Conventional Power Plants</vt:lpstr>
      <vt:lpstr>Power Plants</vt:lpstr>
      <vt:lpstr>Hydro - electric Power Plants</vt:lpstr>
      <vt:lpstr>Hydro-electric Power Plants</vt:lpstr>
      <vt:lpstr>Hydro-electric Power Plants</vt:lpstr>
      <vt:lpstr>Hydro-electric Power Plants</vt:lpstr>
      <vt:lpstr>Thermal Power Plants</vt:lpstr>
      <vt:lpstr>Thermal Power Plants</vt:lpstr>
      <vt:lpstr>Thermal Power Plants</vt:lpstr>
      <vt:lpstr>Thermal Power Plants</vt:lpstr>
      <vt:lpstr>Nuclear Power Plants</vt:lpstr>
      <vt:lpstr>Nuclear Power Plants</vt:lpstr>
      <vt:lpstr>Nuclear Power Plants</vt:lpstr>
      <vt:lpstr>Nuclear Power Plants</vt:lpstr>
      <vt:lpstr>Diesel Power Plants</vt:lpstr>
      <vt:lpstr>Diesel Power Plants</vt:lpstr>
      <vt:lpstr>Diesel Power Plants</vt:lpstr>
      <vt:lpstr>Diesel Power Plants</vt:lpstr>
      <vt:lpstr>Wind Power Plants</vt:lpstr>
      <vt:lpstr>Wind Power Plants</vt:lpstr>
      <vt:lpstr>Wind Power Plants</vt:lpstr>
      <vt:lpstr>Wind Power Plants</vt:lpstr>
      <vt:lpstr>Solar Power Plants</vt:lpstr>
      <vt:lpstr>Solar  Power Plants</vt:lpstr>
      <vt:lpstr>Solar  Power Plants</vt:lpstr>
      <vt:lpstr>Solar  Power Plants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dc:creator>
  <cp:lastModifiedBy>918547541027</cp:lastModifiedBy>
  <cp:revision>111</cp:revision>
  <dcterms:created xsi:type="dcterms:W3CDTF">2020-06-15T13:04:01Z</dcterms:created>
  <dcterms:modified xsi:type="dcterms:W3CDTF">2023-07-14T15:42:34Z</dcterms:modified>
</cp:coreProperties>
</file>