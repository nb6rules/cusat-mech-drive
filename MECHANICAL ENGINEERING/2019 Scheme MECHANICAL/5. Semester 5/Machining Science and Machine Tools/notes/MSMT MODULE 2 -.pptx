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65" r:id="rId3"/>
    <p:sldId id="284" r:id="rId4"/>
    <p:sldId id="285" r:id="rId5"/>
    <p:sldId id="286" r:id="rId6"/>
    <p:sldId id="287" r:id="rId7"/>
    <p:sldId id="266" r:id="rId8"/>
    <p:sldId id="267" r:id="rId9"/>
    <p:sldId id="257" r:id="rId10"/>
    <p:sldId id="268" r:id="rId11"/>
    <p:sldId id="269" r:id="rId12"/>
    <p:sldId id="270" r:id="rId13"/>
    <p:sldId id="271" r:id="rId14"/>
    <p:sldId id="272" r:id="rId15"/>
    <p:sldId id="283" r:id="rId16"/>
    <p:sldId id="273" r:id="rId17"/>
    <p:sldId id="274" r:id="rId18"/>
    <p:sldId id="275" r:id="rId19"/>
    <p:sldId id="288" r:id="rId20"/>
    <p:sldId id="258" r:id="rId21"/>
    <p:sldId id="259" r:id="rId22"/>
    <p:sldId id="260" r:id="rId23"/>
    <p:sldId id="261" r:id="rId24"/>
    <p:sldId id="262" r:id="rId25"/>
    <p:sldId id="263" r:id="rId26"/>
    <p:sldId id="264" r:id="rId27"/>
    <p:sldId id="276" r:id="rId28"/>
    <p:sldId id="277" r:id="rId29"/>
    <p:sldId id="278" r:id="rId30"/>
    <p:sldId id="279" r:id="rId31"/>
    <p:sldId id="280" r:id="rId32"/>
    <p:sldId id="281" r:id="rId33"/>
    <p:sldId id="28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p:scale>
          <a:sx n="70" d="100"/>
          <a:sy n="70" d="100"/>
        </p:scale>
        <p:origin x="-744" y="-16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B5F3FC5-4721-4EDE-B4B4-A0FC65DF428A}" type="datetimeFigureOut">
              <a:rPr lang="en-US" smtClean="0"/>
              <a:t>10/9/2024</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3010D1-92A4-440B-BD24-53BC46F38296}"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FB3010D1-92A4-440B-BD24-53BC46F38296}" type="slidenum">
              <a:rPr lang="en-IN" smtClean="0"/>
              <a:t>2</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3ED920B-ED16-4999-A44C-9E1AA32AF1F6}" type="datetime1">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275960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2D8675-71B7-4AAC-A084-724521B4DA9E}" type="datetime1">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2749939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E17ECA-2E52-4CDA-812E-276907E4E4E5}" type="datetime1">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1946639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63F9DD1-61EE-49C8-84A0-E68E4AA120DB}" type="datetime1">
              <a:rPr lang="en-US" smtClean="0"/>
              <a:t>10/9/2024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1654991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A54FD6A-412E-4E13-8EAB-CD6FA9F441DA}" type="datetime1">
              <a:rPr lang="en-US" smtClean="0"/>
              <a:t>10/9/2024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3563430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B6B73C4-C2F4-4C57-8378-DDD7A5939848}" type="datetime1">
              <a:rPr lang="en-US" smtClean="0"/>
              <a:t>10/9/2024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3307356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7B5B36-4D4F-408F-A15C-DD7D8D5AFDB9}" type="datetime1">
              <a:rPr lang="en-US" smtClean="0"/>
              <a:t>10/9/2024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182627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2B8CD-348D-4879-ABA3-94086180BA26}" type="datetime1">
              <a:rPr lang="en-US" smtClean="0"/>
              <a:t>10/9/2024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2811484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EF32CF2-633F-424E-8F87-D48FB3BC60BC}" type="datetime1">
              <a:rPr lang="en-US" smtClean="0"/>
              <a:t>10/9/2024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3694534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CC7B58-BB66-40E2-B1B8-BAB1E00C0472}" type="datetime1">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1932375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94B084-597E-4E65-9227-FAB256619228}" type="datetime1">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2179652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A1792E-F7DB-4B24-9586-DC1EE5A249D6}" type="datetime1">
              <a:rPr lang="en-US" smtClean="0"/>
              <a:t>10/9/2024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DAE0EB-FA32-4F7F-BC58-5B5864675FFA}" type="slidenum">
              <a:rPr lang="en-US" smtClean="0"/>
              <a:pPr/>
              <a:t>‹#›</a:t>
            </a:fld>
            <a:endParaRPr lang="en-US"/>
          </a:p>
        </p:txBody>
      </p:sp>
    </p:spTree>
    <p:extLst>
      <p:ext uri="{BB962C8B-B14F-4D97-AF65-F5344CB8AC3E}">
        <p14:creationId xmlns="" xmlns:p14="http://schemas.microsoft.com/office/powerpoint/2010/main" val="671288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latin typeface="Times New Roman" pitchFamily="18" charset="0"/>
                <a:cs typeface="Times New Roman" pitchFamily="18" charset="0"/>
              </a:rPr>
              <a:t>MACHINING SCIENCE AND MACHINE TOOLS</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545265" y="3995442"/>
            <a:ext cx="9144000" cy="661618"/>
          </a:xfrm>
        </p:spPr>
        <p:txBody>
          <a:bodyPr>
            <a:normAutofit/>
          </a:bodyPr>
          <a:lstStyle/>
          <a:p>
            <a:r>
              <a:rPr lang="en-US" sz="3600" b="1" dirty="0" smtClean="0">
                <a:latin typeface="Times New Roman" pitchFamily="18" charset="0"/>
                <a:cs typeface="Times New Roman" pitchFamily="18" charset="0"/>
              </a:rPr>
              <a:t>MODULE 2</a:t>
            </a:r>
            <a:endParaRPr lang="en-US" sz="36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DDAE0EB-FA32-4F7F-BC58-5B5864675FFA}" type="slidenum">
              <a:rPr lang="en-US" smtClean="0"/>
              <a:pPr/>
              <a:t>1</a:t>
            </a:fld>
            <a:endParaRPr lang="en-US"/>
          </a:p>
        </p:txBody>
      </p:sp>
    </p:spTree>
    <p:extLst>
      <p:ext uri="{BB962C8B-B14F-4D97-AF65-F5344CB8AC3E}">
        <p14:creationId xmlns="" xmlns:p14="http://schemas.microsoft.com/office/powerpoint/2010/main" val="1561459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latin typeface="Times New Roman" pitchFamily="18" charset="0"/>
                <a:cs typeface="Times New Roman" pitchFamily="18" charset="0"/>
              </a:rPr>
              <a:t>MACHINE TOOLS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lnSpc>
                <a:spcPct val="110000"/>
              </a:lnSpc>
            </a:pPr>
            <a:r>
              <a:rPr lang="en-US" sz="2400" dirty="0" smtClean="0">
                <a:latin typeface="Times New Roman" pitchFamily="18" charset="0"/>
                <a:cs typeface="Times New Roman" pitchFamily="18" charset="0"/>
              </a:rPr>
              <a:t>A machine tool is defined as one which while holding the cutting tools would be able to remove metal from a work piece in order to generate the requisite product of given size, configuration and finish. </a:t>
            </a:r>
          </a:p>
          <a:p>
            <a:pPr algn="just">
              <a:lnSpc>
                <a:spcPct val="110000"/>
              </a:lnSpc>
            </a:pPr>
            <a:r>
              <a:rPr lang="en-US" sz="2400" dirty="0" smtClean="0">
                <a:latin typeface="Times New Roman" pitchFamily="18" charset="0"/>
                <a:cs typeface="Times New Roman" pitchFamily="18" charset="0"/>
              </a:rPr>
              <a:t>It is different from a machine, which essentially is a means of converting the source of power from one form to the other. </a:t>
            </a:r>
          </a:p>
          <a:p>
            <a:pPr algn="just">
              <a:lnSpc>
                <a:spcPct val="110000"/>
              </a:lnSpc>
            </a:pPr>
            <a:r>
              <a:rPr lang="en-US" sz="2400" dirty="0" smtClean="0">
                <a:latin typeface="Times New Roman" pitchFamily="18" charset="0"/>
                <a:cs typeface="Times New Roman" pitchFamily="18" charset="0"/>
              </a:rPr>
              <a:t>The machine tools are the mother machines since without them no components could be produced in their finished form. They are very old and the industrial revolution owes its success to a very great extent to them.</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DDAE0EB-FA32-4F7F-BC58-5B5864675FFA}"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31412"/>
          </a:xfrm>
        </p:spPr>
        <p:txBody>
          <a:bodyPr>
            <a:normAutofit/>
          </a:bodyPr>
          <a:lstStyle/>
          <a:p>
            <a:r>
              <a:rPr lang="en-US" sz="3200" b="1" dirty="0" smtClean="0">
                <a:latin typeface="Times New Roman" pitchFamily="18" charset="0"/>
                <a:cs typeface="Times New Roman" pitchFamily="18" charset="0"/>
              </a:rPr>
              <a:t>CLASSIFICATION OF MACHINE TOOLS</a:t>
            </a:r>
            <a:endParaRPr lang="en-IN"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42415" y="1310185"/>
            <a:ext cx="11185478" cy="5254388"/>
          </a:xfrm>
        </p:spPr>
        <p:txBody>
          <a:bodyPr>
            <a:noAutofit/>
          </a:bodyPr>
          <a:lstStyle/>
          <a:p>
            <a:pPr algn="just">
              <a:buNone/>
            </a:pPr>
            <a:r>
              <a:rPr lang="en-IN" sz="2400" b="1" dirty="0" smtClean="0">
                <a:latin typeface="Times New Roman" pitchFamily="18" charset="0"/>
                <a:cs typeface="Times New Roman" pitchFamily="18" charset="0"/>
              </a:rPr>
              <a:t>1. General </a:t>
            </a:r>
            <a:r>
              <a:rPr lang="en-IN" sz="2400" b="1" dirty="0" smtClean="0">
                <a:latin typeface="Times New Roman" pitchFamily="18" charset="0"/>
                <a:cs typeface="Times New Roman" pitchFamily="18" charset="0"/>
              </a:rPr>
              <a:t>purpose machine tools (GPM</a:t>
            </a:r>
            <a:r>
              <a:rPr lang="en-IN" sz="2400" b="1" dirty="0" smtClean="0">
                <a:latin typeface="Times New Roman" pitchFamily="18" charset="0"/>
                <a:cs typeface="Times New Roman" pitchFamily="18" charset="0"/>
              </a:rPr>
              <a:t>)</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those </a:t>
            </a:r>
            <a:r>
              <a:rPr lang="en-IN" sz="2400" dirty="0" smtClean="0">
                <a:latin typeface="Times New Roman" pitchFamily="18" charset="0"/>
                <a:cs typeface="Times New Roman" pitchFamily="18" charset="0"/>
              </a:rPr>
              <a:t>designed to perform a variety of </a:t>
            </a:r>
            <a:r>
              <a:rPr lang="en-IN" sz="2400" dirty="0" smtClean="0">
                <a:latin typeface="Times New Roman" pitchFamily="18" charset="0"/>
                <a:cs typeface="Times New Roman" pitchFamily="18" charset="0"/>
              </a:rPr>
              <a:t>machining operations </a:t>
            </a:r>
            <a:r>
              <a:rPr lang="en-IN" sz="2400" dirty="0" smtClean="0">
                <a:latin typeface="Times New Roman" pitchFamily="18" charset="0"/>
                <a:cs typeface="Times New Roman" pitchFamily="18" charset="0"/>
              </a:rPr>
              <a:t>on wide ranging types of components. By the very nature of generalisation, the </a:t>
            </a:r>
            <a:r>
              <a:rPr lang="en-IN" sz="2400" dirty="0" smtClean="0">
                <a:latin typeface="Times New Roman" pitchFamily="18" charset="0"/>
                <a:cs typeface="Times New Roman" pitchFamily="18" charset="0"/>
              </a:rPr>
              <a:t>general purpose </a:t>
            </a:r>
            <a:r>
              <a:rPr lang="en-IN" sz="2400" dirty="0" smtClean="0">
                <a:latin typeface="Times New Roman" pitchFamily="18" charset="0"/>
                <a:cs typeface="Times New Roman" pitchFamily="18" charset="0"/>
              </a:rPr>
              <a:t>machine tool though capable of carrying out a variety of tasks, would not be suitable for </a:t>
            </a:r>
            <a:r>
              <a:rPr lang="en-IN" sz="2400" dirty="0" smtClean="0">
                <a:latin typeface="Times New Roman" pitchFamily="18" charset="0"/>
                <a:cs typeface="Times New Roman" pitchFamily="18" charset="0"/>
              </a:rPr>
              <a:t>large production</a:t>
            </a:r>
            <a:r>
              <a:rPr lang="en-IN" sz="2400" dirty="0" smtClean="0">
                <a:latin typeface="Times New Roman" pitchFamily="18" charset="0"/>
                <a:cs typeface="Times New Roman" pitchFamily="18" charset="0"/>
              </a:rPr>
              <a:t>, since the time for setting-up such operations is large.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Thus </a:t>
            </a:r>
            <a:r>
              <a:rPr lang="en-IN" sz="2400" dirty="0" smtClean="0">
                <a:latin typeface="Times New Roman" pitchFamily="18" charset="0"/>
                <a:cs typeface="Times New Roman" pitchFamily="18" charset="0"/>
              </a:rPr>
              <a:t>the idle time on the </a:t>
            </a:r>
            <a:r>
              <a:rPr lang="en-IN" sz="2400" dirty="0" smtClean="0">
                <a:latin typeface="Times New Roman" pitchFamily="18" charset="0"/>
                <a:cs typeface="Times New Roman" pitchFamily="18" charset="0"/>
              </a:rPr>
              <a:t>general purpose </a:t>
            </a:r>
            <a:r>
              <a:rPr lang="en-IN" sz="2400" dirty="0" smtClean="0">
                <a:latin typeface="Times New Roman" pitchFamily="18" charset="0"/>
                <a:cs typeface="Times New Roman" pitchFamily="18" charset="0"/>
              </a:rPr>
              <a:t>machine tool is more and the machine utilisation is poor. The machine utilisation may </a:t>
            </a:r>
            <a:r>
              <a:rPr lang="en-IN" sz="2400" dirty="0" smtClean="0">
                <a:latin typeface="Times New Roman" pitchFamily="18" charset="0"/>
                <a:cs typeface="Times New Roman" pitchFamily="18" charset="0"/>
              </a:rPr>
              <a:t>be termed </a:t>
            </a:r>
            <a:r>
              <a:rPr lang="en-IN" sz="2400" dirty="0" smtClean="0">
                <a:latin typeface="Times New Roman" pitchFamily="18" charset="0"/>
                <a:cs typeface="Times New Roman" pitchFamily="18" charset="0"/>
              </a:rPr>
              <a:t>as the percentage of actual machining (chip generating) time to the actual time available. </a:t>
            </a:r>
            <a:r>
              <a:rPr lang="en-IN" sz="2400" dirty="0" smtClean="0">
                <a:latin typeface="Times New Roman" pitchFamily="18" charset="0"/>
                <a:cs typeface="Times New Roman" pitchFamily="18" charset="0"/>
              </a:rPr>
              <a:t>This is </a:t>
            </a:r>
            <a:r>
              <a:rPr lang="en-IN" sz="2400" dirty="0" smtClean="0">
                <a:latin typeface="Times New Roman" pitchFamily="18" charset="0"/>
                <a:cs typeface="Times New Roman" pitchFamily="18" charset="0"/>
              </a:rPr>
              <a:t>much lower for the general purpose machine tools.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They </a:t>
            </a:r>
            <a:r>
              <a:rPr lang="en-IN" sz="2400" dirty="0" smtClean="0">
                <a:latin typeface="Times New Roman" pitchFamily="18" charset="0"/>
                <a:cs typeface="Times New Roman" pitchFamily="18" charset="0"/>
              </a:rPr>
              <a:t>may also be termed as the basic </a:t>
            </a:r>
            <a:r>
              <a:rPr lang="en-IN" sz="2400" dirty="0" smtClean="0">
                <a:latin typeface="Times New Roman" pitchFamily="18" charset="0"/>
                <a:cs typeface="Times New Roman" pitchFamily="18" charset="0"/>
              </a:rPr>
              <a:t>machine tools. </a:t>
            </a:r>
          </a:p>
          <a:p>
            <a:pPr algn="just"/>
            <a:r>
              <a:rPr lang="en-IN" sz="2400" dirty="0" smtClean="0">
                <a:latin typeface="Times New Roman" pitchFamily="18" charset="0"/>
                <a:cs typeface="Times New Roman" pitchFamily="18" charset="0"/>
              </a:rPr>
              <a:t>Further </a:t>
            </a:r>
            <a:r>
              <a:rPr lang="en-IN" sz="2400" dirty="0" smtClean="0">
                <a:latin typeface="Times New Roman" pitchFamily="18" charset="0"/>
                <a:cs typeface="Times New Roman" pitchFamily="18" charset="0"/>
              </a:rPr>
              <a:t>skilled operators would be required to run the general purpose machine tools. Hence </a:t>
            </a:r>
            <a:r>
              <a:rPr lang="en-IN" sz="2400" dirty="0" smtClean="0">
                <a:latin typeface="Times New Roman" pitchFamily="18" charset="0"/>
                <a:cs typeface="Times New Roman" pitchFamily="18" charset="0"/>
              </a:rPr>
              <a:t>their utility </a:t>
            </a:r>
            <a:r>
              <a:rPr lang="en-IN" sz="2400" dirty="0" smtClean="0">
                <a:latin typeface="Times New Roman" pitchFamily="18" charset="0"/>
                <a:cs typeface="Times New Roman" pitchFamily="18" charset="0"/>
              </a:rPr>
              <a:t>is in job shops (catering to small batch, large variety job production) where the requirement </a:t>
            </a:r>
            <a:r>
              <a:rPr lang="en-IN" sz="2400" dirty="0" smtClean="0">
                <a:latin typeface="Times New Roman" pitchFamily="18" charset="0"/>
                <a:cs typeface="Times New Roman" pitchFamily="18" charset="0"/>
              </a:rPr>
              <a:t>is versatility </a:t>
            </a:r>
            <a:r>
              <a:rPr lang="en-IN" sz="2400" dirty="0" smtClean="0">
                <a:latin typeface="Times New Roman" pitchFamily="18" charset="0"/>
                <a:cs typeface="Times New Roman" pitchFamily="18" charset="0"/>
              </a:rPr>
              <a:t>rather than production capability.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Examples </a:t>
            </a:r>
            <a:r>
              <a:rPr lang="en-IN" sz="2400" dirty="0" smtClean="0">
                <a:latin typeface="Times New Roman" pitchFamily="18" charset="0"/>
                <a:cs typeface="Times New Roman" pitchFamily="18" charset="0"/>
              </a:rPr>
              <a:t>are lathe, shaper and milling machine.</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DDAE0EB-FA32-4F7F-BC58-5B5864675FFA}"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175" y="338018"/>
            <a:ext cx="11472081" cy="6267497"/>
          </a:xfrm>
        </p:spPr>
        <p:txBody>
          <a:bodyPr>
            <a:normAutofit/>
          </a:bodyPr>
          <a:lstStyle/>
          <a:p>
            <a:pPr algn="just"/>
            <a:r>
              <a:rPr lang="en-US" sz="2400" b="1" dirty="0" smtClean="0">
                <a:latin typeface="Times New Roman" pitchFamily="18" charset="0"/>
                <a:cs typeface="Times New Roman" pitchFamily="18" charset="0"/>
              </a:rPr>
              <a:t>2. Production machine tools</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Production </a:t>
            </a:r>
            <a:r>
              <a:rPr lang="en-IN" sz="2400" dirty="0" smtClean="0">
                <a:latin typeface="Times New Roman" pitchFamily="18" charset="0"/>
                <a:cs typeface="Times New Roman" pitchFamily="18" charset="0"/>
              </a:rPr>
              <a:t>machine tools are those where a number of functions of the machine tools are </a:t>
            </a:r>
            <a:r>
              <a:rPr lang="en-IN" sz="2400" dirty="0" smtClean="0">
                <a:latin typeface="Times New Roman" pitchFamily="18" charset="0"/>
                <a:cs typeface="Times New Roman" pitchFamily="18" charset="0"/>
              </a:rPr>
              <a:t>automated such </a:t>
            </a:r>
            <a:r>
              <a:rPr lang="en-IN" sz="2400" dirty="0" smtClean="0">
                <a:latin typeface="Times New Roman" pitchFamily="18" charset="0"/>
                <a:cs typeface="Times New Roman" pitchFamily="18" charset="0"/>
              </a:rPr>
              <a:t>that the operator skill required to produce the component is reduced.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Also </a:t>
            </a:r>
            <a:r>
              <a:rPr lang="en-IN" sz="2400" dirty="0" smtClean="0">
                <a:latin typeface="Times New Roman" pitchFamily="18" charset="0"/>
                <a:cs typeface="Times New Roman" pitchFamily="18" charset="0"/>
              </a:rPr>
              <a:t>this would help </a:t>
            </a:r>
            <a:r>
              <a:rPr lang="en-IN" sz="2400" dirty="0" smtClean="0">
                <a:latin typeface="Times New Roman" pitchFamily="18" charset="0"/>
                <a:cs typeface="Times New Roman" pitchFamily="18" charset="0"/>
              </a:rPr>
              <a:t>in reducing </a:t>
            </a:r>
            <a:r>
              <a:rPr lang="en-IN" sz="2400" dirty="0" smtClean="0">
                <a:latin typeface="Times New Roman" pitchFamily="18" charset="0"/>
                <a:cs typeface="Times New Roman" pitchFamily="18" charset="0"/>
              </a:rPr>
              <a:t>the idle time of the machine tool thus improving the machine utilisation. It is also possible </a:t>
            </a:r>
            <a:r>
              <a:rPr lang="en-IN" sz="2400" dirty="0" smtClean="0">
                <a:latin typeface="Times New Roman" pitchFamily="18" charset="0"/>
                <a:cs typeface="Times New Roman" pitchFamily="18" charset="0"/>
              </a:rPr>
              <a:t>that a </a:t>
            </a:r>
            <a:r>
              <a:rPr lang="en-IN" sz="2400" dirty="0" smtClean="0">
                <a:latin typeface="Times New Roman" pitchFamily="18" charset="0"/>
                <a:cs typeface="Times New Roman" pitchFamily="18" charset="0"/>
              </a:rPr>
              <a:t>general purpose machine tool may be converted into a production machine tool by the utilisation </a:t>
            </a:r>
            <a:r>
              <a:rPr lang="en-IN" sz="2400" dirty="0" smtClean="0">
                <a:latin typeface="Times New Roman" pitchFamily="18" charset="0"/>
                <a:cs typeface="Times New Roman" pitchFamily="18" charset="0"/>
              </a:rPr>
              <a:t>of jigs </a:t>
            </a:r>
            <a:r>
              <a:rPr lang="en-IN" sz="2400" dirty="0" smtClean="0">
                <a:latin typeface="Times New Roman" pitchFamily="18" charset="0"/>
                <a:cs typeface="Times New Roman" pitchFamily="18" charset="0"/>
              </a:rPr>
              <a:t>and fixtures for holding the work piece.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These </a:t>
            </a:r>
            <a:r>
              <a:rPr lang="en-IN" sz="2400" dirty="0" smtClean="0">
                <a:latin typeface="Times New Roman" pitchFamily="18" charset="0"/>
                <a:cs typeface="Times New Roman" pitchFamily="18" charset="0"/>
              </a:rPr>
              <a:t>have been developed from the basic machine </a:t>
            </a:r>
            <a:r>
              <a:rPr lang="en-IN" sz="2400" dirty="0" smtClean="0">
                <a:latin typeface="Times New Roman" pitchFamily="18" charset="0"/>
                <a:cs typeface="Times New Roman" pitchFamily="18" charset="0"/>
              </a:rPr>
              <a:t>tools. Some </a:t>
            </a:r>
            <a:r>
              <a:rPr lang="en-IN" sz="2400" dirty="0" smtClean="0">
                <a:latin typeface="Times New Roman" pitchFamily="18" charset="0"/>
                <a:cs typeface="Times New Roman" pitchFamily="18" charset="0"/>
              </a:rPr>
              <a:t>examples are capstan and turret lathes, automats and multiple spindle drilling machines.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time </a:t>
            </a:r>
            <a:r>
              <a:rPr lang="en-IN" sz="2400" dirty="0" smtClean="0">
                <a:latin typeface="Times New Roman" pitchFamily="18" charset="0"/>
                <a:cs typeface="Times New Roman" pitchFamily="18" charset="0"/>
              </a:rPr>
              <a:t>required for setting-up for a given job is more.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Also </a:t>
            </a:r>
            <a:r>
              <a:rPr lang="en-IN" sz="2400" dirty="0" smtClean="0">
                <a:latin typeface="Times New Roman" pitchFamily="18" charset="0"/>
                <a:cs typeface="Times New Roman" pitchFamily="18" charset="0"/>
              </a:rPr>
              <a:t>tooling design for a given job is more </a:t>
            </a:r>
            <a:r>
              <a:rPr lang="en-IN" sz="2400" dirty="0" smtClean="0">
                <a:latin typeface="Times New Roman" pitchFamily="18" charset="0"/>
                <a:cs typeface="Times New Roman" pitchFamily="18" charset="0"/>
              </a:rPr>
              <a:t>time consuming </a:t>
            </a:r>
            <a:r>
              <a:rPr lang="en-IN" sz="2400" dirty="0" smtClean="0">
                <a:latin typeface="Times New Roman" pitchFamily="18" charset="0"/>
                <a:cs typeface="Times New Roman" pitchFamily="18" charset="0"/>
              </a:rPr>
              <a:t>and expensive. Hence these machines can only be justified for large volume production.</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DDAE0EB-FA32-4F7F-BC58-5B5864675FFA}"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7005" y="665565"/>
            <a:ext cx="11185477" cy="5585110"/>
          </a:xfrm>
        </p:spPr>
        <p:txBody>
          <a:bodyPr/>
          <a:lstStyle/>
          <a:p>
            <a:pPr algn="just">
              <a:buNone/>
            </a:pPr>
            <a:r>
              <a:rPr lang="en-US" sz="2400" b="1" dirty="0" smtClean="0">
                <a:latin typeface="Times New Roman" pitchFamily="18" charset="0"/>
                <a:cs typeface="Times New Roman" pitchFamily="18" charset="0"/>
              </a:rPr>
              <a:t>3. </a:t>
            </a:r>
            <a:r>
              <a:rPr lang="en-IN" sz="2400" b="1" dirty="0" smtClean="0">
                <a:latin typeface="Times New Roman" pitchFamily="18" charset="0"/>
                <a:cs typeface="Times New Roman" pitchFamily="18" charset="0"/>
              </a:rPr>
              <a:t>Special purpose machine tools (SPM) </a:t>
            </a:r>
            <a:endParaRPr lang="en-IN" sz="2400" b="1"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Special </a:t>
            </a:r>
            <a:r>
              <a:rPr lang="en-IN" sz="2400" dirty="0" smtClean="0">
                <a:latin typeface="Times New Roman" pitchFamily="18" charset="0"/>
                <a:cs typeface="Times New Roman" pitchFamily="18" charset="0"/>
              </a:rPr>
              <a:t>purpose machine tools (SPM) are those machine tools where the setting operation for the </a:t>
            </a:r>
            <a:r>
              <a:rPr lang="en-IN" sz="2400" dirty="0" smtClean="0">
                <a:latin typeface="Times New Roman" pitchFamily="18" charset="0"/>
                <a:cs typeface="Times New Roman" pitchFamily="18" charset="0"/>
              </a:rPr>
              <a:t>job and </a:t>
            </a:r>
            <a:r>
              <a:rPr lang="en-IN" sz="2400" dirty="0" smtClean="0">
                <a:latin typeface="Times New Roman" pitchFamily="18" charset="0"/>
                <a:cs typeface="Times New Roman" pitchFamily="18" charset="0"/>
              </a:rPr>
              <a:t>tools is practically eliminated and complete automation is achieved.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This </a:t>
            </a:r>
            <a:r>
              <a:rPr lang="en-IN" sz="2400" dirty="0" smtClean="0">
                <a:latin typeface="Times New Roman" pitchFamily="18" charset="0"/>
                <a:cs typeface="Times New Roman" pitchFamily="18" charset="0"/>
              </a:rPr>
              <a:t>would greatly </a:t>
            </a:r>
            <a:r>
              <a:rPr lang="en-IN" sz="2400" dirty="0" smtClean="0">
                <a:latin typeface="Times New Roman" pitchFamily="18" charset="0"/>
                <a:cs typeface="Times New Roman" pitchFamily="18" charset="0"/>
              </a:rPr>
              <a:t>reduce the </a:t>
            </a:r>
            <a:r>
              <a:rPr lang="en-IN" sz="2400" dirty="0" smtClean="0">
                <a:latin typeface="Times New Roman" pitchFamily="18" charset="0"/>
                <a:cs typeface="Times New Roman" pitchFamily="18" charset="0"/>
              </a:rPr>
              <a:t>cycle time (the actual manufacturing time) of a component and helps in the reduction of the </a:t>
            </a:r>
            <a:r>
              <a:rPr lang="en-IN" sz="2400" dirty="0" smtClean="0">
                <a:latin typeface="Times New Roman" pitchFamily="18" charset="0"/>
                <a:cs typeface="Times New Roman" pitchFamily="18" charset="0"/>
              </a:rPr>
              <a:t>costs. </a:t>
            </a:r>
          </a:p>
          <a:p>
            <a:pPr algn="just"/>
            <a:r>
              <a:rPr lang="en-IN" sz="2400" dirty="0" smtClean="0">
                <a:latin typeface="Times New Roman" pitchFamily="18" charset="0"/>
                <a:cs typeface="Times New Roman" pitchFamily="18" charset="0"/>
              </a:rPr>
              <a:t>These </a:t>
            </a:r>
            <a:r>
              <a:rPr lang="en-IN" sz="2400" dirty="0" smtClean="0">
                <a:latin typeface="Times New Roman" pitchFamily="18" charset="0"/>
                <a:cs typeface="Times New Roman" pitchFamily="18" charset="0"/>
              </a:rPr>
              <a:t>are used for mass manufacturing.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These </a:t>
            </a:r>
            <a:r>
              <a:rPr lang="en-IN" sz="2400" dirty="0" smtClean="0">
                <a:latin typeface="Times New Roman" pitchFamily="18" charset="0"/>
                <a:cs typeface="Times New Roman" pitchFamily="18" charset="0"/>
              </a:rPr>
              <a:t>machine tools are expensive compared to the </a:t>
            </a:r>
            <a:r>
              <a:rPr lang="en-IN" sz="2400" dirty="0" smtClean="0">
                <a:latin typeface="Times New Roman" pitchFamily="18" charset="0"/>
                <a:cs typeface="Times New Roman" pitchFamily="18" charset="0"/>
              </a:rPr>
              <a:t>general purpose </a:t>
            </a:r>
            <a:r>
              <a:rPr lang="en-IN" sz="2400" dirty="0" smtClean="0">
                <a:latin typeface="Times New Roman" pitchFamily="18" charset="0"/>
                <a:cs typeface="Times New Roman" pitchFamily="18" charset="0"/>
              </a:rPr>
              <a:t>machines since they are specifically designed for the given application, and also restrictive </a:t>
            </a:r>
            <a:r>
              <a:rPr lang="en-IN" sz="2400" dirty="0" smtClean="0">
                <a:latin typeface="Times New Roman" pitchFamily="18" charset="0"/>
                <a:cs typeface="Times New Roman" pitchFamily="18" charset="0"/>
              </a:rPr>
              <a:t>in their </a:t>
            </a:r>
            <a:r>
              <a:rPr lang="en-IN" sz="2400" dirty="0" smtClean="0">
                <a:latin typeface="Times New Roman" pitchFamily="18" charset="0"/>
                <a:cs typeface="Times New Roman" pitchFamily="18" charset="0"/>
              </a:rPr>
              <a:t>application capabilities.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Examples </a:t>
            </a:r>
            <a:r>
              <a:rPr lang="en-IN" sz="2400" dirty="0" smtClean="0">
                <a:latin typeface="Times New Roman" pitchFamily="18" charset="0"/>
                <a:cs typeface="Times New Roman" pitchFamily="18" charset="0"/>
              </a:rPr>
              <a:t>are cam shaft grinding machine, connecting rod twin </a:t>
            </a:r>
            <a:r>
              <a:rPr lang="en-IN" sz="2400" dirty="0" smtClean="0">
                <a:latin typeface="Times New Roman" pitchFamily="18" charset="0"/>
                <a:cs typeface="Times New Roman" pitchFamily="18" charset="0"/>
              </a:rPr>
              <a:t>boring machine</a:t>
            </a:r>
            <a:r>
              <a:rPr lang="en-IN" sz="2400" dirty="0" smtClean="0">
                <a:latin typeface="Times New Roman" pitchFamily="18" charset="0"/>
                <a:cs typeface="Times New Roman" pitchFamily="18" charset="0"/>
              </a:rPr>
              <a:t>, and piston turning lathe</a:t>
            </a:r>
            <a:r>
              <a:rPr lang="en-IN" dirty="0" smtClean="0"/>
              <a:t>.</a:t>
            </a:r>
            <a:endParaRPr lang="en-IN" dirty="0"/>
          </a:p>
        </p:txBody>
      </p:sp>
      <p:sp>
        <p:nvSpPr>
          <p:cNvPr id="4" name="Slide Number Placeholder 3"/>
          <p:cNvSpPr>
            <a:spLocks noGrp="1"/>
          </p:cNvSpPr>
          <p:nvPr>
            <p:ph type="sldNum" sz="quarter" idx="12"/>
          </p:nvPr>
        </p:nvSpPr>
        <p:spPr/>
        <p:txBody>
          <a:bodyPr/>
          <a:lstStyle/>
          <a:p>
            <a:fld id="{0DDAE0EB-FA32-4F7F-BC58-5B5864675FFA}"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0653" y="1034055"/>
            <a:ext cx="11089943" cy="4711653"/>
          </a:xfrm>
        </p:spPr>
        <p:txBody>
          <a:bodyPr>
            <a:normAutofit/>
          </a:bodyPr>
          <a:lstStyle/>
          <a:p>
            <a:pPr algn="just">
              <a:buNone/>
            </a:pPr>
            <a:r>
              <a:rPr lang="en-US" sz="2400" b="1" dirty="0" smtClean="0">
                <a:latin typeface="Times New Roman" pitchFamily="18" charset="0"/>
                <a:cs typeface="Times New Roman" pitchFamily="18" charset="0"/>
              </a:rPr>
              <a:t>4. </a:t>
            </a:r>
            <a:r>
              <a:rPr lang="en-IN" sz="2400" b="1" dirty="0" smtClean="0">
                <a:latin typeface="Times New Roman" pitchFamily="18" charset="0"/>
                <a:cs typeface="Times New Roman" pitchFamily="18" charset="0"/>
              </a:rPr>
              <a:t>Single purpose machine tools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Single </a:t>
            </a:r>
            <a:r>
              <a:rPr lang="en-IN" sz="2400" dirty="0" smtClean="0">
                <a:latin typeface="Times New Roman" pitchFamily="18" charset="0"/>
                <a:cs typeface="Times New Roman" pitchFamily="18" charset="0"/>
              </a:rPr>
              <a:t>purpose machine tools are those, which are designed specifically for doing a single </a:t>
            </a:r>
            <a:r>
              <a:rPr lang="en-IN" sz="2400" dirty="0" smtClean="0">
                <a:latin typeface="Times New Roman" pitchFamily="18" charset="0"/>
                <a:cs typeface="Times New Roman" pitchFamily="18" charset="0"/>
              </a:rPr>
              <a:t>operation on </a:t>
            </a:r>
            <a:r>
              <a:rPr lang="en-IN" sz="2400" dirty="0" smtClean="0">
                <a:latin typeface="Times New Roman" pitchFamily="18" charset="0"/>
                <a:cs typeface="Times New Roman" pitchFamily="18" charset="0"/>
              </a:rPr>
              <a:t>a class of jobs or on a single job.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This </a:t>
            </a:r>
            <a:r>
              <a:rPr lang="en-IN" sz="2400" dirty="0" smtClean="0">
                <a:latin typeface="Times New Roman" pitchFamily="18" charset="0"/>
                <a:cs typeface="Times New Roman" pitchFamily="18" charset="0"/>
              </a:rPr>
              <a:t>is the highest amount of automation and is used for really </a:t>
            </a:r>
            <a:r>
              <a:rPr lang="en-IN" sz="2400" dirty="0" smtClean="0">
                <a:latin typeface="Times New Roman" pitchFamily="18" charset="0"/>
                <a:cs typeface="Times New Roman" pitchFamily="18" charset="0"/>
              </a:rPr>
              <a:t>high</a:t>
            </a:r>
            <a:r>
              <a:rPr lang="en-IN" sz="2400" dirty="0" smtClean="0">
                <a:latin typeface="Times New Roman" pitchFamily="18" charset="0"/>
                <a:cs typeface="Times New Roman" pitchFamily="18" charset="0"/>
              </a:rPr>
              <a:t> rate of production. These are used specifically for one product only and thus have the least </a:t>
            </a:r>
            <a:r>
              <a:rPr lang="en-IN" sz="2400" dirty="0" smtClean="0">
                <a:latin typeface="Times New Roman" pitchFamily="18" charset="0"/>
                <a:cs typeface="Times New Roman" pitchFamily="18" charset="0"/>
              </a:rPr>
              <a:t>flexibility. </a:t>
            </a:r>
          </a:p>
          <a:p>
            <a:pPr algn="just"/>
            <a:r>
              <a:rPr lang="en-IN" sz="2400" dirty="0" smtClean="0">
                <a:latin typeface="Times New Roman" pitchFamily="18" charset="0"/>
                <a:cs typeface="Times New Roman" pitchFamily="18" charset="0"/>
              </a:rPr>
              <a:t>However </a:t>
            </a:r>
            <a:r>
              <a:rPr lang="en-IN" sz="2400" dirty="0" smtClean="0">
                <a:latin typeface="Times New Roman" pitchFamily="18" charset="0"/>
                <a:cs typeface="Times New Roman" pitchFamily="18" charset="0"/>
              </a:rPr>
              <a:t>these do not require any manual intervention and are most cost effective.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Examples are transfer </a:t>
            </a:r>
            <a:r>
              <a:rPr lang="en-IN" sz="2400" dirty="0" smtClean="0">
                <a:latin typeface="Times New Roman" pitchFamily="18" charset="0"/>
                <a:cs typeface="Times New Roman" pitchFamily="18" charset="0"/>
              </a:rPr>
              <a:t>lines composed of unit heads for machining any given product completely.</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DDAE0EB-FA32-4F7F-BC58-5B5864675FFA}"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0661"/>
          </a:xfrm>
        </p:spPr>
        <p:txBody>
          <a:bodyPr>
            <a:normAutofit/>
          </a:bodyPr>
          <a:lstStyle/>
          <a:p>
            <a:r>
              <a:rPr lang="en-US" sz="3200" b="1" dirty="0" smtClean="0">
                <a:latin typeface="Times New Roman" pitchFamily="18" charset="0"/>
                <a:cs typeface="Times New Roman" pitchFamily="18" charset="0"/>
              </a:rPr>
              <a:t>GENERATING AND FORMING</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23531" y="1123876"/>
            <a:ext cx="7901762" cy="5436412"/>
          </a:xfrm>
        </p:spPr>
        <p:txBody>
          <a:bodyPr>
            <a:normAutofit/>
          </a:bodyPr>
          <a:lstStyle/>
          <a:p>
            <a:pPr algn="just"/>
            <a:r>
              <a:rPr lang="en-US" sz="2400" b="1" dirty="0" smtClean="0">
                <a:solidFill>
                  <a:srgbClr val="FF0000"/>
                </a:solidFill>
                <a:latin typeface="Times New Roman" pitchFamily="18" charset="0"/>
                <a:cs typeface="Times New Roman" pitchFamily="18" charset="0"/>
              </a:rPr>
              <a:t>Generating</a:t>
            </a:r>
            <a:r>
              <a:rPr lang="en-US" sz="2400" dirty="0" smtClean="0">
                <a:latin typeface="Times New Roman" pitchFamily="18" charset="0"/>
                <a:cs typeface="Times New Roman" pitchFamily="18" charset="0"/>
              </a:rPr>
              <a:t> is where the required profile is obtained by manipulating the relative motions of the work piece and the cutting tool edge. Thus the obtained contour would not be identical to the shape of the cutting tool edge. This is generally used for a majority of the general profiles required. The type of surface generated depends upon the primary motion of the work piece as well as the secondary (feed) motion of the cutting tool. </a:t>
            </a:r>
          </a:p>
          <a:p>
            <a:pPr algn="just"/>
            <a:r>
              <a:rPr lang="en-US" sz="2400" dirty="0" smtClean="0">
                <a:latin typeface="Times New Roman" pitchFamily="18" charset="0"/>
                <a:cs typeface="Times New Roman" pitchFamily="18" charset="0"/>
              </a:rPr>
              <a:t>For example, when the work piece is rotated and a single point tool is moved along a straight line parallel to the axis of rotation of the work piece, a helical surface is generated. If the pitch of the helix (feed rate) is extremely small then the surface generated may be approximated to a cylinder. This is carried out in lathes and called turning or cylindrical turning.</a:t>
            </a:r>
            <a:endParaRPr lang="en-US" sz="24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8797112" y="2548047"/>
            <a:ext cx="2948561" cy="164118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0DDAE0EB-FA32-4F7F-BC58-5B5864675FFA}"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1" y="1496015"/>
            <a:ext cx="8284535" cy="4001017"/>
          </a:xfrm>
        </p:spPr>
        <p:txBody>
          <a:bodyPr>
            <a:normAutofit/>
          </a:bodyPr>
          <a:lstStyle/>
          <a:p>
            <a:pPr algn="just"/>
            <a:r>
              <a:rPr lang="en-US" sz="2400" b="1" dirty="0" smtClean="0">
                <a:solidFill>
                  <a:srgbClr val="FF0000"/>
                </a:solidFill>
                <a:latin typeface="Times New Roman" pitchFamily="18" charset="0"/>
                <a:cs typeface="Times New Roman" pitchFamily="18" charset="0"/>
              </a:rPr>
              <a:t>Forming</a:t>
            </a:r>
            <a:r>
              <a:rPr lang="en-US" sz="2400" dirty="0" smtClean="0">
                <a:latin typeface="Times New Roman" pitchFamily="18" charset="0"/>
                <a:cs typeface="Times New Roman" pitchFamily="18" charset="0"/>
              </a:rPr>
              <a:t> in which the shape of the cutting tool is impressed upon the work piece. Thus the accuracy of the shape obtained is dependent upon the accuracy of the form of the tool used. However many of the machine tool operations are actually combinations of the above two. </a:t>
            </a:r>
          </a:p>
          <a:p>
            <a:pPr algn="just"/>
            <a:r>
              <a:rPr lang="en-US" sz="2400" dirty="0" smtClean="0">
                <a:latin typeface="Times New Roman" pitchFamily="18" charset="0"/>
                <a:cs typeface="Times New Roman" pitchFamily="18" charset="0"/>
              </a:rPr>
              <a:t>For example, when a dove tail is being cut, the actual profile is obtained by sweeping the angular cutter along the straight line. Thus, it involves forming (angular cutter profile) and generating (sweeping along a line)</a:t>
            </a:r>
            <a:endParaRPr lang="en-US" sz="24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t="3597" r="10920"/>
          <a:stretch>
            <a:fillRect/>
          </a:stretch>
        </p:blipFill>
        <p:spPr bwMode="auto">
          <a:xfrm>
            <a:off x="9251986" y="1988289"/>
            <a:ext cx="2382355" cy="2477386"/>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0DDAE0EB-FA32-4F7F-BC58-5B5864675FFA}"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488" y="484189"/>
            <a:ext cx="10515600" cy="852220"/>
          </a:xfrm>
        </p:spPr>
        <p:txBody>
          <a:bodyPr>
            <a:normAutofit/>
          </a:bodyPr>
          <a:lstStyle/>
          <a:p>
            <a:r>
              <a:rPr lang="en-US" sz="3200" b="1" dirty="0" smtClean="0">
                <a:latin typeface="Times New Roman" pitchFamily="18" charset="0"/>
                <a:cs typeface="Times New Roman" pitchFamily="18" charset="0"/>
              </a:rPr>
              <a:t>BASIC ELEMENTS OF MACHINE TOOLS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657895" y="1490774"/>
            <a:ext cx="10971727" cy="5090329"/>
          </a:xfrm>
        </p:spPr>
        <p:txBody>
          <a:bodyPr>
            <a:normAutofit/>
          </a:bodyPr>
          <a:lstStyle/>
          <a:p>
            <a:pPr algn="just"/>
            <a:r>
              <a:rPr lang="en-US" sz="2400" dirty="0">
                <a:solidFill>
                  <a:srgbClr val="FF0000"/>
                </a:solidFill>
                <a:latin typeface="Times New Roman" panose="02020603050405020304" pitchFamily="18" charset="0"/>
                <a:cs typeface="Times New Roman" panose="02020603050405020304" pitchFamily="18" charset="0"/>
              </a:rPr>
              <a:t>Work holding </a:t>
            </a:r>
            <a:r>
              <a:rPr lang="en-US" sz="2400" dirty="0" smtClean="0">
                <a:solidFill>
                  <a:srgbClr val="FF0000"/>
                </a:solidFill>
                <a:latin typeface="Times New Roman" panose="02020603050405020304" pitchFamily="18" charset="0"/>
                <a:cs typeface="Times New Roman" panose="02020603050405020304" pitchFamily="18" charset="0"/>
              </a:rPr>
              <a:t>device</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hold the work piece in the correct orientation to achieve the required </a:t>
            </a:r>
            <a:r>
              <a:rPr lang="en-US" sz="2400" dirty="0" smtClean="0">
                <a:latin typeface="Times New Roman" panose="02020603050405020304" pitchFamily="18" charset="0"/>
                <a:cs typeface="Times New Roman" panose="02020603050405020304" pitchFamily="18" charset="0"/>
              </a:rPr>
              <a:t>accuracy in </a:t>
            </a:r>
            <a:r>
              <a:rPr lang="en-US" sz="2400" dirty="0">
                <a:latin typeface="Times New Roman" panose="02020603050405020304" pitchFamily="18" charset="0"/>
                <a:cs typeface="Times New Roman" panose="02020603050405020304" pitchFamily="18" charset="0"/>
              </a:rPr>
              <a:t>manufacturing, e.g. chuck</a:t>
            </a:r>
          </a:p>
          <a:p>
            <a:pPr algn="just"/>
            <a:r>
              <a:rPr lang="en-US" sz="2400" dirty="0">
                <a:solidFill>
                  <a:srgbClr val="FF0000"/>
                </a:solidFill>
                <a:latin typeface="Times New Roman" panose="02020603050405020304" pitchFamily="18" charset="0"/>
                <a:cs typeface="Times New Roman" panose="02020603050405020304" pitchFamily="18" charset="0"/>
              </a:rPr>
              <a:t>Tool holding </a:t>
            </a:r>
            <a:r>
              <a:rPr lang="en-US" sz="2400" dirty="0" smtClean="0">
                <a:solidFill>
                  <a:srgbClr val="FF0000"/>
                </a:solidFill>
                <a:latin typeface="Times New Roman" panose="02020603050405020304" pitchFamily="18" charset="0"/>
                <a:cs typeface="Times New Roman" panose="02020603050405020304" pitchFamily="18" charset="0"/>
              </a:rPr>
              <a:t>device</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hold the cutting tool in the correct position with respect to the work piece </a:t>
            </a:r>
            <a:r>
              <a:rPr lang="en-US" sz="2400" dirty="0" smtClean="0">
                <a:latin typeface="Times New Roman" panose="02020603050405020304" pitchFamily="18" charset="0"/>
                <a:cs typeface="Times New Roman" panose="02020603050405020304" pitchFamily="18" charset="0"/>
              </a:rPr>
              <a:t>and provide </a:t>
            </a:r>
            <a:r>
              <a:rPr lang="en-US" sz="2400" dirty="0">
                <a:latin typeface="Times New Roman" panose="02020603050405020304" pitchFamily="18" charset="0"/>
                <a:cs typeface="Times New Roman" panose="02020603050405020304" pitchFamily="18" charset="0"/>
              </a:rPr>
              <a:t>enough holding force to counteract the cutting forces acting on the tool, e.g. tool post</a:t>
            </a:r>
          </a:p>
          <a:p>
            <a:pPr algn="just"/>
            <a:r>
              <a:rPr lang="en-US" sz="2400" dirty="0">
                <a:solidFill>
                  <a:srgbClr val="FF0000"/>
                </a:solidFill>
                <a:latin typeface="Times New Roman" panose="02020603050405020304" pitchFamily="18" charset="0"/>
                <a:cs typeface="Times New Roman" panose="02020603050405020304" pitchFamily="18" charset="0"/>
              </a:rPr>
              <a:t>Work motion </a:t>
            </a:r>
            <a:r>
              <a:rPr lang="en-US" sz="2400" dirty="0" smtClean="0">
                <a:solidFill>
                  <a:srgbClr val="FF0000"/>
                </a:solidFill>
                <a:latin typeface="Times New Roman" panose="02020603050405020304" pitchFamily="18" charset="0"/>
                <a:cs typeface="Times New Roman" panose="02020603050405020304" pitchFamily="18" charset="0"/>
              </a:rPr>
              <a:t>mechanism</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provide the necessary speeds to the work piece for generating the </a:t>
            </a:r>
            <a:r>
              <a:rPr lang="en-US" sz="2400" dirty="0" smtClean="0">
                <a:latin typeface="Times New Roman" panose="02020603050405020304" pitchFamily="18" charset="0"/>
                <a:cs typeface="Times New Roman" panose="02020603050405020304" pitchFamily="18" charset="0"/>
              </a:rPr>
              <a:t>requisite surface</a:t>
            </a:r>
            <a:r>
              <a:rPr lang="en-US" sz="2400" dirty="0">
                <a:latin typeface="Times New Roman" panose="02020603050405020304" pitchFamily="18" charset="0"/>
                <a:cs typeface="Times New Roman" panose="02020603050405020304" pitchFamily="18" charset="0"/>
              </a:rPr>
              <a:t>, e.g. head stock</a:t>
            </a:r>
          </a:p>
          <a:p>
            <a:pPr algn="just"/>
            <a:r>
              <a:rPr lang="en-US" sz="2400" dirty="0">
                <a:solidFill>
                  <a:srgbClr val="FF0000"/>
                </a:solidFill>
                <a:latin typeface="Times New Roman" panose="02020603050405020304" pitchFamily="18" charset="0"/>
                <a:cs typeface="Times New Roman" panose="02020603050405020304" pitchFamily="18" charset="0"/>
              </a:rPr>
              <a:t>Tool motion </a:t>
            </a:r>
            <a:r>
              <a:rPr lang="en-US" sz="2400" dirty="0" smtClean="0">
                <a:solidFill>
                  <a:srgbClr val="FF0000"/>
                </a:solidFill>
                <a:latin typeface="Times New Roman" panose="02020603050405020304" pitchFamily="18" charset="0"/>
                <a:cs typeface="Times New Roman" panose="02020603050405020304" pitchFamily="18" charset="0"/>
              </a:rPr>
              <a:t>mechanism</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provide the various motions needed for the tool in conjunction with </a:t>
            </a:r>
            <a:r>
              <a:rPr lang="en-US" sz="2400" dirty="0" smtClean="0">
                <a:latin typeface="Times New Roman" panose="02020603050405020304" pitchFamily="18" charset="0"/>
                <a:cs typeface="Times New Roman" panose="02020603050405020304" pitchFamily="18" charset="0"/>
              </a:rPr>
              <a:t>work piece </a:t>
            </a:r>
            <a:r>
              <a:rPr lang="en-US" sz="2400" dirty="0">
                <a:latin typeface="Times New Roman" panose="02020603050405020304" pitchFamily="18" charset="0"/>
                <a:cs typeface="Times New Roman" panose="02020603050405020304" pitchFamily="18" charset="0"/>
              </a:rPr>
              <a:t>motion in order to generate the different surface profiles as desired, e.g. carriage</a:t>
            </a:r>
          </a:p>
          <a:p>
            <a:pPr algn="just"/>
            <a:r>
              <a:rPr lang="en-US" sz="2400" dirty="0">
                <a:solidFill>
                  <a:srgbClr val="FF0000"/>
                </a:solidFill>
                <a:latin typeface="Times New Roman" panose="02020603050405020304" pitchFamily="18" charset="0"/>
                <a:cs typeface="Times New Roman" panose="02020603050405020304" pitchFamily="18" charset="0"/>
              </a:rPr>
              <a:t>Support </a:t>
            </a:r>
            <a:r>
              <a:rPr lang="en-US" sz="2400" dirty="0" smtClean="0">
                <a:solidFill>
                  <a:srgbClr val="FF0000"/>
                </a:solidFill>
                <a:latin typeface="Times New Roman" panose="02020603050405020304" pitchFamily="18" charset="0"/>
                <a:cs typeface="Times New Roman" panose="02020603050405020304" pitchFamily="18" charset="0"/>
              </a:rPr>
              <a:t>structure</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support all the mechanisms as shown above and maintain their relative </a:t>
            </a:r>
            <a:r>
              <a:rPr lang="en-US" sz="2400" dirty="0" smtClean="0">
                <a:latin typeface="Times New Roman" panose="02020603050405020304" pitchFamily="18" charset="0"/>
                <a:cs typeface="Times New Roman" panose="02020603050405020304" pitchFamily="18" charset="0"/>
              </a:rPr>
              <a:t>position with </a:t>
            </a:r>
            <a:r>
              <a:rPr lang="en-US" sz="2400" dirty="0">
                <a:latin typeface="Times New Roman" panose="02020603050405020304" pitchFamily="18" charset="0"/>
                <a:cs typeface="Times New Roman" panose="02020603050405020304" pitchFamily="18" charset="0"/>
              </a:rPr>
              <a:t>respect to each other and also allow for relative movement between the various parts to obtain the </a:t>
            </a:r>
            <a:r>
              <a:rPr lang="en-US" sz="2400" dirty="0" smtClean="0">
                <a:latin typeface="Times New Roman" panose="02020603050405020304" pitchFamily="18" charset="0"/>
                <a:cs typeface="Times New Roman" panose="02020603050405020304" pitchFamily="18" charset="0"/>
              </a:rPr>
              <a:t>requisite part </a:t>
            </a:r>
            <a:r>
              <a:rPr lang="en-US" sz="2400" dirty="0">
                <a:latin typeface="Times New Roman" panose="02020603050405020304" pitchFamily="18" charset="0"/>
                <a:cs typeface="Times New Roman" panose="02020603050405020304" pitchFamily="18" charset="0"/>
              </a:rPr>
              <a:t>profile and accuracy, e.g. bed</a:t>
            </a:r>
          </a:p>
        </p:txBody>
      </p:sp>
      <p:sp>
        <p:nvSpPr>
          <p:cNvPr id="4" name="Slide Number Placeholder 3"/>
          <p:cNvSpPr>
            <a:spLocks noGrp="1"/>
          </p:cNvSpPr>
          <p:nvPr>
            <p:ph type="sldNum" sz="quarter" idx="12"/>
          </p:nvPr>
        </p:nvSpPr>
        <p:spPr/>
        <p:txBody>
          <a:bodyPr/>
          <a:lstStyle/>
          <a:p>
            <a:fld id="{0DDAE0EB-FA32-4F7F-BC58-5B5864675FFA}" type="slidenum">
              <a:rPr lang="en-US" smtClean="0"/>
              <a:pPr/>
              <a:t>9</a:t>
            </a:fld>
            <a:endParaRPr lang="en-US"/>
          </a:p>
        </p:txBody>
      </p:sp>
    </p:spTree>
    <p:extLst>
      <p:ext uri="{BB962C8B-B14F-4D97-AF65-F5344CB8AC3E}">
        <p14:creationId xmlns="" xmlns:p14="http://schemas.microsoft.com/office/powerpoint/2010/main" val="2028136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061" y="322596"/>
            <a:ext cx="10515600" cy="655601"/>
          </a:xfrm>
        </p:spPr>
        <p:txBody>
          <a:bodyPr>
            <a:normAutofit/>
          </a:bodyPr>
          <a:lstStyle/>
          <a:p>
            <a:r>
              <a:rPr lang="en-US" sz="3200" b="1" dirty="0" smtClean="0">
                <a:latin typeface="Times New Roman" pitchFamily="18" charset="0"/>
                <a:cs typeface="Times New Roman" pitchFamily="18" charset="0"/>
              </a:rPr>
              <a:t>MACHINE TOOL DRIVES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221510" y="1049447"/>
            <a:ext cx="11516833" cy="5330087"/>
          </a:xfrm>
        </p:spPr>
        <p:txBody>
          <a:bodyPr>
            <a:normAutofit/>
          </a:bodyPr>
          <a:lstStyle/>
          <a:p>
            <a:pPr algn="just"/>
            <a:r>
              <a:rPr lang="en-US" sz="2400" dirty="0" smtClean="0">
                <a:latin typeface="Times New Roman" pitchFamily="18" charset="0"/>
                <a:cs typeface="Times New Roman" pitchFamily="18" charset="0"/>
              </a:rPr>
              <a:t>To obtain a machined part by a machine tool, coordinated motions must be imparted to its working members. </a:t>
            </a:r>
          </a:p>
          <a:p>
            <a:pPr algn="just"/>
            <a:r>
              <a:rPr lang="en-US" sz="2400" dirty="0" smtClean="0">
                <a:latin typeface="Times New Roman" pitchFamily="18" charset="0"/>
                <a:cs typeface="Times New Roman" pitchFamily="18" charset="0"/>
              </a:rPr>
              <a:t>These motions are either primary (cutting and feed) movements, which remove the chips from the WP, or auxiliary motions that are required to prepare for machining and ensure the successive machining of several surfaces of one WP or a similar surface of different WPs. </a:t>
            </a:r>
          </a:p>
          <a:p>
            <a:pPr algn="just"/>
            <a:r>
              <a:rPr lang="en-US" sz="2400" dirty="0" smtClean="0">
                <a:latin typeface="Times New Roman" pitchFamily="18" charset="0"/>
                <a:cs typeface="Times New Roman" pitchFamily="18" charset="0"/>
              </a:rPr>
              <a:t>Principal motions may be either rotating or straight reciprocating. </a:t>
            </a:r>
          </a:p>
          <a:p>
            <a:pPr algn="just"/>
            <a:r>
              <a:rPr lang="en-US" sz="2400" dirty="0" smtClean="0">
                <a:latin typeface="Times New Roman" pitchFamily="18" charset="0"/>
                <a:cs typeface="Times New Roman" pitchFamily="18" charset="0"/>
              </a:rPr>
              <a:t>In some machine tools, this motion is a combination of rotating and reciprocating motions. </a:t>
            </a:r>
          </a:p>
          <a:p>
            <a:pPr algn="just"/>
            <a:r>
              <a:rPr lang="en-US" sz="2400" dirty="0" smtClean="0">
                <a:latin typeface="Times New Roman" pitchFamily="18" charset="0"/>
                <a:cs typeface="Times New Roman" pitchFamily="18" charset="0"/>
              </a:rPr>
              <a:t>Feed movement may be continuous (lathes, milling machine, drilling machine) or intermittent (shapers, planers). </a:t>
            </a:r>
          </a:p>
          <a:p>
            <a:pPr algn="just"/>
            <a:r>
              <a:rPr lang="en-US" sz="2400" dirty="0" smtClean="0">
                <a:latin typeface="Times New Roman" pitchFamily="18" charset="0"/>
                <a:cs typeface="Times New Roman" pitchFamily="18" charset="0"/>
              </a:rPr>
              <a:t>stepped motions are obtained using belting or gearing. </a:t>
            </a:r>
          </a:p>
          <a:p>
            <a:pPr algn="just"/>
            <a:r>
              <a:rPr lang="en-US" sz="2400" dirty="0" err="1" smtClean="0">
                <a:latin typeface="Times New Roman" pitchFamily="18" charset="0"/>
                <a:cs typeface="Times New Roman" pitchFamily="18" charset="0"/>
              </a:rPr>
              <a:t>Stepless</a:t>
            </a:r>
            <a:r>
              <a:rPr lang="en-US" sz="2400" dirty="0" smtClean="0">
                <a:latin typeface="Times New Roman" pitchFamily="18" charset="0"/>
                <a:cs typeface="Times New Roman" pitchFamily="18" charset="0"/>
              </a:rPr>
              <a:t> speeds are achieved by mechanical, hydraulic, and electrical methods.</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DDAE0EB-FA32-4F7F-BC58-5B5864675FFA}"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833" y="216270"/>
            <a:ext cx="4977809" cy="772559"/>
          </a:xfrm>
        </p:spPr>
        <p:txBody>
          <a:bodyPr>
            <a:normAutofit/>
          </a:bodyPr>
          <a:lstStyle/>
          <a:p>
            <a:r>
              <a:rPr lang="en-US" sz="3200" b="1" dirty="0" smtClean="0">
                <a:latin typeface="Times New Roman" pitchFamily="18" charset="0"/>
                <a:cs typeface="Times New Roman" pitchFamily="18" charset="0"/>
              </a:rPr>
              <a:t>Stepped Speed Drives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391633" y="996285"/>
            <a:ext cx="7965558" cy="5734124"/>
          </a:xfrm>
        </p:spPr>
        <p:txBody>
          <a:bodyPr>
            <a:normAutofit/>
          </a:bodyPr>
          <a:lstStyle/>
          <a:p>
            <a:pPr algn="just">
              <a:buNone/>
            </a:pPr>
            <a:r>
              <a:rPr lang="en-US" sz="2400" dirty="0" smtClean="0">
                <a:latin typeface="Times New Roman" pitchFamily="18" charset="0"/>
                <a:cs typeface="Times New Roman" pitchFamily="18" charset="0"/>
              </a:rPr>
              <a:t>1. </a:t>
            </a:r>
            <a:r>
              <a:rPr lang="en-US" sz="2400" b="1" dirty="0" smtClean="0">
                <a:latin typeface="Times New Roman" pitchFamily="18" charset="0"/>
                <a:cs typeface="Times New Roman" pitchFamily="18" charset="0"/>
              </a:rPr>
              <a:t>Belting</a:t>
            </a:r>
          </a:p>
          <a:p>
            <a:pPr algn="just"/>
            <a:r>
              <a:rPr lang="en-US" sz="2400" dirty="0" smtClean="0">
                <a:latin typeface="Times New Roman" pitchFamily="18" charset="0"/>
                <a:cs typeface="Times New Roman" pitchFamily="18" charset="0"/>
              </a:rPr>
              <a:t>It is used to produce four running rotational speeds</a:t>
            </a:r>
          </a:p>
          <a:p>
            <a:pPr algn="just"/>
            <a:r>
              <a:rPr lang="en-US" sz="2400" dirty="0" smtClean="0">
                <a:latin typeface="Times New Roman" pitchFamily="18" charset="0"/>
                <a:cs typeface="Times New Roman" pitchFamily="18" charset="0"/>
              </a:rPr>
              <a:t>It is cheap and absorbs vibrations. It has the limitations of low-speed changing, slip, and the need for more space</a:t>
            </a:r>
          </a:p>
          <a:p>
            <a:pPr algn="just"/>
            <a:r>
              <a:rPr lang="en-US" sz="2400" dirty="0" smtClean="0">
                <a:latin typeface="Times New Roman" pitchFamily="18" charset="0"/>
                <a:cs typeface="Times New Roman" pitchFamily="18" charset="0"/>
              </a:rPr>
              <a:t>This type is commonly used for grinding and bench-type drilling machines.</a:t>
            </a:r>
          </a:p>
          <a:p>
            <a:pPr algn="just">
              <a:buNone/>
            </a:pPr>
            <a:r>
              <a:rPr lang="en-US" sz="2400" dirty="0" smtClean="0">
                <a:latin typeface="Times New Roman" pitchFamily="18" charset="0"/>
                <a:cs typeface="Times New Roman" pitchFamily="18" charset="0"/>
              </a:rPr>
              <a:t>2. </a:t>
            </a:r>
            <a:r>
              <a:rPr lang="en-US" sz="2400" b="1" dirty="0" smtClean="0">
                <a:latin typeface="Times New Roman" pitchFamily="18" charset="0"/>
                <a:cs typeface="Times New Roman" pitchFamily="18" charset="0"/>
              </a:rPr>
              <a:t>Pick-Off Gears</a:t>
            </a:r>
          </a:p>
          <a:p>
            <a:pPr algn="just"/>
            <a:r>
              <a:rPr lang="en-US" sz="2400" dirty="0" smtClean="0">
                <a:latin typeface="Times New Roman" pitchFamily="18" charset="0"/>
                <a:cs typeface="Times New Roman" pitchFamily="18" charset="0"/>
              </a:rPr>
              <a:t>Pick-off gears are used for machine tools of mass and batch production (automatic and semiautomatic machines, special-purpose machines, and so on) when the changeover from job to job is comparatively rare. Pick-off gears may be used in speed or feed gearboxes. The change of speed is achieved by setting gears A and В on the adjacent shafts. As the center distance is constant, correct gear meshing occurs if the sum of teeth of gears A and В is constant.</a:t>
            </a:r>
            <a:endParaRPr lang="en-US" sz="2400" b="1" dirty="0" smtClean="0">
              <a:latin typeface="Times New Roman" pitchFamily="18" charset="0"/>
              <a:cs typeface="Times New Roman" pitchFamily="18" charset="0"/>
            </a:endParaRPr>
          </a:p>
          <a:p>
            <a:pPr algn="just">
              <a:buNone/>
            </a:pPr>
            <a:endParaRPr lang="en-US" sz="24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8970667" y="137115"/>
            <a:ext cx="2448905" cy="3286568"/>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t="2794"/>
          <a:stretch>
            <a:fillRect/>
          </a:stretch>
        </p:blipFill>
        <p:spPr bwMode="auto">
          <a:xfrm>
            <a:off x="8975985" y="3838353"/>
            <a:ext cx="2917749" cy="2573080"/>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0DDAE0EB-FA32-4F7F-BC58-5B5864675FFA}"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3019" y="815534"/>
            <a:ext cx="11165958" cy="5255658"/>
          </a:xfrm>
        </p:spPr>
        <p:txBody>
          <a:bodyPr>
            <a:normAutofit/>
          </a:bodyPr>
          <a:lstStyle/>
          <a:p>
            <a:pPr>
              <a:buNone/>
            </a:pPr>
            <a:r>
              <a:rPr lang="en-US" sz="2400" b="1" dirty="0" smtClean="0">
                <a:latin typeface="Times New Roman" pitchFamily="18" charset="0"/>
                <a:cs typeface="Times New Roman" pitchFamily="18" charset="0"/>
              </a:rPr>
              <a:t>3. Gear box</a:t>
            </a:r>
          </a:p>
          <a:p>
            <a:pPr algn="just"/>
            <a:r>
              <a:rPr lang="en-US" sz="2400" dirty="0" smtClean="0">
                <a:latin typeface="Times New Roman" pitchFamily="18" charset="0"/>
                <a:cs typeface="Times New Roman" pitchFamily="18" charset="0"/>
              </a:rPr>
              <a:t>A wide variety of gearboxes utilize sliding gears or friction or jaw coupling. </a:t>
            </a:r>
          </a:p>
          <a:p>
            <a:pPr algn="just"/>
            <a:r>
              <a:rPr lang="en-US" sz="2400" dirty="0" smtClean="0">
                <a:latin typeface="Times New Roman" pitchFamily="18" charset="0"/>
                <a:cs typeface="Times New Roman" pitchFamily="18" charset="0"/>
              </a:rPr>
              <a:t>The selection of a particular mechanism depends on the purpose of the machine tool, the frequency of speed change, and the duration of the working movement. </a:t>
            </a:r>
          </a:p>
          <a:p>
            <a:pPr algn="just"/>
            <a:r>
              <a:rPr lang="en-US" sz="2400" dirty="0" smtClean="0">
                <a:latin typeface="Times New Roman" pitchFamily="18" charset="0"/>
                <a:cs typeface="Times New Roman" pitchFamily="18" charset="0"/>
              </a:rPr>
              <a:t>The advantage of a sliding gear transmission is that it is capable of transmitting higher torque and is small in radial dimensions. </a:t>
            </a:r>
          </a:p>
          <a:p>
            <a:pPr algn="just"/>
            <a:r>
              <a:rPr lang="en-US" sz="2400" dirty="0" smtClean="0">
                <a:latin typeface="Times New Roman" pitchFamily="18" charset="0"/>
                <a:cs typeface="Times New Roman" pitchFamily="18" charset="0"/>
              </a:rPr>
              <a:t>Among the disadvantages of these gearboxes is the impossibility of changing speeds during running. </a:t>
            </a:r>
          </a:p>
          <a:p>
            <a:pPr algn="just"/>
            <a:r>
              <a:rPr lang="en-US" sz="2400" dirty="0" smtClean="0">
                <a:latin typeface="Times New Roman" pitchFamily="18" charset="0"/>
                <a:cs typeface="Times New Roman" pitchFamily="18" charset="0"/>
              </a:rPr>
              <a:t>Clutch-type gearboxes require small axial displacement for speed changing and less engagement force compared with sliding gear mechanisms and therefore can employ helical gears.</a:t>
            </a:r>
          </a:p>
        </p:txBody>
      </p:sp>
      <p:sp>
        <p:nvSpPr>
          <p:cNvPr id="4" name="Slide Number Placeholder 3"/>
          <p:cNvSpPr>
            <a:spLocks noGrp="1"/>
          </p:cNvSpPr>
          <p:nvPr>
            <p:ph type="sldNum" sz="quarter" idx="12"/>
          </p:nvPr>
        </p:nvSpPr>
        <p:spPr/>
        <p:txBody>
          <a:bodyPr/>
          <a:lstStyle/>
          <a:p>
            <a:fld id="{0DDAE0EB-FA32-4F7F-BC58-5B5864675FFA}"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693" y="460819"/>
            <a:ext cx="7008628" cy="825722"/>
          </a:xfrm>
        </p:spPr>
        <p:txBody>
          <a:bodyPr>
            <a:normAutofit/>
          </a:bodyPr>
          <a:lstStyle/>
          <a:p>
            <a:r>
              <a:rPr lang="en-US" sz="3200" b="1" dirty="0" err="1" smtClean="0">
                <a:latin typeface="Times New Roman" pitchFamily="18" charset="0"/>
                <a:cs typeface="Times New Roman" pitchFamily="18" charset="0"/>
              </a:rPr>
              <a:t>Stepless</a:t>
            </a:r>
            <a:r>
              <a:rPr lang="en-US" sz="3200" b="1" dirty="0" smtClean="0">
                <a:latin typeface="Times New Roman" pitchFamily="18" charset="0"/>
                <a:cs typeface="Times New Roman" pitchFamily="18" charset="0"/>
              </a:rPr>
              <a:t> Speed Drives</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274673" y="1368425"/>
            <a:ext cx="11665689" cy="5202496"/>
          </a:xfrm>
        </p:spPr>
        <p:txBody>
          <a:bodyPr>
            <a:normAutofit fontScale="92500"/>
          </a:bodyPr>
          <a:lstStyle/>
          <a:p>
            <a:pPr algn="just"/>
            <a:r>
              <a:rPr lang="en-US" sz="2600" dirty="0" smtClean="0">
                <a:latin typeface="Times New Roman" pitchFamily="18" charset="0"/>
                <a:cs typeface="Times New Roman" pitchFamily="18" charset="0"/>
              </a:rPr>
              <a:t>Infinitely variable speed (</a:t>
            </a:r>
            <a:r>
              <a:rPr lang="en-US" sz="2600" dirty="0" err="1" smtClean="0">
                <a:latin typeface="Times New Roman" pitchFamily="18" charset="0"/>
                <a:cs typeface="Times New Roman" pitchFamily="18" charset="0"/>
              </a:rPr>
              <a:t>stepless</a:t>
            </a:r>
            <a:r>
              <a:rPr lang="en-US" sz="2600" dirty="0" smtClean="0">
                <a:latin typeface="Times New Roman" pitchFamily="18" charset="0"/>
                <a:cs typeface="Times New Roman" pitchFamily="18" charset="0"/>
              </a:rPr>
              <a:t>) drives provide output speeds, forming infinitely variable ratios to the input ones. Such units are used for main as well as feed drives to provide the most suitable speed or feed for each job, thereby reducing the machining time. </a:t>
            </a:r>
          </a:p>
          <a:p>
            <a:pPr algn="just"/>
            <a:r>
              <a:rPr lang="en-US" sz="2600" dirty="0" smtClean="0">
                <a:latin typeface="Times New Roman" pitchFamily="18" charset="0"/>
                <a:cs typeface="Times New Roman" pitchFamily="18" charset="0"/>
              </a:rPr>
              <a:t>They also enable machining to be achieved at a constant cutting speed, which leads to an increased tool life and ensures uniform surface finish. The easy and smooth changing of the speed or feed, without stopping the machine, results in an appreciable reduction in the production time, which increases the productivity of the machine tool. </a:t>
            </a:r>
          </a:p>
          <a:p>
            <a:pPr algn="just"/>
            <a:r>
              <a:rPr lang="en-US" sz="2600" dirty="0" err="1" smtClean="0">
                <a:latin typeface="Times New Roman" pitchFamily="18" charset="0"/>
                <a:cs typeface="Times New Roman" pitchFamily="18" charset="0"/>
              </a:rPr>
              <a:t>Stepless</a:t>
            </a:r>
            <a:r>
              <a:rPr lang="en-US" sz="2600" dirty="0" smtClean="0">
                <a:latin typeface="Times New Roman" pitchFamily="18" charset="0"/>
                <a:cs typeface="Times New Roman" pitchFamily="18" charset="0"/>
              </a:rPr>
              <a:t> speed drives may be mechanical, hydraulic, or electric. The selection of the suitable drive depends on the purpose of the machine tool, power requirements, speed range ratio, mechanical characteristics of the machining operation, and cost of the variable speed unit. In most </a:t>
            </a:r>
            <a:r>
              <a:rPr lang="en-US" sz="2600" dirty="0" err="1" smtClean="0">
                <a:latin typeface="Times New Roman" pitchFamily="18" charset="0"/>
                <a:cs typeface="Times New Roman" pitchFamily="18" charset="0"/>
              </a:rPr>
              <a:t>stepless</a:t>
            </a:r>
            <a:r>
              <a:rPr lang="en-US" sz="2600" dirty="0" smtClean="0">
                <a:latin typeface="Times New Roman" pitchFamily="18" charset="0"/>
                <a:cs typeface="Times New Roman" pitchFamily="18" charset="0"/>
              </a:rPr>
              <a:t> drives, the torque transmission is not positive. Their operation involves friction and slip losses. However, they are more compact, less expensive, and quieter in operation than the stepped speed control elements. Mechanical </a:t>
            </a:r>
            <a:r>
              <a:rPr lang="en-US" sz="2600" dirty="0" err="1" smtClean="0">
                <a:latin typeface="Times New Roman" pitchFamily="18" charset="0"/>
                <a:cs typeface="Times New Roman" pitchFamily="18" charset="0"/>
              </a:rPr>
              <a:t>stepless</a:t>
            </a:r>
            <a:r>
              <a:rPr lang="en-US" sz="2600" dirty="0" smtClean="0">
                <a:latin typeface="Times New Roman" pitchFamily="18" charset="0"/>
                <a:cs typeface="Times New Roman" pitchFamily="18" charset="0"/>
              </a:rPr>
              <a:t> drives include the following types.</a:t>
            </a:r>
            <a:endParaRPr lang="en-US" sz="2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DDAE0EB-FA32-4F7F-BC58-5B5864675FFA}"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8981" y="145679"/>
            <a:ext cx="8422760" cy="6574098"/>
          </a:xfrm>
        </p:spPr>
        <p:txBody>
          <a:bodyPr>
            <a:normAutofit fontScale="92500"/>
          </a:bodyPr>
          <a:lstStyle/>
          <a:p>
            <a:pPr marL="514350" indent="-514350" algn="just">
              <a:buAutoNum type="arabicPeriod"/>
            </a:pPr>
            <a:r>
              <a:rPr lang="en-US" sz="2400" b="1" dirty="0" smtClean="0">
                <a:latin typeface="Times New Roman" pitchFamily="18" charset="0"/>
                <a:cs typeface="Times New Roman" pitchFamily="18" charset="0"/>
              </a:rPr>
              <a:t>Friction </a:t>
            </a:r>
            <a:r>
              <a:rPr lang="en-US" sz="2400" b="1" dirty="0" err="1" smtClean="0">
                <a:latin typeface="Times New Roman" pitchFamily="18" charset="0"/>
                <a:cs typeface="Times New Roman" pitchFamily="18" charset="0"/>
              </a:rPr>
              <a:t>Stepless</a:t>
            </a:r>
            <a:r>
              <a:rPr lang="en-US" sz="2400" b="1" dirty="0" smtClean="0">
                <a:latin typeface="Times New Roman" pitchFamily="18" charset="0"/>
                <a:cs typeface="Times New Roman" pitchFamily="18" charset="0"/>
              </a:rPr>
              <a:t> Drive</a:t>
            </a:r>
          </a:p>
          <a:p>
            <a:pPr marL="514350" indent="-514350" algn="just"/>
            <a:r>
              <a:rPr lang="en-US" sz="2400" dirty="0" smtClean="0">
                <a:latin typeface="Times New Roman" pitchFamily="18" charset="0"/>
                <a:cs typeface="Times New Roman" pitchFamily="18" charset="0"/>
              </a:rPr>
              <a:t>Figure shows the disk-type friction </a:t>
            </a:r>
            <a:r>
              <a:rPr lang="en-US" sz="2400" dirty="0" err="1" smtClean="0">
                <a:latin typeface="Times New Roman" pitchFamily="18" charset="0"/>
                <a:cs typeface="Times New Roman" pitchFamily="18" charset="0"/>
              </a:rPr>
              <a:t>stepless</a:t>
            </a:r>
            <a:r>
              <a:rPr lang="en-US" sz="2400" dirty="0" smtClean="0">
                <a:latin typeface="Times New Roman" pitchFamily="18" charset="0"/>
                <a:cs typeface="Times New Roman" pitchFamily="18" charset="0"/>
              </a:rPr>
              <a:t> mechanism. Accordingly, the drive shaft rotates at a constant speed, as well as the friction roller of diameter d. The output speed of the driven shaft rotates at a variable speed n</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 that depends on the instantaneous diameter D.</a:t>
            </a:r>
          </a:p>
          <a:p>
            <a:pPr marL="514350" indent="-514350" algn="just"/>
            <a:r>
              <a:rPr lang="en-US" sz="2400" dirty="0" smtClean="0">
                <a:latin typeface="Times New Roman" pitchFamily="18" charset="0"/>
                <a:cs typeface="Times New Roman" pitchFamily="18" charset="0"/>
              </a:rPr>
              <a:t>Due to the small contact area, a certain amount of slip occurs, which makes this arrangement suitable for transmitting small torques and is limited to reduction ratios not more than 1:4</a:t>
            </a:r>
          </a:p>
          <a:p>
            <a:pPr marL="514350" indent="-514350" algn="just">
              <a:buNone/>
            </a:pPr>
            <a:r>
              <a:rPr lang="en-US" sz="2400" dirty="0" smtClean="0">
                <a:latin typeface="Times New Roman" pitchFamily="18" charset="0"/>
                <a:cs typeface="Times New Roman" pitchFamily="18" charset="0"/>
              </a:rPr>
              <a:t>2. </a:t>
            </a:r>
            <a:r>
              <a:rPr lang="en-US" sz="2400" b="1" dirty="0" err="1" smtClean="0">
                <a:latin typeface="Times New Roman" pitchFamily="18" charset="0"/>
                <a:cs typeface="Times New Roman" pitchFamily="18" charset="0"/>
              </a:rPr>
              <a:t>Toroidal</a:t>
            </a:r>
            <a:r>
              <a:rPr lang="en-US" sz="2400" b="1" dirty="0" smtClean="0">
                <a:latin typeface="Times New Roman" pitchFamily="18" charset="0"/>
                <a:cs typeface="Times New Roman" pitchFamily="18" charset="0"/>
              </a:rPr>
              <a:t> and Reeves Mechanism</a:t>
            </a:r>
            <a:endParaRPr lang="en-US" sz="2400" b="1" dirty="0" smtClean="0"/>
          </a:p>
          <a:p>
            <a:pPr marL="514350" indent="-514350" algn="just"/>
            <a:r>
              <a:rPr lang="en-US" sz="2400" dirty="0" smtClean="0">
                <a:latin typeface="Times New Roman" pitchFamily="18" charset="0"/>
                <a:cs typeface="Times New Roman" pitchFamily="18" charset="0"/>
              </a:rPr>
              <a:t>consists of a pair of pulleys connected by a V-shaped belt; each pulley is made up of two conical disks. These disks slide equally and simultaneously along the shaft and rotate with it. </a:t>
            </a:r>
          </a:p>
          <a:p>
            <a:pPr marL="514350" indent="-514350" algn="just"/>
            <a:r>
              <a:rPr lang="en-US" sz="2400" dirty="0" smtClean="0">
                <a:latin typeface="Times New Roman" pitchFamily="18" charset="0"/>
                <a:cs typeface="Times New Roman" pitchFamily="18" charset="0"/>
              </a:rPr>
              <a:t>To adjust the diameter of the pulley, the two disks on the shaft are made to approach each other so that the diameter is increased or decreased. The ratio of the driving diameter to the driven one can be easily changed, and therefore, any desired speed can be obtained without stopping the machine. Drives of this type are available with up to 8:1 speed range and 10 hp capacity.</a:t>
            </a:r>
          </a:p>
        </p:txBody>
      </p:sp>
      <p:pic>
        <p:nvPicPr>
          <p:cNvPr id="4098" name="Picture 2"/>
          <p:cNvPicPr>
            <a:picLocks noChangeAspect="1" noChangeArrowheads="1"/>
          </p:cNvPicPr>
          <p:nvPr/>
        </p:nvPicPr>
        <p:blipFill>
          <a:blip r:embed="rId2"/>
          <a:srcRect l="3053"/>
          <a:stretch>
            <a:fillRect/>
          </a:stretch>
        </p:blipFill>
        <p:spPr bwMode="auto">
          <a:xfrm>
            <a:off x="8739963" y="42532"/>
            <a:ext cx="2885983" cy="2923953"/>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l="3661" t="1499" r="3584"/>
          <a:stretch>
            <a:fillRect/>
          </a:stretch>
        </p:blipFill>
        <p:spPr bwMode="auto">
          <a:xfrm>
            <a:off x="9069572" y="3338623"/>
            <a:ext cx="2307265" cy="3354504"/>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0DDAE0EB-FA32-4F7F-BC58-5B5864675FFA}"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236456" y="1205837"/>
            <a:ext cx="8283018" cy="3857482"/>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0DDAE0EB-FA32-4F7F-BC58-5B5864675FFA}"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7204" y="305169"/>
            <a:ext cx="11208489" cy="4117975"/>
          </a:xfrm>
        </p:spPr>
        <p:txBody>
          <a:bodyPr>
            <a:normAutofit fontScale="92500" lnSpcReduction="10000"/>
          </a:bodyPr>
          <a:lstStyle/>
          <a:p>
            <a:pPr algn="just">
              <a:buNone/>
            </a:pPr>
            <a:r>
              <a:rPr lang="en-US" sz="2400" b="1" dirty="0" smtClean="0">
                <a:latin typeface="Times New Roman" pitchFamily="18" charset="0"/>
                <a:cs typeface="Times New Roman" pitchFamily="18" charset="0"/>
              </a:rPr>
              <a:t>3. Electrical </a:t>
            </a:r>
            <a:r>
              <a:rPr lang="en-US" sz="2400" b="1" dirty="0" err="1" smtClean="0">
                <a:latin typeface="Times New Roman" pitchFamily="18" charset="0"/>
                <a:cs typeface="Times New Roman" pitchFamily="18" charset="0"/>
              </a:rPr>
              <a:t>Stepless</a:t>
            </a:r>
            <a:r>
              <a:rPr lang="en-US" sz="2400" b="1" dirty="0" smtClean="0">
                <a:latin typeface="Times New Roman" pitchFamily="18" charset="0"/>
                <a:cs typeface="Times New Roman" pitchFamily="18" charset="0"/>
              </a:rPr>
              <a:t> Speed Drive</a:t>
            </a:r>
          </a:p>
          <a:p>
            <a:pPr algn="just"/>
            <a:r>
              <a:rPr lang="en-US" sz="2400" dirty="0" smtClean="0">
                <a:latin typeface="Times New Roman" pitchFamily="18" charset="0"/>
                <a:cs typeface="Times New Roman" pitchFamily="18" charset="0"/>
              </a:rPr>
              <a:t>which consists of an induction motor, which drives the direct current (dc) generator, and an exciter (E). </a:t>
            </a:r>
          </a:p>
          <a:p>
            <a:pPr algn="just"/>
            <a:r>
              <a:rPr lang="en-US" sz="2400" dirty="0" smtClean="0">
                <a:latin typeface="Times New Roman" pitchFamily="18" charset="0"/>
                <a:cs typeface="Times New Roman" pitchFamily="18" charset="0"/>
              </a:rPr>
              <a:t>The dc generator provides the armature current for the dc motor, and the exciter provides the field current; both are necessary for the dc motors that drive the machine tool. </a:t>
            </a:r>
          </a:p>
          <a:p>
            <a:pPr algn="just"/>
            <a:r>
              <a:rPr lang="en-US" sz="2400" dirty="0" smtClean="0">
                <a:latin typeface="Times New Roman" pitchFamily="18" charset="0"/>
                <a:cs typeface="Times New Roman" pitchFamily="18" charset="0"/>
              </a:rPr>
              <a:t>The speed control of the dc motor takes place by adjusting both the armature and the field voltages by means of the variable resistances A and F, respectively. By varying the resistance A, the terminal voltage of the dc generator and hence the rotor voltage of the dc motor can be adjusted between zero and a maximum value. </a:t>
            </a:r>
          </a:p>
          <a:p>
            <a:pPr algn="just"/>
            <a:r>
              <a:rPr lang="en-US" sz="2400" dirty="0" smtClean="0">
                <a:latin typeface="Times New Roman" pitchFamily="18" charset="0"/>
                <a:cs typeface="Times New Roman" pitchFamily="18" charset="0"/>
              </a:rPr>
              <a:t>The Leonard set has a limited efficiency: it is large, expensive, and noisy. Nowadays, dc motors and </a:t>
            </a:r>
            <a:r>
              <a:rPr lang="en-US" sz="2400" dirty="0" err="1" smtClean="0">
                <a:latin typeface="Times New Roman" pitchFamily="18" charset="0"/>
                <a:cs typeface="Times New Roman" pitchFamily="18" charset="0"/>
              </a:rPr>
              <a:t>thyristors</a:t>
            </a:r>
            <a:r>
              <a:rPr lang="en-US" sz="2400" dirty="0" smtClean="0">
                <a:latin typeface="Times New Roman" pitchFamily="18" charset="0"/>
                <a:cs typeface="Times New Roman" pitchFamily="18" charset="0"/>
              </a:rPr>
              <a:t> that permit direct supply to the dc motors from an alternating current (ac) mains are available, and therefore, the Leonard set can be completely eliminated. </a:t>
            </a:r>
            <a:r>
              <a:rPr lang="en-US" sz="2400" dirty="0" err="1" smtClean="0">
                <a:latin typeface="Times New Roman" pitchFamily="18" charset="0"/>
                <a:cs typeface="Times New Roman" pitchFamily="18" charset="0"/>
              </a:rPr>
              <a:t>Thyristor</a:t>
            </a:r>
            <a:r>
              <a:rPr lang="en-US" sz="2400" dirty="0" smtClean="0">
                <a:latin typeface="Times New Roman" pitchFamily="18" charset="0"/>
                <a:cs typeface="Times New Roman" pitchFamily="18" charset="0"/>
              </a:rPr>
              <a:t> feed drives can be regulated such that the system offers infinitely variable speed control.</a:t>
            </a:r>
            <a:endParaRPr lang="en-US" sz="2400" dirty="0">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a:srcRect t="3892"/>
          <a:stretch>
            <a:fillRect/>
          </a:stretch>
        </p:blipFill>
        <p:spPr bwMode="auto">
          <a:xfrm>
            <a:off x="5914031" y="4295553"/>
            <a:ext cx="5356306" cy="2264735"/>
          </a:xfrm>
          <a:prstGeom prst="rect">
            <a:avLst/>
          </a:prstGeom>
          <a:noFill/>
          <a:ln w="9525">
            <a:noFill/>
            <a:miter lim="800000"/>
            <a:headEnd/>
            <a:tailEnd/>
          </a:ln>
          <a:effectLst/>
        </p:spPr>
      </p:pic>
      <p:sp>
        <p:nvSpPr>
          <p:cNvPr id="5" name="TextBox 4"/>
          <p:cNvSpPr txBox="1"/>
          <p:nvPr/>
        </p:nvSpPr>
        <p:spPr>
          <a:xfrm>
            <a:off x="1329072" y="5528931"/>
            <a:ext cx="4274288" cy="369332"/>
          </a:xfrm>
          <a:prstGeom prst="rect">
            <a:avLst/>
          </a:prstGeom>
          <a:noFill/>
        </p:spPr>
        <p:txBody>
          <a:bodyPr wrap="square" rtlCol="0">
            <a:spAutoFit/>
          </a:bodyPr>
          <a:lstStyle/>
          <a:p>
            <a:r>
              <a:rPr lang="en-US" dirty="0" smtClean="0">
                <a:latin typeface="Times New Roman" pitchFamily="18" charset="0"/>
                <a:cs typeface="Times New Roman" pitchFamily="18" charset="0"/>
              </a:rPr>
              <a:t>Leonard set (electrical </a:t>
            </a:r>
            <a:r>
              <a:rPr lang="en-US" dirty="0" err="1" smtClean="0">
                <a:latin typeface="Times New Roman" pitchFamily="18" charset="0"/>
                <a:cs typeface="Times New Roman" pitchFamily="18" charset="0"/>
              </a:rPr>
              <a:t>stepless</a:t>
            </a:r>
            <a:r>
              <a:rPr lang="en-US" dirty="0" smtClean="0">
                <a:latin typeface="Times New Roman" pitchFamily="18" charset="0"/>
                <a:cs typeface="Times New Roman" pitchFamily="18" charset="0"/>
              </a:rPr>
              <a:t> speed drive).</a:t>
            </a:r>
            <a:endParaRPr lang="en-US"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0DDAE0EB-FA32-4F7F-BC58-5B5864675FFA}"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386" y="283904"/>
            <a:ext cx="11780874" cy="6403975"/>
          </a:xfrm>
        </p:spPr>
        <p:txBody>
          <a:bodyPr>
            <a:normAutofit fontScale="70000" lnSpcReduction="20000"/>
          </a:bodyPr>
          <a:lstStyle/>
          <a:p>
            <a:pPr algn="just">
              <a:lnSpc>
                <a:spcPct val="120000"/>
              </a:lnSpc>
              <a:buNone/>
            </a:pPr>
            <a:r>
              <a:rPr lang="en-US" b="1" dirty="0" smtClean="0">
                <a:latin typeface="Times New Roman" pitchFamily="18" charset="0"/>
                <a:cs typeface="Times New Roman" pitchFamily="18" charset="0"/>
              </a:rPr>
              <a:t>4. Hydraulic </a:t>
            </a:r>
            <a:r>
              <a:rPr lang="en-US" b="1" dirty="0" err="1" smtClean="0">
                <a:latin typeface="Times New Roman" pitchFamily="18" charset="0"/>
                <a:cs typeface="Times New Roman" pitchFamily="18" charset="0"/>
              </a:rPr>
              <a:t>Stepless</a:t>
            </a:r>
            <a:r>
              <a:rPr lang="en-US" b="1" dirty="0" smtClean="0">
                <a:latin typeface="Times New Roman" pitchFamily="18" charset="0"/>
                <a:cs typeface="Times New Roman" pitchFamily="18" charset="0"/>
              </a:rPr>
              <a:t> Speed Drive</a:t>
            </a:r>
          </a:p>
          <a:p>
            <a:pPr algn="just">
              <a:lnSpc>
                <a:spcPct val="120000"/>
              </a:lnSpc>
            </a:pPr>
            <a:r>
              <a:rPr lang="en-US" dirty="0" smtClean="0">
                <a:latin typeface="Times New Roman" pitchFamily="18" charset="0"/>
                <a:cs typeface="Times New Roman" pitchFamily="18" charset="0"/>
              </a:rPr>
              <a:t>The speeds of machine tools can be hydraulically regulated by controlling the oil discharge circulated in a hydraulic system consisting of a pump and hydraulic motor, both of the vane type. This is achieved by changing either the eccentricity of the pump or the eccentricity of the hydraulic motor or both. </a:t>
            </a:r>
          </a:p>
          <a:p>
            <a:pPr algn="just">
              <a:lnSpc>
                <a:spcPct val="120000"/>
              </a:lnSpc>
            </a:pPr>
            <a:r>
              <a:rPr lang="en-US" dirty="0" smtClean="0">
                <a:latin typeface="Times New Roman" pitchFamily="18" charset="0"/>
                <a:cs typeface="Times New Roman" pitchFamily="18" charset="0"/>
              </a:rPr>
              <a:t>The vane pump, running approximately at a constant speed, delivers the pressurized oil to the vane-type hydraulic motor, which is coupled to the machine-tool spindle. </a:t>
            </a:r>
            <a:r>
              <a:rPr lang="en-US" dirty="0" smtClean="0">
                <a:latin typeface="Times New Roman" pitchFamily="18" charset="0"/>
                <a:cs typeface="Times New Roman" pitchFamily="18" charset="0"/>
              </a:rPr>
              <a:t>Speed </a:t>
            </a:r>
            <a:r>
              <a:rPr lang="en-US" dirty="0" smtClean="0">
                <a:latin typeface="Times New Roman" pitchFamily="18" charset="0"/>
                <a:cs typeface="Times New Roman" pitchFamily="18" charset="0"/>
              </a:rPr>
              <a:t>control in hydraulic circuits can be accomplished by throttling the quantity of fluid flowing into or out of the </a:t>
            </a:r>
            <a:r>
              <a:rPr lang="en-US" dirty="0" err="1" smtClean="0">
                <a:latin typeface="Times New Roman" pitchFamily="18" charset="0"/>
                <a:cs typeface="Times New Roman" pitchFamily="18" charset="0"/>
              </a:rPr>
              <a:t>hydrocylinders</a:t>
            </a:r>
            <a:r>
              <a:rPr lang="en-US" dirty="0" smtClean="0">
                <a:latin typeface="Times New Roman" pitchFamily="18" charset="0"/>
                <a:cs typeface="Times New Roman" pitchFamily="18" charset="0"/>
              </a:rPr>
              <a:t> or </a:t>
            </a:r>
            <a:r>
              <a:rPr lang="en-US" dirty="0" err="1" smtClean="0">
                <a:latin typeface="Times New Roman" pitchFamily="18" charset="0"/>
                <a:cs typeface="Times New Roman" pitchFamily="18" charset="0"/>
              </a:rPr>
              <a:t>hydromotor</a:t>
            </a:r>
            <a:r>
              <a:rPr lang="en-US" dirty="0" smtClean="0">
                <a:latin typeface="Times New Roman" pitchFamily="18" charset="0"/>
                <a:cs typeface="Times New Roman" pitchFamily="18" charset="0"/>
              </a:rPr>
              <a:t>. The advantages of a hydraulic system are as follows:</a:t>
            </a:r>
          </a:p>
          <a:p>
            <a:pPr algn="just">
              <a:lnSpc>
                <a:spcPct val="120000"/>
              </a:lnSpc>
              <a:buNone/>
            </a:pPr>
            <a:r>
              <a:rPr lang="en-US" dirty="0" smtClean="0">
                <a:latin typeface="Times New Roman" pitchFamily="18" charset="0"/>
                <a:cs typeface="Times New Roman" pitchFamily="18" charset="0"/>
              </a:rPr>
              <a:t>1. Has a wide range of speed variation</a:t>
            </a:r>
          </a:p>
          <a:p>
            <a:pPr algn="just">
              <a:lnSpc>
                <a:spcPct val="120000"/>
              </a:lnSpc>
              <a:buNone/>
            </a:pPr>
            <a:r>
              <a:rPr lang="en-US" dirty="0" smtClean="0">
                <a:latin typeface="Times New Roman" pitchFamily="18" charset="0"/>
                <a:cs typeface="Times New Roman" pitchFamily="18" charset="0"/>
              </a:rPr>
              <a:t>2. Changes in the </a:t>
            </a:r>
            <a:r>
              <a:rPr lang="en-US" dirty="0" smtClean="0">
                <a:latin typeface="Times New Roman" pitchFamily="18" charset="0"/>
                <a:cs typeface="Times New Roman" pitchFamily="18" charset="0"/>
              </a:rPr>
              <a:t>speed </a:t>
            </a:r>
            <a:r>
              <a:rPr lang="en-US" dirty="0" smtClean="0">
                <a:latin typeface="Times New Roman" pitchFamily="18" charset="0"/>
                <a:cs typeface="Times New Roman" pitchFamily="18" charset="0"/>
              </a:rPr>
              <a:t>can be easily performed</a:t>
            </a:r>
          </a:p>
          <a:p>
            <a:pPr algn="just">
              <a:lnSpc>
                <a:spcPct val="120000"/>
              </a:lnSpc>
              <a:buNone/>
            </a:pPr>
            <a:r>
              <a:rPr lang="en-US" dirty="0" smtClean="0">
                <a:latin typeface="Times New Roman" pitchFamily="18" charset="0"/>
                <a:cs typeface="Times New Roman" pitchFamily="18" charset="0"/>
              </a:rPr>
              <a:t>3. Provides smooth and quiet operation</a:t>
            </a:r>
          </a:p>
          <a:p>
            <a:pPr algn="just">
              <a:lnSpc>
                <a:spcPct val="120000"/>
              </a:lnSpc>
              <a:buNone/>
            </a:pPr>
            <a:r>
              <a:rPr lang="en-US" dirty="0" smtClean="0">
                <a:latin typeface="Times New Roman" pitchFamily="18" charset="0"/>
                <a:cs typeface="Times New Roman" pitchFamily="18" charset="0"/>
              </a:rPr>
              <a:t>4. Ensures self-lubrication</a:t>
            </a:r>
          </a:p>
          <a:p>
            <a:pPr algn="just">
              <a:lnSpc>
                <a:spcPct val="120000"/>
              </a:lnSpc>
              <a:buNone/>
            </a:pPr>
            <a:r>
              <a:rPr lang="en-US" dirty="0" smtClean="0">
                <a:latin typeface="Times New Roman" pitchFamily="18" charset="0"/>
                <a:cs typeface="Times New Roman" pitchFamily="18" charset="0"/>
              </a:rPr>
              <a:t>5. Has automatic protection against overloads</a:t>
            </a:r>
          </a:p>
          <a:p>
            <a:pPr algn="just">
              <a:lnSpc>
                <a:spcPct val="120000"/>
              </a:lnSpc>
            </a:pPr>
            <a:r>
              <a:rPr lang="en-US" dirty="0" smtClean="0">
                <a:latin typeface="Times New Roman" pitchFamily="18" charset="0"/>
                <a:cs typeface="Times New Roman" pitchFamily="18" charset="0"/>
              </a:rPr>
              <a:t>The major drawback of a hydraulic system is that the operation of the hydraulic drive becomes unstable at low speeds. Additionally, the oil viscosity varies with temperature and may cause fluctuations in feed and speed rates.</a:t>
            </a:r>
          </a:p>
        </p:txBody>
      </p:sp>
      <p:sp>
        <p:nvSpPr>
          <p:cNvPr id="4" name="Slide Number Placeholder 3"/>
          <p:cNvSpPr>
            <a:spLocks noGrp="1"/>
          </p:cNvSpPr>
          <p:nvPr>
            <p:ph type="sldNum" sz="quarter" idx="12"/>
          </p:nvPr>
        </p:nvSpPr>
        <p:spPr/>
        <p:txBody>
          <a:bodyPr/>
          <a:lstStyle/>
          <a:p>
            <a:fld id="{0DDAE0EB-FA32-4F7F-BC58-5B5864675FFA}"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1977433" y="1157175"/>
            <a:ext cx="8612595" cy="4692931"/>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0DDAE0EB-FA32-4F7F-BC58-5B5864675FFA}"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666" y="228648"/>
            <a:ext cx="10515600" cy="672105"/>
          </a:xfrm>
        </p:spPr>
        <p:txBody>
          <a:bodyPr>
            <a:normAutofit/>
          </a:bodyPr>
          <a:lstStyle/>
          <a:p>
            <a:r>
              <a:rPr lang="en-IN" sz="3200" b="1" dirty="0" smtClean="0">
                <a:latin typeface="Times New Roman" pitchFamily="18" charset="0"/>
                <a:cs typeface="Times New Roman" pitchFamily="18" charset="0"/>
              </a:rPr>
              <a:t>Lead Screws</a:t>
            </a:r>
            <a:endParaRPr lang="en-IN"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01472" y="924872"/>
            <a:ext cx="7527878" cy="5755707"/>
          </a:xfrm>
        </p:spPr>
        <p:txBody>
          <a:bodyPr>
            <a:normAutofit lnSpcReduction="10000"/>
          </a:bodyPr>
          <a:lstStyle/>
          <a:p>
            <a:pPr algn="just"/>
            <a:r>
              <a:rPr lang="en-IN" sz="2400" dirty="0" smtClean="0">
                <a:latin typeface="Times New Roman" pitchFamily="18" charset="0"/>
                <a:cs typeface="Times New Roman" pitchFamily="18" charset="0"/>
              </a:rPr>
              <a:t>The rotary motion from the drive motor needs to be converted to linear motion to move the various axes </a:t>
            </a:r>
            <a:r>
              <a:rPr lang="en-IN" sz="2400" dirty="0" smtClean="0">
                <a:latin typeface="Times New Roman" pitchFamily="18" charset="0"/>
                <a:cs typeface="Times New Roman" pitchFamily="18" charset="0"/>
              </a:rPr>
              <a:t>of the </a:t>
            </a:r>
            <a:r>
              <a:rPr lang="en-IN" sz="2400" dirty="0" smtClean="0">
                <a:latin typeface="Times New Roman" pitchFamily="18" charset="0"/>
                <a:cs typeface="Times New Roman" pitchFamily="18" charset="0"/>
              </a:rPr>
              <a:t>machine tool.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In </a:t>
            </a:r>
            <a:r>
              <a:rPr lang="en-IN" sz="2400" dirty="0" smtClean="0">
                <a:latin typeface="Times New Roman" pitchFamily="18" charset="0"/>
                <a:cs typeface="Times New Roman" pitchFamily="18" charset="0"/>
              </a:rPr>
              <a:t>conventional machine tools, the square (Acme) thread is normally used for this </a:t>
            </a:r>
            <a:r>
              <a:rPr lang="en-IN" sz="2400" dirty="0" smtClean="0">
                <a:latin typeface="Times New Roman" pitchFamily="18" charset="0"/>
                <a:cs typeface="Times New Roman" pitchFamily="18" charset="0"/>
              </a:rPr>
              <a:t>purpose. However</a:t>
            </a:r>
            <a:r>
              <a:rPr lang="en-IN" sz="2400" dirty="0" smtClean="0">
                <a:latin typeface="Times New Roman" pitchFamily="18" charset="0"/>
                <a:cs typeface="Times New Roman" pitchFamily="18" charset="0"/>
              </a:rPr>
              <a:t>, in view of the metal-to-metal sliding contact between the nut and the screw, the friction is </a:t>
            </a:r>
            <a:r>
              <a:rPr lang="en-IN" sz="2400" dirty="0" smtClean="0">
                <a:latin typeface="Times New Roman" pitchFamily="18" charset="0"/>
                <a:cs typeface="Times New Roman" pitchFamily="18" charset="0"/>
              </a:rPr>
              <a:t>very high</a:t>
            </a:r>
            <a:r>
              <a:rPr lang="en-IN" sz="2400" dirty="0" smtClean="0">
                <a:latin typeface="Times New Roman" pitchFamily="18" charset="0"/>
                <a:cs typeface="Times New Roman" pitchFamily="18" charset="0"/>
              </a:rPr>
              <a:t>. This results in greater power being utilised for the movement of the axes</a:t>
            </a:r>
            <a:r>
              <a:rPr lang="en-IN" sz="2400" dirty="0" smtClean="0">
                <a:latin typeface="Times New Roman" pitchFamily="18" charset="0"/>
                <a:cs typeface="Times New Roman" pitchFamily="18" charset="0"/>
              </a:rPr>
              <a:t>.</a:t>
            </a:r>
          </a:p>
          <a:p>
            <a:pPr algn="just"/>
            <a:r>
              <a:rPr lang="en-IN" sz="2400" dirty="0" smtClean="0">
                <a:latin typeface="Times New Roman" pitchFamily="18" charset="0"/>
                <a:cs typeface="Times New Roman" pitchFamily="18" charset="0"/>
              </a:rPr>
              <a:t>most of the higher end machine tools use a lead screw with a </a:t>
            </a:r>
            <a:r>
              <a:rPr lang="en-IN" sz="2400" dirty="0" err="1" smtClean="0">
                <a:latin typeface="Times New Roman" pitchFamily="18" charset="0"/>
                <a:cs typeface="Times New Roman" pitchFamily="18" charset="0"/>
              </a:rPr>
              <a:t>recirculating</a:t>
            </a:r>
            <a:r>
              <a:rPr lang="en-IN"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ball nut</a:t>
            </a:r>
            <a:r>
              <a:rPr lang="en-IN" sz="2400" dirty="0" smtClean="0">
                <a:latin typeface="Times New Roman" pitchFamily="18" charset="0"/>
                <a:cs typeface="Times New Roman" pitchFamily="18" charset="0"/>
              </a:rPr>
              <a:t>.</a:t>
            </a:r>
          </a:p>
          <a:p>
            <a:pPr algn="just"/>
            <a:r>
              <a:rPr lang="en-IN" sz="2400" dirty="0" smtClean="0">
                <a:latin typeface="Times New Roman" pitchFamily="18" charset="0"/>
                <a:cs typeface="Times New Roman" pitchFamily="18" charset="0"/>
              </a:rPr>
              <a:t>In the case of </a:t>
            </a:r>
            <a:r>
              <a:rPr lang="en-IN" sz="2400" dirty="0" err="1" smtClean="0">
                <a:latin typeface="Times New Roman" pitchFamily="18" charset="0"/>
                <a:cs typeface="Times New Roman" pitchFamily="18" charset="0"/>
              </a:rPr>
              <a:t>recirculating</a:t>
            </a:r>
            <a:r>
              <a:rPr lang="en-IN" sz="2400" dirty="0" smtClean="0">
                <a:latin typeface="Times New Roman" pitchFamily="18" charset="0"/>
                <a:cs typeface="Times New Roman" pitchFamily="18" charset="0"/>
              </a:rPr>
              <a:t> ball screws, the nut is replaced by a series of balls, which circulate in </a:t>
            </a:r>
            <a:r>
              <a:rPr lang="en-IN" sz="2400" dirty="0" smtClean="0">
                <a:latin typeface="Times New Roman" pitchFamily="18" charset="0"/>
                <a:cs typeface="Times New Roman" pitchFamily="18" charset="0"/>
              </a:rPr>
              <a:t>the channel </a:t>
            </a:r>
            <a:r>
              <a:rPr lang="en-IN" sz="2400" dirty="0" smtClean="0">
                <a:latin typeface="Times New Roman" pitchFamily="18" charset="0"/>
                <a:cs typeface="Times New Roman" pitchFamily="18" charset="0"/>
              </a:rPr>
              <a:t>in the form of </a:t>
            </a:r>
            <a:r>
              <a:rPr lang="en-IN" sz="2400" dirty="0" smtClean="0">
                <a:latin typeface="Times New Roman" pitchFamily="18" charset="0"/>
                <a:cs typeface="Times New Roman" pitchFamily="18" charset="0"/>
              </a:rPr>
              <a:t>threads</a:t>
            </a:r>
          </a:p>
          <a:p>
            <a:pPr algn="just"/>
            <a:r>
              <a:rPr lang="en-IN" sz="2400" dirty="0" smtClean="0">
                <a:latin typeface="Times New Roman" pitchFamily="18" charset="0"/>
                <a:cs typeface="Times New Roman" pitchFamily="18" charset="0"/>
              </a:rPr>
              <a:t>This results in a highly efficient rolling motion of </a:t>
            </a:r>
            <a:r>
              <a:rPr lang="en-IN" sz="2400" dirty="0" smtClean="0">
                <a:latin typeface="Times New Roman" pitchFamily="18" charset="0"/>
                <a:cs typeface="Times New Roman" pitchFamily="18" charset="0"/>
              </a:rPr>
              <a:t>balls in </a:t>
            </a:r>
            <a:r>
              <a:rPr lang="en-IN" sz="2400" dirty="0" smtClean="0">
                <a:latin typeface="Times New Roman" pitchFamily="18" charset="0"/>
                <a:cs typeface="Times New Roman" pitchFamily="18" charset="0"/>
              </a:rPr>
              <a:t>the space between the screw shaft and nut. The balls at the end of the thread portion in the nut will </a:t>
            </a:r>
            <a:r>
              <a:rPr lang="en-IN" sz="2400" dirty="0" smtClean="0">
                <a:latin typeface="Times New Roman" pitchFamily="18" charset="0"/>
                <a:cs typeface="Times New Roman" pitchFamily="18" charset="0"/>
              </a:rPr>
              <a:t>be re-positioned </a:t>
            </a:r>
            <a:r>
              <a:rPr lang="en-IN" sz="2400" dirty="0" smtClean="0">
                <a:latin typeface="Times New Roman" pitchFamily="18" charset="0"/>
                <a:cs typeface="Times New Roman" pitchFamily="18" charset="0"/>
              </a:rPr>
              <a:t>into the beginning of the thread form by a deflector</a:t>
            </a:r>
            <a:endParaRPr lang="en-IN" sz="24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7955508" y="609885"/>
            <a:ext cx="3990832" cy="1834495"/>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l="11485" t="16784" r="952" b="967"/>
          <a:stretch>
            <a:fillRect/>
          </a:stretch>
        </p:blipFill>
        <p:spPr bwMode="auto">
          <a:xfrm>
            <a:off x="8093121" y="3384646"/>
            <a:ext cx="3922957" cy="2388357"/>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0DDAE0EB-FA32-4F7F-BC58-5B5864675FFA}"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93974"/>
          </a:xfrm>
        </p:spPr>
        <p:txBody>
          <a:bodyPr>
            <a:normAutofit/>
          </a:bodyPr>
          <a:lstStyle/>
          <a:p>
            <a:r>
              <a:rPr lang="en-US" sz="3200" b="1" dirty="0" smtClean="0">
                <a:latin typeface="Times New Roman" pitchFamily="18" charset="0"/>
                <a:cs typeface="Times New Roman" pitchFamily="18" charset="0"/>
              </a:rPr>
              <a:t>GUIDEWAYS (SLIDEWAYS)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580622" y="1374863"/>
            <a:ext cx="10984605" cy="5219119"/>
          </a:xfrm>
        </p:spPr>
        <p:txBody>
          <a:bodyPr>
            <a:normAutofit/>
          </a:bodyPr>
          <a:lstStyle/>
          <a:p>
            <a:pPr marL="0" indent="0" algn="just">
              <a:buNone/>
            </a:pPr>
            <a:r>
              <a:rPr lang="en-US" sz="2400" dirty="0" err="1">
                <a:latin typeface="Times New Roman" panose="02020603050405020304" pitchFamily="18" charset="0"/>
                <a:cs typeface="Times New Roman" panose="02020603050405020304" pitchFamily="18" charset="0"/>
              </a:rPr>
              <a:t>Guideways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slideways</a:t>
            </a:r>
            <a:r>
              <a:rPr lang="en-US" sz="2400" dirty="0">
                <a:latin typeface="Times New Roman" panose="02020603050405020304" pitchFamily="18" charset="0"/>
                <a:cs typeface="Times New Roman" panose="02020603050405020304" pitchFamily="18" charset="0"/>
              </a:rPr>
              <a:t>) are linear bearings for </a:t>
            </a:r>
            <a:r>
              <a:rPr lang="en-US" sz="2400" dirty="0" err="1">
                <a:latin typeface="Times New Roman" panose="02020603050405020304" pitchFamily="18" charset="0"/>
                <a:cs typeface="Times New Roman" panose="02020603050405020304" pitchFamily="18" charset="0"/>
              </a:rPr>
              <a:t>translatory</a:t>
            </a:r>
            <a:r>
              <a:rPr lang="en-US" sz="2400" dirty="0">
                <a:latin typeface="Times New Roman" panose="02020603050405020304" pitchFamily="18" charset="0"/>
                <a:cs typeface="Times New Roman" panose="02020603050405020304" pitchFamily="18" charset="0"/>
              </a:rPr>
              <a:t> movement between two members of a </a:t>
            </a:r>
            <a:r>
              <a:rPr lang="en-US" sz="2400" dirty="0" smtClean="0">
                <a:latin typeface="Times New Roman" panose="02020603050405020304" pitchFamily="18" charset="0"/>
                <a:cs typeface="Times New Roman" panose="02020603050405020304" pitchFamily="18" charset="0"/>
              </a:rPr>
              <a:t>machine tool</a:t>
            </a:r>
            <a:r>
              <a:rPr lang="en-US" sz="2400" dirty="0">
                <a:latin typeface="Times New Roman" panose="02020603050405020304" pitchFamily="18" charset="0"/>
                <a:cs typeface="Times New Roman" panose="02020603050405020304" pitchFamily="18" charset="0"/>
              </a:rPr>
              <a:t>, such as carriage and bed in a lathe. They should provide</a:t>
            </a:r>
          </a:p>
          <a:p>
            <a:pPr algn="just"/>
            <a:r>
              <a:rPr lang="en-US" sz="2400" dirty="0" smtClean="0">
                <a:latin typeface="Times New Roman" panose="02020603050405020304" pitchFamily="18" charset="0"/>
                <a:cs typeface="Times New Roman" panose="02020603050405020304" pitchFamily="18" charset="0"/>
              </a:rPr>
              <a:t>alignment </a:t>
            </a:r>
            <a:r>
              <a:rPr lang="en-US" sz="2400" dirty="0">
                <a:latin typeface="Times New Roman" panose="02020603050405020304" pitchFamily="18" charset="0"/>
                <a:cs typeface="Times New Roman" panose="02020603050405020304" pitchFamily="18" charset="0"/>
              </a:rPr>
              <a:t>and fit</a:t>
            </a:r>
          </a:p>
          <a:p>
            <a:pPr algn="just"/>
            <a:r>
              <a:rPr lang="en-US" sz="2400" dirty="0" smtClean="0">
                <a:latin typeface="Times New Roman" panose="02020603050405020304" pitchFamily="18" charset="0"/>
                <a:cs typeface="Times New Roman" panose="02020603050405020304" pitchFamily="18" charset="0"/>
              </a:rPr>
              <a:t>ample </a:t>
            </a:r>
            <a:r>
              <a:rPr lang="en-US" sz="2400" dirty="0">
                <a:latin typeface="Times New Roman" panose="02020603050405020304" pitchFamily="18" charset="0"/>
                <a:cs typeface="Times New Roman" panose="02020603050405020304" pitchFamily="18" charset="0"/>
              </a:rPr>
              <a:t>load carrying capacity</a:t>
            </a:r>
          </a:p>
          <a:p>
            <a:pPr algn="just"/>
            <a:r>
              <a:rPr lang="en-US" sz="2400" dirty="0" smtClean="0">
                <a:latin typeface="Times New Roman" panose="02020603050405020304" pitchFamily="18" charset="0"/>
                <a:cs typeface="Times New Roman" panose="02020603050405020304" pitchFamily="18" charset="0"/>
              </a:rPr>
              <a:t>absence </a:t>
            </a:r>
            <a:r>
              <a:rPr lang="en-US" sz="2400" dirty="0">
                <a:latin typeface="Times New Roman" panose="02020603050405020304" pitchFamily="18" charset="0"/>
                <a:cs typeface="Times New Roman" panose="02020603050405020304" pitchFamily="18" charset="0"/>
              </a:rPr>
              <a:t>of stick-slip jerk</a:t>
            </a:r>
          </a:p>
          <a:p>
            <a:pPr algn="just"/>
            <a:r>
              <a:rPr lang="en-US" sz="2400" dirty="0" smtClean="0">
                <a:latin typeface="Times New Roman" panose="02020603050405020304" pitchFamily="18" charset="0"/>
                <a:cs typeface="Times New Roman" panose="02020603050405020304" pitchFamily="18" charset="0"/>
              </a:rPr>
              <a:t>adjustment </a:t>
            </a:r>
            <a:r>
              <a:rPr lang="en-US" sz="2400" dirty="0">
                <a:latin typeface="Times New Roman" panose="02020603050405020304" pitchFamily="18" charset="0"/>
                <a:cs typeface="Times New Roman" panose="02020603050405020304" pitchFamily="18" charset="0"/>
              </a:rPr>
              <a:t>for wear and </a:t>
            </a:r>
            <a:r>
              <a:rPr lang="en-US" sz="2400" dirty="0" smtClean="0">
                <a:latin typeface="Times New Roman" panose="02020603050405020304" pitchFamily="18" charset="0"/>
                <a:cs typeface="Times New Roman" panose="02020603050405020304" pitchFamily="18" charset="0"/>
              </a:rPr>
              <a:t>lubrication</a:t>
            </a:r>
          </a:p>
          <a:p>
            <a:pPr marL="0" indent="0" algn="just">
              <a:buNone/>
            </a:pPr>
            <a:r>
              <a:rPr lang="en-US" sz="2400" dirty="0">
                <a:latin typeface="Times New Roman" panose="02020603050405020304" pitchFamily="18" charset="0"/>
                <a:cs typeface="Times New Roman" panose="02020603050405020304" pitchFamily="18" charset="0"/>
              </a:rPr>
              <a:t>The requirements of the </a:t>
            </a:r>
            <a:r>
              <a:rPr lang="en-US" sz="2400" dirty="0" err="1">
                <a:latin typeface="Times New Roman" panose="02020603050405020304" pitchFamily="18" charset="0"/>
                <a:cs typeface="Times New Roman" panose="02020603050405020304" pitchFamily="18" charset="0"/>
              </a:rPr>
              <a:t>guideways</a:t>
            </a:r>
            <a:r>
              <a:rPr lang="en-US" sz="2400" dirty="0">
                <a:latin typeface="Times New Roman" panose="02020603050405020304" pitchFamily="18" charset="0"/>
                <a:cs typeface="Times New Roman" panose="02020603050405020304" pitchFamily="18" charset="0"/>
              </a:rPr>
              <a:t> are:</a:t>
            </a:r>
          </a:p>
          <a:p>
            <a:pPr algn="just"/>
            <a:r>
              <a:rPr lang="en-US" sz="2400" dirty="0" smtClean="0">
                <a:latin typeface="Times New Roman" panose="02020603050405020304" pitchFamily="18" charset="0"/>
                <a:cs typeface="Times New Roman" panose="02020603050405020304" pitchFamily="18" charset="0"/>
              </a:rPr>
              <a:t>High </a:t>
            </a:r>
            <a:r>
              <a:rPr lang="en-US" sz="2400" dirty="0">
                <a:latin typeface="Times New Roman" panose="02020603050405020304" pitchFamily="18" charset="0"/>
                <a:cs typeface="Times New Roman" panose="02020603050405020304" pitchFamily="18" charset="0"/>
              </a:rPr>
              <a:t>accuracy</a:t>
            </a:r>
          </a:p>
          <a:p>
            <a:pPr algn="just"/>
            <a:r>
              <a:rPr lang="en-US" sz="2400" dirty="0" smtClean="0">
                <a:latin typeface="Times New Roman" panose="02020603050405020304" pitchFamily="18" charset="0"/>
                <a:cs typeface="Times New Roman" panose="02020603050405020304" pitchFamily="18" charset="0"/>
              </a:rPr>
              <a:t>High </a:t>
            </a:r>
            <a:r>
              <a:rPr lang="en-US" sz="2400" dirty="0">
                <a:latin typeface="Times New Roman" panose="02020603050405020304" pitchFamily="18" charset="0"/>
                <a:cs typeface="Times New Roman" panose="02020603050405020304" pitchFamily="18" charset="0"/>
              </a:rPr>
              <a:t>surface finish</a:t>
            </a:r>
          </a:p>
          <a:p>
            <a:pPr algn="just"/>
            <a:r>
              <a:rPr lang="en-US" sz="2400" dirty="0" smtClean="0">
                <a:latin typeface="Times New Roman" panose="02020603050405020304" pitchFamily="18" charset="0"/>
                <a:cs typeface="Times New Roman" panose="02020603050405020304" pitchFamily="18" charset="0"/>
              </a:rPr>
              <a:t>Low </a:t>
            </a:r>
            <a:r>
              <a:rPr lang="en-US" sz="2400" dirty="0">
                <a:latin typeface="Times New Roman" panose="02020603050405020304" pitchFamily="18" charset="0"/>
                <a:cs typeface="Times New Roman" panose="02020603050405020304" pitchFamily="18" charset="0"/>
              </a:rPr>
              <a:t>value of frictional force</a:t>
            </a:r>
          </a:p>
          <a:p>
            <a:pPr algn="just"/>
            <a:r>
              <a:rPr lang="en-US" sz="2400" dirty="0" smtClean="0">
                <a:latin typeface="Times New Roman" panose="02020603050405020304" pitchFamily="18" charset="0"/>
                <a:cs typeface="Times New Roman" panose="02020603050405020304" pitchFamily="18" charset="0"/>
              </a:rPr>
              <a:t>Low </a:t>
            </a:r>
            <a:r>
              <a:rPr lang="en-US" sz="2400" dirty="0">
                <a:latin typeface="Times New Roman" panose="02020603050405020304" pitchFamily="18" charset="0"/>
                <a:cs typeface="Times New Roman" panose="02020603050405020304" pitchFamily="18" charset="0"/>
              </a:rPr>
              <a:t>wear rate</a:t>
            </a:r>
          </a:p>
        </p:txBody>
      </p:sp>
      <p:sp>
        <p:nvSpPr>
          <p:cNvPr id="4" name="Slide Number Placeholder 3"/>
          <p:cNvSpPr>
            <a:spLocks noGrp="1"/>
          </p:cNvSpPr>
          <p:nvPr>
            <p:ph type="sldNum" sz="quarter" idx="12"/>
          </p:nvPr>
        </p:nvSpPr>
        <p:spPr/>
        <p:txBody>
          <a:bodyPr/>
          <a:lstStyle/>
          <a:p>
            <a:fld id="{0DDAE0EB-FA32-4F7F-BC58-5B5864675FFA}" type="slidenum">
              <a:rPr lang="en-US" smtClean="0"/>
              <a:pPr/>
              <a:t>20</a:t>
            </a:fld>
            <a:endParaRPr lang="en-US"/>
          </a:p>
        </p:txBody>
      </p:sp>
    </p:spTree>
    <p:extLst>
      <p:ext uri="{BB962C8B-B14F-4D97-AF65-F5344CB8AC3E}">
        <p14:creationId xmlns="" xmlns:p14="http://schemas.microsoft.com/office/powerpoint/2010/main" val="22121663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515600" cy="2959026"/>
          </a:xfrm>
        </p:spPr>
        <p:txBody>
          <a:bodyPr>
            <a:normAutofit/>
          </a:bodyPr>
          <a:lstStyle/>
          <a:p>
            <a:r>
              <a:rPr lang="en-US" sz="2400" dirty="0">
                <a:latin typeface="Times New Roman" panose="02020603050405020304" pitchFamily="18" charset="0"/>
                <a:cs typeface="Times New Roman" panose="02020603050405020304" pitchFamily="18" charset="0"/>
              </a:rPr>
              <a:t>A close grained material is used along with inclusion of alloying elements. The bearing surfaces are </a:t>
            </a:r>
            <a:r>
              <a:rPr lang="en-US" sz="2400" dirty="0" smtClean="0">
                <a:latin typeface="Times New Roman" panose="02020603050405020304" pitchFamily="18" charset="0"/>
                <a:cs typeface="Times New Roman" panose="02020603050405020304" pitchFamily="18" charset="0"/>
              </a:rPr>
              <a:t>flame and </a:t>
            </a:r>
            <a:r>
              <a:rPr lang="en-US" sz="2400" dirty="0">
                <a:latin typeface="Times New Roman" panose="02020603050405020304" pitchFamily="18" charset="0"/>
                <a:cs typeface="Times New Roman" panose="02020603050405020304" pitchFamily="18" charset="0"/>
              </a:rPr>
              <a:t>induction hardened for </a:t>
            </a:r>
            <a:r>
              <a:rPr lang="en-US" sz="2400" dirty="0" smtClean="0">
                <a:latin typeface="Times New Roman" panose="02020603050405020304" pitchFamily="18" charset="0"/>
                <a:cs typeface="Times New Roman" panose="02020603050405020304" pitchFamily="18" charset="0"/>
              </a:rPr>
              <a:t>better </a:t>
            </a:r>
            <a:r>
              <a:rPr lang="en-US" sz="2400" dirty="0">
                <a:latin typeface="Times New Roman" panose="02020603050405020304" pitchFamily="18" charset="0"/>
                <a:cs typeface="Times New Roman" panose="02020603050405020304" pitchFamily="18" charset="0"/>
              </a:rPr>
              <a:t>wear </a:t>
            </a:r>
            <a:r>
              <a:rPr lang="en-US" sz="2400" dirty="0" smtClean="0">
                <a:latin typeface="Times New Roman" panose="02020603050405020304" pitchFamily="18" charset="0"/>
                <a:cs typeface="Times New Roman" panose="02020603050405020304" pitchFamily="18" charset="0"/>
              </a:rPr>
              <a:t>characteristics</a:t>
            </a:r>
          </a:p>
          <a:p>
            <a:r>
              <a:rPr lang="en-US" sz="2400" dirty="0">
                <a:latin typeface="Times New Roman" panose="02020603050405020304" pitchFamily="18" charset="0"/>
                <a:cs typeface="Times New Roman" panose="02020603050405020304" pitchFamily="18" charset="0"/>
              </a:rPr>
              <a:t>The types of </a:t>
            </a:r>
            <a:r>
              <a:rPr lang="en-US" sz="2400" dirty="0" err="1">
                <a:latin typeface="Times New Roman" panose="02020603050405020304" pitchFamily="18" charset="0"/>
                <a:cs typeface="Times New Roman" panose="02020603050405020304" pitchFamily="18" charset="0"/>
              </a:rPr>
              <a:t>guideways</a:t>
            </a:r>
            <a:r>
              <a:rPr lang="en-US" sz="2400" dirty="0">
                <a:latin typeface="Times New Roman" panose="02020603050405020304" pitchFamily="18" charset="0"/>
                <a:cs typeface="Times New Roman" panose="02020603050405020304" pitchFamily="18" charset="0"/>
              </a:rPr>
              <a:t> may be classified </a:t>
            </a:r>
            <a:r>
              <a:rPr lang="en-US" sz="2400" dirty="0" smtClean="0">
                <a:latin typeface="Times New Roman" panose="02020603050405020304" pitchFamily="18" charset="0"/>
                <a:cs typeface="Times New Roman" panose="02020603050405020304" pitchFamily="18" charset="0"/>
              </a:rPr>
              <a:t>as</a:t>
            </a:r>
          </a:p>
          <a:p>
            <a:pPr marL="514350" indent="-514350">
              <a:buAutoNum type="arabicPeriod"/>
            </a:pPr>
            <a:r>
              <a:rPr lang="en-US" sz="2400" dirty="0" err="1" smtClean="0">
                <a:latin typeface="Times New Roman" panose="02020603050405020304" pitchFamily="18" charset="0"/>
                <a:cs typeface="Times New Roman" panose="02020603050405020304" pitchFamily="18" charset="0"/>
              </a:rPr>
              <a:t>Guideways</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with sliding friction also termed as slide </a:t>
            </a:r>
            <a:r>
              <a:rPr lang="en-US" sz="2400" dirty="0" smtClean="0">
                <a:latin typeface="Times New Roman" panose="02020603050405020304" pitchFamily="18" charset="0"/>
                <a:cs typeface="Times New Roman" panose="02020603050405020304" pitchFamily="18" charset="0"/>
              </a:rPr>
              <a:t>ways.</a:t>
            </a:r>
          </a:p>
          <a:p>
            <a:pPr marL="514350" indent="-514350">
              <a:buAutoNum type="arabicPeriod"/>
            </a:pPr>
            <a:r>
              <a:rPr lang="en-US" sz="2400" dirty="0" err="1" smtClean="0">
                <a:latin typeface="Times New Roman" panose="02020603050405020304" pitchFamily="18" charset="0"/>
                <a:cs typeface="Times New Roman" panose="02020603050405020304" pitchFamily="18" charset="0"/>
              </a:rPr>
              <a:t>Guideways</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with rolling friction also termed as anti-friction ways. In this there are two varieties </a:t>
            </a:r>
            <a:r>
              <a:rPr lang="en-US" sz="2400" dirty="0" smtClean="0">
                <a:latin typeface="Times New Roman" panose="02020603050405020304" pitchFamily="18" charset="0"/>
                <a:cs typeface="Times New Roman" panose="02020603050405020304" pitchFamily="18" charset="0"/>
              </a:rPr>
              <a:t>with balls </a:t>
            </a:r>
            <a:r>
              <a:rPr lang="en-US" sz="2400" dirty="0">
                <a:latin typeface="Times New Roman" panose="02020603050405020304" pitchFamily="18" charset="0"/>
                <a:cs typeface="Times New Roman" panose="02020603050405020304" pitchFamily="18" charset="0"/>
              </a:rPr>
              <a:t>or rollers as anti-friction elements.</a:t>
            </a:r>
          </a:p>
        </p:txBody>
      </p:sp>
      <p:sp>
        <p:nvSpPr>
          <p:cNvPr id="4" name="Slide Number Placeholder 3"/>
          <p:cNvSpPr>
            <a:spLocks noGrp="1"/>
          </p:cNvSpPr>
          <p:nvPr>
            <p:ph type="sldNum" sz="quarter" idx="12"/>
          </p:nvPr>
        </p:nvSpPr>
        <p:spPr/>
        <p:txBody>
          <a:bodyPr/>
          <a:lstStyle/>
          <a:p>
            <a:fld id="{0DDAE0EB-FA32-4F7F-BC58-5B5864675FFA}" type="slidenum">
              <a:rPr lang="en-US" smtClean="0"/>
              <a:pPr/>
              <a:t>21</a:t>
            </a:fld>
            <a:endParaRPr lang="en-US"/>
          </a:p>
        </p:txBody>
      </p:sp>
    </p:spTree>
    <p:extLst>
      <p:ext uri="{BB962C8B-B14F-4D97-AF65-F5344CB8AC3E}">
        <p14:creationId xmlns="" xmlns:p14="http://schemas.microsoft.com/office/powerpoint/2010/main" val="3820338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2306"/>
          </a:xfrm>
        </p:spPr>
        <p:txBody>
          <a:bodyPr>
            <a:normAutofit/>
          </a:bodyPr>
          <a:lstStyle/>
          <a:p>
            <a:r>
              <a:rPr lang="en-US" sz="3200" b="1" dirty="0" smtClean="0">
                <a:latin typeface="Times New Roman" pitchFamily="18" charset="0"/>
                <a:cs typeface="Times New Roman" pitchFamily="18" charset="0"/>
              </a:rPr>
              <a:t>TYPES OF SLIDEWAYS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593502" y="1194560"/>
            <a:ext cx="10515600" cy="2334251"/>
          </a:xfrm>
        </p:spPr>
        <p:txBody>
          <a:bodyPr>
            <a:normAutofit/>
          </a:bodyPr>
          <a:lstStyle/>
          <a:p>
            <a:r>
              <a:rPr lang="en-US" sz="2400" dirty="0">
                <a:latin typeface="Times New Roman" panose="02020603050405020304" pitchFamily="18" charset="0"/>
                <a:cs typeface="Times New Roman" panose="02020603050405020304" pitchFamily="18" charset="0"/>
              </a:rPr>
              <a:t>There are a number of types of </a:t>
            </a:r>
            <a:r>
              <a:rPr lang="en-US" sz="2400" dirty="0" err="1">
                <a:latin typeface="Times New Roman" panose="02020603050405020304" pitchFamily="18" charset="0"/>
                <a:cs typeface="Times New Roman" panose="02020603050405020304" pitchFamily="18" charset="0"/>
              </a:rPr>
              <a:t>slideways</a:t>
            </a:r>
            <a:r>
              <a:rPr lang="en-US" sz="2400" dirty="0">
                <a:latin typeface="Times New Roman" panose="02020603050405020304" pitchFamily="18" charset="0"/>
                <a:cs typeface="Times New Roman" panose="02020603050405020304" pitchFamily="18" charset="0"/>
              </a:rPr>
              <a:t> conventionally used in machine </a:t>
            </a:r>
            <a:r>
              <a:rPr lang="en-US" sz="2400" dirty="0" smtClean="0">
                <a:latin typeface="Times New Roman" panose="02020603050405020304" pitchFamily="18" charset="0"/>
                <a:cs typeface="Times New Roman" panose="02020603050405020304" pitchFamily="18" charset="0"/>
              </a:rPr>
              <a:t>tools</a:t>
            </a:r>
          </a:p>
          <a:p>
            <a:pPr marL="0" indent="0">
              <a:buNone/>
            </a:pPr>
            <a:r>
              <a:rPr lang="en-US" sz="2400" dirty="0">
                <a:latin typeface="Times New Roman" panose="02020603050405020304" pitchFamily="18" charset="0"/>
                <a:cs typeface="Times New Roman" panose="02020603050405020304" pitchFamily="18" charset="0"/>
              </a:rPr>
              <a:t>(a) V-</a:t>
            </a:r>
            <a:r>
              <a:rPr lang="en-US" sz="2400" dirty="0" err="1">
                <a:latin typeface="Times New Roman" panose="02020603050405020304" pitchFamily="18" charset="0"/>
                <a:cs typeface="Times New Roman" panose="02020603050405020304" pitchFamily="18" charset="0"/>
              </a:rPr>
              <a:t>slideways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(b) Flat </a:t>
            </a:r>
            <a:r>
              <a:rPr lang="en-US" sz="2400" dirty="0" err="1">
                <a:latin typeface="Times New Roman" panose="02020603050405020304" pitchFamily="18" charset="0"/>
                <a:cs typeface="Times New Roman" panose="02020603050405020304" pitchFamily="18" charset="0"/>
              </a:rPr>
              <a:t>slideways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(c) Round </a:t>
            </a:r>
            <a:r>
              <a:rPr lang="en-US" sz="2400" dirty="0" err="1">
                <a:latin typeface="Times New Roman" panose="02020603050405020304" pitchFamily="18" charset="0"/>
                <a:cs typeface="Times New Roman" panose="02020603050405020304" pitchFamily="18" charset="0"/>
              </a:rPr>
              <a:t>slideways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(d) Dovetail </a:t>
            </a:r>
            <a:r>
              <a:rPr lang="en-US" sz="2400" dirty="0" err="1">
                <a:latin typeface="Times New Roman" panose="02020603050405020304" pitchFamily="18" charset="0"/>
                <a:cs typeface="Times New Roman" panose="02020603050405020304" pitchFamily="18" charset="0"/>
              </a:rPr>
              <a:t>slideways</a:t>
            </a:r>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srcRect l="5899" t="2333" r="5830" b="54317"/>
          <a:stretch/>
        </p:blipFill>
        <p:spPr>
          <a:xfrm>
            <a:off x="562379" y="3888294"/>
            <a:ext cx="5288923" cy="2090680"/>
          </a:xfrm>
          <a:prstGeom prst="rect">
            <a:avLst/>
          </a:prstGeom>
        </p:spPr>
      </p:pic>
      <p:pic>
        <p:nvPicPr>
          <p:cNvPr id="5" name="Picture 4"/>
          <p:cNvPicPr>
            <a:picLocks noChangeAspect="1"/>
          </p:cNvPicPr>
          <p:nvPr/>
        </p:nvPicPr>
        <p:blipFill rotWithShape="1">
          <a:blip r:embed="rId2"/>
          <a:srcRect t="46741"/>
          <a:stretch/>
        </p:blipFill>
        <p:spPr>
          <a:xfrm>
            <a:off x="6437258" y="3888294"/>
            <a:ext cx="5294883" cy="2269858"/>
          </a:xfrm>
          <a:prstGeom prst="rect">
            <a:avLst/>
          </a:prstGeom>
        </p:spPr>
      </p:pic>
      <p:sp>
        <p:nvSpPr>
          <p:cNvPr id="6" name="Slide Number Placeholder 5"/>
          <p:cNvSpPr>
            <a:spLocks noGrp="1"/>
          </p:cNvSpPr>
          <p:nvPr>
            <p:ph type="sldNum" sz="quarter" idx="12"/>
          </p:nvPr>
        </p:nvSpPr>
        <p:spPr/>
        <p:txBody>
          <a:bodyPr/>
          <a:lstStyle/>
          <a:p>
            <a:fld id="{0DDAE0EB-FA32-4F7F-BC58-5B5864675FFA}" type="slidenum">
              <a:rPr lang="en-US" smtClean="0"/>
              <a:pPr/>
              <a:t>22</a:t>
            </a:fld>
            <a:endParaRPr lang="en-US"/>
          </a:p>
        </p:txBody>
      </p:sp>
    </p:spTree>
    <p:extLst>
      <p:ext uri="{BB962C8B-B14F-4D97-AF65-F5344CB8AC3E}">
        <p14:creationId xmlns="" xmlns:p14="http://schemas.microsoft.com/office/powerpoint/2010/main" val="739942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5922" y="267280"/>
            <a:ext cx="11448245" cy="6365339"/>
          </a:xfrm>
        </p:spPr>
        <p:txBody>
          <a:bodyPr>
            <a:normAutofit lnSpcReduction="10000"/>
          </a:bodyPr>
          <a:lstStyle/>
          <a:p>
            <a:r>
              <a:rPr lang="en-US" sz="2400" dirty="0">
                <a:latin typeface="Times New Roman" panose="02020603050405020304" pitchFamily="18" charset="0"/>
                <a:cs typeface="Times New Roman" panose="02020603050405020304" pitchFamily="18" charset="0"/>
              </a:rPr>
              <a:t>The shape of </a:t>
            </a:r>
            <a:r>
              <a:rPr lang="en-US" sz="2400" dirty="0" err="1">
                <a:latin typeface="Times New Roman" panose="02020603050405020304" pitchFamily="18" charset="0"/>
                <a:cs typeface="Times New Roman" panose="02020603050405020304" pitchFamily="18" charset="0"/>
              </a:rPr>
              <a:t>slideway</a:t>
            </a:r>
            <a:r>
              <a:rPr lang="en-US" sz="2400" dirty="0">
                <a:latin typeface="Times New Roman" panose="02020603050405020304" pitchFamily="18" charset="0"/>
                <a:cs typeface="Times New Roman" panose="02020603050405020304" pitchFamily="18" charset="0"/>
              </a:rPr>
              <a:t> depends basically upon the function it is expected to serve. The following are </a:t>
            </a:r>
            <a:r>
              <a:rPr lang="en-US" sz="2400" dirty="0" smtClean="0">
                <a:latin typeface="Times New Roman" panose="02020603050405020304" pitchFamily="18" charset="0"/>
                <a:cs typeface="Times New Roman" panose="02020603050405020304" pitchFamily="18" charset="0"/>
              </a:rPr>
              <a:t>some guiding </a:t>
            </a:r>
            <a:r>
              <a:rPr lang="en-US" sz="2400" dirty="0">
                <a:latin typeface="Times New Roman" panose="02020603050405020304" pitchFamily="18" charset="0"/>
                <a:cs typeface="Times New Roman" panose="02020603050405020304" pitchFamily="18" charset="0"/>
              </a:rPr>
              <a:t>principles in identifying the shape of a </a:t>
            </a:r>
            <a:r>
              <a:rPr lang="en-US" sz="2400" dirty="0" err="1">
                <a:latin typeface="Times New Roman" panose="02020603050405020304" pitchFamily="18" charset="0"/>
                <a:cs typeface="Times New Roman" panose="02020603050405020304" pitchFamily="18" charset="0"/>
              </a:rPr>
              <a:t>slideway</a:t>
            </a:r>
            <a:r>
              <a:rPr lang="en-US" sz="2400" dirty="0">
                <a:latin typeface="Times New Roman" panose="02020603050405020304" pitchFamily="18" charset="0"/>
                <a:cs typeface="Times New Roman" panose="02020603050405020304" pitchFamily="18" charset="0"/>
              </a:rPr>
              <a:t>.</a:t>
            </a:r>
          </a:p>
          <a:p>
            <a:pPr marL="457200" indent="-457200">
              <a:buAutoNum type="arabicPeriod"/>
            </a:pPr>
            <a:r>
              <a:rPr lang="en-US" sz="2400" dirty="0" smtClean="0">
                <a:latin typeface="Times New Roman" panose="02020603050405020304" pitchFamily="18" charset="0"/>
                <a:cs typeface="Times New Roman" panose="02020603050405020304" pitchFamily="18" charset="0"/>
              </a:rPr>
              <a:t>load </a:t>
            </a:r>
            <a:r>
              <a:rPr lang="en-US" sz="2400" dirty="0">
                <a:latin typeface="Times New Roman" panose="02020603050405020304" pitchFamily="18" charset="0"/>
                <a:cs typeface="Times New Roman" panose="02020603050405020304" pitchFamily="18" charset="0"/>
              </a:rPr>
              <a:t>carrying </a:t>
            </a:r>
            <a:r>
              <a:rPr lang="en-US" sz="2400" dirty="0" smtClean="0">
                <a:latin typeface="Times New Roman" panose="02020603050405020304" pitchFamily="18" charset="0"/>
                <a:cs typeface="Times New Roman" panose="02020603050405020304" pitchFamily="18" charset="0"/>
              </a:rPr>
              <a:t>capacity</a:t>
            </a:r>
          </a:p>
          <a:p>
            <a:pPr marL="457200" indent="-457200">
              <a:buAutoNum type="arabicPeriod"/>
            </a:pPr>
            <a:r>
              <a:rPr lang="en-US" sz="2400" dirty="0" smtClean="0">
                <a:latin typeface="Times New Roman" panose="02020603050405020304" pitchFamily="18" charset="0"/>
                <a:cs typeface="Times New Roman" panose="02020603050405020304" pitchFamily="18" charset="0"/>
              </a:rPr>
              <a:t>ease </a:t>
            </a:r>
            <a:r>
              <a:rPr lang="en-US" sz="2400" dirty="0">
                <a:latin typeface="Times New Roman" panose="02020603050405020304" pitchFamily="18" charset="0"/>
                <a:cs typeface="Times New Roman" panose="02020603050405020304" pitchFamily="18" charset="0"/>
              </a:rPr>
              <a:t>of </a:t>
            </a:r>
            <a:r>
              <a:rPr lang="en-US" sz="2400" dirty="0" smtClean="0">
                <a:latin typeface="Times New Roman" panose="02020603050405020304" pitchFamily="18" charset="0"/>
                <a:cs typeface="Times New Roman" panose="02020603050405020304" pitchFamily="18" charset="0"/>
              </a:rPr>
              <a:t>manufacture</a:t>
            </a:r>
          </a:p>
          <a:p>
            <a:pPr marL="457200" indent="-457200">
              <a:buAutoNum type="arabicPeriod"/>
            </a:pPr>
            <a:r>
              <a:rPr lang="en-US" sz="2400" dirty="0" smtClean="0">
                <a:latin typeface="Times New Roman" panose="02020603050405020304" pitchFamily="18" charset="0"/>
                <a:cs typeface="Times New Roman" panose="02020603050405020304" pitchFamily="18" charset="0"/>
              </a:rPr>
              <a:t>ease </a:t>
            </a:r>
            <a:r>
              <a:rPr lang="en-US" sz="2400" dirty="0">
                <a:latin typeface="Times New Roman" panose="02020603050405020304" pitchFamily="18" charset="0"/>
                <a:cs typeface="Times New Roman" panose="02020603050405020304" pitchFamily="18" charset="0"/>
              </a:rPr>
              <a:t>of chip </a:t>
            </a:r>
            <a:r>
              <a:rPr lang="en-US" sz="2400" dirty="0" smtClean="0">
                <a:latin typeface="Times New Roman" panose="02020603050405020304" pitchFamily="18" charset="0"/>
                <a:cs typeface="Times New Roman" panose="02020603050405020304" pitchFamily="18" charset="0"/>
              </a:rPr>
              <a:t>disposal</a:t>
            </a:r>
          </a:p>
          <a:p>
            <a:pPr marL="457200" indent="-457200">
              <a:buAutoNum type="arabicPeriod"/>
            </a:pPr>
            <a:r>
              <a:rPr lang="en-US" sz="2400" dirty="0" smtClean="0">
                <a:latin typeface="Times New Roman" panose="02020603050405020304" pitchFamily="18" charset="0"/>
                <a:cs typeface="Times New Roman" panose="02020603050405020304" pitchFamily="18" charset="0"/>
              </a:rPr>
              <a:t>effective lubrication</a:t>
            </a:r>
          </a:p>
          <a:p>
            <a:pPr marL="457200" indent="-457200">
              <a:buAutoNum type="arabicPeriod"/>
            </a:pPr>
            <a:r>
              <a:rPr lang="en-US" sz="2400" dirty="0" smtClean="0">
                <a:latin typeface="Times New Roman" panose="02020603050405020304" pitchFamily="18" charset="0"/>
                <a:cs typeface="Times New Roman" panose="02020603050405020304" pitchFamily="18" charset="0"/>
              </a:rPr>
              <a:t>position </a:t>
            </a:r>
            <a:r>
              <a:rPr lang="en-US" sz="2400" dirty="0">
                <a:latin typeface="Times New Roman" panose="02020603050405020304" pitchFamily="18" charset="0"/>
                <a:cs typeface="Times New Roman" panose="02020603050405020304" pitchFamily="18" charset="0"/>
              </a:rPr>
              <a:t>of </a:t>
            </a:r>
            <a:r>
              <a:rPr lang="en-US" sz="2400" dirty="0" err="1" smtClean="0">
                <a:latin typeface="Times New Roman" panose="02020603050405020304" pitchFamily="18" charset="0"/>
                <a:cs typeface="Times New Roman" panose="02020603050405020304" pitchFamily="18" charset="0"/>
              </a:rPr>
              <a:t>slideway</a:t>
            </a: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b="1" dirty="0" smtClean="0">
                <a:latin typeface="Times New Roman" panose="02020603050405020304" pitchFamily="18" charset="0"/>
                <a:cs typeface="Times New Roman" panose="02020603050405020304" pitchFamily="18" charset="0"/>
              </a:rPr>
              <a:t>V-SLIDEWAYS</a:t>
            </a:r>
          </a:p>
          <a:p>
            <a:pPr algn="just"/>
            <a:r>
              <a:rPr lang="en-US" sz="2400" dirty="0">
                <a:latin typeface="Times New Roman" panose="02020603050405020304" pitchFamily="18" charset="0"/>
                <a:cs typeface="Times New Roman" panose="02020603050405020304" pitchFamily="18" charset="0"/>
              </a:rPr>
              <a:t>They can adjust clearances under the weight of the moving member. Machining accuracy is not </a:t>
            </a:r>
            <a:r>
              <a:rPr lang="en-US" sz="2400" dirty="0" smtClean="0">
                <a:latin typeface="Times New Roman" panose="02020603050405020304" pitchFamily="18" charset="0"/>
                <a:cs typeface="Times New Roman" panose="02020603050405020304" pitchFamily="18" charset="0"/>
              </a:rPr>
              <a:t>greatly affected </a:t>
            </a:r>
            <a:r>
              <a:rPr lang="en-US" sz="2400" dirty="0">
                <a:latin typeface="Times New Roman" panose="02020603050405020304" pitchFamily="18" charset="0"/>
                <a:cs typeface="Times New Roman" panose="02020603050405020304" pitchFamily="18" charset="0"/>
              </a:rPr>
              <a:t>by the wear of </a:t>
            </a:r>
            <a:r>
              <a:rPr lang="en-US" sz="2400" dirty="0" err="1">
                <a:latin typeface="Times New Roman" panose="02020603050405020304" pitchFamily="18" charset="0"/>
                <a:cs typeface="Times New Roman" panose="02020603050405020304" pitchFamily="18" charset="0"/>
              </a:rPr>
              <a:t>guideways</a:t>
            </a:r>
            <a:r>
              <a:rPr lang="en-US" sz="2400" dirty="0">
                <a:latin typeface="Times New Roman" panose="02020603050405020304" pitchFamily="18" charset="0"/>
                <a:cs typeface="Times New Roman" panose="02020603050405020304" pitchFamily="18" charset="0"/>
              </a:rPr>
              <a:t>. The chips would not clog the </a:t>
            </a:r>
            <a:r>
              <a:rPr lang="en-US" sz="2400" dirty="0" err="1">
                <a:latin typeface="Times New Roman" panose="02020603050405020304" pitchFamily="18" charset="0"/>
                <a:cs typeface="Times New Roman" panose="02020603050405020304" pitchFamily="18" charset="0"/>
              </a:rPr>
              <a:t>slideways</a:t>
            </a:r>
            <a:r>
              <a:rPr lang="en-US" sz="2400" dirty="0">
                <a:latin typeface="Times New Roman" panose="02020603050405020304" pitchFamily="18" charset="0"/>
                <a:cs typeface="Times New Roman" panose="02020603050405020304" pitchFamily="18" charset="0"/>
              </a:rPr>
              <a:t>. However, they are </a:t>
            </a:r>
            <a:r>
              <a:rPr lang="en-US" sz="2400" dirty="0" smtClean="0">
                <a:latin typeface="Times New Roman" panose="02020603050405020304" pitchFamily="18" charset="0"/>
                <a:cs typeface="Times New Roman" panose="02020603050405020304" pitchFamily="18" charset="0"/>
              </a:rPr>
              <a:t>difficult to </a:t>
            </a:r>
            <a:r>
              <a:rPr lang="en-US" sz="2400" dirty="0">
                <a:latin typeface="Times New Roman" panose="02020603050405020304" pitchFamily="18" charset="0"/>
                <a:cs typeface="Times New Roman" panose="02020603050405020304" pitchFamily="18" charset="0"/>
              </a:rPr>
              <a:t>manufacture and provide very small bearing area. They can be </a:t>
            </a:r>
            <a:r>
              <a:rPr lang="en-US" sz="2400" dirty="0" smtClean="0">
                <a:latin typeface="Times New Roman" panose="02020603050405020304" pitchFamily="18" charset="0"/>
                <a:cs typeface="Times New Roman" panose="02020603050405020304" pitchFamily="18" charset="0"/>
              </a:rPr>
              <a:t>symmetrical </a:t>
            </a:r>
            <a:r>
              <a:rPr lang="en-US" sz="2400" dirty="0">
                <a:latin typeface="Times New Roman" panose="02020603050405020304" pitchFamily="18" charset="0"/>
                <a:cs typeface="Times New Roman" panose="02020603050405020304" pitchFamily="18" charset="0"/>
              </a:rPr>
              <a:t>or </a:t>
            </a:r>
            <a:r>
              <a:rPr lang="en-US" sz="2400" dirty="0" smtClean="0">
                <a:latin typeface="Times New Roman" panose="02020603050405020304" pitchFamily="18" charset="0"/>
                <a:cs typeface="Times New Roman" panose="02020603050405020304" pitchFamily="18" charset="0"/>
              </a:rPr>
              <a:t>more generally asymmetric</a:t>
            </a:r>
          </a:p>
          <a:p>
            <a:pPr algn="just"/>
            <a:r>
              <a:rPr lang="en-US" sz="2400" dirty="0">
                <a:latin typeface="Times New Roman" panose="02020603050405020304" pitchFamily="18" charset="0"/>
                <a:cs typeface="Times New Roman" panose="02020603050405020304" pitchFamily="18" charset="0"/>
              </a:rPr>
              <a:t>Symmetrical is good when the acting load is perfectly vertical </a:t>
            </a:r>
            <a:r>
              <a:rPr lang="en-US" sz="2400" dirty="0" smtClean="0">
                <a:latin typeface="Times New Roman" panose="02020603050405020304" pitchFamily="18" charset="0"/>
                <a:cs typeface="Times New Roman" panose="02020603050405020304" pitchFamily="18" charset="0"/>
              </a:rPr>
              <a:t>since the </a:t>
            </a:r>
            <a:r>
              <a:rPr lang="en-US" sz="2400" dirty="0">
                <a:latin typeface="Times New Roman" panose="02020603050405020304" pitchFamily="18" charset="0"/>
                <a:cs typeface="Times New Roman" panose="02020603050405020304" pitchFamily="18" charset="0"/>
              </a:rPr>
              <a:t>load will be equally distributed among the faces of V. However in metal cutting, we have seen </a:t>
            </a:r>
            <a:r>
              <a:rPr lang="en-US" sz="2400" dirty="0" smtClean="0">
                <a:latin typeface="Times New Roman" panose="02020603050405020304" pitchFamily="18" charset="0"/>
                <a:cs typeface="Times New Roman" panose="02020603050405020304" pitchFamily="18" charset="0"/>
              </a:rPr>
              <a:t>that tangential </a:t>
            </a:r>
            <a:r>
              <a:rPr lang="en-US" sz="2400" dirty="0">
                <a:latin typeface="Times New Roman" panose="02020603050405020304" pitchFamily="18" charset="0"/>
                <a:cs typeface="Times New Roman" panose="02020603050405020304" pitchFamily="18" charset="0"/>
              </a:rPr>
              <a:t>force is more compared to radial force. Thus, in asymmetrical V, the longer face is normally </a:t>
            </a:r>
            <a:r>
              <a:rPr lang="en-US" sz="2400" dirty="0" smtClean="0">
                <a:latin typeface="Times New Roman" panose="02020603050405020304" pitchFamily="18" charset="0"/>
                <a:cs typeface="Times New Roman" panose="02020603050405020304" pitchFamily="18" charset="0"/>
              </a:rPr>
              <a:t>made perpendicular </a:t>
            </a:r>
            <a:r>
              <a:rPr lang="en-US" sz="2400" dirty="0">
                <a:latin typeface="Times New Roman" panose="02020603050405020304" pitchFamily="18" charset="0"/>
                <a:cs typeface="Times New Roman" panose="02020603050405020304" pitchFamily="18" charset="0"/>
              </a:rPr>
              <a:t>to the direction of the resultant force. This allows for uniform wear in both the faces.</a:t>
            </a:r>
          </a:p>
        </p:txBody>
      </p:sp>
      <p:sp>
        <p:nvSpPr>
          <p:cNvPr id="4" name="Slide Number Placeholder 3"/>
          <p:cNvSpPr>
            <a:spLocks noGrp="1"/>
          </p:cNvSpPr>
          <p:nvPr>
            <p:ph type="sldNum" sz="quarter" idx="12"/>
          </p:nvPr>
        </p:nvSpPr>
        <p:spPr/>
        <p:txBody>
          <a:bodyPr/>
          <a:lstStyle/>
          <a:p>
            <a:fld id="{0DDAE0EB-FA32-4F7F-BC58-5B5864675FFA}" type="slidenum">
              <a:rPr lang="en-US" smtClean="0"/>
              <a:pPr/>
              <a:t>23</a:t>
            </a:fld>
            <a:endParaRPr lang="en-US"/>
          </a:p>
        </p:txBody>
      </p:sp>
    </p:spTree>
    <p:extLst>
      <p:ext uri="{BB962C8B-B14F-4D97-AF65-F5344CB8AC3E}">
        <p14:creationId xmlns="" xmlns:p14="http://schemas.microsoft.com/office/powerpoint/2010/main" val="33731744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2043" y="355935"/>
            <a:ext cx="11163138" cy="6140558"/>
          </a:xfrm>
        </p:spPr>
        <p:txBody>
          <a:bodyPr>
            <a:normAutofit/>
          </a:bodyPr>
          <a:lstStyle/>
          <a:p>
            <a:pPr marL="0" indent="0" algn="just">
              <a:buNone/>
            </a:pPr>
            <a:r>
              <a:rPr lang="en-US" sz="2400" b="1" dirty="0" smtClean="0">
                <a:latin typeface="Times New Roman" panose="02020603050405020304" pitchFamily="18" charset="0"/>
                <a:cs typeface="Times New Roman" panose="02020603050405020304" pitchFamily="18" charset="0"/>
              </a:rPr>
              <a:t>FLAT SLIDEWAYS</a:t>
            </a:r>
          </a:p>
          <a:p>
            <a:pPr algn="just"/>
            <a:r>
              <a:rPr lang="en-US" sz="2400" dirty="0">
                <a:latin typeface="Times New Roman" panose="02020603050405020304" pitchFamily="18" charset="0"/>
                <a:cs typeface="Times New Roman" panose="02020603050405020304" pitchFamily="18" charset="0"/>
              </a:rPr>
              <a:t>Flat </a:t>
            </a:r>
            <a:r>
              <a:rPr lang="en-US" sz="2400" dirty="0" err="1">
                <a:latin typeface="Times New Roman" panose="02020603050405020304" pitchFamily="18" charset="0"/>
                <a:cs typeface="Times New Roman" panose="02020603050405020304" pitchFamily="18" charset="0"/>
              </a:rPr>
              <a:t>slideways</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are </a:t>
            </a:r>
            <a:r>
              <a:rPr lang="en-US" sz="2400" dirty="0">
                <a:latin typeface="Times New Roman" panose="02020603050405020304" pitchFamily="18" charset="0"/>
                <a:cs typeface="Times New Roman" panose="02020603050405020304" pitchFamily="18" charset="0"/>
              </a:rPr>
              <a:t>easier to manufacture and are able to provide a large amount of bearing </a:t>
            </a:r>
            <a:r>
              <a:rPr lang="en-US" sz="2400" dirty="0" smtClean="0">
                <a:latin typeface="Times New Roman" panose="02020603050405020304" pitchFamily="18" charset="0"/>
                <a:cs typeface="Times New Roman" panose="02020603050405020304" pitchFamily="18" charset="0"/>
              </a:rPr>
              <a:t>area. However</a:t>
            </a:r>
            <a:r>
              <a:rPr lang="en-US" sz="2400" dirty="0">
                <a:latin typeface="Times New Roman" panose="02020603050405020304" pitchFamily="18" charset="0"/>
                <a:cs typeface="Times New Roman" panose="02020603050405020304" pitchFamily="18" charset="0"/>
              </a:rPr>
              <a:t>, the locational accuracy and other advantages provided by the V-</a:t>
            </a:r>
            <a:r>
              <a:rPr lang="en-US" sz="2400" dirty="0" err="1">
                <a:latin typeface="Times New Roman" panose="02020603050405020304" pitchFamily="18" charset="0"/>
                <a:cs typeface="Times New Roman" panose="02020603050405020304" pitchFamily="18" charset="0"/>
              </a:rPr>
              <a:t>slideways</a:t>
            </a:r>
            <a:r>
              <a:rPr lang="en-US" sz="2400" dirty="0">
                <a:latin typeface="Times New Roman" panose="02020603050405020304" pitchFamily="18" charset="0"/>
                <a:cs typeface="Times New Roman" panose="02020603050405020304" pitchFamily="18" charset="0"/>
              </a:rPr>
              <a:t> are missing. </a:t>
            </a:r>
            <a:r>
              <a:rPr lang="en-US" sz="2400" dirty="0" smtClean="0">
                <a:latin typeface="Times New Roman" panose="02020603050405020304" pitchFamily="18" charset="0"/>
                <a:cs typeface="Times New Roman" panose="02020603050405020304" pitchFamily="18" charset="0"/>
              </a:rPr>
              <a:t>Hence the </a:t>
            </a:r>
            <a:r>
              <a:rPr lang="en-US" sz="2400" dirty="0">
                <a:latin typeface="Times New Roman" panose="02020603050405020304" pitchFamily="18" charset="0"/>
                <a:cs typeface="Times New Roman" panose="02020603050405020304" pitchFamily="18" charset="0"/>
              </a:rPr>
              <a:t>flat </a:t>
            </a:r>
            <a:r>
              <a:rPr lang="en-US" sz="2400" dirty="0" err="1">
                <a:latin typeface="Times New Roman" panose="02020603050405020304" pitchFamily="18" charset="0"/>
                <a:cs typeface="Times New Roman" panose="02020603050405020304" pitchFamily="18" charset="0"/>
              </a:rPr>
              <a:t>slideways</a:t>
            </a:r>
            <a:r>
              <a:rPr lang="en-US" sz="2400" dirty="0">
                <a:latin typeface="Times New Roman" panose="02020603050405020304" pitchFamily="18" charset="0"/>
                <a:cs typeface="Times New Roman" panose="02020603050405020304" pitchFamily="18" charset="0"/>
              </a:rPr>
              <a:t> cannot be used on their own, but in conjunction with the V-</a:t>
            </a:r>
            <a:r>
              <a:rPr lang="en-US" sz="2400" dirty="0" err="1">
                <a:latin typeface="Times New Roman" panose="02020603050405020304" pitchFamily="18" charset="0"/>
                <a:cs typeface="Times New Roman" panose="02020603050405020304" pitchFamily="18" charset="0"/>
              </a:rPr>
              <a:t>slideways</a:t>
            </a:r>
            <a:r>
              <a:rPr lang="en-US" sz="2400" dirty="0" smtClean="0">
                <a:latin typeface="Times New Roman" panose="02020603050405020304" pitchFamily="18" charset="0"/>
                <a:cs typeface="Times New Roman" panose="02020603050405020304" pitchFamily="18" charset="0"/>
              </a:rPr>
              <a:t>.</a:t>
            </a:r>
          </a:p>
          <a:p>
            <a:pPr marL="0" indent="0" algn="just">
              <a:buNone/>
            </a:pPr>
            <a:r>
              <a:rPr lang="en-US" sz="2400" b="1" dirty="0" smtClean="0">
                <a:latin typeface="Times New Roman" panose="02020603050405020304" pitchFamily="18" charset="0"/>
                <a:cs typeface="Times New Roman" panose="02020603050405020304" pitchFamily="18" charset="0"/>
              </a:rPr>
              <a:t>ROUND SLIDEWAYS</a:t>
            </a:r>
          </a:p>
          <a:p>
            <a:pPr algn="just"/>
            <a:r>
              <a:rPr lang="en-US" sz="2400" dirty="0">
                <a:latin typeface="Times New Roman" panose="02020603050405020304" pitchFamily="18" charset="0"/>
                <a:cs typeface="Times New Roman" panose="02020603050405020304" pitchFamily="18" charset="0"/>
              </a:rPr>
              <a:t>Round </a:t>
            </a:r>
            <a:r>
              <a:rPr lang="en-US" sz="2400" dirty="0" err="1">
                <a:latin typeface="Times New Roman" panose="02020603050405020304" pitchFamily="18" charset="0"/>
                <a:cs typeface="Times New Roman" panose="02020603050405020304" pitchFamily="18" charset="0"/>
              </a:rPr>
              <a:t>slideways</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are </a:t>
            </a:r>
            <a:r>
              <a:rPr lang="en-US" sz="2400" dirty="0" err="1">
                <a:latin typeface="Times New Roman" panose="02020603050405020304" pitchFamily="18" charset="0"/>
                <a:cs typeface="Times New Roman" panose="02020603050405020304" pitchFamily="18" charset="0"/>
              </a:rPr>
              <a:t>kinematically</a:t>
            </a:r>
            <a:r>
              <a:rPr lang="en-US" sz="2400" dirty="0">
                <a:latin typeface="Times New Roman" panose="02020603050405020304" pitchFamily="18" charset="0"/>
                <a:cs typeface="Times New Roman" panose="02020603050405020304" pitchFamily="18" charset="0"/>
              </a:rPr>
              <a:t> sound since they constrain all possible motions except </a:t>
            </a:r>
            <a:r>
              <a:rPr lang="en-US" sz="2400" dirty="0" smtClean="0">
                <a:latin typeface="Times New Roman" panose="02020603050405020304" pitchFamily="18" charset="0"/>
                <a:cs typeface="Times New Roman" panose="02020603050405020304" pitchFamily="18" charset="0"/>
              </a:rPr>
              <a:t>the direction </a:t>
            </a:r>
            <a:r>
              <a:rPr lang="en-US" sz="2400" dirty="0">
                <a:latin typeface="Times New Roman" panose="02020603050405020304" pitchFamily="18" charset="0"/>
                <a:cs typeface="Times New Roman" panose="02020603050405020304" pitchFamily="18" charset="0"/>
              </a:rPr>
              <a:t>required, but are only used in vertical type of machines such as drilling (radial and pillar). </a:t>
            </a:r>
            <a:r>
              <a:rPr lang="en-US" sz="2400" dirty="0" smtClean="0">
                <a:latin typeface="Times New Roman" panose="02020603050405020304" pitchFamily="18" charset="0"/>
                <a:cs typeface="Times New Roman" panose="02020603050405020304" pitchFamily="18" charset="0"/>
              </a:rPr>
              <a:t>Main reasons </a:t>
            </a:r>
            <a:r>
              <a:rPr lang="en-US" sz="2400" dirty="0">
                <a:latin typeface="Times New Roman" panose="02020603050405020304" pitchFamily="18" charset="0"/>
                <a:cs typeface="Times New Roman" panose="02020603050405020304" pitchFamily="18" charset="0"/>
              </a:rPr>
              <a:t>for their non-acceptance are:</a:t>
            </a:r>
          </a:p>
          <a:p>
            <a:pPr marL="514350" indent="-514350" algn="just">
              <a:buFont typeface="+mj-lt"/>
              <a:buAutoNum type="alphaLcParenR"/>
            </a:pPr>
            <a:r>
              <a:rPr lang="en-US" sz="2400" dirty="0" smtClean="0">
                <a:latin typeface="Times New Roman" panose="02020603050405020304" pitchFamily="18" charset="0"/>
                <a:cs typeface="Times New Roman" panose="02020603050405020304" pitchFamily="18" charset="0"/>
              </a:rPr>
              <a:t>low rigidity</a:t>
            </a:r>
          </a:p>
          <a:p>
            <a:pPr marL="514350" indent="-514350" algn="just">
              <a:buFont typeface="+mj-lt"/>
              <a:buAutoNum type="alphaLcParenR"/>
            </a:pPr>
            <a:r>
              <a:rPr lang="en-US" sz="2400" dirty="0" smtClean="0">
                <a:latin typeface="Times New Roman" panose="02020603050405020304" pitchFamily="18" charset="0"/>
                <a:cs typeface="Times New Roman" panose="02020603050405020304" pitchFamily="18" charset="0"/>
              </a:rPr>
              <a:t>difficulties </a:t>
            </a:r>
            <a:r>
              <a:rPr lang="en-US" sz="2400" dirty="0">
                <a:latin typeface="Times New Roman" panose="02020603050405020304" pitchFamily="18" charset="0"/>
                <a:cs typeface="Times New Roman" panose="02020603050405020304" pitchFamily="18" charset="0"/>
              </a:rPr>
              <a:t>in manufacture to the given </a:t>
            </a:r>
            <a:r>
              <a:rPr lang="en-US" sz="2400" dirty="0" smtClean="0">
                <a:latin typeface="Times New Roman" panose="02020603050405020304" pitchFamily="18" charset="0"/>
                <a:cs typeface="Times New Roman" panose="02020603050405020304" pitchFamily="18" charset="0"/>
              </a:rPr>
              <a:t>accuracy</a:t>
            </a:r>
          </a:p>
          <a:p>
            <a:pPr marL="514350" indent="-514350" algn="just">
              <a:buFont typeface="+mj-lt"/>
              <a:buAutoNum type="alphaLcParenR"/>
            </a:pPr>
            <a:r>
              <a:rPr lang="en-US" sz="2400" dirty="0" smtClean="0">
                <a:latin typeface="Times New Roman" panose="02020603050405020304" pitchFamily="18" charset="0"/>
                <a:cs typeface="Times New Roman" panose="02020603050405020304" pitchFamily="18" charset="0"/>
              </a:rPr>
              <a:t>difficulties </a:t>
            </a:r>
            <a:r>
              <a:rPr lang="en-US" sz="2400" dirty="0">
                <a:latin typeface="Times New Roman" panose="02020603050405020304" pitchFamily="18" charset="0"/>
                <a:cs typeface="Times New Roman" panose="02020603050405020304" pitchFamily="18" charset="0"/>
              </a:rPr>
              <a:t>in assembling and the resultant accuracy in motion</a:t>
            </a:r>
          </a:p>
        </p:txBody>
      </p:sp>
      <p:sp>
        <p:nvSpPr>
          <p:cNvPr id="4" name="Slide Number Placeholder 3"/>
          <p:cNvSpPr>
            <a:spLocks noGrp="1"/>
          </p:cNvSpPr>
          <p:nvPr>
            <p:ph type="sldNum" sz="quarter" idx="12"/>
          </p:nvPr>
        </p:nvSpPr>
        <p:spPr/>
        <p:txBody>
          <a:bodyPr/>
          <a:lstStyle/>
          <a:p>
            <a:fld id="{0DDAE0EB-FA32-4F7F-BC58-5B5864675FFA}" type="slidenum">
              <a:rPr lang="en-US" smtClean="0"/>
              <a:pPr/>
              <a:t>24</a:t>
            </a:fld>
            <a:endParaRPr lang="en-US"/>
          </a:p>
        </p:txBody>
      </p:sp>
    </p:spTree>
    <p:extLst>
      <p:ext uri="{BB962C8B-B14F-4D97-AF65-F5344CB8AC3E}">
        <p14:creationId xmlns="" xmlns:p14="http://schemas.microsoft.com/office/powerpoint/2010/main" val="1278871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0457" y="370312"/>
            <a:ext cx="11694016" cy="3879649"/>
          </a:xfrm>
        </p:spPr>
        <p:txBody>
          <a:bodyPr>
            <a:normAutofit lnSpcReduction="10000"/>
          </a:bodyPr>
          <a:lstStyle/>
          <a:p>
            <a:pPr marL="0" indent="0" algn="just">
              <a:buNone/>
            </a:pPr>
            <a:r>
              <a:rPr lang="en-US" sz="2400" b="1" dirty="0" smtClean="0">
                <a:latin typeface="Times New Roman" panose="02020603050405020304" pitchFamily="18" charset="0"/>
                <a:cs typeface="Times New Roman" panose="02020603050405020304" pitchFamily="18" charset="0"/>
              </a:rPr>
              <a:t>DOVETAIL SLIDEWAYS</a:t>
            </a:r>
          </a:p>
          <a:p>
            <a:pPr algn="just"/>
            <a:r>
              <a:rPr lang="en-US" sz="2400" dirty="0">
                <a:latin typeface="Times New Roman" panose="02020603050405020304" pitchFamily="18" charset="0"/>
                <a:cs typeface="Times New Roman" panose="02020603050405020304" pitchFamily="18" charset="0"/>
              </a:rPr>
              <a:t>Dovetail </a:t>
            </a:r>
            <a:r>
              <a:rPr lang="en-US" sz="2400" dirty="0" err="1" smtClean="0">
                <a:latin typeface="Times New Roman" panose="02020603050405020304" pitchFamily="18" charset="0"/>
                <a:cs typeface="Times New Roman" panose="02020603050405020304" pitchFamily="18" charset="0"/>
              </a:rPr>
              <a:t>slideways</a:t>
            </a:r>
            <a:r>
              <a:rPr lang="en-US" sz="2400" dirty="0" smtClean="0">
                <a:latin typeface="Times New Roman" panose="02020603050405020304" pitchFamily="18" charset="0"/>
                <a:cs typeface="Times New Roman" panose="02020603050405020304" pitchFamily="18" charset="0"/>
              </a:rPr>
              <a:t> are </a:t>
            </a:r>
            <a:r>
              <a:rPr lang="en-US" sz="2400" dirty="0">
                <a:latin typeface="Times New Roman" panose="02020603050405020304" pitchFamily="18" charset="0"/>
                <a:cs typeface="Times New Roman" panose="02020603050405020304" pitchFamily="18" charset="0"/>
              </a:rPr>
              <a:t>compact, but difficult to manufacture. These are generally used </a:t>
            </a:r>
            <a:r>
              <a:rPr lang="en-US" sz="2400" dirty="0" smtClean="0">
                <a:latin typeface="Times New Roman" panose="02020603050405020304" pitchFamily="18" charset="0"/>
                <a:cs typeface="Times New Roman" panose="02020603050405020304" pitchFamily="18" charset="0"/>
              </a:rPr>
              <a:t>for vertical </a:t>
            </a:r>
            <a:r>
              <a:rPr lang="en-US" sz="2400" dirty="0">
                <a:latin typeface="Times New Roman" panose="02020603050405020304" pitchFamily="18" charset="0"/>
                <a:cs typeface="Times New Roman" panose="02020603050405020304" pitchFamily="18" charset="0"/>
              </a:rPr>
              <a:t>movement and where space is at a premium. However they provide good rigidity and </a:t>
            </a:r>
            <a:r>
              <a:rPr lang="en-US" sz="2400" dirty="0" smtClean="0">
                <a:latin typeface="Times New Roman" panose="02020603050405020304" pitchFamily="18" charset="0"/>
                <a:cs typeface="Times New Roman" panose="02020603050405020304" pitchFamily="18" charset="0"/>
              </a:rPr>
              <a:t>alignment. Dovetails </a:t>
            </a:r>
            <a:r>
              <a:rPr lang="en-US" sz="2400" dirty="0">
                <a:latin typeface="Times New Roman" panose="02020603050405020304" pitchFamily="18" charset="0"/>
                <a:cs typeface="Times New Roman" panose="02020603050405020304" pitchFamily="18" charset="0"/>
              </a:rPr>
              <a:t>are generally used in carriage of lathe, for moving knee of a milling machine</a:t>
            </a:r>
            <a:r>
              <a:rPr lang="en-US" sz="2400" dirty="0" smtClean="0">
                <a:latin typeface="Times New Roman" panose="02020603050405020304" pitchFamily="18" charset="0"/>
                <a:cs typeface="Times New Roman" panose="02020603050405020304" pitchFamily="18" charset="0"/>
              </a:rPr>
              <a:t>.</a:t>
            </a:r>
          </a:p>
          <a:p>
            <a:pPr marL="0" indent="0" algn="just">
              <a:buNone/>
            </a:pPr>
            <a:r>
              <a:rPr lang="en-US" sz="2400" b="1" dirty="0">
                <a:latin typeface="Times New Roman" panose="02020603050405020304" pitchFamily="18" charset="0"/>
                <a:cs typeface="Times New Roman" panose="02020603050405020304" pitchFamily="18" charset="0"/>
              </a:rPr>
              <a:t>Anti-friction </a:t>
            </a:r>
            <a:r>
              <a:rPr lang="en-US" sz="2400" b="1" dirty="0" err="1">
                <a:latin typeface="Times New Roman" panose="02020603050405020304" pitchFamily="18" charset="0"/>
                <a:cs typeface="Times New Roman" panose="02020603050405020304" pitchFamily="18" charset="0"/>
              </a:rPr>
              <a:t>Slideways</a:t>
            </a:r>
            <a:endParaRPr lang="en-US" sz="24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anti-friction </a:t>
            </a:r>
            <a:r>
              <a:rPr lang="en-US" sz="2400" dirty="0" err="1">
                <a:latin typeface="Times New Roman" panose="02020603050405020304" pitchFamily="18" charset="0"/>
                <a:cs typeface="Times New Roman" panose="02020603050405020304" pitchFamily="18" charset="0"/>
              </a:rPr>
              <a:t>guideways</a:t>
            </a:r>
            <a:r>
              <a:rPr lang="en-US" sz="2400" dirty="0">
                <a:latin typeface="Times New Roman" panose="02020603050405020304" pitchFamily="18" charset="0"/>
                <a:cs typeface="Times New Roman" panose="02020603050405020304" pitchFamily="18" charset="0"/>
              </a:rPr>
              <a:t> involve intermediate rolling members (balls or rollers) between the sliding </a:t>
            </a:r>
            <a:r>
              <a:rPr lang="en-US" sz="2400" dirty="0" smtClean="0">
                <a:latin typeface="Times New Roman" panose="02020603050405020304" pitchFamily="18" charset="0"/>
                <a:cs typeface="Times New Roman" panose="02020603050405020304" pitchFamily="18" charset="0"/>
              </a:rPr>
              <a:t>members, thus </a:t>
            </a:r>
            <a:r>
              <a:rPr lang="en-US" sz="2400" dirty="0">
                <a:latin typeface="Times New Roman" panose="02020603050405020304" pitchFamily="18" charset="0"/>
                <a:cs typeface="Times New Roman" panose="02020603050405020304" pitchFamily="18" charset="0"/>
              </a:rPr>
              <a:t>reducing the </a:t>
            </a:r>
            <a:r>
              <a:rPr lang="en-US" sz="2400" dirty="0" smtClean="0">
                <a:latin typeface="Times New Roman" panose="02020603050405020304" pitchFamily="18" charset="0"/>
                <a:cs typeface="Times New Roman" panose="02020603050405020304" pitchFamily="18" charset="0"/>
              </a:rPr>
              <a:t>friction</a:t>
            </a:r>
          </a:p>
          <a:p>
            <a:pPr algn="just"/>
            <a:r>
              <a:rPr lang="en-US" sz="2400" dirty="0">
                <a:latin typeface="Times New Roman" panose="02020603050405020304" pitchFamily="18" charset="0"/>
                <a:cs typeface="Times New Roman" panose="02020603050405020304" pitchFamily="18" charset="0"/>
              </a:rPr>
              <a:t>The use of anti-friction </a:t>
            </a:r>
            <a:r>
              <a:rPr lang="en-US" sz="2400" dirty="0" err="1">
                <a:latin typeface="Times New Roman" panose="02020603050405020304" pitchFamily="18" charset="0"/>
                <a:cs typeface="Times New Roman" panose="02020603050405020304" pitchFamily="18" charset="0"/>
              </a:rPr>
              <a:t>guideways</a:t>
            </a:r>
            <a:r>
              <a:rPr lang="en-US" sz="2400" dirty="0">
                <a:latin typeface="Times New Roman" panose="02020603050405020304" pitchFamily="18" charset="0"/>
                <a:cs typeface="Times New Roman" panose="02020603050405020304" pitchFamily="18" charset="0"/>
              </a:rPr>
              <a:t> because of the low friction during motion, and high stiffness, </a:t>
            </a:r>
            <a:r>
              <a:rPr lang="en-US" sz="2400" dirty="0" smtClean="0">
                <a:latin typeface="Times New Roman" panose="02020603050405020304" pitchFamily="18" charset="0"/>
                <a:cs typeface="Times New Roman" panose="02020603050405020304" pitchFamily="18" charset="0"/>
              </a:rPr>
              <a:t>will provide </a:t>
            </a:r>
            <a:r>
              <a:rPr lang="en-US" sz="2400" dirty="0">
                <a:latin typeface="Times New Roman" panose="02020603050405020304" pitchFamily="18" charset="0"/>
                <a:cs typeface="Times New Roman" panose="02020603050405020304" pitchFamily="18" charset="0"/>
              </a:rPr>
              <a:t>very high velocities possible for </a:t>
            </a:r>
            <a:r>
              <a:rPr lang="en-US" sz="2400" dirty="0" err="1">
                <a:latin typeface="Times New Roman" panose="02020603050405020304" pitchFamily="18" charset="0"/>
                <a:cs typeface="Times New Roman" panose="02020603050405020304" pitchFamily="18" charset="0"/>
              </a:rPr>
              <a:t>slideway</a:t>
            </a:r>
            <a:r>
              <a:rPr lang="en-US" sz="2400" dirty="0">
                <a:latin typeface="Times New Roman" panose="02020603050405020304" pitchFamily="18" charset="0"/>
                <a:cs typeface="Times New Roman" panose="02020603050405020304" pitchFamily="18" charset="0"/>
              </a:rPr>
              <a:t> movement. These are generally used in high </a:t>
            </a:r>
            <a:r>
              <a:rPr lang="en-US" sz="2400" dirty="0" smtClean="0">
                <a:latin typeface="Times New Roman" panose="02020603050405020304" pitchFamily="18" charset="0"/>
                <a:cs typeface="Times New Roman" panose="02020603050405020304" pitchFamily="18" charset="0"/>
              </a:rPr>
              <a:t>precision machine </a:t>
            </a:r>
            <a:r>
              <a:rPr lang="en-US" sz="2400" dirty="0">
                <a:latin typeface="Times New Roman" panose="02020603050405020304" pitchFamily="18" charset="0"/>
                <a:cs typeface="Times New Roman" panose="02020603050405020304" pitchFamily="18" charset="0"/>
              </a:rPr>
              <a:t>tools.</a:t>
            </a:r>
          </a:p>
        </p:txBody>
      </p:sp>
      <p:pic>
        <p:nvPicPr>
          <p:cNvPr id="4" name="Picture 3"/>
          <p:cNvPicPr>
            <a:picLocks noChangeAspect="1"/>
          </p:cNvPicPr>
          <p:nvPr/>
        </p:nvPicPr>
        <p:blipFill>
          <a:blip r:embed="rId2"/>
          <a:stretch>
            <a:fillRect/>
          </a:stretch>
        </p:blipFill>
        <p:spPr>
          <a:xfrm>
            <a:off x="2868031" y="4249962"/>
            <a:ext cx="5915025" cy="2505075"/>
          </a:xfrm>
          <a:prstGeom prst="rect">
            <a:avLst/>
          </a:prstGeom>
        </p:spPr>
      </p:pic>
      <p:sp>
        <p:nvSpPr>
          <p:cNvPr id="5" name="Slide Number Placeholder 4"/>
          <p:cNvSpPr>
            <a:spLocks noGrp="1"/>
          </p:cNvSpPr>
          <p:nvPr>
            <p:ph type="sldNum" sz="quarter" idx="12"/>
          </p:nvPr>
        </p:nvSpPr>
        <p:spPr/>
        <p:txBody>
          <a:bodyPr/>
          <a:lstStyle/>
          <a:p>
            <a:fld id="{0DDAE0EB-FA32-4F7F-BC58-5B5864675FFA}" type="slidenum">
              <a:rPr lang="en-US" smtClean="0"/>
              <a:pPr/>
              <a:t>25</a:t>
            </a:fld>
            <a:endParaRPr lang="en-US"/>
          </a:p>
        </p:txBody>
      </p:sp>
    </p:spTree>
    <p:extLst>
      <p:ext uri="{BB962C8B-B14F-4D97-AF65-F5344CB8AC3E}">
        <p14:creationId xmlns="" xmlns:p14="http://schemas.microsoft.com/office/powerpoint/2010/main" val="3461339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1363" y="2672390"/>
            <a:ext cx="10515600" cy="1325563"/>
          </a:xfrm>
        </p:spPr>
        <p:txBody>
          <a:bodyPr/>
          <a:lstStyle/>
          <a:p>
            <a:pPr algn="ctr"/>
            <a:r>
              <a:rPr lang="en-US" b="1" dirty="0" smtClean="0">
                <a:latin typeface="Times New Roman" pitchFamily="18" charset="0"/>
                <a:cs typeface="Times New Roman" pitchFamily="18" charset="0"/>
              </a:rPr>
              <a:t>MACHINE TOOL TESTING</a:t>
            </a:r>
            <a:endParaRPr lang="en-US" b="1"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0DDAE0EB-FA32-4F7F-BC58-5B5864675FFA}" type="slidenum">
              <a:rPr lang="en-US" smtClean="0"/>
              <a:pPr/>
              <a:t>26</a:t>
            </a:fld>
            <a:endParaRPr lang="en-US"/>
          </a:p>
        </p:txBody>
      </p:sp>
    </p:spTree>
    <p:extLst>
      <p:ext uri="{BB962C8B-B14F-4D97-AF65-F5344CB8AC3E}">
        <p14:creationId xmlns="" xmlns:p14="http://schemas.microsoft.com/office/powerpoint/2010/main" val="1294636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3190"/>
          </a:xfrm>
        </p:spPr>
        <p:txBody>
          <a:bodyPr>
            <a:normAutofit/>
          </a:bodyPr>
          <a:lstStyle/>
          <a:p>
            <a:r>
              <a:rPr lang="en-US" sz="3200" b="1" dirty="0" smtClean="0">
                <a:latin typeface="Times New Roman" pitchFamily="18" charset="0"/>
                <a:cs typeface="Times New Roman" pitchFamily="18" charset="0"/>
              </a:rPr>
              <a:t>MEASURING INSTRUMENTS USED FOR TESTING</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391632" y="1272731"/>
            <a:ext cx="11389241" cy="5330087"/>
          </a:xfrm>
        </p:spPr>
        <p:txBody>
          <a:bodyPr>
            <a:normAutofit/>
          </a:bodyPr>
          <a:lstStyle/>
          <a:p>
            <a:pPr algn="just"/>
            <a:r>
              <a:rPr lang="en-US" sz="2400" b="1" dirty="0" smtClean="0">
                <a:latin typeface="Times New Roman" pitchFamily="18" charset="0"/>
                <a:cs typeface="Times New Roman" pitchFamily="18" charset="0"/>
              </a:rPr>
              <a:t>Dial indicators: </a:t>
            </a:r>
            <a:r>
              <a:rPr lang="en-US" sz="2400" dirty="0" smtClean="0">
                <a:latin typeface="Times New Roman" pitchFamily="18" charset="0"/>
                <a:cs typeface="Times New Roman" pitchFamily="18" charset="0"/>
              </a:rPr>
              <a:t>This is the most common instrument used for measuring the accuracy of the machine tool elements. A least count of 0.01 mm is generally sufficient for carrying out the tests. The plunger pressure should not be too low, which may interfere with some measurements involving the swing over, where the dial indicator may have to be in an inverted position. The dial indicator should be fixed to a rigid base with a sufficiently large and flat bearing surface. </a:t>
            </a:r>
          </a:p>
          <a:p>
            <a:pPr algn="just"/>
            <a:r>
              <a:rPr lang="en-US" sz="2400" b="1" dirty="0" smtClean="0">
                <a:latin typeface="Times New Roman" pitchFamily="18" charset="0"/>
                <a:cs typeface="Times New Roman" pitchFamily="18" charset="0"/>
              </a:rPr>
              <a:t>Test mandrels</a:t>
            </a:r>
            <a:r>
              <a:rPr lang="en-US" sz="2400" dirty="0" smtClean="0">
                <a:latin typeface="Times New Roman" pitchFamily="18" charset="0"/>
                <a:cs typeface="Times New Roman" pitchFamily="18" charset="0"/>
              </a:rPr>
              <a:t>: Test mandrels of large variety are used in machine tool testing for various purposes. As a result, the quality of the test mandrel is important. The roundness and straightness of the mandrel is </a:t>
            </a:r>
            <a:r>
              <a:rPr lang="en-US" sz="2400" dirty="0" err="1" smtClean="0">
                <a:latin typeface="Times New Roman" pitchFamily="18" charset="0"/>
                <a:cs typeface="Times New Roman" pitchFamily="18" charset="0"/>
              </a:rPr>
              <a:t>important</a:t>
            </a:r>
            <a:r>
              <a:rPr lang="en-US" sz="2400" dirty="0" smtClean="0">
                <a:latin typeface="Times New Roman" pitchFamily="18" charset="0"/>
                <a:cs typeface="Times New Roman" pitchFamily="18" charset="0"/>
              </a:rPr>
              <a:t> for measuring various accuracies. In case of large length mandrels, careful consideration will have to be given to the deflection of the mandrel due to its own weight while testing. It may therefore be desirable to have hollow mandrels for large lengths. The diameter of the mandrel may have to be increased to improve the rigidity of the mandrel. The measuring length of the mandrel may vary from 100 mm to 500 mm for most cases</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DDAE0EB-FA32-4F7F-BC58-5B5864675FFA}"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6572" y="283904"/>
            <a:ext cx="11506200" cy="2608152"/>
          </a:xfrm>
        </p:spPr>
        <p:txBody>
          <a:bodyPr>
            <a:normAutofit/>
          </a:bodyPr>
          <a:lstStyle/>
          <a:p>
            <a:pPr algn="just"/>
            <a:r>
              <a:rPr lang="en-US" sz="2400" b="1" dirty="0" smtClean="0">
                <a:latin typeface="Times New Roman" pitchFamily="18" charset="0"/>
                <a:cs typeface="Times New Roman" pitchFamily="18" charset="0"/>
              </a:rPr>
              <a:t>Straight edges: </a:t>
            </a:r>
            <a:r>
              <a:rPr lang="en-US" sz="2400" dirty="0" smtClean="0">
                <a:latin typeface="Times New Roman" pitchFamily="18" charset="0"/>
                <a:cs typeface="Times New Roman" pitchFamily="18" charset="0"/>
              </a:rPr>
              <a:t>Heavy and internal stress free straight edges of sufficient length made of steel or cast iron would be used. They should have sufficiently large bearing area and ground to close tolerances with </a:t>
            </a:r>
            <a:r>
              <a:rPr lang="en-US" sz="2400" dirty="0" err="1" smtClean="0">
                <a:latin typeface="Times New Roman" pitchFamily="18" charset="0"/>
                <a:cs typeface="Times New Roman" pitchFamily="18" charset="0"/>
              </a:rPr>
              <a:t>squareness</a:t>
            </a:r>
            <a:r>
              <a:rPr lang="en-US" sz="2400" dirty="0" smtClean="0">
                <a:latin typeface="Times New Roman" pitchFamily="18" charset="0"/>
                <a:cs typeface="Times New Roman" pitchFamily="18" charset="0"/>
              </a:rPr>
              <a:t> of the order of ± 0.01 mm. </a:t>
            </a:r>
          </a:p>
          <a:p>
            <a:pPr algn="just"/>
            <a:r>
              <a:rPr lang="en-US" sz="2400" b="1" dirty="0" smtClean="0">
                <a:latin typeface="Times New Roman" pitchFamily="18" charset="0"/>
                <a:cs typeface="Times New Roman" pitchFamily="18" charset="0"/>
              </a:rPr>
              <a:t>Spirit levels</a:t>
            </a:r>
            <a:r>
              <a:rPr lang="en-US" sz="2400" dirty="0" smtClean="0">
                <a:latin typeface="Times New Roman" pitchFamily="18" charset="0"/>
                <a:cs typeface="Times New Roman" pitchFamily="18" charset="0"/>
              </a:rPr>
              <a:t>: Before carrying out the machine tool tests it is necessary to level the machine tool both in the longitudinal direction as well as the lateral direction. For this purpose, the spirit levels are used. The spirit level with sensitivity of the order of 0.01 mm per </a:t>
            </a:r>
            <a:r>
              <a:rPr lang="en-US" sz="2400" dirty="0" err="1" smtClean="0">
                <a:latin typeface="Times New Roman" pitchFamily="18" charset="0"/>
                <a:cs typeface="Times New Roman" pitchFamily="18" charset="0"/>
              </a:rPr>
              <a:t>metre</a:t>
            </a:r>
            <a:r>
              <a:rPr lang="en-US" sz="2400" dirty="0" smtClean="0">
                <a:latin typeface="Times New Roman" pitchFamily="18" charset="0"/>
                <a:cs typeface="Times New Roman" pitchFamily="18" charset="0"/>
              </a:rPr>
              <a:t> length would be sufficient.</a:t>
            </a:r>
            <a:endParaRPr lang="en-US" sz="2400" dirty="0">
              <a:latin typeface="Times New Roman" pitchFamily="18" charset="0"/>
              <a:cs typeface="Times New Roman" pitchFamily="18" charset="0"/>
            </a:endParaRPr>
          </a:p>
        </p:txBody>
      </p:sp>
      <p:pic>
        <p:nvPicPr>
          <p:cNvPr id="7170" name="Picture 2" descr="C:\Users\CAD LAB\Downloads\unnamed.jpg"/>
          <p:cNvPicPr>
            <a:picLocks noChangeAspect="1" noChangeArrowheads="1"/>
          </p:cNvPicPr>
          <p:nvPr/>
        </p:nvPicPr>
        <p:blipFill>
          <a:blip r:embed="rId2"/>
          <a:srcRect/>
          <a:stretch>
            <a:fillRect/>
          </a:stretch>
        </p:blipFill>
        <p:spPr bwMode="auto">
          <a:xfrm>
            <a:off x="786810" y="3133503"/>
            <a:ext cx="2243470" cy="2120780"/>
          </a:xfrm>
          <a:prstGeom prst="rect">
            <a:avLst/>
          </a:prstGeom>
          <a:noFill/>
        </p:spPr>
      </p:pic>
      <p:pic>
        <p:nvPicPr>
          <p:cNvPr id="7171" name="Picture 3" descr="C:\Users\CAD LAB\Downloads\test-mandrels.jpg"/>
          <p:cNvPicPr>
            <a:picLocks noChangeAspect="1" noChangeArrowheads="1"/>
          </p:cNvPicPr>
          <p:nvPr/>
        </p:nvPicPr>
        <p:blipFill>
          <a:blip r:embed="rId3"/>
          <a:srcRect l="7507" t="13498" r="5200" b="17293"/>
          <a:stretch>
            <a:fillRect/>
          </a:stretch>
        </p:blipFill>
        <p:spPr bwMode="auto">
          <a:xfrm>
            <a:off x="4274287" y="3051544"/>
            <a:ext cx="2668774" cy="2115908"/>
          </a:xfrm>
          <a:prstGeom prst="rect">
            <a:avLst/>
          </a:prstGeom>
          <a:noFill/>
        </p:spPr>
      </p:pic>
      <p:pic>
        <p:nvPicPr>
          <p:cNvPr id="7172" name="Picture 4" descr="C:\Users\CAD LAB\Downloads\download.jpg"/>
          <p:cNvPicPr>
            <a:picLocks noChangeAspect="1" noChangeArrowheads="1"/>
          </p:cNvPicPr>
          <p:nvPr/>
        </p:nvPicPr>
        <p:blipFill>
          <a:blip r:embed="rId4"/>
          <a:srcRect l="4328" r="4204"/>
          <a:stretch>
            <a:fillRect/>
          </a:stretch>
        </p:blipFill>
        <p:spPr bwMode="auto">
          <a:xfrm>
            <a:off x="8282763" y="2762362"/>
            <a:ext cx="2604976" cy="1609725"/>
          </a:xfrm>
          <a:prstGeom prst="rect">
            <a:avLst/>
          </a:prstGeom>
          <a:noFill/>
        </p:spPr>
      </p:pic>
      <p:pic>
        <p:nvPicPr>
          <p:cNvPr id="7173" name="Picture 5" descr="C:\Users\CAD LAB\Downloads\download.png"/>
          <p:cNvPicPr>
            <a:picLocks noChangeAspect="1" noChangeArrowheads="1"/>
          </p:cNvPicPr>
          <p:nvPr/>
        </p:nvPicPr>
        <p:blipFill>
          <a:blip r:embed="rId5"/>
          <a:srcRect/>
          <a:stretch>
            <a:fillRect/>
          </a:stretch>
        </p:blipFill>
        <p:spPr bwMode="auto">
          <a:xfrm>
            <a:off x="7940416" y="5030308"/>
            <a:ext cx="3286125" cy="1390650"/>
          </a:xfrm>
          <a:prstGeom prst="rect">
            <a:avLst/>
          </a:prstGeom>
          <a:noFill/>
        </p:spPr>
      </p:pic>
      <p:sp>
        <p:nvSpPr>
          <p:cNvPr id="7" name="Slide Number Placeholder 6"/>
          <p:cNvSpPr>
            <a:spLocks noGrp="1"/>
          </p:cNvSpPr>
          <p:nvPr>
            <p:ph type="sldNum" sz="quarter" idx="12"/>
          </p:nvPr>
        </p:nvSpPr>
        <p:spPr/>
        <p:txBody>
          <a:bodyPr/>
          <a:lstStyle/>
          <a:p>
            <a:fld id="{0DDAE0EB-FA32-4F7F-BC58-5B5864675FFA}"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2559"/>
          </a:xfrm>
        </p:spPr>
        <p:txBody>
          <a:bodyPr>
            <a:normAutofit/>
          </a:bodyPr>
          <a:lstStyle/>
          <a:p>
            <a:r>
              <a:rPr lang="en-US" sz="3200" b="1" dirty="0" smtClean="0">
                <a:latin typeface="Times New Roman" pitchFamily="18" charset="0"/>
                <a:cs typeface="Times New Roman" pitchFamily="18" charset="0"/>
              </a:rPr>
              <a:t>TEST PROCEDURES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327837" y="1113242"/>
            <a:ext cx="11421140" cy="5457679"/>
          </a:xfrm>
        </p:spPr>
        <p:txBody>
          <a:bodyPr>
            <a:noAutofit/>
          </a:bodyPr>
          <a:lstStyle/>
          <a:p>
            <a:pPr algn="just"/>
            <a:r>
              <a:rPr lang="en-US" sz="2400" dirty="0" smtClean="0">
                <a:latin typeface="Times New Roman" pitchFamily="18" charset="0"/>
                <a:cs typeface="Times New Roman" pitchFamily="18" charset="0"/>
              </a:rPr>
              <a:t>The major tests that are to be conducted on the machine tools are: </a:t>
            </a:r>
          </a:p>
          <a:p>
            <a:pPr marL="514350" indent="-514350" algn="just">
              <a:buAutoNum type="alphaLcParenBoth"/>
            </a:pPr>
            <a:r>
              <a:rPr lang="en-US" sz="2400" dirty="0" smtClean="0">
                <a:latin typeface="Times New Roman" pitchFamily="18" charset="0"/>
                <a:cs typeface="Times New Roman" pitchFamily="18" charset="0"/>
              </a:rPr>
              <a:t>Testing the quality of the </a:t>
            </a:r>
            <a:r>
              <a:rPr lang="en-US" sz="2400" dirty="0" err="1" smtClean="0">
                <a:latin typeface="Times New Roman" pitchFamily="18" charset="0"/>
                <a:cs typeface="Times New Roman" pitchFamily="18" charset="0"/>
              </a:rPr>
              <a:t>slideways</a:t>
            </a:r>
            <a:r>
              <a:rPr lang="en-US" sz="2400" dirty="0" smtClean="0">
                <a:latin typeface="Times New Roman" pitchFamily="18" charset="0"/>
                <a:cs typeface="Times New Roman" pitchFamily="18" charset="0"/>
              </a:rPr>
              <a:t> and the locating surfaces, </a:t>
            </a:r>
          </a:p>
          <a:p>
            <a:pPr marL="514350" indent="-514350" algn="just">
              <a:buAutoNum type="alphaLcParenBoth"/>
            </a:pPr>
            <a:r>
              <a:rPr lang="en-US" sz="2400" dirty="0" smtClean="0">
                <a:latin typeface="Times New Roman" pitchFamily="18" charset="0"/>
                <a:cs typeface="Times New Roman" pitchFamily="18" charset="0"/>
              </a:rPr>
              <a:t>Testing the accuracy of the main spindle and its alignment with respect to other parts of the machine tool, and </a:t>
            </a:r>
          </a:p>
          <a:p>
            <a:pPr marL="514350" indent="-514350" algn="just">
              <a:buAutoNum type="alphaLcParenBoth"/>
            </a:pPr>
            <a:r>
              <a:rPr lang="en-US" sz="2400" dirty="0" smtClean="0">
                <a:latin typeface="Times New Roman" pitchFamily="18" charset="0"/>
                <a:cs typeface="Times New Roman" pitchFamily="18" charset="0"/>
              </a:rPr>
              <a:t>The accuracy of the parts produced by the machine tool. </a:t>
            </a:r>
          </a:p>
          <a:p>
            <a:pPr marL="514350" indent="-514350" algn="just"/>
            <a:r>
              <a:rPr lang="en-US" sz="2400" dirty="0" smtClean="0">
                <a:latin typeface="Times New Roman" pitchFamily="18" charset="0"/>
                <a:cs typeface="Times New Roman" pitchFamily="18" charset="0"/>
              </a:rPr>
              <a:t>Before the tests are conducted it is important to ensure that the machine tool is at the normal working temperature in order to establish the accuracy of the machine tool in the normal working conditions. </a:t>
            </a:r>
          </a:p>
          <a:p>
            <a:pPr marL="514350" indent="-514350" algn="just"/>
            <a:r>
              <a:rPr lang="en-US" sz="2400" dirty="0" smtClean="0">
                <a:latin typeface="Times New Roman" pitchFamily="18" charset="0"/>
                <a:cs typeface="Times New Roman" pitchFamily="18" charset="0"/>
              </a:rPr>
              <a:t>For this purpose the machine tool should be run for a period (at least 30 minutes) which will bring all the bearing surfaces and spindles to the normal working temperature. </a:t>
            </a:r>
          </a:p>
          <a:p>
            <a:pPr marL="514350" indent="-514350" algn="just"/>
            <a:r>
              <a:rPr lang="en-US" sz="2400" dirty="0" smtClean="0">
                <a:latin typeface="Times New Roman" pitchFamily="18" charset="0"/>
                <a:cs typeface="Times New Roman" pitchFamily="18" charset="0"/>
              </a:rPr>
              <a:t>The test when conducted under this condition will reflect the actual accuracy that can be ensured throughout its working range.</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DDAE0EB-FA32-4F7F-BC58-5B5864675FFA}"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1634" y="198843"/>
            <a:ext cx="8592878" cy="6457138"/>
          </a:xfrm>
        </p:spPr>
        <p:txBody>
          <a:bodyPr>
            <a:normAutofit lnSpcReduction="10000"/>
          </a:bodyPr>
          <a:lstStyle/>
          <a:p>
            <a:pPr>
              <a:buNone/>
            </a:pPr>
            <a:r>
              <a:rPr lang="en-US" sz="2400" b="1" dirty="0" smtClean="0">
                <a:latin typeface="Times New Roman" pitchFamily="18" charset="0"/>
                <a:cs typeface="Times New Roman" pitchFamily="18" charset="0"/>
              </a:rPr>
              <a:t>1. Quality of </a:t>
            </a:r>
            <a:r>
              <a:rPr lang="en-US" sz="2400" b="1" dirty="0" err="1" smtClean="0">
                <a:latin typeface="Times New Roman" pitchFamily="18" charset="0"/>
                <a:cs typeface="Times New Roman" pitchFamily="18" charset="0"/>
              </a:rPr>
              <a:t>Slideways</a:t>
            </a:r>
            <a:r>
              <a:rPr lang="en-US" sz="2400" b="1" dirty="0" smtClean="0">
                <a:latin typeface="Times New Roman" pitchFamily="18" charset="0"/>
                <a:cs typeface="Times New Roman" pitchFamily="18" charset="0"/>
              </a:rPr>
              <a:t> </a:t>
            </a:r>
          </a:p>
          <a:p>
            <a:pPr algn="just">
              <a:buNone/>
            </a:pPr>
            <a:r>
              <a:rPr lang="en-US" sz="2400" dirty="0" smtClean="0">
                <a:latin typeface="Times New Roman" pitchFamily="18" charset="0"/>
                <a:cs typeface="Times New Roman" pitchFamily="18" charset="0"/>
              </a:rPr>
              <a:t>	To test the quality of the </a:t>
            </a:r>
            <a:r>
              <a:rPr lang="en-US" sz="2400" dirty="0" err="1" smtClean="0">
                <a:latin typeface="Times New Roman" pitchFamily="18" charset="0"/>
                <a:cs typeface="Times New Roman" pitchFamily="18" charset="0"/>
              </a:rPr>
              <a:t>slideways</a:t>
            </a:r>
            <a:r>
              <a:rPr lang="en-US" sz="2400" dirty="0" smtClean="0">
                <a:latin typeface="Times New Roman" pitchFamily="18" charset="0"/>
                <a:cs typeface="Times New Roman" pitchFamily="18" charset="0"/>
              </a:rPr>
              <a:t>, it is necessary to mount the dial indicator on a good datum surface. Then the plunger is moved along the longitudinal direction of the </a:t>
            </a:r>
            <a:r>
              <a:rPr lang="en-US" sz="2400" dirty="0" err="1" smtClean="0">
                <a:latin typeface="Times New Roman" pitchFamily="18" charset="0"/>
                <a:cs typeface="Times New Roman" pitchFamily="18" charset="0"/>
              </a:rPr>
              <a:t>slideways</a:t>
            </a:r>
            <a:r>
              <a:rPr lang="en-US" sz="2400" dirty="0" smtClean="0">
                <a:latin typeface="Times New Roman" pitchFamily="18" charset="0"/>
                <a:cs typeface="Times New Roman" pitchFamily="18" charset="0"/>
              </a:rPr>
              <a:t>, which will provide an indication of the undulations present on the surface of the </a:t>
            </a:r>
            <a:r>
              <a:rPr lang="en-US" sz="2400" dirty="0" err="1" smtClean="0">
                <a:latin typeface="Times New Roman" pitchFamily="18" charset="0"/>
                <a:cs typeface="Times New Roman" pitchFamily="18" charset="0"/>
              </a:rPr>
              <a:t>slideways</a:t>
            </a:r>
            <a:r>
              <a:rPr lang="en-US" sz="2400" dirty="0" smtClean="0">
                <a:latin typeface="Times New Roman" pitchFamily="18" charset="0"/>
                <a:cs typeface="Times New Roman" pitchFamily="18" charset="0"/>
              </a:rPr>
              <a:t>. The readings can be taken at fixed intervals (at least 10) along the length</a:t>
            </a:r>
          </a:p>
          <a:p>
            <a:pPr algn="just">
              <a:buNone/>
            </a:pPr>
            <a:r>
              <a:rPr lang="en-US" sz="2400" b="1" dirty="0" smtClean="0">
                <a:latin typeface="Times New Roman" pitchFamily="18" charset="0"/>
                <a:cs typeface="Times New Roman" pitchFamily="18" charset="0"/>
              </a:rPr>
              <a:t>2. Accuracy of Spindle </a:t>
            </a:r>
          </a:p>
          <a:p>
            <a:pPr algn="just">
              <a:buNone/>
            </a:pPr>
            <a:r>
              <a:rPr lang="en-US" sz="2400" dirty="0" smtClean="0">
                <a:latin typeface="Times New Roman" pitchFamily="18" charset="0"/>
                <a:cs typeface="Times New Roman" pitchFamily="18" charset="0"/>
              </a:rPr>
              <a:t>	These tests are related to the true running of the spindle and the centre located in the spindle along with the alignment, parallelism and perpendicularity of the spindle with the other axes (</a:t>
            </a:r>
            <a:r>
              <a:rPr lang="en-US" sz="2400" dirty="0" err="1" smtClean="0">
                <a:latin typeface="Times New Roman" pitchFamily="18" charset="0"/>
                <a:cs typeface="Times New Roman" pitchFamily="18" charset="0"/>
              </a:rPr>
              <a:t>slideways</a:t>
            </a:r>
            <a:r>
              <a:rPr lang="en-US" sz="2400" dirty="0" smtClean="0">
                <a:latin typeface="Times New Roman" pitchFamily="18" charset="0"/>
                <a:cs typeface="Times New Roman" pitchFamily="18" charset="0"/>
              </a:rPr>
              <a:t>) of the concerned machine tool.</a:t>
            </a:r>
          </a:p>
          <a:p>
            <a:pPr algn="just">
              <a:buNone/>
            </a:pPr>
            <a:r>
              <a:rPr lang="en-US" sz="2400" b="1" dirty="0" smtClean="0">
                <a:latin typeface="Times New Roman" pitchFamily="18" charset="0"/>
                <a:cs typeface="Times New Roman" pitchFamily="18" charset="0"/>
              </a:rPr>
              <a:t>True Running of the Centre </a:t>
            </a:r>
          </a:p>
          <a:p>
            <a:pPr algn="just">
              <a:buNone/>
            </a:pPr>
            <a:r>
              <a:rPr lang="en-US" sz="2400" dirty="0" smtClean="0">
                <a:latin typeface="Times New Roman" pitchFamily="18" charset="0"/>
                <a:cs typeface="Times New Roman" pitchFamily="18" charset="0"/>
              </a:rPr>
              <a:t>	The live centre may be loaded into the lathe spindle and a dial indicator is mounted as shown in Fig. 13.1. This test is required only for the machines where the work piece is held between </a:t>
            </a:r>
            <a:r>
              <a:rPr lang="en-US" sz="2400" dirty="0" err="1" smtClean="0">
                <a:latin typeface="Times New Roman" pitchFamily="18" charset="0"/>
                <a:cs typeface="Times New Roman" pitchFamily="18" charset="0"/>
              </a:rPr>
              <a:t>centres</a:t>
            </a:r>
            <a:r>
              <a:rPr lang="en-US" sz="2400" dirty="0" smtClean="0">
                <a:latin typeface="Times New Roman" pitchFamily="18" charset="0"/>
                <a:cs typeface="Times New Roman" pitchFamily="18" charset="0"/>
              </a:rPr>
              <a:t>. The readings of the dial indicator are taken while rotating the spindle through a full rotation</a:t>
            </a:r>
            <a:endParaRPr lang="en-US" sz="2400" dirty="0">
              <a:latin typeface="Times New Roman" pitchFamily="18" charset="0"/>
              <a:cs typeface="Times New Roman" pitchFamily="18" charset="0"/>
            </a:endParaRPr>
          </a:p>
        </p:txBody>
      </p:sp>
      <p:pic>
        <p:nvPicPr>
          <p:cNvPr id="8194" name="Picture 2"/>
          <p:cNvPicPr>
            <a:picLocks noChangeAspect="1" noChangeArrowheads="1"/>
          </p:cNvPicPr>
          <p:nvPr/>
        </p:nvPicPr>
        <p:blipFill>
          <a:blip r:embed="rId2"/>
          <a:srcRect/>
          <a:stretch>
            <a:fillRect/>
          </a:stretch>
        </p:blipFill>
        <p:spPr bwMode="auto">
          <a:xfrm>
            <a:off x="9582038" y="2761254"/>
            <a:ext cx="2221065" cy="1863909"/>
          </a:xfrm>
          <a:prstGeom prst="rect">
            <a:avLst/>
          </a:prstGeom>
          <a:noFill/>
          <a:ln w="9525">
            <a:noFill/>
            <a:miter lim="800000"/>
            <a:headEnd/>
            <a:tailEnd/>
          </a:ln>
          <a:effectLst/>
        </p:spPr>
      </p:pic>
      <p:sp>
        <p:nvSpPr>
          <p:cNvPr id="5" name="TextBox 4"/>
          <p:cNvSpPr txBox="1"/>
          <p:nvPr/>
        </p:nvSpPr>
        <p:spPr>
          <a:xfrm>
            <a:off x="9505506" y="4720856"/>
            <a:ext cx="2445489" cy="923330"/>
          </a:xfrm>
          <a:prstGeom prst="rect">
            <a:avLst/>
          </a:prstGeom>
          <a:noFill/>
        </p:spPr>
        <p:txBody>
          <a:bodyPr wrap="square" rtlCol="0">
            <a:spAutoFit/>
          </a:bodyPr>
          <a:lstStyle/>
          <a:p>
            <a:pPr algn="ctr"/>
            <a:r>
              <a:rPr lang="en-US" dirty="0" smtClean="0">
                <a:latin typeface="Times New Roman" pitchFamily="18" charset="0"/>
                <a:cs typeface="Times New Roman" pitchFamily="18" charset="0"/>
              </a:rPr>
              <a:t>Test setup for true running of the centre in the lathe spindle</a:t>
            </a:r>
            <a:endParaRPr lang="en-US"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0DDAE0EB-FA32-4F7F-BC58-5B5864675FFA}"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9101" y="347699"/>
            <a:ext cx="11463669" cy="2969659"/>
          </a:xfrm>
        </p:spPr>
        <p:txBody>
          <a:bodyPr>
            <a:normAutofit/>
          </a:bodyPr>
          <a:lstStyle/>
          <a:p>
            <a:pPr algn="just">
              <a:buNone/>
            </a:pPr>
            <a:r>
              <a:rPr lang="en-US" sz="2400" b="1" dirty="0" smtClean="0">
                <a:latin typeface="Times New Roman" pitchFamily="18" charset="0"/>
                <a:cs typeface="Times New Roman" pitchFamily="18" charset="0"/>
              </a:rPr>
              <a:t>True Running of the Spindle </a:t>
            </a:r>
          </a:p>
          <a:p>
            <a:pPr algn="just">
              <a:buNone/>
            </a:pPr>
            <a:r>
              <a:rPr lang="en-US" sz="2400" dirty="0" smtClean="0">
                <a:latin typeface="Times New Roman" pitchFamily="18" charset="0"/>
                <a:cs typeface="Times New Roman" pitchFamily="18" charset="0"/>
              </a:rPr>
              <a:t>	Taper shank of the test mandrel of about 300 mm in length is mounted into the spindle as shown in Fig. for a lathe. The plunger of the dial indicator rests on the cylindrical surface of the mandrel. The spindle is rotated slowly and the readings of the dial indicator are noted. The deviation should normally be less than 0.01 mm. The test is to be repeated with the dial indicator positioned close to the spindle bore as well as at the extreme end of the test mandrel. This test is to be carried out on all machines, which have the main running spindle.</a:t>
            </a:r>
            <a:endParaRPr lang="en-US" sz="2400" dirty="0">
              <a:latin typeface="Times New Roman" pitchFamily="18" charset="0"/>
              <a:cs typeface="Times New Roman" pitchFamily="18" charset="0"/>
            </a:endParaRPr>
          </a:p>
        </p:txBody>
      </p:sp>
      <p:pic>
        <p:nvPicPr>
          <p:cNvPr id="9218" name="Picture 2"/>
          <p:cNvPicPr>
            <a:picLocks noChangeAspect="1" noChangeArrowheads="1"/>
          </p:cNvPicPr>
          <p:nvPr/>
        </p:nvPicPr>
        <p:blipFill>
          <a:blip r:embed="rId2"/>
          <a:srcRect/>
          <a:stretch>
            <a:fillRect/>
          </a:stretch>
        </p:blipFill>
        <p:spPr bwMode="auto">
          <a:xfrm>
            <a:off x="4647204" y="3500659"/>
            <a:ext cx="2907790" cy="1719927"/>
          </a:xfrm>
          <a:prstGeom prst="rect">
            <a:avLst/>
          </a:prstGeom>
          <a:noFill/>
          <a:ln w="9525">
            <a:noFill/>
            <a:miter lim="800000"/>
            <a:headEnd/>
            <a:tailEnd/>
          </a:ln>
          <a:effectLst/>
        </p:spPr>
      </p:pic>
      <p:sp>
        <p:nvSpPr>
          <p:cNvPr id="5" name="TextBox 4"/>
          <p:cNvSpPr txBox="1"/>
          <p:nvPr/>
        </p:nvSpPr>
        <p:spPr>
          <a:xfrm>
            <a:off x="4635796" y="5475768"/>
            <a:ext cx="2923953" cy="646331"/>
          </a:xfrm>
          <a:prstGeom prst="rect">
            <a:avLst/>
          </a:prstGeom>
          <a:noFill/>
        </p:spPr>
        <p:txBody>
          <a:bodyPr wrap="square" rtlCol="0">
            <a:spAutoFit/>
          </a:bodyPr>
          <a:lstStyle/>
          <a:p>
            <a:pPr algn="ctr"/>
            <a:r>
              <a:rPr lang="en-US" dirty="0" smtClean="0">
                <a:latin typeface="Times New Roman" pitchFamily="18" charset="0"/>
                <a:cs typeface="Times New Roman" pitchFamily="18" charset="0"/>
              </a:rPr>
              <a:t>Test setup for true running of the spindle of a lathe</a:t>
            </a:r>
            <a:endParaRPr lang="en-US"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0DDAE0EB-FA32-4F7F-BC58-5B5864675FFA}"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7836" y="241373"/>
            <a:ext cx="11484935" cy="4522013"/>
          </a:xfrm>
        </p:spPr>
        <p:txBody>
          <a:bodyPr>
            <a:normAutofit/>
          </a:bodyPr>
          <a:lstStyle/>
          <a:p>
            <a:pPr algn="ctr">
              <a:buNone/>
            </a:pPr>
            <a:r>
              <a:rPr lang="en-US" sz="2400" b="1" dirty="0" smtClean="0">
                <a:latin typeface="Times New Roman" pitchFamily="18" charset="0"/>
                <a:cs typeface="Times New Roman" pitchFamily="18" charset="0"/>
              </a:rPr>
              <a:t>Alignment Tests </a:t>
            </a:r>
          </a:p>
          <a:p>
            <a:pPr algn="just">
              <a:buNone/>
            </a:pPr>
            <a:r>
              <a:rPr lang="en-US" sz="2400" dirty="0" smtClean="0">
                <a:latin typeface="Times New Roman" pitchFamily="18" charset="0"/>
                <a:cs typeface="Times New Roman" pitchFamily="18" charset="0"/>
              </a:rPr>
              <a:t>	These tests relate to the relative position of the spindle axis with the other axes of the machine tool</a:t>
            </a:r>
          </a:p>
          <a:p>
            <a:pPr algn="just">
              <a:buNone/>
            </a:pPr>
            <a:r>
              <a:rPr lang="en-US" sz="2400" b="1" dirty="0" smtClean="0">
                <a:latin typeface="Times New Roman" pitchFamily="18" charset="0"/>
                <a:cs typeface="Times New Roman" pitchFamily="18" charset="0"/>
              </a:rPr>
              <a:t>Spindle Alignment </a:t>
            </a:r>
          </a:p>
          <a:p>
            <a:pPr algn="just">
              <a:buNone/>
            </a:pPr>
            <a:r>
              <a:rPr lang="en-US" sz="2400" dirty="0" smtClean="0">
                <a:latin typeface="Times New Roman" pitchFamily="18" charset="0"/>
                <a:cs typeface="Times New Roman" pitchFamily="18" charset="0"/>
              </a:rPr>
              <a:t>	In this test, the dial indicator is mounted on one of the surfaces whose alignment is to be tested with another surface. For example, in the case of a horizontal axis milling machine, the testing of the alignment between the spindle and the over arm support can be done. The dial indicator is mounted on the spindle while a test mandrel will be mounted in the over arm support with the plunger of the dial indicator resting on the cylindrical surface of the test mandrel. The spindle is rotated and readings are taken when it is at different positions on the periphery of the test mandrel. The test may be conducted at the two extreme ends of the mandrel.</a:t>
            </a:r>
            <a:endParaRPr lang="en-US" sz="2400" dirty="0">
              <a:latin typeface="Times New Roman" pitchFamily="18" charset="0"/>
              <a:cs typeface="Times New Roman" pitchFamily="18" charset="0"/>
            </a:endParaRPr>
          </a:p>
        </p:txBody>
      </p:sp>
      <p:pic>
        <p:nvPicPr>
          <p:cNvPr id="10243" name="Picture 3"/>
          <p:cNvPicPr>
            <a:picLocks noChangeAspect="1" noChangeArrowheads="1"/>
          </p:cNvPicPr>
          <p:nvPr/>
        </p:nvPicPr>
        <p:blipFill>
          <a:blip r:embed="rId2"/>
          <a:srcRect/>
          <a:stretch>
            <a:fillRect/>
          </a:stretch>
        </p:blipFill>
        <p:spPr bwMode="auto">
          <a:xfrm>
            <a:off x="6331687" y="4404981"/>
            <a:ext cx="3280145" cy="2267159"/>
          </a:xfrm>
          <a:prstGeom prst="rect">
            <a:avLst/>
          </a:prstGeom>
          <a:noFill/>
          <a:ln w="9525">
            <a:noFill/>
            <a:miter lim="800000"/>
            <a:headEnd/>
            <a:tailEnd/>
          </a:ln>
          <a:effectLst/>
        </p:spPr>
      </p:pic>
      <p:sp>
        <p:nvSpPr>
          <p:cNvPr id="7" name="TextBox 6"/>
          <p:cNvSpPr txBox="1"/>
          <p:nvPr/>
        </p:nvSpPr>
        <p:spPr>
          <a:xfrm>
            <a:off x="2296634" y="5092996"/>
            <a:ext cx="3657600" cy="923330"/>
          </a:xfrm>
          <a:prstGeom prst="rect">
            <a:avLst/>
          </a:prstGeom>
          <a:noFill/>
        </p:spPr>
        <p:txBody>
          <a:bodyPr wrap="square" rtlCol="0">
            <a:spAutoFit/>
          </a:bodyPr>
          <a:lstStyle/>
          <a:p>
            <a:pPr algn="ctr"/>
            <a:r>
              <a:rPr lang="en-US" dirty="0" smtClean="0">
                <a:latin typeface="Times New Roman" pitchFamily="18" charset="0"/>
                <a:cs typeface="Times New Roman" pitchFamily="18" charset="0"/>
              </a:rPr>
              <a:t>Test setup for the spindle alignment of a milling machine with that of the over arm support</a:t>
            </a:r>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0DDAE0EB-FA32-4F7F-BC58-5B5864675FFA}"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265" y="496555"/>
            <a:ext cx="11346712" cy="2746375"/>
          </a:xfrm>
        </p:spPr>
        <p:txBody>
          <a:bodyPr>
            <a:normAutofit/>
          </a:bodyPr>
          <a:lstStyle/>
          <a:p>
            <a:pPr algn="just">
              <a:buNone/>
            </a:pPr>
            <a:r>
              <a:rPr lang="en-US" sz="2400" b="1" dirty="0" smtClean="0">
                <a:latin typeface="Times New Roman" pitchFamily="18" charset="0"/>
                <a:cs typeface="Times New Roman" pitchFamily="18" charset="0"/>
              </a:rPr>
              <a:t>Parallelism and Perpendicularity </a:t>
            </a:r>
          </a:p>
          <a:p>
            <a:pPr algn="just">
              <a:buNone/>
            </a:pPr>
            <a:r>
              <a:rPr lang="en-US" sz="2400" dirty="0" smtClean="0">
                <a:latin typeface="Times New Roman" pitchFamily="18" charset="0"/>
                <a:cs typeface="Times New Roman" pitchFamily="18" charset="0"/>
              </a:rPr>
              <a:t>	Parallelism or perpendicularity between two axes or two surfaces is normally to be measured in two planes, horizontal and vertical. For this purpose the test mandrel is mounted in the spindle for the lathe with the dial indicator mounted on the saddle or carriage. The plunger of the dial indicator touches the mandrel surface. The saddle is moved for a specified distance and the dial reading is noted. The test is to be repeated in the horizontal direction as well.</a:t>
            </a:r>
            <a:endParaRPr lang="en-US" sz="2400" dirty="0">
              <a:latin typeface="Times New Roman" pitchFamily="18" charset="0"/>
              <a:cs typeface="Times New Roman" pitchFamily="18" charset="0"/>
            </a:endParaRPr>
          </a:p>
        </p:txBody>
      </p:sp>
      <p:pic>
        <p:nvPicPr>
          <p:cNvPr id="11266" name="Picture 2"/>
          <p:cNvPicPr>
            <a:picLocks noChangeAspect="1" noChangeArrowheads="1"/>
          </p:cNvPicPr>
          <p:nvPr/>
        </p:nvPicPr>
        <p:blipFill>
          <a:blip r:embed="rId2"/>
          <a:srcRect/>
          <a:stretch>
            <a:fillRect/>
          </a:stretch>
        </p:blipFill>
        <p:spPr bwMode="auto">
          <a:xfrm>
            <a:off x="864292" y="3377694"/>
            <a:ext cx="3011672" cy="1882295"/>
          </a:xfrm>
          <a:prstGeom prst="rect">
            <a:avLst/>
          </a:prstGeom>
          <a:noFill/>
          <a:ln w="9525">
            <a:noFill/>
            <a:miter lim="800000"/>
            <a:headEnd/>
            <a:tailEnd/>
          </a:ln>
          <a:effectLst/>
        </p:spPr>
      </p:pic>
      <p:sp>
        <p:nvSpPr>
          <p:cNvPr id="5" name="TextBox 4"/>
          <p:cNvSpPr txBox="1"/>
          <p:nvPr/>
        </p:nvSpPr>
        <p:spPr>
          <a:xfrm>
            <a:off x="278352" y="5213762"/>
            <a:ext cx="3447487" cy="923330"/>
          </a:xfrm>
          <a:prstGeom prst="rect">
            <a:avLst/>
          </a:prstGeom>
          <a:noFill/>
        </p:spPr>
        <p:txBody>
          <a:bodyPr wrap="square" rtlCol="0">
            <a:spAutoFit/>
          </a:bodyPr>
          <a:lstStyle/>
          <a:p>
            <a:pPr algn="ctr"/>
            <a:r>
              <a:rPr lang="en-US" dirty="0" smtClean="0">
                <a:latin typeface="Times New Roman" pitchFamily="18" charset="0"/>
                <a:cs typeface="Times New Roman" pitchFamily="18" charset="0"/>
              </a:rPr>
              <a:t>Test setup for parallelism between the spindle axis and the </a:t>
            </a:r>
            <a:r>
              <a:rPr lang="en-US" dirty="0" err="1" smtClean="0">
                <a:latin typeface="Times New Roman" pitchFamily="18" charset="0"/>
                <a:cs typeface="Times New Roman" pitchFamily="18" charset="0"/>
              </a:rPr>
              <a:t>slideways</a:t>
            </a:r>
            <a:r>
              <a:rPr lang="en-US" dirty="0" smtClean="0">
                <a:latin typeface="Times New Roman" pitchFamily="18" charset="0"/>
                <a:cs typeface="Times New Roman" pitchFamily="18" charset="0"/>
              </a:rPr>
              <a:t> in a lathe</a:t>
            </a:r>
            <a:endParaRPr lang="en-US"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3"/>
          <a:srcRect/>
          <a:stretch>
            <a:fillRect/>
          </a:stretch>
        </p:blipFill>
        <p:spPr bwMode="auto">
          <a:xfrm>
            <a:off x="4124539" y="3439879"/>
            <a:ext cx="3198670" cy="1582500"/>
          </a:xfrm>
          <a:prstGeom prst="rect">
            <a:avLst/>
          </a:prstGeom>
          <a:noFill/>
          <a:ln w="9525">
            <a:noFill/>
            <a:miter lim="800000"/>
            <a:headEnd/>
            <a:tailEnd/>
          </a:ln>
          <a:effectLst/>
        </p:spPr>
      </p:pic>
      <p:sp>
        <p:nvSpPr>
          <p:cNvPr id="6" name="TextBox 5"/>
          <p:cNvSpPr txBox="1"/>
          <p:nvPr/>
        </p:nvSpPr>
        <p:spPr>
          <a:xfrm>
            <a:off x="4626590" y="5254388"/>
            <a:ext cx="2715905" cy="923330"/>
          </a:xfrm>
          <a:prstGeom prst="rect">
            <a:avLst/>
          </a:prstGeom>
          <a:noFill/>
        </p:spPr>
        <p:txBody>
          <a:bodyPr wrap="square" rtlCol="0">
            <a:spAutoFit/>
          </a:bodyPr>
          <a:lstStyle/>
          <a:p>
            <a:pPr algn="ctr"/>
            <a:r>
              <a:rPr lang="en-IN" dirty="0" smtClean="0">
                <a:latin typeface="Times New Roman" pitchFamily="18" charset="0"/>
                <a:cs typeface="Times New Roman" pitchFamily="18" charset="0"/>
              </a:rPr>
              <a:t>Test setup for the parallelism of the tail stock sleeve</a:t>
            </a:r>
            <a:endParaRPr lang="en-IN" dirty="0">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4"/>
          <a:srcRect/>
          <a:stretch>
            <a:fillRect/>
          </a:stretch>
        </p:blipFill>
        <p:spPr bwMode="auto">
          <a:xfrm>
            <a:off x="7871773" y="3283995"/>
            <a:ext cx="3790950" cy="1600200"/>
          </a:xfrm>
          <a:prstGeom prst="rect">
            <a:avLst/>
          </a:prstGeom>
          <a:noFill/>
          <a:ln w="9525">
            <a:noFill/>
            <a:miter lim="800000"/>
            <a:headEnd/>
            <a:tailEnd/>
          </a:ln>
          <a:effectLst/>
        </p:spPr>
      </p:pic>
      <p:sp>
        <p:nvSpPr>
          <p:cNvPr id="8" name="TextBox 7"/>
          <p:cNvSpPr txBox="1"/>
          <p:nvPr/>
        </p:nvSpPr>
        <p:spPr>
          <a:xfrm>
            <a:off x="8065827" y="5172501"/>
            <a:ext cx="3425588" cy="646331"/>
          </a:xfrm>
          <a:prstGeom prst="rect">
            <a:avLst/>
          </a:prstGeom>
          <a:noFill/>
        </p:spPr>
        <p:txBody>
          <a:bodyPr wrap="square" rtlCol="0">
            <a:spAutoFit/>
          </a:bodyPr>
          <a:lstStyle/>
          <a:p>
            <a:pPr algn="ctr"/>
            <a:r>
              <a:rPr lang="en-IN" dirty="0" smtClean="0">
                <a:latin typeface="Times New Roman" pitchFamily="18" charset="0"/>
                <a:cs typeface="Times New Roman" pitchFamily="18" charset="0"/>
              </a:rPr>
              <a:t>Test setup for the parallelism of the line of centres in a lathe</a:t>
            </a:r>
            <a:endParaRPr lang="en-IN" dirty="0">
              <a:latin typeface="Times New Roman" pitchFamily="18" charset="0"/>
              <a:cs typeface="Times New Roman" pitchFamily="18" charset="0"/>
            </a:endParaRPr>
          </a:p>
        </p:txBody>
      </p:sp>
      <p:sp>
        <p:nvSpPr>
          <p:cNvPr id="9" name="Slide Number Placeholder 8"/>
          <p:cNvSpPr>
            <a:spLocks noGrp="1"/>
          </p:cNvSpPr>
          <p:nvPr>
            <p:ph type="sldNum" sz="quarter" idx="12"/>
          </p:nvPr>
        </p:nvSpPr>
        <p:spPr/>
        <p:txBody>
          <a:bodyPr/>
          <a:lstStyle/>
          <a:p>
            <a:fld id="{0DDAE0EB-FA32-4F7F-BC58-5B5864675FFA}" type="slidenum">
              <a:rPr lang="en-US" smtClean="0"/>
              <a:pPr/>
              <a:t>33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462</TotalTime>
  <Words>3289</Words>
  <Application>Microsoft Office PowerPoint</Application>
  <PresentationFormat>Custom</PresentationFormat>
  <Paragraphs>203</Paragraphs>
  <Slides>33</Slides>
  <Notes>1</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MACHINING SCIENCE AND MACHINE TOOLS</vt:lpstr>
      <vt:lpstr>MACHINE TOOLS</vt:lpstr>
      <vt:lpstr>CLASSIFICATION OF MACHINE TOOLS</vt:lpstr>
      <vt:lpstr>Slide 4</vt:lpstr>
      <vt:lpstr>Slide 5</vt:lpstr>
      <vt:lpstr>Slide 6</vt:lpstr>
      <vt:lpstr>GENERATING AND FORMING</vt:lpstr>
      <vt:lpstr>Slide 8</vt:lpstr>
      <vt:lpstr>BASIC ELEMENTS OF MACHINE TOOLS</vt:lpstr>
      <vt:lpstr>MACHINE TOOL DRIVES</vt:lpstr>
      <vt:lpstr>Stepped Speed Drives</vt:lpstr>
      <vt:lpstr>Slide 12</vt:lpstr>
      <vt:lpstr>Stepless Speed Drives</vt:lpstr>
      <vt:lpstr>Slide 14</vt:lpstr>
      <vt:lpstr>Slide 15</vt:lpstr>
      <vt:lpstr>Slide 16</vt:lpstr>
      <vt:lpstr>Slide 17</vt:lpstr>
      <vt:lpstr>Slide 18</vt:lpstr>
      <vt:lpstr>Lead Screws</vt:lpstr>
      <vt:lpstr>GUIDEWAYS (SLIDEWAYS)</vt:lpstr>
      <vt:lpstr>Slide 21</vt:lpstr>
      <vt:lpstr>TYPES OF SLIDEWAYS</vt:lpstr>
      <vt:lpstr>Slide 23</vt:lpstr>
      <vt:lpstr>Slide 24</vt:lpstr>
      <vt:lpstr>Slide 25</vt:lpstr>
      <vt:lpstr>MACHINE TOOL TESTING</vt:lpstr>
      <vt:lpstr>MEASURING INSTRUMENTS USED FOR TESTING</vt:lpstr>
      <vt:lpstr>Slide 28</vt:lpstr>
      <vt:lpstr>TEST PROCEDURES</vt:lpstr>
      <vt:lpstr>Slide 30</vt:lpstr>
      <vt:lpstr>Slide 31</vt:lpstr>
      <vt:lpstr>Slide 32</vt:lpstr>
      <vt:lpstr>Slide 33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dc:creator>
  <cp:lastModifiedBy>USER</cp:lastModifiedBy>
  <cp:revision>56</cp:revision>
  <dcterms:created xsi:type="dcterms:W3CDTF">2024-01-02T15:49:09Z</dcterms:created>
  <dcterms:modified xsi:type="dcterms:W3CDTF">2024-10-09T15:19:20Z</dcterms:modified>
</cp:coreProperties>
</file>