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258" r:id="rId4"/>
    <p:sldId id="259" r:id="rId5"/>
    <p:sldId id="260" r:id="rId6"/>
    <p:sldId id="263" r:id="rId7"/>
    <p:sldId id="261" r:id="rId8"/>
    <p:sldId id="262" r:id="rId9"/>
    <p:sldId id="264" r:id="rId10"/>
    <p:sldId id="269" r:id="rId11"/>
    <p:sldId id="265" r:id="rId12"/>
    <p:sldId id="268" r:id="rId13"/>
    <p:sldId id="270" r:id="rId14"/>
    <p:sldId id="266" r:id="rId15"/>
    <p:sldId id="267" r:id="rId16"/>
    <p:sldId id="271" r:id="rId17"/>
    <p:sldId id="272" r:id="rId18"/>
    <p:sldId id="273" r:id="rId19"/>
    <p:sldId id="274" r:id="rId20"/>
    <p:sldId id="275" r:id="rId21"/>
    <p:sldId id="276" r:id="rId22"/>
    <p:sldId id="277" r:id="rId23"/>
    <p:sldId id="278" r:id="rId24"/>
    <p:sldId id="279" r:id="rId25"/>
    <p:sldId id="281" r:id="rId26"/>
    <p:sldId id="284" r:id="rId27"/>
    <p:sldId id="285" r:id="rId28"/>
    <p:sldId id="286" r:id="rId29"/>
    <p:sldId id="287" r:id="rId30"/>
    <p:sldId id="288" r:id="rId31"/>
    <p:sldId id="289" r:id="rId32"/>
    <p:sldId id="290" r:id="rId33"/>
    <p:sldId id="291" r:id="rId34"/>
    <p:sldId id="292" r:id="rId35"/>
    <p:sldId id="293" r:id="rId36"/>
    <p:sldId id="294" r:id="rId37"/>
    <p:sldId id="299" r:id="rId38"/>
    <p:sldId id="280" r:id="rId39"/>
    <p:sldId id="282" r:id="rId40"/>
    <p:sldId id="283" r:id="rId41"/>
    <p:sldId id="295" r:id="rId42"/>
    <p:sldId id="296" r:id="rId43"/>
    <p:sldId id="297" r:id="rId44"/>
    <p:sldId id="298"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4" autoAdjust="0"/>
    <p:restoredTop sz="94660"/>
  </p:normalViewPr>
  <p:slideViewPr>
    <p:cSldViewPr snapToGrid="0">
      <p:cViewPr varScale="1">
        <p:scale>
          <a:sx n="91" d="100"/>
          <a:sy n="91" d="100"/>
        </p:scale>
        <p:origin x="-534"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FBA494-827F-4C9F-83FF-DF098705E4F9}" type="datetimeFigureOut">
              <a:rPr lang="en-US" smtClean="0"/>
              <a:pPr/>
              <a:t>12/11/2023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9F3E41-4B86-4A6F-B5F6-7F6FF0466DB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4C6D4E-4B33-7168-CC61-213C8CAE8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2731E8E5-5D07-5FC1-5062-C547741B2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A20A078-3DBB-084F-281D-6AD2D9F0498D}"/>
              </a:ext>
            </a:extLst>
          </p:cNvPr>
          <p:cNvSpPr>
            <a:spLocks noGrp="1"/>
          </p:cNvSpPr>
          <p:nvPr>
            <p:ph type="dt" sz="half" idx="10"/>
          </p:nvPr>
        </p:nvSpPr>
        <p:spPr/>
        <p:txBody>
          <a:bodyPr/>
          <a:lstStyle/>
          <a:p>
            <a:fld id="{6867F081-CE6A-4A09-832F-D8950A010181}" type="datetime1">
              <a:rPr lang="en-IN" smtClean="0"/>
              <a:pPr/>
              <a:t>11-12-2023</a:t>
            </a:fld>
            <a:endParaRPr lang="en-IN"/>
          </a:p>
        </p:txBody>
      </p:sp>
      <p:sp>
        <p:nvSpPr>
          <p:cNvPr id="5" name="Footer Placeholder 4">
            <a:extLst>
              <a:ext uri="{FF2B5EF4-FFF2-40B4-BE49-F238E27FC236}">
                <a16:creationId xmlns:a16="http://schemas.microsoft.com/office/drawing/2014/main" xmlns="" id="{905D9794-082B-0BD6-E511-53BDE67F3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DFE2AF7-1AE5-3B02-CB8C-EEA432131A36}"/>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90515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4817BC-5455-F1E1-EDB9-EFFCB1A858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5901960-22EA-80C1-F365-9891824ABF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3426447-5D2D-FA4E-89FA-16BFE5F62A58}"/>
              </a:ext>
            </a:extLst>
          </p:cNvPr>
          <p:cNvSpPr>
            <a:spLocks noGrp="1"/>
          </p:cNvSpPr>
          <p:nvPr>
            <p:ph type="dt" sz="half" idx="10"/>
          </p:nvPr>
        </p:nvSpPr>
        <p:spPr/>
        <p:txBody>
          <a:bodyPr/>
          <a:lstStyle/>
          <a:p>
            <a:fld id="{F65000A2-891F-406B-8440-4E2F81F85DFD}" type="datetime1">
              <a:rPr lang="en-IN" smtClean="0"/>
              <a:pPr/>
              <a:t>11-12-2023</a:t>
            </a:fld>
            <a:endParaRPr lang="en-IN"/>
          </a:p>
        </p:txBody>
      </p:sp>
      <p:sp>
        <p:nvSpPr>
          <p:cNvPr id="5" name="Footer Placeholder 4">
            <a:extLst>
              <a:ext uri="{FF2B5EF4-FFF2-40B4-BE49-F238E27FC236}">
                <a16:creationId xmlns:a16="http://schemas.microsoft.com/office/drawing/2014/main" xmlns="" id="{DECD115C-7A43-0AF4-C68B-CA5F5772B6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63DC9C7-7989-8075-A0E5-3B6A9FCD8D8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428771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F7598-5F84-81F1-0162-FB83A176D1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7E51BD6-4F07-C497-5BF9-1FF5A47AEA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9ECBBED-8C15-4E85-1C49-FA86FE5DDA1A}"/>
              </a:ext>
            </a:extLst>
          </p:cNvPr>
          <p:cNvSpPr>
            <a:spLocks noGrp="1"/>
          </p:cNvSpPr>
          <p:nvPr>
            <p:ph type="dt" sz="half" idx="10"/>
          </p:nvPr>
        </p:nvSpPr>
        <p:spPr/>
        <p:txBody>
          <a:bodyPr/>
          <a:lstStyle/>
          <a:p>
            <a:fld id="{52E2C9A7-55DC-4E96-AC4A-960F33BB188B}" type="datetime1">
              <a:rPr lang="en-IN" smtClean="0"/>
              <a:pPr/>
              <a:t>11-12-2023</a:t>
            </a:fld>
            <a:endParaRPr lang="en-IN"/>
          </a:p>
        </p:txBody>
      </p:sp>
      <p:sp>
        <p:nvSpPr>
          <p:cNvPr id="5" name="Footer Placeholder 4">
            <a:extLst>
              <a:ext uri="{FF2B5EF4-FFF2-40B4-BE49-F238E27FC236}">
                <a16:creationId xmlns:a16="http://schemas.microsoft.com/office/drawing/2014/main" xmlns="" id="{0E8BDF2F-A66D-C52D-A41A-6C75895D21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C4D6613-A56A-7CF1-EA96-0EF0F3C5B2EC}"/>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4158680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51E5E9-2643-D1AD-15BD-8C603B93E3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7C0460B-41EA-1714-EE80-75FD8EBF4B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73E488B-A030-9C88-0E3F-BFCB8C15E5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7327868-023F-DF2D-6DDF-01B9B4A93F2F}"/>
              </a:ext>
            </a:extLst>
          </p:cNvPr>
          <p:cNvSpPr>
            <a:spLocks noGrp="1"/>
          </p:cNvSpPr>
          <p:nvPr>
            <p:ph type="dt" sz="half" idx="10"/>
          </p:nvPr>
        </p:nvSpPr>
        <p:spPr/>
        <p:txBody>
          <a:bodyPr/>
          <a:lstStyle/>
          <a:p>
            <a:fld id="{FA8AB81B-475D-4720-83F8-7306745A240F}" type="datetime1">
              <a:rPr lang="en-IN" smtClean="0"/>
              <a:pPr/>
              <a:t>11-12-2023</a:t>
            </a:fld>
            <a:endParaRPr lang="en-IN"/>
          </a:p>
        </p:txBody>
      </p:sp>
      <p:sp>
        <p:nvSpPr>
          <p:cNvPr id="6" name="Footer Placeholder 5">
            <a:extLst>
              <a:ext uri="{FF2B5EF4-FFF2-40B4-BE49-F238E27FC236}">
                <a16:creationId xmlns:a16="http://schemas.microsoft.com/office/drawing/2014/main" xmlns="" id="{1695A40D-C72B-7EE4-7045-40161D850C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7BC98DC-4F1B-930A-65C0-A5D8B7C8CCD9}"/>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205499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888120-2EDD-2F51-9389-DE4E539308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FA11BAE-5A91-F72C-3520-EE19177687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0DDD03B-873D-E5BF-2A92-AE1F4CA836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2F4485F-6F4A-353F-0E1B-FAEB05079F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C629789-EBB2-B81B-2B8D-9C2C66E9B1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9228CD8-217D-CE73-D9CB-331CC16C4043}"/>
              </a:ext>
            </a:extLst>
          </p:cNvPr>
          <p:cNvSpPr>
            <a:spLocks noGrp="1"/>
          </p:cNvSpPr>
          <p:nvPr>
            <p:ph type="dt" sz="half" idx="10"/>
          </p:nvPr>
        </p:nvSpPr>
        <p:spPr/>
        <p:txBody>
          <a:bodyPr/>
          <a:lstStyle/>
          <a:p>
            <a:fld id="{6991F471-5E3F-4371-B5C8-CE63FCA98982}" type="datetime1">
              <a:rPr lang="en-IN" smtClean="0"/>
              <a:pPr/>
              <a:t>11-12-2023</a:t>
            </a:fld>
            <a:endParaRPr lang="en-IN"/>
          </a:p>
        </p:txBody>
      </p:sp>
      <p:sp>
        <p:nvSpPr>
          <p:cNvPr id="8" name="Footer Placeholder 7">
            <a:extLst>
              <a:ext uri="{FF2B5EF4-FFF2-40B4-BE49-F238E27FC236}">
                <a16:creationId xmlns:a16="http://schemas.microsoft.com/office/drawing/2014/main" xmlns="" id="{421A6E0B-396F-8C0E-3212-6AB24FB7E6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46DC6DB-68A4-4C01-2251-4F0A76F5DEC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2183132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CD5D2F-53A6-662F-BBA0-DEA0C1457A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B94B063-5ED2-D33A-EFDA-56D9F3425ED7}"/>
              </a:ext>
            </a:extLst>
          </p:cNvPr>
          <p:cNvSpPr>
            <a:spLocks noGrp="1"/>
          </p:cNvSpPr>
          <p:nvPr>
            <p:ph type="dt" sz="half" idx="10"/>
          </p:nvPr>
        </p:nvSpPr>
        <p:spPr/>
        <p:txBody>
          <a:bodyPr/>
          <a:lstStyle/>
          <a:p>
            <a:fld id="{A5D43487-F2D7-4C7D-AA5A-12A0F9F0502D}" type="datetime1">
              <a:rPr lang="en-IN" smtClean="0"/>
              <a:pPr/>
              <a:t>11-12-2023</a:t>
            </a:fld>
            <a:endParaRPr lang="en-IN"/>
          </a:p>
        </p:txBody>
      </p:sp>
      <p:sp>
        <p:nvSpPr>
          <p:cNvPr id="4" name="Footer Placeholder 3">
            <a:extLst>
              <a:ext uri="{FF2B5EF4-FFF2-40B4-BE49-F238E27FC236}">
                <a16:creationId xmlns:a16="http://schemas.microsoft.com/office/drawing/2014/main" xmlns="" id="{6038A198-4AEA-9461-7647-1C27E00D2C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4405376B-81A5-4849-801A-F9C8BD9B8247}"/>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752473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A2F6915-B941-A336-BFF4-84B2405D234D}"/>
              </a:ext>
            </a:extLst>
          </p:cNvPr>
          <p:cNvSpPr>
            <a:spLocks noGrp="1"/>
          </p:cNvSpPr>
          <p:nvPr>
            <p:ph type="dt" sz="half" idx="10"/>
          </p:nvPr>
        </p:nvSpPr>
        <p:spPr/>
        <p:txBody>
          <a:bodyPr/>
          <a:lstStyle/>
          <a:p>
            <a:fld id="{9B6DD0F4-6835-4EB6-9358-116AF8018016}" type="datetime1">
              <a:rPr lang="en-IN" smtClean="0"/>
              <a:pPr/>
              <a:t>11-12-2023</a:t>
            </a:fld>
            <a:endParaRPr lang="en-IN"/>
          </a:p>
        </p:txBody>
      </p:sp>
      <p:sp>
        <p:nvSpPr>
          <p:cNvPr id="3" name="Footer Placeholder 2">
            <a:extLst>
              <a:ext uri="{FF2B5EF4-FFF2-40B4-BE49-F238E27FC236}">
                <a16:creationId xmlns:a16="http://schemas.microsoft.com/office/drawing/2014/main" xmlns="" id="{726A73E2-4018-6B8D-EC02-3F825409A7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E53668D-624B-006E-C347-5BCC5465285B}"/>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315212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2941E-890D-7AA3-47F2-41BEA4246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333281-A240-B562-A061-DACE639A3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E0D4B42D-DBD2-1AC8-138A-631CB521C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B357D39-3074-C36B-B8A4-58806D08F789}"/>
              </a:ext>
            </a:extLst>
          </p:cNvPr>
          <p:cNvSpPr>
            <a:spLocks noGrp="1"/>
          </p:cNvSpPr>
          <p:nvPr>
            <p:ph type="dt" sz="half" idx="10"/>
          </p:nvPr>
        </p:nvSpPr>
        <p:spPr/>
        <p:txBody>
          <a:bodyPr/>
          <a:lstStyle/>
          <a:p>
            <a:fld id="{B06D7737-12E9-4119-A6EA-41A9FEA12304}" type="datetime1">
              <a:rPr lang="en-IN" smtClean="0"/>
              <a:pPr/>
              <a:t>11-12-2023</a:t>
            </a:fld>
            <a:endParaRPr lang="en-IN"/>
          </a:p>
        </p:txBody>
      </p:sp>
      <p:sp>
        <p:nvSpPr>
          <p:cNvPr id="6" name="Footer Placeholder 5">
            <a:extLst>
              <a:ext uri="{FF2B5EF4-FFF2-40B4-BE49-F238E27FC236}">
                <a16:creationId xmlns:a16="http://schemas.microsoft.com/office/drawing/2014/main" xmlns="" id="{1938799D-5831-1DAA-1128-DE413E027D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846AD69-EB0A-7A07-777F-286644E99CD8}"/>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43707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2EF9B0-5554-019F-83D1-AEC71C546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53ECE52-EDD8-8EAC-2ACA-BB9E9984AB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22C3704-27F8-D9E4-5B23-2F0B25C47C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3D0923B-697A-88B7-D1FC-ED93AC0201EE}"/>
              </a:ext>
            </a:extLst>
          </p:cNvPr>
          <p:cNvSpPr>
            <a:spLocks noGrp="1"/>
          </p:cNvSpPr>
          <p:nvPr>
            <p:ph type="dt" sz="half" idx="10"/>
          </p:nvPr>
        </p:nvSpPr>
        <p:spPr/>
        <p:txBody>
          <a:bodyPr/>
          <a:lstStyle/>
          <a:p>
            <a:fld id="{341C4FE6-8273-4868-AA7B-96090EA1D5D2}" type="datetime1">
              <a:rPr lang="en-IN" smtClean="0"/>
              <a:pPr/>
              <a:t>11-12-2023</a:t>
            </a:fld>
            <a:endParaRPr lang="en-IN"/>
          </a:p>
        </p:txBody>
      </p:sp>
      <p:sp>
        <p:nvSpPr>
          <p:cNvPr id="6" name="Footer Placeholder 5">
            <a:extLst>
              <a:ext uri="{FF2B5EF4-FFF2-40B4-BE49-F238E27FC236}">
                <a16:creationId xmlns:a16="http://schemas.microsoft.com/office/drawing/2014/main" xmlns="" id="{564B2C57-337C-1053-99BC-693CB57A5C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139BE9C-C185-3F53-3003-341FE1D52DF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2334469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F3B139-6A8C-04B0-9D99-DF1460042D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8C2C446-E2B0-3302-1A30-0CC8F6CB80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A9D4E8-6D71-F955-F7BE-FD0C2D1BD84E}"/>
              </a:ext>
            </a:extLst>
          </p:cNvPr>
          <p:cNvSpPr>
            <a:spLocks noGrp="1"/>
          </p:cNvSpPr>
          <p:nvPr>
            <p:ph type="dt" sz="half" idx="10"/>
          </p:nvPr>
        </p:nvSpPr>
        <p:spPr/>
        <p:txBody>
          <a:bodyPr/>
          <a:lstStyle/>
          <a:p>
            <a:fld id="{A02EAE39-0F06-4667-9818-AA521B2DB6EB}" type="datetime1">
              <a:rPr lang="en-IN" smtClean="0"/>
              <a:pPr/>
              <a:t>11-12-2023</a:t>
            </a:fld>
            <a:endParaRPr lang="en-IN"/>
          </a:p>
        </p:txBody>
      </p:sp>
      <p:sp>
        <p:nvSpPr>
          <p:cNvPr id="5" name="Footer Placeholder 4">
            <a:extLst>
              <a:ext uri="{FF2B5EF4-FFF2-40B4-BE49-F238E27FC236}">
                <a16:creationId xmlns:a16="http://schemas.microsoft.com/office/drawing/2014/main" xmlns="" id="{82B1B574-EAD0-45BF-CDFF-919A21C81E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9CA4712-E421-1304-5A9D-DBA9FB1B0BD9}"/>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94862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B5DD973-3257-7CC7-6889-96D829E240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0C53924-1BBC-7CA4-DC18-195819B7BB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B8C78B9-D6C5-AE7A-43DE-479A2E678835}"/>
              </a:ext>
            </a:extLst>
          </p:cNvPr>
          <p:cNvSpPr>
            <a:spLocks noGrp="1"/>
          </p:cNvSpPr>
          <p:nvPr>
            <p:ph type="dt" sz="half" idx="10"/>
          </p:nvPr>
        </p:nvSpPr>
        <p:spPr/>
        <p:txBody>
          <a:bodyPr/>
          <a:lstStyle/>
          <a:p>
            <a:fld id="{EACC8F99-A6EB-43F0-B7BF-2A521F78B614}" type="datetime1">
              <a:rPr lang="en-IN" smtClean="0"/>
              <a:pPr/>
              <a:t>11-12-2023</a:t>
            </a:fld>
            <a:endParaRPr lang="en-IN"/>
          </a:p>
        </p:txBody>
      </p:sp>
      <p:sp>
        <p:nvSpPr>
          <p:cNvPr id="5" name="Footer Placeholder 4">
            <a:extLst>
              <a:ext uri="{FF2B5EF4-FFF2-40B4-BE49-F238E27FC236}">
                <a16:creationId xmlns:a16="http://schemas.microsoft.com/office/drawing/2014/main" xmlns="" id="{7962A7DF-A5CB-C767-FF9C-598928A944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A47CC12-C349-39BB-F48B-90DEA7F25D5C}"/>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196717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4D1C8FA-29E9-1C8B-C9A9-0C55D2A8AC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4B4ACCD-F3F9-491C-7D25-F39BDB159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5F00837-2395-6C53-11E2-A2D4D6C9B7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88940C-6D38-43DA-B15D-F9B2703BD6C8}" type="datetime1">
              <a:rPr lang="en-IN" smtClean="0"/>
              <a:pPr/>
              <a:t>11-12-2023</a:t>
            </a:fld>
            <a:endParaRPr lang="en-IN"/>
          </a:p>
        </p:txBody>
      </p:sp>
      <p:sp>
        <p:nvSpPr>
          <p:cNvPr id="5" name="Footer Placeholder 4">
            <a:extLst>
              <a:ext uri="{FF2B5EF4-FFF2-40B4-BE49-F238E27FC236}">
                <a16:creationId xmlns:a16="http://schemas.microsoft.com/office/drawing/2014/main" xmlns="" id="{7EF6216C-8642-9F2E-ACE8-2DD22A3429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4FD7615-293F-9E40-491F-86E5470C6D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D2C3DF-7EAB-4FBF-A7D6-E6B2366142AB}" type="slidenum">
              <a:rPr lang="en-IN" smtClean="0"/>
              <a:pPr/>
              <a:t>‹#›</a:t>
            </a:fld>
            <a:endParaRPr lang="en-IN"/>
          </a:p>
        </p:txBody>
      </p:sp>
    </p:spTree>
    <p:extLst>
      <p:ext uri="{BB962C8B-B14F-4D97-AF65-F5344CB8AC3E}">
        <p14:creationId xmlns:p14="http://schemas.microsoft.com/office/powerpoint/2010/main" xmlns="" val="1830937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6D80BC-DD43-545A-7A5D-2CB0E5CE0406}"/>
              </a:ext>
            </a:extLst>
          </p:cNvPr>
          <p:cNvSpPr>
            <a:spLocks noGrp="1"/>
          </p:cNvSpPr>
          <p:nvPr>
            <p:ph type="ctrTitle"/>
          </p:nvPr>
        </p:nvSpPr>
        <p:spPr/>
        <p:txBody>
          <a:bodyPr/>
          <a:lstStyle/>
          <a:p>
            <a:r>
              <a:rPr lang="en-US" dirty="0"/>
              <a:t>MAHCINING SCIENCE AND MACHINE TOOLS</a:t>
            </a:r>
            <a:endParaRPr lang="en-IN" dirty="0"/>
          </a:p>
        </p:txBody>
      </p:sp>
      <p:sp>
        <p:nvSpPr>
          <p:cNvPr id="3" name="Subtitle 2">
            <a:extLst>
              <a:ext uri="{FF2B5EF4-FFF2-40B4-BE49-F238E27FC236}">
                <a16:creationId xmlns:a16="http://schemas.microsoft.com/office/drawing/2014/main" xmlns="" id="{71448681-4629-08BC-7CE7-89CFAA76ADA7}"/>
              </a:ext>
            </a:extLst>
          </p:cNvPr>
          <p:cNvSpPr>
            <a:spLocks noGrp="1"/>
          </p:cNvSpPr>
          <p:nvPr>
            <p:ph type="subTitle" idx="1"/>
          </p:nvPr>
        </p:nvSpPr>
        <p:spPr/>
        <p:txBody>
          <a:bodyPr>
            <a:normAutofit/>
          </a:bodyPr>
          <a:lstStyle/>
          <a:p>
            <a:r>
              <a:rPr lang="en-US" sz="2800" dirty="0"/>
              <a:t>MODULE 03</a:t>
            </a:r>
            <a:endParaRPr lang="en-IN" sz="2800"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1</a:t>
            </a:fld>
            <a:endParaRPr lang="en-IN"/>
          </a:p>
        </p:txBody>
      </p:sp>
    </p:spTree>
    <p:extLst>
      <p:ext uri="{BB962C8B-B14F-4D97-AF65-F5344CB8AC3E}">
        <p14:creationId xmlns:p14="http://schemas.microsoft.com/office/powerpoint/2010/main" xmlns="" val="3737472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9AE320-CFC4-9A0E-DBD3-383C7C844E6E}"/>
              </a:ext>
            </a:extLst>
          </p:cNvPr>
          <p:cNvSpPr>
            <a:spLocks noGrp="1"/>
          </p:cNvSpPr>
          <p:nvPr>
            <p:ph type="title"/>
          </p:nvPr>
        </p:nvSpPr>
        <p:spPr>
          <a:xfrm>
            <a:off x="838200" y="365126"/>
            <a:ext cx="10515600" cy="1064282"/>
          </a:xfrm>
        </p:spPr>
        <p:txBody>
          <a:bodyPr>
            <a:normAutofit/>
          </a:bodyPr>
          <a:lstStyle/>
          <a:p>
            <a:r>
              <a:rPr lang="en-US" b="1" dirty="0">
                <a:solidFill>
                  <a:schemeClr val="accent1">
                    <a:lumMod val="50000"/>
                  </a:schemeClr>
                </a:solidFill>
                <a:latin typeface="Times New Roman" pitchFamily="18" charset="0"/>
                <a:cs typeface="Times New Roman" pitchFamily="18" charset="0"/>
              </a:rPr>
              <a:t>LATHE</a:t>
            </a:r>
            <a:endParaRPr lang="en-IN" b="1" dirty="0">
              <a:solidFill>
                <a:schemeClr val="accent1">
                  <a:lumMod val="50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0D80FBB8-E8EB-805E-3321-A0039F5A1CF6}"/>
              </a:ext>
            </a:extLst>
          </p:cNvPr>
          <p:cNvSpPr>
            <a:spLocks noGrp="1"/>
          </p:cNvSpPr>
          <p:nvPr>
            <p:ph idx="1"/>
          </p:nvPr>
        </p:nvSpPr>
        <p:spPr/>
        <p:txBody>
          <a:bodyPr/>
          <a:lstStyle/>
          <a:p>
            <a:pPr algn="just" eaLnBrk="1" hangingPunct="1">
              <a:defRPr/>
            </a:pPr>
            <a:r>
              <a:rPr lang="en-IN" dirty="0">
                <a:latin typeface="Times New Roman" pitchFamily="18" charset="0"/>
                <a:cs typeface="Times New Roman" pitchFamily="18" charset="0"/>
              </a:rPr>
              <a:t>Lathe is the oldest machine tool invented</a:t>
            </a:r>
          </a:p>
          <a:p>
            <a:pPr algn="just" eaLnBrk="1" hangingPunct="1">
              <a:defRPr/>
            </a:pPr>
            <a:r>
              <a:rPr lang="en-IN" dirty="0">
                <a:latin typeface="Times New Roman" pitchFamily="18" charset="0"/>
                <a:cs typeface="Times New Roman" pitchFamily="18" charset="0"/>
              </a:rPr>
              <a:t>Versatile and widely used machine tool</a:t>
            </a:r>
            <a:endParaRPr lang="en-US" dirty="0">
              <a:latin typeface="Times New Roman" pitchFamily="18" charset="0"/>
              <a:cs typeface="Times New Roman" pitchFamily="18" charset="0"/>
            </a:endParaRPr>
          </a:p>
          <a:p>
            <a:pPr marL="357188" lvl="1" indent="-357188" algn="just">
              <a:buNone/>
              <a:defRPr/>
            </a:pPr>
            <a:r>
              <a:rPr lang="en-IN" sz="2800" dirty="0">
                <a:latin typeface="Times New Roman" pitchFamily="18" charset="0"/>
                <a:cs typeface="Times New Roman" pitchFamily="18" charset="0"/>
              </a:rPr>
              <a:t>Mother of all other machine tool</a:t>
            </a:r>
          </a:p>
          <a:p>
            <a:pPr algn="just" eaLnBrk="1" hangingPunct="1">
              <a:defRPr/>
            </a:pPr>
            <a:r>
              <a:rPr lang="en-IN" dirty="0">
                <a:latin typeface="Times New Roman" pitchFamily="18" charset="0"/>
                <a:cs typeface="Times New Roman" pitchFamily="18" charset="0"/>
              </a:rPr>
              <a:t>Remove metal from the job in the form of chips by rotating work against a single point cutting tool</a:t>
            </a:r>
          </a:p>
          <a:p>
            <a:pPr algn="just" eaLnBrk="1" hangingPunct="1">
              <a:defRPr/>
            </a:pPr>
            <a:r>
              <a:rPr lang="en-IN" dirty="0">
                <a:latin typeface="Times New Roman" pitchFamily="18" charset="0"/>
                <a:cs typeface="Times New Roman" pitchFamily="18" charset="0"/>
              </a:rPr>
              <a:t>Job held in the chuck or in between centres</a:t>
            </a:r>
            <a:endParaRPr lang="en-US" dirty="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2</a:t>
            </a:fld>
            <a:endParaRPr lang="en-IN"/>
          </a:p>
        </p:txBody>
      </p:sp>
    </p:spTree>
    <p:extLst>
      <p:ext uri="{BB962C8B-B14F-4D97-AF65-F5344CB8AC3E}">
        <p14:creationId xmlns:p14="http://schemas.microsoft.com/office/powerpoint/2010/main" xmlns="" val="346562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A586D6-F2E8-3C2D-D7F6-ABFE458B9D5A}"/>
              </a:ext>
            </a:extLst>
          </p:cNvPr>
          <p:cNvSpPr>
            <a:spLocks noGrp="1"/>
          </p:cNvSpPr>
          <p:nvPr>
            <p:ph type="title"/>
          </p:nvPr>
        </p:nvSpPr>
        <p:spPr>
          <a:xfrm>
            <a:off x="1123079" y="294289"/>
            <a:ext cx="4552507" cy="1202642"/>
          </a:xfrm>
        </p:spPr>
        <p:txBody>
          <a:bodyPr>
            <a:normAutofit fontScale="90000"/>
          </a:bodyPr>
          <a:lstStyle/>
          <a:p>
            <a:r>
              <a:rPr lang="en-US" b="1" dirty="0">
                <a:solidFill>
                  <a:schemeClr val="accent1">
                    <a:lumMod val="50000"/>
                  </a:schemeClr>
                </a:solidFill>
                <a:latin typeface="Times New Roman" pitchFamily="18" charset="0"/>
                <a:cs typeface="Times New Roman" pitchFamily="18" charset="0"/>
              </a:rPr>
              <a:t>TYPES OF LATHE</a:t>
            </a:r>
            <a:endParaRPr lang="en-IN" b="1" dirty="0">
              <a:solidFill>
                <a:schemeClr val="accent1">
                  <a:lumMod val="50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701386A3-B9EA-A543-51DD-43C75C2A4803}"/>
              </a:ext>
            </a:extLst>
          </p:cNvPr>
          <p:cNvSpPr>
            <a:spLocks noGrp="1"/>
          </p:cNvSpPr>
          <p:nvPr>
            <p:ph idx="1"/>
          </p:nvPr>
        </p:nvSpPr>
        <p:spPr>
          <a:xfrm>
            <a:off x="733097" y="1783556"/>
            <a:ext cx="5016062" cy="4491122"/>
          </a:xfrm>
        </p:spPr>
        <p:txBody>
          <a:bodyPr>
            <a:normAutofit/>
          </a:bodyPr>
          <a:lstStyle/>
          <a:p>
            <a:pPr marL="514350" indent="-514350">
              <a:buAutoNum type="arabicPeriod"/>
            </a:pPr>
            <a:r>
              <a:rPr lang="en-US" sz="2400" dirty="0">
                <a:latin typeface="Times New Roman" pitchFamily="18" charset="0"/>
                <a:cs typeface="Times New Roman" pitchFamily="18" charset="0"/>
              </a:rPr>
              <a:t>Centre lathe </a:t>
            </a:r>
          </a:p>
          <a:p>
            <a:r>
              <a:rPr lang="en-IN" sz="2400" dirty="0">
                <a:latin typeface="Times New Roman" pitchFamily="18" charset="0"/>
                <a:cs typeface="Times New Roman" pitchFamily="18" charset="0"/>
              </a:rPr>
              <a:t>Bench lathe</a:t>
            </a:r>
          </a:p>
          <a:p>
            <a:pPr marL="0" indent="0">
              <a:buNone/>
            </a:pPr>
            <a:r>
              <a:rPr lang="en-IN" sz="2400" dirty="0">
                <a:latin typeface="Times New Roman" pitchFamily="18" charset="0"/>
                <a:cs typeface="Times New Roman" pitchFamily="18" charset="0"/>
              </a:rPr>
              <a:t>2. Tool room lathe</a:t>
            </a:r>
          </a:p>
          <a:p>
            <a:pPr marL="0" indent="0">
              <a:buNone/>
            </a:pPr>
            <a:r>
              <a:rPr lang="en-IN" sz="2400" dirty="0">
                <a:latin typeface="Times New Roman" pitchFamily="18" charset="0"/>
                <a:cs typeface="Times New Roman" pitchFamily="18" charset="0"/>
              </a:rPr>
              <a:t>3. Special purpose lathe</a:t>
            </a:r>
          </a:p>
          <a:p>
            <a:r>
              <a:rPr lang="en-IN" sz="2400" dirty="0">
                <a:latin typeface="Times New Roman" pitchFamily="18" charset="0"/>
                <a:cs typeface="Times New Roman" pitchFamily="18" charset="0"/>
              </a:rPr>
              <a:t>Copying lathe </a:t>
            </a:r>
          </a:p>
          <a:p>
            <a:r>
              <a:rPr lang="en-IN" sz="2400" dirty="0">
                <a:latin typeface="Times New Roman" pitchFamily="18" charset="0"/>
                <a:cs typeface="Times New Roman" pitchFamily="18" charset="0"/>
              </a:rPr>
              <a:t>Gap bed lathe </a:t>
            </a:r>
          </a:p>
          <a:p>
            <a:r>
              <a:rPr lang="en-IN" sz="2400" dirty="0">
                <a:latin typeface="Times New Roman" pitchFamily="18" charset="0"/>
                <a:cs typeface="Times New Roman" pitchFamily="18" charset="0"/>
              </a:rPr>
              <a:t>Hollow spindle lathes</a:t>
            </a:r>
          </a:p>
          <a:p>
            <a:pPr marL="0" indent="0">
              <a:buNone/>
            </a:pPr>
            <a:r>
              <a:rPr lang="en-US" sz="2400" dirty="0">
                <a:latin typeface="Times New Roman" pitchFamily="18" charset="0"/>
                <a:cs typeface="Times New Roman" pitchFamily="18" charset="0"/>
              </a:rPr>
              <a:t>4. Capstan and Turret lathes</a:t>
            </a:r>
          </a:p>
          <a:p>
            <a:pPr marL="0" indent="0">
              <a:buNone/>
            </a:pPr>
            <a:r>
              <a:rPr lang="en-US" sz="2400" dirty="0">
                <a:latin typeface="Times New Roman" pitchFamily="18" charset="0"/>
                <a:cs typeface="Times New Roman" pitchFamily="18" charset="0"/>
              </a:rPr>
              <a:t>5. Automatic lathes </a:t>
            </a:r>
            <a:endParaRPr lang="en-IN" sz="2400" dirty="0">
              <a:latin typeface="Times New Roman" pitchFamily="18" charset="0"/>
              <a:cs typeface="Times New Roman" pitchFamily="18" charset="0"/>
            </a:endParaRPr>
          </a:p>
        </p:txBody>
      </p:sp>
      <p:pic>
        <p:nvPicPr>
          <p:cNvPr id="1026" name="Picture 2" descr="C:\Users\admin\Downloads\engine-lathe-machine.png"/>
          <p:cNvPicPr>
            <a:picLocks noChangeAspect="1" noChangeArrowheads="1"/>
          </p:cNvPicPr>
          <p:nvPr/>
        </p:nvPicPr>
        <p:blipFill>
          <a:blip r:embed="rId2"/>
          <a:srcRect l="4081" t="3837" r="5129" b="5653"/>
          <a:stretch>
            <a:fillRect/>
          </a:stretch>
        </p:blipFill>
        <p:spPr bwMode="auto">
          <a:xfrm>
            <a:off x="6032938" y="1986458"/>
            <a:ext cx="5465379" cy="3405352"/>
          </a:xfrm>
          <a:prstGeom prst="rect">
            <a:avLst/>
          </a:prstGeom>
          <a:noFill/>
        </p:spPr>
      </p:pic>
      <p:sp>
        <p:nvSpPr>
          <p:cNvPr id="5" name="Slide Number Placeholder 4"/>
          <p:cNvSpPr>
            <a:spLocks noGrp="1"/>
          </p:cNvSpPr>
          <p:nvPr>
            <p:ph type="sldNum" sz="quarter" idx="12"/>
          </p:nvPr>
        </p:nvSpPr>
        <p:spPr/>
        <p:txBody>
          <a:bodyPr/>
          <a:lstStyle/>
          <a:p>
            <a:fld id="{6CD2C3DF-7EAB-4FBF-A7D6-E6B2366142AB}" type="slidenum">
              <a:rPr lang="en-IN" smtClean="0"/>
              <a:pPr/>
              <a:t>3</a:t>
            </a:fld>
            <a:endParaRPr lang="en-IN"/>
          </a:p>
        </p:txBody>
      </p:sp>
    </p:spTree>
    <p:extLst>
      <p:ext uri="{BB962C8B-B14F-4D97-AF65-F5344CB8AC3E}">
        <p14:creationId xmlns:p14="http://schemas.microsoft.com/office/powerpoint/2010/main" xmlns="" val="212517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DF4AE6-BA96-747D-7F2A-2F9CA5761BCA}"/>
              </a:ext>
            </a:extLst>
          </p:cNvPr>
          <p:cNvSpPr>
            <a:spLocks noGrp="1"/>
          </p:cNvSpPr>
          <p:nvPr>
            <p:ph type="title"/>
          </p:nvPr>
        </p:nvSpPr>
        <p:spPr>
          <a:xfrm>
            <a:off x="838200" y="365125"/>
            <a:ext cx="10515600" cy="917137"/>
          </a:xfrm>
        </p:spPr>
        <p:txBody>
          <a:bodyPr/>
          <a:lstStyle/>
          <a:p>
            <a:r>
              <a:rPr lang="en-IN" b="1" dirty="0">
                <a:solidFill>
                  <a:schemeClr val="accent1">
                    <a:lumMod val="50000"/>
                  </a:schemeClr>
                </a:solidFill>
                <a:latin typeface="Times New Roman" pitchFamily="18" charset="0"/>
                <a:cs typeface="Times New Roman" pitchFamily="18" charset="0"/>
              </a:rPr>
              <a:t>LATHE</a:t>
            </a:r>
          </a:p>
        </p:txBody>
      </p:sp>
      <p:sp>
        <p:nvSpPr>
          <p:cNvPr id="3" name="Content Placeholder 2">
            <a:extLst>
              <a:ext uri="{FF2B5EF4-FFF2-40B4-BE49-F238E27FC236}">
                <a16:creationId xmlns:a16="http://schemas.microsoft.com/office/drawing/2014/main" xmlns="" id="{543799E1-6B5A-E875-41E5-F2F7F22EEB62}"/>
              </a:ext>
            </a:extLst>
          </p:cNvPr>
          <p:cNvSpPr>
            <a:spLocks noGrp="1"/>
          </p:cNvSpPr>
          <p:nvPr>
            <p:ph idx="1"/>
          </p:nvPr>
        </p:nvSpPr>
        <p:spPr>
          <a:xfrm>
            <a:off x="701564" y="1247556"/>
            <a:ext cx="10807263" cy="5321410"/>
          </a:xfrm>
        </p:spPr>
        <p:txBody>
          <a:bodyPr>
            <a:normAutofit/>
          </a:bodyPr>
          <a:lstStyle/>
          <a:p>
            <a:pPr algn="just"/>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centre</a:t>
            </a:r>
            <a:r>
              <a:rPr lang="en-US" sz="2400" dirty="0">
                <a:latin typeface="Times New Roman" pitchFamily="18" charset="0"/>
                <a:cs typeface="Times New Roman" pitchFamily="18" charset="0"/>
              </a:rPr>
              <a:t> lathe is the most common of the lathes, which derives its name from the way a work piece is clamped by </a:t>
            </a:r>
            <a:r>
              <a:rPr lang="en-US" sz="2400" dirty="0" err="1">
                <a:latin typeface="Times New Roman" pitchFamily="18" charset="0"/>
                <a:cs typeface="Times New Roman" pitchFamily="18" charset="0"/>
              </a:rPr>
              <a:t>centres</a:t>
            </a:r>
            <a:r>
              <a:rPr lang="en-US" sz="2400" dirty="0">
                <a:latin typeface="Times New Roman" pitchFamily="18" charset="0"/>
                <a:cs typeface="Times New Roman" pitchFamily="18" charset="0"/>
              </a:rPr>
              <a:t> in a lathe, though this is not the only way in which the hob is mounted.</a:t>
            </a:r>
          </a:p>
          <a:p>
            <a:pPr algn="just"/>
            <a:r>
              <a:rPr lang="en-US" sz="2400" dirty="0">
                <a:latin typeface="Times New Roman" pitchFamily="18" charset="0"/>
                <a:cs typeface="Times New Roman" pitchFamily="18" charset="0"/>
              </a:rPr>
              <a:t>This is also called engine lathe in view of the fact that early lathes were driven by steam engines</a:t>
            </a:r>
          </a:p>
          <a:p>
            <a:pPr algn="just"/>
            <a:r>
              <a:rPr lang="en-US" sz="2400" dirty="0">
                <a:latin typeface="Times New Roman" pitchFamily="18" charset="0"/>
                <a:cs typeface="Times New Roman" pitchFamily="18" charset="0"/>
              </a:rPr>
              <a:t>The too room lathe is generally meant for applications of tool making, where the accuracy desired is much higher than is normally required for general production work, also the range of sizes and materials handled would normally be large.</a:t>
            </a:r>
          </a:p>
          <a:p>
            <a:pPr algn="just"/>
            <a:r>
              <a:rPr lang="en-US" sz="2400" dirty="0">
                <a:latin typeface="Times New Roman" pitchFamily="18" charset="0"/>
                <a:cs typeface="Times New Roman" pitchFamily="18" charset="0"/>
              </a:rPr>
              <a:t>The special purpose lathes are developed from the centre lathe, to cater to special forms of application which cannot be handled by the conventional centre lathe </a:t>
            </a:r>
          </a:p>
          <a:p>
            <a:pPr algn="just"/>
            <a:r>
              <a:rPr lang="en-IN" sz="2400" dirty="0">
                <a:latin typeface="Times New Roman" pitchFamily="18" charset="0"/>
                <a:cs typeface="Times New Roman" pitchFamily="18" charset="0"/>
              </a:rPr>
              <a:t>Capstan and turret lathes and automatic lathes are the form of lathes to cater for high rate production and thus would be used for very special applications. These have the special features to help in improving the production rate and also work unattended if necessary.</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a:t>
            </a:fld>
            <a:endParaRPr lang="en-IN"/>
          </a:p>
        </p:txBody>
      </p:sp>
    </p:spTree>
    <p:extLst>
      <p:ext uri="{BB962C8B-B14F-4D97-AF65-F5344CB8AC3E}">
        <p14:creationId xmlns:p14="http://schemas.microsoft.com/office/powerpoint/2010/main" xmlns="" val="1557334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latin typeface="Times New Roman" pitchFamily="18" charset="0"/>
                <a:cs typeface="Times New Roman" pitchFamily="18" charset="0"/>
              </a:rPr>
              <a:t>CENTRE LATHE</a:t>
            </a:r>
          </a:p>
        </p:txBody>
      </p:sp>
      <p:pic>
        <p:nvPicPr>
          <p:cNvPr id="4" name="Content Placeholder 3"/>
          <p:cNvPicPr>
            <a:picLocks noGrp="1" noChangeAspect="1"/>
          </p:cNvPicPr>
          <p:nvPr>
            <p:ph idx="1"/>
          </p:nvPr>
        </p:nvPicPr>
        <p:blipFill>
          <a:blip r:embed="rId2"/>
          <a:stretch>
            <a:fillRect/>
          </a:stretch>
        </p:blipFill>
        <p:spPr>
          <a:xfrm>
            <a:off x="1584597" y="1587690"/>
            <a:ext cx="9496750" cy="4949743"/>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ownloads\lathe-machine-parts.jpg"/>
          <p:cNvPicPr>
            <a:picLocks noGrp="1" noChangeAspect="1" noChangeArrowheads="1"/>
          </p:cNvPicPr>
          <p:nvPr>
            <p:ph idx="1"/>
          </p:nvPr>
        </p:nvPicPr>
        <p:blipFill>
          <a:blip r:embed="rId2"/>
          <a:srcRect/>
          <a:stretch>
            <a:fillRect/>
          </a:stretch>
        </p:blipFill>
        <p:spPr bwMode="auto">
          <a:xfrm>
            <a:off x="1893288" y="501322"/>
            <a:ext cx="8716987" cy="5899478"/>
          </a:xfrm>
          <a:prstGeom prst="rect">
            <a:avLst/>
          </a:prstGeom>
          <a:noFill/>
        </p:spPr>
      </p:pic>
      <p:sp>
        <p:nvSpPr>
          <p:cNvPr id="3" name="Slide Number Placeholder 2"/>
          <p:cNvSpPr>
            <a:spLocks noGrp="1"/>
          </p:cNvSpPr>
          <p:nvPr>
            <p:ph type="sldNum" sz="quarter" idx="12"/>
          </p:nvPr>
        </p:nvSpPr>
        <p:spPr/>
        <p:txBody>
          <a:bodyPr/>
          <a:lstStyle/>
          <a:p>
            <a:fld id="{6CD2C3DF-7EAB-4FBF-A7D6-E6B2366142AB}"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2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2190293" y="614133"/>
            <a:ext cx="8555784" cy="6059935"/>
          </a:xfrm>
          <a:prstGeom prst="rect">
            <a:avLst/>
          </a:prstGeom>
          <a:noFill/>
        </p:spPr>
      </p:pic>
      <p:sp>
        <p:nvSpPr>
          <p:cNvPr id="3" name="Slide Number Placeholder 2"/>
          <p:cNvSpPr>
            <a:spLocks noGrp="1"/>
          </p:cNvSpPr>
          <p:nvPr>
            <p:ph type="sldNum" sz="quarter" idx="12"/>
          </p:nvPr>
        </p:nvSpPr>
        <p:spPr/>
        <p:txBody>
          <a:bodyPr/>
          <a:lstStyle/>
          <a:p>
            <a:fld id="{6CD2C3DF-7EAB-4FBF-A7D6-E6B2366142AB}"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BED</a:t>
            </a:r>
          </a:p>
        </p:txBody>
      </p:sp>
      <p:sp>
        <p:nvSpPr>
          <p:cNvPr id="3" name="Content Placeholder 2"/>
          <p:cNvSpPr>
            <a:spLocks noGrp="1"/>
          </p:cNvSpPr>
          <p:nvPr>
            <p:ph idx="1"/>
          </p:nvPr>
        </p:nvSpPr>
        <p:spPr>
          <a:xfrm>
            <a:off x="838200" y="1825625"/>
            <a:ext cx="5026572" cy="4351338"/>
          </a:xfrm>
        </p:spPr>
        <p:txBody>
          <a:bodyPr/>
          <a:lstStyle/>
          <a:p>
            <a:pPr algn="just">
              <a:lnSpc>
                <a:spcPct val="110000"/>
              </a:lnSpc>
            </a:pPr>
            <a:r>
              <a:rPr lang="en-US" altLang="en-US" sz="2400" dirty="0">
                <a:latin typeface="Times New Roman" pitchFamily="18" charset="0"/>
                <a:cs typeface="Times New Roman" pitchFamily="18" charset="0"/>
              </a:rPr>
              <a:t>Forms  base and support other working parts</a:t>
            </a:r>
          </a:p>
          <a:p>
            <a:pPr algn="just">
              <a:lnSpc>
                <a:spcPct val="110000"/>
              </a:lnSpc>
            </a:pPr>
            <a:r>
              <a:rPr lang="en-US" altLang="en-US" sz="2400" dirty="0">
                <a:latin typeface="Times New Roman" pitchFamily="18" charset="0"/>
                <a:cs typeface="Times New Roman" pitchFamily="18" charset="0"/>
              </a:rPr>
              <a:t>Made of grey cast iron </a:t>
            </a:r>
          </a:p>
          <a:p>
            <a:pPr algn="just">
              <a:lnSpc>
                <a:spcPct val="110000"/>
              </a:lnSpc>
            </a:pPr>
            <a:r>
              <a:rPr lang="en-US" altLang="en-US" sz="2400" dirty="0">
                <a:latin typeface="Times New Roman" pitchFamily="18" charset="0"/>
                <a:cs typeface="Times New Roman" pitchFamily="18" charset="0"/>
              </a:rPr>
              <a:t>Guide ways are flat or inverted V shaped</a:t>
            </a:r>
          </a:p>
          <a:p>
            <a:pPr algn="just"/>
            <a:r>
              <a:rPr lang="en-IN" altLang="en-US" sz="2400" dirty="0">
                <a:latin typeface="Times New Roman" pitchFamily="18" charset="0"/>
                <a:cs typeface="Times New Roman" pitchFamily="18" charset="0"/>
              </a:rPr>
              <a:t>Inner ways provide sliding surfaces for the tailstock and the outer ways for the carriage</a:t>
            </a:r>
            <a:endParaRPr lang="en-US" altLang="en-US" sz="2400" dirty="0">
              <a:latin typeface="Times New Roman" pitchFamily="18" charset="0"/>
              <a:cs typeface="Times New Roman" pitchFamily="18" charset="0"/>
            </a:endParaRPr>
          </a:p>
          <a:p>
            <a:endParaRPr lang="en-US" dirty="0"/>
          </a:p>
        </p:txBody>
      </p:sp>
      <p:pic>
        <p:nvPicPr>
          <p:cNvPr id="4" name="Picture 1"/>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6429704" y="1545022"/>
            <a:ext cx="5023351" cy="3794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6CD2C3DF-7EAB-4FBF-A7D6-E6B2366142AB}"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019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HEADSTOCK</a:t>
            </a:r>
          </a:p>
        </p:txBody>
      </p:sp>
      <p:sp>
        <p:nvSpPr>
          <p:cNvPr id="3" name="Content Placeholder 2"/>
          <p:cNvSpPr>
            <a:spLocks noGrp="1"/>
          </p:cNvSpPr>
          <p:nvPr>
            <p:ph idx="1"/>
          </p:nvPr>
        </p:nvSpPr>
        <p:spPr>
          <a:xfrm>
            <a:off x="491359" y="1373680"/>
            <a:ext cx="11049000" cy="5153243"/>
          </a:xfrm>
        </p:spPr>
        <p:txBody>
          <a:bodyPr>
            <a:normAutofit/>
          </a:bodyPr>
          <a:lstStyle/>
          <a:p>
            <a:r>
              <a:rPr lang="en-US" sz="2400" dirty="0">
                <a:latin typeface="Times New Roman" pitchFamily="18" charset="0"/>
                <a:cs typeface="Times New Roman" pitchFamily="18" charset="0"/>
              </a:rPr>
              <a:t>Houses the power source</a:t>
            </a:r>
          </a:p>
          <a:p>
            <a:r>
              <a:rPr lang="en-US" sz="2400" dirty="0">
                <a:latin typeface="Times New Roman" pitchFamily="18" charset="0"/>
                <a:cs typeface="Times New Roman" pitchFamily="18" charset="0"/>
              </a:rPr>
              <a:t>All the power transmission, gear box and the spindle </a:t>
            </a:r>
          </a:p>
          <a:p>
            <a:r>
              <a:rPr lang="en-US" sz="2400" dirty="0">
                <a:latin typeface="Times New Roman" pitchFamily="18" charset="0"/>
                <a:cs typeface="Times New Roman" pitchFamily="18" charset="0"/>
              </a:rPr>
              <a:t>Fixed at the left most end on the bed</a:t>
            </a:r>
          </a:p>
          <a:p>
            <a:r>
              <a:rPr lang="en-US" sz="2400" dirty="0">
                <a:latin typeface="Times New Roman" pitchFamily="18" charset="0"/>
                <a:cs typeface="Times New Roman" pitchFamily="18" charset="0"/>
              </a:rPr>
              <a:t>Spindle is hollow and should be sufficiently rigid to provide accurate rotary motion and maintains perfect alignment with the lathe axis</a:t>
            </a:r>
          </a:p>
          <a:p>
            <a:r>
              <a:rPr lang="en-US" sz="2400" dirty="0">
                <a:latin typeface="Times New Roman" pitchFamily="18" charset="0"/>
                <a:cs typeface="Times New Roman" pitchFamily="18" charset="0"/>
              </a:rPr>
              <a:t>A lice centre fits into the Morse taper in the spindle hole for the purpose of locating the work piece axis</a:t>
            </a:r>
          </a:p>
          <a:p>
            <a:r>
              <a:rPr lang="en-US" sz="2400" dirty="0">
                <a:latin typeface="Times New Roman" pitchFamily="18" charset="0"/>
                <a:cs typeface="Times New Roman" pitchFamily="18" charset="0"/>
              </a:rPr>
              <a:t>The main gear box provides the necessary spindle speeds considering the range of materials to be turned in the lathe </a:t>
            </a:r>
          </a:p>
          <a:p>
            <a:r>
              <a:rPr lang="en-US" sz="2400" dirty="0">
                <a:latin typeface="Times New Roman" pitchFamily="18" charset="0"/>
                <a:cs typeface="Times New Roman" pitchFamily="18" charset="0"/>
              </a:rPr>
              <a:t>The headstock also houses the feed ear box to provide the various feed rates and thread cutting ranges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141" y="193784"/>
            <a:ext cx="3176752" cy="906627"/>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CHUCK</a:t>
            </a:r>
          </a:p>
        </p:txBody>
      </p:sp>
      <p:sp>
        <p:nvSpPr>
          <p:cNvPr id="3" name="Content Placeholder 2"/>
          <p:cNvSpPr>
            <a:spLocks noGrp="1"/>
          </p:cNvSpPr>
          <p:nvPr>
            <p:ph idx="1"/>
          </p:nvPr>
        </p:nvSpPr>
        <p:spPr>
          <a:xfrm>
            <a:off x="365234" y="1100411"/>
            <a:ext cx="8274269" cy="5626210"/>
          </a:xfrm>
        </p:spPr>
        <p:txBody>
          <a:bodyPr>
            <a:normAutofit lnSpcReduction="10000"/>
          </a:bodyPr>
          <a:lstStyle/>
          <a:p>
            <a:pPr marL="514350" indent="-514350">
              <a:buAutoNum type="arabicPeriod"/>
            </a:pPr>
            <a:r>
              <a:rPr lang="en-US" sz="2400" dirty="0">
                <a:latin typeface="Times New Roman" pitchFamily="18" charset="0"/>
                <a:cs typeface="Times New Roman" pitchFamily="18" charset="0"/>
              </a:rPr>
              <a:t>THREE JAW CHUCK</a:t>
            </a:r>
          </a:p>
          <a:p>
            <a:pPr marL="514350" indent="-514350"/>
            <a:r>
              <a:rPr lang="en-US" sz="2400" dirty="0">
                <a:latin typeface="Times New Roman" pitchFamily="18" charset="0"/>
                <a:cs typeface="Times New Roman" pitchFamily="18" charset="0"/>
              </a:rPr>
              <a:t>The three jaw chuck is self centering</a:t>
            </a:r>
          </a:p>
          <a:p>
            <a:pPr marL="514350" indent="-514350"/>
            <a:r>
              <a:rPr lang="en-US" sz="2400" dirty="0">
                <a:latin typeface="Times New Roman" pitchFamily="18" charset="0"/>
                <a:cs typeface="Times New Roman" pitchFamily="18" charset="0"/>
              </a:rPr>
              <a:t>The jaws all move together and are always the same distance from the centre</a:t>
            </a:r>
          </a:p>
          <a:p>
            <a:pPr marL="514350" indent="-514350"/>
            <a:r>
              <a:rPr lang="en-US" sz="2400" dirty="0">
                <a:latin typeface="Times New Roman" pitchFamily="18" charset="0"/>
                <a:cs typeface="Times New Roman" pitchFamily="18" charset="0"/>
              </a:rPr>
              <a:t>This chuck is designed to hold round or hexagonal work</a:t>
            </a:r>
          </a:p>
          <a:p>
            <a:pPr marL="514350" indent="-514350"/>
            <a:r>
              <a:rPr lang="en-US" sz="2400" dirty="0">
                <a:latin typeface="Times New Roman" pitchFamily="18" charset="0"/>
                <a:cs typeface="Times New Roman" pitchFamily="18" charset="0"/>
              </a:rPr>
              <a:t>The movement of the jaws is controlled by a scroll plate which is rotated by a chuck key</a:t>
            </a:r>
          </a:p>
          <a:p>
            <a:pPr marL="514350" indent="-514350">
              <a:buNone/>
            </a:pPr>
            <a:r>
              <a:rPr lang="en-US" sz="2400" dirty="0">
                <a:latin typeface="Times New Roman" pitchFamily="18" charset="0"/>
                <a:cs typeface="Times New Roman" pitchFamily="18" charset="0"/>
              </a:rPr>
              <a:t>2. FOUR JAW CHUCK</a:t>
            </a:r>
          </a:p>
          <a:p>
            <a:pPr marL="514350" indent="-514350"/>
            <a:r>
              <a:rPr lang="en-US" sz="2400" dirty="0">
                <a:latin typeface="Times New Roman" pitchFamily="18" charset="0"/>
                <a:cs typeface="Times New Roman" pitchFamily="18" charset="0"/>
              </a:rPr>
              <a:t>The 4 jaw chuck has jaws that can be moved independently of each other</a:t>
            </a:r>
          </a:p>
          <a:p>
            <a:pPr marL="514350" indent="-514350"/>
            <a:r>
              <a:rPr lang="en-US" sz="2400" dirty="0">
                <a:latin typeface="Times New Roman" pitchFamily="18" charset="0"/>
                <a:cs typeface="Times New Roman" pitchFamily="18" charset="0"/>
              </a:rPr>
              <a:t>This chuck is used to hold irregular or odd shaped work </a:t>
            </a:r>
          </a:p>
          <a:p>
            <a:pPr marL="514350" indent="-514350"/>
            <a:r>
              <a:rPr lang="en-US" sz="2400" dirty="0">
                <a:latin typeface="Times New Roman" pitchFamily="18" charset="0"/>
                <a:cs typeface="Times New Roman" pitchFamily="18" charset="0"/>
              </a:rPr>
              <a:t>It requires careful setting up</a:t>
            </a:r>
          </a:p>
          <a:p>
            <a:pPr marL="514350" indent="-514350"/>
            <a:r>
              <a:rPr lang="en-US" sz="2400" dirty="0">
                <a:latin typeface="Times New Roman" pitchFamily="18" charset="0"/>
                <a:cs typeface="Times New Roman" pitchFamily="18" charset="0"/>
              </a:rPr>
              <a:t>It holds work firmer and work can be made to run perfectly true with the aid of a dial indicator</a:t>
            </a:r>
          </a:p>
        </p:txBody>
      </p:sp>
      <p:pic>
        <p:nvPicPr>
          <p:cNvPr id="4098" name="Picture 2"/>
          <p:cNvPicPr>
            <a:picLocks noChangeAspect="1" noChangeArrowheads="1"/>
          </p:cNvPicPr>
          <p:nvPr/>
        </p:nvPicPr>
        <p:blipFill>
          <a:blip r:embed="rId2"/>
          <a:srcRect/>
          <a:stretch>
            <a:fillRect/>
          </a:stretch>
        </p:blipFill>
        <p:spPr bwMode="auto">
          <a:xfrm>
            <a:off x="8414024" y="0"/>
            <a:ext cx="3057525" cy="35623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8665123" y="3586493"/>
            <a:ext cx="2792160" cy="300349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751" y="175938"/>
            <a:ext cx="3702269" cy="833055"/>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CARRIAGE</a:t>
            </a:r>
          </a:p>
        </p:txBody>
      </p:sp>
      <p:sp>
        <p:nvSpPr>
          <p:cNvPr id="3" name="Content Placeholder 2"/>
          <p:cNvSpPr>
            <a:spLocks noGrp="1"/>
          </p:cNvSpPr>
          <p:nvPr>
            <p:ph idx="1"/>
          </p:nvPr>
        </p:nvSpPr>
        <p:spPr>
          <a:xfrm>
            <a:off x="189186" y="1030014"/>
            <a:ext cx="7294180" cy="5827986"/>
          </a:xfrm>
        </p:spPr>
        <p:txBody>
          <a:bodyPr>
            <a:normAutofit lnSpcReduction="10000"/>
          </a:bodyPr>
          <a:lstStyle/>
          <a:p>
            <a:pPr>
              <a:defRPr/>
            </a:pPr>
            <a:r>
              <a:rPr lang="en-US" sz="2400" dirty="0">
                <a:latin typeface="Times New Roman" pitchFamily="18" charset="0"/>
                <a:cs typeface="Times New Roman" pitchFamily="18" charset="0"/>
              </a:rPr>
              <a:t>Used  to move cutting tool along lathe bed</a:t>
            </a:r>
          </a:p>
          <a:p>
            <a:pPr>
              <a:defRPr/>
            </a:pPr>
            <a:r>
              <a:rPr lang="en-US" sz="2400" dirty="0">
                <a:latin typeface="Times New Roman" pitchFamily="18" charset="0"/>
                <a:cs typeface="Times New Roman" pitchFamily="18" charset="0"/>
              </a:rPr>
              <a:t>Consists of following parts</a:t>
            </a:r>
          </a:p>
          <a:p>
            <a:pPr marL="514350" indent="-514350" algn="just">
              <a:buAutoNum type="arabicPeriod"/>
              <a:defRPr/>
            </a:pPr>
            <a:r>
              <a:rPr lang="en-US" sz="2600" b="1" dirty="0">
                <a:latin typeface="Times New Roman" pitchFamily="18" charset="0"/>
                <a:cs typeface="Times New Roman" pitchFamily="18" charset="0"/>
              </a:rPr>
              <a:t>Saddle : </a:t>
            </a:r>
            <a:r>
              <a:rPr lang="en-US" sz="2600" dirty="0">
                <a:latin typeface="Times New Roman" pitchFamily="18" charset="0"/>
                <a:cs typeface="Times New Roman" pitchFamily="18" charset="0"/>
              </a:rPr>
              <a:t>H-shaped casting mounted on top of lathe ways.</a:t>
            </a:r>
          </a:p>
          <a:p>
            <a:pPr marL="514350" indent="-514350" algn="just">
              <a:buAutoNum type="arabicPeriod"/>
              <a:defRPr/>
            </a:pPr>
            <a:r>
              <a:rPr lang="en-US" sz="2600" b="1" dirty="0">
                <a:latin typeface="Times New Roman" pitchFamily="18" charset="0"/>
                <a:cs typeface="Times New Roman" pitchFamily="18" charset="0"/>
              </a:rPr>
              <a:t>Cross-slide: </a:t>
            </a:r>
            <a:r>
              <a:rPr lang="en-US" sz="2600" dirty="0">
                <a:latin typeface="Times New Roman" pitchFamily="18" charset="0"/>
                <a:cs typeface="Times New Roman" pitchFamily="18" charset="0"/>
              </a:rPr>
              <a:t>Mounted on top of saddle. Carries compound rest and tool post. Used to give depth of cut</a:t>
            </a:r>
          </a:p>
          <a:p>
            <a:pPr marL="514350" indent="-514350" algn="just">
              <a:buAutoNum type="arabicPeriod"/>
              <a:defRPr/>
            </a:pPr>
            <a:r>
              <a:rPr lang="en-US" sz="2600" b="1" dirty="0">
                <a:latin typeface="Times New Roman" pitchFamily="18" charset="0"/>
                <a:cs typeface="Times New Roman" pitchFamily="18" charset="0"/>
              </a:rPr>
              <a:t>Compound rest </a:t>
            </a:r>
            <a:r>
              <a:rPr lang="en-US" sz="2600" dirty="0">
                <a:latin typeface="Times New Roman" pitchFamily="18" charset="0"/>
                <a:cs typeface="Times New Roman" pitchFamily="18" charset="0"/>
              </a:rPr>
              <a:t>: Circular base with graduation mounted on cross slide. Used for turning short tapers and angular cut .Tool post held on compound rest</a:t>
            </a:r>
          </a:p>
          <a:p>
            <a:pPr marL="514350" indent="-514350" algn="just">
              <a:buAutoNum type="arabicPeriod"/>
              <a:defRPr/>
            </a:pPr>
            <a:r>
              <a:rPr lang="en-US" sz="2600" b="1" dirty="0">
                <a:latin typeface="Times New Roman" pitchFamily="18" charset="0"/>
                <a:cs typeface="Times New Roman" pitchFamily="18" charset="0"/>
              </a:rPr>
              <a:t>Apron : </a:t>
            </a:r>
            <a:r>
              <a:rPr lang="en-IN" sz="2600" dirty="0">
                <a:latin typeface="Times New Roman" pitchFamily="18" charset="0"/>
                <a:cs typeface="Times New Roman" pitchFamily="18" charset="0"/>
              </a:rPr>
              <a:t>Lower part. Contain gears, clutches for transmitting motion from feed rod to carriage also contain split nut which engages lead screw for thread cutting.</a:t>
            </a:r>
            <a:endParaRPr lang="en-US" sz="2600" dirty="0">
              <a:latin typeface="Times New Roman" pitchFamily="18" charset="0"/>
              <a:cs typeface="Times New Roman" pitchFamily="18" charset="0"/>
            </a:endParaRPr>
          </a:p>
          <a:p>
            <a:endParaRPr lang="en-US" dirty="0"/>
          </a:p>
        </p:txBody>
      </p:sp>
      <p:pic>
        <p:nvPicPr>
          <p:cNvPr id="4" name="Picture 3" descr="kra07228_4505L"/>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35765" y="136635"/>
            <a:ext cx="4156841" cy="32589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0" name="Picture 2"/>
          <p:cNvPicPr>
            <a:picLocks noChangeAspect="1" noChangeArrowheads="1"/>
          </p:cNvPicPr>
          <p:nvPr/>
        </p:nvPicPr>
        <p:blipFill>
          <a:blip r:embed="rId3"/>
          <a:srcRect/>
          <a:stretch>
            <a:fillRect/>
          </a:stretch>
        </p:blipFill>
        <p:spPr bwMode="auto">
          <a:xfrm>
            <a:off x="7893269" y="3467265"/>
            <a:ext cx="3937838" cy="3346513"/>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6572" y="501759"/>
            <a:ext cx="5247290" cy="864585"/>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TOOL POST</a:t>
            </a:r>
          </a:p>
        </p:txBody>
      </p:sp>
      <p:sp>
        <p:nvSpPr>
          <p:cNvPr id="3" name="Content Placeholder 2"/>
          <p:cNvSpPr>
            <a:spLocks noGrp="1"/>
          </p:cNvSpPr>
          <p:nvPr>
            <p:ph idx="1"/>
          </p:nvPr>
        </p:nvSpPr>
        <p:spPr>
          <a:xfrm>
            <a:off x="270640" y="2277568"/>
            <a:ext cx="8158656" cy="3009135"/>
          </a:xfrm>
        </p:spPr>
        <p:txBody>
          <a:bodyPr>
            <a:normAutofit/>
          </a:bodyPr>
          <a:lstStyle/>
          <a:p>
            <a:pPr algn="just"/>
            <a:r>
              <a:rPr lang="en-US" sz="2400" dirty="0">
                <a:latin typeface="Times New Roman" pitchFamily="18" charset="0"/>
                <a:cs typeface="Times New Roman" pitchFamily="18" charset="0"/>
              </a:rPr>
              <a:t>The tool post is a device for firmly clamping the cutting tool or tool holder to the lathe</a:t>
            </a:r>
          </a:p>
          <a:p>
            <a:pPr algn="just"/>
            <a:r>
              <a:rPr lang="en-US" sz="2400" dirty="0">
                <a:latin typeface="Times New Roman" pitchFamily="18" charset="0"/>
                <a:cs typeface="Times New Roman" pitchFamily="18" charset="0"/>
              </a:rPr>
              <a:t>The tool post is fixed to the top of the compound slide</a:t>
            </a:r>
          </a:p>
          <a:p>
            <a:pPr algn="just"/>
            <a:r>
              <a:rPr lang="en-US" sz="2400" dirty="0">
                <a:latin typeface="Times New Roman" pitchFamily="18" charset="0"/>
                <a:cs typeface="Times New Roman" pitchFamily="18" charset="0"/>
              </a:rPr>
              <a:t>Below is a standard tool post and the square tool post which can hold 4 different cutting tools </a:t>
            </a:r>
          </a:p>
        </p:txBody>
      </p:sp>
      <p:pic>
        <p:nvPicPr>
          <p:cNvPr id="3074" name="Picture 2"/>
          <p:cNvPicPr>
            <a:picLocks noChangeAspect="1" noChangeArrowheads="1"/>
          </p:cNvPicPr>
          <p:nvPr/>
        </p:nvPicPr>
        <p:blipFill>
          <a:blip r:embed="rId2"/>
          <a:srcRect l="5826" r="51655" b="7566"/>
          <a:stretch>
            <a:fillRect/>
          </a:stretch>
        </p:blipFill>
        <p:spPr bwMode="auto">
          <a:xfrm>
            <a:off x="9028387" y="515005"/>
            <a:ext cx="2112578" cy="2731830"/>
          </a:xfrm>
          <a:prstGeom prst="rect">
            <a:avLst/>
          </a:prstGeom>
          <a:noFill/>
          <a:ln w="9525">
            <a:noFill/>
            <a:miter lim="800000"/>
            <a:headEnd/>
            <a:tailEnd/>
          </a:ln>
          <a:effectLst/>
        </p:spPr>
      </p:pic>
      <p:pic>
        <p:nvPicPr>
          <p:cNvPr id="5" name="Picture 2"/>
          <p:cNvPicPr>
            <a:picLocks noChangeAspect="1" noChangeArrowheads="1"/>
          </p:cNvPicPr>
          <p:nvPr/>
        </p:nvPicPr>
        <p:blipFill>
          <a:blip r:embed="rId2"/>
          <a:srcRect l="60720" r="3424" b="7566"/>
          <a:stretch>
            <a:fillRect/>
          </a:stretch>
        </p:blipFill>
        <p:spPr bwMode="auto">
          <a:xfrm>
            <a:off x="9301656" y="3358055"/>
            <a:ext cx="1781505" cy="273183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4931" y="711518"/>
            <a:ext cx="6445469" cy="5605189"/>
          </a:xfrm>
        </p:spPr>
        <p:txBody>
          <a:bodyPr/>
          <a:lstStyle/>
          <a:p>
            <a:pPr>
              <a:buNone/>
            </a:pPr>
            <a:r>
              <a:rPr lang="en-US" b="1" dirty="0">
                <a:latin typeface="Times New Roman" pitchFamily="18" charset="0"/>
                <a:cs typeface="Times New Roman" pitchFamily="18" charset="0"/>
              </a:rPr>
              <a:t>LEAD SCREW</a:t>
            </a:r>
          </a:p>
          <a:p>
            <a:r>
              <a:rPr lang="en-US" altLang="en-US" sz="2400" dirty="0">
                <a:latin typeface="Times New Roman" pitchFamily="18" charset="0"/>
                <a:cs typeface="Times New Roman" pitchFamily="18" charset="0"/>
              </a:rPr>
              <a:t>Long threaded  bar , located slightly below and parallel to the bed ways</a:t>
            </a:r>
          </a:p>
          <a:p>
            <a:r>
              <a:rPr lang="en-US" altLang="en-US" sz="2400" dirty="0">
                <a:latin typeface="Times New Roman" pitchFamily="18" charset="0"/>
                <a:cs typeface="Times New Roman" pitchFamily="18" charset="0"/>
              </a:rPr>
              <a:t>Fitted to the carriage</a:t>
            </a:r>
          </a:p>
          <a:p>
            <a:r>
              <a:rPr lang="en-US" altLang="en-US" sz="2400" dirty="0">
                <a:latin typeface="Times New Roman" pitchFamily="18" charset="0"/>
                <a:cs typeface="Times New Roman" pitchFamily="18" charset="0"/>
              </a:rPr>
              <a:t>Engaged or disengaged by split nut</a:t>
            </a:r>
          </a:p>
          <a:p>
            <a:r>
              <a:rPr lang="en-US" altLang="en-US" sz="2400" dirty="0">
                <a:latin typeface="Times New Roman" pitchFamily="18" charset="0"/>
                <a:cs typeface="Times New Roman" pitchFamily="18" charset="0"/>
              </a:rPr>
              <a:t>Engaged with carriage for cutting threads</a:t>
            </a:r>
            <a:endParaRPr lang="en-IN" altLang="en-US" sz="2400" dirty="0">
              <a:latin typeface="Times New Roman" pitchFamily="18" charset="0"/>
              <a:cs typeface="Times New Roman" pitchFamily="18" charset="0"/>
            </a:endParaRPr>
          </a:p>
          <a:p>
            <a:pPr>
              <a:buNone/>
            </a:pPr>
            <a:r>
              <a:rPr lang="en-US" b="1" dirty="0">
                <a:latin typeface="Times New Roman" pitchFamily="18" charset="0"/>
                <a:cs typeface="Times New Roman" pitchFamily="18" charset="0"/>
              </a:rPr>
              <a:t>FEED ROD</a:t>
            </a:r>
          </a:p>
          <a:p>
            <a:r>
              <a:rPr lang="en-US" altLang="en-US" sz="2400" dirty="0">
                <a:latin typeface="Times New Roman" pitchFamily="18" charset="0"/>
                <a:cs typeface="Times New Roman" pitchFamily="18" charset="0"/>
              </a:rPr>
              <a:t>Used for  operating the carriage in automatic turning </a:t>
            </a:r>
          </a:p>
          <a:p>
            <a:r>
              <a:rPr lang="en-US" altLang="en-US" sz="2400" dirty="0">
                <a:latin typeface="Times New Roman" pitchFamily="18" charset="0"/>
                <a:cs typeface="Times New Roman" pitchFamily="18" charset="0"/>
              </a:rPr>
              <a:t>Obtain motion from spindle  and transmits to carriage through gear train</a:t>
            </a:r>
            <a:endParaRPr lang="en-IN" altLang="en-US" sz="2400" dirty="0">
              <a:latin typeface="Times New Roman" pitchFamily="18" charset="0"/>
              <a:cs typeface="Times New Roman" pitchFamily="18" charset="0"/>
            </a:endParaRPr>
          </a:p>
          <a:p>
            <a:pPr>
              <a:buNone/>
            </a:pPr>
            <a:endParaRPr lang="en-US" dirty="0"/>
          </a:p>
        </p:txBody>
      </p:sp>
      <p:pic>
        <p:nvPicPr>
          <p:cNvPr id="5122" name="Picture 2" descr="Harrison M400 Straight Bed Centre Lathe x 60&quot; - GD Machinery : GD Machinery"/>
          <p:cNvPicPr>
            <a:picLocks noChangeAspect="1" noChangeArrowheads="1"/>
          </p:cNvPicPr>
          <p:nvPr/>
        </p:nvPicPr>
        <p:blipFill>
          <a:blip r:embed="rId2"/>
          <a:srcRect/>
          <a:stretch>
            <a:fillRect/>
          </a:stretch>
        </p:blipFill>
        <p:spPr bwMode="auto">
          <a:xfrm>
            <a:off x="7397202" y="1673773"/>
            <a:ext cx="4340772" cy="3255579"/>
          </a:xfrm>
          <a:prstGeom prst="rect">
            <a:avLst/>
          </a:prstGeom>
          <a:noFill/>
        </p:spPr>
      </p:pic>
      <p:sp>
        <p:nvSpPr>
          <p:cNvPr id="4" name="Slide Number Placeholder 3"/>
          <p:cNvSpPr>
            <a:spLocks noGrp="1"/>
          </p:cNvSpPr>
          <p:nvPr>
            <p:ph type="sldNum" sz="quarter" idx="12"/>
          </p:nvPr>
        </p:nvSpPr>
        <p:spPr/>
        <p:txBody>
          <a:bodyPr/>
          <a:lstStyle/>
          <a:p>
            <a:fld id="{6CD2C3DF-7EAB-4FBF-A7D6-E6B2366142AB}"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628" y="344105"/>
            <a:ext cx="4522076" cy="98019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TAILSTOCK</a:t>
            </a:r>
          </a:p>
        </p:txBody>
      </p:sp>
      <p:sp>
        <p:nvSpPr>
          <p:cNvPr id="3" name="Content Placeholder 2"/>
          <p:cNvSpPr>
            <a:spLocks noGrp="1"/>
          </p:cNvSpPr>
          <p:nvPr>
            <p:ph idx="1"/>
          </p:nvPr>
        </p:nvSpPr>
        <p:spPr>
          <a:xfrm>
            <a:off x="449317" y="1489294"/>
            <a:ext cx="5856890" cy="4848444"/>
          </a:xfrm>
        </p:spPr>
        <p:txBody>
          <a:bodyPr>
            <a:normAutofit/>
          </a:bodyPr>
          <a:lstStyle/>
          <a:p>
            <a:pPr algn="just"/>
            <a:r>
              <a:rPr lang="en-US" sz="2400" dirty="0">
                <a:latin typeface="Times New Roman" pitchFamily="18" charset="0"/>
                <a:cs typeface="Times New Roman" pitchFamily="18" charset="0"/>
              </a:rPr>
              <a:t>Towards the right most end on the bed</a:t>
            </a:r>
          </a:p>
          <a:p>
            <a:pPr algn="just"/>
            <a:r>
              <a:rPr lang="en-US" sz="2400" dirty="0">
                <a:latin typeface="Times New Roman" pitchFamily="18" charset="0"/>
                <a:cs typeface="Times New Roman" pitchFamily="18" charset="0"/>
              </a:rPr>
              <a:t>Houses the tailstock spindle for the purpose of locating the long components by the use of </a:t>
            </a:r>
            <a:r>
              <a:rPr lang="en-US" sz="2400" dirty="0" err="1">
                <a:latin typeface="Times New Roman" pitchFamily="18" charset="0"/>
                <a:cs typeface="Times New Roman" pitchFamily="18" charset="0"/>
              </a:rPr>
              <a:t>centres</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Movable on the inner </a:t>
            </a:r>
            <a:r>
              <a:rPr lang="en-US" sz="2400" dirty="0" err="1">
                <a:latin typeface="Times New Roman" pitchFamily="18" charset="0"/>
                <a:cs typeface="Times New Roman" pitchFamily="18" charset="0"/>
              </a:rPr>
              <a:t>guideways</a:t>
            </a:r>
            <a:r>
              <a:rPr lang="en-US" sz="2400" dirty="0">
                <a:latin typeface="Times New Roman" pitchFamily="18" charset="0"/>
                <a:cs typeface="Times New Roman" pitchFamily="18" charset="0"/>
              </a:rPr>
              <a:t> provided on the bed to accommodate the different lengths of work pieces</a:t>
            </a:r>
          </a:p>
          <a:p>
            <a:pPr algn="just"/>
            <a:r>
              <a:rPr lang="en-US" sz="2400" dirty="0">
                <a:latin typeface="Times New Roman" pitchFamily="18" charset="0"/>
                <a:cs typeface="Times New Roman" pitchFamily="18" charset="0"/>
              </a:rPr>
              <a:t>Serves the purpose of holding tools such as centre drill, twist drill, reamer etc… for making and finishing holes in the components</a:t>
            </a:r>
          </a:p>
          <a:p>
            <a:pPr algn="just"/>
            <a:endParaRPr lang="en-US" sz="2400" dirty="0">
              <a:latin typeface="Times New Roman" pitchFamily="18" charset="0"/>
              <a:cs typeface="Times New Roman" pitchFamily="18" charset="0"/>
            </a:endParaRPr>
          </a:p>
        </p:txBody>
      </p:sp>
      <p:pic>
        <p:nvPicPr>
          <p:cNvPr id="7170" name="Picture 2" descr="Lathe Machine - Definition, Types, parts, Specifications"/>
          <p:cNvPicPr>
            <a:picLocks noChangeAspect="1" noChangeArrowheads="1"/>
          </p:cNvPicPr>
          <p:nvPr/>
        </p:nvPicPr>
        <p:blipFill>
          <a:blip r:embed="rId2"/>
          <a:srcRect/>
          <a:stretch>
            <a:fillRect/>
          </a:stretch>
        </p:blipFill>
        <p:spPr bwMode="auto">
          <a:xfrm>
            <a:off x="6545864" y="3210964"/>
            <a:ext cx="5413108" cy="3231878"/>
          </a:xfrm>
          <a:prstGeom prst="rect">
            <a:avLst/>
          </a:prstGeom>
          <a:noFill/>
        </p:spPr>
      </p:pic>
      <p:pic>
        <p:nvPicPr>
          <p:cNvPr id="7172" name="Picture 4" descr="Tailstock"/>
          <p:cNvPicPr>
            <a:picLocks noChangeAspect="1" noChangeArrowheads="1"/>
          </p:cNvPicPr>
          <p:nvPr/>
        </p:nvPicPr>
        <p:blipFill>
          <a:blip r:embed="rId3"/>
          <a:srcRect/>
          <a:stretch>
            <a:fillRect/>
          </a:stretch>
        </p:blipFill>
        <p:spPr bwMode="auto">
          <a:xfrm>
            <a:off x="7449753" y="173584"/>
            <a:ext cx="4063697" cy="2706250"/>
          </a:xfrm>
          <a:prstGeom prst="rect">
            <a:avLst/>
          </a:prstGeom>
          <a:noFill/>
        </p:spPr>
      </p:pic>
      <p:sp>
        <p:nvSpPr>
          <p:cNvPr id="6" name="Slide Number Placeholder 5"/>
          <p:cNvSpPr>
            <a:spLocks noGrp="1"/>
          </p:cNvSpPr>
          <p:nvPr>
            <p:ph type="sldNum" sz="quarter" idx="12"/>
          </p:nvPr>
        </p:nvSpPr>
        <p:spPr/>
        <p:txBody>
          <a:bodyPr/>
          <a:lstStyle/>
          <a:p>
            <a:fld id="{6CD2C3DF-7EAB-4FBF-A7D6-E6B2366142AB}"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296" y="459281"/>
            <a:ext cx="6182711" cy="6214788"/>
          </a:xfrm>
        </p:spPr>
        <p:txBody>
          <a:bodyPr>
            <a:normAutofit lnSpcReduction="10000"/>
          </a:bodyPr>
          <a:lstStyle/>
          <a:p>
            <a:pPr>
              <a:buNone/>
            </a:pPr>
            <a:r>
              <a:rPr lang="en-US" sz="2600" b="1" dirty="0">
                <a:solidFill>
                  <a:schemeClr val="tx2">
                    <a:lumMod val="50000"/>
                  </a:schemeClr>
                </a:solidFill>
                <a:latin typeface="Times New Roman" pitchFamily="18" charset="0"/>
                <a:cs typeface="Times New Roman" pitchFamily="18" charset="0"/>
              </a:rPr>
              <a:t>CENTRES</a:t>
            </a:r>
          </a:p>
          <a:p>
            <a:pPr algn="just"/>
            <a:r>
              <a:rPr lang="en-US" sz="2600" dirty="0">
                <a:latin typeface="Times New Roman" pitchFamily="18" charset="0"/>
                <a:cs typeface="Times New Roman" pitchFamily="18" charset="0"/>
              </a:rPr>
              <a:t>The headstock and tailstock spindles are bored out to standard </a:t>
            </a:r>
            <a:r>
              <a:rPr lang="en-US" sz="2600" dirty="0" err="1">
                <a:latin typeface="Times New Roman" pitchFamily="18" charset="0"/>
                <a:cs typeface="Times New Roman" pitchFamily="18" charset="0"/>
              </a:rPr>
              <a:t>morse</a:t>
            </a:r>
            <a:r>
              <a:rPr lang="en-US" sz="2600" dirty="0">
                <a:latin typeface="Times New Roman" pitchFamily="18" charset="0"/>
                <a:cs typeface="Times New Roman" pitchFamily="18" charset="0"/>
              </a:rPr>
              <a:t> taper to receive headstock and tailstock </a:t>
            </a:r>
            <a:r>
              <a:rPr lang="en-US" sz="2600" dirty="0" err="1">
                <a:latin typeface="Times New Roman" pitchFamily="18" charset="0"/>
                <a:cs typeface="Times New Roman" pitchFamily="18" charset="0"/>
              </a:rPr>
              <a:t>centres</a:t>
            </a:r>
            <a:r>
              <a:rPr lang="en-US" sz="2600" dirty="0">
                <a:latin typeface="Times New Roman" pitchFamily="18" charset="0"/>
                <a:cs typeface="Times New Roman" pitchFamily="18" charset="0"/>
              </a:rPr>
              <a:t> whose shanks are also </a:t>
            </a:r>
            <a:r>
              <a:rPr lang="en-US" sz="2600" dirty="0" err="1">
                <a:latin typeface="Times New Roman" pitchFamily="18" charset="0"/>
                <a:cs typeface="Times New Roman" pitchFamily="18" charset="0"/>
              </a:rPr>
              <a:t>morse</a:t>
            </a:r>
            <a:r>
              <a:rPr lang="en-US" sz="2600" dirty="0">
                <a:latin typeface="Times New Roman" pitchFamily="18" charset="0"/>
                <a:cs typeface="Times New Roman" pitchFamily="18" charset="0"/>
              </a:rPr>
              <a:t> tapers</a:t>
            </a:r>
          </a:p>
          <a:p>
            <a:pPr algn="just"/>
            <a:r>
              <a:rPr lang="en-US" sz="2600" dirty="0">
                <a:latin typeface="Times New Roman" pitchFamily="18" charset="0"/>
                <a:cs typeface="Times New Roman" pitchFamily="18" charset="0"/>
              </a:rPr>
              <a:t>The points are ground to an angle of 60 degrees to fit the countersink section of a centre drill</a:t>
            </a:r>
          </a:p>
          <a:p>
            <a:pPr algn="just"/>
            <a:r>
              <a:rPr lang="en-US" sz="2600" dirty="0">
                <a:latin typeface="Times New Roman" pitchFamily="18" charset="0"/>
                <a:cs typeface="Times New Roman" pitchFamily="18" charset="0"/>
              </a:rPr>
              <a:t>The tailstock centre supports the right hand end of the work</a:t>
            </a:r>
          </a:p>
          <a:p>
            <a:pPr algn="just"/>
            <a:r>
              <a:rPr lang="en-US" sz="2600" dirty="0">
                <a:latin typeface="Times New Roman" pitchFamily="18" charset="0"/>
                <a:cs typeface="Times New Roman" pitchFamily="18" charset="0"/>
              </a:rPr>
              <a:t>The work rotates on the bearing surface of this centre so it must be hardened and well lubricated</a:t>
            </a:r>
          </a:p>
          <a:p>
            <a:pPr algn="just"/>
            <a:r>
              <a:rPr lang="en-US" sz="2600" dirty="0">
                <a:latin typeface="Times New Roman" pitchFamily="18" charset="0"/>
                <a:cs typeface="Times New Roman" pitchFamily="18" charset="0"/>
              </a:rPr>
              <a:t>Live </a:t>
            </a:r>
            <a:r>
              <a:rPr lang="en-US" sz="2600" dirty="0" err="1">
                <a:latin typeface="Times New Roman" pitchFamily="18" charset="0"/>
                <a:cs typeface="Times New Roman" pitchFamily="18" charset="0"/>
              </a:rPr>
              <a:t>centres</a:t>
            </a:r>
            <a:r>
              <a:rPr lang="en-US" sz="2600" dirty="0">
                <a:latin typeface="Times New Roman" pitchFamily="18" charset="0"/>
                <a:cs typeface="Times New Roman" pitchFamily="18" charset="0"/>
              </a:rPr>
              <a:t> are used in the tailstock and have built in roller or ball bearings which enable the point of the </a:t>
            </a:r>
            <a:r>
              <a:rPr lang="en-US" sz="2600" dirty="0" err="1">
                <a:latin typeface="Times New Roman" pitchFamily="18" charset="0"/>
                <a:cs typeface="Times New Roman" pitchFamily="18" charset="0"/>
              </a:rPr>
              <a:t>cnetre</a:t>
            </a:r>
            <a:r>
              <a:rPr lang="en-US" sz="2600" dirty="0">
                <a:latin typeface="Times New Roman" pitchFamily="18" charset="0"/>
                <a:cs typeface="Times New Roman" pitchFamily="18" charset="0"/>
              </a:rPr>
              <a:t> to rotate with the work.</a:t>
            </a:r>
          </a:p>
          <a:p>
            <a:endParaRPr lang="en-US" dirty="0"/>
          </a:p>
          <a:p>
            <a:endParaRPr lang="en-US" dirty="0"/>
          </a:p>
        </p:txBody>
      </p:sp>
      <p:pic>
        <p:nvPicPr>
          <p:cNvPr id="6145" name="Picture 1"/>
          <p:cNvPicPr>
            <a:picLocks noChangeAspect="1" noChangeArrowheads="1"/>
          </p:cNvPicPr>
          <p:nvPr/>
        </p:nvPicPr>
        <p:blipFill>
          <a:blip r:embed="rId2"/>
          <a:srcRect l="3443" t="5141" r="7292" b="5267"/>
          <a:stretch>
            <a:fillRect/>
          </a:stretch>
        </p:blipFill>
        <p:spPr bwMode="auto">
          <a:xfrm>
            <a:off x="6674070" y="1692165"/>
            <a:ext cx="5118538" cy="372066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6CD2C3DF-7EAB-4FBF-A7D6-E6B2366142AB}"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SPECIFICATIONS</a:t>
            </a:r>
          </a:p>
        </p:txBody>
      </p:sp>
      <p:sp>
        <p:nvSpPr>
          <p:cNvPr id="3" name="Content Placeholder 2"/>
          <p:cNvSpPr>
            <a:spLocks noGrp="1"/>
          </p:cNvSpPr>
          <p:nvPr>
            <p:ph idx="1"/>
          </p:nvPr>
        </p:nvSpPr>
        <p:spPr/>
        <p:txBody>
          <a:bodyPr>
            <a:normAutofit lnSpcReduction="10000"/>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Distance between </a:t>
            </a:r>
            <a:r>
              <a:rPr lang="en-US" dirty="0" err="1">
                <a:latin typeface="Times New Roman" panose="02020603050405020304" pitchFamily="18" charset="0"/>
                <a:cs typeface="Times New Roman" panose="02020603050405020304" pitchFamily="18" charset="0"/>
              </a:rPr>
              <a:t>centres</a:t>
            </a:r>
            <a:r>
              <a:rPr lang="en-US" dirty="0">
                <a:latin typeface="Times New Roman" panose="02020603050405020304" pitchFamily="18" charset="0"/>
                <a:cs typeface="Times New Roman" panose="02020603050405020304" pitchFamily="18" charset="0"/>
              </a:rPr>
              <a:t> – maximum length of the job that can be turned in the lathe</a:t>
            </a:r>
          </a:p>
          <a:p>
            <a:pPr marL="514350" indent="-514350" algn="just">
              <a:buAutoNum type="arabicPeriod"/>
            </a:pPr>
            <a:r>
              <a:rPr lang="en-US" dirty="0">
                <a:latin typeface="Times New Roman" panose="02020603050405020304" pitchFamily="18" charset="0"/>
                <a:cs typeface="Times New Roman" panose="02020603050405020304" pitchFamily="18" charset="0"/>
              </a:rPr>
              <a:t>Swing over the bed – maximum diameter of the job that can be turned in the lathe</a:t>
            </a:r>
          </a:p>
          <a:p>
            <a:pPr marL="514350" indent="-514350" algn="just">
              <a:buAutoNum type="arabicPeriod"/>
            </a:pPr>
            <a:r>
              <a:rPr lang="en-US" dirty="0">
                <a:latin typeface="Times New Roman" panose="02020603050405020304" pitchFamily="18" charset="0"/>
                <a:cs typeface="Times New Roman" panose="02020603050405020304" pitchFamily="18" charset="0"/>
              </a:rPr>
              <a:t>Swing over the cross slide – maximum diameter of the job that can be turned in the lathe machine with the job across the cross slide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Horse power of the motor, cutting speed range, feed range, screw cutting capacity, accuracy achievable, spindle nose diameter and hole size,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16</a:t>
            </a:fld>
            <a:endParaRPr lang="en-IN"/>
          </a:p>
        </p:txBody>
      </p:sp>
    </p:spTree>
    <p:extLst>
      <p:ext uri="{BB962C8B-B14F-4D97-AF65-F5344CB8AC3E}">
        <p14:creationId xmlns:p14="http://schemas.microsoft.com/office/powerpoint/2010/main" xmlns="" val="4280223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WORK HOLDING DEVICES</a:t>
            </a:r>
          </a:p>
        </p:txBody>
      </p:sp>
      <p:sp>
        <p:nvSpPr>
          <p:cNvPr id="3" name="Content Placeholder 2"/>
          <p:cNvSpPr>
            <a:spLocks noGrp="1"/>
          </p:cNvSpPr>
          <p:nvPr>
            <p:ph idx="1"/>
          </p:nvPr>
        </p:nvSpPr>
        <p:spPr/>
        <p:txBody>
          <a:bodyPr/>
          <a:lstStyle/>
          <a:p>
            <a:r>
              <a:rPr lang="en-US" dirty="0"/>
              <a:t> </a:t>
            </a:r>
            <a:r>
              <a:rPr lang="en-US" dirty="0">
                <a:latin typeface="Times New Roman" panose="02020603050405020304" pitchFamily="18" charset="0"/>
                <a:cs typeface="Times New Roman" panose="02020603050405020304" pitchFamily="18" charset="0"/>
              </a:rPr>
              <a:t>Easy and quick to operate, and should ensure rigidity against heavy cuts</a:t>
            </a:r>
          </a:p>
          <a:p>
            <a:pPr marL="0" indent="0">
              <a:buNone/>
            </a:pPr>
            <a:r>
              <a:rPr lang="en-US" dirty="0">
                <a:latin typeface="Times New Roman" panose="02020603050405020304" pitchFamily="18" charset="0"/>
                <a:cs typeface="Times New Roman" panose="02020603050405020304" pitchFamily="18" charset="0"/>
              </a:rPr>
              <a:t>Commonly used work holding devices are</a:t>
            </a:r>
          </a:p>
          <a:p>
            <a:pPr marL="0" indent="0">
              <a:buNone/>
            </a:pPr>
            <a:r>
              <a:rPr lang="en-US" dirty="0">
                <a:latin typeface="Times New Roman" panose="02020603050405020304" pitchFamily="18" charset="0"/>
                <a:cs typeface="Times New Roman" panose="02020603050405020304" pitchFamily="18" charset="0"/>
              </a:rPr>
              <a:t>1. Collect chucks</a:t>
            </a:r>
          </a:p>
          <a:p>
            <a:pPr marL="0" indent="0">
              <a:buNone/>
            </a:pPr>
            <a:r>
              <a:rPr lang="en-US" dirty="0">
                <a:latin typeface="Times New Roman" panose="02020603050405020304" pitchFamily="18" charset="0"/>
                <a:cs typeface="Times New Roman" panose="02020603050405020304" pitchFamily="18" charset="0"/>
              </a:rPr>
              <a:t>2. Jaw chucks</a:t>
            </a:r>
          </a:p>
          <a:p>
            <a:pPr marL="0" indent="0">
              <a:buNone/>
            </a:pPr>
            <a:r>
              <a:rPr lang="en-US" dirty="0">
                <a:latin typeface="Times New Roman" panose="02020603050405020304" pitchFamily="18" charset="0"/>
                <a:cs typeface="Times New Roman" panose="02020603050405020304" pitchFamily="18" charset="0"/>
              </a:rPr>
              <a:t>3. Arbors</a:t>
            </a:r>
          </a:p>
          <a:p>
            <a:pPr marL="0" indent="0">
              <a:buNone/>
            </a:pPr>
            <a:r>
              <a:rPr lang="en-US" dirty="0">
                <a:latin typeface="Times New Roman" panose="02020603050405020304" pitchFamily="18" charset="0"/>
                <a:cs typeface="Times New Roman" panose="02020603050405020304" pitchFamily="18" charset="0"/>
              </a:rPr>
              <a:t>4. fixtures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17</a:t>
            </a:fld>
            <a:endParaRPr lang="en-IN"/>
          </a:p>
        </p:txBody>
      </p:sp>
    </p:spTree>
    <p:extLst>
      <p:ext uri="{BB962C8B-B14F-4D97-AF65-F5344CB8AC3E}">
        <p14:creationId xmlns:p14="http://schemas.microsoft.com/office/powerpoint/2010/main" xmlns="" val="3253810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786" y="301624"/>
            <a:ext cx="8022021" cy="6298874"/>
          </a:xfrm>
        </p:spPr>
        <p:txBody>
          <a:bodyPr>
            <a:normAutofit lnSpcReduction="10000"/>
          </a:bodyPr>
          <a:lstStyle/>
          <a:p>
            <a:pPr marL="0" indent="0">
              <a:buNone/>
            </a:pPr>
            <a:r>
              <a:rPr lang="en-US" b="1" dirty="0">
                <a:solidFill>
                  <a:schemeClr val="tx2">
                    <a:lumMod val="50000"/>
                  </a:schemeClr>
                </a:solidFill>
                <a:latin typeface="Times New Roman" panose="02020603050405020304" pitchFamily="18" charset="0"/>
                <a:cs typeface="Times New Roman" panose="02020603050405020304" pitchFamily="18" charset="0"/>
              </a:rPr>
              <a:t>1. </a:t>
            </a:r>
            <a:r>
              <a:rPr lang="en-US" b="1" dirty="0" err="1">
                <a:solidFill>
                  <a:schemeClr val="tx2">
                    <a:lumMod val="50000"/>
                  </a:schemeClr>
                </a:solidFill>
                <a:latin typeface="Times New Roman" pitchFamily="18" charset="0"/>
                <a:cs typeface="Times New Roman" pitchFamily="18" charset="0"/>
              </a:rPr>
              <a:t>Collet</a:t>
            </a:r>
            <a:r>
              <a:rPr lang="en-US" b="1" dirty="0">
                <a:solidFill>
                  <a:schemeClr val="tx2">
                    <a:lumMod val="50000"/>
                  </a:schemeClr>
                </a:solidFill>
                <a:latin typeface="Times New Roman" pitchFamily="18" charset="0"/>
                <a:cs typeface="Times New Roman" pitchFamily="18" charset="0"/>
              </a:rPr>
              <a:t> chucks</a:t>
            </a:r>
          </a:p>
          <a:p>
            <a:pPr algn="just"/>
            <a:r>
              <a:rPr lang="en-US" dirty="0">
                <a:latin typeface="Times New Roman" pitchFamily="18" charset="0"/>
                <a:cs typeface="Times New Roman" pitchFamily="18" charset="0"/>
              </a:rPr>
              <a:t>Used to clamp bar stock in machining on turret lathes</a:t>
            </a:r>
          </a:p>
          <a:p>
            <a:pPr algn="just"/>
            <a:r>
              <a:rPr lang="en-US" dirty="0">
                <a:latin typeface="Times New Roman" pitchFamily="18" charset="0"/>
                <a:cs typeface="Times New Roman" pitchFamily="18" charset="0"/>
              </a:rPr>
              <a:t>which is a steel sleeve with split tapered portion forming jaws</a:t>
            </a:r>
          </a:p>
          <a:p>
            <a:pPr algn="just"/>
            <a:r>
              <a:rPr lang="en-US" dirty="0">
                <a:latin typeface="Times New Roman" pitchFamily="18" charset="0"/>
                <a:cs typeface="Times New Roman" pitchFamily="18" charset="0"/>
              </a:rPr>
              <a:t>Clamp bar 3 when tube 4 together with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2 is shifted to the left until the jaws of the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are contracted by inner tapered hole of spindle 1</a:t>
            </a:r>
          </a:p>
          <a:p>
            <a:pPr algn="just"/>
            <a:r>
              <a:rPr lang="en-US" dirty="0">
                <a:latin typeface="Times New Roman" pitchFamily="18" charset="0"/>
                <a:cs typeface="Times New Roman" pitchFamily="18" charset="0"/>
              </a:rPr>
              <a:t>The drawback of this arrangement is an axial bar displacement in clamping, which decreases the accuracy of axial bar positioning</a:t>
            </a:r>
          </a:p>
          <a:p>
            <a:pPr algn="just"/>
            <a:r>
              <a:rPr lang="en-US" dirty="0">
                <a:latin typeface="Times New Roman" pitchFamily="18" charset="0"/>
                <a:cs typeface="Times New Roman" pitchFamily="18" charset="0"/>
              </a:rPr>
              <a:t>On clamping bar,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1 is removed to the right and the outer taper of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is contracted under the action of the inner taper of stop nut 2, screwed on spindle 3. the conventional collect taper angle is 30°</a:t>
            </a:r>
          </a:p>
          <a:p>
            <a:pPr algn="just"/>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chuck may be hand operated or air operated</a:t>
            </a:r>
          </a:p>
        </p:txBody>
      </p:sp>
      <p:pic>
        <p:nvPicPr>
          <p:cNvPr id="1026" name="Picture 2"/>
          <p:cNvPicPr>
            <a:picLocks noChangeAspect="1" noChangeArrowheads="1"/>
          </p:cNvPicPr>
          <p:nvPr/>
        </p:nvPicPr>
        <p:blipFill>
          <a:blip r:embed="rId2"/>
          <a:srcRect b="12718"/>
          <a:stretch>
            <a:fillRect/>
          </a:stretch>
        </p:blipFill>
        <p:spPr bwMode="auto">
          <a:xfrm>
            <a:off x="8903577" y="273269"/>
            <a:ext cx="2910051" cy="2152488"/>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8757745" y="2538086"/>
            <a:ext cx="3152338" cy="1529418"/>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8783365" y="4892730"/>
            <a:ext cx="3221865" cy="1434497"/>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18</a:t>
            </a:fld>
            <a:endParaRPr lang="en-IN"/>
          </a:p>
        </p:txBody>
      </p:sp>
    </p:spTree>
    <p:extLst>
      <p:ext uri="{BB962C8B-B14F-4D97-AF65-F5344CB8AC3E}">
        <p14:creationId xmlns:p14="http://schemas.microsoft.com/office/powerpoint/2010/main" xmlns="" val="190511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297" y="406728"/>
            <a:ext cx="6802820" cy="6246320"/>
          </a:xfrm>
        </p:spPr>
        <p:txBody>
          <a:bodyPr>
            <a:normAutofit lnSpcReduction="10000"/>
          </a:bodyPr>
          <a:lstStyle/>
          <a:p>
            <a:pPr>
              <a:buNone/>
            </a:pPr>
            <a:r>
              <a:rPr lang="en-US" b="1" dirty="0">
                <a:latin typeface="Times New Roman" pitchFamily="18" charset="0"/>
                <a:cs typeface="Times New Roman" pitchFamily="18" charset="0"/>
              </a:rPr>
              <a:t>2. Jaw chucks</a:t>
            </a:r>
          </a:p>
          <a:p>
            <a:r>
              <a:rPr lang="en-US" dirty="0">
                <a:latin typeface="Times New Roman" pitchFamily="18" charset="0"/>
                <a:cs typeface="Times New Roman" pitchFamily="18" charset="0"/>
              </a:rPr>
              <a:t>Used to hold irregular shaped individual work pieces</a:t>
            </a:r>
          </a:p>
          <a:p>
            <a:r>
              <a:rPr lang="en-US" dirty="0">
                <a:latin typeface="Times New Roman" pitchFamily="18" charset="0"/>
                <a:cs typeface="Times New Roman" pitchFamily="18" charset="0"/>
              </a:rPr>
              <a:t>Various jaw chucks employed for the said purpose are</a:t>
            </a:r>
          </a:p>
          <a:p>
            <a:pPr>
              <a:buNone/>
            </a:pPr>
            <a:r>
              <a:rPr lang="en-US" dirty="0">
                <a:latin typeface="Times New Roman" pitchFamily="18" charset="0"/>
                <a:cs typeface="Times New Roman" pitchFamily="18" charset="0"/>
              </a:rPr>
              <a:t>1. Three jaw self-centering chuck</a:t>
            </a:r>
          </a:p>
          <a:p>
            <a:pPr>
              <a:buNone/>
            </a:pPr>
            <a:r>
              <a:rPr lang="en-US" dirty="0">
                <a:latin typeface="Times New Roman" pitchFamily="18" charset="0"/>
                <a:cs typeface="Times New Roman" pitchFamily="18" charset="0"/>
              </a:rPr>
              <a:t>2. Four jaw independent chuck</a:t>
            </a:r>
          </a:p>
          <a:p>
            <a:pPr>
              <a:buNone/>
            </a:pPr>
            <a:r>
              <a:rPr lang="en-US" dirty="0">
                <a:latin typeface="Times New Roman" pitchFamily="18" charset="0"/>
                <a:cs typeface="Times New Roman" pitchFamily="18" charset="0"/>
              </a:rPr>
              <a:t>3. Two jaw box chuck</a:t>
            </a:r>
          </a:p>
          <a:p>
            <a:pPr>
              <a:buNone/>
            </a:pPr>
            <a:r>
              <a:rPr lang="en-US" dirty="0">
                <a:latin typeface="Times New Roman" pitchFamily="18" charset="0"/>
                <a:cs typeface="Times New Roman" pitchFamily="18" charset="0"/>
              </a:rPr>
              <a:t>4. Power chucks</a:t>
            </a:r>
          </a:p>
          <a:p>
            <a:r>
              <a:rPr lang="en-US" dirty="0">
                <a:latin typeface="Times New Roman" pitchFamily="18" charset="0"/>
                <a:cs typeface="Times New Roman" pitchFamily="18" charset="0"/>
              </a:rPr>
              <a:t>Two jaw box chuck is used for holding specially the work pieces having parallel flat sides</a:t>
            </a:r>
          </a:p>
          <a:p>
            <a:r>
              <a:rPr lang="en-US" dirty="0">
                <a:latin typeface="Times New Roman" pitchFamily="18" charset="0"/>
                <a:cs typeface="Times New Roman" pitchFamily="18" charset="0"/>
              </a:rPr>
              <a:t>Power chucks are operated by air pressure, or hydraulic pressure.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260" y="1027135"/>
            <a:ext cx="10791422" cy="4433507"/>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3. Arbors</a:t>
            </a:r>
          </a:p>
          <a:p>
            <a:r>
              <a:rPr lang="en-US" dirty="0">
                <a:latin typeface="Times New Roman" panose="02020603050405020304" pitchFamily="18" charset="0"/>
                <a:cs typeface="Times New Roman" panose="02020603050405020304" pitchFamily="18" charset="0"/>
              </a:rPr>
              <a:t>Used for holding small work pieces having accurately drilled holes in them</a:t>
            </a:r>
          </a:p>
          <a:p>
            <a:r>
              <a:rPr lang="en-US" dirty="0">
                <a:latin typeface="Times New Roman" panose="02020603050405020304" pitchFamily="18" charset="0"/>
                <a:cs typeface="Times New Roman" panose="02020603050405020304" pitchFamily="18" charset="0"/>
              </a:rPr>
              <a:t>Threaded type and expanding types arbors are in use</a:t>
            </a:r>
          </a:p>
          <a:p>
            <a:pPr marL="0" indent="0">
              <a:buNone/>
            </a:pPr>
            <a:r>
              <a:rPr lang="en-US" b="1" dirty="0">
                <a:latin typeface="Times New Roman" panose="02020603050405020304" pitchFamily="18" charset="0"/>
                <a:cs typeface="Times New Roman" panose="02020603050405020304" pitchFamily="18" charset="0"/>
              </a:rPr>
              <a:t>4. Fixtures</a:t>
            </a:r>
          </a:p>
          <a:p>
            <a:r>
              <a:rPr lang="en-US" dirty="0">
                <a:latin typeface="Times New Roman" panose="02020603050405020304" pitchFamily="18" charset="0"/>
                <a:cs typeface="Times New Roman" panose="02020603050405020304" pitchFamily="18" charset="0"/>
              </a:rPr>
              <a:t>Special fixtures may be employed to hold jobs which cannot, otherwise, be held in collets, jaw chucks or arbors.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20</a:t>
            </a:fld>
            <a:endParaRPr lang="en-IN"/>
          </a:p>
        </p:txBody>
      </p:sp>
    </p:spTree>
    <p:extLst>
      <p:ext uri="{BB962C8B-B14F-4D97-AF65-F5344CB8AC3E}">
        <p14:creationId xmlns:p14="http://schemas.microsoft.com/office/powerpoint/2010/main" xmlns="" val="3988463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9715" y="1271833"/>
            <a:ext cx="6142149" cy="5103209"/>
          </a:xfrm>
        </p:spPr>
        <p:txBody>
          <a:bodyPr/>
          <a:lstStyle/>
          <a:p>
            <a:pPr marL="0" indent="0" algn="just">
              <a:buNone/>
            </a:pPr>
            <a:r>
              <a:rPr lang="en-US" dirty="0">
                <a:latin typeface="Times New Roman" panose="02020603050405020304" pitchFamily="18" charset="0"/>
                <a:cs typeface="Times New Roman" panose="02020603050405020304" pitchFamily="18" charset="0"/>
              </a:rPr>
              <a:t>1. Standard bent-tail lathe dog</a:t>
            </a:r>
          </a:p>
          <a:p>
            <a:pPr algn="just"/>
            <a:r>
              <a:rPr lang="en-US" dirty="0">
                <a:latin typeface="Times New Roman" panose="02020603050405020304" pitchFamily="18" charset="0"/>
                <a:cs typeface="Times New Roman" panose="02020603050405020304" pitchFamily="18" charset="0"/>
              </a:rPr>
              <a:t>Most commonly used for round work pieces</a:t>
            </a:r>
          </a:p>
          <a:p>
            <a:pPr algn="just"/>
            <a:r>
              <a:rPr lang="en-US" dirty="0">
                <a:latin typeface="Times New Roman" panose="02020603050405020304" pitchFamily="18" charset="0"/>
                <a:cs typeface="Times New Roman" panose="02020603050405020304" pitchFamily="18" charset="0"/>
              </a:rPr>
              <a:t>Available with square-head setscrews of headless setscrews</a:t>
            </a:r>
          </a:p>
          <a:p>
            <a:pPr marL="0" indent="0" algn="just">
              <a:buNone/>
            </a:pPr>
            <a:r>
              <a:rPr lang="en-US" dirty="0">
                <a:latin typeface="Times New Roman" panose="02020603050405020304" pitchFamily="18" charset="0"/>
                <a:cs typeface="Times New Roman" panose="02020603050405020304" pitchFamily="18" charset="0"/>
              </a:rPr>
              <a:t>2. Straight-tail lathe dog</a:t>
            </a:r>
          </a:p>
          <a:p>
            <a:pPr marL="0" indent="0" algn="just">
              <a:buNone/>
            </a:pPr>
            <a:r>
              <a:rPr lang="en-US" dirty="0">
                <a:latin typeface="Times New Roman" panose="02020603050405020304" pitchFamily="18" charset="0"/>
                <a:cs typeface="Times New Roman" panose="02020603050405020304" pitchFamily="18" charset="0"/>
              </a:rPr>
              <a:t>– Driven by stud in drive plate</a:t>
            </a:r>
          </a:p>
          <a:p>
            <a:pPr marL="0" indent="0" algn="just">
              <a:buNone/>
            </a:pPr>
            <a:r>
              <a:rPr lang="en-US" dirty="0">
                <a:latin typeface="Times New Roman" panose="02020603050405020304" pitchFamily="18" charset="0"/>
                <a:cs typeface="Times New Roman" panose="02020603050405020304" pitchFamily="18" charset="0"/>
              </a:rPr>
              <a:t>– Used in precision turning</a:t>
            </a:r>
          </a:p>
        </p:txBody>
      </p:sp>
      <p:pic>
        <p:nvPicPr>
          <p:cNvPr id="4" name="Picture 3"/>
          <p:cNvPicPr>
            <a:picLocks noChangeAspect="1"/>
          </p:cNvPicPr>
          <p:nvPr/>
        </p:nvPicPr>
        <p:blipFill rotWithShape="1">
          <a:blip r:embed="rId2"/>
          <a:srcRect b="5897"/>
          <a:stretch/>
        </p:blipFill>
        <p:spPr>
          <a:xfrm>
            <a:off x="8820132" y="640768"/>
            <a:ext cx="1321539" cy="2423997"/>
          </a:xfrm>
          <a:prstGeom prst="rect">
            <a:avLst/>
          </a:prstGeom>
        </p:spPr>
      </p:pic>
      <p:pic>
        <p:nvPicPr>
          <p:cNvPr id="5" name="Picture 4"/>
          <p:cNvPicPr>
            <a:picLocks noChangeAspect="1"/>
          </p:cNvPicPr>
          <p:nvPr/>
        </p:nvPicPr>
        <p:blipFill>
          <a:blip r:embed="rId3"/>
          <a:stretch>
            <a:fillRect/>
          </a:stretch>
        </p:blipFill>
        <p:spPr>
          <a:xfrm>
            <a:off x="8973211" y="3508795"/>
            <a:ext cx="1015379" cy="2182500"/>
          </a:xfrm>
          <a:prstGeom prst="rect">
            <a:avLst/>
          </a:prstGeom>
        </p:spPr>
      </p:pic>
      <p:sp>
        <p:nvSpPr>
          <p:cNvPr id="6" name="TextBox 5"/>
          <p:cNvSpPr txBox="1"/>
          <p:nvPr/>
        </p:nvSpPr>
        <p:spPr>
          <a:xfrm>
            <a:off x="1829335" y="348380"/>
            <a:ext cx="426290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LATHE DOGS</a:t>
            </a:r>
          </a:p>
        </p:txBody>
      </p:sp>
      <p:sp>
        <p:nvSpPr>
          <p:cNvPr id="7" name="Slide Number Placeholder 6"/>
          <p:cNvSpPr>
            <a:spLocks noGrp="1"/>
          </p:cNvSpPr>
          <p:nvPr>
            <p:ph type="sldNum" sz="quarter" idx="12"/>
          </p:nvPr>
        </p:nvSpPr>
        <p:spPr/>
        <p:txBody>
          <a:bodyPr/>
          <a:lstStyle/>
          <a:p>
            <a:fld id="{6CD2C3DF-7EAB-4FBF-A7D6-E6B2366142AB}" type="slidenum">
              <a:rPr lang="en-IN" smtClean="0"/>
              <a:pPr/>
              <a:t>21</a:t>
            </a:fld>
            <a:endParaRPr lang="en-IN"/>
          </a:p>
        </p:txBody>
      </p:sp>
    </p:spTree>
    <p:extLst>
      <p:ext uri="{BB962C8B-B14F-4D97-AF65-F5344CB8AC3E}">
        <p14:creationId xmlns:p14="http://schemas.microsoft.com/office/powerpoint/2010/main" xmlns="" val="1956182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654" y="1297592"/>
            <a:ext cx="5060324" cy="4351338"/>
          </a:xfrm>
        </p:spPr>
        <p:txBody>
          <a:bodyPr/>
          <a:lstStyle/>
          <a:p>
            <a:pPr marL="0" indent="0">
              <a:buNone/>
            </a:pPr>
            <a:r>
              <a:rPr lang="en-US" dirty="0">
                <a:latin typeface="Times New Roman" panose="02020603050405020304" pitchFamily="18" charset="0"/>
                <a:cs typeface="Times New Roman" panose="02020603050405020304" pitchFamily="18" charset="0"/>
              </a:rPr>
              <a:t>3. Safety clamp lathe dog</a:t>
            </a:r>
          </a:p>
          <a:p>
            <a:r>
              <a:rPr lang="en-US" dirty="0">
                <a:latin typeface="Times New Roman" panose="02020603050405020304" pitchFamily="18" charset="0"/>
                <a:cs typeface="Times New Roman" panose="02020603050405020304" pitchFamily="18" charset="0"/>
              </a:rPr>
              <a:t> Used to hold variety of work</a:t>
            </a:r>
          </a:p>
          <a:p>
            <a:r>
              <a:rPr lang="en-US" dirty="0">
                <a:latin typeface="Times New Roman" panose="02020603050405020304" pitchFamily="18" charset="0"/>
                <a:cs typeface="Times New Roman" panose="02020603050405020304" pitchFamily="18" charset="0"/>
              </a:rPr>
              <a:t>Wide range of adjustment</a:t>
            </a:r>
          </a:p>
          <a:p>
            <a:pPr marL="0" indent="0">
              <a:buNone/>
            </a:pPr>
            <a:r>
              <a:rPr lang="en-US" dirty="0">
                <a:latin typeface="Times New Roman" panose="02020603050405020304" pitchFamily="18" charset="0"/>
                <a:cs typeface="Times New Roman" panose="02020603050405020304" pitchFamily="18" charset="0"/>
              </a:rPr>
              <a:t>4. Clamp lathe dog</a:t>
            </a:r>
          </a:p>
          <a:p>
            <a:pPr marL="0" indent="0">
              <a:buNone/>
            </a:pPr>
            <a:r>
              <a:rPr lang="en-US" dirty="0">
                <a:latin typeface="Times New Roman" panose="02020603050405020304" pitchFamily="18" charset="0"/>
                <a:cs typeface="Times New Roman" panose="02020603050405020304" pitchFamily="18" charset="0"/>
              </a:rPr>
              <a:t>– Wider range than others</a:t>
            </a:r>
          </a:p>
          <a:p>
            <a:pPr marL="0" indent="0">
              <a:buNone/>
            </a:pPr>
            <a:r>
              <a:rPr lang="en-US" dirty="0">
                <a:latin typeface="Times New Roman" panose="02020603050405020304" pitchFamily="18" charset="0"/>
                <a:cs typeface="Times New Roman" panose="02020603050405020304" pitchFamily="18" charset="0"/>
              </a:rPr>
              <a:t>– Used on all shapes</a:t>
            </a:r>
          </a:p>
        </p:txBody>
      </p:sp>
      <p:pic>
        <p:nvPicPr>
          <p:cNvPr id="4" name="Picture 3"/>
          <p:cNvPicPr>
            <a:picLocks noChangeAspect="1"/>
          </p:cNvPicPr>
          <p:nvPr/>
        </p:nvPicPr>
        <p:blipFill>
          <a:blip r:embed="rId2"/>
          <a:stretch>
            <a:fillRect/>
          </a:stretch>
        </p:blipFill>
        <p:spPr>
          <a:xfrm>
            <a:off x="7023971" y="321672"/>
            <a:ext cx="1399645" cy="2807894"/>
          </a:xfrm>
          <a:prstGeom prst="rect">
            <a:avLst/>
          </a:prstGeom>
        </p:spPr>
      </p:pic>
      <p:pic>
        <p:nvPicPr>
          <p:cNvPr id="5" name="Picture 4"/>
          <p:cNvPicPr>
            <a:picLocks noChangeAspect="1"/>
          </p:cNvPicPr>
          <p:nvPr/>
        </p:nvPicPr>
        <p:blipFill>
          <a:blip r:embed="rId3"/>
          <a:stretch>
            <a:fillRect/>
          </a:stretch>
        </p:blipFill>
        <p:spPr>
          <a:xfrm>
            <a:off x="9161172" y="686993"/>
            <a:ext cx="2320867" cy="2109750"/>
          </a:xfrm>
          <a:prstGeom prst="rect">
            <a:avLst/>
          </a:prstGeom>
        </p:spPr>
      </p:pic>
      <p:pic>
        <p:nvPicPr>
          <p:cNvPr id="6" name="Picture 5"/>
          <p:cNvPicPr>
            <a:picLocks noChangeAspect="1"/>
          </p:cNvPicPr>
          <p:nvPr/>
        </p:nvPicPr>
        <p:blipFill rotWithShape="1">
          <a:blip r:embed="rId4"/>
          <a:srcRect l="4903" t="4102" r="3319"/>
          <a:stretch/>
        </p:blipFill>
        <p:spPr>
          <a:xfrm>
            <a:off x="5781606" y="3305835"/>
            <a:ext cx="6176833" cy="3339664"/>
          </a:xfrm>
          <a:prstGeom prst="rect">
            <a:avLst/>
          </a:prstGeom>
        </p:spPr>
      </p:pic>
      <p:sp>
        <p:nvSpPr>
          <p:cNvPr id="7" name="Slide Number Placeholder 6"/>
          <p:cNvSpPr>
            <a:spLocks noGrp="1"/>
          </p:cNvSpPr>
          <p:nvPr>
            <p:ph type="sldNum" sz="quarter" idx="12"/>
          </p:nvPr>
        </p:nvSpPr>
        <p:spPr/>
        <p:txBody>
          <a:bodyPr/>
          <a:lstStyle/>
          <a:p>
            <a:fld id="{6CD2C3DF-7EAB-4FBF-A7D6-E6B2366142AB}" type="slidenum">
              <a:rPr lang="en-IN" smtClean="0"/>
              <a:pPr/>
              <a:t>22</a:t>
            </a:fld>
            <a:endParaRPr lang="en-IN"/>
          </a:p>
        </p:txBody>
      </p:sp>
    </p:spTree>
    <p:extLst>
      <p:ext uri="{BB962C8B-B14F-4D97-AF65-F5344CB8AC3E}">
        <p14:creationId xmlns:p14="http://schemas.microsoft.com/office/powerpoint/2010/main" xmlns="" val="2308688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TOOL HOLDING DEVICES</a:t>
            </a:r>
          </a:p>
        </p:txBody>
      </p:sp>
      <p:sp>
        <p:nvSpPr>
          <p:cNvPr id="3" name="Content Placeholder 2"/>
          <p:cNvSpPr>
            <a:spLocks noGrp="1"/>
          </p:cNvSpPr>
          <p:nvPr>
            <p:ph idx="1"/>
          </p:nvPr>
        </p:nvSpPr>
        <p:spPr>
          <a:xfrm>
            <a:off x="361682" y="1210614"/>
            <a:ext cx="6914881" cy="5647386"/>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Left hand offset holder</a:t>
            </a:r>
          </a:p>
          <a:p>
            <a:pPr algn="just"/>
            <a:r>
              <a:rPr lang="en-US" dirty="0">
                <a:latin typeface="Times New Roman" panose="02020603050405020304" pitchFamily="18" charset="0"/>
                <a:cs typeface="Times New Roman" panose="02020603050405020304" pitchFamily="18" charset="0"/>
              </a:rPr>
              <a:t>Offset to the right</a:t>
            </a:r>
          </a:p>
          <a:p>
            <a:pPr algn="just"/>
            <a:r>
              <a:rPr lang="en-US" dirty="0">
                <a:latin typeface="Times New Roman" panose="02020603050405020304" pitchFamily="18" charset="0"/>
                <a:cs typeface="Times New Roman" panose="02020603050405020304" pitchFamily="18" charset="0"/>
              </a:rPr>
              <a:t>Designed for machining work close to chuck or faceplate and cutting right to left</a:t>
            </a:r>
          </a:p>
          <a:p>
            <a:pPr algn="just"/>
            <a:r>
              <a:rPr lang="en-US" dirty="0">
                <a:latin typeface="Times New Roman" panose="02020603050405020304" pitchFamily="18" charset="0"/>
                <a:cs typeface="Times New Roman" panose="02020603050405020304" pitchFamily="18" charset="0"/>
              </a:rPr>
              <a:t>Designated by letter L</a:t>
            </a:r>
          </a:p>
          <a:p>
            <a:pPr marL="0" indent="0" algn="just">
              <a:buNone/>
            </a:pPr>
            <a:r>
              <a:rPr lang="en-US" dirty="0">
                <a:latin typeface="Times New Roman" panose="02020603050405020304" pitchFamily="18" charset="0"/>
                <a:cs typeface="Times New Roman" panose="02020603050405020304" pitchFamily="18" charset="0"/>
              </a:rPr>
              <a:t>2. Right hand offset holder</a:t>
            </a:r>
          </a:p>
          <a:p>
            <a:pPr algn="just"/>
            <a:r>
              <a:rPr lang="en-US" dirty="0">
                <a:latin typeface="Times New Roman" panose="02020603050405020304" pitchFamily="18" charset="0"/>
                <a:cs typeface="Times New Roman" panose="02020603050405020304" pitchFamily="18" charset="0"/>
              </a:rPr>
              <a:t>Offset to the left</a:t>
            </a:r>
          </a:p>
          <a:p>
            <a:pPr algn="just"/>
            <a:r>
              <a:rPr lang="en-US" dirty="0">
                <a:latin typeface="Times New Roman" panose="02020603050405020304" pitchFamily="18" charset="0"/>
                <a:cs typeface="Times New Roman" panose="02020603050405020304" pitchFamily="18" charset="0"/>
              </a:rPr>
              <a:t>Designed for machining work close to the tailstock and cutting left to right</a:t>
            </a:r>
          </a:p>
          <a:p>
            <a:pPr algn="just"/>
            <a:r>
              <a:rPr lang="en-US" dirty="0">
                <a:latin typeface="Times New Roman" panose="02020603050405020304" pitchFamily="18" charset="0"/>
                <a:cs typeface="Times New Roman" panose="02020603050405020304" pitchFamily="18" charset="0"/>
              </a:rPr>
              <a:t>Also for facing operations</a:t>
            </a:r>
          </a:p>
          <a:p>
            <a:pPr algn="just"/>
            <a:r>
              <a:rPr lang="en-US" dirty="0">
                <a:latin typeface="Times New Roman" panose="02020603050405020304" pitchFamily="18" charset="0"/>
                <a:cs typeface="Times New Roman" panose="02020603050405020304" pitchFamily="18" charset="0"/>
              </a:rPr>
              <a:t>Designated by letter R</a:t>
            </a:r>
          </a:p>
        </p:txBody>
      </p:sp>
      <p:pic>
        <p:nvPicPr>
          <p:cNvPr id="4" name="Picture 3"/>
          <p:cNvPicPr>
            <a:picLocks noChangeAspect="1"/>
          </p:cNvPicPr>
          <p:nvPr/>
        </p:nvPicPr>
        <p:blipFill>
          <a:blip r:embed="rId2"/>
          <a:stretch>
            <a:fillRect/>
          </a:stretch>
        </p:blipFill>
        <p:spPr>
          <a:xfrm>
            <a:off x="7654715" y="1411774"/>
            <a:ext cx="3481300" cy="1164000"/>
          </a:xfrm>
          <a:prstGeom prst="rect">
            <a:avLst/>
          </a:prstGeom>
        </p:spPr>
      </p:pic>
      <p:pic>
        <p:nvPicPr>
          <p:cNvPr id="5" name="Picture 4"/>
          <p:cNvPicPr>
            <a:picLocks noChangeAspect="1"/>
          </p:cNvPicPr>
          <p:nvPr/>
        </p:nvPicPr>
        <p:blipFill>
          <a:blip r:embed="rId3"/>
          <a:stretch>
            <a:fillRect/>
          </a:stretch>
        </p:blipFill>
        <p:spPr>
          <a:xfrm>
            <a:off x="7727242" y="4108360"/>
            <a:ext cx="3408773" cy="116400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23</a:t>
            </a:fld>
            <a:endParaRPr lang="en-IN"/>
          </a:p>
        </p:txBody>
      </p:sp>
    </p:spTree>
    <p:extLst>
      <p:ext uri="{BB962C8B-B14F-4D97-AF65-F5344CB8AC3E}">
        <p14:creationId xmlns:p14="http://schemas.microsoft.com/office/powerpoint/2010/main" xmlns="" val="2346322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108" y="1877140"/>
            <a:ext cx="7120943" cy="3531988"/>
          </a:xfrm>
        </p:spPr>
        <p:txBody>
          <a:bodyPr/>
          <a:lstStyle/>
          <a:p>
            <a:pPr marL="0" indent="0" algn="just">
              <a:buNone/>
            </a:pPr>
            <a:r>
              <a:rPr lang="en-US" dirty="0">
                <a:latin typeface="Times New Roman" panose="02020603050405020304" pitchFamily="18" charset="0"/>
                <a:cs typeface="Times New Roman" panose="02020603050405020304" pitchFamily="18" charset="0"/>
              </a:rPr>
              <a:t>3. Straight tool holder</a:t>
            </a:r>
          </a:p>
          <a:p>
            <a:pPr algn="just"/>
            <a:r>
              <a:rPr lang="en-US" dirty="0">
                <a:latin typeface="Times New Roman" panose="02020603050405020304" pitchFamily="18" charset="0"/>
                <a:cs typeface="Times New Roman" panose="02020603050405020304" pitchFamily="18" charset="0"/>
              </a:rPr>
              <a:t>General-purpose type</a:t>
            </a:r>
          </a:p>
          <a:p>
            <a:pPr algn="just"/>
            <a:r>
              <a:rPr lang="en-US" dirty="0">
                <a:latin typeface="Times New Roman" panose="02020603050405020304" pitchFamily="18" charset="0"/>
                <a:cs typeface="Times New Roman" panose="02020603050405020304" pitchFamily="18" charset="0"/>
              </a:rPr>
              <a:t>Used for taking cuts in either direction and for general machining operations</a:t>
            </a:r>
          </a:p>
          <a:p>
            <a:pPr algn="just"/>
            <a:r>
              <a:rPr lang="en-US" dirty="0">
                <a:latin typeface="Times New Roman" panose="02020603050405020304" pitchFamily="18" charset="0"/>
                <a:cs typeface="Times New Roman" panose="02020603050405020304" pitchFamily="18" charset="0"/>
              </a:rPr>
              <a:t>Designated by letter S</a:t>
            </a:r>
          </a:p>
        </p:txBody>
      </p:sp>
      <p:pic>
        <p:nvPicPr>
          <p:cNvPr id="4" name="Picture 3"/>
          <p:cNvPicPr>
            <a:picLocks noChangeAspect="1"/>
          </p:cNvPicPr>
          <p:nvPr/>
        </p:nvPicPr>
        <p:blipFill>
          <a:blip r:embed="rId2"/>
          <a:stretch>
            <a:fillRect/>
          </a:stretch>
        </p:blipFill>
        <p:spPr>
          <a:xfrm>
            <a:off x="8412195" y="3024759"/>
            <a:ext cx="3481300" cy="123675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24</a:t>
            </a:fld>
            <a:endParaRPr lang="en-IN"/>
          </a:p>
        </p:txBody>
      </p:sp>
    </p:spTree>
    <p:extLst>
      <p:ext uri="{BB962C8B-B14F-4D97-AF65-F5344CB8AC3E}">
        <p14:creationId xmlns:p14="http://schemas.microsoft.com/office/powerpoint/2010/main" xmlns="" val="447215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LIMITATIONS OF CENTRE LATHE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setting time for the job in terms of holding the job is large.</a:t>
            </a:r>
          </a:p>
          <a:p>
            <a:pPr algn="just"/>
            <a:r>
              <a:rPr lang="en-US" dirty="0">
                <a:latin typeface="Times New Roman" panose="02020603050405020304" pitchFamily="18" charset="0"/>
                <a:cs typeface="Times New Roman" panose="02020603050405020304" pitchFamily="18" charset="0"/>
              </a:rPr>
              <a:t>Only one tool can be used in the normal course. Sometimes the conventional tool post can be replaced by a square tool post with four tools.</a:t>
            </a:r>
          </a:p>
          <a:p>
            <a:pPr algn="just"/>
            <a:r>
              <a:rPr lang="en-US" dirty="0">
                <a:latin typeface="Times New Roman" panose="02020603050405020304" pitchFamily="18" charset="0"/>
                <a:cs typeface="Times New Roman" panose="02020603050405020304" pitchFamily="18" charset="0"/>
              </a:rPr>
              <a:t>The idle times involved in the setting and movement of tools between the cuts is large.</a:t>
            </a:r>
          </a:p>
          <a:p>
            <a:pPr algn="just"/>
            <a:r>
              <a:rPr lang="en-US" dirty="0">
                <a:latin typeface="Times New Roman" panose="02020603050405020304" pitchFamily="18" charset="0"/>
                <a:cs typeface="Times New Roman" panose="02020603050405020304" pitchFamily="18" charset="0"/>
              </a:rPr>
              <a:t>Precise movement of the tools to destined places is difficult to achieve, unless proper care is exercised by the operator.</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25</a:t>
            </a:fld>
            <a:endParaRPr lang="en-IN"/>
          </a:p>
        </p:txBody>
      </p:sp>
    </p:spTree>
    <p:extLst>
      <p:ext uri="{BB962C8B-B14F-4D97-AF65-F5344CB8AC3E}">
        <p14:creationId xmlns:p14="http://schemas.microsoft.com/office/powerpoint/2010/main" xmlns="" val="1325560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973"/>
            <a:ext cx="10515600" cy="793973"/>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OPERATIONS</a:t>
            </a:r>
          </a:p>
        </p:txBody>
      </p:sp>
      <p:sp>
        <p:nvSpPr>
          <p:cNvPr id="3" name="Content Placeholder 2"/>
          <p:cNvSpPr>
            <a:spLocks noGrp="1"/>
          </p:cNvSpPr>
          <p:nvPr>
            <p:ph idx="1"/>
          </p:nvPr>
        </p:nvSpPr>
        <p:spPr>
          <a:xfrm>
            <a:off x="669701" y="1300766"/>
            <a:ext cx="10985679" cy="5151549"/>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Turning: </a:t>
            </a:r>
            <a:r>
              <a:rPr lang="en-US" dirty="0">
                <a:latin typeface="Times New Roman" panose="02020603050405020304" pitchFamily="18" charset="0"/>
                <a:cs typeface="Times New Roman" panose="02020603050405020304" pitchFamily="18" charset="0"/>
              </a:rPr>
              <a:t>to remove material from the outside diameter of a work piece to obtain a finished surface</a:t>
            </a:r>
            <a:r>
              <a:rPr lang="en-US" b="1"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Facing: </a:t>
            </a:r>
            <a:r>
              <a:rPr lang="en-US" dirty="0">
                <a:latin typeface="Times New Roman" panose="02020603050405020304" pitchFamily="18" charset="0"/>
                <a:cs typeface="Times New Roman" panose="02020603050405020304" pitchFamily="18" charset="0"/>
              </a:rPr>
              <a:t>to produce a flat surface at the end of the work piece or for making face grooves</a:t>
            </a:r>
            <a:r>
              <a:rPr lang="en-US" b="1"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Boring: </a:t>
            </a:r>
            <a:r>
              <a:rPr lang="en-US" dirty="0">
                <a:latin typeface="Times New Roman" panose="02020603050405020304" pitchFamily="18" charset="0"/>
                <a:cs typeface="Times New Roman" panose="02020603050405020304" pitchFamily="18" charset="0"/>
              </a:rPr>
              <a:t>to enlarge a hole or cylindrical cavity made by a previous process or to produce circular internal grooves.</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Drilling: </a:t>
            </a:r>
            <a:r>
              <a:rPr lang="en-US" dirty="0">
                <a:latin typeface="Times New Roman" panose="02020603050405020304" pitchFamily="18" charset="0"/>
                <a:cs typeface="Times New Roman" panose="02020603050405020304" pitchFamily="18" charset="0"/>
              </a:rPr>
              <a:t>to produce a hole on the work piece.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Reaming</a:t>
            </a:r>
            <a:r>
              <a:rPr lang="en-US" dirty="0">
                <a:latin typeface="Times New Roman" panose="02020603050405020304" pitchFamily="18" charset="0"/>
                <a:cs typeface="Times New Roman" panose="02020603050405020304" pitchFamily="18" charset="0"/>
              </a:rPr>
              <a:t>: to finishing the drilled hole.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Threading: </a:t>
            </a:r>
            <a:r>
              <a:rPr lang="en-US" dirty="0">
                <a:latin typeface="Times New Roman" panose="02020603050405020304" pitchFamily="18" charset="0"/>
                <a:cs typeface="Times New Roman" panose="02020603050405020304" pitchFamily="18" charset="0"/>
              </a:rPr>
              <a:t>to produce external or internal threads on the work piece.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Knurling: </a:t>
            </a:r>
            <a:r>
              <a:rPr lang="en-US" dirty="0">
                <a:latin typeface="Times New Roman" panose="02020603050405020304" pitchFamily="18" charset="0"/>
                <a:cs typeface="Times New Roman" panose="02020603050405020304" pitchFamily="18" charset="0"/>
              </a:rPr>
              <a:t>to produce a regularly shaped roughness on the work piece.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26</a:t>
            </a:fld>
            <a:endParaRPr lang="en-IN"/>
          </a:p>
        </p:txBody>
      </p:sp>
    </p:spTree>
    <p:extLst>
      <p:ext uri="{BB962C8B-B14F-4D97-AF65-F5344CB8AC3E}">
        <p14:creationId xmlns:p14="http://schemas.microsoft.com/office/powerpoint/2010/main" xmlns="" val="1696648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2733" y="462363"/>
            <a:ext cx="10470525" cy="6035491"/>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27</a:t>
            </a:fld>
            <a:endParaRPr lang="en-IN"/>
          </a:p>
        </p:txBody>
      </p:sp>
    </p:spTree>
    <p:extLst>
      <p:ext uri="{BB962C8B-B14F-4D97-AF65-F5344CB8AC3E}">
        <p14:creationId xmlns:p14="http://schemas.microsoft.com/office/powerpoint/2010/main" xmlns="" val="1932587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TAPER TURNING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Cutting tapers on a lathe is one of the most common applications. A number of methods are available for cutting tapers in a lathe. They are:</a:t>
            </a:r>
          </a:p>
          <a:p>
            <a:pPr marL="0" indent="0">
              <a:buNone/>
            </a:pPr>
            <a:r>
              <a:rPr lang="en-US" dirty="0">
                <a:latin typeface="Times New Roman" panose="02020603050405020304" pitchFamily="18" charset="0"/>
                <a:cs typeface="Times New Roman" panose="02020603050405020304" pitchFamily="18" charset="0"/>
              </a:rPr>
              <a:t>1. Using a compound slide</a:t>
            </a:r>
          </a:p>
          <a:p>
            <a:pPr marL="0" indent="0">
              <a:buNone/>
            </a:pPr>
            <a:r>
              <a:rPr lang="en-US" dirty="0">
                <a:latin typeface="Times New Roman" panose="02020603050405020304" pitchFamily="18" charset="0"/>
                <a:cs typeface="Times New Roman" panose="02020603050405020304" pitchFamily="18" charset="0"/>
              </a:rPr>
              <a:t>2. Using form tools</a:t>
            </a:r>
          </a:p>
          <a:p>
            <a:pPr marL="0" indent="0">
              <a:buNone/>
            </a:pPr>
            <a:r>
              <a:rPr lang="en-US" dirty="0">
                <a:latin typeface="Times New Roman" panose="02020603050405020304" pitchFamily="18" charset="0"/>
                <a:cs typeface="Times New Roman" panose="02020603050405020304" pitchFamily="18" charset="0"/>
              </a:rPr>
              <a:t>3. Offsetting the tailstock</a:t>
            </a:r>
          </a:p>
          <a:p>
            <a:pPr marL="0" indent="0">
              <a:buNone/>
            </a:pPr>
            <a:r>
              <a:rPr lang="en-US" dirty="0">
                <a:latin typeface="Times New Roman" panose="02020603050405020304" pitchFamily="18" charset="0"/>
                <a:cs typeface="Times New Roman" panose="02020603050405020304" pitchFamily="18" charset="0"/>
              </a:rPr>
              <a:t>4. Using taper turning attachment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28</a:t>
            </a:fld>
            <a:endParaRPr lang="en-IN"/>
          </a:p>
        </p:txBody>
      </p:sp>
    </p:spTree>
    <p:extLst>
      <p:ext uri="{BB962C8B-B14F-4D97-AF65-F5344CB8AC3E}">
        <p14:creationId xmlns:p14="http://schemas.microsoft.com/office/powerpoint/2010/main" xmlns="" val="743350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257" y="428015"/>
            <a:ext cx="7017912" cy="6001970"/>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Using a compound slide</a:t>
            </a:r>
          </a:p>
          <a:p>
            <a:pPr algn="just"/>
            <a:r>
              <a:rPr lang="en-US" dirty="0">
                <a:latin typeface="Times New Roman" panose="02020603050405020304" pitchFamily="18" charset="0"/>
                <a:cs typeface="Times New Roman" panose="02020603050405020304" pitchFamily="18" charset="0"/>
              </a:rPr>
              <a:t>The compound slide is an auxiliary slide underneath the tool post and above the carriage. It is possible to swivel the compound slide to the desired angle of the taper</a:t>
            </a:r>
          </a:p>
          <a:p>
            <a:pPr algn="just"/>
            <a:r>
              <a:rPr lang="en-US" dirty="0">
                <a:latin typeface="Times New Roman" panose="02020603050405020304" pitchFamily="18" charset="0"/>
                <a:cs typeface="Times New Roman" panose="02020603050405020304" pitchFamily="18" charset="0"/>
              </a:rPr>
              <a:t>The tool is then made perpendicular to the work piece and feed is given manually by the operator. Some of the features of this method are:</a:t>
            </a:r>
          </a:p>
          <a:p>
            <a:pPr algn="just"/>
            <a:r>
              <a:rPr lang="en-US" dirty="0">
                <a:latin typeface="Times New Roman" panose="02020603050405020304" pitchFamily="18" charset="0"/>
                <a:cs typeface="Times New Roman" panose="02020603050405020304" pitchFamily="18" charset="0"/>
              </a:rPr>
              <a:t>Short and steep tapers can be easily done.</a:t>
            </a:r>
          </a:p>
          <a:p>
            <a:pPr algn="just"/>
            <a:r>
              <a:rPr lang="en-US" dirty="0">
                <a:latin typeface="Times New Roman" panose="02020603050405020304" pitchFamily="18" charset="0"/>
                <a:cs typeface="Times New Roman" panose="02020603050405020304" pitchFamily="18" charset="0"/>
              </a:rPr>
              <a:t>Limited movement of the compound slide.</a:t>
            </a:r>
          </a:p>
          <a:p>
            <a:pPr algn="just"/>
            <a:r>
              <a:rPr lang="en-US" dirty="0">
                <a:latin typeface="Times New Roman" panose="02020603050405020304" pitchFamily="18" charset="0"/>
                <a:cs typeface="Times New Roman" panose="02020603050405020304" pitchFamily="18" charset="0"/>
              </a:rPr>
              <a:t>Feeding is by hand and is non-uniform.</a:t>
            </a:r>
          </a:p>
          <a:p>
            <a:pPr marL="0" indent="0">
              <a:buNone/>
            </a:pPr>
            <a:endParaRPr lang="en-US" dirty="0"/>
          </a:p>
        </p:txBody>
      </p:sp>
      <p:pic>
        <p:nvPicPr>
          <p:cNvPr id="4" name="Picture 3"/>
          <p:cNvPicPr>
            <a:picLocks noChangeAspect="1"/>
          </p:cNvPicPr>
          <p:nvPr/>
        </p:nvPicPr>
        <p:blipFill rotWithShape="1">
          <a:blip r:embed="rId2"/>
          <a:srcRect l="4997" t="2941" r="2897"/>
          <a:stretch/>
        </p:blipFill>
        <p:spPr>
          <a:xfrm>
            <a:off x="7212169" y="1416677"/>
            <a:ext cx="4849146" cy="274320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29</a:t>
            </a:fld>
            <a:endParaRPr lang="en-IN"/>
          </a:p>
        </p:txBody>
      </p:sp>
    </p:spTree>
    <p:extLst>
      <p:ext uri="{BB962C8B-B14F-4D97-AF65-F5344CB8AC3E}">
        <p14:creationId xmlns:p14="http://schemas.microsoft.com/office/powerpoint/2010/main" xmlns="" val="266354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4" y="331676"/>
            <a:ext cx="10515600" cy="4072899"/>
          </a:xfrm>
        </p:spPr>
        <p:txBody>
          <a:bodyPr/>
          <a:lstStyle/>
          <a:p>
            <a:pPr marL="0" indent="0" algn="just">
              <a:buNone/>
            </a:pPr>
            <a:r>
              <a:rPr lang="en-US" dirty="0">
                <a:latin typeface="Times New Roman" panose="02020603050405020304" pitchFamily="18" charset="0"/>
                <a:cs typeface="Times New Roman" panose="02020603050405020304" pitchFamily="18" charset="0"/>
              </a:rPr>
              <a:t>2. Using form tools</a:t>
            </a:r>
          </a:p>
          <a:p>
            <a:pPr algn="just"/>
            <a:r>
              <a:rPr lang="en-US" dirty="0">
                <a:latin typeface="Times New Roman" panose="02020603050405020304" pitchFamily="18" charset="0"/>
                <a:cs typeface="Times New Roman" panose="02020603050405020304" pitchFamily="18" charset="0"/>
              </a:rPr>
              <a:t>The feed is given by plunging the tool directly into the work.</a:t>
            </a:r>
          </a:p>
          <a:p>
            <a:pPr algn="just"/>
            <a:r>
              <a:rPr lang="en-US" dirty="0">
                <a:latin typeface="Times New Roman" panose="02020603050405020304" pitchFamily="18" charset="0"/>
                <a:cs typeface="Times New Roman" panose="02020603050405020304" pitchFamily="18" charset="0"/>
              </a:rPr>
              <a:t>This method is useful for short tapers, where the steepness is of no consequence, such as for chamfering.</a:t>
            </a:r>
          </a:p>
          <a:p>
            <a:pPr algn="just"/>
            <a:r>
              <a:rPr lang="en-US" dirty="0">
                <a:latin typeface="Times New Roman" panose="02020603050405020304" pitchFamily="18" charset="0"/>
                <a:cs typeface="Times New Roman" panose="02020603050405020304" pitchFamily="18" charset="0"/>
              </a:rPr>
              <a:t>When turning long tapers with form tools, the tool is likely to chatter (vibrate) resulting in poor surface finish.</a:t>
            </a:r>
          </a:p>
          <a:p>
            <a:pPr algn="just"/>
            <a:r>
              <a:rPr lang="en-US" dirty="0">
                <a:latin typeface="Times New Roman" panose="02020603050405020304" pitchFamily="18" charset="0"/>
                <a:cs typeface="Times New Roman" panose="02020603050405020304" pitchFamily="18" charset="0"/>
              </a:rPr>
              <a:t>However, care of the form tools, particularly for regrinding is a careful exercise. The cutting edge should be perfectly straight for good accuracy.</a:t>
            </a:r>
          </a:p>
        </p:txBody>
      </p:sp>
      <p:pic>
        <p:nvPicPr>
          <p:cNvPr id="4" name="Picture 3"/>
          <p:cNvPicPr>
            <a:picLocks noChangeAspect="1"/>
          </p:cNvPicPr>
          <p:nvPr/>
        </p:nvPicPr>
        <p:blipFill rotWithShape="1">
          <a:blip r:embed="rId2"/>
          <a:srcRect l="2267" t="7575" r="5852" b="1892"/>
          <a:stretch/>
        </p:blipFill>
        <p:spPr>
          <a:xfrm>
            <a:off x="4301542" y="4043967"/>
            <a:ext cx="3206841" cy="2477526"/>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30</a:t>
            </a:fld>
            <a:endParaRPr lang="en-IN"/>
          </a:p>
        </p:txBody>
      </p:sp>
    </p:spTree>
    <p:extLst>
      <p:ext uri="{BB962C8B-B14F-4D97-AF65-F5344CB8AC3E}">
        <p14:creationId xmlns:p14="http://schemas.microsoft.com/office/powerpoint/2010/main" xmlns="" val="730845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106" y="370312"/>
            <a:ext cx="11177789" cy="2321373"/>
          </a:xfrm>
        </p:spPr>
        <p:txBody>
          <a:bodyPr/>
          <a:lstStyle/>
          <a:p>
            <a:pPr marL="0" indent="0">
              <a:buNone/>
            </a:pPr>
            <a:r>
              <a:rPr lang="en-US" dirty="0"/>
              <a:t>3. Offsetting the tail stock</a:t>
            </a:r>
          </a:p>
          <a:p>
            <a:r>
              <a:rPr lang="en-US" dirty="0"/>
              <a:t>By offsetting the tailstock, the axis of rotation of the job is inclined by the half angle of taper</a:t>
            </a:r>
          </a:p>
          <a:p>
            <a:r>
              <a:rPr lang="en-US" dirty="0"/>
              <a:t>The feed to the tool is given in the normal manner parallel to the guide ways. Thus the conical surface is generated.</a:t>
            </a:r>
          </a:p>
          <a:p>
            <a:pPr marL="0" indent="0">
              <a:buNone/>
            </a:pPr>
            <a:endParaRPr lang="en-US" dirty="0"/>
          </a:p>
        </p:txBody>
      </p:sp>
      <p:pic>
        <p:nvPicPr>
          <p:cNvPr id="4" name="Picture 3"/>
          <p:cNvPicPr>
            <a:picLocks noChangeAspect="1"/>
          </p:cNvPicPr>
          <p:nvPr/>
        </p:nvPicPr>
        <p:blipFill>
          <a:blip r:embed="rId2"/>
          <a:stretch>
            <a:fillRect/>
          </a:stretch>
        </p:blipFill>
        <p:spPr>
          <a:xfrm>
            <a:off x="529106" y="2691684"/>
            <a:ext cx="2280956" cy="965915"/>
          </a:xfrm>
          <a:prstGeom prst="rect">
            <a:avLst/>
          </a:prstGeom>
        </p:spPr>
      </p:pic>
      <p:pic>
        <p:nvPicPr>
          <p:cNvPr id="5" name="Picture 4"/>
          <p:cNvPicPr>
            <a:picLocks noChangeAspect="1"/>
          </p:cNvPicPr>
          <p:nvPr/>
        </p:nvPicPr>
        <p:blipFill>
          <a:blip r:embed="rId3"/>
          <a:stretch>
            <a:fillRect/>
          </a:stretch>
        </p:blipFill>
        <p:spPr>
          <a:xfrm>
            <a:off x="529106" y="3528811"/>
            <a:ext cx="3585058" cy="1545465"/>
          </a:xfrm>
          <a:prstGeom prst="rect">
            <a:avLst/>
          </a:prstGeom>
        </p:spPr>
      </p:pic>
      <p:pic>
        <p:nvPicPr>
          <p:cNvPr id="6" name="Picture 5"/>
          <p:cNvPicPr>
            <a:picLocks noChangeAspect="1"/>
          </p:cNvPicPr>
          <p:nvPr/>
        </p:nvPicPr>
        <p:blipFill>
          <a:blip r:embed="rId4"/>
          <a:stretch>
            <a:fillRect/>
          </a:stretch>
        </p:blipFill>
        <p:spPr>
          <a:xfrm>
            <a:off x="529106" y="5210041"/>
            <a:ext cx="3439531" cy="585452"/>
          </a:xfrm>
          <a:prstGeom prst="rect">
            <a:avLst/>
          </a:prstGeom>
        </p:spPr>
      </p:pic>
      <p:pic>
        <p:nvPicPr>
          <p:cNvPr id="7" name="Picture 6"/>
          <p:cNvPicPr>
            <a:picLocks noChangeAspect="1"/>
          </p:cNvPicPr>
          <p:nvPr/>
        </p:nvPicPr>
        <p:blipFill>
          <a:blip r:embed="rId5"/>
          <a:stretch>
            <a:fillRect/>
          </a:stretch>
        </p:blipFill>
        <p:spPr>
          <a:xfrm>
            <a:off x="5102113" y="2591067"/>
            <a:ext cx="6315075" cy="2457450"/>
          </a:xfrm>
          <a:prstGeom prst="rect">
            <a:avLst/>
          </a:prstGeom>
        </p:spPr>
      </p:pic>
      <p:pic>
        <p:nvPicPr>
          <p:cNvPr id="8" name="Picture 7"/>
          <p:cNvPicPr>
            <a:picLocks noChangeAspect="1"/>
          </p:cNvPicPr>
          <p:nvPr/>
        </p:nvPicPr>
        <p:blipFill>
          <a:blip r:embed="rId6"/>
          <a:stretch>
            <a:fillRect/>
          </a:stretch>
        </p:blipFill>
        <p:spPr>
          <a:xfrm>
            <a:off x="5578363" y="5171403"/>
            <a:ext cx="5838825" cy="1524000"/>
          </a:xfrm>
          <a:prstGeom prst="rect">
            <a:avLst/>
          </a:prstGeom>
        </p:spPr>
      </p:pic>
      <p:sp>
        <p:nvSpPr>
          <p:cNvPr id="9" name="Slide Number Placeholder 8"/>
          <p:cNvSpPr>
            <a:spLocks noGrp="1"/>
          </p:cNvSpPr>
          <p:nvPr>
            <p:ph type="sldNum" sz="quarter" idx="12"/>
          </p:nvPr>
        </p:nvSpPr>
        <p:spPr/>
        <p:txBody>
          <a:bodyPr/>
          <a:lstStyle/>
          <a:p>
            <a:fld id="{6CD2C3DF-7EAB-4FBF-A7D6-E6B2366142AB}" type="slidenum">
              <a:rPr lang="en-IN" smtClean="0"/>
              <a:pPr/>
              <a:t>31</a:t>
            </a:fld>
            <a:endParaRPr lang="en-IN"/>
          </a:p>
        </p:txBody>
      </p:sp>
    </p:spTree>
    <p:extLst>
      <p:ext uri="{BB962C8B-B14F-4D97-AF65-F5344CB8AC3E}">
        <p14:creationId xmlns:p14="http://schemas.microsoft.com/office/powerpoint/2010/main" xmlns="" val="4147307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5" y="241522"/>
            <a:ext cx="5588358" cy="6616477"/>
          </a:xfrm>
        </p:spPr>
        <p:txBody>
          <a:bodyPr>
            <a:normAutofit fontScale="85000" lnSpcReduction="20000"/>
          </a:bodyPr>
          <a:lstStyle/>
          <a:p>
            <a:pPr marL="0" indent="0" algn="just">
              <a:buNone/>
            </a:pPr>
            <a:r>
              <a:rPr lang="en-US" dirty="0"/>
              <a:t>4</a:t>
            </a:r>
            <a:r>
              <a:rPr lang="en-US" dirty="0">
                <a:latin typeface="Times New Roman" panose="02020603050405020304" pitchFamily="18" charset="0"/>
                <a:cs typeface="Times New Roman" panose="02020603050405020304" pitchFamily="18" charset="0"/>
              </a:rPr>
              <a:t>. Using taper turning attachment</a:t>
            </a:r>
          </a:p>
          <a:p>
            <a:pPr algn="just"/>
            <a:r>
              <a:rPr lang="en-US" dirty="0">
                <a:latin typeface="Times New Roman" panose="02020603050405020304" pitchFamily="18" charset="0"/>
                <a:cs typeface="Times New Roman" panose="02020603050405020304" pitchFamily="18" charset="0"/>
              </a:rPr>
              <a:t>In this method a separate </a:t>
            </a:r>
            <a:r>
              <a:rPr lang="en-US" dirty="0" err="1">
                <a:latin typeface="Times New Roman" panose="02020603050405020304" pitchFamily="18" charset="0"/>
                <a:cs typeface="Times New Roman" panose="02020603050405020304" pitchFamily="18" charset="0"/>
              </a:rPr>
              <a:t>slideway</a:t>
            </a:r>
            <a:r>
              <a:rPr lang="en-US" dirty="0">
                <a:latin typeface="Times New Roman" panose="02020603050405020304" pitchFamily="18" charset="0"/>
                <a:cs typeface="Times New Roman" panose="02020603050405020304" pitchFamily="18" charset="0"/>
              </a:rPr>
              <a:t> is arranged at the rear of the cross slide. </a:t>
            </a:r>
          </a:p>
          <a:p>
            <a:pPr algn="just"/>
            <a:r>
              <a:rPr lang="en-US" dirty="0">
                <a:latin typeface="Times New Roman" panose="02020603050405020304" pitchFamily="18" charset="0"/>
                <a:cs typeface="Times New Roman" panose="02020603050405020304" pitchFamily="18" charset="0"/>
              </a:rPr>
              <a:t>This slide can be rotated at any angle to be setup. </a:t>
            </a:r>
          </a:p>
          <a:p>
            <a:pPr algn="just"/>
            <a:r>
              <a:rPr lang="en-US" dirty="0">
                <a:latin typeface="Times New Roman" panose="02020603050405020304" pitchFamily="18" charset="0"/>
                <a:cs typeface="Times New Roman" panose="02020603050405020304" pitchFamily="18" charset="0"/>
              </a:rPr>
              <a:t>The block that can slide in this taper slide way is rigidly connected to the cross slide</a:t>
            </a:r>
          </a:p>
          <a:p>
            <a:pPr algn="just"/>
            <a:r>
              <a:rPr lang="en-US" dirty="0">
                <a:latin typeface="Times New Roman" panose="02020603050405020304" pitchFamily="18" charset="0"/>
                <a:cs typeface="Times New Roman" panose="02020603050405020304" pitchFamily="18" charset="0"/>
              </a:rPr>
              <a:t>The cross slide is made floating by disconnecting it from its lead screw. </a:t>
            </a:r>
          </a:p>
          <a:p>
            <a:pPr algn="just"/>
            <a:r>
              <a:rPr lang="en-US" dirty="0">
                <a:latin typeface="Times New Roman" panose="02020603050405020304" pitchFamily="18" charset="0"/>
                <a:cs typeface="Times New Roman" panose="02020603050405020304" pitchFamily="18" charset="0"/>
              </a:rPr>
              <a:t>As the carriage moves for feeding, the block moves in the inclined track of the slide, it gets the proportional cross movement perpendicular to the feed direction, the cross slide and in turn the cutting tool gets the proportional movement.</a:t>
            </a:r>
          </a:p>
          <a:p>
            <a:pPr algn="just"/>
            <a:r>
              <a:rPr lang="en-US" dirty="0">
                <a:latin typeface="Times New Roman" panose="02020603050405020304" pitchFamily="18" charset="0"/>
                <a:cs typeface="Times New Roman" panose="02020603050405020304" pitchFamily="18" charset="0"/>
              </a:rPr>
              <a:t>Thus the tool tip follows the taper direction set in the attachment. However, in this condition, the cross slide cannot be used for normal turning operations.</a:t>
            </a:r>
          </a:p>
        </p:txBody>
      </p:sp>
      <p:pic>
        <p:nvPicPr>
          <p:cNvPr id="4" name="Picture 3"/>
          <p:cNvPicPr>
            <a:picLocks noChangeAspect="1"/>
          </p:cNvPicPr>
          <p:nvPr/>
        </p:nvPicPr>
        <p:blipFill>
          <a:blip r:embed="rId2"/>
          <a:stretch>
            <a:fillRect/>
          </a:stretch>
        </p:blipFill>
        <p:spPr>
          <a:xfrm>
            <a:off x="5821251" y="553794"/>
            <a:ext cx="5931945" cy="5357609"/>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32</a:t>
            </a:fld>
            <a:endParaRPr lang="en-IN"/>
          </a:p>
        </p:txBody>
      </p:sp>
    </p:spTree>
    <p:extLst>
      <p:ext uri="{BB962C8B-B14F-4D97-AF65-F5344CB8AC3E}">
        <p14:creationId xmlns:p14="http://schemas.microsoft.com/office/powerpoint/2010/main" xmlns="" val="864754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47C678-B9E2-2E10-3C47-29D041CEC505}"/>
              </a:ext>
            </a:extLst>
          </p:cNvPr>
          <p:cNvSpPr>
            <a:spLocks noGrp="1"/>
          </p:cNvSpPr>
          <p:nvPr>
            <p:ph type="title"/>
          </p:nvPr>
        </p:nvSpPr>
        <p:spPr>
          <a:xfrm>
            <a:off x="698240" y="131860"/>
            <a:ext cx="10515600" cy="838524"/>
          </a:xfrm>
        </p:spPr>
        <p:txBody>
          <a:bodyPr/>
          <a:lstStyle/>
          <a:p>
            <a:r>
              <a:rPr lang="en-IN" dirty="0"/>
              <a:t>THREAD CUTTING</a:t>
            </a:r>
          </a:p>
        </p:txBody>
      </p:sp>
      <p:sp>
        <p:nvSpPr>
          <p:cNvPr id="3" name="Content Placeholder 2">
            <a:extLst>
              <a:ext uri="{FF2B5EF4-FFF2-40B4-BE49-F238E27FC236}">
                <a16:creationId xmlns:a16="http://schemas.microsoft.com/office/drawing/2014/main" xmlns="" id="{4114D61B-CB5D-7A73-7BCC-3DDDEACB88B4}"/>
              </a:ext>
            </a:extLst>
          </p:cNvPr>
          <p:cNvSpPr>
            <a:spLocks noGrp="1"/>
          </p:cNvSpPr>
          <p:nvPr>
            <p:ph idx="1"/>
          </p:nvPr>
        </p:nvSpPr>
        <p:spPr>
          <a:xfrm>
            <a:off x="454867" y="1101012"/>
            <a:ext cx="11282265" cy="5625128"/>
          </a:xfrm>
        </p:spPr>
        <p:txBody>
          <a:bodyPr>
            <a:noAutofit/>
          </a:bodyPr>
          <a:lstStyle/>
          <a:p>
            <a:pPr algn="just"/>
            <a:r>
              <a:rPr lang="en-US" sz="2000" b="0" i="0" u="none" strike="noStrike" baseline="0" dirty="0">
                <a:latin typeface="Times New Roman" panose="02020603050405020304" pitchFamily="18" charset="0"/>
                <a:cs typeface="Times New Roman" panose="02020603050405020304" pitchFamily="18" charset="0"/>
              </a:rPr>
              <a:t>Thread cutting can be considered as another form of turning since the path to be travelled by the cutting </a:t>
            </a:r>
            <a:r>
              <a:rPr lang="en-IN" sz="2000" b="0" i="0" u="none" strike="noStrike" baseline="0" dirty="0">
                <a:latin typeface="Times New Roman" panose="02020603050405020304" pitchFamily="18" charset="0"/>
                <a:cs typeface="Times New Roman" panose="02020603050405020304" pitchFamily="18" charset="0"/>
              </a:rPr>
              <a:t>tool is helical</a:t>
            </a:r>
          </a:p>
          <a:p>
            <a:pPr algn="just"/>
            <a:r>
              <a:rPr lang="en-US" sz="2000" b="0" i="0" u="none" strike="noStrike" baseline="0" dirty="0">
                <a:latin typeface="Times New Roman" panose="02020603050405020304" pitchFamily="18" charset="0"/>
                <a:cs typeface="Times New Roman" panose="02020603050405020304" pitchFamily="18" charset="0"/>
              </a:rPr>
              <a:t>The shape of the cutting tool is of the same form as the thread to be generated</a:t>
            </a:r>
            <a:endParaRPr lang="en-IN" sz="200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For the purpose of feeding the tool for generating the thread, the feed is given by the lead screw. Feed is same as the lead of the pitch to be generated.</a:t>
            </a:r>
          </a:p>
          <a:p>
            <a:pPr algn="just"/>
            <a:r>
              <a:rPr lang="en-US" sz="2000" b="0" i="0" u="none" strike="noStrike" baseline="0" dirty="0">
                <a:latin typeface="Times New Roman" panose="02020603050405020304" pitchFamily="18" charset="0"/>
                <a:cs typeface="Times New Roman" panose="02020603050405020304" pitchFamily="18" charset="0"/>
              </a:rPr>
              <a:t>The depth of cut in the case of thread cutting can be given in two ways, plunge cutting and compound cutting</a:t>
            </a: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IN" sz="2000" dirty="0">
                <a:latin typeface="Times New Roman" panose="02020603050405020304" pitchFamily="18" charset="0"/>
                <a:cs typeface="Times New Roman" panose="02020603050405020304" pitchFamily="18" charset="0"/>
              </a:rPr>
              <a:t>Plunge cutting</a:t>
            </a:r>
          </a:p>
          <a:p>
            <a:pPr algn="just"/>
            <a:r>
              <a:rPr lang="en-US" sz="2000" b="0" i="0" u="none" strike="noStrike" baseline="0" dirty="0">
                <a:latin typeface="Times New Roman" panose="02020603050405020304" pitchFamily="18" charset="0"/>
                <a:cs typeface="Times New Roman" panose="02020603050405020304" pitchFamily="18" charset="0"/>
              </a:rPr>
              <a:t>In the case of plunge cutting, the cutting of the thread takes place along both the flanks of the tool. </a:t>
            </a:r>
          </a:p>
          <a:p>
            <a:pPr algn="just"/>
            <a:r>
              <a:rPr lang="en-US" sz="2000" b="0" i="0" u="none" strike="noStrike" baseline="0" dirty="0">
                <a:latin typeface="Times New Roman" panose="02020603050405020304" pitchFamily="18" charset="0"/>
                <a:cs typeface="Times New Roman" panose="02020603050405020304" pitchFamily="18" charset="0"/>
              </a:rPr>
              <a:t>This would mean that the cutting tool would have to be provided with a zero or negative rake angle.</a:t>
            </a:r>
          </a:p>
          <a:p>
            <a:pPr algn="just"/>
            <a:r>
              <a:rPr lang="en-US" sz="2000" b="0" i="0" u="none" strike="noStrike" baseline="0" dirty="0">
                <a:latin typeface="Times New Roman" panose="02020603050405020304" pitchFamily="18" charset="0"/>
                <a:cs typeface="Times New Roman" panose="02020603050405020304" pitchFamily="18" charset="0"/>
              </a:rPr>
              <a:t>In addition the relief along the cutting edges cannot be provided in view of the form to be achieved. </a:t>
            </a:r>
          </a:p>
          <a:p>
            <a:pPr algn="just"/>
            <a:r>
              <a:rPr lang="en-US" sz="2000" b="0" i="0" u="none" strike="noStrike" baseline="0" dirty="0">
                <a:latin typeface="Times New Roman" panose="02020603050405020304" pitchFamily="18" charset="0"/>
                <a:cs typeface="Times New Roman" panose="02020603050405020304" pitchFamily="18" charset="0"/>
              </a:rPr>
              <a:t>Cutting is also taking place along a longer length of the tool. </a:t>
            </a:r>
          </a:p>
          <a:p>
            <a:pPr algn="just"/>
            <a:r>
              <a:rPr lang="en-US" sz="2000" b="0" i="0" u="none" strike="noStrike" baseline="0" dirty="0">
                <a:latin typeface="Times New Roman" panose="02020603050405020304" pitchFamily="18" charset="0"/>
                <a:cs typeface="Times New Roman" panose="02020603050405020304" pitchFamily="18" charset="0"/>
              </a:rPr>
              <a:t>This gives rise to difficulties in machining in terms of higher cutting forces and consequently chattering (violent vibrations). </a:t>
            </a:r>
          </a:p>
          <a:p>
            <a:pPr algn="just"/>
            <a:r>
              <a:rPr lang="en-US" sz="2000" b="0" i="0" u="none" strike="noStrike" baseline="0" dirty="0">
                <a:latin typeface="Times New Roman" panose="02020603050405020304" pitchFamily="18" charset="0"/>
                <a:cs typeface="Times New Roman" panose="02020603050405020304" pitchFamily="18" charset="0"/>
              </a:rPr>
              <a:t>This results in poor surface finish and lower tool life, thus this method is not generally preferred.</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33</a:t>
            </a:fld>
            <a:endParaRPr lang="en-IN"/>
          </a:p>
        </p:txBody>
      </p:sp>
    </p:spTree>
    <p:extLst>
      <p:ext uri="{BB962C8B-B14F-4D97-AF65-F5344CB8AC3E}">
        <p14:creationId xmlns:p14="http://schemas.microsoft.com/office/powerpoint/2010/main" xmlns="" val="146856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4960FB-5378-8992-FE2B-2B68BBB29CE5}"/>
              </a:ext>
            </a:extLst>
          </p:cNvPr>
          <p:cNvSpPr>
            <a:spLocks noGrp="1"/>
          </p:cNvSpPr>
          <p:nvPr>
            <p:ph idx="1"/>
          </p:nvPr>
        </p:nvSpPr>
        <p:spPr>
          <a:xfrm>
            <a:off x="381000" y="304734"/>
            <a:ext cx="11422224" cy="4034001"/>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2. Compound cutting</a:t>
            </a:r>
          </a:p>
          <a:p>
            <a:pPr algn="just"/>
            <a:r>
              <a:rPr lang="en-US" sz="2400" b="0" i="0" u="none" strike="noStrike" baseline="0" dirty="0">
                <a:latin typeface="Times New Roman" panose="02020603050405020304" pitchFamily="18" charset="0"/>
                <a:cs typeface="Times New Roman" panose="02020603050405020304" pitchFamily="18" charset="0"/>
              </a:rPr>
              <a:t>With the compound feeding, the tool needs to be moved in both the directions (along the bed as well as a direction perpendicular to it) simultaneously to position the tool tip along one flank of the thread. </a:t>
            </a:r>
          </a:p>
          <a:p>
            <a:pPr algn="just"/>
            <a:r>
              <a:rPr lang="en-US" sz="2400" b="0" i="0" u="none" strike="noStrike" baseline="0" dirty="0">
                <a:latin typeface="Times New Roman" panose="02020603050405020304" pitchFamily="18" charset="0"/>
                <a:cs typeface="Times New Roman" panose="02020603050405020304" pitchFamily="18" charset="0"/>
              </a:rPr>
              <a:t>This configuration helps in smoother flow of chips as the cutting takes place only along one cutting edge.</a:t>
            </a:r>
          </a:p>
          <a:p>
            <a:pPr algn="just"/>
            <a:r>
              <a:rPr lang="en-US" sz="2400" b="0" i="0" u="none" strike="noStrike" baseline="0" dirty="0">
                <a:latin typeface="Times New Roman" panose="02020603050405020304" pitchFamily="18" charset="0"/>
                <a:cs typeface="Times New Roman" panose="02020603050405020304" pitchFamily="18" charset="0"/>
              </a:rPr>
              <a:t>This method therefore is much preferred</a:t>
            </a:r>
            <a:endParaRPr lang="en-IN" sz="2400" b="0" i="0" u="none" strike="noStrike" baseline="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Only problem is to move the tool for giving the depth of cut along the flank of the thread, which can be achieved by the use of compound slide for giving the depth of cut</a:t>
            </a:r>
            <a:r>
              <a:rPr lang="en-IN"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while feed is given by the carriage in the conventional manner</a:t>
            </a:r>
          </a:p>
        </p:txBody>
      </p:sp>
      <p:pic>
        <p:nvPicPr>
          <p:cNvPr id="5" name="Picture 4">
            <a:extLst>
              <a:ext uri="{FF2B5EF4-FFF2-40B4-BE49-F238E27FC236}">
                <a16:creationId xmlns:a16="http://schemas.microsoft.com/office/drawing/2014/main" xmlns="" id="{4D90D4FA-2B1F-D675-C595-D4995089D774}"/>
              </a:ext>
            </a:extLst>
          </p:cNvPr>
          <p:cNvPicPr>
            <a:picLocks noChangeAspect="1"/>
          </p:cNvPicPr>
          <p:nvPr/>
        </p:nvPicPr>
        <p:blipFill rotWithShape="1">
          <a:blip r:embed="rId2"/>
          <a:srcRect l="3043" t="6728" r="3165"/>
          <a:stretch/>
        </p:blipFill>
        <p:spPr>
          <a:xfrm>
            <a:off x="3082989" y="4371123"/>
            <a:ext cx="6018245" cy="2182143"/>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34</a:t>
            </a:fld>
            <a:endParaRPr lang="en-IN"/>
          </a:p>
        </p:txBody>
      </p:sp>
    </p:spTree>
    <p:extLst>
      <p:ext uri="{BB962C8B-B14F-4D97-AF65-F5344CB8AC3E}">
        <p14:creationId xmlns:p14="http://schemas.microsoft.com/office/powerpoint/2010/main" xmlns="" val="933369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5F25280-2606-848D-C828-BABCAA84FF12}"/>
              </a:ext>
            </a:extLst>
          </p:cNvPr>
          <p:cNvSpPr>
            <a:spLocks noGrp="1"/>
          </p:cNvSpPr>
          <p:nvPr>
            <p:ph idx="1"/>
          </p:nvPr>
        </p:nvSpPr>
        <p:spPr>
          <a:xfrm>
            <a:off x="334346" y="248751"/>
            <a:ext cx="11580845" cy="6264016"/>
          </a:xfrm>
        </p:spPr>
        <p:txBody>
          <a:bodyPr/>
          <a:lstStyle/>
          <a:p>
            <a:pPr algn="just"/>
            <a:r>
              <a:rPr lang="en-US" sz="2800" b="0" i="0" u="none" strike="noStrike" baseline="0" dirty="0">
                <a:latin typeface="Times New Roman" panose="02020603050405020304" pitchFamily="18" charset="0"/>
                <a:cs typeface="Times New Roman" panose="02020603050405020304" pitchFamily="18" charset="0"/>
              </a:rPr>
              <a:t>The compound slide is rotated by the half angle of the thread, and the cutting tool is adjusted to make it perpendicular to the work piece surface. For this purpose a thread setting gauge which contains the required form of the thread being cut is kept perpendicular to the surface of the work piece, and the tool tip is set</a:t>
            </a:r>
          </a:p>
          <a:p>
            <a:pPr algn="just"/>
            <a:r>
              <a:rPr lang="en-US" b="0" i="0" u="none" strike="noStrike" baseline="0" dirty="0">
                <a:latin typeface="Times New Roman" panose="02020603050405020304" pitchFamily="18" charset="0"/>
                <a:cs typeface="Times New Roman" panose="02020603050405020304" pitchFamily="18" charset="0"/>
              </a:rPr>
              <a:t>The next important consideration for thread cutting is the feeding of the tool along the helical path. For this purpose, the lead screw is normally employed for feeding</a:t>
            </a:r>
            <a:r>
              <a:rPr lang="en-IN"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the tool along the length of the job. In turning the engaging of tool at any point would be of no consequence since the surface to be generated is cylindrical. </a:t>
            </a:r>
          </a:p>
          <a:p>
            <a:pPr algn="just"/>
            <a:r>
              <a:rPr lang="en-US" b="0" i="0" u="none" strike="noStrike" baseline="0">
                <a:latin typeface="Times New Roman" panose="02020603050405020304" pitchFamily="18" charset="0"/>
                <a:cs typeface="Times New Roman" panose="02020603050405020304" pitchFamily="18" charset="0"/>
              </a:rPr>
              <a:t>However </a:t>
            </a:r>
            <a:r>
              <a:rPr lang="en-US" b="0" i="0" u="none" strike="noStrike" baseline="0" dirty="0">
                <a:latin typeface="Times New Roman" panose="02020603050405020304" pitchFamily="18" charset="0"/>
                <a:cs typeface="Times New Roman" panose="02020603050405020304" pitchFamily="18" charset="0"/>
              </a:rPr>
              <a:t>in thread cutting it is essential that the tool tip should always follow the same thread profile generated in the first cut, otherwise no thread would be generated.</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35</a:t>
            </a:fld>
            <a:endParaRPr lang="en-IN"/>
          </a:p>
        </p:txBody>
      </p:sp>
    </p:spTree>
    <p:extLst>
      <p:ext uri="{BB962C8B-B14F-4D97-AF65-F5344CB8AC3E}">
        <p14:creationId xmlns:p14="http://schemas.microsoft.com/office/powerpoint/2010/main" xmlns="" val="2768946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089C538-468E-D67C-1116-226013BDC68B}"/>
              </a:ext>
            </a:extLst>
          </p:cNvPr>
          <p:cNvSpPr>
            <a:spLocks noGrp="1"/>
          </p:cNvSpPr>
          <p:nvPr>
            <p:ph idx="1"/>
          </p:nvPr>
        </p:nvSpPr>
        <p:spPr>
          <a:xfrm>
            <a:off x="426076" y="293038"/>
            <a:ext cx="11049000" cy="631382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next important consideration for thread </a:t>
            </a:r>
            <a:r>
              <a:rPr lang="en-US" dirty="0" smtClean="0">
                <a:latin typeface="Times New Roman" panose="02020603050405020304" pitchFamily="18" charset="0"/>
                <a:cs typeface="Times New Roman" panose="02020603050405020304" pitchFamily="18" charset="0"/>
              </a:rPr>
              <a:t>cutting is </a:t>
            </a:r>
            <a:r>
              <a:rPr lang="en-US" dirty="0">
                <a:latin typeface="Times New Roman" panose="02020603050405020304" pitchFamily="18" charset="0"/>
                <a:cs typeface="Times New Roman" panose="02020603050405020304" pitchFamily="18" charset="0"/>
              </a:rPr>
              <a:t>the feeding of the tool along the helical path.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For this Purpose , the lead screw is normally employed for feeding </a:t>
            </a:r>
            <a:r>
              <a:rPr lang="en-US" dirty="0">
                <a:latin typeface="Times New Roman" panose="02020603050405020304" pitchFamily="18" charset="0"/>
                <a:cs typeface="Times New Roman" panose="02020603050405020304" pitchFamily="18" charset="0"/>
              </a:rPr>
              <a:t>the tool along the length of the job. In turning the engaging of tool at any point would be of no </a:t>
            </a:r>
            <a:r>
              <a:rPr lang="en-US" dirty="0" smtClean="0">
                <a:latin typeface="Times New Roman" panose="02020603050405020304" pitchFamily="18" charset="0"/>
                <a:cs typeface="Times New Roman" panose="02020603050405020304" pitchFamily="18" charset="0"/>
              </a:rPr>
              <a:t>consequence since </a:t>
            </a:r>
            <a:r>
              <a:rPr lang="en-US" dirty="0">
                <a:latin typeface="Times New Roman" panose="02020603050405020304" pitchFamily="18" charset="0"/>
                <a:cs typeface="Times New Roman" panose="02020603050405020304" pitchFamily="18" charset="0"/>
              </a:rPr>
              <a:t>the surface to be generated is cylindrical.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 </a:t>
            </a:r>
            <a:r>
              <a:rPr lang="en-US" dirty="0">
                <a:latin typeface="Times New Roman" panose="02020603050405020304" pitchFamily="18" charset="0"/>
                <a:cs typeface="Times New Roman" panose="02020603050405020304" pitchFamily="18" charset="0"/>
              </a:rPr>
              <a:t>in thread cutting it is essential that the tool tip </a:t>
            </a:r>
            <a:r>
              <a:rPr lang="en-US" dirty="0" smtClean="0">
                <a:latin typeface="Times New Roman" panose="02020603050405020304" pitchFamily="18" charset="0"/>
                <a:cs typeface="Times New Roman" panose="02020603050405020304" pitchFamily="18" charset="0"/>
              </a:rPr>
              <a:t>should always </a:t>
            </a:r>
            <a:r>
              <a:rPr lang="en-US" dirty="0">
                <a:latin typeface="Times New Roman" panose="02020603050405020304" pitchFamily="18" charset="0"/>
                <a:cs typeface="Times New Roman" panose="02020603050405020304" pitchFamily="18" charset="0"/>
              </a:rPr>
              <a:t>follow the same thread profile generated in the first cut, otherwise no thread would be generated</a:t>
            </a:r>
            <a:r>
              <a:rPr lang="en-US"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One </a:t>
            </a:r>
            <a:r>
              <a:rPr lang="en-US" dirty="0">
                <a:latin typeface="Times New Roman" panose="02020603050405020304" pitchFamily="18" charset="0"/>
                <a:cs typeface="Times New Roman" panose="02020603050405020304" pitchFamily="18" charset="0"/>
              </a:rPr>
              <a:t>of the methods that can be followed in this case is to reverse the spindle while retaining the </a:t>
            </a:r>
            <a:r>
              <a:rPr lang="en-US" dirty="0" smtClean="0">
                <a:latin typeface="Times New Roman" panose="02020603050405020304" pitchFamily="18" charset="0"/>
                <a:cs typeface="Times New Roman" panose="02020603050405020304" pitchFamily="18" charset="0"/>
              </a:rPr>
              <a:t>engagement between </a:t>
            </a:r>
            <a:r>
              <a:rPr lang="en-US" dirty="0">
                <a:latin typeface="Times New Roman" panose="02020603050405020304" pitchFamily="18" charset="0"/>
                <a:cs typeface="Times New Roman" panose="02020603050405020304" pitchFamily="18" charset="0"/>
              </a:rPr>
              <a:t>the tool and the work piece. The spindle reversal would bring the cutting tool to the starting </a:t>
            </a:r>
            <a:r>
              <a:rPr lang="en-US" dirty="0" smtClean="0">
                <a:latin typeface="Times New Roman" panose="02020603050405020304" pitchFamily="18" charset="0"/>
                <a:cs typeface="Times New Roman" panose="02020603050405020304" pitchFamily="18" charset="0"/>
              </a:rPr>
              <a:t>point of </a:t>
            </a:r>
            <a:r>
              <a:rPr lang="en-US" dirty="0">
                <a:latin typeface="Times New Roman" panose="02020603050405020304" pitchFamily="18" charset="0"/>
                <a:cs typeface="Times New Roman" panose="02020603050405020304" pitchFamily="18" charset="0"/>
              </a:rPr>
              <a:t>the thread following the same path in reverse.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After </a:t>
            </a:r>
            <a:r>
              <a:rPr lang="en-US" dirty="0">
                <a:latin typeface="Times New Roman" panose="02020603050405020304" pitchFamily="18" charset="0"/>
                <a:cs typeface="Times New Roman" panose="02020603050405020304" pitchFamily="18" charset="0"/>
              </a:rPr>
              <a:t>giving a further depth of cut the spindle is </a:t>
            </a:r>
            <a:r>
              <a:rPr lang="en-US" dirty="0" smtClean="0">
                <a:latin typeface="Times New Roman" panose="02020603050405020304" pitchFamily="18" charset="0"/>
                <a:cs typeface="Times New Roman" panose="02020603050405020304" pitchFamily="18" charset="0"/>
              </a:rPr>
              <a:t>again reversed </a:t>
            </a:r>
            <a:r>
              <a:rPr lang="en-US" dirty="0">
                <a:latin typeface="Times New Roman" panose="02020603050405020304" pitchFamily="18" charset="0"/>
                <a:cs typeface="Times New Roman" panose="02020603050405020304" pitchFamily="18" charset="0"/>
              </a:rPr>
              <a:t>and the thread cutting is continued in the normal way.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easy to work and is somewhat </a:t>
            </a:r>
            <a:r>
              <a:rPr lang="en-US" dirty="0" smtClean="0">
                <a:latin typeface="Times New Roman" panose="02020603050405020304" pitchFamily="18" charset="0"/>
                <a:cs typeface="Times New Roman" panose="02020603050405020304" pitchFamily="18" charset="0"/>
              </a:rPr>
              <a:t>more time </a:t>
            </a:r>
            <a:r>
              <a:rPr lang="en-US" dirty="0">
                <a:latin typeface="Times New Roman" panose="02020603050405020304" pitchFamily="18" charset="0"/>
                <a:cs typeface="Times New Roman" panose="02020603050405020304" pitchFamily="18" charset="0"/>
              </a:rPr>
              <a:t>consuming due to the idle times involved in the stopping and reversing of the spindle at the end of </a:t>
            </a:r>
            <a:r>
              <a:rPr lang="en-US" dirty="0" smtClean="0">
                <a:latin typeface="Times New Roman" panose="02020603050405020304" pitchFamily="18" charset="0"/>
                <a:cs typeface="Times New Roman" panose="02020603050405020304" pitchFamily="18" charset="0"/>
              </a:rPr>
              <a:t>each stroke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36</a:t>
            </a:fld>
            <a:endParaRPr lang="en-IN"/>
          </a:p>
        </p:txBody>
      </p:sp>
    </p:spTree>
    <p:extLst>
      <p:ext uri="{BB962C8B-B14F-4D97-AF65-F5344CB8AC3E}">
        <p14:creationId xmlns:p14="http://schemas.microsoft.com/office/powerpoint/2010/main" xmlns="" val="461008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3146" y="320362"/>
            <a:ext cx="9009200" cy="5990286"/>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37</a:t>
            </a:fld>
            <a:endParaRPr lang="en-IN"/>
          </a:p>
        </p:txBody>
      </p:sp>
    </p:spTree>
    <p:extLst>
      <p:ext uri="{BB962C8B-B14F-4D97-AF65-F5344CB8AC3E}">
        <p14:creationId xmlns:p14="http://schemas.microsoft.com/office/powerpoint/2010/main" xmlns="" val="2714843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TURRET AND CAPSTAN LATHE</a:t>
            </a:r>
          </a:p>
        </p:txBody>
      </p:sp>
      <p:pic>
        <p:nvPicPr>
          <p:cNvPr id="4" name="Picture 3"/>
          <p:cNvPicPr>
            <a:picLocks noChangeAspect="1"/>
          </p:cNvPicPr>
          <p:nvPr/>
        </p:nvPicPr>
        <p:blipFill rotWithShape="1">
          <a:blip r:embed="rId2"/>
          <a:srcRect l="3935" t="6822" r="4023"/>
          <a:stretch/>
        </p:blipFill>
        <p:spPr>
          <a:xfrm>
            <a:off x="1481069" y="2369713"/>
            <a:ext cx="8963697" cy="319396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38</a:t>
            </a:fld>
            <a:endParaRPr lang="en-IN"/>
          </a:p>
        </p:txBody>
      </p:sp>
    </p:spTree>
    <p:extLst>
      <p:ext uri="{BB962C8B-B14F-4D97-AF65-F5344CB8AC3E}">
        <p14:creationId xmlns:p14="http://schemas.microsoft.com/office/powerpoint/2010/main" xmlns="" val="738204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xmlns="" val="0"/>
              </a:ext>
            </a:extLst>
          </a:blip>
          <a:srcRect l="4288" r="12357" b="49643"/>
          <a:stretch/>
        </p:blipFill>
        <p:spPr>
          <a:xfrm>
            <a:off x="231820" y="331676"/>
            <a:ext cx="5569391" cy="3647896"/>
          </a:xfrm>
        </p:spPr>
      </p:pic>
      <p:pic>
        <p:nvPicPr>
          <p:cNvPr id="5" name="Picture 4"/>
          <p:cNvPicPr>
            <a:picLocks noChangeAspect="1"/>
          </p:cNvPicPr>
          <p:nvPr/>
        </p:nvPicPr>
        <p:blipFill rotWithShape="1">
          <a:blip r:embed="rId3"/>
          <a:srcRect l="3986" t="54176"/>
          <a:stretch/>
        </p:blipFill>
        <p:spPr>
          <a:xfrm>
            <a:off x="5608449" y="3090930"/>
            <a:ext cx="6394422" cy="3309869"/>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39</a:t>
            </a:fld>
            <a:endParaRPr lang="en-IN"/>
          </a:p>
        </p:txBody>
      </p:sp>
    </p:spTree>
    <p:extLst>
      <p:ext uri="{BB962C8B-B14F-4D97-AF65-F5344CB8AC3E}">
        <p14:creationId xmlns:p14="http://schemas.microsoft.com/office/powerpoint/2010/main" xmlns="" val="4173432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6708344C-9289-5BDD-6270-392678A2A125}"/>
              </a:ext>
            </a:extLst>
          </p:cNvPr>
          <p:cNvGraphicFramePr>
            <a:graphicFrameLocks noGrp="1"/>
          </p:cNvGraphicFramePr>
          <p:nvPr>
            <p:ph idx="1"/>
            <p:extLst>
              <p:ext uri="{D42A27DB-BD31-4B8C-83A1-F6EECF244321}">
                <p14:modId xmlns:p14="http://schemas.microsoft.com/office/powerpoint/2010/main" xmlns="" val="2357232415"/>
              </p:ext>
            </p:extLst>
          </p:nvPr>
        </p:nvGraphicFramePr>
        <p:xfrm>
          <a:off x="815651" y="335280"/>
          <a:ext cx="10560698" cy="6187440"/>
        </p:xfrm>
        <a:graphic>
          <a:graphicData uri="http://schemas.openxmlformats.org/drawingml/2006/table">
            <a:tbl>
              <a:tblPr firstRow="1" bandRow="1">
                <a:tableStyleId>{5C22544A-7EE6-4342-B048-85BDC9FD1C3A}</a:tableStyleId>
              </a:tblPr>
              <a:tblGrid>
                <a:gridCol w="5302898">
                  <a:extLst>
                    <a:ext uri="{9D8B030D-6E8A-4147-A177-3AD203B41FA5}">
                      <a16:colId xmlns:a16="http://schemas.microsoft.com/office/drawing/2014/main" xmlns="" val="2570520235"/>
                    </a:ext>
                  </a:extLst>
                </a:gridCol>
                <a:gridCol w="5257800">
                  <a:extLst>
                    <a:ext uri="{9D8B030D-6E8A-4147-A177-3AD203B41FA5}">
                      <a16:colId xmlns:a16="http://schemas.microsoft.com/office/drawing/2014/main" xmlns="" val="1249985378"/>
                    </a:ext>
                  </a:extLst>
                </a:gridCol>
              </a:tblGrid>
              <a:tr h="370840">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Capstan lathe </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Turret lathe </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9555728"/>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a light duty machine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tis a heavy duty machine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14785013"/>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is  mounted on the ram and the ram is mounted on the saddle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is directly mounted on the saddle and the saddle slides over the bed ways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7190012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saddle will not be moved during machining</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saddle is moved along with the turret head during machining</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993145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length wise movement of turret is less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lengthwise movement of turret is more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55393273"/>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Short work pieces only can be machined</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Long work pieces can be machined</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825979472"/>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easy to move the turret head as it slides over the ram</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difficult to move the turret head along with saddle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433474059"/>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cannot be moved crosswise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can be moved crosswise in some turret lathes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19198541"/>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As the construction of lathe is not rigid, heavy cut cannot be given</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As the construction of lathe is rigid, heavy </a:t>
                      </a:r>
                      <a:r>
                        <a:rPr lang="en-US" sz="2000" dirty="0" smtClean="0">
                          <a:solidFill>
                            <a:sysClr val="windowText" lastClr="000000"/>
                          </a:solidFill>
                          <a:latin typeface="Times New Roman" panose="02020603050405020304" pitchFamily="18" charset="0"/>
                          <a:cs typeface="Times New Roman" panose="02020603050405020304" pitchFamily="18" charset="0"/>
                        </a:rPr>
                        <a:t>cut </a:t>
                      </a:r>
                      <a:r>
                        <a:rPr lang="en-US" sz="2000" dirty="0">
                          <a:solidFill>
                            <a:sysClr val="windowText" lastClr="000000"/>
                          </a:solidFill>
                          <a:latin typeface="Times New Roman" panose="02020603050405020304" pitchFamily="18" charset="0"/>
                          <a:cs typeface="Times New Roman" panose="02020603050405020304" pitchFamily="18" charset="0"/>
                        </a:rPr>
                        <a:t>can be given</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321753619"/>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used for machining work pieces up to 60 mm diameter</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used for machining work pieces up to 200 mm diameter</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94482242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Collet is used to hold the work piece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Jaw chuck is used to hold the work piece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076493692"/>
                  </a:ext>
                </a:extLst>
              </a:tr>
            </a:tbl>
          </a:graphicData>
        </a:graphic>
      </p:graphicFrame>
      <p:sp>
        <p:nvSpPr>
          <p:cNvPr id="3" name="Slide Number Placeholder 2"/>
          <p:cNvSpPr>
            <a:spLocks noGrp="1"/>
          </p:cNvSpPr>
          <p:nvPr>
            <p:ph type="sldNum" sz="quarter" idx="12"/>
          </p:nvPr>
        </p:nvSpPr>
        <p:spPr/>
        <p:txBody>
          <a:bodyPr/>
          <a:lstStyle/>
          <a:p>
            <a:fld id="{6CD2C3DF-7EAB-4FBF-A7D6-E6B2366142AB}" type="slidenum">
              <a:rPr lang="en-IN" smtClean="0"/>
              <a:pPr/>
              <a:t>40</a:t>
            </a:fld>
            <a:endParaRPr lang="en-IN"/>
          </a:p>
        </p:txBody>
      </p:sp>
    </p:spTree>
    <p:extLst>
      <p:ext uri="{BB962C8B-B14F-4D97-AF65-F5344CB8AC3E}">
        <p14:creationId xmlns:p14="http://schemas.microsoft.com/office/powerpoint/2010/main" xmlns="" val="3617831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6548"/>
          </a:xfrm>
        </p:spPr>
        <p:txBody>
          <a:bodyPr>
            <a:normAutofit fontScale="90000"/>
          </a:bodyPr>
          <a:lstStyle/>
          <a:p>
            <a:r>
              <a:rPr lang="en-US" dirty="0" smtClean="0"/>
              <a:t>AUTOMATIC LATHES</a:t>
            </a:r>
            <a:endParaRPr lang="en-US" dirty="0"/>
          </a:p>
        </p:txBody>
      </p:sp>
      <p:sp>
        <p:nvSpPr>
          <p:cNvPr id="3" name="Content Placeholder 2"/>
          <p:cNvSpPr>
            <a:spLocks noGrp="1"/>
          </p:cNvSpPr>
          <p:nvPr>
            <p:ph idx="1"/>
          </p:nvPr>
        </p:nvSpPr>
        <p:spPr>
          <a:xfrm>
            <a:off x="323044" y="1168802"/>
            <a:ext cx="11422487" cy="5528212"/>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term automatic is somewhat loosely applied, but is normally restricted to those machine tools capable </a:t>
            </a:r>
            <a:r>
              <a:rPr lang="en-US" dirty="0" smtClean="0">
                <a:latin typeface="Times New Roman" panose="02020603050405020304" pitchFamily="18" charset="0"/>
                <a:cs typeface="Times New Roman" panose="02020603050405020304" pitchFamily="18" charset="0"/>
              </a:rPr>
              <a:t>of producing </a:t>
            </a:r>
            <a:r>
              <a:rPr lang="en-US" dirty="0">
                <a:latin typeface="Times New Roman" panose="02020603050405020304" pitchFamily="18" charset="0"/>
                <a:cs typeface="Times New Roman" panose="02020603050405020304" pitchFamily="18" charset="0"/>
              </a:rPr>
              <a:t>identical pieces without the attention of an operator after each piece is completed</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All operations in machining a work piece on a metal cutting machine tool are classified as </a:t>
            </a:r>
            <a:r>
              <a:rPr lang="en-US" dirty="0" smtClean="0">
                <a:latin typeface="Times New Roman" panose="02020603050405020304" pitchFamily="18" charset="0"/>
                <a:cs typeface="Times New Roman" panose="02020603050405020304" pitchFamily="18" charset="0"/>
              </a:rPr>
              <a:t>processing and </a:t>
            </a:r>
            <a:r>
              <a:rPr lang="en-US" dirty="0">
                <a:latin typeface="Times New Roman" panose="02020603050405020304" pitchFamily="18" charset="0"/>
                <a:cs typeface="Times New Roman" panose="02020603050405020304" pitchFamily="18" charset="0"/>
              </a:rPr>
              <a:t>handling operations. Processing operations are those in which the actual cutting process or chip </a:t>
            </a:r>
            <a:r>
              <a:rPr lang="en-US" dirty="0" smtClean="0">
                <a:latin typeface="Times New Roman" panose="02020603050405020304" pitchFamily="18" charset="0"/>
                <a:cs typeface="Times New Roman" panose="02020603050405020304" pitchFamily="18" charset="0"/>
              </a:rPr>
              <a:t>removal takes </a:t>
            </a:r>
            <a:r>
              <a:rPr lang="en-US" dirty="0">
                <a:latin typeface="Times New Roman" panose="02020603050405020304" pitchFamily="18" charset="0"/>
                <a:cs typeface="Times New Roman" panose="02020603050405020304" pitchFamily="18" charset="0"/>
              </a:rPr>
              <a:t>place.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rest are handling operations and include loading and clamping the work, advancing </a:t>
            </a:r>
            <a:r>
              <a:rPr lang="en-US" dirty="0" smtClean="0">
                <a:latin typeface="Times New Roman" panose="02020603050405020304" pitchFamily="18" charset="0"/>
                <a:cs typeface="Times New Roman" panose="02020603050405020304" pitchFamily="18" charset="0"/>
              </a:rPr>
              <a:t>and withdrawing </a:t>
            </a:r>
            <a:r>
              <a:rPr lang="en-US" dirty="0">
                <a:latin typeface="Times New Roman" panose="02020603050405020304" pitchFamily="18" charset="0"/>
                <a:cs typeface="Times New Roman" panose="02020603050405020304" pitchFamily="18" charset="0"/>
              </a:rPr>
              <a:t>the cutting tools, releasing and unloading the work, checking the size of the work, etc</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Highly automated machine tools especially of the lathe family are ordinarily classified as automatics </a:t>
            </a:r>
            <a:r>
              <a:rPr lang="en-US" dirty="0" smtClean="0">
                <a:latin typeface="Times New Roman" panose="02020603050405020304" pitchFamily="18" charset="0"/>
                <a:cs typeface="Times New Roman" panose="02020603050405020304" pitchFamily="18" charset="0"/>
              </a:rPr>
              <a:t>and semi-automatics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Automatics as their name implies are machine tools with a fully automatic work cycle.</a:t>
            </a:r>
          </a:p>
          <a:p>
            <a:pPr algn="just"/>
            <a:r>
              <a:rPr lang="en-US" dirty="0">
                <a:latin typeface="Times New Roman" panose="02020603050405020304" pitchFamily="18" charset="0"/>
                <a:cs typeface="Times New Roman" panose="02020603050405020304" pitchFamily="18" charset="0"/>
              </a:rPr>
              <a:t>Semi-automatics are machine tools in which the actual machining operations are performed </a:t>
            </a:r>
            <a:r>
              <a:rPr lang="en-US" dirty="0" smtClean="0">
                <a:latin typeface="Times New Roman" panose="02020603050405020304" pitchFamily="18" charset="0"/>
                <a:cs typeface="Times New Roman" panose="02020603050405020304" pitchFamily="18" charset="0"/>
              </a:rPr>
              <a:t>automatically in </a:t>
            </a:r>
            <a:r>
              <a:rPr lang="en-US" dirty="0">
                <a:latin typeface="Times New Roman" panose="02020603050405020304" pitchFamily="18" charset="0"/>
                <a:cs typeface="Times New Roman" panose="02020603050405020304" pitchFamily="18" charset="0"/>
              </a:rPr>
              <a:t>the same manner as on automatics. In this case however, the operator loads the blank into the </a:t>
            </a:r>
            <a:r>
              <a:rPr lang="en-US" dirty="0" smtClean="0">
                <a:latin typeface="Times New Roman" panose="02020603050405020304" pitchFamily="18" charset="0"/>
                <a:cs typeface="Times New Roman" panose="02020603050405020304" pitchFamily="18" charset="0"/>
              </a:rPr>
              <a:t>machine, starts </a:t>
            </a:r>
            <a:r>
              <a:rPr lang="en-US" dirty="0">
                <a:latin typeface="Times New Roman" panose="02020603050405020304" pitchFamily="18" charset="0"/>
                <a:cs typeface="Times New Roman" panose="02020603050405020304" pitchFamily="18" charset="0"/>
              </a:rPr>
              <a:t>the machine, checks the work size and removes the completed piece by hand.</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41</a:t>
            </a:fld>
            <a:endParaRPr lang="en-IN"/>
          </a:p>
        </p:txBody>
      </p:sp>
    </p:spTree>
    <p:extLst>
      <p:ext uri="{BB962C8B-B14F-4D97-AF65-F5344CB8AC3E}">
        <p14:creationId xmlns:p14="http://schemas.microsoft.com/office/powerpoint/2010/main" xmlns="" val="4229233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470" y="473342"/>
            <a:ext cx="7288370" cy="6094883"/>
          </a:xfrm>
        </p:spPr>
        <p:txBody>
          <a:bodyPr>
            <a:normAutofit/>
          </a:bodyPr>
          <a:lstStyle/>
          <a:p>
            <a:pPr marL="0" indent="0">
              <a:buNone/>
            </a:pPr>
            <a:r>
              <a:rPr lang="en-US" dirty="0"/>
              <a:t>1</a:t>
            </a:r>
            <a:r>
              <a:rPr lang="en-US" dirty="0">
                <a:latin typeface="Times New Roman" panose="02020603050405020304" pitchFamily="18" charset="0"/>
                <a:cs typeface="Times New Roman" panose="02020603050405020304" pitchFamily="18" charset="0"/>
              </a:rPr>
              <a:t>. AUTOMATIC CUTTING OFF MACHINES</a:t>
            </a:r>
          </a:p>
          <a:p>
            <a:pPr algn="just"/>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for turning, facing and cutting </a:t>
            </a:r>
            <a:r>
              <a:rPr lang="en-US" dirty="0" smtClean="0">
                <a:latin typeface="Times New Roman" panose="02020603050405020304" pitchFamily="18" charset="0"/>
                <a:cs typeface="Times New Roman" panose="02020603050405020304" pitchFamily="18" charset="0"/>
              </a:rPr>
              <a:t>off operations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Special </a:t>
            </a:r>
            <a:r>
              <a:rPr lang="en-US" dirty="0">
                <a:latin typeface="Times New Roman" panose="02020603050405020304" pitchFamily="18" charset="0"/>
                <a:cs typeface="Times New Roman" panose="02020603050405020304" pitchFamily="18" charset="0"/>
              </a:rPr>
              <a:t>operations such as form </a:t>
            </a:r>
            <a:r>
              <a:rPr lang="en-US" dirty="0" smtClean="0">
                <a:latin typeface="Times New Roman" panose="02020603050405020304" pitchFamily="18" charset="0"/>
                <a:cs typeface="Times New Roman" panose="02020603050405020304" pitchFamily="18" charset="0"/>
              </a:rPr>
              <a:t>turning, drilling </a:t>
            </a:r>
            <a:r>
              <a:rPr lang="en-US" dirty="0">
                <a:latin typeface="Times New Roman" panose="02020603050405020304" pitchFamily="18" charset="0"/>
                <a:cs typeface="Times New Roman" panose="02020603050405020304" pitchFamily="18" charset="0"/>
              </a:rPr>
              <a:t>and threading can also be performed</a:t>
            </a:r>
          </a:p>
          <a:p>
            <a:pPr algn="just"/>
            <a:r>
              <a:rPr lang="en-US" dirty="0" smtClean="0">
                <a:latin typeface="Times New Roman" panose="02020603050405020304" pitchFamily="18" charset="0"/>
                <a:cs typeface="Times New Roman" panose="02020603050405020304" pitchFamily="18" charset="0"/>
              </a:rPr>
              <a:t>Required </a:t>
            </a:r>
            <a:r>
              <a:rPr lang="en-US" dirty="0">
                <a:latin typeface="Times New Roman" panose="02020603050405020304" pitchFamily="18" charset="0"/>
                <a:cs typeface="Times New Roman" panose="02020603050405020304" pitchFamily="18" charset="0"/>
              </a:rPr>
              <a:t>length of stock is fed out with a </a:t>
            </a:r>
            <a:r>
              <a:rPr lang="en-US" dirty="0" smtClean="0">
                <a:latin typeface="Times New Roman" panose="02020603050405020304" pitchFamily="18" charset="0"/>
                <a:cs typeface="Times New Roman" panose="02020603050405020304" pitchFamily="18" charset="0"/>
              </a:rPr>
              <a:t>cam mechanism </a:t>
            </a:r>
            <a:r>
              <a:rPr lang="en-US" dirty="0">
                <a:latin typeface="Times New Roman" panose="02020603050405020304" pitchFamily="18" charset="0"/>
                <a:cs typeface="Times New Roman" panose="02020603050405020304" pitchFamily="18" charset="0"/>
              </a:rPr>
              <a:t>up to stock stop and is held </a:t>
            </a:r>
            <a:r>
              <a:rPr lang="en-US" dirty="0" smtClean="0">
                <a:latin typeface="Times New Roman" panose="02020603050405020304" pitchFamily="18" charset="0"/>
                <a:cs typeface="Times New Roman" panose="02020603050405020304" pitchFamily="18" charset="0"/>
              </a:rPr>
              <a:t>in collect </a:t>
            </a:r>
            <a:r>
              <a:rPr lang="en-US" dirty="0">
                <a:latin typeface="Times New Roman" panose="02020603050405020304" pitchFamily="18" charset="0"/>
                <a:cs typeface="Times New Roman" panose="02020603050405020304" pitchFamily="18" charset="0"/>
              </a:rPr>
              <a:t>chuck of the rotating spindle</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on the front cross slide </a:t>
            </a:r>
            <a:r>
              <a:rPr lang="en-US" dirty="0" smtClean="0">
                <a:latin typeface="Times New Roman" panose="02020603050405020304" pitchFamily="18" charset="0"/>
                <a:cs typeface="Times New Roman" panose="02020603050405020304" pitchFamily="18" charset="0"/>
              </a:rPr>
              <a:t>perform operations </a:t>
            </a:r>
            <a:r>
              <a:rPr lang="en-US" dirty="0">
                <a:latin typeface="Times New Roman" panose="02020603050405020304" pitchFamily="18" charset="0"/>
                <a:cs typeface="Times New Roman" panose="02020603050405020304" pitchFamily="18" charset="0"/>
              </a:rPr>
              <a:t>of turning or forming whereas </a:t>
            </a:r>
            <a:r>
              <a:rPr lang="en-US" dirty="0" smtClean="0">
                <a:latin typeface="Times New Roman" panose="02020603050405020304" pitchFamily="18" charset="0"/>
                <a:cs typeface="Times New Roman" panose="02020603050405020304" pitchFamily="18" charset="0"/>
              </a:rPr>
              <a:t>tools on </a:t>
            </a:r>
            <a:r>
              <a:rPr lang="en-US" dirty="0">
                <a:latin typeface="Times New Roman" panose="02020603050405020304" pitchFamily="18" charset="0"/>
                <a:cs typeface="Times New Roman" panose="02020603050405020304" pitchFamily="18" charset="0"/>
              </a:rPr>
              <a:t>the rear cross slide perform the </a:t>
            </a:r>
            <a:r>
              <a:rPr lang="en-US" dirty="0" smtClean="0">
                <a:latin typeface="Times New Roman" panose="02020603050405020304" pitchFamily="18" charset="0"/>
                <a:cs typeface="Times New Roman" panose="02020603050405020304" pitchFamily="18" charset="0"/>
              </a:rPr>
              <a:t>facing, chamfering </a:t>
            </a:r>
            <a:r>
              <a:rPr lang="en-US" dirty="0">
                <a:latin typeface="Times New Roman" panose="02020603050405020304" pitchFamily="18" charset="0"/>
                <a:cs typeface="Times New Roman" panose="02020603050405020304" pitchFamily="18" charset="0"/>
              </a:rPr>
              <a:t>and cutting off operations</a:t>
            </a:r>
          </a:p>
        </p:txBody>
      </p:sp>
      <p:pic>
        <p:nvPicPr>
          <p:cNvPr id="5" name="Picture 4"/>
          <p:cNvPicPr>
            <a:picLocks noChangeAspect="1"/>
          </p:cNvPicPr>
          <p:nvPr/>
        </p:nvPicPr>
        <p:blipFill rotWithShape="1">
          <a:blip r:embed="rId2"/>
          <a:srcRect l="6091" t="4650"/>
          <a:stretch/>
        </p:blipFill>
        <p:spPr>
          <a:xfrm>
            <a:off x="7778840" y="1674254"/>
            <a:ext cx="4274138" cy="3490175"/>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42</a:t>
            </a:fld>
            <a:endParaRPr lang="en-IN"/>
          </a:p>
        </p:txBody>
      </p:sp>
    </p:spTree>
    <p:extLst>
      <p:ext uri="{BB962C8B-B14F-4D97-AF65-F5344CB8AC3E}">
        <p14:creationId xmlns:p14="http://schemas.microsoft.com/office/powerpoint/2010/main" xmlns="" val="271469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014" y="215766"/>
            <a:ext cx="7198217" cy="6513445"/>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2. SINGLE SPLINDLE AUTOMATIC </a:t>
            </a:r>
            <a:r>
              <a:rPr lang="en-US" dirty="0" smtClean="0">
                <a:latin typeface="Times New Roman" panose="02020603050405020304" pitchFamily="18" charset="0"/>
                <a:cs typeface="Times New Roman" panose="02020603050405020304" pitchFamily="18" charset="0"/>
              </a:rPr>
              <a:t>SCREW MACHINES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Designed </a:t>
            </a:r>
            <a:r>
              <a:rPr lang="en-US" dirty="0">
                <a:latin typeface="Times New Roman" panose="02020603050405020304" pitchFamily="18" charset="0"/>
                <a:cs typeface="Times New Roman" panose="02020603050405020304" pitchFamily="18" charset="0"/>
              </a:rPr>
              <a:t>for manufacturing bolts and </a:t>
            </a:r>
            <a:r>
              <a:rPr lang="en-US" dirty="0" smtClean="0">
                <a:latin typeface="Times New Roman" panose="02020603050405020304" pitchFamily="18" charset="0"/>
                <a:cs typeface="Times New Roman" panose="02020603050405020304" pitchFamily="18" charset="0"/>
              </a:rPr>
              <a:t>screws from </a:t>
            </a:r>
            <a:r>
              <a:rPr lang="en-US" dirty="0">
                <a:latin typeface="Times New Roman" panose="02020603050405020304" pitchFamily="18" charset="0"/>
                <a:cs typeface="Times New Roman" panose="02020603050405020304" pitchFamily="18" charset="0"/>
              </a:rPr>
              <a:t>bar stock in mass production</a:t>
            </a:r>
          </a:p>
          <a:p>
            <a:pPr algn="just"/>
            <a:r>
              <a:rPr lang="en-US" dirty="0" smtClean="0">
                <a:latin typeface="Times New Roman" panose="02020603050405020304" pitchFamily="18" charset="0"/>
                <a:cs typeface="Times New Roman" panose="02020603050405020304" pitchFamily="18" charset="0"/>
              </a:rPr>
              <a:t>Also </a:t>
            </a:r>
            <a:r>
              <a:rPr lang="en-US" dirty="0">
                <a:latin typeface="Times New Roman" panose="02020603050405020304" pitchFamily="18" charset="0"/>
                <a:cs typeface="Times New Roman" panose="02020603050405020304" pitchFamily="18" charset="0"/>
              </a:rPr>
              <a:t>used for producing small parts of </a:t>
            </a:r>
            <a:r>
              <a:rPr lang="en-US" dirty="0" smtClean="0">
                <a:latin typeface="Times New Roman" panose="02020603050405020304" pitchFamily="18" charset="0"/>
                <a:cs typeface="Times New Roman" panose="02020603050405020304" pitchFamily="18" charset="0"/>
              </a:rPr>
              <a:t>complex shape</a:t>
            </a:r>
          </a:p>
          <a:p>
            <a:pPr algn="just"/>
            <a:r>
              <a:rPr lang="en-US" dirty="0" smtClean="0">
                <a:latin typeface="Times New Roman" panose="02020603050405020304" pitchFamily="18" charset="0"/>
                <a:cs typeface="Times New Roman" panose="02020603050405020304" pitchFamily="18" charset="0"/>
              </a:rPr>
              <a:t>Bar </a:t>
            </a:r>
            <a:r>
              <a:rPr lang="en-US" dirty="0">
                <a:latin typeface="Times New Roman" panose="02020603050405020304" pitchFamily="18" charset="0"/>
                <a:cs typeface="Times New Roman" panose="02020603050405020304" pitchFamily="18" charset="0"/>
              </a:rPr>
              <a:t>is advanced through stock tube </a:t>
            </a:r>
            <a:r>
              <a:rPr lang="en-US" dirty="0" smtClean="0">
                <a:latin typeface="Times New Roman" panose="02020603050405020304" pitchFamily="18" charset="0"/>
                <a:cs typeface="Times New Roman" panose="02020603050405020304" pitchFamily="18" charset="0"/>
              </a:rPr>
              <a:t>up to stop and </a:t>
            </a:r>
            <a:r>
              <a:rPr lang="en-US" dirty="0">
                <a:latin typeface="Times New Roman" panose="02020603050405020304" pitchFamily="18" charset="0"/>
                <a:cs typeface="Times New Roman" panose="02020603050405020304" pitchFamily="18" charset="0"/>
              </a:rPr>
              <a:t>is clamped in the rotating spindle by </a:t>
            </a:r>
            <a:r>
              <a:rPr lang="en-US" dirty="0" smtClean="0">
                <a:latin typeface="Times New Roman" panose="02020603050405020304" pitchFamily="18" charset="0"/>
                <a:cs typeface="Times New Roman" panose="02020603050405020304" pitchFamily="18" charset="0"/>
              </a:rPr>
              <a:t>means of </a:t>
            </a:r>
            <a:r>
              <a:rPr lang="en-US" dirty="0">
                <a:latin typeface="Times New Roman" panose="02020603050405020304" pitchFamily="18" charset="0"/>
                <a:cs typeface="Times New Roman" panose="02020603050405020304" pitchFamily="18" charset="0"/>
              </a:rPr>
              <a:t>collect chuck</a:t>
            </a:r>
          </a:p>
          <a:p>
            <a:pPr algn="just"/>
            <a:r>
              <a:rPr lang="en-US" dirty="0" smtClean="0">
                <a:latin typeface="Times New Roman" panose="02020603050405020304" pitchFamily="18" charset="0"/>
                <a:cs typeface="Times New Roman" panose="02020603050405020304" pitchFamily="18" charset="0"/>
              </a:rPr>
              <a:t>Turret </a:t>
            </a:r>
            <a:r>
              <a:rPr lang="en-US" dirty="0">
                <a:latin typeface="Times New Roman" panose="02020603050405020304" pitchFamily="18" charset="0"/>
                <a:cs typeface="Times New Roman" panose="02020603050405020304" pitchFamily="18" charset="0"/>
              </a:rPr>
              <a:t>carried six tools and are used </a:t>
            </a:r>
            <a:r>
              <a:rPr lang="en-US" dirty="0" smtClean="0">
                <a:latin typeface="Times New Roman" panose="02020603050405020304" pitchFamily="18" charset="0"/>
                <a:cs typeface="Times New Roman" panose="02020603050405020304" pitchFamily="18" charset="0"/>
              </a:rPr>
              <a:t>for longitudinal </a:t>
            </a:r>
            <a:r>
              <a:rPr lang="en-US" dirty="0">
                <a:latin typeface="Times New Roman" panose="02020603050405020304" pitchFamily="18" charset="0"/>
                <a:cs typeface="Times New Roman" panose="02020603050405020304" pitchFamily="18" charset="0"/>
              </a:rPr>
              <a:t>turning and machining of </a:t>
            </a:r>
            <a:r>
              <a:rPr lang="en-US" dirty="0" smtClean="0">
                <a:latin typeface="Times New Roman" panose="02020603050405020304" pitchFamily="18" charset="0"/>
                <a:cs typeface="Times New Roman" panose="02020603050405020304" pitchFamily="18" charset="0"/>
              </a:rPr>
              <a:t>the central </a:t>
            </a:r>
            <a:r>
              <a:rPr lang="en-US" dirty="0">
                <a:latin typeface="Times New Roman" panose="02020603050405020304" pitchFamily="18" charset="0"/>
                <a:cs typeface="Times New Roman" panose="02020603050405020304" pitchFamily="18" charset="0"/>
              </a:rPr>
              <a:t>holes</a:t>
            </a:r>
          </a:p>
          <a:p>
            <a:pPr algn="just"/>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the end of each cut turret slide is </a:t>
            </a:r>
            <a:r>
              <a:rPr lang="en-US" dirty="0" smtClean="0">
                <a:latin typeface="Times New Roman" panose="02020603050405020304" pitchFamily="18" charset="0"/>
                <a:cs typeface="Times New Roman" panose="02020603050405020304" pitchFamily="18" charset="0"/>
              </a:rPr>
              <a:t>withdrawn automatically </a:t>
            </a:r>
            <a:r>
              <a:rPr lang="en-US" dirty="0">
                <a:latin typeface="Times New Roman" panose="02020603050405020304" pitchFamily="18" charset="0"/>
                <a:cs typeface="Times New Roman" panose="02020603050405020304" pitchFamily="18" charset="0"/>
              </a:rPr>
              <a:t>and indexed to bring next tool </a:t>
            </a:r>
            <a:r>
              <a:rPr lang="en-US" dirty="0" smtClean="0">
                <a:latin typeface="Times New Roman" panose="02020603050405020304" pitchFamily="18" charset="0"/>
                <a:cs typeface="Times New Roman" panose="02020603050405020304" pitchFamily="18" charset="0"/>
              </a:rPr>
              <a:t>in position</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srcRect l="1896" r="1090"/>
          <a:stretch/>
        </p:blipFill>
        <p:spPr>
          <a:xfrm>
            <a:off x="7508384" y="1956684"/>
            <a:ext cx="4584879" cy="3031607"/>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43</a:t>
            </a:fld>
            <a:endParaRPr lang="en-IN"/>
          </a:p>
        </p:txBody>
      </p:sp>
    </p:spTree>
    <p:extLst>
      <p:ext uri="{BB962C8B-B14F-4D97-AF65-F5344CB8AC3E}">
        <p14:creationId xmlns:p14="http://schemas.microsoft.com/office/powerpoint/2010/main" xmlns="" val="2556765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713" y="331675"/>
            <a:ext cx="11409608" cy="6378218"/>
          </a:xfrm>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3. SWISS TYPE AUTOMATIC </a:t>
            </a:r>
            <a:r>
              <a:rPr lang="en-US" dirty="0" smtClean="0">
                <a:latin typeface="Times New Roman" panose="02020603050405020304" pitchFamily="18" charset="0"/>
                <a:cs typeface="Times New Roman" panose="02020603050405020304" pitchFamily="18" charset="0"/>
              </a:rPr>
              <a:t>SCREW MACHINES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Head </a:t>
            </a:r>
            <a:r>
              <a:rPr lang="en-US" dirty="0">
                <a:latin typeface="Times New Roman" panose="02020603050405020304" pitchFamily="18" charset="0"/>
                <a:cs typeface="Times New Roman" panose="02020603050405020304" pitchFamily="18" charset="0"/>
              </a:rPr>
              <a:t>stock is movable and the tools are </a:t>
            </a:r>
            <a:r>
              <a:rPr lang="en-US" dirty="0" smtClean="0">
                <a:latin typeface="Times New Roman" panose="02020603050405020304" pitchFamily="18" charset="0"/>
                <a:cs typeface="Times New Roman" panose="02020603050405020304" pitchFamily="18" charset="0"/>
              </a:rPr>
              <a:t>fixed in </a:t>
            </a:r>
            <a:r>
              <a:rPr lang="en-US" dirty="0">
                <a:latin typeface="Times New Roman" panose="02020603050405020304" pitchFamily="18" charset="0"/>
                <a:cs typeface="Times New Roman" panose="02020603050405020304" pitchFamily="18" charset="0"/>
              </a:rPr>
              <a:t>the slides</a:t>
            </a:r>
          </a:p>
          <a:p>
            <a:pPr algn="just"/>
            <a:r>
              <a:rPr lang="en-US" dirty="0" smtClean="0">
                <a:latin typeface="Times New Roman" panose="02020603050405020304" pitchFamily="18" charset="0"/>
                <a:cs typeface="Times New Roman" panose="02020603050405020304" pitchFamily="18" charset="0"/>
              </a:rPr>
              <a:t>Also </a:t>
            </a:r>
            <a:r>
              <a:rPr lang="en-US" dirty="0">
                <a:latin typeface="Times New Roman" panose="02020603050405020304" pitchFamily="18" charset="0"/>
                <a:cs typeface="Times New Roman" panose="02020603050405020304" pitchFamily="18" charset="0"/>
              </a:rPr>
              <a:t>called as sliding head type </a:t>
            </a:r>
            <a:r>
              <a:rPr lang="en-US" dirty="0" smtClean="0">
                <a:latin typeface="Times New Roman" panose="02020603050405020304" pitchFamily="18" charset="0"/>
                <a:cs typeface="Times New Roman" panose="02020603050405020304" pitchFamily="18" charset="0"/>
              </a:rPr>
              <a:t>automatic screw </a:t>
            </a:r>
            <a:r>
              <a:rPr lang="en-US" dirty="0">
                <a:latin typeface="Times New Roman" panose="02020603050405020304" pitchFamily="18" charset="0"/>
                <a:cs typeface="Times New Roman" panose="02020603050405020304" pitchFamily="18" charset="0"/>
              </a:rPr>
              <a:t>machine</a:t>
            </a:r>
          </a:p>
          <a:p>
            <a:pPr algn="just"/>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for mass production of long </a:t>
            </a:r>
            <a:r>
              <a:rPr lang="en-US" dirty="0" smtClean="0">
                <a:latin typeface="Times New Roman" panose="02020603050405020304" pitchFamily="18" charset="0"/>
                <a:cs typeface="Times New Roman" panose="02020603050405020304" pitchFamily="18" charset="0"/>
              </a:rPr>
              <a:t>accurate parts </a:t>
            </a:r>
            <a:r>
              <a:rPr lang="en-US" dirty="0">
                <a:latin typeface="Times New Roman" panose="02020603050405020304" pitchFamily="18" charset="0"/>
                <a:cs typeface="Times New Roman" panose="02020603050405020304" pitchFamily="18" charset="0"/>
              </a:rPr>
              <a:t>of small diameter bar stock</a:t>
            </a:r>
          </a:p>
          <a:p>
            <a:pPr marL="0" indent="0" algn="just">
              <a:buNone/>
            </a:pPr>
            <a:r>
              <a:rPr lang="en-US" dirty="0">
                <a:latin typeface="Times New Roman" panose="02020603050405020304" pitchFamily="18" charset="0"/>
                <a:cs typeface="Times New Roman" panose="02020603050405020304" pitchFamily="18" charset="0"/>
              </a:rPr>
              <a:t>Features are</a:t>
            </a:r>
          </a:p>
          <a:p>
            <a:pPr marL="0" indent="0" algn="just">
              <a:buNone/>
            </a:pPr>
            <a:r>
              <a:rPr lang="en-US" dirty="0">
                <a:latin typeface="Times New Roman" panose="02020603050405020304" pitchFamily="18" charset="0"/>
                <a:cs typeface="Times New Roman" panose="02020603050405020304" pitchFamily="18" charset="0"/>
              </a:rPr>
              <a:t>1. A sliding headstock through which bar </a:t>
            </a:r>
            <a:r>
              <a:rPr lang="en-US" dirty="0" smtClean="0">
                <a:latin typeface="Times New Roman" panose="02020603050405020304" pitchFamily="18" charset="0"/>
                <a:cs typeface="Times New Roman" panose="02020603050405020304" pitchFamily="18" charset="0"/>
              </a:rPr>
              <a:t>stock fed</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 Tool bracket which supports five tools </a:t>
            </a:r>
            <a:r>
              <a:rPr lang="en-US" dirty="0" smtClean="0">
                <a:latin typeface="Times New Roman" panose="02020603050405020304" pitchFamily="18" charset="0"/>
                <a:cs typeface="Times New Roman" panose="02020603050405020304" pitchFamily="18" charset="0"/>
              </a:rPr>
              <a:t>slides and </a:t>
            </a:r>
            <a:r>
              <a:rPr lang="en-US" dirty="0">
                <a:latin typeface="Times New Roman" panose="02020603050405020304" pitchFamily="18" charset="0"/>
                <a:cs typeface="Times New Roman" panose="02020603050405020304" pitchFamily="18" charset="0"/>
              </a:rPr>
              <a:t>also a guide bush to support the bar stock</a:t>
            </a:r>
          </a:p>
          <a:p>
            <a:pPr marL="0" indent="0" algn="just">
              <a:buNone/>
            </a:pPr>
            <a:r>
              <a:rPr lang="en-US" dirty="0">
                <a:latin typeface="Times New Roman" panose="02020603050405020304" pitchFamily="18" charset="0"/>
                <a:cs typeface="Times New Roman" panose="02020603050405020304" pitchFamily="18" charset="0"/>
              </a:rPr>
              <a:t>3. A special attachment mounted on the </a:t>
            </a:r>
            <a:r>
              <a:rPr lang="en-US" dirty="0" smtClean="0">
                <a:latin typeface="Times New Roman" panose="02020603050405020304" pitchFamily="18" charset="0"/>
                <a:cs typeface="Times New Roman" panose="02020603050405020304" pitchFamily="18" charset="0"/>
              </a:rPr>
              <a:t>right hand </a:t>
            </a:r>
            <a:r>
              <a:rPr lang="en-US" dirty="0">
                <a:latin typeface="Times New Roman" panose="02020603050405020304" pitchFamily="18" charset="0"/>
                <a:cs typeface="Times New Roman" panose="02020603050405020304" pitchFamily="18" charset="0"/>
              </a:rPr>
              <a:t>side of the bed</a:t>
            </a:r>
          </a:p>
          <a:p>
            <a:pPr marL="0" indent="0" algn="just">
              <a:buNone/>
            </a:pPr>
            <a:r>
              <a:rPr lang="en-US" dirty="0">
                <a:latin typeface="Times New Roman" panose="02020603050405020304" pitchFamily="18" charset="0"/>
                <a:cs typeface="Times New Roman" panose="02020603050405020304" pitchFamily="18" charset="0"/>
              </a:rPr>
              <a:t>4. A camshaft at the front of the </a:t>
            </a:r>
            <a:r>
              <a:rPr lang="en-US" dirty="0" smtClean="0">
                <a:latin typeface="Times New Roman" panose="02020603050405020304" pitchFamily="18" charset="0"/>
                <a:cs typeface="Times New Roman" panose="02020603050405020304" pitchFamily="18" charset="0"/>
              </a:rPr>
              <a:t>machine</a:t>
            </a:r>
          </a:p>
          <a:p>
            <a:pPr algn="just"/>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single point tools are placed radially </a:t>
            </a:r>
            <a:r>
              <a:rPr lang="en-US" dirty="0" smtClean="0">
                <a:latin typeface="Times New Roman" panose="02020603050405020304" pitchFamily="18" charset="0"/>
                <a:cs typeface="Times New Roman" panose="02020603050405020304" pitchFamily="18" charset="0"/>
              </a:rPr>
              <a:t>on the </a:t>
            </a:r>
            <a:r>
              <a:rPr lang="en-US" dirty="0">
                <a:latin typeface="Times New Roman" panose="02020603050405020304" pitchFamily="18" charset="0"/>
                <a:cs typeface="Times New Roman" panose="02020603050405020304" pitchFamily="18" charset="0"/>
              </a:rPr>
              <a:t>tool head around the bushing</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on horizontal slide performs </a:t>
            </a:r>
            <a:r>
              <a:rPr lang="en-US" dirty="0" smtClean="0">
                <a:latin typeface="Times New Roman" panose="02020603050405020304" pitchFamily="18" charset="0"/>
                <a:cs typeface="Times New Roman" panose="02020603050405020304" pitchFamily="18" charset="0"/>
              </a:rPr>
              <a:t>plain turning </a:t>
            </a:r>
            <a:r>
              <a:rPr lang="en-US" dirty="0">
                <a:latin typeface="Times New Roman" panose="02020603050405020304" pitchFamily="18" charset="0"/>
                <a:cs typeface="Times New Roman" panose="02020603050405020304" pitchFamily="18" charset="0"/>
              </a:rPr>
              <a:t>while other tools on three slides </a:t>
            </a:r>
            <a:r>
              <a:rPr lang="en-US" dirty="0" smtClean="0">
                <a:latin typeface="Times New Roman" panose="02020603050405020304" pitchFamily="18" charset="0"/>
                <a:cs typeface="Times New Roman" panose="02020603050405020304" pitchFamily="18" charset="0"/>
              </a:rPr>
              <a:t>are used </a:t>
            </a:r>
            <a:r>
              <a:rPr lang="en-US" dirty="0">
                <a:latin typeface="Times New Roman" panose="02020603050405020304" pitchFamily="18" charset="0"/>
                <a:cs typeface="Times New Roman" panose="02020603050405020304" pitchFamily="18" charset="0"/>
              </a:rPr>
              <a:t>for knurling, chamfering, recessing </a:t>
            </a:r>
            <a:r>
              <a:rPr lang="en-US" dirty="0" smtClean="0">
                <a:latin typeface="Times New Roman" panose="02020603050405020304" pitchFamily="18" charset="0"/>
                <a:cs typeface="Times New Roman" panose="02020603050405020304" pitchFamily="18" charset="0"/>
              </a:rPr>
              <a:t>and cutting </a:t>
            </a:r>
            <a:r>
              <a:rPr lang="en-US" dirty="0">
                <a:latin typeface="Times New Roman" panose="02020603050405020304" pitchFamily="18" charset="0"/>
                <a:cs typeface="Times New Roman" panose="02020603050405020304" pitchFamily="18" charset="0"/>
              </a:rPr>
              <a:t>off operations</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are controlled by cams that brings </a:t>
            </a:r>
            <a:r>
              <a:rPr lang="en-US" dirty="0" smtClean="0">
                <a:latin typeface="Times New Roman" panose="02020603050405020304" pitchFamily="18" charset="0"/>
                <a:cs typeface="Times New Roman" panose="02020603050405020304" pitchFamily="18" charset="0"/>
              </a:rPr>
              <a:t>the tools </a:t>
            </a:r>
            <a:r>
              <a:rPr lang="en-US" dirty="0">
                <a:latin typeface="Times New Roman" panose="02020603050405020304" pitchFamily="18" charset="0"/>
                <a:cs typeface="Times New Roman" panose="02020603050405020304" pitchFamily="18" charset="0"/>
              </a:rPr>
              <a:t>in as required for different operations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44</a:t>
            </a:fld>
            <a:endParaRPr lang="en-IN"/>
          </a:p>
        </p:txBody>
      </p:sp>
    </p:spTree>
    <p:extLst>
      <p:ext uri="{BB962C8B-B14F-4D97-AF65-F5344CB8AC3E}">
        <p14:creationId xmlns:p14="http://schemas.microsoft.com/office/powerpoint/2010/main" xmlns="" val="143658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2873" y="567140"/>
            <a:ext cx="5904285" cy="2807125"/>
          </a:xfrm>
          <a:prstGeom prst="rect">
            <a:avLst/>
          </a:prstGeom>
        </p:spPr>
      </p:pic>
      <p:pic>
        <p:nvPicPr>
          <p:cNvPr id="5" name="Picture 4"/>
          <p:cNvPicPr>
            <a:picLocks noChangeAspect="1"/>
          </p:cNvPicPr>
          <p:nvPr/>
        </p:nvPicPr>
        <p:blipFill>
          <a:blip r:embed="rId3"/>
          <a:stretch>
            <a:fillRect/>
          </a:stretch>
        </p:blipFill>
        <p:spPr>
          <a:xfrm>
            <a:off x="5518393" y="3472667"/>
            <a:ext cx="6108681" cy="318571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45</a:t>
            </a:fld>
            <a:endParaRPr lang="en-IN"/>
          </a:p>
        </p:txBody>
      </p:sp>
    </p:spTree>
    <p:extLst>
      <p:ext uri="{BB962C8B-B14F-4D97-AF65-F5344CB8AC3E}">
        <p14:creationId xmlns:p14="http://schemas.microsoft.com/office/powerpoint/2010/main" xmlns="" val="74362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RECIPROCATING MACHINE TOOLS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514350" indent="-514350">
              <a:buAutoNum type="arabicPeriod"/>
            </a:pPr>
            <a:r>
              <a:rPr lang="en-US" dirty="0" smtClean="0">
                <a:latin typeface="Times New Roman" pitchFamily="18" charset="0"/>
                <a:cs typeface="Times New Roman" pitchFamily="18" charset="0"/>
              </a:rPr>
              <a:t>Shaper</a:t>
            </a:r>
          </a:p>
          <a:p>
            <a:pPr marL="514350" indent="-514350">
              <a:buAutoNum type="arabicPeriod"/>
            </a:pPr>
            <a:r>
              <a:rPr lang="en-US" dirty="0" smtClean="0">
                <a:latin typeface="Times New Roman" pitchFamily="18" charset="0"/>
                <a:cs typeface="Times New Roman" pitchFamily="18" charset="0"/>
              </a:rPr>
              <a:t>Planer</a:t>
            </a:r>
          </a:p>
          <a:p>
            <a:pPr marL="514350" indent="-514350">
              <a:buAutoNum type="arabicPeriod"/>
            </a:pPr>
            <a:r>
              <a:rPr lang="en-US" dirty="0" err="1" smtClean="0">
                <a:latin typeface="Times New Roman" pitchFamily="18" charset="0"/>
                <a:cs typeface="Times New Roman" pitchFamily="18" charset="0"/>
              </a:rPr>
              <a:t>Slotter</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46</a:t>
            </a:fld>
            <a:endParaRPr lang="en-IN"/>
          </a:p>
        </p:txBody>
      </p:sp>
    </p:spTree>
    <p:extLst>
      <p:ext uri="{BB962C8B-B14F-4D97-AF65-F5344CB8AC3E}">
        <p14:creationId xmlns:p14="http://schemas.microsoft.com/office/powerpoint/2010/main" xmlns="" val="1254334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672" y="300731"/>
            <a:ext cx="10515600" cy="871247"/>
          </a:xfrm>
        </p:spPr>
        <p:txBody>
          <a:bodyPr/>
          <a:lstStyle/>
          <a:p>
            <a:r>
              <a:rPr lang="en-US" dirty="0" smtClean="0">
                <a:latin typeface="Times New Roman" pitchFamily="18" charset="0"/>
                <a:cs typeface="Times New Roman" pitchFamily="18" charset="0"/>
              </a:rPr>
              <a:t>1. SHAPER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19259" y="1336228"/>
            <a:ext cx="11216426" cy="536078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shaper is a relatively slow machine tool with very low metal removal </a:t>
            </a:r>
            <a:r>
              <a:rPr lang="en-US" dirty="0" smtClean="0">
                <a:latin typeface="Times New Roman" panose="02020603050405020304" pitchFamily="18" charset="0"/>
                <a:cs typeface="Times New Roman" panose="02020603050405020304" pitchFamily="18" charset="0"/>
              </a:rPr>
              <a:t>capability</a:t>
            </a:r>
          </a:p>
          <a:p>
            <a:r>
              <a:rPr lang="en-US" dirty="0">
                <a:latin typeface="Times New Roman" panose="02020603050405020304" pitchFamily="18" charset="0"/>
                <a:cs typeface="Times New Roman" panose="02020603050405020304" pitchFamily="18" charset="0"/>
              </a:rPr>
              <a:t>This is a low cost machine tool and hence is used for </a:t>
            </a:r>
            <a:r>
              <a:rPr lang="en-US" dirty="0" smtClean="0">
                <a:latin typeface="Times New Roman" panose="02020603050405020304" pitchFamily="18" charset="0"/>
                <a:cs typeface="Times New Roman" panose="02020603050405020304" pitchFamily="18" charset="0"/>
              </a:rPr>
              <a:t>initial rough </a:t>
            </a:r>
            <a:r>
              <a:rPr lang="en-US" dirty="0">
                <a:latin typeface="Times New Roman" panose="02020603050405020304" pitchFamily="18" charset="0"/>
                <a:cs typeface="Times New Roman" panose="02020603050405020304" pitchFamily="18" charset="0"/>
              </a:rPr>
              <a:t>machining of the blanks.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rarely used in production operations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uses a single point tool similar to a lathe which is clamped to a tool post mounted to a clapper box </a:t>
            </a:r>
            <a:r>
              <a:rPr lang="en-US" dirty="0" smtClean="0">
                <a:latin typeface="Times New Roman" panose="02020603050405020304" pitchFamily="18" charset="0"/>
                <a:cs typeface="Times New Roman" panose="02020603050405020304" pitchFamily="18" charset="0"/>
              </a:rPr>
              <a:t>which in </a:t>
            </a:r>
            <a:r>
              <a:rPr lang="en-US" dirty="0">
                <a:latin typeface="Times New Roman" panose="02020603050405020304" pitchFamily="18" charset="0"/>
                <a:cs typeface="Times New Roman" panose="02020603050405020304" pitchFamily="18" charset="0"/>
              </a:rPr>
              <a:t>turn is mounted to a reciprocating </a:t>
            </a:r>
            <a:r>
              <a:rPr lang="en-US" dirty="0" smtClean="0">
                <a:latin typeface="Times New Roman" panose="02020603050405020304" pitchFamily="18" charset="0"/>
                <a:cs typeface="Times New Roman" panose="02020603050405020304" pitchFamily="18" charset="0"/>
              </a:rPr>
              <a:t>ram</a:t>
            </a:r>
          </a:p>
          <a:p>
            <a:r>
              <a:rPr lang="en-US" dirty="0">
                <a:latin typeface="Times New Roman" panose="02020603050405020304" pitchFamily="18" charset="0"/>
                <a:cs typeface="Times New Roman" panose="02020603050405020304" pitchFamily="18" charset="0"/>
              </a:rPr>
              <a:t>The ram while undertaking the cutting </a:t>
            </a:r>
            <a:r>
              <a:rPr lang="en-US" dirty="0" smtClean="0">
                <a:latin typeface="Times New Roman" panose="02020603050405020304" pitchFamily="18" charset="0"/>
                <a:cs typeface="Times New Roman" panose="02020603050405020304" pitchFamily="18" charset="0"/>
              </a:rPr>
              <a:t>stroke pushes </a:t>
            </a:r>
            <a:r>
              <a:rPr lang="en-US" dirty="0">
                <a:latin typeface="Times New Roman" panose="02020603050405020304" pitchFamily="18" charset="0"/>
                <a:cs typeface="Times New Roman" panose="02020603050405020304" pitchFamily="18" charset="0"/>
              </a:rPr>
              <a:t>the cutting tool through the work piece to remove the material.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ram returns, no cutting </a:t>
            </a:r>
            <a:r>
              <a:rPr lang="en-US" dirty="0" smtClean="0">
                <a:latin typeface="Times New Roman" panose="02020603050405020304" pitchFamily="18" charset="0"/>
                <a:cs typeface="Times New Roman" panose="02020603050405020304" pitchFamily="18" charset="0"/>
              </a:rPr>
              <a:t>takes place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between the return and cutting strokes, the table moves in the horizontal direction perpendicular </a:t>
            </a:r>
            <a:r>
              <a:rPr lang="en-US" dirty="0" smtClean="0">
                <a:latin typeface="Times New Roman" panose="02020603050405020304" pitchFamily="18" charset="0"/>
                <a:cs typeface="Times New Roman" panose="02020603050405020304" pitchFamily="18" charset="0"/>
              </a:rPr>
              <a:t>to the </a:t>
            </a:r>
            <a:r>
              <a:rPr lang="en-US" dirty="0">
                <a:latin typeface="Times New Roman" panose="02020603050405020304" pitchFamily="18" charset="0"/>
                <a:cs typeface="Times New Roman" panose="02020603050405020304" pitchFamily="18" charset="0"/>
              </a:rPr>
              <a:t>cutting direction, which is termed as the feed direction.</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47</a:t>
            </a:fld>
            <a:endParaRPr lang="en-IN"/>
          </a:p>
        </p:txBody>
      </p:sp>
    </p:spTree>
    <p:extLst>
      <p:ext uri="{BB962C8B-B14F-4D97-AF65-F5344CB8AC3E}">
        <p14:creationId xmlns:p14="http://schemas.microsoft.com/office/powerpoint/2010/main" xmlns="" val="40852182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dirty="0" smtClean="0">
                <a:latin typeface="Times New Roman" pitchFamily="18" charset="0"/>
                <a:cs typeface="Times New Roman" pitchFamily="18" charset="0"/>
              </a:rPr>
              <a:t>SHAPER - CONSTRUCTION</a:t>
            </a: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4510290" y="1641185"/>
            <a:ext cx="7301430" cy="4347491"/>
          </a:xfrm>
          <a:prstGeom prst="rect">
            <a:avLst/>
          </a:prstGeom>
        </p:spPr>
      </p:pic>
      <p:sp>
        <p:nvSpPr>
          <p:cNvPr id="5" name="TextBox 4"/>
          <p:cNvSpPr txBox="1"/>
          <p:nvPr/>
        </p:nvSpPr>
        <p:spPr>
          <a:xfrm>
            <a:off x="463639" y="1957589"/>
            <a:ext cx="4340180" cy="2677656"/>
          </a:xfrm>
          <a:prstGeom prst="rect">
            <a:avLst/>
          </a:prstGeom>
          <a:noFill/>
        </p:spPr>
        <p:txBody>
          <a:bodyPr wrap="square" rtlCol="0">
            <a:spAutoFit/>
          </a:bodyPr>
          <a:lstStyle/>
          <a:p>
            <a:pPr marL="342900" indent="-342900">
              <a:buAutoNum type="arabicPeriod"/>
            </a:pPr>
            <a:r>
              <a:rPr lang="en-US" sz="2800" dirty="0" smtClean="0">
                <a:latin typeface="Times New Roman" panose="02020603050405020304" pitchFamily="18" charset="0"/>
                <a:cs typeface="Times New Roman" panose="02020603050405020304" pitchFamily="18" charset="0"/>
              </a:rPr>
              <a:t>The Base</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Column</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Ram </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Tool head (clapper box)</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Cross rail</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Table </a:t>
            </a:r>
            <a:endParaRPr lang="en-US" sz="28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CD2C3DF-7EAB-4FBF-A7D6-E6B2366142AB}" type="slidenum">
              <a:rPr lang="en-IN" smtClean="0"/>
              <a:pPr/>
              <a:t>48</a:t>
            </a:fld>
            <a:endParaRPr lang="en-IN"/>
          </a:p>
        </p:txBody>
      </p:sp>
    </p:spTree>
    <p:extLst>
      <p:ext uri="{BB962C8B-B14F-4D97-AF65-F5344CB8AC3E}">
        <p14:creationId xmlns:p14="http://schemas.microsoft.com/office/powerpoint/2010/main" xmlns="" val="3097970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7" y="396070"/>
            <a:ext cx="11358093" cy="6185034"/>
          </a:xfrm>
        </p:spPr>
        <p:txBody>
          <a:bodyPr/>
          <a:lstStyle/>
          <a:p>
            <a:pPr marL="514350" indent="-514350" algn="just">
              <a:buAutoNum type="arabicPeriod"/>
            </a:pPr>
            <a:r>
              <a:rPr lang="en-US" b="1" dirty="0" smtClean="0">
                <a:latin typeface="Times New Roman" panose="02020603050405020304" pitchFamily="18" charset="0"/>
                <a:cs typeface="Times New Roman" panose="02020603050405020304" pitchFamily="18" charset="0"/>
              </a:rPr>
              <a:t>The Base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base provides the stability for the shaper as it supports all other equipment present as </a:t>
            </a:r>
            <a:r>
              <a:rPr lang="en-US" dirty="0" smtClean="0">
                <a:latin typeface="Times New Roman" panose="02020603050405020304" pitchFamily="18" charset="0"/>
                <a:cs typeface="Times New Roman" panose="02020603050405020304" pitchFamily="18" charset="0"/>
              </a:rPr>
              <a:t>well as </a:t>
            </a:r>
            <a:r>
              <a:rPr lang="en-US" dirty="0">
                <a:latin typeface="Times New Roman" panose="02020603050405020304" pitchFamily="18" charset="0"/>
                <a:cs typeface="Times New Roman" panose="02020603050405020304" pitchFamily="18" charset="0"/>
              </a:rPr>
              <a:t>absorbs the forces coming due to the cutting.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Generally </a:t>
            </a:r>
            <a:r>
              <a:rPr lang="en-US" dirty="0">
                <a:latin typeface="Times New Roman" panose="02020603050405020304" pitchFamily="18" charset="0"/>
                <a:cs typeface="Times New Roman" panose="02020603050405020304" pitchFamily="18" charset="0"/>
              </a:rPr>
              <a:t>it is made of grey cast iron and has the </a:t>
            </a:r>
            <a:r>
              <a:rPr lang="en-US" dirty="0" smtClean="0">
                <a:latin typeface="Times New Roman" panose="02020603050405020304" pitchFamily="18" charset="0"/>
                <a:cs typeface="Times New Roman" panose="02020603050405020304" pitchFamily="18" charset="0"/>
              </a:rPr>
              <a:t>necessary arrangement </a:t>
            </a:r>
            <a:r>
              <a:rPr lang="en-US" dirty="0">
                <a:latin typeface="Times New Roman" panose="02020603050405020304" pitchFamily="18" charset="0"/>
                <a:cs typeface="Times New Roman" panose="02020603050405020304" pitchFamily="18" charset="0"/>
              </a:rPr>
              <a:t>of bolts so that it can be bolted to the factory floor with proper levelling</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2. Housing </a:t>
            </a:r>
            <a:r>
              <a:rPr lang="en-US" b="1" dirty="0">
                <a:latin typeface="Times New Roman" panose="02020603050405020304" pitchFamily="18" charset="0"/>
                <a:cs typeface="Times New Roman" panose="02020603050405020304" pitchFamily="18" charset="0"/>
              </a:rPr>
              <a:t>(column</a:t>
            </a:r>
            <a:r>
              <a:rPr lang="en-US"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housing is a box like structure to provide the necessary rigidity and also </a:t>
            </a:r>
            <a:r>
              <a:rPr lang="en-US" dirty="0" smtClean="0">
                <a:latin typeface="Times New Roman" panose="02020603050405020304" pitchFamily="18" charset="0"/>
                <a:cs typeface="Times New Roman" panose="02020603050405020304" pitchFamily="18" charset="0"/>
              </a:rPr>
              <a:t>houses all </a:t>
            </a:r>
            <a:r>
              <a:rPr lang="en-US" dirty="0">
                <a:latin typeface="Times New Roman" panose="02020603050405020304" pitchFamily="18" charset="0"/>
                <a:cs typeface="Times New Roman" panose="02020603050405020304" pitchFamily="18" charset="0"/>
              </a:rPr>
              <a:t>the motors and power transmission equipment.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On </a:t>
            </a:r>
            <a:r>
              <a:rPr lang="en-US" dirty="0">
                <a:latin typeface="Times New Roman" panose="02020603050405020304" pitchFamily="18" charset="0"/>
                <a:cs typeface="Times New Roman" panose="02020603050405020304" pitchFamily="18" charset="0"/>
              </a:rPr>
              <a:t>the top of the housing the necessary </a:t>
            </a:r>
            <a:r>
              <a:rPr lang="en-US" dirty="0" smtClean="0">
                <a:latin typeface="Times New Roman" panose="02020603050405020304" pitchFamily="18" charset="0"/>
                <a:cs typeface="Times New Roman" panose="02020603050405020304" pitchFamily="18" charset="0"/>
              </a:rPr>
              <a:t>guide ways are provided </a:t>
            </a:r>
            <a:r>
              <a:rPr lang="en-US" dirty="0">
                <a:latin typeface="Times New Roman" panose="02020603050405020304" pitchFamily="18" charset="0"/>
                <a:cs typeface="Times New Roman" panose="02020603050405020304" pitchFamily="18" charset="0"/>
              </a:rPr>
              <a:t>for the linear motion of the ram for the cutting stroke</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3. Ram</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is the part of shaper that provides the reciprocating motion for the cutting tool. Ram gets the </a:t>
            </a:r>
            <a:r>
              <a:rPr lang="en-US" dirty="0" smtClean="0">
                <a:latin typeface="Times New Roman" panose="02020603050405020304" pitchFamily="18" charset="0"/>
                <a:cs typeface="Times New Roman" panose="02020603050405020304" pitchFamily="18" charset="0"/>
              </a:rPr>
              <a:t>motion directly </a:t>
            </a:r>
            <a:r>
              <a:rPr lang="en-US" dirty="0">
                <a:latin typeface="Times New Roman" panose="02020603050405020304" pitchFamily="18" charset="0"/>
                <a:cs typeface="Times New Roman" panose="02020603050405020304" pitchFamily="18" charset="0"/>
              </a:rPr>
              <a:t>from the quick return </a:t>
            </a:r>
            <a:r>
              <a:rPr lang="en-US" dirty="0" smtClean="0">
                <a:latin typeface="Times New Roman" panose="02020603050405020304" pitchFamily="18" charset="0"/>
                <a:cs typeface="Times New Roman" panose="02020603050405020304" pitchFamily="18" charset="0"/>
              </a:rPr>
              <a:t>mechanism present </a:t>
            </a:r>
            <a:r>
              <a:rPr lang="en-US" dirty="0">
                <a:latin typeface="Times New Roman" panose="02020603050405020304" pitchFamily="18" charset="0"/>
                <a:cs typeface="Times New Roman" panose="02020603050405020304" pitchFamily="18" charset="0"/>
              </a:rPr>
              <a:t>in the housing</a:t>
            </a:r>
            <a:r>
              <a:rPr lang="en-US" dirty="0" smtClean="0">
                <a:latin typeface="Times New Roman" panose="02020603050405020304" pitchFamily="18" charset="0"/>
                <a:cs typeface="Times New Roman" panose="02020603050405020304" pitchFamily="18" charset="0"/>
              </a:rPr>
              <a:t>.</a:t>
            </a:r>
          </a:p>
          <a:p>
            <a:pPr marL="0" indent="0">
              <a:buNone/>
            </a:pPr>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49</a:t>
            </a:fld>
            <a:endParaRPr lang="en-IN"/>
          </a:p>
        </p:txBody>
      </p:sp>
    </p:spTree>
    <p:extLst>
      <p:ext uri="{BB962C8B-B14F-4D97-AF65-F5344CB8AC3E}">
        <p14:creationId xmlns:p14="http://schemas.microsoft.com/office/powerpoint/2010/main" xmlns="" val="3313830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4" y="138492"/>
            <a:ext cx="11589913" cy="6532763"/>
          </a:xfrm>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4</a:t>
            </a:r>
            <a:r>
              <a:rPr lang="en-US" b="1" dirty="0" smtClean="0">
                <a:latin typeface="Times New Roman" panose="02020603050405020304" pitchFamily="18" charset="0"/>
                <a:cs typeface="Times New Roman" panose="02020603050405020304" pitchFamily="18" charset="0"/>
              </a:rPr>
              <a:t>. Tool </a:t>
            </a:r>
            <a:r>
              <a:rPr lang="en-US" b="1" dirty="0">
                <a:latin typeface="Times New Roman" panose="02020603050405020304" pitchFamily="18" charset="0"/>
                <a:cs typeface="Times New Roman" panose="02020603050405020304" pitchFamily="18" charset="0"/>
              </a:rPr>
              <a:t>head (clapper box</a:t>
            </a:r>
            <a:r>
              <a:rPr lang="en-US" b="1"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single point cutting tool is clamped in the tool </a:t>
            </a:r>
            <a:r>
              <a:rPr lang="en-US" dirty="0" smtClean="0">
                <a:latin typeface="Times New Roman" panose="02020603050405020304" pitchFamily="18" charset="0"/>
                <a:cs typeface="Times New Roman" panose="02020603050405020304" pitchFamily="18" charset="0"/>
              </a:rPr>
              <a:t>head.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tool head has the ability to swivel the cutting tool at any angle while clamping the tool with any </a:t>
            </a:r>
            <a:r>
              <a:rPr lang="en-US" dirty="0" smtClean="0">
                <a:latin typeface="Times New Roman" panose="02020603050405020304" pitchFamily="18" charset="0"/>
                <a:cs typeface="Times New Roman" panose="02020603050405020304" pitchFamily="18" charset="0"/>
              </a:rPr>
              <a:t>overhang depending </a:t>
            </a:r>
            <a:r>
              <a:rPr lang="en-US" dirty="0">
                <a:latin typeface="Times New Roman" panose="02020603050405020304" pitchFamily="18" charset="0"/>
                <a:cs typeface="Times New Roman" panose="02020603050405020304" pitchFamily="18" charset="0"/>
              </a:rPr>
              <a:t>upon the requirement.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swiveling </a:t>
            </a:r>
            <a:r>
              <a:rPr lang="en-US" dirty="0">
                <a:latin typeface="Times New Roman" panose="02020603050405020304" pitchFamily="18" charset="0"/>
                <a:cs typeface="Times New Roman" panose="02020603050405020304" pitchFamily="18" charset="0"/>
              </a:rPr>
              <a:t>ability is important for the tool to machine surfaces that </a:t>
            </a:r>
            <a:r>
              <a:rPr lang="en-US" dirty="0" smtClean="0">
                <a:latin typeface="Times New Roman" panose="02020603050405020304" pitchFamily="18" charset="0"/>
                <a:cs typeface="Times New Roman" panose="02020603050405020304" pitchFamily="18" charset="0"/>
              </a:rPr>
              <a:t>are not </a:t>
            </a:r>
            <a:r>
              <a:rPr lang="en-US" dirty="0">
                <a:latin typeface="Times New Roman" panose="02020603050405020304" pitchFamily="18" charset="0"/>
                <a:cs typeface="Times New Roman" panose="02020603050405020304" pitchFamily="18" charset="0"/>
              </a:rPr>
              <a:t>in horizontal plane.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Further </a:t>
            </a:r>
            <a:r>
              <a:rPr lang="en-US" dirty="0">
                <a:latin typeface="Times New Roman" panose="02020603050405020304" pitchFamily="18" charset="0"/>
                <a:cs typeface="Times New Roman" panose="02020603050405020304" pitchFamily="18" charset="0"/>
              </a:rPr>
              <a:t>the tool should be firmly supported during the forward motion to carry </a:t>
            </a:r>
            <a:r>
              <a:rPr lang="en-US" dirty="0" smtClean="0">
                <a:latin typeface="Times New Roman" panose="02020603050405020304" pitchFamily="18" charset="0"/>
                <a:cs typeface="Times New Roman" panose="02020603050405020304" pitchFamily="18" charset="0"/>
              </a:rPr>
              <a:t>out the </a:t>
            </a:r>
            <a:r>
              <a:rPr lang="en-US" dirty="0">
                <a:latin typeface="Times New Roman" panose="02020603050405020304" pitchFamily="18" charset="0"/>
                <a:cs typeface="Times New Roman" panose="02020603050405020304" pitchFamily="18" charset="0"/>
              </a:rPr>
              <a:t>material removal.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During </a:t>
            </a:r>
            <a:r>
              <a:rPr lang="en-US" dirty="0">
                <a:latin typeface="Times New Roman" panose="02020603050405020304" pitchFamily="18" charset="0"/>
                <a:cs typeface="Times New Roman" panose="02020603050405020304" pitchFamily="18" charset="0"/>
              </a:rPr>
              <a:t>the return stroke, the cutting tool will not do the cutting and hence will be </a:t>
            </a:r>
            <a:r>
              <a:rPr lang="en-US" dirty="0" smtClean="0">
                <a:latin typeface="Times New Roman" panose="02020603050405020304" pitchFamily="18" charset="0"/>
                <a:cs typeface="Times New Roman" panose="02020603050405020304" pitchFamily="18" charset="0"/>
              </a:rPr>
              <a:t>an idle </a:t>
            </a:r>
            <a:r>
              <a:rPr lang="en-US" dirty="0">
                <a:latin typeface="Times New Roman" panose="02020603050405020304" pitchFamily="18" charset="0"/>
                <a:cs typeface="Times New Roman" panose="02020603050405020304" pitchFamily="18" charset="0"/>
              </a:rPr>
              <a:t>stroke.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tool is held firmly as in the cutting stroke, the tool will rub the already machined work </a:t>
            </a:r>
            <a:r>
              <a:rPr lang="en-US" dirty="0" smtClean="0">
                <a:latin typeface="Times New Roman" panose="02020603050405020304" pitchFamily="18" charset="0"/>
                <a:cs typeface="Times New Roman" panose="02020603050405020304" pitchFamily="18" charset="0"/>
              </a:rPr>
              <a:t>piece and </a:t>
            </a:r>
            <a:r>
              <a:rPr lang="en-US" dirty="0">
                <a:latin typeface="Times New Roman" panose="02020603050405020304" pitchFamily="18" charset="0"/>
                <a:cs typeface="Times New Roman" panose="02020603050405020304" pitchFamily="18" charset="0"/>
              </a:rPr>
              <a:t>also the flank surface of the tool will wear out quickly. To reduce this, the tool is lifted during the </a:t>
            </a:r>
            <a:r>
              <a:rPr lang="en-US" dirty="0" smtClean="0">
                <a:latin typeface="Times New Roman" panose="02020603050405020304" pitchFamily="18" charset="0"/>
                <a:cs typeface="Times New Roman" panose="02020603050405020304" pitchFamily="18" charset="0"/>
              </a:rPr>
              <a:t>return stroke </a:t>
            </a:r>
            <a:r>
              <a:rPr lang="en-US" dirty="0">
                <a:latin typeface="Times New Roman" panose="02020603050405020304" pitchFamily="18" charset="0"/>
                <a:cs typeface="Times New Roman" panose="02020603050405020304" pitchFamily="18" charset="0"/>
              </a:rPr>
              <a:t>by the clapper box arrangement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50</a:t>
            </a:fld>
            <a:endParaRPr lang="en-IN"/>
          </a:p>
        </p:txBody>
      </p:sp>
    </p:spTree>
    <p:extLst>
      <p:ext uri="{BB962C8B-B14F-4D97-AF65-F5344CB8AC3E}">
        <p14:creationId xmlns:p14="http://schemas.microsoft.com/office/powerpoint/2010/main" xmlns="" val="3902810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1895" t="1735" r="2895" b="948"/>
          <a:stretch/>
        </p:blipFill>
        <p:spPr>
          <a:xfrm>
            <a:off x="3515931" y="154546"/>
            <a:ext cx="5493699" cy="6568225"/>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51</a:t>
            </a:fld>
            <a:endParaRPr lang="en-IN"/>
          </a:p>
        </p:txBody>
      </p:sp>
    </p:spTree>
    <p:extLst>
      <p:ext uri="{BB962C8B-B14F-4D97-AF65-F5344CB8AC3E}">
        <p14:creationId xmlns:p14="http://schemas.microsoft.com/office/powerpoint/2010/main" xmlns="" val="42313809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4" y="280159"/>
            <a:ext cx="11538397" cy="6339581"/>
          </a:xfrm>
        </p:spPr>
        <p:txBody>
          <a:bodyPr/>
          <a:lstStyle/>
          <a:p>
            <a:pPr marL="0" indent="0" algn="just">
              <a:buNone/>
            </a:pPr>
            <a:r>
              <a:rPr lang="en-US" b="1" dirty="0" smtClean="0">
                <a:latin typeface="Times New Roman" panose="02020603050405020304" pitchFamily="18" charset="0"/>
                <a:cs typeface="Times New Roman" panose="02020603050405020304" pitchFamily="18" charset="0"/>
              </a:rPr>
              <a:t>5. 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heavy table is present at the front end of shaper. Table is provided with T-slots for mounting </a:t>
            </a:r>
            <a:r>
              <a:rPr lang="en-US" dirty="0" smtClean="0">
                <a:latin typeface="Times New Roman" panose="02020603050405020304" pitchFamily="18" charset="0"/>
                <a:cs typeface="Times New Roman" panose="02020603050405020304" pitchFamily="18" charset="0"/>
              </a:rPr>
              <a:t>the work </a:t>
            </a:r>
            <a:r>
              <a:rPr lang="en-US" dirty="0">
                <a:latin typeface="Times New Roman" panose="02020603050405020304" pitchFamily="18" charset="0"/>
                <a:cs typeface="Times New Roman" panose="02020603050405020304" pitchFamily="18" charset="0"/>
              </a:rPr>
              <a:t>pieces or work holding fixtures. The table can be moved up and down along the guide ways </a:t>
            </a:r>
            <a:r>
              <a:rPr lang="en-US" dirty="0" smtClean="0">
                <a:latin typeface="Times New Roman" panose="02020603050405020304" pitchFamily="18" charset="0"/>
                <a:cs typeface="Times New Roman" panose="02020603050405020304" pitchFamily="18" charset="0"/>
              </a:rPr>
              <a:t>provided on </a:t>
            </a:r>
            <a:r>
              <a:rPr lang="en-US" dirty="0">
                <a:latin typeface="Times New Roman" panose="02020603050405020304" pitchFamily="18" charset="0"/>
                <a:cs typeface="Times New Roman" panose="02020603050405020304" pitchFamily="18" charset="0"/>
              </a:rPr>
              <a:t>the cross rail attached to the housing</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shaper is generally used for machining flat surfaces in horizontal, vertical and angular directions. It </a:t>
            </a:r>
            <a:r>
              <a:rPr lang="en-US" dirty="0" smtClean="0">
                <a:latin typeface="Times New Roman" panose="02020603050405020304" pitchFamily="18" charset="0"/>
                <a:cs typeface="Times New Roman" panose="02020603050405020304" pitchFamily="18" charset="0"/>
              </a:rPr>
              <a:t>can also </a:t>
            </a:r>
            <a:r>
              <a:rPr lang="en-US" dirty="0">
                <a:latin typeface="Times New Roman" panose="02020603050405020304" pitchFamily="18" charset="0"/>
                <a:cs typeface="Times New Roman" panose="02020603050405020304" pitchFamily="18" charset="0"/>
              </a:rPr>
              <a:t>be used for machining convex and concave curved surfaces. The actual surface generated is by </a:t>
            </a:r>
            <a:r>
              <a:rPr lang="en-US" dirty="0" smtClean="0">
                <a:latin typeface="Times New Roman" panose="02020603050405020304" pitchFamily="18" charset="0"/>
                <a:cs typeface="Times New Roman" panose="02020603050405020304" pitchFamily="18" charset="0"/>
              </a:rPr>
              <a:t>means of </a:t>
            </a:r>
            <a:r>
              <a:rPr lang="en-US" dirty="0">
                <a:latin typeface="Times New Roman" panose="02020603050405020304" pitchFamily="18" charset="0"/>
                <a:cs typeface="Times New Roman" panose="02020603050405020304" pitchFamily="18" charset="0"/>
              </a:rPr>
              <a:t>the linear motions of the cutting tool</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52</a:t>
            </a:fld>
            <a:endParaRPr lang="en-IN"/>
          </a:p>
        </p:txBody>
      </p:sp>
    </p:spTree>
    <p:extLst>
      <p:ext uri="{BB962C8B-B14F-4D97-AF65-F5344CB8AC3E}">
        <p14:creationId xmlns:p14="http://schemas.microsoft.com/office/powerpoint/2010/main" xmlns="" val="37797040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lstStyle/>
          <a:p>
            <a:r>
              <a:rPr lang="en-US" dirty="0" smtClean="0">
                <a:latin typeface="Times New Roman" panose="02020603050405020304" pitchFamily="18" charset="0"/>
                <a:cs typeface="Times New Roman" panose="02020603050405020304" pitchFamily="18" charset="0"/>
              </a:rPr>
              <a:t>PLANING MACHINE (PLANER)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1877" y="1838503"/>
            <a:ext cx="11448245" cy="4034263"/>
          </a:xfrm>
        </p:spPr>
        <p:txBody>
          <a:bodyPr/>
          <a:lstStyle/>
          <a:p>
            <a:pPr algn="just"/>
            <a:r>
              <a:rPr lang="en-US" dirty="0" err="1">
                <a:latin typeface="Times New Roman" panose="02020603050405020304" pitchFamily="18" charset="0"/>
                <a:cs typeface="Times New Roman" panose="02020603050405020304" pitchFamily="18" charset="0"/>
              </a:rPr>
              <a:t>Planing</a:t>
            </a:r>
            <a:r>
              <a:rPr lang="en-US" dirty="0">
                <a:latin typeface="Times New Roman" panose="02020603050405020304" pitchFamily="18" charset="0"/>
                <a:cs typeface="Times New Roman" panose="02020603050405020304" pitchFamily="18" charset="0"/>
              </a:rPr>
              <a:t> machine is very similar to the shaper in terms of the surfaces that can be generated. Generally </a:t>
            </a:r>
            <a:r>
              <a:rPr lang="en-US" dirty="0" smtClean="0">
                <a:latin typeface="Times New Roman" panose="02020603050405020304" pitchFamily="18" charset="0"/>
                <a:cs typeface="Times New Roman" panose="02020603050405020304" pitchFamily="18" charset="0"/>
              </a:rPr>
              <a:t>planer is </a:t>
            </a:r>
            <a:r>
              <a:rPr lang="en-US" dirty="0">
                <a:latin typeface="Times New Roman" panose="02020603050405020304" pitchFamily="18" charset="0"/>
                <a:cs typeface="Times New Roman" panose="02020603050405020304" pitchFamily="18" charset="0"/>
              </a:rPr>
              <a:t>used for machining large work pieces, which </a:t>
            </a:r>
            <a:r>
              <a:rPr lang="en-US" dirty="0" smtClean="0">
                <a:latin typeface="Times New Roman" panose="02020603050405020304" pitchFamily="18" charset="0"/>
                <a:cs typeface="Times New Roman" panose="02020603050405020304" pitchFamily="18" charset="0"/>
              </a:rPr>
              <a:t>cannot </a:t>
            </a:r>
            <a:r>
              <a:rPr lang="en-US" dirty="0">
                <a:latin typeface="Times New Roman" panose="02020603050405020304" pitchFamily="18" charset="0"/>
                <a:cs typeface="Times New Roman" panose="02020603050405020304" pitchFamily="18" charset="0"/>
              </a:rPr>
              <a:t>be held in the shaper</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 the shaper, the cutting </a:t>
            </a:r>
            <a:r>
              <a:rPr lang="en-US" dirty="0" smtClean="0">
                <a:latin typeface="Times New Roman" panose="02020603050405020304" pitchFamily="18" charset="0"/>
                <a:cs typeface="Times New Roman" panose="02020603050405020304" pitchFamily="18" charset="0"/>
              </a:rPr>
              <a:t>tool reciprocates </a:t>
            </a:r>
            <a:r>
              <a:rPr lang="en-US" dirty="0">
                <a:latin typeface="Times New Roman" panose="02020603050405020304" pitchFamily="18" charset="0"/>
                <a:cs typeface="Times New Roman" panose="02020603050405020304" pitchFamily="18" charset="0"/>
              </a:rPr>
              <a:t>during the cutting motion, while in the case of planer the work table reciprocates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Feeding </a:t>
            </a:r>
            <a:r>
              <a:rPr lang="en-US" dirty="0" smtClean="0">
                <a:latin typeface="Times New Roman" panose="02020603050405020304" pitchFamily="18" charset="0"/>
                <a:cs typeface="Times New Roman" panose="02020603050405020304" pitchFamily="18" charset="0"/>
              </a:rPr>
              <a:t>motion in </a:t>
            </a:r>
            <a:r>
              <a:rPr lang="en-US" dirty="0">
                <a:latin typeface="Times New Roman" panose="02020603050405020304" pitchFamily="18" charset="0"/>
                <a:cs typeface="Times New Roman" panose="02020603050405020304" pitchFamily="18" charset="0"/>
              </a:rPr>
              <a:t>the planer is given to the cutting tool, which remains stationary during the cutting motion</a:t>
            </a:r>
            <a:r>
              <a:rPr lang="en-US" dirty="0" smtClean="0">
                <a:latin typeface="Times New Roman" panose="02020603050405020304" pitchFamily="18" charset="0"/>
                <a:cs typeface="Times New Roman" panose="02020603050405020304" pitchFamily="18" charset="0"/>
              </a:rPr>
              <a:t>.</a:t>
            </a:r>
          </a:p>
          <a:p>
            <a:pPr marL="0" indent="0">
              <a:buNone/>
            </a:pPr>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53</a:t>
            </a:fld>
            <a:endParaRPr lang="en-IN"/>
          </a:p>
        </p:txBody>
      </p:sp>
    </p:spTree>
    <p:extLst>
      <p:ext uri="{BB962C8B-B14F-4D97-AF65-F5344CB8AC3E}">
        <p14:creationId xmlns:p14="http://schemas.microsoft.com/office/powerpoint/2010/main" xmlns="" val="2938842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4415" t="3479" r="2215"/>
          <a:stretch/>
        </p:blipFill>
        <p:spPr>
          <a:xfrm>
            <a:off x="360608" y="309093"/>
            <a:ext cx="4997003" cy="3374265"/>
          </a:xfrm>
          <a:prstGeom prst="rect">
            <a:avLst/>
          </a:prstGeom>
        </p:spPr>
      </p:pic>
      <p:pic>
        <p:nvPicPr>
          <p:cNvPr id="5" name="Picture 4"/>
          <p:cNvPicPr>
            <a:picLocks noChangeAspect="1"/>
          </p:cNvPicPr>
          <p:nvPr/>
        </p:nvPicPr>
        <p:blipFill rotWithShape="1">
          <a:blip r:embed="rId3"/>
          <a:srcRect l="2733" r="1599"/>
          <a:stretch/>
        </p:blipFill>
        <p:spPr>
          <a:xfrm>
            <a:off x="6156102" y="2566483"/>
            <a:ext cx="5795493" cy="409575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54</a:t>
            </a:fld>
            <a:endParaRPr lang="en-IN"/>
          </a:p>
        </p:txBody>
      </p:sp>
    </p:spTree>
    <p:extLst>
      <p:ext uri="{BB962C8B-B14F-4D97-AF65-F5344CB8AC3E}">
        <p14:creationId xmlns:p14="http://schemas.microsoft.com/office/powerpoint/2010/main" xmlns="" val="2063059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4" y="357432"/>
            <a:ext cx="11435366" cy="6275187"/>
          </a:xfrm>
        </p:spPr>
        <p:txBody>
          <a:bodyPr>
            <a:normAutofit/>
          </a:bodyPr>
          <a:lstStyle/>
          <a:p>
            <a:pPr algn="just"/>
            <a:r>
              <a:rPr lang="en-US" b="1" dirty="0" smtClean="0">
                <a:latin typeface="Times New Roman" panose="02020603050405020304" pitchFamily="18" charset="0"/>
                <a:cs typeface="Times New Roman" panose="02020603050405020304" pitchFamily="18" charset="0"/>
              </a:rPr>
              <a:t>Bed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bed of a planer, generally made of cast iron, is large in size and consequently is heavier to </a:t>
            </a:r>
            <a:r>
              <a:rPr lang="en-US" dirty="0" smtClean="0">
                <a:latin typeface="Times New Roman" panose="02020603050405020304" pitchFamily="18" charset="0"/>
                <a:cs typeface="Times New Roman" panose="02020603050405020304" pitchFamily="18" charset="0"/>
              </a:rPr>
              <a:t>support the </a:t>
            </a:r>
            <a:r>
              <a:rPr lang="en-US" dirty="0">
                <a:latin typeface="Times New Roman" panose="02020603050405020304" pitchFamily="18" charset="0"/>
                <a:cs typeface="Times New Roman" panose="02020603050405020304" pitchFamily="18" charset="0"/>
              </a:rPr>
              <a:t>heavy machine. Levelling jacks, or pads, are included on the bottom of the bed to provide a </a:t>
            </a:r>
            <a:r>
              <a:rPr lang="en-US" dirty="0" smtClean="0">
                <a:latin typeface="Times New Roman" panose="02020603050405020304" pitchFamily="18" charset="0"/>
                <a:cs typeface="Times New Roman" panose="02020603050405020304" pitchFamily="18" charset="0"/>
              </a:rPr>
              <a:t>means of </a:t>
            </a:r>
            <a:r>
              <a:rPr lang="en-US" dirty="0">
                <a:latin typeface="Times New Roman" panose="02020603050405020304" pitchFamily="18" charset="0"/>
                <a:cs typeface="Times New Roman" panose="02020603050405020304" pitchFamily="18" charset="0"/>
              </a:rPr>
              <a:t>levelling it during installation. The bed is a little more than twice the length of the table to provide the </a:t>
            </a:r>
            <a:r>
              <a:rPr lang="en-US" dirty="0" smtClean="0">
                <a:latin typeface="Times New Roman" panose="02020603050405020304" pitchFamily="18" charset="0"/>
                <a:cs typeface="Times New Roman" panose="02020603050405020304" pitchFamily="18" charset="0"/>
              </a:rPr>
              <a:t>full reciprocating </a:t>
            </a:r>
            <a:r>
              <a:rPr lang="en-US" dirty="0">
                <a:latin typeface="Times New Roman" panose="02020603050405020304" pitchFamily="18" charset="0"/>
                <a:cs typeface="Times New Roman" panose="02020603050405020304" pitchFamily="18" charset="0"/>
              </a:rPr>
              <a:t>motion for the entire part mounted on the </a:t>
            </a:r>
            <a:r>
              <a:rPr lang="en-US" dirty="0" smtClean="0">
                <a:latin typeface="Times New Roman" panose="02020603050405020304" pitchFamily="18" charset="0"/>
                <a:cs typeface="Times New Roman" panose="02020603050405020304" pitchFamily="18" charset="0"/>
              </a:rPr>
              <a:t>table</a:t>
            </a:r>
          </a:p>
          <a:p>
            <a:pPr algn="just"/>
            <a:r>
              <a:rPr lang="en-US" b="1" dirty="0" smtClean="0">
                <a:latin typeface="Times New Roman" panose="02020603050405020304" pitchFamily="18" charset="0"/>
                <a:cs typeface="Times New Roman" panose="02020603050405020304" pitchFamily="18" charset="0"/>
              </a:rPr>
              <a:t>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table is the platform where the work will be setup for machining. The table supports and </a:t>
            </a:r>
            <a:r>
              <a:rPr lang="en-US" dirty="0" smtClean="0">
                <a:latin typeface="Times New Roman" panose="02020603050405020304" pitchFamily="18" charset="0"/>
                <a:cs typeface="Times New Roman" panose="02020603050405020304" pitchFamily="18" charset="0"/>
              </a:rPr>
              <a:t>reciprocates the </a:t>
            </a:r>
            <a:r>
              <a:rPr lang="en-US" dirty="0">
                <a:latin typeface="Times New Roman" panose="02020603050405020304" pitchFamily="18" charset="0"/>
                <a:cs typeface="Times New Roman" panose="02020603050405020304" pitchFamily="18" charset="0"/>
              </a:rPr>
              <a:t>heavy work pieces during the cutting action. The table moves back and forth on the bed, </a:t>
            </a:r>
            <a:r>
              <a:rPr lang="en-US" dirty="0" smtClean="0">
                <a:latin typeface="Times New Roman" panose="02020603050405020304" pitchFamily="18" charset="0"/>
                <a:cs typeface="Times New Roman" panose="02020603050405020304" pitchFamily="18" charset="0"/>
              </a:rPr>
              <a:t>carrying the </a:t>
            </a:r>
            <a:r>
              <a:rPr lang="en-US" dirty="0">
                <a:latin typeface="Times New Roman" panose="02020603050405020304" pitchFamily="18" charset="0"/>
                <a:cs typeface="Times New Roman" panose="02020603050405020304" pitchFamily="18" charset="0"/>
              </a:rPr>
              <a:t>work past the stationary tool. T-slots are provided on the entire length of the table for securely </a:t>
            </a:r>
            <a:r>
              <a:rPr lang="en-US" dirty="0" smtClean="0">
                <a:latin typeface="Times New Roman" panose="02020603050405020304" pitchFamily="18" charset="0"/>
                <a:cs typeface="Times New Roman" panose="02020603050405020304" pitchFamily="18" charset="0"/>
              </a:rPr>
              <a:t>fastening the </a:t>
            </a:r>
            <a:r>
              <a:rPr lang="en-US" dirty="0">
                <a:latin typeface="Times New Roman" panose="02020603050405020304" pitchFamily="18" charset="0"/>
                <a:cs typeface="Times New Roman" panose="02020603050405020304" pitchFamily="18" charset="0"/>
              </a:rPr>
              <a:t>work pieces to the table. In addition to the T-slots, a row of holes are provided on the table to accept </a:t>
            </a:r>
            <a:r>
              <a:rPr lang="en-US" dirty="0" smtClean="0">
                <a:latin typeface="Times New Roman" panose="02020603050405020304" pitchFamily="18" charset="0"/>
                <a:cs typeface="Times New Roman" panose="02020603050405020304" pitchFamily="18" charset="0"/>
              </a:rPr>
              <a:t>stop pins </a:t>
            </a:r>
            <a:r>
              <a:rPr lang="en-US" dirty="0">
                <a:latin typeface="Times New Roman" panose="02020603050405020304" pitchFamily="18" charset="0"/>
                <a:cs typeface="Times New Roman" panose="02020603050405020304" pitchFamily="18" charset="0"/>
              </a:rPr>
              <a:t>that prevent the movement of the work under the heavy cuts common to the planer</a:t>
            </a: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55</a:t>
            </a:fld>
            <a:endParaRPr lang="en-IN"/>
          </a:p>
        </p:txBody>
      </p:sp>
    </p:spTree>
    <p:extLst>
      <p:ext uri="{BB962C8B-B14F-4D97-AF65-F5344CB8AC3E}">
        <p14:creationId xmlns:p14="http://schemas.microsoft.com/office/powerpoint/2010/main" xmlns="" val="1280231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014" y="241523"/>
            <a:ext cx="11692944" cy="6468370"/>
          </a:xfrm>
        </p:spPr>
        <p:txBody>
          <a:bodyPr>
            <a:normAutofit lnSpcReduction="10000"/>
          </a:bodyPr>
          <a:lstStyle/>
          <a:p>
            <a:pPr algn="just"/>
            <a:r>
              <a:rPr lang="en-US" b="1" dirty="0" smtClean="0">
                <a:latin typeface="Times New Roman" panose="02020603050405020304" pitchFamily="18" charset="0"/>
                <a:cs typeface="Times New Roman" panose="02020603050405020304" pitchFamily="18" charset="0"/>
              </a:rPr>
              <a:t>Column: </a:t>
            </a:r>
            <a:r>
              <a:rPr lang="en-US" dirty="0">
                <a:latin typeface="Times New Roman" panose="02020603050405020304" pitchFamily="18" charset="0"/>
                <a:cs typeface="Times New Roman" panose="02020603050405020304" pitchFamily="18" charset="0"/>
              </a:rPr>
              <a:t>On either side of the bed two heavily ribbed columns are located. Two tool heads can be </a:t>
            </a:r>
            <a:r>
              <a:rPr lang="en-US" dirty="0" smtClean="0">
                <a:latin typeface="Times New Roman" panose="02020603050405020304" pitchFamily="18" charset="0"/>
                <a:cs typeface="Times New Roman" panose="02020603050405020304" pitchFamily="18" charset="0"/>
              </a:rPr>
              <a:t>mounted, one </a:t>
            </a:r>
            <a:r>
              <a:rPr lang="en-US" dirty="0">
                <a:latin typeface="Times New Roman" panose="02020603050405020304" pitchFamily="18" charset="0"/>
                <a:cs typeface="Times New Roman" panose="02020603050405020304" pitchFamily="18" charset="0"/>
              </a:rPr>
              <a:t>on each of these columns. Within the columns are the various mechanisms that transmit power to </a:t>
            </a:r>
            <a:r>
              <a:rPr lang="en-US" dirty="0" smtClean="0">
                <a:latin typeface="Times New Roman" panose="02020603050405020304" pitchFamily="18" charset="0"/>
                <a:cs typeface="Times New Roman" panose="02020603050405020304" pitchFamily="18" charset="0"/>
              </a:rPr>
              <a:t>the upper </a:t>
            </a:r>
            <a:r>
              <a:rPr lang="en-US" dirty="0">
                <a:latin typeface="Times New Roman" panose="02020603050405020304" pitchFamily="18" charset="0"/>
                <a:cs typeface="Times New Roman" panose="02020603050405020304" pitchFamily="18" charset="0"/>
              </a:rPr>
              <a:t>parts of the machine from the main drive motor</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Cross </a:t>
            </a:r>
            <a:r>
              <a:rPr lang="en-US" b="1" dirty="0" smtClean="0">
                <a:latin typeface="Times New Roman" panose="02020603050405020304" pitchFamily="18" charset="0"/>
                <a:cs typeface="Times New Roman" panose="02020603050405020304" pitchFamily="18" charset="0"/>
              </a:rPr>
              <a:t>Rail: </a:t>
            </a:r>
            <a:r>
              <a:rPr lang="en-US" dirty="0">
                <a:latin typeface="Times New Roman" panose="02020603050405020304" pitchFamily="18" charset="0"/>
                <a:cs typeface="Times New Roman" panose="02020603050405020304" pitchFamily="18" charset="0"/>
              </a:rPr>
              <a:t>A cross rail is connected to the two columns to help in accommodating a third tool head. </a:t>
            </a:r>
            <a:r>
              <a:rPr lang="en-US" dirty="0" smtClean="0">
                <a:latin typeface="Times New Roman" panose="02020603050405020304" pitchFamily="18" charset="0"/>
                <a:cs typeface="Times New Roman" panose="02020603050405020304" pitchFamily="18" charset="0"/>
              </a:rPr>
              <a:t>If necessary </a:t>
            </a:r>
            <a:r>
              <a:rPr lang="en-US" dirty="0">
                <a:latin typeface="Times New Roman" panose="02020603050405020304" pitchFamily="18" charset="0"/>
                <a:cs typeface="Times New Roman" panose="02020603050405020304" pitchFamily="18" charset="0"/>
              </a:rPr>
              <a:t>an additional tool head can be mounted on the cross rail. The rail can be clamped at any </a:t>
            </a:r>
            <a:r>
              <a:rPr lang="en-US" dirty="0" smtClean="0">
                <a:latin typeface="Times New Roman" panose="02020603050405020304" pitchFamily="18" charset="0"/>
                <a:cs typeface="Times New Roman" panose="02020603050405020304" pitchFamily="18" charset="0"/>
              </a:rPr>
              <a:t>position on </a:t>
            </a:r>
            <a:r>
              <a:rPr lang="en-US" dirty="0">
                <a:latin typeface="Times New Roman" panose="02020603050405020304" pitchFamily="18" charset="0"/>
                <a:cs typeface="Times New Roman" panose="02020603050405020304" pitchFamily="18" charset="0"/>
              </a:rPr>
              <a:t>the columns by means of hand or power clamps. The tool heads can be fed manually or more </a:t>
            </a:r>
            <a:r>
              <a:rPr lang="en-US" dirty="0" smtClean="0">
                <a:latin typeface="Times New Roman" panose="02020603050405020304" pitchFamily="18" charset="0"/>
                <a:cs typeface="Times New Roman" panose="02020603050405020304" pitchFamily="18" charset="0"/>
              </a:rPr>
              <a:t>generally by </a:t>
            </a:r>
            <a:r>
              <a:rPr lang="en-US" dirty="0">
                <a:latin typeface="Times New Roman" panose="02020603050405020304" pitchFamily="18" charset="0"/>
                <a:cs typeface="Times New Roman" panose="02020603050405020304" pitchFamily="18" charset="0"/>
              </a:rPr>
              <a:t>automatic feeding arrangement with the power coming from the motor and feed gearbox that is </a:t>
            </a:r>
            <a:r>
              <a:rPr lang="en-US" dirty="0" smtClean="0">
                <a:latin typeface="Times New Roman" panose="02020603050405020304" pitchFamily="18" charset="0"/>
                <a:cs typeface="Times New Roman" panose="02020603050405020304" pitchFamily="18" charset="0"/>
              </a:rPr>
              <a:t>housed within </a:t>
            </a:r>
            <a:r>
              <a:rPr lang="en-US" dirty="0">
                <a:latin typeface="Times New Roman" panose="02020603050405020304" pitchFamily="18" charset="0"/>
                <a:cs typeface="Times New Roman" panose="02020603050405020304" pitchFamily="18" charset="0"/>
              </a:rPr>
              <a:t>the table</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Tool </a:t>
            </a:r>
            <a:r>
              <a:rPr lang="en-US" b="1" dirty="0" smtClean="0">
                <a:latin typeface="Times New Roman" panose="02020603050405020304" pitchFamily="18" charset="0"/>
                <a:cs typeface="Times New Roman" panose="02020603050405020304" pitchFamily="18" charset="0"/>
              </a:rPr>
              <a:t>head: </a:t>
            </a:r>
            <a:r>
              <a:rPr lang="en-US" dirty="0">
                <a:latin typeface="Times New Roman" panose="02020603050405020304" pitchFamily="18" charset="0"/>
                <a:cs typeface="Times New Roman" panose="02020603050405020304" pitchFamily="18" charset="0"/>
              </a:rPr>
              <a:t>The tool head in planer is similar in construction to the clapper box of a shaper and is </a:t>
            </a:r>
            <a:r>
              <a:rPr lang="en-US" dirty="0" smtClean="0">
                <a:latin typeface="Times New Roman" panose="02020603050405020304" pitchFamily="18" charset="0"/>
                <a:cs typeface="Times New Roman" panose="02020603050405020304" pitchFamily="18" charset="0"/>
              </a:rPr>
              <a:t>mounted on </a:t>
            </a:r>
            <a:r>
              <a:rPr lang="en-US" dirty="0">
                <a:latin typeface="Times New Roman" panose="02020603050405020304" pitchFamily="18" charset="0"/>
                <a:cs typeface="Times New Roman" panose="02020603050405020304" pitchFamily="18" charset="0"/>
              </a:rPr>
              <a:t>the cross rail through a saddle. The tool head can be moved along the cross rail for the feeding action </a:t>
            </a:r>
            <a:r>
              <a:rPr lang="en-US" dirty="0" smtClean="0">
                <a:latin typeface="Times New Roman" panose="02020603050405020304" pitchFamily="18" charset="0"/>
                <a:cs typeface="Times New Roman" panose="02020603050405020304" pitchFamily="18" charset="0"/>
              </a:rPr>
              <a:t>while the </a:t>
            </a:r>
            <a:r>
              <a:rPr lang="en-US" dirty="0">
                <a:latin typeface="Times New Roman" panose="02020603050405020304" pitchFamily="18" charset="0"/>
                <a:cs typeface="Times New Roman" panose="02020603050405020304" pitchFamily="18" charset="0"/>
              </a:rPr>
              <a:t>depth of cut can be controlled by moving the tool downwards. The tool head can be tilted for any </a:t>
            </a:r>
            <a:r>
              <a:rPr lang="en-US" dirty="0" smtClean="0">
                <a:latin typeface="Times New Roman" panose="02020603050405020304" pitchFamily="18" charset="0"/>
                <a:cs typeface="Times New Roman" panose="02020603050405020304" pitchFamily="18" charset="0"/>
              </a:rPr>
              <a:t>given angle </a:t>
            </a:r>
            <a:r>
              <a:rPr lang="en-US" dirty="0">
                <a:latin typeface="Times New Roman" panose="02020603050405020304" pitchFamily="18" charset="0"/>
                <a:cs typeface="Times New Roman" panose="02020603050405020304" pitchFamily="18" charset="0"/>
              </a:rPr>
              <a:t>cut on the work piece. The tool heads will be provided with counterweights for force equalization </a:t>
            </a:r>
            <a:r>
              <a:rPr lang="en-US" dirty="0" smtClean="0">
                <a:latin typeface="Times New Roman" panose="02020603050405020304" pitchFamily="18" charset="0"/>
                <a:cs typeface="Times New Roman" panose="02020603050405020304" pitchFamily="18" charset="0"/>
              </a:rPr>
              <a:t>and smooth </a:t>
            </a:r>
            <a:r>
              <a:rPr lang="en-US" dirty="0">
                <a:latin typeface="Times New Roman" panose="02020603050405020304" pitchFamily="18" charset="0"/>
                <a:cs typeface="Times New Roman" panose="02020603050405020304" pitchFamily="18" charset="0"/>
              </a:rPr>
              <a:t>movement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56</a:t>
            </a:fld>
            <a:endParaRPr lang="en-IN"/>
          </a:p>
        </p:txBody>
      </p:sp>
    </p:spTree>
    <p:extLst>
      <p:ext uri="{BB962C8B-B14F-4D97-AF65-F5344CB8AC3E}">
        <p14:creationId xmlns:p14="http://schemas.microsoft.com/office/powerpoint/2010/main" xmlns="" val="10139297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SLOTTING MACHINE (SLOTTER)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6533" y="1786989"/>
            <a:ext cx="10515600" cy="4613812"/>
          </a:xfrm>
        </p:spPr>
        <p:txBody>
          <a:bodyPr/>
          <a:lstStyle/>
          <a:p>
            <a:pPr algn="just"/>
            <a:r>
              <a:rPr lang="en-US" dirty="0">
                <a:latin typeface="Times New Roman" panose="02020603050405020304" pitchFamily="18" charset="0"/>
                <a:cs typeface="Times New Roman" panose="02020603050405020304" pitchFamily="18" charset="0"/>
              </a:rPr>
              <a:t>Slotting machine is basically a vertical axis shaper.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a larger version of the vertical shaper with </a:t>
            </a:r>
            <a:r>
              <a:rPr lang="en-US" dirty="0" smtClean="0">
                <a:latin typeface="Times New Roman" panose="02020603050405020304" pitchFamily="18" charset="0"/>
                <a:cs typeface="Times New Roman" panose="02020603050405020304" pitchFamily="18" charset="0"/>
              </a:rPr>
              <a:t>ram strokes </a:t>
            </a:r>
            <a:r>
              <a:rPr lang="en-US" dirty="0">
                <a:latin typeface="Times New Roman" panose="02020603050405020304" pitchFamily="18" charset="0"/>
                <a:cs typeface="Times New Roman" panose="02020603050405020304" pitchFamily="18" charset="0"/>
              </a:rPr>
              <a:t>up to 1800 mm long.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Thus </a:t>
            </a:r>
            <a:r>
              <a:rPr lang="en-US" dirty="0">
                <a:latin typeface="Times New Roman" panose="02020603050405020304" pitchFamily="18" charset="0"/>
                <a:cs typeface="Times New Roman" panose="02020603050405020304" pitchFamily="18" charset="0"/>
              </a:rPr>
              <a:t>the work pieces, which cannot be conveniently held in a shaper, can </a:t>
            </a:r>
            <a:r>
              <a:rPr lang="en-US" dirty="0" smtClean="0">
                <a:latin typeface="Times New Roman" panose="02020603050405020304" pitchFamily="18" charset="0"/>
                <a:cs typeface="Times New Roman" panose="02020603050405020304" pitchFamily="18" charset="0"/>
              </a:rPr>
              <a:t>be machined </a:t>
            </a:r>
            <a:r>
              <a:rPr lang="en-US" dirty="0">
                <a:latin typeface="Times New Roman" panose="02020603050405020304" pitchFamily="18" charset="0"/>
                <a:cs typeface="Times New Roman" panose="02020603050405020304" pitchFamily="18" charset="0"/>
              </a:rPr>
              <a:t>in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Generally </a:t>
            </a:r>
            <a:r>
              <a:rPr lang="en-US" dirty="0">
                <a:latin typeface="Times New Roman" panose="02020603050405020304" pitchFamily="18" charset="0"/>
                <a:cs typeface="Times New Roman" panose="02020603050405020304" pitchFamily="18" charset="0"/>
              </a:rPr>
              <a:t>keyways, splines, serrations, rectangular grooves and similar shapes </a:t>
            </a:r>
            <a:r>
              <a:rPr lang="en-US" dirty="0" smtClean="0">
                <a:latin typeface="Times New Roman" panose="02020603050405020304" pitchFamily="18" charset="0"/>
                <a:cs typeface="Times New Roman" panose="02020603050405020304" pitchFamily="18" charset="0"/>
              </a:rPr>
              <a:t>are machined </a:t>
            </a:r>
            <a:r>
              <a:rPr lang="en-US" dirty="0">
                <a:latin typeface="Times New Roman" panose="02020603050405020304" pitchFamily="18" charset="0"/>
                <a:cs typeface="Times New Roman" panose="02020603050405020304" pitchFamily="18" charset="0"/>
              </a:rPr>
              <a:t>in a slotting machine.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stroke of the ram is smaller in slotting machines than in shapers </a:t>
            </a:r>
            <a:r>
              <a:rPr lang="en-US" dirty="0" smtClean="0">
                <a:latin typeface="Times New Roman" panose="02020603050405020304" pitchFamily="18" charset="0"/>
                <a:cs typeface="Times New Roman" panose="02020603050405020304" pitchFamily="18" charset="0"/>
              </a:rPr>
              <a:t>to account </a:t>
            </a:r>
            <a:r>
              <a:rPr lang="en-US" dirty="0">
                <a:latin typeface="Times New Roman" panose="02020603050405020304" pitchFamily="18" charset="0"/>
                <a:cs typeface="Times New Roman" panose="02020603050405020304" pitchFamily="18" charset="0"/>
              </a:rPr>
              <a:t>for the type of the work that is handled in them.</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57</a:t>
            </a:fld>
            <a:endParaRPr lang="en-IN"/>
          </a:p>
        </p:txBody>
      </p:sp>
    </p:spTree>
    <p:extLst>
      <p:ext uri="{BB962C8B-B14F-4D97-AF65-F5344CB8AC3E}">
        <p14:creationId xmlns:p14="http://schemas.microsoft.com/office/powerpoint/2010/main" xmlns="" val="2787580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9006" t="3791" r="3622"/>
          <a:stretch/>
        </p:blipFill>
        <p:spPr>
          <a:xfrm>
            <a:off x="811368" y="631064"/>
            <a:ext cx="4592984" cy="3232598"/>
          </a:xfrm>
          <a:prstGeom prst="rect">
            <a:avLst/>
          </a:prstGeom>
        </p:spPr>
      </p:pic>
      <p:pic>
        <p:nvPicPr>
          <p:cNvPr id="5" name="Picture 4"/>
          <p:cNvPicPr>
            <a:picLocks noChangeAspect="1"/>
          </p:cNvPicPr>
          <p:nvPr/>
        </p:nvPicPr>
        <p:blipFill rotWithShape="1">
          <a:blip r:embed="rId3"/>
          <a:srcRect l="9949" r="4622"/>
          <a:stretch/>
        </p:blipFill>
        <p:spPr>
          <a:xfrm>
            <a:off x="6529588" y="2897877"/>
            <a:ext cx="4494728" cy="3467717"/>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58</a:t>
            </a:fld>
            <a:endParaRPr lang="en-IN"/>
          </a:p>
        </p:txBody>
      </p:sp>
    </p:spTree>
    <p:extLst>
      <p:ext uri="{BB962C8B-B14F-4D97-AF65-F5344CB8AC3E}">
        <p14:creationId xmlns:p14="http://schemas.microsoft.com/office/powerpoint/2010/main" xmlns="" val="2603749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802" y="318796"/>
            <a:ext cx="11538397" cy="6313823"/>
          </a:xfrm>
        </p:spPr>
        <p:txBody>
          <a:bodyPr/>
          <a:lstStyle/>
          <a:p>
            <a:pPr algn="just"/>
            <a:r>
              <a:rPr lang="en-US" b="1" dirty="0" smtClean="0">
                <a:latin typeface="Times New Roman" panose="02020603050405020304" pitchFamily="18" charset="0"/>
                <a:cs typeface="Times New Roman" panose="02020603050405020304" pitchFamily="18" charset="0"/>
              </a:rPr>
              <a:t>Base: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Similar to a shaper and planer the base of the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is a heavy structure to support all the weight </a:t>
            </a:r>
            <a:r>
              <a:rPr lang="en-US" dirty="0" smtClean="0">
                <a:latin typeface="Times New Roman" panose="02020603050405020304" pitchFamily="18" charset="0"/>
                <a:cs typeface="Times New Roman" panose="02020603050405020304" pitchFamily="18" charset="0"/>
              </a:rPr>
              <a:t>of the </a:t>
            </a:r>
            <a:r>
              <a:rPr lang="en-US" dirty="0">
                <a:latin typeface="Times New Roman" panose="02020603050405020304" pitchFamily="18" charset="0"/>
                <a:cs typeface="Times New Roman" panose="02020603050405020304" pitchFamily="18" charset="0"/>
              </a:rPr>
              <a:t>machine tool and the accompanying cutting forces. Since the cutting force in slotting is directed </a:t>
            </a:r>
            <a:r>
              <a:rPr lang="en-US" dirty="0" smtClean="0">
                <a:latin typeface="Times New Roman" panose="02020603050405020304" pitchFamily="18" charset="0"/>
                <a:cs typeface="Times New Roman" panose="02020603050405020304" pitchFamily="18" charset="0"/>
              </a:rPr>
              <a:t>against the </a:t>
            </a:r>
            <a:r>
              <a:rPr lang="en-US" dirty="0">
                <a:latin typeface="Times New Roman" panose="02020603050405020304" pitchFamily="18" charset="0"/>
                <a:cs typeface="Times New Roman" panose="02020603050405020304" pitchFamily="18" charset="0"/>
              </a:rPr>
              <a:t>table, the base of the machine is rigidly built. Precision guide ways are provided on top of the base </a:t>
            </a:r>
            <a:r>
              <a:rPr lang="en-US" dirty="0" smtClean="0">
                <a:latin typeface="Times New Roman" panose="02020603050405020304" pitchFamily="18" charset="0"/>
                <a:cs typeface="Times New Roman" panose="02020603050405020304" pitchFamily="18" charset="0"/>
              </a:rPr>
              <a:t>for the </a:t>
            </a:r>
            <a:r>
              <a:rPr lang="en-US" dirty="0">
                <a:latin typeface="Times New Roman" panose="02020603050405020304" pitchFamily="18" charset="0"/>
                <a:cs typeface="Times New Roman" panose="02020603050405020304" pitchFamily="18" charset="0"/>
              </a:rPr>
              <a:t>cross-slide to move</a:t>
            </a:r>
            <a:r>
              <a:rPr lang="en-US" dirty="0" smtClean="0">
                <a:latin typeface="Times New Roman" panose="02020603050405020304" pitchFamily="18" charset="0"/>
                <a:cs typeface="Times New Roman" panose="02020603050405020304" pitchFamily="18" charset="0"/>
              </a:rPr>
              <a:t>.</a:t>
            </a:r>
          </a:p>
          <a:p>
            <a:pPr algn="just"/>
            <a:r>
              <a:rPr lang="en-US" b="1" dirty="0" smtClean="0">
                <a:latin typeface="Times New Roman" panose="02020603050405020304" pitchFamily="18" charset="0"/>
                <a:cs typeface="Times New Roman" panose="02020603050405020304" pitchFamily="18" charset="0"/>
              </a:rPr>
              <a:t>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Table is generally a circular one similar to the rotary table of a milling machine. T-slots are cut </a:t>
            </a:r>
            <a:r>
              <a:rPr lang="en-US" dirty="0" smtClean="0">
                <a:latin typeface="Times New Roman" panose="02020603050405020304" pitchFamily="18" charset="0"/>
                <a:cs typeface="Times New Roman" panose="02020603050405020304" pitchFamily="18" charset="0"/>
              </a:rPr>
              <a:t>on the </a:t>
            </a:r>
            <a:r>
              <a:rPr lang="en-US" dirty="0">
                <a:latin typeface="Times New Roman" panose="02020603050405020304" pitchFamily="18" charset="0"/>
                <a:cs typeface="Times New Roman" panose="02020603050405020304" pitchFamily="18" charset="0"/>
              </a:rPr>
              <a:t>table to facilitate the fixing of work pieces utilizing various </a:t>
            </a:r>
            <a:r>
              <a:rPr lang="en-US" dirty="0" err="1">
                <a:latin typeface="Times New Roman" panose="02020603050405020304" pitchFamily="18" charset="0"/>
                <a:cs typeface="Times New Roman" panose="02020603050405020304" pitchFamily="18" charset="0"/>
              </a:rPr>
              <a:t>fixturing</a:t>
            </a:r>
            <a:r>
              <a:rPr lang="en-US" dirty="0">
                <a:latin typeface="Times New Roman" panose="02020603050405020304" pitchFamily="18" charset="0"/>
                <a:cs typeface="Times New Roman" panose="02020603050405020304" pitchFamily="18" charset="0"/>
              </a:rPr>
              <a:t> elements such as T-bolts, </a:t>
            </a:r>
            <a:r>
              <a:rPr lang="en-US" dirty="0" smtClean="0">
                <a:latin typeface="Times New Roman" panose="02020603050405020304" pitchFamily="18" charset="0"/>
                <a:cs typeface="Times New Roman" panose="02020603050405020304" pitchFamily="18" charset="0"/>
              </a:rPr>
              <a:t>clamps, etc</a:t>
            </a:r>
            <a:r>
              <a:rPr lang="en-US" dirty="0">
                <a:latin typeface="Times New Roman" panose="02020603050405020304" pitchFamily="18" charset="0"/>
                <a:cs typeface="Times New Roman" panose="02020603050405020304" pitchFamily="18" charset="0"/>
              </a:rPr>
              <a:t>. Tables on </a:t>
            </a:r>
            <a:r>
              <a:rPr lang="en-US" dirty="0" err="1">
                <a:latin typeface="Times New Roman" panose="02020603050405020304" pitchFamily="18" charset="0"/>
                <a:cs typeface="Times New Roman" panose="02020603050405020304" pitchFamily="18" charset="0"/>
              </a:rPr>
              <a:t>slotters</a:t>
            </a:r>
            <a:r>
              <a:rPr lang="en-US" dirty="0">
                <a:latin typeface="Times New Roman" panose="02020603050405020304" pitchFamily="18" charset="0"/>
                <a:cs typeface="Times New Roman" panose="02020603050405020304" pitchFamily="18" charset="0"/>
              </a:rPr>
              <a:t> can be rotated as well as moved longitudinally or transversely. With such flexibility </a:t>
            </a:r>
            <a:r>
              <a:rPr lang="en-US" dirty="0" smtClean="0">
                <a:latin typeface="Times New Roman" panose="02020603050405020304" pitchFamily="18" charset="0"/>
                <a:cs typeface="Times New Roman" panose="02020603050405020304" pitchFamily="18" charset="0"/>
              </a:rPr>
              <a:t>in the </a:t>
            </a:r>
            <a:r>
              <a:rPr lang="en-US" dirty="0">
                <a:latin typeface="Times New Roman" panose="02020603050405020304" pitchFamily="18" charset="0"/>
                <a:cs typeface="Times New Roman" panose="02020603050405020304" pitchFamily="18" charset="0"/>
              </a:rPr>
              <a:t>feed direction,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can cut any type of groove, slot, or keyway</a:t>
            </a:r>
            <a:r>
              <a:rPr lang="en-US" dirty="0" smtClean="0">
                <a:latin typeface="Times New Roman" panose="02020603050405020304" pitchFamily="18" charset="0"/>
                <a:cs typeface="Times New Roman" panose="02020603050405020304" pitchFamily="18" charset="0"/>
              </a:rPr>
              <a:t>.</a:t>
            </a:r>
          </a:p>
          <a:p>
            <a:pPr algn="just"/>
            <a:r>
              <a:rPr lang="en-US" b="1" dirty="0" smtClean="0">
                <a:latin typeface="Times New Roman" panose="02020603050405020304" pitchFamily="18" charset="0"/>
                <a:cs typeface="Times New Roman" panose="02020603050405020304" pitchFamily="18" charset="0"/>
              </a:rPr>
              <a:t>Column: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column of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is a support structure to the cutting tool and its reciprocating motion. It </a:t>
            </a:r>
            <a:r>
              <a:rPr lang="en-US" dirty="0" smtClean="0">
                <a:latin typeface="Times New Roman" panose="02020603050405020304" pitchFamily="18" charset="0"/>
                <a:cs typeface="Times New Roman" panose="02020603050405020304" pitchFamily="18" charset="0"/>
              </a:rPr>
              <a:t>is also </a:t>
            </a:r>
            <a:r>
              <a:rPr lang="en-US" dirty="0">
                <a:latin typeface="Times New Roman" panose="02020603050405020304" pitchFamily="18" charset="0"/>
                <a:cs typeface="Times New Roman" panose="02020603050405020304" pitchFamily="18" charset="0"/>
              </a:rPr>
              <a:t>massive and houses the power and drive mechanism used for the reciprocation of the cutting tool.</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59</a:t>
            </a:fld>
            <a:endParaRPr lang="en-IN"/>
          </a:p>
        </p:txBody>
      </p:sp>
    </p:spTree>
    <p:extLst>
      <p:ext uri="{BB962C8B-B14F-4D97-AF65-F5344CB8AC3E}">
        <p14:creationId xmlns:p14="http://schemas.microsoft.com/office/powerpoint/2010/main" xmlns="" val="22631850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3" y="280160"/>
            <a:ext cx="11474003" cy="6300943"/>
          </a:xfrm>
        </p:spPr>
        <p:txBody>
          <a:bodyPr/>
          <a:lstStyle/>
          <a:p>
            <a:pPr algn="just"/>
            <a:r>
              <a:rPr lang="en-US" b="1" dirty="0" smtClean="0">
                <a:latin typeface="Times New Roman" panose="02020603050405020304" pitchFamily="18" charset="0"/>
                <a:cs typeface="Times New Roman" panose="02020603050405020304" pitchFamily="18" charset="0"/>
              </a:rPr>
              <a:t>Ram: </a:t>
            </a:r>
            <a:r>
              <a:rPr lang="en-US" dirty="0">
                <a:latin typeface="Times New Roman" panose="02020603050405020304" pitchFamily="18" charset="0"/>
                <a:cs typeface="Times New Roman" panose="02020603050405020304" pitchFamily="18" charset="0"/>
              </a:rPr>
              <a:t>The ram holds and supports the tool head during the cutting action. Since gravity acts on the </a:t>
            </a:r>
            <a:r>
              <a:rPr lang="en-US" dirty="0" smtClean="0">
                <a:latin typeface="Times New Roman" panose="02020603050405020304" pitchFamily="18" charset="0"/>
                <a:cs typeface="Times New Roman" panose="02020603050405020304" pitchFamily="18" charset="0"/>
              </a:rPr>
              <a:t>ram during </a:t>
            </a:r>
            <a:r>
              <a:rPr lang="en-US" dirty="0">
                <a:latin typeface="Times New Roman" panose="02020603050405020304" pitchFamily="18" charset="0"/>
                <a:cs typeface="Times New Roman" panose="02020603050405020304" pitchFamily="18" charset="0"/>
              </a:rPr>
              <a:t>its upward travel, a counterweight is added to equalize the power requirements on the upward </a:t>
            </a:r>
            <a:r>
              <a:rPr lang="en-US" dirty="0" smtClean="0">
                <a:latin typeface="Times New Roman" panose="02020603050405020304" pitchFamily="18" charset="0"/>
                <a:cs typeface="Times New Roman" panose="02020603050405020304" pitchFamily="18" charset="0"/>
              </a:rPr>
              <a:t>and downward </a:t>
            </a:r>
            <a:r>
              <a:rPr lang="en-US" dirty="0">
                <a:latin typeface="Times New Roman" panose="02020603050405020304" pitchFamily="18" charset="0"/>
                <a:cs typeface="Times New Roman" panose="02020603050405020304" pitchFamily="18" charset="0"/>
              </a:rPr>
              <a:t>strokes.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will provide a smooth action to the machine.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actual cutting takes place </a:t>
            </a:r>
            <a:r>
              <a:rPr lang="en-US" dirty="0" smtClean="0">
                <a:latin typeface="Times New Roman" panose="02020603050405020304" pitchFamily="18" charset="0"/>
                <a:cs typeface="Times New Roman" panose="02020603050405020304" pitchFamily="18" charset="0"/>
              </a:rPr>
              <a:t>during the </a:t>
            </a:r>
            <a:r>
              <a:rPr lang="en-US" dirty="0">
                <a:latin typeface="Times New Roman" panose="02020603050405020304" pitchFamily="18" charset="0"/>
                <a:cs typeface="Times New Roman" panose="02020603050405020304" pitchFamily="18" charset="0"/>
              </a:rPr>
              <a:t>downward motion of the tool.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stroke length can be adjusted suitably depending upon the part.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60</a:t>
            </a:fld>
            <a:endParaRPr lang="en-IN"/>
          </a:p>
        </p:txBody>
      </p:sp>
    </p:spTree>
    <p:extLst>
      <p:ext uri="{BB962C8B-B14F-4D97-AF65-F5344CB8AC3E}">
        <p14:creationId xmlns:p14="http://schemas.microsoft.com/office/powerpoint/2010/main" xmlns="" val="39940141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2128" y="0"/>
            <a:ext cx="11272732" cy="6858000"/>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61</a:t>
            </a:fld>
            <a:endParaRPr lang="en-IN"/>
          </a:p>
        </p:txBody>
      </p:sp>
    </p:spTree>
    <p:extLst>
      <p:ext uri="{BB962C8B-B14F-4D97-AF65-F5344CB8AC3E}">
        <p14:creationId xmlns:p14="http://schemas.microsoft.com/office/powerpoint/2010/main" xmlns="" val="54493259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 </a:t>
            </a:r>
            <a:r>
              <a:rPr lang="en-US" b="1" dirty="0">
                <a:latin typeface="Times New Roman" pitchFamily="18" charset="0"/>
                <a:cs typeface="Times New Roman" pitchFamily="18" charset="0"/>
              </a:rPr>
              <a:t>DRILLING MACHINES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Drilling </a:t>
            </a:r>
            <a:r>
              <a:rPr lang="en-US" dirty="0">
                <a:latin typeface="Times New Roman" pitchFamily="18" charset="0"/>
                <a:cs typeface="Times New Roman" pitchFamily="18" charset="0"/>
              </a:rPr>
              <a:t>is the operation of producing circular hole in the work-piece by using a rotating cutter called drill. </a:t>
            </a: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machine used for drilling is called drilling machine </a:t>
            </a:r>
          </a:p>
          <a:p>
            <a:r>
              <a:rPr lang="en-US" dirty="0" smtClean="0">
                <a:latin typeface="Times New Roman" pitchFamily="18" charset="0"/>
                <a:cs typeface="Times New Roman" pitchFamily="18" charset="0"/>
              </a:rPr>
              <a:t>Similar </a:t>
            </a:r>
            <a:r>
              <a:rPr lang="en-US" dirty="0">
                <a:latin typeface="Times New Roman" pitchFamily="18" charset="0"/>
                <a:cs typeface="Times New Roman" pitchFamily="18" charset="0"/>
              </a:rPr>
              <a:t>operations like boring, reaming, counter boring, counter sinking, tapping etc. can also be performed with the drilling machine. </a:t>
            </a:r>
          </a:p>
          <a:p>
            <a:r>
              <a:rPr lang="en-US" dirty="0" smtClean="0">
                <a:latin typeface="Times New Roman" pitchFamily="18" charset="0"/>
                <a:cs typeface="Times New Roman" pitchFamily="18" charset="0"/>
              </a:rPr>
              <a:t>As </a:t>
            </a:r>
            <a:r>
              <a:rPr lang="en-US" dirty="0">
                <a:latin typeface="Times New Roman" pitchFamily="18" charset="0"/>
                <a:cs typeface="Times New Roman" pitchFamily="18" charset="0"/>
              </a:rPr>
              <a:t>the machine exerts vertical pressure to originate hole it is called drill press. </a:t>
            </a:r>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62</a:t>
            </a:fld>
            <a:endParaRPr lang="en-IN"/>
          </a:p>
        </p:txBody>
      </p:sp>
    </p:spTree>
    <p:extLst>
      <p:ext uri="{BB962C8B-B14F-4D97-AF65-F5344CB8AC3E}">
        <p14:creationId xmlns:p14="http://schemas.microsoft.com/office/powerpoint/2010/main" xmlns="" val="7644800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78756" y="810329"/>
            <a:ext cx="4946497" cy="5307135"/>
          </a:xfrm>
          <a:prstGeom prst="rect">
            <a:avLst/>
          </a:prstGeom>
        </p:spPr>
      </p:pic>
      <p:sp>
        <p:nvSpPr>
          <p:cNvPr id="5" name="TextBox 4"/>
          <p:cNvSpPr txBox="1"/>
          <p:nvPr/>
        </p:nvSpPr>
        <p:spPr>
          <a:xfrm>
            <a:off x="207499" y="25360"/>
            <a:ext cx="6671257" cy="6555641"/>
          </a:xfrm>
          <a:prstGeom prst="rect">
            <a:avLst/>
          </a:prstGeom>
          <a:noFill/>
        </p:spPr>
        <p:txBody>
          <a:bodyPr wrap="square" rtlCol="0">
            <a:spAutoFit/>
          </a:bodyPr>
          <a:lstStyle/>
          <a:p>
            <a:pPr algn="just"/>
            <a:r>
              <a:rPr lang="en-US" sz="2800"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1. Base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a heavy casting on which vertical column is mounted. </a:t>
            </a:r>
          </a:p>
          <a:p>
            <a:pPr algn="just"/>
            <a:r>
              <a:rPr lang="en-US" sz="2800" b="1" dirty="0">
                <a:latin typeface="Times New Roman" panose="02020603050405020304" pitchFamily="18" charset="0"/>
                <a:cs typeface="Times New Roman" panose="02020603050405020304" pitchFamily="18" charset="0"/>
              </a:rPr>
              <a:t>2. Column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the vertical member of the drilling machine. It supports table and the head including driving mechanism. </a:t>
            </a:r>
          </a:p>
          <a:p>
            <a:pPr algn="just"/>
            <a:r>
              <a:rPr lang="en-US" sz="2800" b="1" dirty="0">
                <a:latin typeface="Times New Roman" panose="02020603050405020304" pitchFamily="18" charset="0"/>
                <a:cs typeface="Times New Roman" panose="02020603050405020304" pitchFamily="18" charset="0"/>
              </a:rPr>
              <a:t>3. Table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mounted on the column. ‘T’ slots are provided on it to clamp the work piece on it. The position of the table can be adjusted vertically on the column to hold the work piece at different height below the drill tool. It can be set in various position in horizontal plane </a:t>
            </a:r>
          </a:p>
        </p:txBody>
      </p:sp>
      <p:sp>
        <p:nvSpPr>
          <p:cNvPr id="6" name="Slide Number Placeholder 5"/>
          <p:cNvSpPr>
            <a:spLocks noGrp="1"/>
          </p:cNvSpPr>
          <p:nvPr>
            <p:ph type="sldNum" sz="quarter" idx="12"/>
          </p:nvPr>
        </p:nvSpPr>
        <p:spPr/>
        <p:txBody>
          <a:bodyPr/>
          <a:lstStyle/>
          <a:p>
            <a:fld id="{6CD2C3DF-7EAB-4FBF-A7D6-E6B2366142AB}" type="slidenum">
              <a:rPr lang="en-IN" smtClean="0"/>
              <a:pPr/>
              <a:t>63</a:t>
            </a:fld>
            <a:endParaRPr lang="en-IN"/>
          </a:p>
        </p:txBody>
      </p:sp>
    </p:spTree>
    <p:extLst>
      <p:ext uri="{BB962C8B-B14F-4D97-AF65-F5344CB8AC3E}">
        <p14:creationId xmlns:p14="http://schemas.microsoft.com/office/powerpoint/2010/main" xmlns="" val="40796208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6" y="215765"/>
            <a:ext cx="11499760" cy="6442612"/>
          </a:xfrm>
        </p:spPr>
        <p:txBody>
          <a:bodyPr/>
          <a:lstStyle/>
          <a:p>
            <a:endParaRPr lang="en-US" dirty="0"/>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4. Head –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mounted on the top of the column. It consists of driving and feeding mechanism for the spindle.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b="1" dirty="0" smtClean="0">
                <a:latin typeface="Times New Roman" panose="02020603050405020304" pitchFamily="18" charset="0"/>
                <a:cs typeface="Times New Roman" panose="02020603050405020304" pitchFamily="18" charset="0"/>
              </a:rPr>
              <a:t>5. Spindle -</a:t>
            </a:r>
          </a:p>
          <a:p>
            <a:pPr algn="just"/>
            <a:r>
              <a:rPr lang="en-US" dirty="0" smtClean="0">
                <a:latin typeface="Times New Roman" panose="02020603050405020304" pitchFamily="18" charset="0"/>
                <a:cs typeface="Times New Roman" panose="02020603050405020304" pitchFamily="18" charset="0"/>
              </a:rPr>
              <a:t>Spindle </a:t>
            </a:r>
            <a:r>
              <a:rPr lang="en-US" dirty="0">
                <a:latin typeface="Times New Roman" panose="02020603050405020304" pitchFamily="18" charset="0"/>
                <a:cs typeface="Times New Roman" panose="02020603050405020304" pitchFamily="18" charset="0"/>
              </a:rPr>
              <a:t>is a vertical shaft which holds the chuck and drill. Rotary motion of the spindle is given directly to the tool to cut the material from the work piece. It is made of alloy steel. </a:t>
            </a:r>
          </a:p>
          <a:p>
            <a:pPr marL="0" indent="0" algn="just">
              <a:buNone/>
            </a:pPr>
            <a:r>
              <a:rPr lang="en-US" b="1" dirty="0">
                <a:latin typeface="Times New Roman" panose="02020603050405020304" pitchFamily="18" charset="0"/>
                <a:cs typeface="Times New Roman" panose="02020603050405020304" pitchFamily="18" charset="0"/>
              </a:rPr>
              <a:t>6. Spindle drive and feed mechanism –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Multiple speeds may be obtained by a step cone pulley drive or by gear. Feed mechanism provided in drilling machine is either by quick reverse hand feed or by sensitive hand feed. The feed movement may be controlled by hand or power. </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64</a:t>
            </a:fld>
            <a:endParaRPr lang="en-IN"/>
          </a:p>
        </p:txBody>
      </p:sp>
    </p:spTree>
    <p:extLst>
      <p:ext uri="{BB962C8B-B14F-4D97-AF65-F5344CB8AC3E}">
        <p14:creationId xmlns:p14="http://schemas.microsoft.com/office/powerpoint/2010/main" xmlns="" val="441266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1" y="231821"/>
            <a:ext cx="10515600" cy="577476"/>
          </a:xfrm>
        </p:spPr>
        <p:txBody>
          <a:bodyPr>
            <a:normAutofit fontScale="90000"/>
          </a:bodyPr>
          <a:lstStyle/>
          <a:p>
            <a:r>
              <a:rPr lang="en-US" sz="3600" b="1" dirty="0" smtClean="0">
                <a:latin typeface="Times New Roman" pitchFamily="18" charset="0"/>
                <a:cs typeface="Times New Roman" pitchFamily="18" charset="0"/>
              </a:rPr>
              <a:t>TWIST DRILL NOMENCLATURE</a:t>
            </a:r>
            <a:endParaRPr lang="en-US" sz="3600" b="1" dirty="0">
              <a:latin typeface="Times New Roman" pitchFamily="18" charset="0"/>
              <a:cs typeface="Times New Roman" pitchFamily="18"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xmlns="" val="0"/>
              </a:ext>
            </a:extLst>
          </a:blip>
          <a:srcRect l="3438" t="6921" r="579"/>
          <a:stretch/>
        </p:blipFill>
        <p:spPr>
          <a:xfrm>
            <a:off x="2601529" y="1133340"/>
            <a:ext cx="7319152" cy="5589431"/>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65</a:t>
            </a:fld>
            <a:endParaRPr lang="en-IN"/>
          </a:p>
        </p:txBody>
      </p:sp>
    </p:spTree>
    <p:extLst>
      <p:ext uri="{BB962C8B-B14F-4D97-AF65-F5344CB8AC3E}">
        <p14:creationId xmlns:p14="http://schemas.microsoft.com/office/powerpoint/2010/main" xmlns="" val="5799787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712" y="254403"/>
            <a:ext cx="11486882" cy="6004729"/>
          </a:xfrm>
        </p:spPr>
        <p:txBody>
          <a:bodyPr>
            <a:normAutofit fontScale="92500" lnSpcReduction="10000"/>
          </a:bodyPr>
          <a:lstStyle/>
          <a:p>
            <a:endParaRPr lang="en-US" dirty="0"/>
          </a:p>
          <a:p>
            <a:pPr algn="just"/>
            <a:r>
              <a:rPr lang="en-US" b="1" dirty="0">
                <a:latin typeface="Times New Roman" panose="02020603050405020304" pitchFamily="18" charset="0"/>
                <a:cs typeface="Times New Roman" panose="02020603050405020304" pitchFamily="18" charset="0"/>
              </a:rPr>
              <a:t>Axis </a:t>
            </a:r>
            <a:r>
              <a:rPr lang="en-US" dirty="0">
                <a:latin typeface="Times New Roman" panose="02020603050405020304" pitchFamily="18" charset="0"/>
                <a:cs typeface="Times New Roman" panose="02020603050405020304" pitchFamily="18" charset="0"/>
              </a:rPr>
              <a:t>is the longitudinal </a:t>
            </a:r>
            <a:r>
              <a:rPr lang="en-US" dirty="0" err="1">
                <a:latin typeface="Times New Roman" panose="02020603050405020304" pitchFamily="18" charset="0"/>
                <a:cs typeface="Times New Roman" panose="02020603050405020304" pitchFamily="18" charset="0"/>
              </a:rPr>
              <a:t>centre</a:t>
            </a:r>
            <a:r>
              <a:rPr lang="en-US" dirty="0">
                <a:latin typeface="Times New Roman" panose="02020603050405020304" pitchFamily="18" charset="0"/>
                <a:cs typeface="Times New Roman" panose="02020603050405020304" pitchFamily="18" charset="0"/>
              </a:rPr>
              <a:t> line of drill. </a:t>
            </a:r>
          </a:p>
          <a:p>
            <a:pPr algn="just"/>
            <a:r>
              <a:rPr lang="en-US" b="1" dirty="0" smtClean="0">
                <a:latin typeface="Times New Roman" panose="02020603050405020304" pitchFamily="18" charset="0"/>
                <a:cs typeface="Times New Roman" panose="02020603050405020304" pitchFamily="18" charset="0"/>
              </a:rPr>
              <a:t>Shank </a:t>
            </a:r>
            <a:r>
              <a:rPr lang="en-US" dirty="0">
                <a:latin typeface="Times New Roman" panose="02020603050405020304" pitchFamily="18" charset="0"/>
                <a:cs typeface="Times New Roman" panose="02020603050405020304" pitchFamily="18" charset="0"/>
              </a:rPr>
              <a:t>:portion of the drill by which it is held and driven </a:t>
            </a:r>
          </a:p>
          <a:p>
            <a:pPr algn="just"/>
            <a:r>
              <a:rPr lang="en-US" dirty="0" smtClean="0">
                <a:latin typeface="Times New Roman" panose="02020603050405020304" pitchFamily="18" charset="0"/>
                <a:cs typeface="Times New Roman" panose="02020603050405020304" pitchFamily="18" charset="0"/>
              </a:rPr>
              <a:t>T</a:t>
            </a:r>
            <a:r>
              <a:rPr lang="en-US" b="1" dirty="0" smtClean="0">
                <a:latin typeface="Times New Roman" panose="02020603050405020304" pitchFamily="18" charset="0"/>
                <a:cs typeface="Times New Roman" panose="02020603050405020304" pitchFamily="18" charset="0"/>
              </a:rPr>
              <a:t>ang</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Flattened end which fits into drift slot in spindle. Ensures positive drive of drill and spindle </a:t>
            </a:r>
          </a:p>
          <a:p>
            <a:pPr algn="just"/>
            <a:r>
              <a:rPr lang="en-US" b="1" dirty="0" smtClean="0">
                <a:latin typeface="Times New Roman" panose="02020603050405020304" pitchFamily="18" charset="0"/>
                <a:cs typeface="Times New Roman" panose="02020603050405020304" pitchFamily="18" charset="0"/>
              </a:rPr>
              <a:t>Body </a:t>
            </a:r>
            <a:r>
              <a:rPr lang="en-US" dirty="0">
                <a:latin typeface="Times New Roman" panose="02020603050405020304" pitchFamily="18" charset="0"/>
                <a:cs typeface="Times New Roman" panose="02020603050405020304" pitchFamily="18" charset="0"/>
              </a:rPr>
              <a:t>:Portion of the drill, which extends from the extreme cutting end to commencement of neck </a:t>
            </a:r>
          </a:p>
          <a:p>
            <a:pPr algn="just"/>
            <a:r>
              <a:rPr lang="en-US" b="1" dirty="0" smtClean="0">
                <a:latin typeface="Times New Roman" panose="02020603050405020304" pitchFamily="18" charset="0"/>
                <a:cs typeface="Times New Roman" panose="02020603050405020304" pitchFamily="18" charset="0"/>
              </a:rPr>
              <a:t>Body </a:t>
            </a:r>
            <a:r>
              <a:rPr lang="en-US" b="1" dirty="0">
                <a:latin typeface="Times New Roman" panose="02020603050405020304" pitchFamily="18" charset="0"/>
                <a:cs typeface="Times New Roman" panose="02020603050405020304" pitchFamily="18" charset="0"/>
              </a:rPr>
              <a:t>clearance </a:t>
            </a:r>
            <a:r>
              <a:rPr lang="en-US" dirty="0">
                <a:latin typeface="Times New Roman" panose="02020603050405020304" pitchFamily="18" charset="0"/>
                <a:cs typeface="Times New Roman" panose="02020603050405020304" pitchFamily="18" charset="0"/>
              </a:rPr>
              <a:t>is that portion of the body surface reduced in diameter to provide diametric clearance. </a:t>
            </a:r>
          </a:p>
          <a:p>
            <a:pPr algn="just"/>
            <a:r>
              <a:rPr lang="en-US" b="1" dirty="0" smtClean="0">
                <a:latin typeface="Times New Roman" panose="02020603050405020304" pitchFamily="18" charset="0"/>
                <a:cs typeface="Times New Roman" panose="02020603050405020304" pitchFamily="18" charset="0"/>
              </a:rPr>
              <a:t>Flutes </a:t>
            </a:r>
            <a:r>
              <a:rPr lang="en-US" dirty="0">
                <a:latin typeface="Times New Roman" panose="02020603050405020304" pitchFamily="18" charset="0"/>
                <a:cs typeface="Times New Roman" panose="02020603050405020304" pitchFamily="18" charset="0"/>
              </a:rPr>
              <a:t>are the grooves in the body of the drill which permits removal of chips, permit cutting fluid to reach the lips. </a:t>
            </a:r>
          </a:p>
          <a:p>
            <a:pPr algn="just"/>
            <a:r>
              <a:rPr lang="en-US" b="1" dirty="0" smtClean="0">
                <a:latin typeface="Times New Roman" panose="02020603050405020304" pitchFamily="18" charset="0"/>
                <a:cs typeface="Times New Roman" panose="02020603050405020304" pitchFamily="18" charset="0"/>
              </a:rPr>
              <a:t>Face</a:t>
            </a:r>
            <a:r>
              <a:rPr lang="en-US" dirty="0">
                <a:latin typeface="Times New Roman" panose="02020603050405020304" pitchFamily="18" charset="0"/>
                <a:cs typeface="Times New Roman" panose="02020603050405020304" pitchFamily="18" charset="0"/>
              </a:rPr>
              <a:t>: Portion of the flute surface adjacent to the lip on which the chip impinges as it is cut from the work. </a:t>
            </a:r>
          </a:p>
          <a:p>
            <a:pPr algn="just"/>
            <a:r>
              <a:rPr lang="en-US" b="1" dirty="0" smtClean="0">
                <a:latin typeface="Times New Roman" panose="02020603050405020304" pitchFamily="18" charset="0"/>
                <a:cs typeface="Times New Roman" panose="02020603050405020304" pitchFamily="18" charset="0"/>
              </a:rPr>
              <a:t>Flank </a:t>
            </a:r>
            <a:r>
              <a:rPr lang="en-US" dirty="0">
                <a:latin typeface="Times New Roman" panose="02020603050405020304" pitchFamily="18" charset="0"/>
                <a:cs typeface="Times New Roman" panose="02020603050405020304" pitchFamily="18" charset="0"/>
              </a:rPr>
              <a:t>is that surface on a drill point which extends behind the lip to the following flute.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66</a:t>
            </a:fld>
            <a:endParaRPr lang="en-IN"/>
          </a:p>
        </p:txBody>
      </p:sp>
    </p:spTree>
    <p:extLst>
      <p:ext uri="{BB962C8B-B14F-4D97-AF65-F5344CB8AC3E}">
        <p14:creationId xmlns:p14="http://schemas.microsoft.com/office/powerpoint/2010/main" xmlns="" val="17273224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7" y="486221"/>
            <a:ext cx="11229305" cy="6197913"/>
          </a:xfrm>
        </p:spPr>
        <p:txBody>
          <a:bodyPr/>
          <a:lstStyle/>
          <a:p>
            <a:pPr algn="just"/>
            <a:r>
              <a:rPr lang="en-US" b="1" dirty="0" smtClean="0">
                <a:latin typeface="Times New Roman" panose="02020603050405020304" pitchFamily="18" charset="0"/>
                <a:cs typeface="Times New Roman" panose="02020603050405020304" pitchFamily="18" charset="0"/>
              </a:rPr>
              <a:t>Chisel </a:t>
            </a:r>
            <a:r>
              <a:rPr lang="en-US" b="1" dirty="0">
                <a:latin typeface="Times New Roman" panose="02020603050405020304" pitchFamily="18" charset="0"/>
                <a:cs typeface="Times New Roman" panose="02020603050405020304" pitchFamily="18" charset="0"/>
              </a:rPr>
              <a:t>edge</a:t>
            </a:r>
            <a:r>
              <a:rPr lang="en-US" dirty="0">
                <a:latin typeface="Times New Roman" panose="02020603050405020304" pitchFamily="18" charset="0"/>
                <a:cs typeface="Times New Roman" panose="02020603050405020304" pitchFamily="18" charset="0"/>
              </a:rPr>
              <a:t>: edge formed by the intersection of the flanks. </a:t>
            </a:r>
          </a:p>
          <a:p>
            <a:pPr algn="just"/>
            <a:r>
              <a:rPr lang="en-US" b="1" dirty="0" smtClean="0">
                <a:latin typeface="Times New Roman" panose="02020603050405020304" pitchFamily="18" charset="0"/>
                <a:cs typeface="Times New Roman" panose="02020603050405020304" pitchFamily="18" charset="0"/>
              </a:rPr>
              <a:t>Heel </a:t>
            </a:r>
            <a:r>
              <a:rPr lang="en-US" dirty="0">
                <a:latin typeface="Times New Roman" panose="02020603050405020304" pitchFamily="18" charset="0"/>
                <a:cs typeface="Times New Roman" panose="02020603050405020304" pitchFamily="18" charset="0"/>
              </a:rPr>
              <a:t>:Edge formed by intersection of flute surface and body clearance </a:t>
            </a:r>
          </a:p>
          <a:p>
            <a:pPr algn="just"/>
            <a:r>
              <a:rPr lang="en-US" b="1" dirty="0" smtClean="0">
                <a:latin typeface="Times New Roman" panose="02020603050405020304" pitchFamily="18" charset="0"/>
                <a:cs typeface="Times New Roman" panose="02020603050405020304" pitchFamily="18" charset="0"/>
              </a:rPr>
              <a:t>Lip </a:t>
            </a:r>
            <a:r>
              <a:rPr lang="en-US" b="1" dirty="0">
                <a:latin typeface="Times New Roman" panose="02020603050405020304" pitchFamily="18" charset="0"/>
                <a:cs typeface="Times New Roman" panose="02020603050405020304" pitchFamily="18" charset="0"/>
              </a:rPr>
              <a:t>or cutting edge </a:t>
            </a:r>
            <a:r>
              <a:rPr lang="en-US" dirty="0">
                <a:latin typeface="Times New Roman" panose="02020603050405020304" pitchFamily="18" charset="0"/>
                <a:cs typeface="Times New Roman" panose="02020603050405020304" pitchFamily="18" charset="0"/>
              </a:rPr>
              <a:t>is the edge formed by the intersection of the flank and face </a:t>
            </a:r>
          </a:p>
          <a:p>
            <a:pPr algn="just"/>
            <a:r>
              <a:rPr lang="en-US" b="1" dirty="0" smtClean="0">
                <a:latin typeface="Times New Roman" panose="02020603050405020304" pitchFamily="18" charset="0"/>
                <a:cs typeface="Times New Roman" panose="02020603050405020304" pitchFamily="18" charset="0"/>
              </a:rPr>
              <a:t>Flute </a:t>
            </a:r>
            <a:r>
              <a:rPr lang="en-US" b="1" dirty="0">
                <a:latin typeface="Times New Roman" panose="02020603050405020304" pitchFamily="18" charset="0"/>
                <a:cs typeface="Times New Roman" panose="02020603050405020304" pitchFamily="18" charset="0"/>
              </a:rPr>
              <a:t>length </a:t>
            </a:r>
            <a:r>
              <a:rPr lang="en-US" dirty="0">
                <a:latin typeface="Times New Roman" panose="02020603050405020304" pitchFamily="18" charset="0"/>
                <a:cs typeface="Times New Roman" panose="02020603050405020304" pitchFamily="18" charset="0"/>
              </a:rPr>
              <a:t>The length of flute measured from the drill point to the end of flute run out </a:t>
            </a:r>
          </a:p>
          <a:p>
            <a:pPr algn="just"/>
            <a:r>
              <a:rPr lang="en-US" b="1" dirty="0" smtClean="0">
                <a:latin typeface="Times New Roman" panose="02020603050405020304" pitchFamily="18" charset="0"/>
                <a:cs typeface="Times New Roman" panose="02020603050405020304" pitchFamily="18" charset="0"/>
              </a:rPr>
              <a:t>Web</a:t>
            </a:r>
            <a:r>
              <a:rPr lang="en-US" dirty="0">
                <a:latin typeface="Times New Roman" panose="02020603050405020304" pitchFamily="18" charset="0"/>
                <a:cs typeface="Times New Roman" panose="02020603050405020304" pitchFamily="18" charset="0"/>
              </a:rPr>
              <a:t>: The thickness measured across the base of flutes. The point end of web forms the chisel edge. </a:t>
            </a:r>
          </a:p>
          <a:p>
            <a:pPr algn="just"/>
            <a:r>
              <a:rPr lang="en-US" b="1" dirty="0" smtClean="0">
                <a:latin typeface="Times New Roman" panose="02020603050405020304" pitchFamily="18" charset="0"/>
                <a:cs typeface="Times New Roman" panose="02020603050405020304" pitchFamily="18" charset="0"/>
              </a:rPr>
              <a:t>Lands</a:t>
            </a:r>
            <a:r>
              <a:rPr lang="en-US" dirty="0">
                <a:latin typeface="Times New Roman" panose="02020603050405020304" pitchFamily="18" charset="0"/>
                <a:cs typeface="Times New Roman" panose="02020603050405020304" pitchFamily="18" charset="0"/>
              </a:rPr>
              <a:t>: Cylindrically ground surface on leading edge of drill flute. </a:t>
            </a:r>
          </a:p>
          <a:p>
            <a:pPr algn="just"/>
            <a:r>
              <a:rPr lang="en-US" b="1" dirty="0" smtClean="0">
                <a:latin typeface="Times New Roman" panose="02020603050405020304" pitchFamily="18" charset="0"/>
                <a:cs typeface="Times New Roman" panose="02020603050405020304" pitchFamily="18" charset="0"/>
              </a:rPr>
              <a:t>Drill </a:t>
            </a:r>
            <a:r>
              <a:rPr lang="en-US" b="1" dirty="0">
                <a:latin typeface="Times New Roman" panose="02020603050405020304" pitchFamily="18" charset="0"/>
                <a:cs typeface="Times New Roman" panose="02020603050405020304" pitchFamily="18" charset="0"/>
              </a:rPr>
              <a:t>diameter</a:t>
            </a:r>
            <a:r>
              <a:rPr lang="en-US" dirty="0">
                <a:latin typeface="Times New Roman" panose="02020603050405020304" pitchFamily="18" charset="0"/>
                <a:cs typeface="Times New Roman" panose="02020603050405020304" pitchFamily="18" charset="0"/>
              </a:rPr>
              <a:t>: Largest diameter measured across the top of lands . </a:t>
            </a:r>
          </a:p>
          <a:p>
            <a:pPr algn="just"/>
            <a:r>
              <a:rPr lang="en-US" b="1" dirty="0" smtClean="0">
                <a:latin typeface="Times New Roman" panose="02020603050405020304" pitchFamily="18" charset="0"/>
                <a:cs typeface="Times New Roman" panose="02020603050405020304" pitchFamily="18" charset="0"/>
              </a:rPr>
              <a:t>Chisel </a:t>
            </a:r>
            <a:r>
              <a:rPr lang="en-US" b="1" dirty="0">
                <a:latin typeface="Times New Roman" panose="02020603050405020304" pitchFamily="18" charset="0"/>
                <a:cs typeface="Times New Roman" panose="02020603050405020304" pitchFamily="18" charset="0"/>
              </a:rPr>
              <a:t>Edge angle</a:t>
            </a:r>
            <a:r>
              <a:rPr lang="en-US" dirty="0">
                <a:latin typeface="Times New Roman" panose="02020603050405020304" pitchFamily="18" charset="0"/>
                <a:cs typeface="Times New Roman" panose="02020603050405020304" pitchFamily="18" charset="0"/>
              </a:rPr>
              <a:t>: Angle formed between chisel edge and cutting lips. It is generally 125° to 135°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67</a:t>
            </a:fld>
            <a:endParaRPr lang="en-IN"/>
          </a:p>
        </p:txBody>
      </p:sp>
    </p:spTree>
    <p:extLst>
      <p:ext uri="{BB962C8B-B14F-4D97-AF65-F5344CB8AC3E}">
        <p14:creationId xmlns:p14="http://schemas.microsoft.com/office/powerpoint/2010/main" xmlns="" val="11028669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438" y="331675"/>
            <a:ext cx="11177789" cy="2566072"/>
          </a:xfrm>
        </p:spPr>
        <p:txBody>
          <a:bodyPr>
            <a:normAutofit lnSpcReduction="10000"/>
          </a:bodyPr>
          <a:lstStyle/>
          <a:p>
            <a:r>
              <a:rPr lang="en-US" b="1" dirty="0" smtClean="0"/>
              <a:t>Helix </a:t>
            </a:r>
            <a:r>
              <a:rPr lang="en-US" b="1" dirty="0"/>
              <a:t>angle or Rake angle </a:t>
            </a:r>
            <a:r>
              <a:rPr lang="en-US" dirty="0"/>
              <a:t>is the angle between the leading edge of the land and the drill axis. </a:t>
            </a:r>
          </a:p>
          <a:p>
            <a:r>
              <a:rPr lang="en-US" b="1" dirty="0" smtClean="0"/>
              <a:t>Lip </a:t>
            </a:r>
            <a:r>
              <a:rPr lang="en-US" b="1" dirty="0"/>
              <a:t>clearance angle </a:t>
            </a:r>
            <a:r>
              <a:rPr lang="en-US" dirty="0"/>
              <a:t>is the angle formed by the flank and a plane at right angles to the drill axis </a:t>
            </a:r>
          </a:p>
          <a:p>
            <a:r>
              <a:rPr lang="en-US" b="1" dirty="0" smtClean="0"/>
              <a:t>Point </a:t>
            </a:r>
            <a:r>
              <a:rPr lang="en-US" b="1" dirty="0"/>
              <a:t>angle </a:t>
            </a:r>
            <a:r>
              <a:rPr lang="en-US" dirty="0"/>
              <a:t>is the included angle of the cone formed by the lips. Usually 118 °.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387439" y="3602807"/>
            <a:ext cx="5897452" cy="2398414"/>
          </a:xfrm>
          <a:prstGeom prst="rect">
            <a:avLst/>
          </a:prstGeom>
        </p:spPr>
      </p:pic>
      <p:pic>
        <p:nvPicPr>
          <p:cNvPr id="5" name="Picture 4"/>
          <p:cNvPicPr>
            <a:picLocks noChangeAspect="1"/>
          </p:cNvPicPr>
          <p:nvPr/>
        </p:nvPicPr>
        <p:blipFill rotWithShape="1">
          <a:blip r:embed="rId3"/>
          <a:srcRect r="6666" b="10364"/>
          <a:stretch/>
        </p:blipFill>
        <p:spPr>
          <a:xfrm>
            <a:off x="8083928" y="2679930"/>
            <a:ext cx="2303346" cy="1909688"/>
          </a:xfrm>
          <a:prstGeom prst="rect">
            <a:avLst/>
          </a:prstGeom>
        </p:spPr>
      </p:pic>
      <p:pic>
        <p:nvPicPr>
          <p:cNvPr id="6" name="Picture 5"/>
          <p:cNvPicPr>
            <a:picLocks noChangeAspect="1"/>
          </p:cNvPicPr>
          <p:nvPr/>
        </p:nvPicPr>
        <p:blipFill>
          <a:blip r:embed="rId4"/>
          <a:stretch>
            <a:fillRect/>
          </a:stretch>
        </p:blipFill>
        <p:spPr>
          <a:xfrm>
            <a:off x="7920742" y="4863131"/>
            <a:ext cx="2587618" cy="1872520"/>
          </a:xfrm>
          <a:prstGeom prst="rect">
            <a:avLst/>
          </a:prstGeom>
        </p:spPr>
      </p:pic>
      <p:sp>
        <p:nvSpPr>
          <p:cNvPr id="7" name="Slide Number Placeholder 6"/>
          <p:cNvSpPr>
            <a:spLocks noGrp="1"/>
          </p:cNvSpPr>
          <p:nvPr>
            <p:ph type="sldNum" sz="quarter" idx="12"/>
          </p:nvPr>
        </p:nvSpPr>
        <p:spPr/>
        <p:txBody>
          <a:bodyPr/>
          <a:lstStyle/>
          <a:p>
            <a:fld id="{6CD2C3DF-7EAB-4FBF-A7D6-E6B2366142AB}" type="slidenum">
              <a:rPr lang="en-IN" smtClean="0"/>
              <a:pPr/>
              <a:t>68</a:t>
            </a:fld>
            <a:endParaRPr lang="en-IN"/>
          </a:p>
        </p:txBody>
      </p:sp>
    </p:spTree>
    <p:extLst>
      <p:ext uri="{BB962C8B-B14F-4D97-AF65-F5344CB8AC3E}">
        <p14:creationId xmlns:p14="http://schemas.microsoft.com/office/powerpoint/2010/main" xmlns="" val="41538900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221" y="711967"/>
            <a:ext cx="10515600" cy="885606"/>
          </a:xfrm>
        </p:spPr>
        <p:txBody>
          <a:bodyPr/>
          <a:lstStyle/>
          <a:p>
            <a:r>
              <a:rPr lang="en-US" dirty="0" smtClean="0">
                <a:latin typeface="Times New Roman" pitchFamily="18" charset="0"/>
                <a:cs typeface="Times New Roman" pitchFamily="18" charset="0"/>
              </a:rPr>
              <a:t>BORING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7401910" cy="4351338"/>
          </a:xfrm>
        </p:spPr>
        <p:txBody>
          <a:bodyPr/>
          <a:lstStyle/>
          <a:p>
            <a:pPr algn="just"/>
            <a:r>
              <a:rPr lang="en-US" dirty="0" smtClean="0">
                <a:latin typeface="Times New Roman" pitchFamily="18" charset="0"/>
                <a:cs typeface="Times New Roman" pitchFamily="18" charset="0"/>
              </a:rPr>
              <a:t>Boring is an operation of enlarging a hole</a:t>
            </a:r>
          </a:p>
          <a:p>
            <a:pPr algn="just"/>
            <a:r>
              <a:rPr lang="en-US" dirty="0" smtClean="0">
                <a:latin typeface="Times New Roman" pitchFamily="18" charset="0"/>
                <a:cs typeface="Times New Roman" pitchFamily="18" charset="0"/>
              </a:rPr>
              <a:t>Generally the single point tool bit is mounted in the boring bar of suitable diameter commensurate with the diameter to be bored</a:t>
            </a:r>
          </a:p>
          <a:p>
            <a:pPr algn="just"/>
            <a:r>
              <a:rPr lang="en-US" dirty="0" smtClean="0">
                <a:latin typeface="Times New Roman" pitchFamily="18" charset="0"/>
                <a:cs typeface="Times New Roman" pitchFamily="18" charset="0"/>
              </a:rPr>
              <a:t>It is possible to carry out the boring operation in a lathe for limited applications while in drilling and milling machines a large range of holes can be bored using the multiple point cutting tools in addition to the single point tool</a:t>
            </a:r>
          </a:p>
          <a:p>
            <a:endParaRPr lang="en-US" dirty="0"/>
          </a:p>
        </p:txBody>
      </p:sp>
      <p:pic>
        <p:nvPicPr>
          <p:cNvPr id="1026" name="Picture 2"/>
          <p:cNvPicPr>
            <a:picLocks noChangeAspect="1" noChangeArrowheads="1"/>
          </p:cNvPicPr>
          <p:nvPr/>
        </p:nvPicPr>
        <p:blipFill>
          <a:blip r:embed="rId2"/>
          <a:srcRect l="3623" t="4959" r="5862"/>
          <a:stretch>
            <a:fillRect/>
          </a:stretch>
        </p:blipFill>
        <p:spPr bwMode="auto">
          <a:xfrm>
            <a:off x="8713075" y="2648607"/>
            <a:ext cx="2974427" cy="204590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6CD2C3DF-7EAB-4FBF-A7D6-E6B2366142AB}" type="slidenum">
              <a:rPr lang="en-IN" smtClean="0"/>
              <a:pPr/>
              <a:t>69</a:t>
            </a:fld>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2" y="312575"/>
            <a:ext cx="10515600" cy="748971"/>
          </a:xfrm>
        </p:spPr>
        <p:txBody>
          <a:bodyPr/>
          <a:lstStyle/>
          <a:p>
            <a:r>
              <a:rPr lang="en-US" dirty="0" smtClean="0">
                <a:latin typeface="Times New Roman" pitchFamily="18" charset="0"/>
                <a:cs typeface="Times New Roman" pitchFamily="18" charset="0"/>
              </a:rPr>
              <a:t>HORIZONTAL BORING MACHINE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7655" y="1198179"/>
            <a:ext cx="7378261" cy="5496911"/>
          </a:xfrm>
        </p:spPr>
        <p:txBody>
          <a:bodyPr>
            <a:normAutofit fontScale="77500" lnSpcReduction="20000"/>
          </a:bodyPr>
          <a:lstStyle/>
          <a:p>
            <a:pPr algn="just"/>
            <a:r>
              <a:rPr lang="en-US" dirty="0" smtClean="0">
                <a:latin typeface="Times New Roman" pitchFamily="18" charset="0"/>
                <a:cs typeface="Times New Roman" pitchFamily="18" charset="0"/>
              </a:rPr>
              <a:t>Generally heavy work pieces that are difficult to be rotated in the drilling machines, are bored in horizontal boring machines. A drilled hole, which is not properly located, can be made concentric with the axis of rotation of the spindle by the boring operation.</a:t>
            </a:r>
          </a:p>
          <a:p>
            <a:pPr algn="just">
              <a:buNone/>
            </a:pPr>
            <a:r>
              <a:rPr lang="en-US" b="1" dirty="0" smtClean="0">
                <a:latin typeface="Times New Roman" pitchFamily="18" charset="0"/>
                <a:cs typeface="Times New Roman" pitchFamily="18" charset="0"/>
              </a:rPr>
              <a:t>Headstock: </a:t>
            </a:r>
            <a:r>
              <a:rPr lang="en-US" dirty="0" smtClean="0">
                <a:latin typeface="Times New Roman" pitchFamily="18" charset="0"/>
                <a:cs typeface="Times New Roman" pitchFamily="18" charset="0"/>
              </a:rPr>
              <a:t>It is the heart of the equipment that houses all the spindles with speed and feed arrangement.</a:t>
            </a:r>
          </a:p>
          <a:p>
            <a:pPr algn="just"/>
            <a:r>
              <a:rPr lang="en-US" dirty="0" smtClean="0">
                <a:latin typeface="Times New Roman" pitchFamily="18" charset="0"/>
                <a:cs typeface="Times New Roman" pitchFamily="18" charset="0"/>
              </a:rPr>
              <a:t>Different spindles are available depending upon the power and speed requirements of the different</a:t>
            </a:r>
          </a:p>
          <a:p>
            <a:pPr algn="just"/>
            <a:r>
              <a:rPr lang="en-US" dirty="0" smtClean="0">
                <a:latin typeface="Times New Roman" pitchFamily="18" charset="0"/>
                <a:cs typeface="Times New Roman" pitchFamily="18" charset="0"/>
              </a:rPr>
              <a:t>operations planned. The headstock also provides a station on which other attachments can be mounted.</a:t>
            </a:r>
          </a:p>
          <a:p>
            <a:pPr algn="just"/>
            <a:r>
              <a:rPr lang="en-US" dirty="0" smtClean="0">
                <a:latin typeface="Times New Roman" pitchFamily="18" charset="0"/>
                <a:cs typeface="Times New Roman" pitchFamily="18" charset="0"/>
              </a:rPr>
              <a:t>The spindle feed and hand feed controls are contained in the headstock.</a:t>
            </a:r>
          </a:p>
          <a:p>
            <a:pPr algn="just">
              <a:buNone/>
            </a:pPr>
            <a:r>
              <a:rPr lang="en-US" b="1" dirty="0" smtClean="0">
                <a:latin typeface="Times New Roman" pitchFamily="18" charset="0"/>
                <a:cs typeface="Times New Roman" pitchFamily="18" charset="0"/>
              </a:rPr>
              <a:t>Column: </a:t>
            </a:r>
            <a:r>
              <a:rPr lang="en-US" dirty="0" smtClean="0">
                <a:latin typeface="Times New Roman" pitchFamily="18" charset="0"/>
                <a:cs typeface="Times New Roman" pitchFamily="18" charset="0"/>
              </a:rPr>
              <a:t>The headstock is supported by the column and guides it up and down accurately by means of </a:t>
            </a:r>
            <a:r>
              <a:rPr lang="en-US" dirty="0" err="1" smtClean="0">
                <a:latin typeface="Times New Roman" pitchFamily="18" charset="0"/>
                <a:cs typeface="Times New Roman" pitchFamily="18" charset="0"/>
              </a:rPr>
              <a:t>guideways</a:t>
            </a:r>
            <a:r>
              <a:rPr lang="en-US" dirty="0" smtClean="0">
                <a:latin typeface="Times New Roman" pitchFamily="18" charset="0"/>
                <a:cs typeface="Times New Roman" pitchFamily="18" charset="0"/>
              </a:rPr>
              <a:t>. Columns are attached to bases. Some columns are stationary while others move with their bases.</a:t>
            </a:r>
          </a:p>
          <a:p>
            <a:pPr algn="just">
              <a:buNone/>
            </a:pPr>
            <a:r>
              <a:rPr lang="en-US" b="1" dirty="0" smtClean="0">
                <a:latin typeface="Times New Roman" pitchFamily="18" charset="0"/>
                <a:cs typeface="Times New Roman" pitchFamily="18" charset="0"/>
              </a:rPr>
              <a:t>Column base: </a:t>
            </a:r>
            <a:r>
              <a:rPr lang="en-US" dirty="0" smtClean="0">
                <a:latin typeface="Times New Roman" pitchFamily="18" charset="0"/>
                <a:cs typeface="Times New Roman" pitchFamily="18" charset="0"/>
              </a:rPr>
              <a:t>This base supports and secures the column. It houses the various gear and driving mechanisms.</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l="3598" t="3281" r="1793"/>
          <a:stretch>
            <a:fillRect/>
          </a:stretch>
        </p:blipFill>
        <p:spPr bwMode="auto">
          <a:xfrm>
            <a:off x="7616773" y="2743200"/>
            <a:ext cx="4354510" cy="2490951"/>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6CD2C3DF-7EAB-4FBF-A7D6-E6B2366142AB}" type="slidenum">
              <a:rPr lang="en-IN" smtClean="0"/>
              <a:pPr/>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703" y="354176"/>
            <a:ext cx="11532476" cy="6298871"/>
          </a:xfrm>
        </p:spPr>
        <p:txBody>
          <a:bodyPr>
            <a:normAutofit/>
          </a:bodyPr>
          <a:lstStyle/>
          <a:p>
            <a:pPr algn="just">
              <a:buNone/>
            </a:pPr>
            <a:r>
              <a:rPr lang="en-US" b="1" dirty="0" smtClean="0">
                <a:latin typeface="Times New Roman" pitchFamily="18" charset="0"/>
                <a:cs typeface="Times New Roman" pitchFamily="18" charset="0"/>
              </a:rPr>
              <a:t>End-support column</a:t>
            </a:r>
            <a:r>
              <a:rPr lang="en-US" dirty="0" smtClean="0">
                <a:latin typeface="Times New Roman" pitchFamily="18" charset="0"/>
                <a:cs typeface="Times New Roman" pitchFamily="18" charset="0"/>
              </a:rPr>
              <a:t>: An additional column is sometimes required for operations that involve the use of long boring bars or heavy tools. An outboard bearing in this column is utilized to support the end of bar. This is also called backrest.</a:t>
            </a:r>
          </a:p>
          <a:p>
            <a:pPr algn="just">
              <a:buNone/>
            </a:pPr>
            <a:r>
              <a:rPr lang="en-US" b="1" dirty="0" smtClean="0">
                <a:latin typeface="Times New Roman" pitchFamily="18" charset="0"/>
                <a:cs typeface="Times New Roman" pitchFamily="18" charset="0"/>
              </a:rPr>
              <a:t>Runways</a:t>
            </a:r>
            <a:r>
              <a:rPr lang="en-US" dirty="0" smtClean="0">
                <a:latin typeface="Times New Roman" pitchFamily="18" charset="0"/>
                <a:cs typeface="Times New Roman" pitchFamily="18" charset="0"/>
              </a:rPr>
              <a:t>: These are used to carry the main column and end-support column in some machines.</a:t>
            </a:r>
          </a:p>
          <a:p>
            <a:pPr algn="just">
              <a:buNone/>
            </a:pPr>
            <a:r>
              <a:rPr lang="en-US" b="1" dirty="0" smtClean="0">
                <a:latin typeface="Times New Roman" pitchFamily="18" charset="0"/>
                <a:cs typeface="Times New Roman" pitchFamily="18" charset="0"/>
              </a:rPr>
              <a:t>Table and saddle</a:t>
            </a:r>
            <a:r>
              <a:rPr lang="en-US" dirty="0" smtClean="0">
                <a:latin typeface="Times New Roman" pitchFamily="18" charset="0"/>
                <a:cs typeface="Times New Roman" pitchFamily="18" charset="0"/>
              </a:rPr>
              <a:t>: It is provided for locating and clamping work piece. The table has accurate guide ways to move the table in two perpendicular directions (X and Y in horizontal plane).</a:t>
            </a:r>
          </a:p>
          <a:p>
            <a:pPr algn="just">
              <a:buNone/>
            </a:pPr>
            <a:r>
              <a:rPr lang="en-US" b="1" dirty="0" smtClean="0">
                <a:latin typeface="Times New Roman" pitchFamily="18" charset="0"/>
                <a:cs typeface="Times New Roman" pitchFamily="18" charset="0"/>
              </a:rPr>
              <a:t>Bed</a:t>
            </a:r>
            <a:r>
              <a:rPr lang="en-US" dirty="0" smtClean="0">
                <a:latin typeface="Times New Roman" pitchFamily="18" charset="0"/>
                <a:cs typeface="Times New Roman" pitchFamily="18" charset="0"/>
              </a:rPr>
              <a:t>: Similar to the bed for heavy machine tools to support most of the machine tool parts.</a:t>
            </a:r>
          </a:p>
          <a:p>
            <a:pPr algn="just">
              <a:buNone/>
            </a:pPr>
            <a:r>
              <a:rPr lang="en-US" b="1" dirty="0" smtClean="0">
                <a:latin typeface="Times New Roman" pitchFamily="18" charset="0"/>
                <a:cs typeface="Times New Roman" pitchFamily="18" charset="0"/>
              </a:rPr>
              <a:t>Floor plate</a:t>
            </a:r>
            <a:r>
              <a:rPr lang="en-US" dirty="0" smtClean="0">
                <a:latin typeface="Times New Roman" pitchFamily="18" charset="0"/>
                <a:cs typeface="Times New Roman" pitchFamily="18" charset="0"/>
              </a:rPr>
              <a:t>: Similar to a stationary bed and is provided with T-slots for mounting work piece.</a:t>
            </a:r>
          </a:p>
          <a:p>
            <a:pPr algn="just">
              <a:buNone/>
            </a:pPr>
            <a:r>
              <a:rPr lang="en-US" b="1" dirty="0" smtClean="0">
                <a:latin typeface="Times New Roman" pitchFamily="18" charset="0"/>
                <a:cs typeface="Times New Roman" pitchFamily="18" charset="0"/>
              </a:rPr>
              <a:t>Cross rail</a:t>
            </a:r>
            <a:r>
              <a:rPr lang="en-US" dirty="0" smtClean="0">
                <a:latin typeface="Times New Roman" pitchFamily="18" charset="0"/>
                <a:cs typeface="Times New Roman" pitchFamily="18" charset="0"/>
              </a:rPr>
              <a:t>: The cross rail is similar to the cross rail of a planer.</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620" y="207471"/>
            <a:ext cx="10515600" cy="938158"/>
          </a:xfrm>
        </p:spPr>
        <p:txBody>
          <a:bodyPr/>
          <a:lstStyle/>
          <a:p>
            <a:r>
              <a:rPr lang="en-US" dirty="0" smtClean="0">
                <a:latin typeface="Times New Roman" pitchFamily="18" charset="0"/>
                <a:cs typeface="Times New Roman" pitchFamily="18" charset="0"/>
              </a:rPr>
              <a:t>JIG BORING MACHINE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91660" y="1405214"/>
            <a:ext cx="7675179" cy="5174266"/>
          </a:xfrm>
        </p:spPr>
        <p:txBody>
          <a:bodyPr>
            <a:normAutofit/>
          </a:bodyPr>
          <a:lstStyle/>
          <a:p>
            <a:r>
              <a:rPr lang="en-US" dirty="0" smtClean="0">
                <a:latin typeface="Times New Roman" pitchFamily="18" charset="0"/>
                <a:cs typeface="Times New Roman" pitchFamily="18" charset="0"/>
              </a:rPr>
              <a:t>A jig boring machine is similar to a vertical axis milling machine with the table closer to the floor and built with heavy, rigid and accurate construction.</a:t>
            </a:r>
          </a:p>
          <a:p>
            <a:r>
              <a:rPr lang="en-US" dirty="0" smtClean="0">
                <a:latin typeface="Times New Roman" pitchFamily="18" charset="0"/>
                <a:cs typeface="Times New Roman" pitchFamily="18" charset="0"/>
              </a:rPr>
              <a:t>Table and saddle are mounted on the rigid bed that provide the necessary two axes (X and Y) movement for the work piece. A massive column supports all the necessary drives to provide power to the spindle</a:t>
            </a:r>
          </a:p>
          <a:p>
            <a:r>
              <a:rPr lang="en-US" dirty="0" smtClean="0">
                <a:latin typeface="Times New Roman" pitchFamily="18" charset="0"/>
                <a:cs typeface="Times New Roman" pitchFamily="18" charset="0"/>
              </a:rPr>
              <a:t>To provide the Z-axis movement the spindle moves inside a quill which is rigidly supported by the spindle head</a:t>
            </a:r>
            <a:endParaRPr lang="en-US"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l="3634" t="5698"/>
          <a:stretch>
            <a:fillRect/>
          </a:stretch>
        </p:blipFill>
        <p:spPr bwMode="auto">
          <a:xfrm>
            <a:off x="8376745" y="241737"/>
            <a:ext cx="3439237" cy="3310759"/>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l="6816" t="4241" r="2139" b="1359"/>
          <a:stretch>
            <a:fillRect/>
          </a:stretch>
        </p:blipFill>
        <p:spPr bwMode="auto">
          <a:xfrm>
            <a:off x="8597462" y="4025463"/>
            <a:ext cx="3436883" cy="251260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72</a:t>
            </a:fld>
            <a:endParaRPr lang="en-I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359" y="1436743"/>
            <a:ext cx="11133082" cy="4007616"/>
          </a:xfrm>
        </p:spPr>
        <p:txBody>
          <a:bodyPr>
            <a:normAutofit/>
          </a:bodyPr>
          <a:lstStyle/>
          <a:p>
            <a:pPr algn="just"/>
            <a:r>
              <a:rPr lang="en-US" dirty="0" smtClean="0">
                <a:latin typeface="Times New Roman" pitchFamily="18" charset="0"/>
                <a:cs typeface="Times New Roman" pitchFamily="18" charset="0"/>
              </a:rPr>
              <a:t>All the mechanisms involved in the three axes movement are manufactured under extremely careful and exacting conditions so that there will be no motion lost during tool movement. </a:t>
            </a:r>
          </a:p>
          <a:p>
            <a:pPr algn="just"/>
            <a:r>
              <a:rPr lang="en-US" dirty="0" smtClean="0">
                <a:latin typeface="Times New Roman" pitchFamily="18" charset="0"/>
                <a:cs typeface="Times New Roman" pitchFamily="18" charset="0"/>
              </a:rPr>
              <a:t>The materials for the housing are also carefully chosen so that thermal expansions due to the changes in temperature are minimized. </a:t>
            </a:r>
          </a:p>
          <a:p>
            <a:pPr algn="just"/>
            <a:r>
              <a:rPr lang="en-US" dirty="0" smtClean="0">
                <a:latin typeface="Times New Roman" pitchFamily="18" charset="0"/>
                <a:cs typeface="Times New Roman" pitchFamily="18" charset="0"/>
              </a:rPr>
              <a:t>The jig boring machine must be rugged enough for heavy cuts while remaining sensitive enough for light cuts.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73</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TotalTime>
  <Words>6101</Words>
  <Application>Microsoft Office PowerPoint</Application>
  <PresentationFormat>Custom</PresentationFormat>
  <Paragraphs>579</Paragraphs>
  <Slides>73</Slides>
  <Notes>0</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MAHCINING SCIENCE AND MACHINE TOOLS</vt:lpstr>
      <vt:lpstr>LATHE</vt:lpstr>
      <vt:lpstr>TYPES OF LATHE</vt:lpstr>
      <vt:lpstr>LATHE</vt:lpstr>
      <vt:lpstr>CENTRE LATHE</vt:lpstr>
      <vt:lpstr>Slide 6</vt:lpstr>
      <vt:lpstr>Slide 7</vt:lpstr>
      <vt:lpstr>LATHE BED</vt:lpstr>
      <vt:lpstr>HEADSTOCK</vt:lpstr>
      <vt:lpstr>CHUCK</vt:lpstr>
      <vt:lpstr>CARRIAGE</vt:lpstr>
      <vt:lpstr>TOOL POST</vt:lpstr>
      <vt:lpstr>Slide 13</vt:lpstr>
      <vt:lpstr>TAILSTOCK</vt:lpstr>
      <vt:lpstr>Slide 15</vt:lpstr>
      <vt:lpstr>LATHE SPECIFICATIONS</vt:lpstr>
      <vt:lpstr>WORK HOLDING DEVICES</vt:lpstr>
      <vt:lpstr>Slide 18</vt:lpstr>
      <vt:lpstr>Slide 19</vt:lpstr>
      <vt:lpstr>Slide 20</vt:lpstr>
      <vt:lpstr>Slide 21</vt:lpstr>
      <vt:lpstr>Slide 22</vt:lpstr>
      <vt:lpstr>TOOL HOLDING DEVICES</vt:lpstr>
      <vt:lpstr>Slide 24</vt:lpstr>
      <vt:lpstr>LIMITATIONS OF CENTRE LATHE</vt:lpstr>
      <vt:lpstr>LATHE OPERATIONS</vt:lpstr>
      <vt:lpstr>Slide 27</vt:lpstr>
      <vt:lpstr>TAPER TURNING</vt:lpstr>
      <vt:lpstr>Slide 29</vt:lpstr>
      <vt:lpstr>Slide 30</vt:lpstr>
      <vt:lpstr>Slide 31</vt:lpstr>
      <vt:lpstr>Slide 32</vt:lpstr>
      <vt:lpstr>THREAD CUTTING</vt:lpstr>
      <vt:lpstr>Slide 34</vt:lpstr>
      <vt:lpstr>Slide 35</vt:lpstr>
      <vt:lpstr>Slide 36</vt:lpstr>
      <vt:lpstr>Slide 37</vt:lpstr>
      <vt:lpstr>TURRET AND CAPSTAN LATHE</vt:lpstr>
      <vt:lpstr>Slide 39</vt:lpstr>
      <vt:lpstr>Slide 40</vt:lpstr>
      <vt:lpstr>AUTOMATIC LATHES</vt:lpstr>
      <vt:lpstr>Slide 42</vt:lpstr>
      <vt:lpstr>Slide 43</vt:lpstr>
      <vt:lpstr>Slide 44</vt:lpstr>
      <vt:lpstr>Slide 45</vt:lpstr>
      <vt:lpstr>RECIPROCATING MACHINE TOOLS</vt:lpstr>
      <vt:lpstr>1. SHAPER</vt:lpstr>
      <vt:lpstr>SHAPER - CONSTRUCTION</vt:lpstr>
      <vt:lpstr>Slide 49</vt:lpstr>
      <vt:lpstr>Slide 50</vt:lpstr>
      <vt:lpstr>Slide 51</vt:lpstr>
      <vt:lpstr>Slide 52</vt:lpstr>
      <vt:lpstr>PLANING MACHINE (PLANER)</vt:lpstr>
      <vt:lpstr>Slide 54</vt:lpstr>
      <vt:lpstr>Slide 55</vt:lpstr>
      <vt:lpstr>Slide 56</vt:lpstr>
      <vt:lpstr>SLOTTING MACHINE (SLOTTER)</vt:lpstr>
      <vt:lpstr>Slide 58</vt:lpstr>
      <vt:lpstr>Slide 59</vt:lpstr>
      <vt:lpstr>Slide 60</vt:lpstr>
      <vt:lpstr>Slide 61</vt:lpstr>
      <vt:lpstr>  DRILLING MACHINES </vt:lpstr>
      <vt:lpstr>Slide 63</vt:lpstr>
      <vt:lpstr>Slide 64</vt:lpstr>
      <vt:lpstr>TWIST DRILL NOMENCLATURE</vt:lpstr>
      <vt:lpstr>Slide 66</vt:lpstr>
      <vt:lpstr>Slide 67</vt:lpstr>
      <vt:lpstr>Slide 68</vt:lpstr>
      <vt:lpstr>BORING</vt:lpstr>
      <vt:lpstr>HORIZONTAL BORING MACHINE</vt:lpstr>
      <vt:lpstr>Slide 71</vt:lpstr>
      <vt:lpstr>JIG BORING MACHINE</vt:lpstr>
      <vt:lpstr>Slide 73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MAHCINING SCIENCE AND MACHINE TOOLS</dc:title>
  <dc:creator>Muhammed Hussain</dc:creator>
  <cp:lastModifiedBy>CAD LAB</cp:lastModifiedBy>
  <cp:revision>90</cp:revision>
  <dcterms:created xsi:type="dcterms:W3CDTF">2023-11-07T06:56:40Z</dcterms:created>
  <dcterms:modified xsi:type="dcterms:W3CDTF">2023-12-11T09:28:43Z</dcterms:modified>
</cp:coreProperties>
</file>