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74" r:id="rId13"/>
    <p:sldId id="275" r:id="rId14"/>
    <p:sldId id="276" r:id="rId15"/>
    <p:sldId id="277" r:id="rId16"/>
    <p:sldId id="278" r:id="rId17"/>
    <p:sldId id="267" r:id="rId18"/>
    <p:sldId id="268" r:id="rId19"/>
    <p:sldId id="269" r:id="rId20"/>
    <p:sldId id="270" r:id="rId21"/>
    <p:sldId id="271" r:id="rId22"/>
    <p:sldId id="272" r:id="rId23"/>
    <p:sldId id="273" r:id="rId24"/>
    <p:sldId id="279" r:id="rId25"/>
    <p:sldId id="280" r:id="rId26"/>
    <p:sldId id="281" r:id="rId27"/>
    <p:sldId id="282" r:id="rId28"/>
    <p:sldId id="283" r:id="rId29"/>
    <p:sldId id="284" r:id="rId30"/>
  </p:sldIdLst>
  <p:sldSz cx="9144000" cy="6858000" type="screen4x3"/>
  <p:notesSz cx="6735763" cy="98694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0E8123A-B94B-4E28-AEEC-4A49FA4B327B}" type="datetimeFigureOut">
              <a:rPr lang="en-US" smtClean="0"/>
              <a:pPr/>
              <a:t>18-Dec-23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E8123A-B94B-4E28-AEEC-4A49FA4B327B}" type="datetimeFigureOut">
              <a:rPr lang="en-US" smtClean="0"/>
              <a:pPr/>
              <a:t>18-Dec-23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E8123A-B94B-4E28-AEEC-4A49FA4B327B}" type="datetimeFigureOut">
              <a:rPr lang="en-US" smtClean="0"/>
              <a:pPr/>
              <a:t>18-Dec-23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0E8123A-B94B-4E28-AEEC-4A49FA4B327B}" type="datetimeFigureOut">
              <a:rPr lang="en-US" smtClean="0"/>
              <a:pPr/>
              <a:t>18-Dec-23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0E8123A-B94B-4E28-AEEC-4A49FA4B327B}" type="datetimeFigureOut">
              <a:rPr lang="en-US" smtClean="0"/>
              <a:pPr/>
              <a:t>18-Dec-23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0E8123A-B94B-4E28-AEEC-4A49FA4B327B}" type="datetimeFigureOut">
              <a:rPr lang="en-US" smtClean="0"/>
              <a:pPr/>
              <a:t>18-Dec-23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E8123A-B94B-4E28-AEEC-4A49FA4B327B}" type="datetimeFigureOut">
              <a:rPr lang="en-US" smtClean="0"/>
              <a:pPr/>
              <a:t>18-Dec-23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E8123A-B94B-4E28-AEEC-4A49FA4B327B}" type="datetimeFigureOut">
              <a:rPr lang="en-US" smtClean="0"/>
              <a:pPr/>
              <a:t>18-Dec-23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E8123A-B94B-4E28-AEEC-4A49FA4B327B}" type="datetimeFigureOut">
              <a:rPr lang="en-US" smtClean="0"/>
              <a:pPr/>
              <a:t>18-Dec-23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E8123A-B94B-4E28-AEEC-4A49FA4B327B}" type="datetimeFigureOut">
              <a:rPr lang="en-US" smtClean="0"/>
              <a:pPr/>
              <a:t>18-Dec-23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0E8123A-B94B-4E28-AEEC-4A49FA4B327B}" type="datetimeFigureOut">
              <a:rPr lang="en-US" smtClean="0"/>
              <a:pPr/>
              <a:t>18-Dec-23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374F10-0401-4224-9624-EB074E096B4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E8123A-B94B-4E28-AEEC-4A49FA4B327B}" type="datetimeFigureOut">
              <a:rPr lang="en-US" smtClean="0"/>
              <a:pPr/>
              <a:t>18-Dec-23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374F10-0401-4224-9624-EB074E096B4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1571612"/>
            <a:ext cx="7772400" cy="1470025"/>
          </a:xfrm>
        </p:spPr>
        <p:txBody>
          <a:bodyPr/>
          <a:lstStyle/>
          <a:p>
            <a:r>
              <a:rPr lang="en-US" dirty="0" smtClean="0">
                <a:latin typeface="Times New Roman" pitchFamily="18" charset="0"/>
                <a:cs typeface="Times New Roman" pitchFamily="18" charset="0"/>
              </a:rPr>
              <a:t>MACHINING SCIENCE AND MACHINE TOOLS</a:t>
            </a:r>
            <a:endParaRPr lang="en-US"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r>
              <a:rPr lang="en-US" b="1" dirty="0" smtClean="0">
                <a:solidFill>
                  <a:schemeClr val="tx1"/>
                </a:solidFill>
                <a:latin typeface="Times New Roman" pitchFamily="18" charset="0"/>
                <a:cs typeface="Times New Roman" pitchFamily="18" charset="0"/>
              </a:rPr>
              <a:t>MODULE IV</a:t>
            </a:r>
            <a:endParaRPr lang="en-US" b="1" dirty="0">
              <a:solidFill>
                <a:schemeClr val="tx1"/>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lstStyle/>
          <a:p>
            <a:r>
              <a:rPr lang="en-US" b="1" dirty="0" smtClean="0">
                <a:latin typeface="Times New Roman" pitchFamily="18" charset="0"/>
                <a:cs typeface="Times New Roman" pitchFamily="18" charset="0"/>
              </a:rPr>
              <a:t>MILLING</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214282" y="1000109"/>
            <a:ext cx="8643998" cy="3643337"/>
          </a:xfrm>
        </p:spPr>
        <p:txBody>
          <a:bodyPr>
            <a:normAutofit lnSpcReduction="10000"/>
          </a:bodyPr>
          <a:lstStyle/>
          <a:p>
            <a:pPr algn="just"/>
            <a:r>
              <a:rPr lang="en-US" sz="2800" dirty="0" smtClean="0">
                <a:latin typeface="Times New Roman" pitchFamily="18" charset="0"/>
                <a:cs typeface="Times New Roman" pitchFamily="18" charset="0"/>
              </a:rPr>
              <a:t>the work piece is fed into a rotating </a:t>
            </a:r>
            <a:r>
              <a:rPr lang="en-US" sz="2800" dirty="0" smtClean="0">
                <a:solidFill>
                  <a:srgbClr val="FF0000"/>
                </a:solidFill>
                <a:latin typeface="Times New Roman" pitchFamily="18" charset="0"/>
                <a:cs typeface="Times New Roman" pitchFamily="18" charset="0"/>
              </a:rPr>
              <a:t>milling cutter</a:t>
            </a:r>
            <a:r>
              <a:rPr lang="en-US" sz="2800" dirty="0" smtClean="0">
                <a:latin typeface="Times New Roman" pitchFamily="18" charset="0"/>
                <a:cs typeface="Times New Roman" pitchFamily="18" charset="0"/>
              </a:rPr>
              <a:t>, which is a multi-point tool </a:t>
            </a:r>
          </a:p>
          <a:p>
            <a:pPr algn="just"/>
            <a:r>
              <a:rPr lang="en-US" sz="2800" dirty="0" smtClean="0">
                <a:latin typeface="Times New Roman" pitchFamily="18" charset="0"/>
                <a:cs typeface="Times New Roman" pitchFamily="18" charset="0"/>
              </a:rPr>
              <a:t>Interrupted cutting: Each of the cutting edges removes material for only part of the rotation of the milling cutter. As a result, the cutting edge has time to cool before it removes material again. Thus the milling operation is much cooler compared to the turning operations seen earlier. This allows for much larger material rates</a:t>
            </a:r>
            <a:endParaRPr lang="en-US" sz="28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l="2478" t="3448"/>
          <a:stretch>
            <a:fillRect/>
          </a:stretch>
        </p:blipFill>
        <p:spPr bwMode="auto">
          <a:xfrm>
            <a:off x="3929058" y="4572008"/>
            <a:ext cx="2811407" cy="2000264"/>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928670"/>
            <a:ext cx="8572560" cy="4643470"/>
          </a:xfrm>
        </p:spPr>
        <p:txBody>
          <a:bodyPr>
            <a:noAutofit/>
          </a:bodyPr>
          <a:lstStyle/>
          <a:p>
            <a:pPr algn="just"/>
            <a:r>
              <a:rPr lang="en-US" sz="2400" dirty="0" smtClean="0">
                <a:latin typeface="Times New Roman" pitchFamily="18" charset="0"/>
                <a:cs typeface="Times New Roman" pitchFamily="18" charset="0"/>
              </a:rPr>
              <a:t>Machining operation that removes metal as the work is fed against a rotating multi point cutter</a:t>
            </a:r>
          </a:p>
          <a:p>
            <a:pPr algn="just"/>
            <a:r>
              <a:rPr lang="en-US" sz="2400" dirty="0" smtClean="0">
                <a:latin typeface="Times New Roman" pitchFamily="18" charset="0"/>
                <a:cs typeface="Times New Roman" pitchFamily="18" charset="0"/>
              </a:rPr>
              <a:t>Teeth of the cutter removes the metal in the form of chips from the surface of the work to produce desired shape. </a:t>
            </a:r>
          </a:p>
          <a:p>
            <a:pPr algn="just"/>
            <a:r>
              <a:rPr lang="en-US" sz="2400" dirty="0" smtClean="0">
                <a:latin typeface="Times New Roman" pitchFamily="18" charset="0"/>
                <a:cs typeface="Times New Roman" pitchFamily="18" charset="0"/>
              </a:rPr>
              <a:t>Work is held between centers or bolted to machine table  </a:t>
            </a:r>
          </a:p>
          <a:p>
            <a:pPr algn="just"/>
            <a:r>
              <a:rPr lang="en-US" sz="2400" dirty="0" smtClean="0">
                <a:latin typeface="Times New Roman" pitchFamily="18" charset="0"/>
                <a:cs typeface="Times New Roman" pitchFamily="18" charset="0"/>
              </a:rPr>
              <a:t>Revolving multi point cutter mounted either on spindle or arbor. </a:t>
            </a:r>
          </a:p>
          <a:p>
            <a:pPr algn="just"/>
            <a:r>
              <a:rPr lang="en-US" sz="2400" dirty="0" smtClean="0">
                <a:latin typeface="Times New Roman" pitchFamily="18" charset="0"/>
                <a:cs typeface="Times New Roman" pitchFamily="18" charset="0"/>
              </a:rPr>
              <a:t>Cutter revolves at high speed and work fed slowly past the cutter. </a:t>
            </a:r>
          </a:p>
          <a:p>
            <a:pPr algn="just"/>
            <a:r>
              <a:rPr lang="en-US" sz="2400" dirty="0" smtClean="0">
                <a:latin typeface="Times New Roman" pitchFamily="18" charset="0"/>
                <a:cs typeface="Times New Roman" pitchFamily="18" charset="0"/>
              </a:rPr>
              <a:t>Work can be fed in a vertical , horizontal or cross direction </a:t>
            </a:r>
          </a:p>
          <a:p>
            <a:pPr algn="just"/>
            <a:r>
              <a:rPr lang="en-US" sz="2400" dirty="0" smtClean="0">
                <a:latin typeface="Times New Roman" pitchFamily="18" charset="0"/>
                <a:cs typeface="Times New Roman" pitchFamily="18" charset="0"/>
              </a:rPr>
              <a:t>As the work advances the cutter ,teeth removes metal from the surface to produce desired shape</a:t>
            </a:r>
            <a:endParaRPr lang="en-US" sz="24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44" y="285728"/>
            <a:ext cx="8786874" cy="6429420"/>
          </a:xfrm>
        </p:spPr>
        <p:txBody>
          <a:bodyPr>
            <a:normAutofit/>
          </a:bodyPr>
          <a:lstStyle/>
          <a:p>
            <a:pPr algn="just"/>
            <a:r>
              <a:rPr lang="en-US" sz="2800" b="1" dirty="0" smtClean="0">
                <a:latin typeface="Times New Roman" pitchFamily="18" charset="0"/>
                <a:cs typeface="Times New Roman" pitchFamily="18" charset="0"/>
              </a:rPr>
              <a:t>Small size of chips: </a:t>
            </a:r>
            <a:r>
              <a:rPr lang="en-US" sz="2800" dirty="0" smtClean="0">
                <a:latin typeface="Times New Roman" pitchFamily="18" charset="0"/>
                <a:cs typeface="Times New Roman" pitchFamily="18" charset="0"/>
              </a:rPr>
              <a:t>Though the size of the chips is small, in view of the multiple cutting edges in contact, a large amount of material is removed and as a result the component is generally completed in a single pass unlike the turning process which requires a large number of cuts for finishing.</a:t>
            </a:r>
          </a:p>
          <a:p>
            <a:pPr algn="just"/>
            <a:r>
              <a:rPr lang="en-US" sz="2800" b="1" dirty="0" smtClean="0">
                <a:latin typeface="Times New Roman" pitchFamily="18" charset="0"/>
                <a:cs typeface="Times New Roman" pitchFamily="18" charset="0"/>
              </a:rPr>
              <a:t>Variation in chip thickness: </a:t>
            </a:r>
            <a:r>
              <a:rPr lang="en-US" sz="2800" dirty="0" smtClean="0">
                <a:latin typeface="Times New Roman" pitchFamily="18" charset="0"/>
                <a:cs typeface="Times New Roman" pitchFamily="18" charset="0"/>
              </a:rPr>
              <a:t>This contributes to the non-steady state cyclic conditions of varying cutting forces during the contact of the cutting edge with the chip thickness varying from zero to maximum size or vice versa. This cyclic variation of the force can excite any of the natural frequencies of the machine tool system and would be harmful to the tool life and surface finish generated.</a:t>
            </a:r>
            <a:endParaRPr lang="en-US" sz="28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normAutofit/>
          </a:bodyPr>
          <a:lstStyle/>
          <a:p>
            <a:r>
              <a:rPr lang="en-US" sz="3200" dirty="0" smtClean="0">
                <a:latin typeface="Times New Roman" pitchFamily="18" charset="0"/>
                <a:cs typeface="Times New Roman" pitchFamily="18" charset="0"/>
              </a:rPr>
              <a:t>Types of Milling Machines</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285720" y="1142984"/>
            <a:ext cx="4429156" cy="5572164"/>
          </a:xfrm>
        </p:spPr>
        <p:txBody>
          <a:bodyPr>
            <a:normAutofit/>
          </a:bodyPr>
          <a:lstStyle/>
          <a:p>
            <a:pPr marL="514350" indent="-514350">
              <a:buAutoNum type="arabicPeriod"/>
            </a:pPr>
            <a:r>
              <a:rPr lang="en-US" sz="2400" dirty="0" smtClean="0">
                <a:latin typeface="Times New Roman" pitchFamily="18" charset="0"/>
                <a:cs typeface="Times New Roman" pitchFamily="18" charset="0"/>
              </a:rPr>
              <a:t>Column and knee type </a:t>
            </a:r>
          </a:p>
          <a:p>
            <a:pPr marL="514350" indent="-514350">
              <a:buAutoNum type="alphaLcParenR"/>
            </a:pPr>
            <a:r>
              <a:rPr lang="en-US" sz="2400" dirty="0" smtClean="0">
                <a:latin typeface="Times New Roman" pitchFamily="18" charset="0"/>
                <a:cs typeface="Times New Roman" pitchFamily="18" charset="0"/>
              </a:rPr>
              <a:t>Hand milling machine </a:t>
            </a:r>
          </a:p>
          <a:p>
            <a:pPr marL="514350" indent="-514350">
              <a:buAutoNum type="alphaLcParenR"/>
            </a:pPr>
            <a:r>
              <a:rPr lang="en-US" sz="2400" dirty="0" smtClean="0">
                <a:latin typeface="Times New Roman" pitchFamily="18" charset="0"/>
                <a:cs typeface="Times New Roman" pitchFamily="18" charset="0"/>
              </a:rPr>
              <a:t>Plain or Horizontal milling machine </a:t>
            </a:r>
          </a:p>
          <a:p>
            <a:pPr marL="514350" indent="-514350">
              <a:buAutoNum type="alphaLcParenR"/>
            </a:pPr>
            <a:r>
              <a:rPr lang="en-US" sz="2400" dirty="0" smtClean="0">
                <a:latin typeface="Times New Roman" pitchFamily="18" charset="0"/>
                <a:cs typeface="Times New Roman" pitchFamily="18" charset="0"/>
              </a:rPr>
              <a:t>Vertical milling machine </a:t>
            </a:r>
          </a:p>
          <a:p>
            <a:pPr marL="514350" indent="-514350">
              <a:buAutoNum type="alphaLcParenR"/>
            </a:pPr>
            <a:r>
              <a:rPr lang="en-US" sz="2400" dirty="0" smtClean="0">
                <a:latin typeface="Times New Roman" pitchFamily="18" charset="0"/>
                <a:cs typeface="Times New Roman" pitchFamily="18" charset="0"/>
              </a:rPr>
              <a:t>Universal milling machine </a:t>
            </a:r>
          </a:p>
          <a:p>
            <a:pPr marL="514350" indent="-514350">
              <a:buNone/>
            </a:pPr>
            <a:r>
              <a:rPr lang="en-US" sz="2400" dirty="0" smtClean="0">
                <a:latin typeface="Times New Roman" pitchFamily="18" charset="0"/>
                <a:cs typeface="Times New Roman" pitchFamily="18" charset="0"/>
              </a:rPr>
              <a:t>2. Fixed- bed type milling machine </a:t>
            </a:r>
          </a:p>
          <a:p>
            <a:pPr marL="514350" indent="-514350">
              <a:buAutoNum type="alphaLcParenR"/>
            </a:pPr>
            <a:r>
              <a:rPr lang="en-US" sz="2400" dirty="0" smtClean="0">
                <a:latin typeface="Times New Roman" pitchFamily="18" charset="0"/>
                <a:cs typeface="Times New Roman" pitchFamily="18" charset="0"/>
              </a:rPr>
              <a:t>Simplex; </a:t>
            </a:r>
          </a:p>
          <a:p>
            <a:pPr marL="514350" indent="-514350">
              <a:buAutoNum type="alphaLcParenR"/>
            </a:pPr>
            <a:r>
              <a:rPr lang="en-US" sz="2400" dirty="0" smtClean="0">
                <a:latin typeface="Times New Roman" pitchFamily="18" charset="0"/>
                <a:cs typeface="Times New Roman" pitchFamily="18" charset="0"/>
              </a:rPr>
              <a:t>Duplex; </a:t>
            </a:r>
          </a:p>
          <a:p>
            <a:pPr marL="514350" indent="-514350">
              <a:buAutoNum type="alphaLcParenR"/>
            </a:pPr>
            <a:r>
              <a:rPr lang="en-US" sz="2400" dirty="0" smtClean="0"/>
              <a:t>Triplex </a:t>
            </a:r>
          </a:p>
          <a:p>
            <a:pPr marL="514350" indent="-514350">
              <a:buNone/>
            </a:pPr>
            <a:r>
              <a:rPr lang="en-US" sz="2400" dirty="0" smtClean="0"/>
              <a:t>3. Planer type machines </a:t>
            </a:r>
          </a:p>
        </p:txBody>
      </p:sp>
      <p:sp>
        <p:nvSpPr>
          <p:cNvPr id="5" name="TextBox 4"/>
          <p:cNvSpPr txBox="1"/>
          <p:nvPr/>
        </p:nvSpPr>
        <p:spPr>
          <a:xfrm>
            <a:off x="4786314" y="1285860"/>
            <a:ext cx="4143404" cy="3693319"/>
          </a:xfrm>
          <a:prstGeom prst="rect">
            <a:avLst/>
          </a:prstGeom>
          <a:noFill/>
        </p:spPr>
        <p:txBody>
          <a:bodyPr wrap="square" rtlCol="0">
            <a:spAutoFit/>
          </a:bodyPr>
          <a:lstStyle/>
          <a:p>
            <a:pPr marL="514350" indent="-514350">
              <a:buNone/>
            </a:pPr>
            <a:r>
              <a:rPr lang="en-US" sz="2400" dirty="0" smtClean="0">
                <a:latin typeface="Times New Roman" pitchFamily="18" charset="0"/>
                <a:cs typeface="Times New Roman" pitchFamily="18" charset="0"/>
              </a:rPr>
              <a:t>4. Special purpose machines </a:t>
            </a:r>
          </a:p>
          <a:p>
            <a:pPr marL="514350" indent="-514350">
              <a:buAutoNum type="alphaLcParenR"/>
            </a:pPr>
            <a:r>
              <a:rPr lang="en-US" sz="2400" dirty="0" smtClean="0">
                <a:latin typeface="Times New Roman" pitchFamily="18" charset="0"/>
                <a:cs typeface="Times New Roman" pitchFamily="18" charset="0"/>
              </a:rPr>
              <a:t>Rotary table milling machine </a:t>
            </a:r>
          </a:p>
          <a:p>
            <a:pPr marL="514350" indent="-514350">
              <a:buAutoNum type="alphaLcParenR"/>
            </a:pPr>
            <a:r>
              <a:rPr lang="en-US" sz="2400" dirty="0" smtClean="0">
                <a:latin typeface="Times New Roman" pitchFamily="18" charset="0"/>
                <a:cs typeface="Times New Roman" pitchFamily="18" charset="0"/>
              </a:rPr>
              <a:t>Planetary milling machine </a:t>
            </a:r>
          </a:p>
          <a:p>
            <a:pPr marL="514350" indent="-514350">
              <a:buAutoNum type="alphaLcParenR"/>
            </a:pPr>
            <a:r>
              <a:rPr lang="en-US" sz="2400" dirty="0" smtClean="0">
                <a:latin typeface="Times New Roman" pitchFamily="18" charset="0"/>
                <a:cs typeface="Times New Roman" pitchFamily="18" charset="0"/>
              </a:rPr>
              <a:t>Pantograph milling machine </a:t>
            </a:r>
          </a:p>
          <a:p>
            <a:pPr marL="514350" indent="-514350">
              <a:buAutoNum type="alphaLcParenR"/>
            </a:pPr>
            <a:r>
              <a:rPr lang="en-US" sz="2400" dirty="0" smtClean="0">
                <a:latin typeface="Times New Roman" pitchFamily="18" charset="0"/>
                <a:cs typeface="Times New Roman" pitchFamily="18" charset="0"/>
              </a:rPr>
              <a:t>Tracer milling machine </a:t>
            </a:r>
          </a:p>
          <a:p>
            <a:pPr marL="514350" indent="-514350">
              <a:buAutoNum type="alphaLcParenR"/>
            </a:pPr>
            <a:r>
              <a:rPr lang="en-US" sz="2400" dirty="0" smtClean="0">
                <a:latin typeface="Times New Roman" pitchFamily="18" charset="0"/>
                <a:cs typeface="Times New Roman" pitchFamily="18" charset="0"/>
              </a:rPr>
              <a:t>Profile milling machine </a:t>
            </a:r>
          </a:p>
          <a:p>
            <a:pPr marL="514350" indent="-514350">
              <a:buAutoNum type="alphaLcParenR"/>
            </a:pPr>
            <a:r>
              <a:rPr lang="en-US" sz="2400" dirty="0" smtClean="0">
                <a:latin typeface="Times New Roman" pitchFamily="18" charset="0"/>
                <a:cs typeface="Times New Roman" pitchFamily="18" charset="0"/>
              </a:rPr>
              <a:t>Drum milling machine</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928694"/>
          </a:xfrm>
        </p:spPr>
        <p:txBody>
          <a:bodyPr>
            <a:normAutofit fontScale="90000"/>
          </a:bodyPr>
          <a:lstStyle/>
          <a:p>
            <a:r>
              <a:rPr lang="en-US" sz="2800" dirty="0" smtClean="0">
                <a:latin typeface="Times New Roman" pitchFamily="18" charset="0"/>
                <a:cs typeface="Times New Roman" pitchFamily="18" charset="0"/>
              </a:rPr>
              <a:t>PARTS OF COLUMN AND KNEE TYPE MILLING MACHINE</a:t>
            </a: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a:xfrm>
            <a:off x="214282" y="1214422"/>
            <a:ext cx="8715436" cy="5286412"/>
          </a:xfrm>
        </p:spPr>
        <p:txBody>
          <a:bodyPr>
            <a:noAutofit/>
          </a:bodyPr>
          <a:lstStyle/>
          <a:p>
            <a:pPr marL="514350" indent="-514350" algn="just">
              <a:buAutoNum type="arabicPeriod"/>
            </a:pPr>
            <a:r>
              <a:rPr lang="en-US" sz="2000" dirty="0" smtClean="0">
                <a:latin typeface="Times New Roman" pitchFamily="18" charset="0"/>
                <a:cs typeface="Times New Roman" pitchFamily="18" charset="0"/>
              </a:rPr>
              <a:t>BASE  </a:t>
            </a:r>
          </a:p>
          <a:p>
            <a:pPr marL="514350" indent="-514350" algn="just"/>
            <a:r>
              <a:rPr lang="en-US" sz="2000" dirty="0" smtClean="0">
                <a:latin typeface="Times New Roman" pitchFamily="18" charset="0"/>
                <a:cs typeface="Times New Roman" pitchFamily="18" charset="0"/>
              </a:rPr>
              <a:t>Made of grey cast iron </a:t>
            </a:r>
          </a:p>
          <a:p>
            <a:pPr marL="514350" indent="-514350" algn="just"/>
            <a:r>
              <a:rPr lang="en-US" sz="2000" dirty="0" smtClean="0">
                <a:latin typeface="Times New Roman" pitchFamily="18" charset="0"/>
                <a:cs typeface="Times New Roman" pitchFamily="18" charset="0"/>
              </a:rPr>
              <a:t>Act as foundation member </a:t>
            </a:r>
          </a:p>
          <a:p>
            <a:pPr marL="514350" indent="-514350" algn="just"/>
            <a:r>
              <a:rPr lang="en-US" sz="2000" dirty="0" smtClean="0">
                <a:latin typeface="Times New Roman" pitchFamily="18" charset="0"/>
                <a:cs typeface="Times New Roman" pitchFamily="18" charset="0"/>
              </a:rPr>
              <a:t>Carries column at one end </a:t>
            </a:r>
          </a:p>
          <a:p>
            <a:pPr marL="514350" indent="-514350" algn="just"/>
            <a:r>
              <a:rPr lang="en-US" sz="2000" dirty="0" smtClean="0">
                <a:latin typeface="Times New Roman" pitchFamily="18" charset="0"/>
                <a:cs typeface="Times New Roman" pitchFamily="18" charset="0"/>
              </a:rPr>
              <a:t>Serves as a reservoir for coolants </a:t>
            </a:r>
          </a:p>
          <a:p>
            <a:pPr marL="514350" indent="-514350" algn="just">
              <a:buNone/>
            </a:pPr>
            <a:r>
              <a:rPr lang="en-US" sz="2000" dirty="0" smtClean="0">
                <a:latin typeface="Times New Roman" pitchFamily="18" charset="0"/>
                <a:cs typeface="Times New Roman" pitchFamily="18" charset="0"/>
              </a:rPr>
              <a:t>2. COLUMN </a:t>
            </a:r>
          </a:p>
          <a:p>
            <a:pPr marL="514350" indent="-514350" algn="just"/>
            <a:r>
              <a:rPr lang="en-US" sz="2000" dirty="0" smtClean="0">
                <a:latin typeface="Times New Roman" pitchFamily="18" charset="0"/>
                <a:cs typeface="Times New Roman" pitchFamily="18" charset="0"/>
              </a:rPr>
              <a:t>Main supporting frame mounted vertically on the base </a:t>
            </a:r>
          </a:p>
          <a:p>
            <a:pPr marL="514350" indent="-514350" algn="just"/>
            <a:r>
              <a:rPr lang="en-US" sz="2000" dirty="0" smtClean="0">
                <a:latin typeface="Times New Roman" pitchFamily="18" charset="0"/>
                <a:cs typeface="Times New Roman" pitchFamily="18" charset="0"/>
              </a:rPr>
              <a:t>Houses all the driving mechanism for spindle and table feed </a:t>
            </a:r>
          </a:p>
          <a:p>
            <a:pPr marL="514350" indent="-514350" algn="just"/>
            <a:r>
              <a:rPr lang="en-US" sz="2000" dirty="0" smtClean="0">
                <a:latin typeface="Times New Roman" pitchFamily="18" charset="0"/>
                <a:cs typeface="Times New Roman" pitchFamily="18" charset="0"/>
              </a:rPr>
              <a:t>Front vertical face is provided with guide ways for supporting the knee. </a:t>
            </a:r>
          </a:p>
          <a:p>
            <a:pPr marL="514350" indent="-514350" algn="just">
              <a:buNone/>
            </a:pPr>
            <a:r>
              <a:rPr lang="en-US" sz="2000" dirty="0" smtClean="0">
                <a:latin typeface="Times New Roman" pitchFamily="18" charset="0"/>
                <a:cs typeface="Times New Roman" pitchFamily="18" charset="0"/>
              </a:rPr>
              <a:t>3. KNEE </a:t>
            </a:r>
          </a:p>
          <a:p>
            <a:pPr marL="514350" indent="-514350" algn="just"/>
            <a:r>
              <a:rPr lang="en-US" sz="2000" dirty="0" smtClean="0">
                <a:latin typeface="Times New Roman" pitchFamily="18" charset="0"/>
                <a:cs typeface="Times New Roman" pitchFamily="18" charset="0"/>
              </a:rPr>
              <a:t>Portion which projects from column and is made to slide up and down </a:t>
            </a:r>
          </a:p>
          <a:p>
            <a:pPr marL="514350" indent="-514350"/>
            <a:r>
              <a:rPr lang="en-US" sz="2000" dirty="0" smtClean="0">
                <a:latin typeface="Times New Roman" pitchFamily="18" charset="0"/>
                <a:cs typeface="Times New Roman" pitchFamily="18" charset="0"/>
              </a:rPr>
              <a:t>Position of knee can be adjusted by an elevating screw provided below the knee. </a:t>
            </a:r>
            <a:endParaRPr lang="en-US" sz="20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4348" y="714356"/>
            <a:ext cx="7858180" cy="5286412"/>
          </a:xfrm>
        </p:spPr>
        <p:txBody>
          <a:bodyPr>
            <a:normAutofit/>
          </a:bodyPr>
          <a:lstStyle/>
          <a:p>
            <a:pPr algn="just">
              <a:buNone/>
            </a:pPr>
            <a:r>
              <a:rPr lang="en-US" sz="2000" dirty="0" smtClean="0">
                <a:latin typeface="Times New Roman" pitchFamily="18" charset="0"/>
                <a:cs typeface="Times New Roman" pitchFamily="18" charset="0"/>
              </a:rPr>
              <a:t>4. SADDLE </a:t>
            </a:r>
          </a:p>
          <a:p>
            <a:pPr algn="just">
              <a:buNone/>
            </a:pPr>
            <a:r>
              <a:rPr lang="en-US" sz="2000" dirty="0" smtClean="0">
                <a:latin typeface="Times New Roman" pitchFamily="18" charset="0"/>
                <a:cs typeface="Times New Roman" pitchFamily="18" charset="0"/>
              </a:rPr>
              <a:t>• Support and carries the table. </a:t>
            </a:r>
          </a:p>
          <a:p>
            <a:pPr algn="just"/>
            <a:r>
              <a:rPr lang="en-US" sz="2000" dirty="0" smtClean="0">
                <a:latin typeface="Times New Roman" pitchFamily="18" charset="0"/>
                <a:cs typeface="Times New Roman" pitchFamily="18" charset="0"/>
              </a:rPr>
              <a:t>Slides on guide ways provided on the top of the knee </a:t>
            </a:r>
          </a:p>
          <a:p>
            <a:pPr algn="just">
              <a:buNone/>
            </a:pPr>
            <a:r>
              <a:rPr lang="en-US" sz="2000" dirty="0" smtClean="0">
                <a:latin typeface="Times New Roman" pitchFamily="18" charset="0"/>
                <a:cs typeface="Times New Roman" pitchFamily="18" charset="0"/>
              </a:rPr>
              <a:t>5. TABLE </a:t>
            </a:r>
          </a:p>
          <a:p>
            <a:pPr algn="just"/>
            <a:r>
              <a:rPr lang="en-US" sz="2000" dirty="0" smtClean="0">
                <a:latin typeface="Times New Roman" pitchFamily="18" charset="0"/>
                <a:cs typeface="Times New Roman" pitchFamily="18" charset="0"/>
              </a:rPr>
              <a:t>Table rests on ways on the saddle and travels longitudinally </a:t>
            </a:r>
          </a:p>
          <a:p>
            <a:pPr algn="just"/>
            <a:r>
              <a:rPr lang="en-US" sz="2000" dirty="0" smtClean="0">
                <a:latin typeface="Times New Roman" pitchFamily="18" charset="0"/>
                <a:cs typeface="Times New Roman" pitchFamily="18" charset="0"/>
              </a:rPr>
              <a:t>Acts as a support for the work </a:t>
            </a:r>
          </a:p>
          <a:p>
            <a:pPr algn="just"/>
            <a:r>
              <a:rPr lang="en-US" sz="2000" dirty="0" smtClean="0">
                <a:latin typeface="Times New Roman" pitchFamily="18" charset="0"/>
                <a:cs typeface="Times New Roman" pitchFamily="18" charset="0"/>
              </a:rPr>
              <a:t>T- slots are provided for clamping the work and other fixtures </a:t>
            </a:r>
          </a:p>
          <a:p>
            <a:pPr algn="just"/>
            <a:r>
              <a:rPr lang="en-US" sz="2000" dirty="0" smtClean="0">
                <a:latin typeface="Times New Roman" pitchFamily="18" charset="0"/>
                <a:cs typeface="Times New Roman" pitchFamily="18" charset="0"/>
              </a:rPr>
              <a:t>A lead screw under the table is used to move the table horizontally </a:t>
            </a:r>
          </a:p>
          <a:p>
            <a:pPr algn="just"/>
            <a:r>
              <a:rPr lang="en-US" sz="2000" dirty="0" smtClean="0">
                <a:latin typeface="Times New Roman" pitchFamily="18" charset="0"/>
                <a:cs typeface="Times New Roman" pitchFamily="18" charset="0"/>
              </a:rPr>
              <a:t>In universal machines, table may swiveled horizontally on a circular base. </a:t>
            </a:r>
          </a:p>
          <a:p>
            <a:pPr algn="just">
              <a:buNone/>
            </a:pPr>
            <a:r>
              <a:rPr lang="en-US" sz="2000" dirty="0" smtClean="0">
                <a:latin typeface="Times New Roman" pitchFamily="18" charset="0"/>
                <a:cs typeface="Times New Roman" pitchFamily="18" charset="0"/>
              </a:rPr>
              <a:t>6. OVERHANGING ARM </a:t>
            </a:r>
          </a:p>
          <a:p>
            <a:pPr algn="just"/>
            <a:r>
              <a:rPr lang="en-US" sz="2000" dirty="0" smtClean="0">
                <a:latin typeface="Times New Roman" pitchFamily="18" charset="0"/>
                <a:cs typeface="Times New Roman" pitchFamily="18" charset="0"/>
              </a:rPr>
              <a:t>Mounted on the top of the column </a:t>
            </a:r>
          </a:p>
          <a:p>
            <a:pPr algn="just"/>
            <a:r>
              <a:rPr lang="en-US" sz="2000" dirty="0" smtClean="0">
                <a:latin typeface="Times New Roman" pitchFamily="18" charset="0"/>
                <a:cs typeface="Times New Roman" pitchFamily="18" charset="0"/>
              </a:rPr>
              <a:t>Serves as a bearing support for the other end of the arbor.</a:t>
            </a:r>
            <a:endParaRPr lang="en-US" sz="20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142984"/>
            <a:ext cx="8229600" cy="4525963"/>
          </a:xfrm>
        </p:spPr>
        <p:txBody>
          <a:bodyPr>
            <a:normAutofit/>
          </a:bodyPr>
          <a:lstStyle/>
          <a:p>
            <a:pPr algn="just">
              <a:buNone/>
            </a:pPr>
            <a:r>
              <a:rPr lang="en-US" sz="2000" dirty="0" smtClean="0">
                <a:latin typeface="Times New Roman" pitchFamily="18" charset="0"/>
                <a:cs typeface="Times New Roman" pitchFamily="18" charset="0"/>
              </a:rPr>
              <a:t>7. SPINDLE </a:t>
            </a:r>
          </a:p>
          <a:p>
            <a:pPr algn="just"/>
            <a:r>
              <a:rPr lang="en-US" sz="2000" dirty="0" smtClean="0">
                <a:latin typeface="Times New Roman" pitchFamily="18" charset="0"/>
                <a:cs typeface="Times New Roman" pitchFamily="18" charset="0"/>
              </a:rPr>
              <a:t>Located in the upper part of the column </a:t>
            </a:r>
          </a:p>
          <a:p>
            <a:pPr algn="just"/>
            <a:r>
              <a:rPr lang="en-US" sz="2000" dirty="0" smtClean="0">
                <a:latin typeface="Times New Roman" pitchFamily="18" charset="0"/>
                <a:cs typeface="Times New Roman" pitchFamily="18" charset="0"/>
              </a:rPr>
              <a:t>Receives power from electric motor through belts and gears </a:t>
            </a:r>
          </a:p>
          <a:p>
            <a:pPr algn="just"/>
            <a:r>
              <a:rPr lang="en-US" sz="2000" dirty="0" smtClean="0">
                <a:latin typeface="Times New Roman" pitchFamily="18" charset="0"/>
                <a:cs typeface="Times New Roman" pitchFamily="18" charset="0"/>
              </a:rPr>
              <a:t>Spindle drive arbor. </a:t>
            </a:r>
          </a:p>
          <a:p>
            <a:pPr algn="just">
              <a:buNone/>
            </a:pPr>
            <a:r>
              <a:rPr lang="en-US" sz="2000" dirty="0" smtClean="0">
                <a:latin typeface="Times New Roman" pitchFamily="18" charset="0"/>
                <a:cs typeface="Times New Roman" pitchFamily="18" charset="0"/>
              </a:rPr>
              <a:t>8. ARBOR </a:t>
            </a:r>
          </a:p>
          <a:p>
            <a:pPr algn="just"/>
            <a:r>
              <a:rPr lang="en-US" sz="2000" dirty="0" smtClean="0">
                <a:latin typeface="Times New Roman" pitchFamily="18" charset="0"/>
                <a:cs typeface="Times New Roman" pitchFamily="18" charset="0"/>
              </a:rPr>
              <a:t>Extension of spindle on which milling cutters are mounted </a:t>
            </a:r>
          </a:p>
          <a:p>
            <a:pPr algn="just"/>
            <a:r>
              <a:rPr lang="en-US" sz="2000" dirty="0" smtClean="0">
                <a:latin typeface="Times New Roman" pitchFamily="18" charset="0"/>
                <a:cs typeface="Times New Roman" pitchFamily="18" charset="0"/>
              </a:rPr>
              <a:t>Provided with taper shank that fits into machine spindle having taper hole at their nose </a:t>
            </a:r>
          </a:p>
          <a:p>
            <a:pPr algn="just"/>
            <a:r>
              <a:rPr lang="en-US" sz="2000" dirty="0" smtClean="0">
                <a:latin typeface="Times New Roman" pitchFamily="18" charset="0"/>
                <a:cs typeface="Times New Roman" pitchFamily="18" charset="0"/>
              </a:rPr>
              <a:t>Position of arbor can be adjusted with spacers </a:t>
            </a:r>
          </a:p>
          <a:p>
            <a:pPr algn="just"/>
            <a:r>
              <a:rPr lang="en-US" sz="2000" dirty="0" smtClean="0">
                <a:latin typeface="Times New Roman" pitchFamily="18" charset="0"/>
                <a:cs typeface="Times New Roman" pitchFamily="18" charset="0"/>
              </a:rPr>
              <a:t>Draw bolt is used for locking arbor with spindle </a:t>
            </a:r>
            <a:endParaRPr lang="en-US" sz="20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74638"/>
            <a:ext cx="8258204" cy="654032"/>
          </a:xfrm>
        </p:spPr>
        <p:txBody>
          <a:bodyPr>
            <a:normAutofit/>
          </a:bodyPr>
          <a:lstStyle/>
          <a:p>
            <a:r>
              <a:rPr lang="en-US" sz="3200" b="1" dirty="0" smtClean="0"/>
              <a:t>MILLING CUTTER AND ITS ELEMENTS</a:t>
            </a:r>
            <a:endParaRPr lang="en-US" sz="3200" b="1" dirty="0"/>
          </a:p>
        </p:txBody>
      </p:sp>
      <p:pic>
        <p:nvPicPr>
          <p:cNvPr id="1026" name="Picture 2"/>
          <p:cNvPicPr>
            <a:picLocks noChangeAspect="1" noChangeArrowheads="1"/>
          </p:cNvPicPr>
          <p:nvPr/>
        </p:nvPicPr>
        <p:blipFill>
          <a:blip r:embed="rId2"/>
          <a:srcRect b="6249"/>
          <a:stretch>
            <a:fillRect/>
          </a:stretch>
        </p:blipFill>
        <p:spPr bwMode="auto">
          <a:xfrm>
            <a:off x="1785918" y="1428736"/>
            <a:ext cx="5695950" cy="4857784"/>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85728"/>
            <a:ext cx="8229600" cy="725470"/>
          </a:xfrm>
        </p:spPr>
        <p:txBody>
          <a:bodyPr>
            <a:normAutofit/>
          </a:bodyPr>
          <a:lstStyle/>
          <a:p>
            <a:r>
              <a:rPr lang="en-US" sz="3600" dirty="0" smtClean="0"/>
              <a:t>INDEXING METHODS</a:t>
            </a:r>
            <a:endParaRPr lang="en-US" sz="3600" dirty="0"/>
          </a:p>
        </p:txBody>
      </p:sp>
      <p:sp>
        <p:nvSpPr>
          <p:cNvPr id="3" name="Content Placeholder 2"/>
          <p:cNvSpPr>
            <a:spLocks noGrp="1"/>
          </p:cNvSpPr>
          <p:nvPr>
            <p:ph idx="1"/>
          </p:nvPr>
        </p:nvSpPr>
        <p:spPr>
          <a:xfrm>
            <a:off x="214282" y="1643050"/>
            <a:ext cx="8715436" cy="4071966"/>
          </a:xfrm>
        </p:spPr>
        <p:txBody>
          <a:bodyPr>
            <a:normAutofit/>
          </a:bodyPr>
          <a:lstStyle/>
          <a:p>
            <a:pPr>
              <a:buNone/>
            </a:pPr>
            <a:r>
              <a:rPr lang="en-US" sz="2400" dirty="0" smtClean="0">
                <a:latin typeface="Times New Roman" pitchFamily="18" charset="0"/>
                <a:cs typeface="Times New Roman" pitchFamily="18" charset="0"/>
              </a:rPr>
              <a:t>INDEXING HEAD OR DIVIDING HEAD</a:t>
            </a:r>
          </a:p>
          <a:p>
            <a:r>
              <a:rPr lang="en-US" sz="2400" dirty="0" smtClean="0">
                <a:latin typeface="Times New Roman" pitchFamily="18" charset="0"/>
                <a:cs typeface="Times New Roman" pitchFamily="18" charset="0"/>
              </a:rPr>
              <a:t>Indexing is the operation of dividing the periphery of a work into any number of equal parts. </a:t>
            </a:r>
          </a:p>
          <a:p>
            <a:r>
              <a:rPr lang="en-US" sz="2400" dirty="0" err="1" smtClean="0">
                <a:latin typeface="Times New Roman" pitchFamily="18" charset="0"/>
                <a:cs typeface="Times New Roman" pitchFamily="18" charset="0"/>
              </a:rPr>
              <a:t>Eg</a:t>
            </a:r>
            <a:r>
              <a:rPr lang="en-US" sz="2400" dirty="0" smtClean="0">
                <a:latin typeface="Times New Roman" pitchFamily="18" charset="0"/>
                <a:cs typeface="Times New Roman" pitchFamily="18" charset="0"/>
              </a:rPr>
              <a:t>: In cutting spur gear, hexagonal and square bolt, </a:t>
            </a:r>
            <a:r>
              <a:rPr lang="en-US" sz="2400" dirty="0" err="1" smtClean="0">
                <a:latin typeface="Times New Roman" pitchFamily="18" charset="0"/>
                <a:cs typeface="Times New Roman" pitchFamily="18" charset="0"/>
              </a:rPr>
              <a:t>splines</a:t>
            </a:r>
            <a:r>
              <a:rPr lang="en-US" sz="2400" dirty="0" smtClean="0">
                <a:latin typeface="Times New Roman" pitchFamily="18" charset="0"/>
                <a:cs typeface="Times New Roman" pitchFamily="18" charset="0"/>
              </a:rPr>
              <a:t> on shaft equal spacing of teeth on the gear blank is performed by indexing </a:t>
            </a:r>
          </a:p>
          <a:p>
            <a:r>
              <a:rPr lang="en-US" sz="2400" dirty="0" smtClean="0">
                <a:latin typeface="Times New Roman" pitchFamily="18" charset="0"/>
                <a:cs typeface="Times New Roman" pitchFamily="18" charset="0"/>
              </a:rPr>
              <a:t>Indexing is accomplished by using a special attachment known as dividing head or index head</a:t>
            </a:r>
            <a:endParaRPr lang="en-US" sz="24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DIVIDING HEAD</a:t>
            </a:r>
            <a:endParaRPr lang="en-US" dirty="0"/>
          </a:p>
        </p:txBody>
      </p:sp>
      <p:sp>
        <p:nvSpPr>
          <p:cNvPr id="3" name="Content Placeholder 2"/>
          <p:cNvSpPr>
            <a:spLocks noGrp="1"/>
          </p:cNvSpPr>
          <p:nvPr>
            <p:ph idx="1"/>
          </p:nvPr>
        </p:nvSpPr>
        <p:spPr>
          <a:xfrm>
            <a:off x="457200" y="1422354"/>
            <a:ext cx="8229600" cy="4925144"/>
          </a:xfrm>
        </p:spPr>
        <p:txBody>
          <a:bodyPr>
            <a:normAutofit/>
          </a:bodyPr>
          <a:lstStyle/>
          <a:p>
            <a:r>
              <a:rPr lang="en-US" sz="2000" dirty="0"/>
              <a:t>Dividing head is one of the most important attachments with the milling machine and it is almost indispensable</a:t>
            </a:r>
            <a:r>
              <a:rPr lang="en-US" sz="2000" dirty="0" smtClean="0"/>
              <a:t>.</a:t>
            </a:r>
          </a:p>
          <a:p>
            <a:r>
              <a:rPr lang="en-US" sz="2000" dirty="0"/>
              <a:t>The main spindle of the </a:t>
            </a:r>
            <a:r>
              <a:rPr lang="en-US" sz="2000" dirty="0" smtClean="0"/>
              <a:t>dividing head </a:t>
            </a:r>
            <a:r>
              <a:rPr lang="en-US" sz="2000" dirty="0"/>
              <a:t>drives the work piece by means of a 3-jaw universal chuck or a dog and live </a:t>
            </a:r>
            <a:r>
              <a:rPr lang="en-US" sz="2000" dirty="0" err="1"/>
              <a:t>centre</a:t>
            </a:r>
            <a:r>
              <a:rPr lang="en-US" sz="2000" dirty="0"/>
              <a:t> similar to a </a:t>
            </a:r>
            <a:r>
              <a:rPr lang="en-US" sz="2000" dirty="0" smtClean="0"/>
              <a:t>lathe</a:t>
            </a:r>
          </a:p>
          <a:p>
            <a:r>
              <a:rPr lang="en-US" sz="2000" dirty="0"/>
              <a:t>The index plate of a dividing head consists of a number of holes with a crank and pin. </a:t>
            </a:r>
            <a:endParaRPr lang="en-US" sz="2000" dirty="0" smtClean="0"/>
          </a:p>
          <a:p>
            <a:r>
              <a:rPr lang="en-US" sz="2000" dirty="0" smtClean="0"/>
              <a:t>The </a:t>
            </a:r>
            <a:r>
              <a:rPr lang="en-US" sz="2000" dirty="0"/>
              <a:t>index </a:t>
            </a:r>
            <a:r>
              <a:rPr lang="en-US" sz="2000" dirty="0" smtClean="0"/>
              <a:t>crank drives </a:t>
            </a:r>
            <a:r>
              <a:rPr lang="en-US" sz="2000" dirty="0"/>
              <a:t>the spindle and the live </a:t>
            </a:r>
            <a:r>
              <a:rPr lang="en-US" sz="2000" dirty="0" err="1"/>
              <a:t>centre</a:t>
            </a:r>
            <a:r>
              <a:rPr lang="en-US" sz="2000" dirty="0"/>
              <a:t> through a worm gear, which generally has 40 </a:t>
            </a:r>
            <a:r>
              <a:rPr lang="en-US" sz="2000" dirty="0" smtClean="0"/>
              <a:t>teeth</a:t>
            </a:r>
          </a:p>
          <a:p>
            <a:r>
              <a:rPr lang="en-US" sz="2000" dirty="0"/>
              <a:t>a full rotation of the work piece is produced by 40 full revolutions of the index crank. </a:t>
            </a:r>
            <a:endParaRPr lang="en-US" sz="2000" dirty="0" smtClean="0"/>
          </a:p>
          <a:p>
            <a:r>
              <a:rPr lang="en-US" sz="2000" dirty="0" smtClean="0"/>
              <a:t>Further indexing </a:t>
            </a:r>
            <a:r>
              <a:rPr lang="en-US" sz="2000" dirty="0"/>
              <a:t>is made possible by having the index plates with </a:t>
            </a:r>
            <a:r>
              <a:rPr lang="en-US" sz="2000" dirty="0" err="1"/>
              <a:t>equi</a:t>
            </a:r>
            <a:r>
              <a:rPr lang="en-US" sz="2000" dirty="0"/>
              <a:t>-spaced holes around various circles. </a:t>
            </a:r>
            <a:endParaRPr lang="en-US" sz="2000" dirty="0" smtClean="0"/>
          </a:p>
          <a:p>
            <a:r>
              <a:rPr lang="en-US" sz="2000" dirty="0" smtClean="0"/>
              <a:t>This would </a:t>
            </a:r>
            <a:r>
              <a:rPr lang="en-US" sz="2000" dirty="0"/>
              <a:t>allow for indexing the periphery of the work piece to any convenient number of divisions.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63688" y="188640"/>
            <a:ext cx="5760640" cy="3553473"/>
          </a:xfrm>
          <a:prstGeom prst="rect">
            <a:avLst/>
          </a:prstGeom>
        </p:spPr>
      </p:pic>
      <p:pic>
        <p:nvPicPr>
          <p:cNvPr id="5" name="Picture 4"/>
          <p:cNvPicPr>
            <a:picLocks noChangeAspect="1"/>
          </p:cNvPicPr>
          <p:nvPr/>
        </p:nvPicPr>
        <p:blipFill rotWithShape="1">
          <a:blip r:embed="rId3"/>
          <a:srcRect t="4749"/>
          <a:stretch/>
        </p:blipFill>
        <p:spPr>
          <a:xfrm>
            <a:off x="4411996" y="3857002"/>
            <a:ext cx="3096344" cy="2996952"/>
          </a:xfrm>
          <a:prstGeom prst="rect">
            <a:avLst/>
          </a:prstGeom>
        </p:spPr>
      </p:pic>
      <p:sp>
        <p:nvSpPr>
          <p:cNvPr id="6" name="TextBox 5"/>
          <p:cNvSpPr txBox="1"/>
          <p:nvPr/>
        </p:nvSpPr>
        <p:spPr>
          <a:xfrm>
            <a:off x="971600" y="5032312"/>
            <a:ext cx="3312368" cy="646331"/>
          </a:xfrm>
          <a:prstGeom prst="rect">
            <a:avLst/>
          </a:prstGeom>
          <a:noFill/>
        </p:spPr>
        <p:txBody>
          <a:bodyPr wrap="square" rtlCol="0">
            <a:spAutoFit/>
          </a:bodyPr>
          <a:lstStyle/>
          <a:p>
            <a:r>
              <a:rPr lang="en-US" dirty="0" smtClean="0"/>
              <a:t>BROWN AND SHARP DIVIDING HEAD</a:t>
            </a:r>
            <a:endParaRPr lang="en-US" dirty="0"/>
          </a:p>
        </p:txBody>
      </p:sp>
    </p:spTree>
    <p:extLst>
      <p:ext uri="{BB962C8B-B14F-4D97-AF65-F5344CB8AC3E}">
        <p14:creationId xmlns:p14="http://schemas.microsoft.com/office/powerpoint/2010/main" val="3338362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US" sz="3200" dirty="0" smtClean="0"/>
              <a:t>SIMPLE OR PLAIN INDEXING</a:t>
            </a:r>
            <a:endParaRPr lang="en-US" sz="3200" dirty="0"/>
          </a:p>
        </p:txBody>
      </p:sp>
      <p:sp>
        <p:nvSpPr>
          <p:cNvPr id="3" name="Content Placeholder 2"/>
          <p:cNvSpPr>
            <a:spLocks noGrp="1"/>
          </p:cNvSpPr>
          <p:nvPr>
            <p:ph idx="1"/>
          </p:nvPr>
        </p:nvSpPr>
        <p:spPr>
          <a:xfrm>
            <a:off x="323528" y="1196752"/>
            <a:ext cx="8496944" cy="5400600"/>
          </a:xfrm>
        </p:spPr>
        <p:txBody>
          <a:bodyPr>
            <a:normAutofit/>
          </a:bodyPr>
          <a:lstStyle/>
          <a:p>
            <a:r>
              <a:rPr lang="en-US" sz="2600" dirty="0" smtClean="0">
                <a:latin typeface="Times New Roman" panose="02020603050405020304" pitchFamily="18" charset="0"/>
                <a:cs typeface="Times New Roman" panose="02020603050405020304" pitchFamily="18" charset="0"/>
              </a:rPr>
              <a:t>Universal </a:t>
            </a:r>
            <a:r>
              <a:rPr lang="en-US" sz="2600" dirty="0">
                <a:latin typeface="Times New Roman" panose="02020603050405020304" pitchFamily="18" charset="0"/>
                <a:cs typeface="Times New Roman" panose="02020603050405020304" pitchFamily="18" charset="0"/>
              </a:rPr>
              <a:t>Dividing Head is used for this </a:t>
            </a:r>
          </a:p>
          <a:p>
            <a:r>
              <a:rPr lang="en-US" sz="2600" dirty="0" smtClean="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Indexing plate should be locked with the body </a:t>
            </a:r>
          </a:p>
          <a:p>
            <a:r>
              <a:rPr lang="en-US" sz="2600" dirty="0" smtClean="0">
                <a:latin typeface="Times New Roman" panose="02020603050405020304" pitchFamily="18" charset="0"/>
                <a:cs typeface="Times New Roman" panose="02020603050405020304" pitchFamily="18" charset="0"/>
              </a:rPr>
              <a:t>Worm </a:t>
            </a:r>
            <a:r>
              <a:rPr lang="en-US" sz="2600" dirty="0">
                <a:latin typeface="Times New Roman" panose="02020603050405020304" pitchFamily="18" charset="0"/>
                <a:cs typeface="Times New Roman" panose="02020603050405020304" pitchFamily="18" charset="0"/>
              </a:rPr>
              <a:t>and worm gear is to be engaged </a:t>
            </a:r>
          </a:p>
          <a:p>
            <a:r>
              <a:rPr lang="en-US" sz="2600" dirty="0" smtClean="0">
                <a:latin typeface="Times New Roman" panose="02020603050405020304" pitchFamily="18" charset="0"/>
                <a:cs typeface="Times New Roman" panose="02020603050405020304" pitchFamily="18" charset="0"/>
              </a:rPr>
              <a:t>To </a:t>
            </a:r>
            <a:r>
              <a:rPr lang="en-US" sz="2600" dirty="0">
                <a:latin typeface="Times New Roman" panose="02020603050405020304" pitchFamily="18" charset="0"/>
                <a:cs typeface="Times New Roman" panose="02020603050405020304" pitchFamily="18" charset="0"/>
              </a:rPr>
              <a:t>index the work ,the index crank pin is withdrawn from the hole of the index plate, turn the index crank through calculated number of whole revolutions and holes on one of the hole circles </a:t>
            </a:r>
          </a:p>
          <a:p>
            <a:r>
              <a:rPr lang="en-US" sz="2600" dirty="0" smtClean="0">
                <a:latin typeface="Times New Roman" panose="02020603050405020304" pitchFamily="18" charset="0"/>
                <a:cs typeface="Times New Roman" panose="02020603050405020304" pitchFamily="18" charset="0"/>
              </a:rPr>
              <a:t>After </a:t>
            </a:r>
            <a:r>
              <a:rPr lang="en-US" sz="2600" dirty="0">
                <a:latin typeface="Times New Roman" panose="02020603050405020304" pitchFamily="18" charset="0"/>
                <a:cs typeface="Times New Roman" panose="02020603050405020304" pitchFamily="18" charset="0"/>
              </a:rPr>
              <a:t>required position is reached it is again locked by crank pin </a:t>
            </a:r>
          </a:p>
          <a:p>
            <a:r>
              <a:rPr lang="en-US" sz="2600" dirty="0" smtClean="0">
                <a:latin typeface="Times New Roman" panose="02020603050405020304" pitchFamily="18" charset="0"/>
                <a:cs typeface="Times New Roman" panose="02020603050405020304" pitchFamily="18" charset="0"/>
              </a:rPr>
              <a:t>40 </a:t>
            </a:r>
            <a:r>
              <a:rPr lang="en-US" sz="2600" dirty="0">
                <a:latin typeface="Times New Roman" panose="02020603050405020304" pitchFamily="18" charset="0"/>
                <a:cs typeface="Times New Roman" panose="02020603050405020304" pitchFamily="18" charset="0"/>
              </a:rPr>
              <a:t>turns of indexing crank = 1 revolution of index head spindle </a:t>
            </a:r>
          </a:p>
          <a:p>
            <a:r>
              <a:rPr lang="en-US" sz="2600" dirty="0" smtClean="0">
                <a:latin typeface="Times New Roman" panose="02020603050405020304" pitchFamily="18" charset="0"/>
                <a:cs typeface="Times New Roman" panose="02020603050405020304" pitchFamily="18" charset="0"/>
              </a:rPr>
              <a:t>Index </a:t>
            </a:r>
            <a:r>
              <a:rPr lang="en-US" sz="2600" dirty="0">
                <a:latin typeface="Times New Roman" panose="02020603050405020304" pitchFamily="18" charset="0"/>
                <a:cs typeface="Times New Roman" panose="02020603050405020304" pitchFamily="18" charset="0"/>
              </a:rPr>
              <a:t>plates with concentric circles of holes are used: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913252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404664"/>
            <a:ext cx="8424936" cy="6264696"/>
          </a:xfrm>
        </p:spPr>
        <p:txBody>
          <a:bodyPr>
            <a:normAutofit lnSpcReduction="10000"/>
          </a:bodyPr>
          <a:lstStyle/>
          <a:p>
            <a:pPr marL="0" indent="0" algn="just">
              <a:buNone/>
            </a:pPr>
            <a:r>
              <a:rPr lang="nb-NO" sz="2400" dirty="0">
                <a:latin typeface="Times New Roman" panose="02020603050405020304" pitchFamily="18" charset="0"/>
                <a:cs typeface="Times New Roman" panose="02020603050405020304" pitchFamily="18" charset="0"/>
              </a:rPr>
              <a:t>Plate: 1 - 15, 16, 17, 18, 19, 20 </a:t>
            </a:r>
          </a:p>
          <a:p>
            <a:pPr marL="0" indent="0" algn="just">
              <a:buNone/>
            </a:pPr>
            <a:r>
              <a:rPr lang="nb-NO" sz="2400" dirty="0">
                <a:latin typeface="Times New Roman" panose="02020603050405020304" pitchFamily="18" charset="0"/>
                <a:cs typeface="Times New Roman" panose="02020603050405020304" pitchFamily="18" charset="0"/>
              </a:rPr>
              <a:t>Plate: 2 - 21, 23, 27, 29, 31, 33 </a:t>
            </a:r>
          </a:p>
          <a:p>
            <a:pPr marL="0" indent="0" algn="just">
              <a:buNone/>
            </a:pPr>
            <a:r>
              <a:rPr lang="nb-NO" sz="2400" dirty="0">
                <a:latin typeface="Times New Roman" panose="02020603050405020304" pitchFamily="18" charset="0"/>
                <a:cs typeface="Times New Roman" panose="02020603050405020304" pitchFamily="18" charset="0"/>
              </a:rPr>
              <a:t>Plate: 3 – 37, 39, 41, 43, 47, 49 </a:t>
            </a:r>
          </a:p>
          <a:p>
            <a:pPr algn="just"/>
            <a:r>
              <a:rPr lang="en-US" sz="2400" dirty="0" smtClean="0">
                <a:latin typeface="Times New Roman" panose="02020603050405020304" pitchFamily="18" charset="0"/>
                <a:cs typeface="Times New Roman" panose="02020603050405020304" pitchFamily="18" charset="0"/>
              </a:rPr>
              <a:t>Index </a:t>
            </a:r>
            <a:r>
              <a:rPr lang="en-US" sz="2400" dirty="0">
                <a:latin typeface="Times New Roman" panose="02020603050405020304" pitchFamily="18" charset="0"/>
                <a:cs typeface="Times New Roman" panose="02020603050405020304" pitchFamily="18" charset="0"/>
              </a:rPr>
              <a:t>crank movement = 40/N (N = number of divisions required) </a:t>
            </a:r>
          </a:p>
          <a:p>
            <a:pPr algn="just"/>
            <a:r>
              <a:rPr lang="en-US" sz="2400" dirty="0" smtClean="0">
                <a:latin typeface="Times New Roman" panose="02020603050405020304" pitchFamily="18" charset="0"/>
                <a:cs typeface="Times New Roman" panose="02020603050405020304" pitchFamily="18" charset="0"/>
              </a:rPr>
              <a:t>If </a:t>
            </a:r>
            <a:r>
              <a:rPr lang="en-US" sz="2400" dirty="0">
                <a:latin typeface="Times New Roman" panose="02020603050405020304" pitchFamily="18" charset="0"/>
                <a:cs typeface="Times New Roman" panose="02020603050405020304" pitchFamily="18" charset="0"/>
              </a:rPr>
              <a:t>the index crank movement deducted from above formula is a whole no. then the index crank should be rotated through a complete no. of turns equal to derived whole no. </a:t>
            </a:r>
          </a:p>
          <a:p>
            <a:pPr algn="just"/>
            <a:r>
              <a:rPr lang="en-US" sz="2400" dirty="0" smtClean="0">
                <a:latin typeface="Times New Roman" panose="02020603050405020304" pitchFamily="18" charset="0"/>
                <a:cs typeface="Times New Roman" panose="02020603050405020304" pitchFamily="18" charset="0"/>
              </a:rPr>
              <a:t>Suppose </a:t>
            </a:r>
            <a:r>
              <a:rPr lang="en-US" sz="2400" dirty="0">
                <a:latin typeface="Times New Roman" panose="02020603050405020304" pitchFamily="18" charset="0"/>
                <a:cs typeface="Times New Roman" panose="02020603050405020304" pitchFamily="18" charset="0"/>
              </a:rPr>
              <a:t>it is desired to mill a gear with 8 equally spaced teeth. l/8 </a:t>
            </a:r>
            <a:r>
              <a:rPr lang="en-US" sz="2400" dirty="0" err="1">
                <a:latin typeface="Times New Roman" panose="02020603050405020304" pitchFamily="18" charset="0"/>
                <a:cs typeface="Times New Roman" panose="02020603050405020304" pitchFamily="18" charset="0"/>
              </a:rPr>
              <a:t>th</a:t>
            </a:r>
            <a:r>
              <a:rPr lang="en-US" sz="2400" dirty="0">
                <a:latin typeface="Times New Roman" panose="02020603050405020304" pitchFamily="18" charset="0"/>
                <a:cs typeface="Times New Roman" panose="02020603050405020304" pitchFamily="18" charset="0"/>
              </a:rPr>
              <a:t> of 40 or 5 turns will produce correct spacing. </a:t>
            </a:r>
          </a:p>
          <a:p>
            <a:pPr algn="just"/>
            <a:r>
              <a:rPr lang="en-US" sz="2400" dirty="0" smtClean="0">
                <a:latin typeface="Times New Roman" panose="02020603050405020304" pitchFamily="18" charset="0"/>
                <a:cs typeface="Times New Roman" panose="02020603050405020304" pitchFamily="18" charset="0"/>
              </a:rPr>
              <a:t>i.e</a:t>
            </a:r>
            <a:r>
              <a:rPr lang="en-US" sz="2400" dirty="0">
                <a:latin typeface="Times New Roman" panose="02020603050405020304" pitchFamily="18" charset="0"/>
                <a:cs typeface="Times New Roman" panose="02020603050405020304" pitchFamily="18" charset="0"/>
              </a:rPr>
              <a:t>. after each milling operation we will rotate the index crank by 5 turns until work is completed. </a:t>
            </a:r>
          </a:p>
          <a:p>
            <a:pPr algn="just"/>
            <a:r>
              <a:rPr lang="en-US" sz="2400" dirty="0" smtClean="0">
                <a:latin typeface="Times New Roman" panose="02020603050405020304" pitchFamily="18" charset="0"/>
                <a:cs typeface="Times New Roman" panose="02020603050405020304" pitchFamily="18" charset="0"/>
              </a:rPr>
              <a:t>If </a:t>
            </a:r>
            <a:r>
              <a:rPr lang="en-US" sz="2400" dirty="0">
                <a:latin typeface="Times New Roman" panose="02020603050405020304" pitchFamily="18" charset="0"/>
                <a:cs typeface="Times New Roman" panose="02020603050405020304" pitchFamily="18" charset="0"/>
              </a:rPr>
              <a:t>index crank movement calculated from above formula is a whole no. and fraction, the numerator and denominator are multiplied by a suitable common no. so that the denominator will turn to a number equal to no. of holes available on any of the index plate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181571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412776"/>
            <a:ext cx="8424936" cy="4104456"/>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new numerator now stands for the no. of holes to be moved by the index crank in the selected whole circle in addition to complete turns of index crank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For </a:t>
            </a:r>
            <a:r>
              <a:rPr lang="en-US" sz="2400" dirty="0">
                <a:latin typeface="Times New Roman" panose="02020603050405020304" pitchFamily="18" charset="0"/>
                <a:cs typeface="Times New Roman" panose="02020603050405020304" pitchFamily="18" charset="0"/>
              </a:rPr>
              <a:t>cutting 16 teeth, 40/16 = 2 turns. i.e. for each indexing we need two complete rotations of the crank plus 8 more holes on the 16 hole circle of plate 1(Plate I - 15, 16, 17, 18, 19, 20 holes) </a:t>
            </a:r>
          </a:p>
          <a:p>
            <a:pPr algn="just"/>
            <a:r>
              <a:rPr lang="en-US" sz="2400" dirty="0" smtClean="0">
                <a:latin typeface="Times New Roman" panose="02020603050405020304" pitchFamily="18" charset="0"/>
                <a:cs typeface="Times New Roman" panose="02020603050405020304" pitchFamily="18" charset="0"/>
              </a:rPr>
              <a:t>For </a:t>
            </a:r>
            <a:r>
              <a:rPr lang="en-US" sz="2400" dirty="0">
                <a:latin typeface="Times New Roman" panose="02020603050405020304" pitchFamily="18" charset="0"/>
                <a:cs typeface="Times New Roman" panose="02020603050405020304" pitchFamily="18" charset="0"/>
              </a:rPr>
              <a:t>cutting 30 teeth, 40/30 = 1 + 1/3 = 1 + 7/21 (One complete turn of indexing crank and 7 holes in 21 hole circle of the index plate 2) </a:t>
            </a:r>
          </a:p>
          <a:p>
            <a:endParaRPr lang="en-US" dirty="0"/>
          </a:p>
          <a:p>
            <a:endParaRPr lang="en-US" dirty="0"/>
          </a:p>
          <a:p>
            <a:pPr marL="0" indent="0">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138586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Autofit/>
          </a:bodyPr>
          <a:lstStyle/>
          <a:p>
            <a:r>
              <a:rPr lang="en-US" sz="3200" dirty="0" smtClean="0"/>
              <a:t>COMPOUND INDEXING</a:t>
            </a:r>
            <a:endParaRPr lang="en-US" sz="32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980728"/>
                <a:ext cx="8363272" cy="5616624"/>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However when the available capacity </a:t>
                </a:r>
                <a:r>
                  <a:rPr lang="en-US" sz="2400" dirty="0">
                    <a:latin typeface="Times New Roman" panose="02020603050405020304" pitchFamily="18" charset="0"/>
                    <a:cs typeface="Times New Roman" panose="02020603050405020304" pitchFamily="18" charset="0"/>
                  </a:rPr>
                  <a:t>of the index plates is not </a:t>
                </a:r>
                <a:r>
                  <a:rPr lang="en-US" sz="2400" dirty="0" smtClean="0">
                    <a:latin typeface="Times New Roman" panose="02020603050405020304" pitchFamily="18" charset="0"/>
                    <a:cs typeface="Times New Roman" panose="02020603050405020304" pitchFamily="18" charset="0"/>
                  </a:rPr>
                  <a:t>sufficient to </a:t>
                </a:r>
                <a:r>
                  <a:rPr lang="en-US" sz="2400" dirty="0">
                    <a:latin typeface="Times New Roman" panose="02020603050405020304" pitchFamily="18" charset="0"/>
                    <a:cs typeface="Times New Roman" panose="02020603050405020304" pitchFamily="18" charset="0"/>
                  </a:rPr>
                  <a:t>do a given indexing job, the compound </a:t>
                </a:r>
                <a:r>
                  <a:rPr lang="en-US" sz="2400" dirty="0" smtClean="0">
                    <a:latin typeface="Times New Roman" panose="02020603050405020304" pitchFamily="18" charset="0"/>
                    <a:cs typeface="Times New Roman" panose="02020603050405020304" pitchFamily="18" charset="0"/>
                  </a:rPr>
                  <a:t>indexing method </a:t>
                </a:r>
                <a:r>
                  <a:rPr lang="en-US" sz="2400" dirty="0">
                    <a:latin typeface="Times New Roman" panose="02020603050405020304" pitchFamily="18" charset="0"/>
                    <a:cs typeface="Times New Roman" panose="02020603050405020304" pitchFamily="18" charset="0"/>
                  </a:rPr>
                  <a:t>could be used. In order to obtain </a:t>
                </a:r>
                <a:r>
                  <a:rPr lang="en-US" sz="2400" dirty="0" smtClean="0">
                    <a:latin typeface="Times New Roman" panose="02020603050405020304" pitchFamily="18" charset="0"/>
                    <a:cs typeface="Times New Roman" panose="02020603050405020304" pitchFamily="18" charset="0"/>
                  </a:rPr>
                  <a:t>more complex </a:t>
                </a:r>
                <a:r>
                  <a:rPr lang="en-US" sz="2400" dirty="0">
                    <a:latin typeface="Times New Roman" panose="02020603050405020304" pitchFamily="18" charset="0"/>
                    <a:cs typeface="Times New Roman" panose="02020603050405020304" pitchFamily="18" charset="0"/>
                  </a:rPr>
                  <a:t>indexing the following method is </a:t>
                </a:r>
                <a:r>
                  <a:rPr lang="en-US" sz="2400" dirty="0" smtClean="0">
                    <a:latin typeface="Times New Roman" panose="02020603050405020304" pitchFamily="18" charset="0"/>
                    <a:cs typeface="Times New Roman" panose="02020603050405020304" pitchFamily="18" charset="0"/>
                  </a:rPr>
                  <a:t>used. First </a:t>
                </a:r>
                <a:r>
                  <a:rPr lang="en-US" sz="2400" dirty="0">
                    <a:latin typeface="Times New Roman" panose="02020603050405020304" pitchFamily="18" charset="0"/>
                    <a:cs typeface="Times New Roman" panose="02020603050405020304" pitchFamily="18" charset="0"/>
                  </a:rPr>
                  <a:t>the crank is moved in the usual fashion in </a:t>
                </a:r>
                <a:r>
                  <a:rPr lang="en-US" sz="2400" dirty="0" smtClean="0">
                    <a:latin typeface="Times New Roman" panose="02020603050405020304" pitchFamily="18" charset="0"/>
                    <a:cs typeface="Times New Roman" panose="02020603050405020304" pitchFamily="18" charset="0"/>
                  </a:rPr>
                  <a:t>the forward </a:t>
                </a:r>
                <a:r>
                  <a:rPr lang="en-US" sz="2400" dirty="0">
                    <a:latin typeface="Times New Roman" panose="02020603050405020304" pitchFamily="18" charset="0"/>
                    <a:cs typeface="Times New Roman" panose="02020603050405020304" pitchFamily="18" charset="0"/>
                  </a:rPr>
                  <a:t>direction. Then a further motion is </a:t>
                </a:r>
                <a:r>
                  <a:rPr lang="en-US" sz="2400" dirty="0" smtClean="0">
                    <a:latin typeface="Times New Roman" panose="02020603050405020304" pitchFamily="18" charset="0"/>
                    <a:cs typeface="Times New Roman" panose="02020603050405020304" pitchFamily="18" charset="0"/>
                  </a:rPr>
                  <a:t>added or </a:t>
                </a:r>
                <a:r>
                  <a:rPr lang="en-US" sz="2400" dirty="0">
                    <a:latin typeface="Times New Roman" panose="02020603050405020304" pitchFamily="18" charset="0"/>
                    <a:cs typeface="Times New Roman" panose="02020603050405020304" pitchFamily="18" charset="0"/>
                  </a:rPr>
                  <a:t>subtracted by rotating the index plate after </a:t>
                </a:r>
                <a:r>
                  <a:rPr lang="en-US" sz="2400" dirty="0" smtClean="0">
                    <a:latin typeface="Times New Roman" panose="02020603050405020304" pitchFamily="18" charset="0"/>
                    <a:cs typeface="Times New Roman" panose="02020603050405020304" pitchFamily="18" charset="0"/>
                  </a:rPr>
                  <a:t>locking the </a:t>
                </a:r>
                <a:r>
                  <a:rPr lang="en-US" sz="2400" dirty="0">
                    <a:latin typeface="Times New Roman" panose="02020603050405020304" pitchFamily="18" charset="0"/>
                    <a:cs typeface="Times New Roman" panose="02020603050405020304" pitchFamily="18" charset="0"/>
                  </a:rPr>
                  <a:t>plate with the plunger. This is termed </a:t>
                </a:r>
                <a:r>
                  <a:rPr lang="en-US" sz="2400" dirty="0" smtClean="0">
                    <a:latin typeface="Times New Roman" panose="02020603050405020304" pitchFamily="18" charset="0"/>
                    <a:cs typeface="Times New Roman" panose="02020603050405020304" pitchFamily="18" charset="0"/>
                  </a:rPr>
                  <a:t>as compound </a:t>
                </a:r>
                <a:r>
                  <a:rPr lang="en-US" sz="2400" dirty="0">
                    <a:latin typeface="Times New Roman" panose="02020603050405020304" pitchFamily="18" charset="0"/>
                    <a:cs typeface="Times New Roman" panose="02020603050405020304" pitchFamily="18" charset="0"/>
                  </a:rPr>
                  <a:t>indexing</a:t>
                </a:r>
                <a:r>
                  <a:rPr lang="en-US" sz="2400" dirty="0" smtClean="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For example, if the indexing is done by </a:t>
                </a:r>
                <a:r>
                  <a:rPr lang="en-US" sz="2400" dirty="0" smtClean="0">
                    <a:latin typeface="Times New Roman" panose="02020603050405020304" pitchFamily="18" charset="0"/>
                    <a:cs typeface="Times New Roman" panose="02020603050405020304" pitchFamily="18" charset="0"/>
                  </a:rPr>
                  <a:t>moving the </a:t>
                </a:r>
                <a:r>
                  <a:rPr lang="en-US" sz="2400" dirty="0">
                    <a:latin typeface="Times New Roman" panose="02020603050405020304" pitchFamily="18" charset="0"/>
                    <a:cs typeface="Times New Roman" panose="02020603050405020304" pitchFamily="18" charset="0"/>
                  </a:rPr>
                  <a:t>crank by 5 holes in the 20 hole circle and </a:t>
                </a:r>
                <a:r>
                  <a:rPr lang="en-US" sz="2400" dirty="0" smtClean="0">
                    <a:latin typeface="Times New Roman" panose="02020603050405020304" pitchFamily="18" charset="0"/>
                    <a:cs typeface="Times New Roman" panose="02020603050405020304" pitchFamily="18" charset="0"/>
                  </a:rPr>
                  <a:t>then the </a:t>
                </a:r>
                <a:r>
                  <a:rPr lang="en-US" sz="2400" dirty="0">
                    <a:latin typeface="Times New Roman" panose="02020603050405020304" pitchFamily="18" charset="0"/>
                    <a:cs typeface="Times New Roman" panose="02020603050405020304" pitchFamily="18" charset="0"/>
                  </a:rPr>
                  <a:t>index plate together with the crank is </a:t>
                </a:r>
                <a:r>
                  <a:rPr lang="en-US" sz="2400" dirty="0" smtClean="0">
                    <a:latin typeface="Times New Roman" panose="02020603050405020304" pitchFamily="18" charset="0"/>
                    <a:cs typeface="Times New Roman" panose="02020603050405020304" pitchFamily="18" charset="0"/>
                  </a:rPr>
                  <a:t>indexed back </a:t>
                </a:r>
                <a:r>
                  <a:rPr lang="en-US" sz="2400" dirty="0">
                    <a:latin typeface="Times New Roman" panose="02020603050405020304" pitchFamily="18" charset="0"/>
                    <a:cs typeface="Times New Roman" panose="02020603050405020304" pitchFamily="18" charset="0"/>
                  </a:rPr>
                  <a:t>by a hole with the locking plunger </a:t>
                </a:r>
                <a:r>
                  <a:rPr lang="en-US" sz="2400" dirty="0" smtClean="0">
                    <a:latin typeface="Times New Roman" panose="02020603050405020304" pitchFamily="18" charset="0"/>
                    <a:cs typeface="Times New Roman" panose="02020603050405020304" pitchFamily="18" charset="0"/>
                  </a:rPr>
                  <a:t>registering in </a:t>
                </a:r>
                <a:r>
                  <a:rPr lang="en-US" sz="2400" dirty="0">
                    <a:latin typeface="Times New Roman" panose="02020603050405020304" pitchFamily="18" charset="0"/>
                    <a:cs typeface="Times New Roman" panose="02020603050405020304" pitchFamily="18" charset="0"/>
                  </a:rPr>
                  <a:t>a 15 hole </a:t>
                </a:r>
                <a:r>
                  <a:rPr lang="en-US" sz="2400" dirty="0" smtClean="0">
                    <a:latin typeface="Times New Roman" panose="02020603050405020304" pitchFamily="18" charset="0"/>
                    <a:cs typeface="Times New Roman" panose="02020603050405020304" pitchFamily="18" charset="0"/>
                  </a:rPr>
                  <a:t>circle</a:t>
                </a:r>
              </a:p>
              <a:p>
                <a:pPr algn="just"/>
                <a:r>
                  <a:rPr lang="en-US" sz="2400" dirty="0">
                    <a:latin typeface="Times New Roman" panose="02020603050405020304" pitchFamily="18" charset="0"/>
                    <a:cs typeface="Times New Roman" panose="02020603050405020304" pitchFamily="18" charset="0"/>
                  </a:rPr>
                  <a:t>The total indexing done is </a:t>
                </a:r>
                <a:r>
                  <a:rPr lang="en-US" sz="2400" dirty="0" smtClean="0">
                    <a:latin typeface="Times New Roman" panose="02020603050405020304" pitchFamily="18" charset="0"/>
                    <a:cs typeface="Times New Roman" panose="02020603050405020304" pitchFamily="18" charset="0"/>
                  </a:rPr>
                  <a:t>then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5</m:t>
                        </m:r>
                      </m:num>
                      <m:den>
                        <m:r>
                          <a:rPr lang="en-US" sz="2400" b="0" i="1" smtClean="0">
                            <a:latin typeface="Cambria Math" panose="02040503050406030204" pitchFamily="18" charset="0"/>
                          </a:rPr>
                          <m:t>20</m:t>
                        </m:r>
                      </m:den>
                    </m:f>
                    <m:r>
                      <a:rPr lang="en-US" sz="2400" b="0" i="1" smtClean="0">
                        <a:latin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15</m:t>
                        </m:r>
                      </m:den>
                    </m:f>
                    <m:r>
                      <a:rPr lang="en-US" sz="2400" b="0" i="1" smtClean="0">
                        <a:latin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11</m:t>
                        </m:r>
                      </m:num>
                      <m:den>
                        <m:r>
                          <a:rPr lang="en-US" sz="2400" b="0" i="1" smtClean="0">
                            <a:latin typeface="Cambria Math" panose="02040503050406030204" pitchFamily="18" charset="0"/>
                          </a:rPr>
                          <m:t>60</m:t>
                        </m:r>
                      </m:den>
                    </m:f>
                  </m:oMath>
                </a14:m>
                <a:endParaRPr lang="en-US" sz="24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980728"/>
                <a:ext cx="8363272" cy="5616624"/>
              </a:xfrm>
              <a:blipFill rotWithShape="0">
                <a:blip r:embed="rId2"/>
                <a:stretch>
                  <a:fillRect l="-948" t="-869" r="-1093"/>
                </a:stretch>
              </a:blipFill>
            </p:spPr>
            <p:txBody>
              <a:bodyPr/>
              <a:lstStyle/>
              <a:p>
                <a:r>
                  <a:rPr lang="en-US">
                    <a:noFill/>
                  </a:rPr>
                  <a:t> </a:t>
                </a:r>
              </a:p>
            </p:txBody>
          </p:sp>
        </mc:Fallback>
      </mc:AlternateContent>
    </p:spTree>
    <p:extLst>
      <p:ext uri="{BB962C8B-B14F-4D97-AF65-F5344CB8AC3E}">
        <p14:creationId xmlns:p14="http://schemas.microsoft.com/office/powerpoint/2010/main" val="1089552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GRINDING</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US" sz="2000" dirty="0" smtClean="0">
                <a:latin typeface="Times New Roman" pitchFamily="18" charset="0"/>
                <a:cs typeface="Times New Roman" pitchFamily="18" charset="0"/>
              </a:rPr>
              <a:t>It is the process of removing metal in small quantities by using abrasive wheel.</a:t>
            </a:r>
          </a:p>
          <a:p>
            <a:pPr algn="just"/>
            <a:r>
              <a:rPr lang="en-US" sz="2000" dirty="0" smtClean="0">
                <a:latin typeface="Times New Roman" pitchFamily="18" charset="0"/>
                <a:cs typeface="Times New Roman" pitchFamily="18" charset="0"/>
              </a:rPr>
              <a:t>It is regarded as a finishing process. </a:t>
            </a:r>
          </a:p>
          <a:p>
            <a:pPr algn="just"/>
            <a:r>
              <a:rPr lang="en-US" sz="2000" dirty="0" smtClean="0">
                <a:latin typeface="Times New Roman" pitchFamily="18" charset="0"/>
                <a:cs typeface="Times New Roman" pitchFamily="18" charset="0"/>
              </a:rPr>
              <a:t>It used for obtaining desired surface finish, accuracy in size and geometrical configuration of the product.</a:t>
            </a:r>
          </a:p>
          <a:p>
            <a:pPr algn="just">
              <a:buNone/>
            </a:pPr>
            <a:r>
              <a:rPr lang="en-US" sz="2000" dirty="0" smtClean="0">
                <a:latin typeface="Times New Roman" pitchFamily="18" charset="0"/>
                <a:cs typeface="Times New Roman" pitchFamily="18" charset="0"/>
              </a:rPr>
              <a:t>Grinding wheel </a:t>
            </a:r>
          </a:p>
          <a:p>
            <a:pPr algn="just"/>
            <a:r>
              <a:rPr lang="en-US" sz="2000" dirty="0" smtClean="0">
                <a:latin typeface="Times New Roman" pitchFamily="18" charset="0"/>
                <a:cs typeface="Times New Roman" pitchFamily="18" charset="0"/>
              </a:rPr>
              <a:t>It is a multipoint cutting tool. </a:t>
            </a:r>
          </a:p>
          <a:p>
            <a:pPr algn="just"/>
            <a:r>
              <a:rPr lang="en-US" sz="2000" dirty="0" smtClean="0">
                <a:latin typeface="Times New Roman" pitchFamily="18" charset="0"/>
                <a:cs typeface="Times New Roman" pitchFamily="18" charset="0"/>
              </a:rPr>
              <a:t>It is composed of abrasive grains held together with a suitable bond. </a:t>
            </a:r>
          </a:p>
          <a:p>
            <a:pPr algn="just"/>
            <a:r>
              <a:rPr lang="en-US" sz="2000" dirty="0" smtClean="0">
                <a:latin typeface="Times New Roman" pitchFamily="18" charset="0"/>
                <a:cs typeface="Times New Roman" pitchFamily="18" charset="0"/>
              </a:rPr>
              <a:t>Each abrasive grain will act as an individual cutting tool and removes the metals in the form of small chips. </a:t>
            </a:r>
            <a:endParaRPr lang="en-US" sz="20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000108"/>
            <a:ext cx="8072494" cy="5072098"/>
          </a:xfrm>
        </p:spPr>
        <p:txBody>
          <a:bodyPr>
            <a:normAutofit/>
          </a:bodyPr>
          <a:lstStyle/>
          <a:p>
            <a:pPr algn="just">
              <a:buNone/>
            </a:pPr>
            <a:r>
              <a:rPr lang="en-US" sz="2000" dirty="0" smtClean="0">
                <a:latin typeface="Times New Roman" pitchFamily="18" charset="0"/>
                <a:cs typeface="Times New Roman" pitchFamily="18" charset="0"/>
              </a:rPr>
              <a:t>ADVANTAGES OF GRINDING. </a:t>
            </a:r>
          </a:p>
          <a:p>
            <a:pPr algn="just"/>
            <a:r>
              <a:rPr lang="en-US" sz="2000" dirty="0" smtClean="0">
                <a:latin typeface="Times New Roman" pitchFamily="18" charset="0"/>
                <a:cs typeface="Times New Roman" pitchFamily="18" charset="0"/>
              </a:rPr>
              <a:t>The surface finish obtained is superior to that of any other machine tool, and is also one of the most dimensionally accurate machining processes. </a:t>
            </a:r>
          </a:p>
          <a:p>
            <a:pPr algn="just"/>
            <a:r>
              <a:rPr lang="en-US" sz="2000" dirty="0" smtClean="0">
                <a:latin typeface="Times New Roman" pitchFamily="18" charset="0"/>
                <a:cs typeface="Times New Roman" pitchFamily="18" charset="0"/>
              </a:rPr>
              <a:t>Hardened components can be machined by grinding, which would be difficulty or even impossible for other machine tools. </a:t>
            </a:r>
          </a:p>
          <a:p>
            <a:pPr algn="just"/>
            <a:r>
              <a:rPr lang="en-US" sz="2000" dirty="0" smtClean="0">
                <a:latin typeface="Times New Roman" pitchFamily="18" charset="0"/>
                <a:cs typeface="Times New Roman" pitchFamily="18" charset="0"/>
              </a:rPr>
              <a:t>Grinding requires very little pressure permitting its use on light and delicate parts.</a:t>
            </a:r>
          </a:p>
          <a:p>
            <a:pPr algn="just">
              <a:buNone/>
            </a:pPr>
            <a:r>
              <a:rPr lang="en-US" sz="2000" dirty="0" smtClean="0">
                <a:latin typeface="Times New Roman" pitchFamily="18" charset="0"/>
                <a:cs typeface="Times New Roman" pitchFamily="18" charset="0"/>
              </a:rPr>
              <a:t>DISADVANTAGES OF GRINDING </a:t>
            </a:r>
          </a:p>
          <a:p>
            <a:pPr algn="just"/>
            <a:r>
              <a:rPr lang="en-US" sz="2000" dirty="0" smtClean="0">
                <a:latin typeface="Times New Roman" pitchFamily="18" charset="0"/>
                <a:cs typeface="Times New Roman" pitchFamily="18" charset="0"/>
              </a:rPr>
              <a:t>Work surface gets over heated. </a:t>
            </a:r>
          </a:p>
          <a:p>
            <a:pPr algn="just"/>
            <a:r>
              <a:rPr lang="en-US" sz="2000" dirty="0" smtClean="0">
                <a:latin typeface="Times New Roman" pitchFamily="18" charset="0"/>
                <a:cs typeface="Times New Roman" pitchFamily="18" charset="0"/>
              </a:rPr>
              <a:t>Wheel chatter and vibrations result inaccuracies, and duplicate pieces do not have the same dimensions. </a:t>
            </a:r>
          </a:p>
          <a:p>
            <a:pPr algn="just"/>
            <a:r>
              <a:rPr lang="en-US" sz="2000" dirty="0" smtClean="0">
                <a:latin typeface="Times New Roman" pitchFamily="18" charset="0"/>
                <a:cs typeface="Times New Roman" pitchFamily="18" charset="0"/>
              </a:rPr>
              <a:t>Grinding is not suitable as a machining process where high metal removal is required. </a:t>
            </a:r>
            <a:endParaRPr lang="en-US" sz="20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4348" y="1142984"/>
            <a:ext cx="7786742" cy="4643469"/>
          </a:xfrm>
        </p:spPr>
        <p:txBody>
          <a:bodyPr>
            <a:normAutofit/>
          </a:bodyPr>
          <a:lstStyle/>
          <a:p>
            <a:pPr algn="just">
              <a:buNone/>
            </a:pPr>
            <a:r>
              <a:rPr lang="en-US" sz="2000" dirty="0" smtClean="0">
                <a:latin typeface="Times New Roman" pitchFamily="18" charset="0"/>
                <a:cs typeface="Times New Roman" pitchFamily="18" charset="0"/>
              </a:rPr>
              <a:t>ABRASIVES </a:t>
            </a:r>
          </a:p>
          <a:p>
            <a:pPr algn="just"/>
            <a:r>
              <a:rPr lang="en-US" sz="2000" dirty="0" smtClean="0">
                <a:latin typeface="Times New Roman" pitchFamily="18" charset="0"/>
                <a:cs typeface="Times New Roman" pitchFamily="18" charset="0"/>
              </a:rPr>
              <a:t>It is a small non-metallic hard particle having sharp edges and an irregular shape. </a:t>
            </a:r>
          </a:p>
          <a:p>
            <a:pPr algn="just"/>
            <a:r>
              <a:rPr lang="en-US" sz="2000" dirty="0" smtClean="0">
                <a:latin typeface="Times New Roman" pitchFamily="18" charset="0"/>
                <a:cs typeface="Times New Roman" pitchFamily="18" charset="0"/>
              </a:rPr>
              <a:t>They are capable of removing small amount of materials from the surface in the form of small chips. </a:t>
            </a:r>
          </a:p>
          <a:p>
            <a:pPr algn="just">
              <a:buNone/>
            </a:pPr>
            <a:r>
              <a:rPr lang="en-US" sz="2000" dirty="0" smtClean="0">
                <a:latin typeface="Times New Roman" pitchFamily="18" charset="0"/>
                <a:cs typeface="Times New Roman" pitchFamily="18" charset="0"/>
              </a:rPr>
              <a:t>Characteristics of abrasives </a:t>
            </a:r>
          </a:p>
          <a:p>
            <a:pPr algn="just"/>
            <a:r>
              <a:rPr lang="en-US" sz="2000" dirty="0" smtClean="0">
                <a:latin typeface="Times New Roman" pitchFamily="18" charset="0"/>
                <a:cs typeface="Times New Roman" pitchFamily="18" charset="0"/>
              </a:rPr>
              <a:t>Must be harder than material being grind. </a:t>
            </a:r>
          </a:p>
          <a:p>
            <a:pPr algn="just"/>
            <a:r>
              <a:rPr lang="en-US" sz="2000" dirty="0" smtClean="0">
                <a:latin typeface="Times New Roman" pitchFamily="18" charset="0"/>
                <a:cs typeface="Times New Roman" pitchFamily="18" charset="0"/>
              </a:rPr>
              <a:t>Must be strong enough to withstand grinding pressure. </a:t>
            </a:r>
          </a:p>
          <a:p>
            <a:pPr algn="just"/>
            <a:r>
              <a:rPr lang="en-US" sz="2000" dirty="0" smtClean="0">
                <a:latin typeface="Times New Roman" pitchFamily="18" charset="0"/>
                <a:cs typeface="Times New Roman" pitchFamily="18" charset="0"/>
              </a:rPr>
              <a:t>Must be heat resistant. </a:t>
            </a:r>
          </a:p>
          <a:p>
            <a:pPr algn="just"/>
            <a:r>
              <a:rPr lang="en-US" sz="2000" dirty="0" smtClean="0">
                <a:latin typeface="Times New Roman" pitchFamily="18" charset="0"/>
                <a:cs typeface="Times New Roman" pitchFamily="18" charset="0"/>
              </a:rPr>
              <a:t>Must be capable to break when the cutting edge is dull.</a:t>
            </a:r>
            <a:endParaRPr lang="en-US" sz="20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214290"/>
            <a:ext cx="8715436" cy="6500858"/>
          </a:xfrm>
        </p:spPr>
        <p:txBody>
          <a:bodyPr>
            <a:normAutofit fontScale="92500" lnSpcReduction="20000"/>
          </a:bodyPr>
          <a:lstStyle/>
          <a:p>
            <a:pPr>
              <a:buNone/>
            </a:pPr>
            <a:r>
              <a:rPr lang="en-US" sz="2000" dirty="0" smtClean="0">
                <a:latin typeface="Times New Roman" pitchFamily="18" charset="0"/>
                <a:cs typeface="Times New Roman" pitchFamily="18" charset="0"/>
              </a:rPr>
              <a:t>Types of Abrasives </a:t>
            </a:r>
          </a:p>
          <a:p>
            <a:pPr>
              <a:buNone/>
            </a:pPr>
            <a:r>
              <a:rPr lang="en-US" sz="2000" b="1" dirty="0" smtClean="0">
                <a:latin typeface="Times New Roman" pitchFamily="18" charset="0"/>
                <a:cs typeface="Times New Roman" pitchFamily="18" charset="0"/>
              </a:rPr>
              <a:t>1. Natural abrasives </a:t>
            </a:r>
          </a:p>
          <a:p>
            <a:pPr algn="just"/>
            <a:r>
              <a:rPr lang="en-US" sz="2000" dirty="0" smtClean="0">
                <a:latin typeface="Times New Roman" pitchFamily="18" charset="0"/>
                <a:cs typeface="Times New Roman" pitchFamily="18" charset="0"/>
              </a:rPr>
              <a:t>These are obtained from earth’s crust which includes sand stone, emery, corundum &amp; diamond. </a:t>
            </a:r>
          </a:p>
          <a:p>
            <a:pPr algn="just"/>
            <a:r>
              <a:rPr lang="en-US" sz="2000" dirty="0" smtClean="0">
                <a:latin typeface="Times New Roman" pitchFamily="18" charset="0"/>
                <a:cs typeface="Times New Roman" pitchFamily="18" charset="0"/>
              </a:rPr>
              <a:t>Sand stone is relatively soft and can’t be used for grinding harder materials. </a:t>
            </a:r>
          </a:p>
          <a:p>
            <a:pPr algn="just"/>
            <a:r>
              <a:rPr lang="en-US" sz="2000" dirty="0" smtClean="0">
                <a:latin typeface="Times New Roman" pitchFamily="18" charset="0"/>
                <a:cs typeface="Times New Roman" pitchFamily="18" charset="0"/>
              </a:rPr>
              <a:t>Emery &amp; corundum are natural aluminum oxides, and have a greater hardness and better abrasive action than quartz. </a:t>
            </a:r>
          </a:p>
          <a:p>
            <a:pPr algn="just"/>
            <a:r>
              <a:rPr lang="en-US" sz="2000" dirty="0" smtClean="0">
                <a:latin typeface="Times New Roman" pitchFamily="18" charset="0"/>
                <a:cs typeface="Times New Roman" pitchFamily="18" charset="0"/>
              </a:rPr>
              <a:t>Diamond is one of the best natural abrasive but due to high cost its use is limited to grinding cemented carbides, glass, marbles &amp; garnets. </a:t>
            </a:r>
          </a:p>
          <a:p>
            <a:pPr algn="just"/>
            <a:r>
              <a:rPr lang="en-US" sz="2000" dirty="0" smtClean="0">
                <a:latin typeface="Times New Roman" pitchFamily="18" charset="0"/>
                <a:cs typeface="Times New Roman" pitchFamily="18" charset="0"/>
              </a:rPr>
              <a:t>Due to lack of uniformity and contain a high percentage of impurities. They have been almost totally replaced by artificial abrasives.</a:t>
            </a:r>
          </a:p>
          <a:p>
            <a:pPr algn="just">
              <a:buNone/>
            </a:pPr>
            <a:r>
              <a:rPr lang="en-US" sz="2000" b="1" dirty="0" smtClean="0">
                <a:latin typeface="Times New Roman" pitchFamily="18" charset="0"/>
                <a:cs typeface="Times New Roman" pitchFamily="18" charset="0"/>
              </a:rPr>
              <a:t>2. Artificial abrasives</a:t>
            </a:r>
          </a:p>
          <a:p>
            <a:pPr algn="just"/>
            <a:r>
              <a:rPr lang="en-US" sz="2000" dirty="0" smtClean="0">
                <a:latin typeface="Times New Roman" pitchFamily="18" charset="0"/>
                <a:cs typeface="Times New Roman" pitchFamily="18" charset="0"/>
              </a:rPr>
              <a:t>It is used extensively because their characteristics can be easily controlled</a:t>
            </a:r>
          </a:p>
          <a:p>
            <a:pPr marL="457200" indent="-457200" algn="just">
              <a:buAutoNum type="alphaLcParenR"/>
            </a:pPr>
            <a:r>
              <a:rPr lang="en-US" sz="2200" dirty="0" err="1" smtClean="0">
                <a:latin typeface="Times New Roman" pitchFamily="18" charset="0"/>
                <a:cs typeface="Times New Roman" pitchFamily="18" charset="0"/>
              </a:rPr>
              <a:t>Aluminium</a:t>
            </a:r>
            <a:r>
              <a:rPr lang="en-US" sz="2200" dirty="0" smtClean="0">
                <a:latin typeface="Times New Roman" pitchFamily="18" charset="0"/>
                <a:cs typeface="Times New Roman" pitchFamily="18" charset="0"/>
              </a:rPr>
              <a:t> Oxide (Al2O3) </a:t>
            </a:r>
          </a:p>
          <a:p>
            <a:pPr marL="457200" indent="-457200" algn="just"/>
            <a:r>
              <a:rPr lang="en-US" sz="2200" dirty="0" smtClean="0">
                <a:latin typeface="Times New Roman" pitchFamily="18" charset="0"/>
                <a:cs typeface="Times New Roman" pitchFamily="18" charset="0"/>
              </a:rPr>
              <a:t>This is one of the natural abrasives found called corundum and emery. However the natural abrasives generally have impurities and as a result their performance is inconsistent. </a:t>
            </a:r>
          </a:p>
          <a:p>
            <a:pPr marL="457200" indent="-457200" algn="just"/>
            <a:r>
              <a:rPr lang="en-US" sz="2200" dirty="0" smtClean="0">
                <a:latin typeface="Times New Roman" pitchFamily="18" charset="0"/>
                <a:cs typeface="Times New Roman" pitchFamily="18" charset="0"/>
              </a:rPr>
              <a:t>Hence the abrasive used in grinding wheels is generally manufactured from the </a:t>
            </a:r>
            <a:r>
              <a:rPr lang="en-US" sz="2200" dirty="0" err="1" smtClean="0">
                <a:latin typeface="Times New Roman" pitchFamily="18" charset="0"/>
                <a:cs typeface="Times New Roman" pitchFamily="18" charset="0"/>
              </a:rPr>
              <a:t>aluminium</a:t>
            </a:r>
            <a:r>
              <a:rPr lang="en-US" sz="2200" dirty="0" smtClean="0">
                <a:latin typeface="Times New Roman" pitchFamily="18" charset="0"/>
                <a:cs typeface="Times New Roman" pitchFamily="18" charset="0"/>
              </a:rPr>
              <a:t> ore, bauxite. </a:t>
            </a:r>
          </a:p>
          <a:p>
            <a:pPr marL="457200" indent="-457200" algn="just">
              <a:buNone/>
            </a:pPr>
            <a:r>
              <a:rPr lang="en-US" sz="2200" dirty="0" smtClean="0">
                <a:latin typeface="Times New Roman" pitchFamily="18" charset="0"/>
                <a:cs typeface="Times New Roman" pitchFamily="18" charset="0"/>
              </a:rPr>
              <a:t>b) Silicon Carbide (</a:t>
            </a:r>
            <a:r>
              <a:rPr lang="en-US" sz="2200" dirty="0" err="1" smtClean="0">
                <a:latin typeface="Times New Roman" pitchFamily="18" charset="0"/>
                <a:cs typeface="Times New Roman" pitchFamily="18" charset="0"/>
              </a:rPr>
              <a:t>SiC</a:t>
            </a:r>
            <a:r>
              <a:rPr lang="en-US" sz="2200" dirty="0" smtClean="0">
                <a:latin typeface="Times New Roman" pitchFamily="18" charset="0"/>
                <a:cs typeface="Times New Roman" pitchFamily="18" charset="0"/>
              </a:rPr>
              <a:t>) </a:t>
            </a:r>
          </a:p>
          <a:p>
            <a:pPr marL="457200" indent="-457200" algn="just"/>
            <a:r>
              <a:rPr lang="en-US" sz="2200" dirty="0" smtClean="0">
                <a:latin typeface="Times New Roman" pitchFamily="18" charset="0"/>
                <a:cs typeface="Times New Roman" pitchFamily="18" charset="0"/>
              </a:rPr>
              <a:t>Silicon carbide is made from silica, sand, and coke with small amounts of common salt.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357166"/>
            <a:ext cx="8429684" cy="6143668"/>
          </a:xfrm>
        </p:spPr>
        <p:txBody>
          <a:bodyPr>
            <a:normAutofit/>
          </a:bodyPr>
          <a:lstStyle/>
          <a:p>
            <a:pPr>
              <a:buNone/>
            </a:pPr>
            <a:r>
              <a:rPr lang="en-US" sz="2000" dirty="0" smtClean="0">
                <a:latin typeface="Times New Roman" pitchFamily="18" charset="0"/>
                <a:cs typeface="Times New Roman" pitchFamily="18" charset="0"/>
              </a:rPr>
              <a:t>c) Cubic Boron Nitride (CBN) </a:t>
            </a:r>
          </a:p>
          <a:p>
            <a:r>
              <a:rPr lang="en-US" sz="2000" dirty="0" smtClean="0">
                <a:latin typeface="Times New Roman" pitchFamily="18" charset="0"/>
                <a:cs typeface="Times New Roman" pitchFamily="18" charset="0"/>
              </a:rPr>
              <a:t>Cubic Boron Nitride (CBN) next in hardness only to diamond </a:t>
            </a:r>
          </a:p>
          <a:p>
            <a:r>
              <a:rPr lang="en-US" sz="2000" dirty="0" smtClean="0">
                <a:latin typeface="Times New Roman" pitchFamily="18" charset="0"/>
                <a:cs typeface="Times New Roman" pitchFamily="18" charset="0"/>
              </a:rPr>
              <a:t>It is not a natural material but produced in the laboratory using a high temperature/ high pressure process similar to the making of artificial diamond. </a:t>
            </a:r>
          </a:p>
          <a:p>
            <a:r>
              <a:rPr lang="en-US" sz="2000" dirty="0" smtClean="0">
                <a:latin typeface="Times New Roman" pitchFamily="18" charset="0"/>
                <a:cs typeface="Times New Roman" pitchFamily="18" charset="0"/>
              </a:rPr>
              <a:t>CBN is less reactive with materials like hardened steels, hard chill cast iron, and nickel base and cobalt based super alloys. </a:t>
            </a:r>
          </a:p>
          <a:p>
            <a:r>
              <a:rPr lang="en-US" sz="2000" dirty="0" smtClean="0">
                <a:latin typeface="Times New Roman" pitchFamily="18" charset="0"/>
                <a:cs typeface="Times New Roman" pitchFamily="18" charset="0"/>
              </a:rPr>
              <a:t>CBN grains have 55 times higher thermal conductivity, four times higher the abrasive resistance and twice the hardness of the aluminum oxide abrasives. </a:t>
            </a:r>
          </a:p>
          <a:p>
            <a:r>
              <a:rPr lang="en-US" sz="2000" dirty="0" smtClean="0">
                <a:latin typeface="Times New Roman" pitchFamily="18" charset="0"/>
                <a:cs typeface="Times New Roman" pitchFamily="18" charset="0"/>
              </a:rPr>
              <a:t>They can retain their strength above 10,000°C. CBN is very expensive, 10 to 20 times that of the conventional abrasive such as </a:t>
            </a:r>
            <a:r>
              <a:rPr lang="en-US" sz="2000" dirty="0" err="1" smtClean="0">
                <a:latin typeface="Times New Roman" pitchFamily="18" charset="0"/>
                <a:cs typeface="Times New Roman" pitchFamily="18" charset="0"/>
              </a:rPr>
              <a:t>aluminium</a:t>
            </a:r>
            <a:r>
              <a:rPr lang="en-US" sz="2000" dirty="0" smtClean="0">
                <a:latin typeface="Times New Roman" pitchFamily="18" charset="0"/>
                <a:cs typeface="Times New Roman" pitchFamily="18" charset="0"/>
              </a:rPr>
              <a:t> oxide.</a:t>
            </a:r>
          </a:p>
          <a:p>
            <a:pPr>
              <a:buNone/>
            </a:pPr>
            <a:r>
              <a:rPr lang="en-US" sz="2000" dirty="0" smtClean="0">
                <a:latin typeface="Times New Roman" pitchFamily="18" charset="0"/>
                <a:cs typeface="Times New Roman" pitchFamily="18" charset="0"/>
              </a:rPr>
              <a:t>d) Diamond </a:t>
            </a:r>
          </a:p>
          <a:p>
            <a:r>
              <a:rPr lang="en-US" sz="2000" dirty="0" smtClean="0">
                <a:latin typeface="Times New Roman" pitchFamily="18" charset="0"/>
                <a:cs typeface="Times New Roman" pitchFamily="18" charset="0"/>
              </a:rPr>
              <a:t>Diamond is the hardest known material that can be used as a cutting tool material.</a:t>
            </a:r>
          </a:p>
          <a:p>
            <a:r>
              <a:rPr lang="en-US" sz="2000" dirty="0" smtClean="0">
                <a:latin typeface="Times New Roman" pitchFamily="18" charset="0"/>
                <a:cs typeface="Times New Roman" pitchFamily="18" charset="0"/>
              </a:rPr>
              <a:t> It has very high chemical resistance along with low coefficient of thermal expansion. </a:t>
            </a:r>
          </a:p>
          <a:p>
            <a:r>
              <a:rPr lang="en-US" sz="2000" dirty="0" smtClean="0">
                <a:latin typeface="Times New Roman" pitchFamily="18" charset="0"/>
                <a:cs typeface="Times New Roman" pitchFamily="18" charset="0"/>
              </a:rPr>
              <a:t>Also it is inert towards iron.</a:t>
            </a:r>
            <a:endParaRPr lang="en-US" sz="20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a:bodyPr>
          <a:lstStyle/>
          <a:p>
            <a:r>
              <a:rPr lang="en-US" sz="3200" b="1" dirty="0" smtClean="0">
                <a:latin typeface="Times New Roman" pitchFamily="18" charset="0"/>
                <a:cs typeface="Times New Roman" pitchFamily="18" charset="0"/>
              </a:rPr>
              <a:t>Grinding wheel types</a:t>
            </a:r>
            <a:endParaRPr lang="en-US" sz="3200" b="1"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1785918" y="1071546"/>
            <a:ext cx="5774849" cy="5643602"/>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11156"/>
          </a:xfrm>
        </p:spPr>
        <p:txBody>
          <a:bodyPr>
            <a:normAutofit fontScale="90000"/>
          </a:bodyPr>
          <a:lstStyle/>
          <a:p>
            <a:r>
              <a:rPr lang="en-US" sz="3200" b="1" dirty="0" smtClean="0">
                <a:latin typeface="Times New Roman" pitchFamily="18" charset="0"/>
                <a:cs typeface="Times New Roman" pitchFamily="18" charset="0"/>
              </a:rPr>
              <a:t>Types of grinding machines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214282" y="857232"/>
            <a:ext cx="8786874" cy="4572032"/>
          </a:xfrm>
        </p:spPr>
        <p:txBody>
          <a:bodyPr>
            <a:normAutofit/>
          </a:bodyPr>
          <a:lstStyle/>
          <a:p>
            <a:pPr>
              <a:buNone/>
            </a:pPr>
            <a:r>
              <a:rPr lang="en-US" sz="2000" dirty="0" smtClean="0">
                <a:latin typeface="Times New Roman" pitchFamily="18" charset="0"/>
                <a:cs typeface="Times New Roman" pitchFamily="18" charset="0"/>
              </a:rPr>
              <a:t>Centre type cylindrical grinders </a:t>
            </a:r>
          </a:p>
          <a:p>
            <a:r>
              <a:rPr lang="en-US" sz="2000" dirty="0" smtClean="0">
                <a:latin typeface="Times New Roman" pitchFamily="18" charset="0"/>
                <a:cs typeface="Times New Roman" pitchFamily="18" charset="0"/>
              </a:rPr>
              <a:t>In which work is mounted between centers &amp; rotated against the wheel. </a:t>
            </a:r>
          </a:p>
          <a:p>
            <a:r>
              <a:rPr lang="en-US" sz="2000" dirty="0" smtClean="0">
                <a:latin typeface="Times New Roman" pitchFamily="18" charset="0"/>
                <a:cs typeface="Times New Roman" pitchFamily="18" charset="0"/>
              </a:rPr>
              <a:t>The work must pass through wheel or Vic versa.</a:t>
            </a:r>
          </a:p>
          <a:p>
            <a:pPr marL="514350" indent="-514350">
              <a:buAutoNum type="arabicPeriod"/>
            </a:pPr>
            <a:r>
              <a:rPr lang="en-US" sz="2000" dirty="0" smtClean="0">
                <a:latin typeface="Times New Roman" pitchFamily="18" charset="0"/>
                <a:cs typeface="Times New Roman" pitchFamily="18" charset="0"/>
              </a:rPr>
              <a:t>Transverse grinding </a:t>
            </a:r>
          </a:p>
          <a:p>
            <a:pPr marL="514350" indent="-514350">
              <a:buAutoNum type="arabicPeriod"/>
            </a:pPr>
            <a:r>
              <a:rPr lang="en-US" sz="2000" dirty="0" smtClean="0">
                <a:latin typeface="Times New Roman" pitchFamily="18" charset="0"/>
                <a:cs typeface="Times New Roman" pitchFamily="18" charset="0"/>
              </a:rPr>
              <a:t>Plunge cut grinding </a:t>
            </a:r>
          </a:p>
          <a:p>
            <a:pPr marL="514350" indent="-514350">
              <a:buNone/>
            </a:pPr>
            <a:r>
              <a:rPr lang="en-US" sz="2000" dirty="0" smtClean="0">
                <a:latin typeface="Times New Roman" pitchFamily="18" charset="0"/>
                <a:cs typeface="Times New Roman" pitchFamily="18" charset="0"/>
              </a:rPr>
              <a:t>Transverse grinding</a:t>
            </a:r>
          </a:p>
          <a:p>
            <a:pPr marL="514350" indent="-514350"/>
            <a:r>
              <a:rPr lang="en-US" sz="2000" dirty="0" smtClean="0">
                <a:latin typeface="Times New Roman" pitchFamily="18" charset="0"/>
                <a:cs typeface="Times New Roman" pitchFamily="18" charset="0"/>
              </a:rPr>
              <a:t>Work reciprocates as the wheel feeds into the work</a:t>
            </a:r>
          </a:p>
          <a:p>
            <a:pPr marL="514350" indent="-514350"/>
            <a:r>
              <a:rPr lang="en-US" sz="2000" dirty="0" smtClean="0">
                <a:latin typeface="Times New Roman" pitchFamily="18" charset="0"/>
                <a:cs typeface="Times New Roman" pitchFamily="18" charset="0"/>
              </a:rPr>
              <a:t>This operation produce cylindrical shapes longer than the width of the wheel </a:t>
            </a:r>
          </a:p>
          <a:p>
            <a:pPr marL="514350" indent="-514350">
              <a:buNone/>
            </a:pPr>
            <a:r>
              <a:rPr lang="en-US" sz="2000" dirty="0" smtClean="0">
                <a:latin typeface="Times New Roman" pitchFamily="18" charset="0"/>
                <a:cs typeface="Times New Roman" pitchFamily="18" charset="0"/>
              </a:rPr>
              <a:t>Plunge cut grinding </a:t>
            </a:r>
          </a:p>
          <a:p>
            <a:pPr marL="514350" indent="-514350"/>
            <a:r>
              <a:rPr lang="en-US" sz="2000" dirty="0" smtClean="0">
                <a:latin typeface="Times New Roman" pitchFamily="18" charset="0"/>
                <a:cs typeface="Times New Roman" pitchFamily="18" charset="0"/>
              </a:rPr>
              <a:t>Work rotates in fixed position and the wheel is fed into the work until the required dia. </a:t>
            </a:r>
          </a:p>
          <a:p>
            <a:pPr marL="514350" indent="-514350"/>
            <a:r>
              <a:rPr lang="en-US" sz="2000" dirty="0" smtClean="0">
                <a:latin typeface="Times New Roman" pitchFamily="18" charset="0"/>
                <a:cs typeface="Times New Roman" pitchFamily="18" charset="0"/>
              </a:rPr>
              <a:t>The length of cylindrical shape produced is equal to the width of the wheel</a:t>
            </a:r>
            <a:endParaRPr lang="en-US" sz="20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2786051" y="5143512"/>
            <a:ext cx="3786214" cy="1680337"/>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rmAutofit fontScale="90000"/>
          </a:bodyPr>
          <a:lstStyle/>
          <a:p>
            <a:r>
              <a:rPr lang="en-US" sz="3200" dirty="0" smtClean="0"/>
              <a:t>CYLINDRICAL GRINDING</a:t>
            </a:r>
            <a:endParaRPr lang="en-US" sz="3200" dirty="0"/>
          </a:p>
        </p:txBody>
      </p:sp>
      <p:sp>
        <p:nvSpPr>
          <p:cNvPr id="3" name="Content Placeholder 2"/>
          <p:cNvSpPr>
            <a:spLocks noGrp="1"/>
          </p:cNvSpPr>
          <p:nvPr>
            <p:ph idx="1"/>
          </p:nvPr>
        </p:nvSpPr>
        <p:spPr>
          <a:xfrm>
            <a:off x="457200" y="1600200"/>
            <a:ext cx="3538736" cy="4525963"/>
          </a:xfrm>
        </p:spPr>
        <p:txBody>
          <a:bodyPr>
            <a:normAutofit/>
          </a:bodyPr>
          <a:lstStyle/>
          <a:p>
            <a:pPr marL="0" indent="0" algn="just">
              <a:buNone/>
            </a:pPr>
            <a:r>
              <a:rPr lang="en-US" sz="2400" dirty="0"/>
              <a:t>The plain cylindrical grinding machine </a:t>
            </a:r>
            <a:r>
              <a:rPr lang="en-US" sz="2400" dirty="0" smtClean="0"/>
              <a:t>has </a:t>
            </a:r>
            <a:r>
              <a:rPr lang="en-US" sz="2400" dirty="0"/>
              <a:t>the following parts, </a:t>
            </a:r>
          </a:p>
          <a:p>
            <a:pPr marL="0" indent="0" algn="just">
              <a:buNone/>
            </a:pPr>
            <a:r>
              <a:rPr lang="en-US" sz="2400" dirty="0"/>
              <a:t>1. Bed or Base </a:t>
            </a:r>
          </a:p>
          <a:p>
            <a:pPr marL="0" indent="0" algn="just">
              <a:buNone/>
            </a:pPr>
            <a:r>
              <a:rPr lang="en-US" sz="2400" dirty="0"/>
              <a:t>2. Table </a:t>
            </a:r>
          </a:p>
          <a:p>
            <a:pPr marL="0" indent="0" algn="just">
              <a:buNone/>
            </a:pPr>
            <a:r>
              <a:rPr lang="en-US" sz="2400" dirty="0"/>
              <a:t>3. Headstock </a:t>
            </a:r>
          </a:p>
          <a:p>
            <a:pPr marL="0" indent="0" algn="just">
              <a:buNone/>
            </a:pPr>
            <a:r>
              <a:rPr lang="en-US" sz="2400" dirty="0"/>
              <a:t>4. Tailstock or Foot stock </a:t>
            </a:r>
          </a:p>
          <a:p>
            <a:pPr marL="0" indent="0" algn="just">
              <a:buNone/>
            </a:pPr>
            <a:r>
              <a:rPr lang="en-US" sz="2400" dirty="0"/>
              <a:t>5. Wheel head </a:t>
            </a:r>
          </a:p>
          <a:p>
            <a:endParaRPr lang="en-US" sz="2400" dirty="0"/>
          </a:p>
        </p:txBody>
      </p:sp>
      <p:pic>
        <p:nvPicPr>
          <p:cNvPr id="5" name="Picture 4"/>
          <p:cNvPicPr>
            <a:picLocks noChangeAspect="1"/>
          </p:cNvPicPr>
          <p:nvPr/>
        </p:nvPicPr>
        <p:blipFill>
          <a:blip r:embed="rId2"/>
          <a:stretch>
            <a:fillRect/>
          </a:stretch>
        </p:blipFill>
        <p:spPr>
          <a:xfrm>
            <a:off x="3995936" y="1581514"/>
            <a:ext cx="4837490" cy="3935717"/>
          </a:xfrm>
          <a:prstGeom prst="rect">
            <a:avLst/>
          </a:prstGeom>
        </p:spPr>
      </p:pic>
    </p:spTree>
    <p:extLst>
      <p:ext uri="{BB962C8B-B14F-4D97-AF65-F5344CB8AC3E}">
        <p14:creationId xmlns:p14="http://schemas.microsoft.com/office/powerpoint/2010/main" val="33623375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484784"/>
            <a:ext cx="8568952" cy="4032448"/>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cylindrical grinders the work is mounted between the centers and rotated against the grinding wheel. </a:t>
            </a: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work may also be held in a chuck for certain operations. </a:t>
            </a: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various movements involved in a cylindrical grinding are given below, </a:t>
            </a:r>
          </a:p>
          <a:p>
            <a:pPr marL="0" indent="0" algn="just">
              <a:buNone/>
            </a:pPr>
            <a:r>
              <a:rPr lang="en-US" sz="2400" dirty="0">
                <a:latin typeface="Times New Roman" panose="02020603050405020304" pitchFamily="18" charset="0"/>
                <a:cs typeface="Times New Roman" panose="02020603050405020304" pitchFamily="18" charset="0"/>
              </a:rPr>
              <a:t>1. The work must revolve. </a:t>
            </a:r>
          </a:p>
          <a:p>
            <a:pPr marL="0" indent="0" algn="just">
              <a:buNone/>
            </a:pPr>
            <a:r>
              <a:rPr lang="en-US" sz="2400" dirty="0">
                <a:latin typeface="Times New Roman" panose="02020603050405020304" pitchFamily="18" charset="0"/>
                <a:cs typeface="Times New Roman" panose="02020603050405020304" pitchFamily="18" charset="0"/>
              </a:rPr>
              <a:t>2. The wheel must revolve. </a:t>
            </a:r>
          </a:p>
          <a:p>
            <a:pPr marL="0" indent="0" algn="just">
              <a:buNone/>
            </a:pPr>
            <a:r>
              <a:rPr lang="en-US" sz="2400" dirty="0">
                <a:latin typeface="Times New Roman" panose="02020603050405020304" pitchFamily="18" charset="0"/>
                <a:cs typeface="Times New Roman" panose="02020603050405020304" pitchFamily="18" charset="0"/>
              </a:rPr>
              <a:t>3. The work must pass the wheel or the wheel must pass the work. </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smtClean="0">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The movement of wheel into the work or work into the wheel. </a:t>
            </a:r>
          </a:p>
          <a:p>
            <a:pPr marL="0" indent="0">
              <a:buNone/>
            </a:pPr>
            <a:endParaRPr lang="en-US" sz="2400" dirty="0" smtClean="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033099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60648"/>
            <a:ext cx="8712968" cy="6408712"/>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Base: </a:t>
            </a:r>
          </a:p>
          <a:p>
            <a:pPr algn="just"/>
            <a:r>
              <a:rPr lang="en-US" sz="2400" dirty="0">
                <a:latin typeface="Times New Roman" panose="02020603050405020304" pitchFamily="18" charset="0"/>
                <a:cs typeface="Times New Roman" panose="02020603050405020304" pitchFamily="18" charset="0"/>
              </a:rPr>
              <a:t>The base or bed rests on the floor. The top of the base is machined accurately to form ways for the table. It also houses the table drive mechanism. </a:t>
            </a:r>
          </a:p>
          <a:p>
            <a:pPr marL="0" indent="0" algn="just">
              <a:buNone/>
            </a:pPr>
            <a:r>
              <a:rPr lang="en-US" sz="2400" dirty="0">
                <a:latin typeface="Times New Roman" panose="02020603050405020304" pitchFamily="18" charset="0"/>
                <a:cs typeface="Times New Roman" panose="02020603050405020304" pitchFamily="18" charset="0"/>
              </a:rPr>
              <a:t>Table: </a:t>
            </a:r>
          </a:p>
          <a:p>
            <a:pPr algn="just"/>
            <a:r>
              <a:rPr lang="en-US" sz="2400" dirty="0">
                <a:latin typeface="Times New Roman" panose="02020603050405020304" pitchFamily="18" charset="0"/>
                <a:cs typeface="Times New Roman" panose="02020603050405020304" pitchFamily="18" charset="0"/>
              </a:rPr>
              <a:t>The lower table mounted on the ways of the bed. It provides traverse motion to the work past the grinding wheel. It can be operated </a:t>
            </a:r>
            <a:r>
              <a:rPr lang="en-US" sz="2400" dirty="0" err="1">
                <a:latin typeface="Times New Roman" panose="02020603050405020304" pitchFamily="18" charset="0"/>
                <a:cs typeface="Times New Roman" panose="02020603050405020304" pitchFamily="18" charset="0"/>
              </a:rPr>
              <a:t>manualy</a:t>
            </a:r>
            <a:r>
              <a:rPr lang="en-US" sz="2400" dirty="0">
                <a:latin typeface="Times New Roman" panose="02020603050405020304" pitchFamily="18" charset="0"/>
                <a:cs typeface="Times New Roman" panose="02020603050405020304" pitchFamily="18" charset="0"/>
              </a:rPr>
              <a:t>. </a:t>
            </a:r>
          </a:p>
          <a:p>
            <a:pPr marL="0" indent="0" algn="just">
              <a:buNone/>
            </a:pPr>
            <a:r>
              <a:rPr lang="en-US" sz="2400" dirty="0">
                <a:latin typeface="Times New Roman" panose="02020603050405020304" pitchFamily="18" charset="0"/>
                <a:cs typeface="Times New Roman" panose="02020603050405020304" pitchFamily="18" charset="0"/>
              </a:rPr>
              <a:t>Upper table: </a:t>
            </a:r>
          </a:p>
          <a:p>
            <a:pPr algn="just"/>
            <a:r>
              <a:rPr lang="en-US" sz="2400" dirty="0">
                <a:latin typeface="Times New Roman" panose="02020603050405020304" pitchFamily="18" charset="0"/>
                <a:cs typeface="Times New Roman" panose="02020603050405020304" pitchFamily="18" charset="0"/>
              </a:rPr>
              <a:t>It is mounted on lower table and can be </a:t>
            </a:r>
            <a:r>
              <a:rPr lang="en-US" sz="2400" dirty="0" err="1">
                <a:latin typeface="Times New Roman" panose="02020603050405020304" pitchFamily="18" charset="0"/>
                <a:cs typeface="Times New Roman" panose="02020603050405020304" pitchFamily="18" charset="0"/>
              </a:rPr>
              <a:t>swivelled</a:t>
            </a:r>
            <a:r>
              <a:rPr lang="en-US" sz="2400" dirty="0">
                <a:latin typeface="Times New Roman" panose="02020603050405020304" pitchFamily="18" charset="0"/>
                <a:cs typeface="Times New Roman" panose="02020603050405020304" pitchFamily="18" charset="0"/>
              </a:rPr>
              <a:t> for grinding tapers and alignment purposes. The head stock and tail stock are mounted on this table. </a:t>
            </a:r>
          </a:p>
          <a:p>
            <a:pPr marL="0" indent="0" algn="just">
              <a:buNone/>
            </a:pPr>
            <a:r>
              <a:rPr lang="en-US" sz="2400" dirty="0">
                <a:latin typeface="Times New Roman" panose="02020603050405020304" pitchFamily="18" charset="0"/>
                <a:cs typeface="Times New Roman" panose="02020603050405020304" pitchFamily="18" charset="0"/>
              </a:rPr>
              <a:t>Head stock: </a:t>
            </a:r>
          </a:p>
          <a:p>
            <a:pPr algn="just"/>
            <a:r>
              <a:rPr lang="en-US" sz="2400" dirty="0">
                <a:latin typeface="Times New Roman" panose="02020603050405020304" pitchFamily="18" charset="0"/>
                <a:cs typeface="Times New Roman" panose="02020603050405020304" pitchFamily="18" charset="0"/>
              </a:rPr>
              <a:t>Head stock supports and drive the work piece with the help of </a:t>
            </a:r>
            <a:r>
              <a:rPr lang="en-US" sz="2400" dirty="0" err="1">
                <a:latin typeface="Times New Roman" panose="02020603050405020304" pitchFamily="18" charset="0"/>
                <a:cs typeface="Times New Roman" panose="02020603050405020304" pitchFamily="18" charset="0"/>
              </a:rPr>
              <a:t>centre</a:t>
            </a:r>
            <a:r>
              <a:rPr lang="en-US" sz="2400" dirty="0">
                <a:latin typeface="Times New Roman" panose="02020603050405020304" pitchFamily="18" charset="0"/>
                <a:cs typeface="Times New Roman" panose="02020603050405020304" pitchFamily="18" charset="0"/>
              </a:rPr>
              <a:t> and dog or chuck </a:t>
            </a:r>
          </a:p>
        </p:txBody>
      </p:sp>
    </p:spTree>
    <p:extLst>
      <p:ext uri="{BB962C8B-B14F-4D97-AF65-F5344CB8AC3E}">
        <p14:creationId xmlns:p14="http://schemas.microsoft.com/office/powerpoint/2010/main" val="1723650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44824"/>
            <a:ext cx="8640960" cy="3384376"/>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Tailstock: </a:t>
            </a:r>
          </a:p>
          <a:p>
            <a:pPr algn="just"/>
            <a:r>
              <a:rPr lang="en-US" sz="2400" dirty="0">
                <a:latin typeface="Times New Roman" panose="02020603050405020304" pitchFamily="18" charset="0"/>
                <a:cs typeface="Times New Roman" panose="02020603050405020304" pitchFamily="18" charset="0"/>
              </a:rPr>
              <a:t>Tailstock or foot stock is mounted on the right end of the table. It can be adjusted along the length of the bed to support the right end of the work. </a:t>
            </a:r>
          </a:p>
          <a:p>
            <a:pPr marL="0" indent="0" algn="just">
              <a:buNone/>
            </a:pPr>
            <a:r>
              <a:rPr lang="en-US" sz="2400" dirty="0">
                <a:latin typeface="Times New Roman" panose="02020603050405020304" pitchFamily="18" charset="0"/>
                <a:cs typeface="Times New Roman" panose="02020603050405020304" pitchFamily="18" charset="0"/>
              </a:rPr>
              <a:t>Wheel head: </a:t>
            </a:r>
          </a:p>
          <a:p>
            <a:pPr algn="just"/>
            <a:r>
              <a:rPr lang="en-US" sz="2400" dirty="0">
                <a:latin typeface="Times New Roman" panose="02020603050405020304" pitchFamily="18" charset="0"/>
                <a:cs typeface="Times New Roman" panose="02020603050405020304" pitchFamily="18" charset="0"/>
              </a:rPr>
              <a:t>Wheel head is mounted on a cross-slide at right angle to the table, providing the in-feed movement of the wheel to the work. </a:t>
            </a:r>
          </a:p>
        </p:txBody>
      </p:sp>
    </p:spTree>
    <p:extLst>
      <p:ext uri="{BB962C8B-B14F-4D97-AF65-F5344CB8AC3E}">
        <p14:creationId xmlns:p14="http://schemas.microsoft.com/office/powerpoint/2010/main" val="33685825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a:bodyPr>
          <a:lstStyle/>
          <a:p>
            <a:r>
              <a:rPr lang="en-US" sz="3200" dirty="0" smtClean="0">
                <a:latin typeface="Times New Roman" panose="02020603050405020304" pitchFamily="18" charset="0"/>
                <a:cs typeface="Times New Roman" panose="02020603050405020304" pitchFamily="18" charset="0"/>
              </a:rPr>
              <a:t>CENTRELESS GRINDING</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87524" y="1484784"/>
            <a:ext cx="8568952" cy="4824536"/>
          </a:xfrm>
        </p:spPr>
        <p:txBody>
          <a:bodyPr>
            <a:normAutofit/>
          </a:bodyPr>
          <a:lstStyle/>
          <a:p>
            <a:pPr algn="just"/>
            <a:r>
              <a:rPr lang="en-US" sz="2600" dirty="0" smtClean="0">
                <a:latin typeface="Times New Roman" panose="02020603050405020304" pitchFamily="18" charset="0"/>
                <a:cs typeface="Times New Roman" panose="02020603050405020304" pitchFamily="18" charset="0"/>
              </a:rPr>
              <a:t>In </a:t>
            </a:r>
            <a:r>
              <a:rPr lang="en-US" sz="2600" dirty="0">
                <a:latin typeface="Times New Roman" panose="02020603050405020304" pitchFamily="18" charset="0"/>
                <a:cs typeface="Times New Roman" panose="02020603050405020304" pitchFamily="18" charset="0"/>
              </a:rPr>
              <a:t>which the work is supported by a combination of a work rest blades </a:t>
            </a:r>
          </a:p>
          <a:p>
            <a:pPr algn="just"/>
            <a:r>
              <a:rPr lang="en-US" sz="2600" dirty="0" smtClean="0">
                <a:latin typeface="Times New Roman" panose="02020603050405020304" pitchFamily="18" charset="0"/>
                <a:cs typeface="Times New Roman" panose="02020603050405020304" pitchFamily="18" charset="0"/>
              </a:rPr>
              <a:t>Two </a:t>
            </a:r>
            <a:r>
              <a:rPr lang="en-US" sz="2600" dirty="0">
                <a:latin typeface="Times New Roman" panose="02020603050405020304" pitchFamily="18" charset="0"/>
                <a:cs typeface="Times New Roman" panose="02020603050405020304" pitchFamily="18" charset="0"/>
              </a:rPr>
              <a:t>wheels are used ,one is grinding wheel and other is regulating wheel </a:t>
            </a:r>
          </a:p>
          <a:p>
            <a:pPr algn="just"/>
            <a:r>
              <a:rPr lang="en-US" sz="2600" dirty="0" smtClean="0">
                <a:latin typeface="Times New Roman" panose="02020603050405020304" pitchFamily="18" charset="0"/>
                <a:cs typeface="Times New Roman" panose="02020603050405020304" pitchFamily="18" charset="0"/>
              </a:rPr>
              <a:t>Its </a:t>
            </a:r>
            <a:r>
              <a:rPr lang="en-US" sz="2600" dirty="0">
                <a:latin typeface="Times New Roman" panose="02020603050405020304" pitchFamily="18" charset="0"/>
                <a:cs typeface="Times New Roman" panose="02020603050405020304" pitchFamily="18" charset="0"/>
              </a:rPr>
              <a:t>performed on work which does not have centers </a:t>
            </a:r>
          </a:p>
          <a:p>
            <a:pPr algn="just"/>
            <a:r>
              <a:rPr lang="en-US" sz="2600" dirty="0" smtClean="0">
                <a:latin typeface="Times New Roman" panose="02020603050405020304" pitchFamily="18" charset="0"/>
                <a:cs typeface="Times New Roman" panose="02020603050405020304" pitchFamily="18" charset="0"/>
              </a:rPr>
              <a:t>It </a:t>
            </a:r>
            <a:r>
              <a:rPr lang="en-US" sz="2600" dirty="0">
                <a:latin typeface="Times New Roman" panose="02020603050405020304" pitchFamily="18" charset="0"/>
                <a:cs typeface="Times New Roman" panose="02020603050405020304" pitchFamily="18" charset="0"/>
              </a:rPr>
              <a:t>reduces the total operation time by eliminating need for center holes in the work piece </a:t>
            </a:r>
          </a:p>
          <a:p>
            <a:pPr algn="just"/>
            <a:r>
              <a:rPr lang="en-US" sz="2600" dirty="0" smtClean="0">
                <a:latin typeface="Times New Roman" panose="02020603050405020304" pitchFamily="18" charset="0"/>
                <a:cs typeface="Times New Roman" panose="02020603050405020304" pitchFamily="18" charset="0"/>
              </a:rPr>
              <a:t>The </a:t>
            </a:r>
            <a:r>
              <a:rPr lang="en-US" sz="2600" dirty="0">
                <a:latin typeface="Times New Roman" panose="02020603050405020304" pitchFamily="18" charset="0"/>
                <a:cs typeface="Times New Roman" panose="02020603050405020304" pitchFamily="18" charset="0"/>
              </a:rPr>
              <a:t>grinding wheel rotates at higher speed than the regulating wheel. </a:t>
            </a:r>
          </a:p>
          <a:p>
            <a:pPr algn="just"/>
            <a:r>
              <a:rPr lang="en-US" sz="2600" dirty="0" smtClean="0">
                <a:latin typeface="Times New Roman" panose="02020603050405020304" pitchFamily="18" charset="0"/>
                <a:cs typeface="Times New Roman" panose="02020603050405020304" pitchFamily="18" charset="0"/>
              </a:rPr>
              <a:t>Regulating </a:t>
            </a:r>
            <a:r>
              <a:rPr lang="en-US" sz="2600" dirty="0">
                <a:latin typeface="Times New Roman" panose="02020603050405020304" pitchFamily="18" charset="0"/>
                <a:cs typeface="Times New Roman" panose="02020603050405020304" pitchFamily="18" charset="0"/>
              </a:rPr>
              <a:t>wheel control the rotation of work piece </a:t>
            </a:r>
          </a:p>
          <a:p>
            <a:endParaRPr lang="en-US" dirty="0"/>
          </a:p>
        </p:txBody>
      </p:sp>
    </p:spTree>
    <p:extLst>
      <p:ext uri="{BB962C8B-B14F-4D97-AF65-F5344CB8AC3E}">
        <p14:creationId xmlns:p14="http://schemas.microsoft.com/office/powerpoint/2010/main" val="27211555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b="8697"/>
          <a:stretch/>
        </p:blipFill>
        <p:spPr>
          <a:xfrm>
            <a:off x="539552" y="476673"/>
            <a:ext cx="5124450" cy="1800200"/>
          </a:xfrm>
          <a:prstGeom prst="rect">
            <a:avLst/>
          </a:prstGeom>
        </p:spPr>
      </p:pic>
      <p:pic>
        <p:nvPicPr>
          <p:cNvPr id="5" name="Picture 4"/>
          <p:cNvPicPr>
            <a:picLocks noChangeAspect="1"/>
          </p:cNvPicPr>
          <p:nvPr/>
        </p:nvPicPr>
        <p:blipFill>
          <a:blip r:embed="rId3"/>
          <a:stretch>
            <a:fillRect/>
          </a:stretch>
        </p:blipFill>
        <p:spPr>
          <a:xfrm>
            <a:off x="3101776" y="3068960"/>
            <a:ext cx="5757261" cy="3456384"/>
          </a:xfrm>
          <a:prstGeom prst="rect">
            <a:avLst/>
          </a:prstGeom>
        </p:spPr>
      </p:pic>
    </p:spTree>
    <p:extLst>
      <p:ext uri="{BB962C8B-B14F-4D97-AF65-F5344CB8AC3E}">
        <p14:creationId xmlns:p14="http://schemas.microsoft.com/office/powerpoint/2010/main" val="455129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418</TotalTime>
  <Words>2493</Words>
  <Application>Microsoft Office PowerPoint</Application>
  <PresentationFormat>On-screen Show (4:3)</PresentationFormat>
  <Paragraphs>563</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Cambria Math</vt:lpstr>
      <vt:lpstr>Times New Roman</vt:lpstr>
      <vt:lpstr>Office Theme</vt:lpstr>
      <vt:lpstr>MACHINING SCIENCE AND MACHINE TOOLS</vt:lpstr>
      <vt:lpstr>MILLING</vt:lpstr>
      <vt:lpstr>PowerPoint Presentation</vt:lpstr>
      <vt:lpstr>PowerPoint Presentation</vt:lpstr>
      <vt:lpstr>Types of Milling Machines</vt:lpstr>
      <vt:lpstr>PARTS OF COLUMN AND KNEE TYPE MILLING MACHINE</vt:lpstr>
      <vt:lpstr>PowerPoint Presentation</vt:lpstr>
      <vt:lpstr>PowerPoint Presentation</vt:lpstr>
      <vt:lpstr>MILLING CUTTER AND ITS ELEMENTS</vt:lpstr>
      <vt:lpstr>INDEXING METHODS</vt:lpstr>
      <vt:lpstr>DIVIDING HEAD</vt:lpstr>
      <vt:lpstr>PowerPoint Presentation</vt:lpstr>
      <vt:lpstr>SIMPLE OR PLAIN INDEXING</vt:lpstr>
      <vt:lpstr>PowerPoint Presentation</vt:lpstr>
      <vt:lpstr>PowerPoint Presentation</vt:lpstr>
      <vt:lpstr>COMPOUND INDEXING</vt:lpstr>
      <vt:lpstr>GRINDING</vt:lpstr>
      <vt:lpstr>PowerPoint Presentation</vt:lpstr>
      <vt:lpstr>PowerPoint Presentation</vt:lpstr>
      <vt:lpstr>PowerPoint Presentation</vt:lpstr>
      <vt:lpstr>PowerPoint Presentation</vt:lpstr>
      <vt:lpstr>Grinding wheel types</vt:lpstr>
      <vt:lpstr>Types of grinding machines</vt:lpstr>
      <vt:lpstr>CYLINDRICAL GRINDING</vt:lpstr>
      <vt:lpstr>PowerPoint Presentation</vt:lpstr>
      <vt:lpstr>PowerPoint Presentation</vt:lpstr>
      <vt:lpstr>PowerPoint Presentation</vt:lpstr>
      <vt:lpstr>CENTRELESS GRINDING</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MACHINING SCIENCE AND MACHINE TOOLS</dc:title>
  <dc:creator>CAD LAB</dc:creator>
  <cp:lastModifiedBy>Aru</cp:lastModifiedBy>
  <cp:revision>47</cp:revision>
  <dcterms:created xsi:type="dcterms:W3CDTF">2023-12-11T08:39:58Z</dcterms:created>
  <dcterms:modified xsi:type="dcterms:W3CDTF">2023-12-18T16:17:58Z</dcterms:modified>
</cp:coreProperties>
</file>