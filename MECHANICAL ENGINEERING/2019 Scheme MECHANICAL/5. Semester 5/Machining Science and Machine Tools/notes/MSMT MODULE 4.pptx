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2"/>
  </p:notesMasterIdLst>
  <p:sldIdLst>
    <p:sldId id="256" r:id="rId2"/>
    <p:sldId id="257" r:id="rId3"/>
    <p:sldId id="259" r:id="rId4"/>
    <p:sldId id="258" r:id="rId5"/>
    <p:sldId id="260" r:id="rId6"/>
    <p:sldId id="294" r:id="rId7"/>
    <p:sldId id="261" r:id="rId8"/>
    <p:sldId id="262" r:id="rId9"/>
    <p:sldId id="263" r:id="rId10"/>
    <p:sldId id="321" r:id="rId11"/>
    <p:sldId id="295" r:id="rId12"/>
    <p:sldId id="296" r:id="rId13"/>
    <p:sldId id="297" r:id="rId14"/>
    <p:sldId id="264" r:id="rId15"/>
    <p:sldId id="298" r:id="rId16"/>
    <p:sldId id="299" r:id="rId17"/>
    <p:sldId id="300" r:id="rId18"/>
    <p:sldId id="301" r:id="rId19"/>
    <p:sldId id="302" r:id="rId20"/>
    <p:sldId id="303" r:id="rId21"/>
    <p:sldId id="304" r:id="rId22"/>
    <p:sldId id="265" r:id="rId23"/>
    <p:sldId id="266" r:id="rId24"/>
    <p:sldId id="305" r:id="rId25"/>
    <p:sldId id="274" r:id="rId26"/>
    <p:sldId id="322" r:id="rId27"/>
    <p:sldId id="275" r:id="rId28"/>
    <p:sldId id="276" r:id="rId29"/>
    <p:sldId id="277" r:id="rId30"/>
    <p:sldId id="278" r:id="rId31"/>
    <p:sldId id="323" r:id="rId32"/>
    <p:sldId id="324" r:id="rId33"/>
    <p:sldId id="325" r:id="rId34"/>
    <p:sldId id="267" r:id="rId35"/>
    <p:sldId id="268" r:id="rId36"/>
    <p:sldId id="269" r:id="rId37"/>
    <p:sldId id="270" r:id="rId38"/>
    <p:sldId id="271" r:id="rId39"/>
    <p:sldId id="306" r:id="rId40"/>
    <p:sldId id="307" r:id="rId41"/>
    <p:sldId id="308" r:id="rId42"/>
    <p:sldId id="309" r:id="rId43"/>
    <p:sldId id="272" r:id="rId44"/>
    <p:sldId id="273" r:id="rId45"/>
    <p:sldId id="279" r:id="rId46"/>
    <p:sldId id="280" r:id="rId47"/>
    <p:sldId id="281" r:id="rId48"/>
    <p:sldId id="282" r:id="rId49"/>
    <p:sldId id="283" r:id="rId50"/>
    <p:sldId id="284" r:id="rId51"/>
    <p:sldId id="310" r:id="rId52"/>
    <p:sldId id="311" r:id="rId53"/>
    <p:sldId id="312" r:id="rId54"/>
    <p:sldId id="313" r:id="rId55"/>
    <p:sldId id="314" r:id="rId56"/>
    <p:sldId id="315" r:id="rId57"/>
    <p:sldId id="316" r:id="rId58"/>
    <p:sldId id="317" r:id="rId59"/>
    <p:sldId id="318" r:id="rId60"/>
    <p:sldId id="319" r:id="rId61"/>
    <p:sldId id="320" r:id="rId62"/>
    <p:sldId id="285" r:id="rId63"/>
    <p:sldId id="286" r:id="rId64"/>
    <p:sldId id="287" r:id="rId65"/>
    <p:sldId id="288" r:id="rId66"/>
    <p:sldId id="289" r:id="rId67"/>
    <p:sldId id="290" r:id="rId68"/>
    <p:sldId id="291" r:id="rId69"/>
    <p:sldId id="292" r:id="rId70"/>
    <p:sldId id="293" r:id="rId71"/>
  </p:sldIdLst>
  <p:sldSz cx="9144000" cy="6858000" type="screen4x3"/>
  <p:notesSz cx="6735763" cy="986948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6" d="100"/>
          <a:sy n="86" d="100"/>
        </p:scale>
        <p:origin x="-1494"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9413" cy="4937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14763" y="0"/>
            <a:ext cx="2919412" cy="493713"/>
          </a:xfrm>
          <a:prstGeom prst="rect">
            <a:avLst/>
          </a:prstGeom>
        </p:spPr>
        <p:txBody>
          <a:bodyPr vert="horz" lIns="91440" tIns="45720" rIns="91440" bIns="45720" rtlCol="0"/>
          <a:lstStyle>
            <a:lvl1pPr algn="r">
              <a:defRPr sz="1200"/>
            </a:lvl1pPr>
          </a:lstStyle>
          <a:p>
            <a:fld id="{CAED04D5-8325-4987-9320-CDF063D93BB3}" type="datetimeFigureOut">
              <a:rPr lang="en-US" smtClean="0"/>
              <a:pPr/>
              <a:t>11/14/2024</a:t>
            </a:fld>
            <a:endParaRPr lang="en-US"/>
          </a:p>
        </p:txBody>
      </p:sp>
      <p:sp>
        <p:nvSpPr>
          <p:cNvPr id="4" name="Slide Image Placeholder 3"/>
          <p:cNvSpPr>
            <a:spLocks noGrp="1" noRot="1" noChangeAspect="1"/>
          </p:cNvSpPr>
          <p:nvPr>
            <p:ph type="sldImg" idx="2"/>
          </p:nvPr>
        </p:nvSpPr>
        <p:spPr>
          <a:xfrm>
            <a:off x="900113" y="739775"/>
            <a:ext cx="4935537" cy="37020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3100" y="4687888"/>
            <a:ext cx="5389563" cy="444182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374188"/>
            <a:ext cx="2919413" cy="4937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14763" y="9374188"/>
            <a:ext cx="2919412" cy="493712"/>
          </a:xfrm>
          <a:prstGeom prst="rect">
            <a:avLst/>
          </a:prstGeom>
        </p:spPr>
        <p:txBody>
          <a:bodyPr vert="horz" lIns="91440" tIns="45720" rIns="91440" bIns="45720" rtlCol="0" anchor="b"/>
          <a:lstStyle>
            <a:lvl1pPr algn="r">
              <a:defRPr sz="1200"/>
            </a:lvl1pPr>
          </a:lstStyle>
          <a:p>
            <a:fld id="{E0DC47AD-6D6A-4886-A0DF-C8DBDE7F1A8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3E8428A-4AED-4B28-A352-CAE72B3C0DE1}" type="datetime1">
              <a:rPr lang="en-US" smtClean="0"/>
              <a:pPr/>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A814D0A-A4BE-463F-8C3B-B58838414183}" type="datetime1">
              <a:rPr lang="en-US" smtClean="0"/>
              <a:pPr/>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5D5E1E9-5265-48CF-97D1-D5A913074536}" type="datetime1">
              <a:rPr lang="en-US" smtClean="0"/>
              <a:pPr/>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A32CF2C-DE6F-4DF0-9BF8-A95255E92EAC}" type="datetime1">
              <a:rPr lang="en-US" smtClean="0"/>
              <a:pPr/>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66B05DB-8D6F-4B89-BBCB-0E7C1805DCC6}" type="datetime1">
              <a:rPr lang="en-US" smtClean="0"/>
              <a:pPr/>
              <a:t>11/14/2024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C2BF505-D8B8-4D58-820E-4F7ED661580E}" type="datetime1">
              <a:rPr lang="en-US" smtClean="0"/>
              <a:pPr/>
              <a:t>11/14/2024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9B0DF8-4926-491C-B1D6-6C98D701E9C7}" type="datetime1">
              <a:rPr lang="en-US" smtClean="0"/>
              <a:pPr/>
              <a:t>11/14/2024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36246D2-1586-4CC1-9055-0EE17757E369}" type="datetime1">
              <a:rPr lang="en-US" smtClean="0"/>
              <a:pPr/>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764AEAA-83B4-4925-AD6D-10D6BED5189E}" type="datetime1">
              <a:rPr lang="en-US" smtClean="0"/>
              <a:pPr/>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95E816-BDF5-476F-87CF-B57600B1AC2C}" type="datetime1">
              <a:rPr lang="en-US" smtClean="0"/>
              <a:pPr/>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F420361-88F1-4283-8319-4BC7D495BDFB}" type="datetime1">
              <a:rPr lang="en-US" smtClean="0"/>
              <a:pPr/>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E12597-C4C5-4E37-A51A-AFDFB8A38996}" type="datetime1">
              <a:rPr lang="en-US" smtClean="0"/>
              <a:pPr/>
              <a:t>11/14/2024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374F10-0401-4224-9624-EB074E096B4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6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4348" y="1571612"/>
            <a:ext cx="7772400" cy="1470025"/>
          </a:xfrm>
        </p:spPr>
        <p:txBody>
          <a:bodyPr/>
          <a:lstStyle/>
          <a:p>
            <a:r>
              <a:rPr lang="en-US" dirty="0" smtClean="0">
                <a:latin typeface="Times New Roman" pitchFamily="18" charset="0"/>
                <a:cs typeface="Times New Roman" pitchFamily="18" charset="0"/>
              </a:rPr>
              <a:t>MACHINING SCIENCE AND MACHINE TOOLS</a:t>
            </a:r>
            <a:endParaRPr lang="en-US" dirty="0">
              <a:latin typeface="Times New Roman" pitchFamily="18" charset="0"/>
              <a:cs typeface="Times New Roman" pitchFamily="18" charset="0"/>
            </a:endParaRPr>
          </a:p>
        </p:txBody>
      </p:sp>
      <p:sp>
        <p:nvSpPr>
          <p:cNvPr id="3" name="Subtitle 2"/>
          <p:cNvSpPr>
            <a:spLocks noGrp="1"/>
          </p:cNvSpPr>
          <p:nvPr>
            <p:ph type="subTitle" idx="1"/>
          </p:nvPr>
        </p:nvSpPr>
        <p:spPr/>
        <p:txBody>
          <a:bodyPr/>
          <a:lstStyle/>
          <a:p>
            <a:r>
              <a:rPr lang="en-US" b="1" dirty="0" smtClean="0">
                <a:solidFill>
                  <a:schemeClr val="tx1"/>
                </a:solidFill>
                <a:latin typeface="Times New Roman" pitchFamily="18" charset="0"/>
                <a:cs typeface="Times New Roman" pitchFamily="18" charset="0"/>
              </a:rPr>
              <a:t>MODULE IV</a:t>
            </a:r>
            <a:endParaRPr lang="en-US" b="1" dirty="0">
              <a:solidFill>
                <a:schemeClr val="tx1"/>
              </a:solidFill>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lstStyle/>
          <a:p>
            <a:r>
              <a:rPr lang="en-US" b="1" dirty="0" smtClean="0">
                <a:latin typeface="Times New Roman" pitchFamily="18" charset="0"/>
                <a:cs typeface="Times New Roman" pitchFamily="18" charset="0"/>
              </a:rPr>
              <a:t>MILLING</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214282" y="1000109"/>
            <a:ext cx="8643998" cy="3643337"/>
          </a:xfrm>
        </p:spPr>
        <p:txBody>
          <a:bodyPr>
            <a:normAutofit lnSpcReduction="10000"/>
          </a:bodyPr>
          <a:lstStyle/>
          <a:p>
            <a:pPr algn="just"/>
            <a:r>
              <a:rPr lang="en-US" sz="2800" dirty="0" smtClean="0">
                <a:latin typeface="Times New Roman" pitchFamily="18" charset="0"/>
                <a:cs typeface="Times New Roman" pitchFamily="18" charset="0"/>
              </a:rPr>
              <a:t>the work piece is fed into a rotating </a:t>
            </a:r>
            <a:r>
              <a:rPr lang="en-US" sz="2800" dirty="0" smtClean="0">
                <a:solidFill>
                  <a:srgbClr val="FF0000"/>
                </a:solidFill>
                <a:latin typeface="Times New Roman" pitchFamily="18" charset="0"/>
                <a:cs typeface="Times New Roman" pitchFamily="18" charset="0"/>
              </a:rPr>
              <a:t>milling cutter</a:t>
            </a:r>
            <a:r>
              <a:rPr lang="en-US" sz="2800" dirty="0" smtClean="0">
                <a:latin typeface="Times New Roman" pitchFamily="18" charset="0"/>
                <a:cs typeface="Times New Roman" pitchFamily="18" charset="0"/>
              </a:rPr>
              <a:t>, which is a multi-point tool </a:t>
            </a:r>
          </a:p>
          <a:p>
            <a:pPr algn="just"/>
            <a:r>
              <a:rPr lang="en-US" sz="2800" dirty="0" smtClean="0">
                <a:latin typeface="Times New Roman" pitchFamily="18" charset="0"/>
                <a:cs typeface="Times New Roman" pitchFamily="18" charset="0"/>
              </a:rPr>
              <a:t>Interrupted cutting: Each of the cutting edges removes material for only part of the rotation of the milling cutter. As a result, the cutting edge has time to cool before it removes material again. Thus the milling operation is much cooler compared to the turning operations seen earlier. This allows for much larger material rates</a:t>
            </a:r>
            <a:endParaRPr lang="en-US" sz="28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l="2478" t="3448"/>
          <a:stretch>
            <a:fillRect/>
          </a:stretch>
        </p:blipFill>
        <p:spPr bwMode="auto">
          <a:xfrm>
            <a:off x="3929058" y="4572008"/>
            <a:ext cx="2811407" cy="2000264"/>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4D374F10-0401-4224-9624-EB074E096B44}"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928670"/>
            <a:ext cx="8572560" cy="4643470"/>
          </a:xfrm>
        </p:spPr>
        <p:txBody>
          <a:bodyPr>
            <a:noAutofit/>
          </a:bodyPr>
          <a:lstStyle/>
          <a:p>
            <a:pPr algn="just"/>
            <a:r>
              <a:rPr lang="en-US" sz="2400" dirty="0" smtClean="0">
                <a:latin typeface="Times New Roman" pitchFamily="18" charset="0"/>
                <a:cs typeface="Times New Roman" pitchFamily="18" charset="0"/>
              </a:rPr>
              <a:t>Machining operation that removes metal as the work is fed against a rotating multi point cutter</a:t>
            </a:r>
          </a:p>
          <a:p>
            <a:pPr algn="just"/>
            <a:r>
              <a:rPr lang="en-US" sz="2400" dirty="0" smtClean="0">
                <a:latin typeface="Times New Roman" pitchFamily="18" charset="0"/>
                <a:cs typeface="Times New Roman" pitchFamily="18" charset="0"/>
              </a:rPr>
              <a:t>Teeth of the cutter removes the metal in the form of chips from the surface of the work to produce desired shape. </a:t>
            </a:r>
          </a:p>
          <a:p>
            <a:pPr algn="just"/>
            <a:r>
              <a:rPr lang="en-US" sz="2400" dirty="0" smtClean="0">
                <a:latin typeface="Times New Roman" pitchFamily="18" charset="0"/>
                <a:cs typeface="Times New Roman" pitchFamily="18" charset="0"/>
              </a:rPr>
              <a:t>Work is held between centers or bolted to machine table  </a:t>
            </a:r>
          </a:p>
          <a:p>
            <a:pPr algn="just"/>
            <a:r>
              <a:rPr lang="en-US" sz="2400" dirty="0" smtClean="0">
                <a:latin typeface="Times New Roman" pitchFamily="18" charset="0"/>
                <a:cs typeface="Times New Roman" pitchFamily="18" charset="0"/>
              </a:rPr>
              <a:t>Revolving multi point cutter mounted either on spindle or arbor. </a:t>
            </a:r>
          </a:p>
          <a:p>
            <a:pPr algn="just"/>
            <a:r>
              <a:rPr lang="en-US" sz="2400" dirty="0" smtClean="0">
                <a:latin typeface="Times New Roman" pitchFamily="18" charset="0"/>
                <a:cs typeface="Times New Roman" pitchFamily="18" charset="0"/>
              </a:rPr>
              <a:t>Cutter revolves at high speed and work fed slowly past the cutter. </a:t>
            </a:r>
          </a:p>
          <a:p>
            <a:pPr algn="just"/>
            <a:r>
              <a:rPr lang="en-US" sz="2400" dirty="0" smtClean="0">
                <a:latin typeface="Times New Roman" pitchFamily="18" charset="0"/>
                <a:cs typeface="Times New Roman" pitchFamily="18" charset="0"/>
              </a:rPr>
              <a:t>Work can be fed in a vertical , horizontal or cross direction </a:t>
            </a:r>
          </a:p>
          <a:p>
            <a:pPr algn="just"/>
            <a:r>
              <a:rPr lang="en-US" sz="2400" dirty="0" smtClean="0">
                <a:latin typeface="Times New Roman" pitchFamily="18" charset="0"/>
                <a:cs typeface="Times New Roman" pitchFamily="18" charset="0"/>
              </a:rPr>
              <a:t>As the work advances the cutter ,teeth removes metal from the surface to produce desired shape</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44" y="285728"/>
            <a:ext cx="8786874" cy="6429420"/>
          </a:xfrm>
        </p:spPr>
        <p:txBody>
          <a:bodyPr>
            <a:normAutofit/>
          </a:bodyPr>
          <a:lstStyle/>
          <a:p>
            <a:pPr algn="just"/>
            <a:r>
              <a:rPr lang="en-US" sz="2800" b="1" dirty="0" smtClean="0">
                <a:latin typeface="Times New Roman" pitchFamily="18" charset="0"/>
                <a:cs typeface="Times New Roman" pitchFamily="18" charset="0"/>
              </a:rPr>
              <a:t>Small size of chips: </a:t>
            </a:r>
            <a:r>
              <a:rPr lang="en-US" sz="2800" dirty="0" smtClean="0">
                <a:latin typeface="Times New Roman" pitchFamily="18" charset="0"/>
                <a:cs typeface="Times New Roman" pitchFamily="18" charset="0"/>
              </a:rPr>
              <a:t>Though the size of the chips is small, in view of the multiple cutting edges in contact, a large amount of material is removed and as a result the component is generally completed in a single pass unlike the turning process which requires a large number of cuts for finishing.</a:t>
            </a:r>
          </a:p>
          <a:p>
            <a:pPr algn="just"/>
            <a:r>
              <a:rPr lang="en-US" sz="2800" b="1" dirty="0" smtClean="0">
                <a:latin typeface="Times New Roman" pitchFamily="18" charset="0"/>
                <a:cs typeface="Times New Roman" pitchFamily="18" charset="0"/>
              </a:rPr>
              <a:t>Variation in chip thickness: </a:t>
            </a:r>
            <a:r>
              <a:rPr lang="en-US" sz="2800" dirty="0" smtClean="0">
                <a:latin typeface="Times New Roman" pitchFamily="18" charset="0"/>
                <a:cs typeface="Times New Roman" pitchFamily="18" charset="0"/>
              </a:rPr>
              <a:t>This contributes to the non-steady state cyclic conditions of varying cutting forces during the contact of the cutting edge with the chip thickness varying from zero to maximum size or vice versa. This cyclic variation of the force can excite any of the natural frequencies of the machine tool system and would be harmful to the tool life and surface finish generated.</a:t>
            </a:r>
            <a:endParaRPr lang="en-US" sz="28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46"/>
          </a:xfrm>
        </p:spPr>
        <p:txBody>
          <a:bodyPr>
            <a:normAutofit/>
          </a:bodyPr>
          <a:lstStyle/>
          <a:p>
            <a:r>
              <a:rPr lang="en-US" sz="3200" dirty="0" smtClean="0">
                <a:latin typeface="Times New Roman" pitchFamily="18" charset="0"/>
                <a:cs typeface="Times New Roman" pitchFamily="18" charset="0"/>
              </a:rPr>
              <a:t>Types of Milling Machines</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285720" y="1142984"/>
            <a:ext cx="4429156" cy="5572164"/>
          </a:xfrm>
        </p:spPr>
        <p:txBody>
          <a:bodyPr>
            <a:normAutofit/>
          </a:bodyPr>
          <a:lstStyle/>
          <a:p>
            <a:pPr marL="514350" indent="-514350">
              <a:buAutoNum type="arabicPeriod"/>
            </a:pPr>
            <a:r>
              <a:rPr lang="en-US" sz="2400" dirty="0" smtClean="0">
                <a:latin typeface="Times New Roman" pitchFamily="18" charset="0"/>
                <a:cs typeface="Times New Roman" pitchFamily="18" charset="0"/>
              </a:rPr>
              <a:t>Column and knee type </a:t>
            </a:r>
          </a:p>
          <a:p>
            <a:pPr marL="514350" indent="-514350">
              <a:buAutoNum type="alphaLcParenR"/>
            </a:pPr>
            <a:r>
              <a:rPr lang="en-US" sz="2400" dirty="0" smtClean="0">
                <a:latin typeface="Times New Roman" pitchFamily="18" charset="0"/>
                <a:cs typeface="Times New Roman" pitchFamily="18" charset="0"/>
              </a:rPr>
              <a:t>Hand milling machine </a:t>
            </a:r>
          </a:p>
          <a:p>
            <a:pPr marL="514350" indent="-514350">
              <a:buAutoNum type="alphaLcParenR"/>
            </a:pPr>
            <a:r>
              <a:rPr lang="en-US" sz="2400" dirty="0" smtClean="0">
                <a:latin typeface="Times New Roman" pitchFamily="18" charset="0"/>
                <a:cs typeface="Times New Roman" pitchFamily="18" charset="0"/>
              </a:rPr>
              <a:t>Plain or Horizontal milling machine </a:t>
            </a:r>
          </a:p>
          <a:p>
            <a:pPr marL="514350" indent="-514350">
              <a:buAutoNum type="alphaLcParenR"/>
            </a:pPr>
            <a:r>
              <a:rPr lang="en-US" sz="2400" dirty="0" smtClean="0">
                <a:latin typeface="Times New Roman" pitchFamily="18" charset="0"/>
                <a:cs typeface="Times New Roman" pitchFamily="18" charset="0"/>
              </a:rPr>
              <a:t>Vertical milling machine </a:t>
            </a:r>
          </a:p>
          <a:p>
            <a:pPr marL="514350" indent="-514350">
              <a:buAutoNum type="alphaLcParenR"/>
            </a:pPr>
            <a:r>
              <a:rPr lang="en-US" sz="2400" dirty="0" smtClean="0">
                <a:latin typeface="Times New Roman" pitchFamily="18" charset="0"/>
                <a:cs typeface="Times New Roman" pitchFamily="18" charset="0"/>
              </a:rPr>
              <a:t>Universal milling machine </a:t>
            </a:r>
          </a:p>
          <a:p>
            <a:pPr marL="514350" indent="-514350">
              <a:buNone/>
            </a:pPr>
            <a:r>
              <a:rPr lang="en-US" sz="2400" dirty="0" smtClean="0">
                <a:latin typeface="Times New Roman" pitchFamily="18" charset="0"/>
                <a:cs typeface="Times New Roman" pitchFamily="18" charset="0"/>
              </a:rPr>
              <a:t>2. Fixed- bed type milling machine </a:t>
            </a:r>
          </a:p>
          <a:p>
            <a:pPr marL="514350" indent="-514350">
              <a:buAutoNum type="alphaLcParenR"/>
            </a:pPr>
            <a:r>
              <a:rPr lang="en-US" sz="2400" dirty="0" smtClean="0">
                <a:latin typeface="Times New Roman" pitchFamily="18" charset="0"/>
                <a:cs typeface="Times New Roman" pitchFamily="18" charset="0"/>
              </a:rPr>
              <a:t>Simplex; </a:t>
            </a:r>
          </a:p>
          <a:p>
            <a:pPr marL="514350" indent="-514350">
              <a:buAutoNum type="alphaLcParenR"/>
            </a:pPr>
            <a:r>
              <a:rPr lang="en-US" sz="2400" dirty="0" smtClean="0">
                <a:latin typeface="Times New Roman" pitchFamily="18" charset="0"/>
                <a:cs typeface="Times New Roman" pitchFamily="18" charset="0"/>
              </a:rPr>
              <a:t>Duplex; </a:t>
            </a:r>
          </a:p>
          <a:p>
            <a:pPr marL="514350" indent="-514350">
              <a:buAutoNum type="alphaLcParenR"/>
            </a:pPr>
            <a:r>
              <a:rPr lang="en-US" sz="2400" dirty="0" smtClean="0"/>
              <a:t>Triplex </a:t>
            </a:r>
          </a:p>
          <a:p>
            <a:pPr marL="514350" indent="-514350">
              <a:buNone/>
            </a:pPr>
            <a:r>
              <a:rPr lang="en-US" sz="2400" dirty="0" smtClean="0"/>
              <a:t>3. Planer type machines </a:t>
            </a:r>
          </a:p>
        </p:txBody>
      </p:sp>
      <p:sp>
        <p:nvSpPr>
          <p:cNvPr id="5" name="TextBox 4"/>
          <p:cNvSpPr txBox="1"/>
          <p:nvPr/>
        </p:nvSpPr>
        <p:spPr>
          <a:xfrm>
            <a:off x="4786314" y="1285860"/>
            <a:ext cx="4143404" cy="3693319"/>
          </a:xfrm>
          <a:prstGeom prst="rect">
            <a:avLst/>
          </a:prstGeom>
          <a:noFill/>
        </p:spPr>
        <p:txBody>
          <a:bodyPr wrap="square" rtlCol="0">
            <a:spAutoFit/>
          </a:bodyPr>
          <a:lstStyle/>
          <a:p>
            <a:pPr marL="514350" indent="-514350">
              <a:buNone/>
            </a:pPr>
            <a:r>
              <a:rPr lang="en-US" sz="2400" dirty="0" smtClean="0">
                <a:latin typeface="Times New Roman" pitchFamily="18" charset="0"/>
                <a:cs typeface="Times New Roman" pitchFamily="18" charset="0"/>
              </a:rPr>
              <a:t>4. Special purpose machines </a:t>
            </a:r>
          </a:p>
          <a:p>
            <a:pPr marL="514350" indent="-514350">
              <a:buAutoNum type="alphaLcParenR"/>
            </a:pPr>
            <a:r>
              <a:rPr lang="en-US" sz="2400" dirty="0" smtClean="0">
                <a:latin typeface="Times New Roman" pitchFamily="18" charset="0"/>
                <a:cs typeface="Times New Roman" pitchFamily="18" charset="0"/>
              </a:rPr>
              <a:t>Rotary table milling machine </a:t>
            </a:r>
          </a:p>
          <a:p>
            <a:pPr marL="514350" indent="-514350">
              <a:buAutoNum type="alphaLcParenR"/>
            </a:pPr>
            <a:r>
              <a:rPr lang="en-US" sz="2400" dirty="0" smtClean="0">
                <a:latin typeface="Times New Roman" pitchFamily="18" charset="0"/>
                <a:cs typeface="Times New Roman" pitchFamily="18" charset="0"/>
              </a:rPr>
              <a:t>Planetary milling machine </a:t>
            </a:r>
          </a:p>
          <a:p>
            <a:pPr marL="514350" indent="-514350">
              <a:buAutoNum type="alphaLcParenR"/>
            </a:pPr>
            <a:r>
              <a:rPr lang="en-US" sz="2400" dirty="0" smtClean="0">
                <a:latin typeface="Times New Roman" pitchFamily="18" charset="0"/>
                <a:cs typeface="Times New Roman" pitchFamily="18" charset="0"/>
              </a:rPr>
              <a:t>Pantograph milling machine </a:t>
            </a:r>
          </a:p>
          <a:p>
            <a:pPr marL="514350" indent="-514350">
              <a:buAutoNum type="alphaLcParenR"/>
            </a:pPr>
            <a:r>
              <a:rPr lang="en-US" sz="2400" dirty="0" smtClean="0">
                <a:latin typeface="Times New Roman" pitchFamily="18" charset="0"/>
                <a:cs typeface="Times New Roman" pitchFamily="18" charset="0"/>
              </a:rPr>
              <a:t>Tracer milling machine </a:t>
            </a:r>
          </a:p>
          <a:p>
            <a:pPr marL="514350" indent="-514350">
              <a:buAutoNum type="alphaLcParenR"/>
            </a:pPr>
            <a:r>
              <a:rPr lang="en-US" sz="2400" dirty="0" smtClean="0">
                <a:latin typeface="Times New Roman" pitchFamily="18" charset="0"/>
                <a:cs typeface="Times New Roman" pitchFamily="18" charset="0"/>
              </a:rPr>
              <a:t>Profile milling machine </a:t>
            </a:r>
          </a:p>
          <a:p>
            <a:pPr marL="514350" indent="-514350">
              <a:buAutoNum type="alphaLcParenR"/>
            </a:pPr>
            <a:r>
              <a:rPr lang="en-US" sz="2400" dirty="0" smtClean="0">
                <a:latin typeface="Times New Roman" pitchFamily="18" charset="0"/>
                <a:cs typeface="Times New Roman" pitchFamily="18" charset="0"/>
              </a:rPr>
              <a:t>Drum milling machine</a:t>
            </a:r>
          </a:p>
          <a:p>
            <a:endParaRPr lang="en-US" dirty="0"/>
          </a:p>
        </p:txBody>
      </p:sp>
      <p:sp>
        <p:nvSpPr>
          <p:cNvPr id="6" name="Slide Number Placeholder 5"/>
          <p:cNvSpPr>
            <a:spLocks noGrp="1"/>
          </p:cNvSpPr>
          <p:nvPr>
            <p:ph type="sldNum" sz="quarter" idx="12"/>
          </p:nvPr>
        </p:nvSpPr>
        <p:spPr/>
        <p:txBody>
          <a:bodyPr/>
          <a:lstStyle/>
          <a:p>
            <a:fld id="{4D374F10-0401-4224-9624-EB074E096B44}"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500034" y="500042"/>
            <a:ext cx="3737042" cy="2714644"/>
          </a:xfrm>
          <a:prstGeom prst="rect">
            <a:avLst/>
          </a:prstGeom>
          <a:noFill/>
          <a:ln w="9525">
            <a:noFill/>
            <a:miter lim="800000"/>
            <a:headEnd/>
            <a:tailEnd/>
          </a:ln>
          <a:effectLst/>
        </p:spPr>
      </p:pic>
      <p:sp>
        <p:nvSpPr>
          <p:cNvPr id="5" name="TextBox 4"/>
          <p:cNvSpPr txBox="1"/>
          <p:nvPr/>
        </p:nvSpPr>
        <p:spPr>
          <a:xfrm>
            <a:off x="714348" y="3286124"/>
            <a:ext cx="3571900" cy="369332"/>
          </a:xfrm>
          <a:prstGeom prst="rect">
            <a:avLst/>
          </a:prstGeom>
          <a:noFill/>
        </p:spPr>
        <p:txBody>
          <a:bodyPr wrap="square" rtlCol="0">
            <a:spAutoFit/>
          </a:bodyPr>
          <a:lstStyle/>
          <a:p>
            <a:r>
              <a:rPr lang="en-US" dirty="0" smtClean="0"/>
              <a:t>HORIZONTAL MILLING MACHINE</a:t>
            </a:r>
            <a:endParaRPr lang="en-US" dirty="0"/>
          </a:p>
        </p:txBody>
      </p:sp>
      <p:pic>
        <p:nvPicPr>
          <p:cNvPr id="1027" name="Picture 3"/>
          <p:cNvPicPr>
            <a:picLocks noChangeAspect="1" noChangeArrowheads="1"/>
          </p:cNvPicPr>
          <p:nvPr/>
        </p:nvPicPr>
        <p:blipFill>
          <a:blip r:embed="rId3"/>
          <a:srcRect/>
          <a:stretch>
            <a:fillRect/>
          </a:stretch>
        </p:blipFill>
        <p:spPr bwMode="auto">
          <a:xfrm>
            <a:off x="4699636" y="571480"/>
            <a:ext cx="4158644" cy="2643206"/>
          </a:xfrm>
          <a:prstGeom prst="rect">
            <a:avLst/>
          </a:prstGeom>
          <a:noFill/>
          <a:ln w="9525">
            <a:noFill/>
            <a:miter lim="800000"/>
            <a:headEnd/>
            <a:tailEnd/>
          </a:ln>
          <a:effectLst/>
        </p:spPr>
      </p:pic>
      <p:sp>
        <p:nvSpPr>
          <p:cNvPr id="8" name="TextBox 7"/>
          <p:cNvSpPr txBox="1"/>
          <p:nvPr/>
        </p:nvSpPr>
        <p:spPr>
          <a:xfrm>
            <a:off x="5572132" y="3273982"/>
            <a:ext cx="3000396" cy="369332"/>
          </a:xfrm>
          <a:prstGeom prst="rect">
            <a:avLst/>
          </a:prstGeom>
          <a:noFill/>
        </p:spPr>
        <p:txBody>
          <a:bodyPr wrap="square" rtlCol="0">
            <a:spAutoFit/>
          </a:bodyPr>
          <a:lstStyle/>
          <a:p>
            <a:r>
              <a:rPr lang="en-US" dirty="0" smtClean="0"/>
              <a:t>VERTICAL MILLING MACHINE</a:t>
            </a:r>
            <a:endParaRPr lang="en-US" dirty="0"/>
          </a:p>
        </p:txBody>
      </p:sp>
      <p:pic>
        <p:nvPicPr>
          <p:cNvPr id="1028" name="Picture 4"/>
          <p:cNvPicPr>
            <a:picLocks noChangeAspect="1" noChangeArrowheads="1"/>
          </p:cNvPicPr>
          <p:nvPr/>
        </p:nvPicPr>
        <p:blipFill>
          <a:blip r:embed="rId4"/>
          <a:srcRect/>
          <a:stretch>
            <a:fillRect/>
          </a:stretch>
        </p:blipFill>
        <p:spPr bwMode="auto">
          <a:xfrm>
            <a:off x="4071934" y="3976710"/>
            <a:ext cx="2305050" cy="2667000"/>
          </a:xfrm>
          <a:prstGeom prst="rect">
            <a:avLst/>
          </a:prstGeom>
          <a:noFill/>
          <a:ln w="9525">
            <a:noFill/>
            <a:miter lim="800000"/>
            <a:headEnd/>
            <a:tailEnd/>
          </a:ln>
          <a:effectLst/>
        </p:spPr>
      </p:pic>
      <p:sp>
        <p:nvSpPr>
          <p:cNvPr id="10" name="TextBox 9"/>
          <p:cNvSpPr txBox="1"/>
          <p:nvPr/>
        </p:nvSpPr>
        <p:spPr>
          <a:xfrm>
            <a:off x="785786" y="4786322"/>
            <a:ext cx="3143272" cy="369332"/>
          </a:xfrm>
          <a:prstGeom prst="rect">
            <a:avLst/>
          </a:prstGeom>
          <a:noFill/>
        </p:spPr>
        <p:txBody>
          <a:bodyPr wrap="square" rtlCol="0">
            <a:spAutoFit/>
          </a:bodyPr>
          <a:lstStyle/>
          <a:p>
            <a:r>
              <a:rPr lang="en-US" dirty="0" smtClean="0"/>
              <a:t>UNIVERSAL MILLING MACHINE</a:t>
            </a:r>
            <a:endParaRPr lang="en-US" dirty="0"/>
          </a:p>
        </p:txBody>
      </p:sp>
      <p:sp>
        <p:nvSpPr>
          <p:cNvPr id="11" name="Slide Number Placeholder 10"/>
          <p:cNvSpPr>
            <a:spLocks noGrp="1"/>
          </p:cNvSpPr>
          <p:nvPr>
            <p:ph type="sldNum" sz="quarter" idx="12"/>
          </p:nvPr>
        </p:nvSpPr>
        <p:spPr/>
        <p:txBody>
          <a:bodyPr/>
          <a:lstStyle/>
          <a:p>
            <a:fld id="{4D374F10-0401-4224-9624-EB074E096B44}"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928694"/>
          </a:xfrm>
        </p:spPr>
        <p:txBody>
          <a:bodyPr>
            <a:normAutofit fontScale="90000"/>
          </a:bodyPr>
          <a:lstStyle/>
          <a:p>
            <a:r>
              <a:rPr lang="en-US" sz="2800" dirty="0" smtClean="0">
                <a:latin typeface="Times New Roman" pitchFamily="18" charset="0"/>
                <a:cs typeface="Times New Roman" pitchFamily="18" charset="0"/>
              </a:rPr>
              <a:t>PARTS OF COLUMN AND KNEE TYPE MILLING MACHINE</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214282" y="1214422"/>
            <a:ext cx="8715436" cy="5286412"/>
          </a:xfrm>
        </p:spPr>
        <p:txBody>
          <a:bodyPr>
            <a:noAutofit/>
          </a:bodyPr>
          <a:lstStyle/>
          <a:p>
            <a:pPr marL="514350" indent="-514350" algn="just">
              <a:buAutoNum type="arabicPeriod"/>
            </a:pPr>
            <a:r>
              <a:rPr lang="en-US" sz="2000" dirty="0" smtClean="0">
                <a:latin typeface="Times New Roman" pitchFamily="18" charset="0"/>
                <a:cs typeface="Times New Roman" pitchFamily="18" charset="0"/>
              </a:rPr>
              <a:t>BASE  </a:t>
            </a:r>
          </a:p>
          <a:p>
            <a:pPr marL="514350" indent="-514350" algn="just"/>
            <a:r>
              <a:rPr lang="en-US" sz="2000" dirty="0" smtClean="0">
                <a:latin typeface="Times New Roman" pitchFamily="18" charset="0"/>
                <a:cs typeface="Times New Roman" pitchFamily="18" charset="0"/>
              </a:rPr>
              <a:t>Made of grey cast iron </a:t>
            </a:r>
          </a:p>
          <a:p>
            <a:pPr marL="514350" indent="-514350" algn="just"/>
            <a:r>
              <a:rPr lang="en-US" sz="2000" dirty="0" smtClean="0">
                <a:latin typeface="Times New Roman" pitchFamily="18" charset="0"/>
                <a:cs typeface="Times New Roman" pitchFamily="18" charset="0"/>
              </a:rPr>
              <a:t>Act as foundation member </a:t>
            </a:r>
          </a:p>
          <a:p>
            <a:pPr marL="514350" indent="-514350" algn="just"/>
            <a:r>
              <a:rPr lang="en-US" sz="2000" dirty="0" smtClean="0">
                <a:latin typeface="Times New Roman" pitchFamily="18" charset="0"/>
                <a:cs typeface="Times New Roman" pitchFamily="18" charset="0"/>
              </a:rPr>
              <a:t>Carries column at one end </a:t>
            </a:r>
          </a:p>
          <a:p>
            <a:pPr marL="514350" indent="-514350" algn="just"/>
            <a:r>
              <a:rPr lang="en-US" sz="2000" dirty="0" smtClean="0">
                <a:latin typeface="Times New Roman" pitchFamily="18" charset="0"/>
                <a:cs typeface="Times New Roman" pitchFamily="18" charset="0"/>
              </a:rPr>
              <a:t>Serves as a reservoir for coolants </a:t>
            </a:r>
          </a:p>
          <a:p>
            <a:pPr marL="514350" indent="-514350" algn="just">
              <a:buNone/>
            </a:pPr>
            <a:r>
              <a:rPr lang="en-US" sz="2000" dirty="0" smtClean="0">
                <a:latin typeface="Times New Roman" pitchFamily="18" charset="0"/>
                <a:cs typeface="Times New Roman" pitchFamily="18" charset="0"/>
              </a:rPr>
              <a:t>2. COLUMN </a:t>
            </a:r>
          </a:p>
          <a:p>
            <a:pPr marL="514350" indent="-514350" algn="just"/>
            <a:r>
              <a:rPr lang="en-US" sz="2000" dirty="0" smtClean="0">
                <a:latin typeface="Times New Roman" pitchFamily="18" charset="0"/>
                <a:cs typeface="Times New Roman" pitchFamily="18" charset="0"/>
              </a:rPr>
              <a:t>Main supporting frame mounted vertically on the base </a:t>
            </a:r>
          </a:p>
          <a:p>
            <a:pPr marL="514350" indent="-514350" algn="just"/>
            <a:r>
              <a:rPr lang="en-US" sz="2000" dirty="0" smtClean="0">
                <a:latin typeface="Times New Roman" pitchFamily="18" charset="0"/>
                <a:cs typeface="Times New Roman" pitchFamily="18" charset="0"/>
              </a:rPr>
              <a:t>Houses all the driving mechanism for spindle and table feed </a:t>
            </a:r>
          </a:p>
          <a:p>
            <a:pPr marL="514350" indent="-514350" algn="just"/>
            <a:r>
              <a:rPr lang="en-US" sz="2000" dirty="0" smtClean="0">
                <a:latin typeface="Times New Roman" pitchFamily="18" charset="0"/>
                <a:cs typeface="Times New Roman" pitchFamily="18" charset="0"/>
              </a:rPr>
              <a:t>Front vertical face is provided with guide ways for supporting the knee. </a:t>
            </a:r>
          </a:p>
          <a:p>
            <a:pPr marL="514350" indent="-514350" algn="just">
              <a:buNone/>
            </a:pPr>
            <a:r>
              <a:rPr lang="en-US" sz="2000" dirty="0" smtClean="0">
                <a:latin typeface="Times New Roman" pitchFamily="18" charset="0"/>
                <a:cs typeface="Times New Roman" pitchFamily="18" charset="0"/>
              </a:rPr>
              <a:t>3. KNEE </a:t>
            </a:r>
          </a:p>
          <a:p>
            <a:pPr marL="514350" indent="-514350" algn="just"/>
            <a:r>
              <a:rPr lang="en-US" sz="2000" dirty="0" smtClean="0">
                <a:latin typeface="Times New Roman" pitchFamily="18" charset="0"/>
                <a:cs typeface="Times New Roman" pitchFamily="18" charset="0"/>
              </a:rPr>
              <a:t>Portion which projects from column and is made to slide up and down </a:t>
            </a:r>
          </a:p>
          <a:p>
            <a:pPr marL="514350" indent="-514350"/>
            <a:r>
              <a:rPr lang="en-US" sz="2000" dirty="0" smtClean="0">
                <a:latin typeface="Times New Roman" pitchFamily="18" charset="0"/>
                <a:cs typeface="Times New Roman" pitchFamily="18" charset="0"/>
              </a:rPr>
              <a:t>Position of knee can be adjusted by an elevating screw provided below the knee. </a:t>
            </a: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4348" y="714356"/>
            <a:ext cx="7858180" cy="5286412"/>
          </a:xfrm>
        </p:spPr>
        <p:txBody>
          <a:bodyPr>
            <a:normAutofit/>
          </a:bodyPr>
          <a:lstStyle/>
          <a:p>
            <a:pPr algn="just">
              <a:buNone/>
            </a:pPr>
            <a:r>
              <a:rPr lang="en-US" sz="2000" dirty="0" smtClean="0">
                <a:latin typeface="Times New Roman" pitchFamily="18" charset="0"/>
                <a:cs typeface="Times New Roman" pitchFamily="18" charset="0"/>
              </a:rPr>
              <a:t>4. SADDLE </a:t>
            </a:r>
          </a:p>
          <a:p>
            <a:pPr algn="just">
              <a:buNone/>
            </a:pPr>
            <a:r>
              <a:rPr lang="en-US" sz="2000" dirty="0" smtClean="0">
                <a:latin typeface="Times New Roman" pitchFamily="18" charset="0"/>
                <a:cs typeface="Times New Roman" pitchFamily="18" charset="0"/>
              </a:rPr>
              <a:t>• Support and carries the table. </a:t>
            </a:r>
          </a:p>
          <a:p>
            <a:pPr algn="just"/>
            <a:r>
              <a:rPr lang="en-US" sz="2000" dirty="0" smtClean="0">
                <a:latin typeface="Times New Roman" pitchFamily="18" charset="0"/>
                <a:cs typeface="Times New Roman" pitchFamily="18" charset="0"/>
              </a:rPr>
              <a:t>Slides on guide ways provided on the top of the knee </a:t>
            </a:r>
          </a:p>
          <a:p>
            <a:pPr algn="just">
              <a:buNone/>
            </a:pPr>
            <a:r>
              <a:rPr lang="en-US" sz="2000" dirty="0" smtClean="0">
                <a:latin typeface="Times New Roman" pitchFamily="18" charset="0"/>
                <a:cs typeface="Times New Roman" pitchFamily="18" charset="0"/>
              </a:rPr>
              <a:t>5. TABLE </a:t>
            </a:r>
          </a:p>
          <a:p>
            <a:pPr algn="just"/>
            <a:r>
              <a:rPr lang="en-US" sz="2000" dirty="0" smtClean="0">
                <a:latin typeface="Times New Roman" pitchFamily="18" charset="0"/>
                <a:cs typeface="Times New Roman" pitchFamily="18" charset="0"/>
              </a:rPr>
              <a:t>Table rests on ways on the saddle and travels longitudinally </a:t>
            </a:r>
          </a:p>
          <a:p>
            <a:pPr algn="just"/>
            <a:r>
              <a:rPr lang="en-US" sz="2000" dirty="0" smtClean="0">
                <a:latin typeface="Times New Roman" pitchFamily="18" charset="0"/>
                <a:cs typeface="Times New Roman" pitchFamily="18" charset="0"/>
              </a:rPr>
              <a:t>Acts as a support for the work </a:t>
            </a:r>
          </a:p>
          <a:p>
            <a:pPr algn="just"/>
            <a:r>
              <a:rPr lang="en-US" sz="2000" dirty="0" smtClean="0">
                <a:latin typeface="Times New Roman" pitchFamily="18" charset="0"/>
                <a:cs typeface="Times New Roman" pitchFamily="18" charset="0"/>
              </a:rPr>
              <a:t>T- slots are provided for clamping the work and other fixtures </a:t>
            </a:r>
          </a:p>
          <a:p>
            <a:pPr algn="just"/>
            <a:r>
              <a:rPr lang="en-US" sz="2000" dirty="0" smtClean="0">
                <a:latin typeface="Times New Roman" pitchFamily="18" charset="0"/>
                <a:cs typeface="Times New Roman" pitchFamily="18" charset="0"/>
              </a:rPr>
              <a:t>A lead screw under the table is used to move the table horizontally </a:t>
            </a:r>
          </a:p>
          <a:p>
            <a:pPr algn="just"/>
            <a:r>
              <a:rPr lang="en-US" sz="2000" dirty="0" smtClean="0">
                <a:latin typeface="Times New Roman" pitchFamily="18" charset="0"/>
                <a:cs typeface="Times New Roman" pitchFamily="18" charset="0"/>
              </a:rPr>
              <a:t>In universal machines, table may swiveled horizontally on a circular base. </a:t>
            </a:r>
          </a:p>
          <a:p>
            <a:pPr algn="just">
              <a:buNone/>
            </a:pPr>
            <a:r>
              <a:rPr lang="en-US" sz="2000" dirty="0" smtClean="0">
                <a:latin typeface="Times New Roman" pitchFamily="18" charset="0"/>
                <a:cs typeface="Times New Roman" pitchFamily="18" charset="0"/>
              </a:rPr>
              <a:t>6. OVERHANGING ARM </a:t>
            </a:r>
          </a:p>
          <a:p>
            <a:pPr algn="just"/>
            <a:r>
              <a:rPr lang="en-US" sz="2000" dirty="0" smtClean="0">
                <a:latin typeface="Times New Roman" pitchFamily="18" charset="0"/>
                <a:cs typeface="Times New Roman" pitchFamily="18" charset="0"/>
              </a:rPr>
              <a:t>Mounted on the top of the column </a:t>
            </a:r>
          </a:p>
          <a:p>
            <a:pPr algn="just"/>
            <a:r>
              <a:rPr lang="en-US" sz="2000" dirty="0" smtClean="0">
                <a:latin typeface="Times New Roman" pitchFamily="18" charset="0"/>
                <a:cs typeface="Times New Roman" pitchFamily="18" charset="0"/>
              </a:rPr>
              <a:t>Serves as a bearing support for the other end of the arbor.</a:t>
            </a: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1472" y="1142984"/>
            <a:ext cx="8229600" cy="4525963"/>
          </a:xfrm>
        </p:spPr>
        <p:txBody>
          <a:bodyPr>
            <a:normAutofit/>
          </a:bodyPr>
          <a:lstStyle/>
          <a:p>
            <a:pPr algn="just">
              <a:buNone/>
            </a:pPr>
            <a:r>
              <a:rPr lang="en-US" sz="2000" dirty="0" smtClean="0">
                <a:latin typeface="Times New Roman" pitchFamily="18" charset="0"/>
                <a:cs typeface="Times New Roman" pitchFamily="18" charset="0"/>
              </a:rPr>
              <a:t>7. SPINDLE </a:t>
            </a:r>
          </a:p>
          <a:p>
            <a:pPr algn="just"/>
            <a:r>
              <a:rPr lang="en-US" sz="2000" dirty="0" smtClean="0">
                <a:latin typeface="Times New Roman" pitchFamily="18" charset="0"/>
                <a:cs typeface="Times New Roman" pitchFamily="18" charset="0"/>
              </a:rPr>
              <a:t>Located in the upper part of the column </a:t>
            </a:r>
          </a:p>
          <a:p>
            <a:pPr algn="just"/>
            <a:r>
              <a:rPr lang="en-US" sz="2000" dirty="0" smtClean="0">
                <a:latin typeface="Times New Roman" pitchFamily="18" charset="0"/>
                <a:cs typeface="Times New Roman" pitchFamily="18" charset="0"/>
              </a:rPr>
              <a:t>Receives power from electric motor through belts and gears </a:t>
            </a:r>
          </a:p>
          <a:p>
            <a:pPr algn="just"/>
            <a:r>
              <a:rPr lang="en-US" sz="2000" dirty="0" smtClean="0">
                <a:latin typeface="Times New Roman" pitchFamily="18" charset="0"/>
                <a:cs typeface="Times New Roman" pitchFamily="18" charset="0"/>
              </a:rPr>
              <a:t>Spindle drive arbor. </a:t>
            </a:r>
          </a:p>
          <a:p>
            <a:pPr algn="just">
              <a:buNone/>
            </a:pPr>
            <a:r>
              <a:rPr lang="en-US" sz="2000" dirty="0" smtClean="0">
                <a:latin typeface="Times New Roman" pitchFamily="18" charset="0"/>
                <a:cs typeface="Times New Roman" pitchFamily="18" charset="0"/>
              </a:rPr>
              <a:t>8. ARBOR </a:t>
            </a:r>
          </a:p>
          <a:p>
            <a:pPr algn="just"/>
            <a:r>
              <a:rPr lang="en-US" sz="2000" dirty="0" smtClean="0">
                <a:latin typeface="Times New Roman" pitchFamily="18" charset="0"/>
                <a:cs typeface="Times New Roman" pitchFamily="18" charset="0"/>
              </a:rPr>
              <a:t>Extension of spindle on which milling cutters are mounted </a:t>
            </a:r>
          </a:p>
          <a:p>
            <a:pPr algn="just"/>
            <a:r>
              <a:rPr lang="en-US" sz="2000" dirty="0" smtClean="0">
                <a:latin typeface="Times New Roman" pitchFamily="18" charset="0"/>
                <a:cs typeface="Times New Roman" pitchFamily="18" charset="0"/>
              </a:rPr>
              <a:t>Provided with taper shank that fits into machine spindle having taper hole at their nose </a:t>
            </a:r>
          </a:p>
          <a:p>
            <a:pPr algn="just"/>
            <a:r>
              <a:rPr lang="en-US" sz="2000" dirty="0" smtClean="0">
                <a:latin typeface="Times New Roman" pitchFamily="18" charset="0"/>
                <a:cs typeface="Times New Roman" pitchFamily="18" charset="0"/>
              </a:rPr>
              <a:t>Position of arbor can be adjusted with spacers </a:t>
            </a:r>
          </a:p>
          <a:p>
            <a:pPr algn="just"/>
            <a:r>
              <a:rPr lang="en-US" sz="2000" dirty="0" smtClean="0">
                <a:latin typeface="Times New Roman" pitchFamily="18" charset="0"/>
                <a:cs typeface="Times New Roman" pitchFamily="18" charset="0"/>
              </a:rPr>
              <a:t>Draw bolt is used for locking arbor with spindle </a:t>
            </a: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428604"/>
            <a:ext cx="8429684" cy="6000792"/>
          </a:xfrm>
        </p:spPr>
        <p:txBody>
          <a:bodyPr>
            <a:noAutofit/>
          </a:bodyPr>
          <a:lstStyle/>
          <a:p>
            <a:pPr algn="just"/>
            <a:r>
              <a:rPr lang="en-US" sz="2200" dirty="0" smtClean="0">
                <a:latin typeface="Times New Roman" pitchFamily="18" charset="0"/>
                <a:cs typeface="Times New Roman" pitchFamily="18" charset="0"/>
              </a:rPr>
              <a:t>In vertical milling machine most of the construction is very similar to the horizontal axis type except the spindle type and location. </a:t>
            </a:r>
          </a:p>
          <a:p>
            <a:pPr algn="just"/>
            <a:r>
              <a:rPr lang="en-US" sz="2200" dirty="0" smtClean="0">
                <a:latin typeface="Times New Roman" pitchFamily="18" charset="0"/>
                <a:cs typeface="Times New Roman" pitchFamily="18" charset="0"/>
              </a:rPr>
              <a:t>The spindle is located in the vertical direction and is suitable for using the shank mounted milling cutters such as end mills.</a:t>
            </a:r>
          </a:p>
          <a:p>
            <a:pPr algn="just"/>
            <a:r>
              <a:rPr lang="en-US" sz="2200" dirty="0" smtClean="0">
                <a:latin typeface="Times New Roman" pitchFamily="18" charset="0"/>
                <a:cs typeface="Times New Roman" pitchFamily="18" charset="0"/>
              </a:rPr>
              <a:t>In view of the location of the tool, the setting up of the work piece and observing the machining operation is more convenient.  </a:t>
            </a:r>
          </a:p>
          <a:p>
            <a:pPr algn="just"/>
            <a:r>
              <a:rPr lang="en-US" sz="2200" dirty="0" smtClean="0">
                <a:latin typeface="Times New Roman" pitchFamily="18" charset="0"/>
                <a:cs typeface="Times New Roman" pitchFamily="18" charset="0"/>
              </a:rPr>
              <a:t>The vertical axis milling machine is more flexible and suitable for machining complex cavities such as in die cavities in tool rooms. </a:t>
            </a:r>
          </a:p>
          <a:p>
            <a:pPr algn="just"/>
            <a:r>
              <a:rPr lang="en-US" sz="2200" dirty="0" smtClean="0">
                <a:latin typeface="Times New Roman" pitchFamily="18" charset="0"/>
                <a:cs typeface="Times New Roman" pitchFamily="18" charset="0"/>
              </a:rPr>
              <a:t>Also the vertical head is provided with </a:t>
            </a:r>
            <a:r>
              <a:rPr lang="en-US" sz="2200" dirty="0" err="1" smtClean="0">
                <a:latin typeface="Times New Roman" pitchFamily="18" charset="0"/>
                <a:cs typeface="Times New Roman" pitchFamily="18" charset="0"/>
              </a:rPr>
              <a:t>swivelling</a:t>
            </a:r>
            <a:r>
              <a:rPr lang="en-US" sz="2200" dirty="0" smtClean="0">
                <a:latin typeface="Times New Roman" pitchFamily="18" charset="0"/>
                <a:cs typeface="Times New Roman" pitchFamily="18" charset="0"/>
              </a:rPr>
              <a:t> facility in horizontal direction whereby the cutter axis can be </a:t>
            </a:r>
            <a:r>
              <a:rPr lang="en-US" sz="2200" dirty="0" err="1" smtClean="0">
                <a:latin typeface="Times New Roman" pitchFamily="18" charset="0"/>
                <a:cs typeface="Times New Roman" pitchFamily="18" charset="0"/>
              </a:rPr>
              <a:t>swivelled</a:t>
            </a:r>
            <a:r>
              <a:rPr lang="en-US" sz="2200" dirty="0" smtClean="0">
                <a:latin typeface="Times New Roman" pitchFamily="18" charset="0"/>
                <a:cs typeface="Times New Roman" pitchFamily="18" charset="0"/>
              </a:rPr>
              <a:t>. This is useful for tool rooms where more complex milling operations are carried out.</a:t>
            </a:r>
          </a:p>
          <a:p>
            <a:pPr algn="just"/>
            <a:r>
              <a:rPr lang="en-US" sz="2200" dirty="0" smtClean="0">
                <a:latin typeface="Times New Roman" pitchFamily="18" charset="0"/>
                <a:cs typeface="Times New Roman" pitchFamily="18" charset="0"/>
              </a:rPr>
              <a:t>The universal machine has the table, which can be </a:t>
            </a:r>
            <a:r>
              <a:rPr lang="en-US" sz="2200" dirty="0" err="1" smtClean="0">
                <a:latin typeface="Times New Roman" pitchFamily="18" charset="0"/>
                <a:cs typeface="Times New Roman" pitchFamily="18" charset="0"/>
              </a:rPr>
              <a:t>swivelled</a:t>
            </a:r>
            <a:r>
              <a:rPr lang="en-US" sz="2200" dirty="0" smtClean="0">
                <a:latin typeface="Times New Roman" pitchFamily="18" charset="0"/>
                <a:cs typeface="Times New Roman" pitchFamily="18" charset="0"/>
              </a:rPr>
              <a:t> in horizontal plane about 45° to either the left or right. </a:t>
            </a:r>
          </a:p>
          <a:p>
            <a:pPr algn="just"/>
            <a:r>
              <a:rPr lang="en-US" sz="2200" dirty="0" smtClean="0">
                <a:latin typeface="Times New Roman" pitchFamily="18" charset="0"/>
                <a:cs typeface="Times New Roman" pitchFamily="18" charset="0"/>
              </a:rPr>
              <a:t>This makes the universal machine suitable for milling spur and helical gears, as well as worm gears and cams.</a:t>
            </a:r>
            <a:endParaRPr lang="en-US"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a:bodyPr>
          <a:lstStyle/>
          <a:p>
            <a:r>
              <a:rPr lang="en-US" sz="3200" b="1" dirty="0" smtClean="0">
                <a:latin typeface="Times New Roman" pitchFamily="18" charset="0"/>
                <a:cs typeface="Times New Roman" pitchFamily="18" charset="0"/>
              </a:rPr>
              <a:t>BED TYPE MILLING MACHINES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214282" y="1071546"/>
            <a:ext cx="8643998" cy="5500726"/>
          </a:xfrm>
        </p:spPr>
        <p:txBody>
          <a:bodyPr>
            <a:normAutofit/>
          </a:bodyPr>
          <a:lstStyle/>
          <a:p>
            <a:pPr algn="just"/>
            <a:r>
              <a:rPr lang="en-US" sz="2200" dirty="0" smtClean="0">
                <a:latin typeface="Times New Roman" pitchFamily="18" charset="0"/>
                <a:cs typeface="Times New Roman" pitchFamily="18" charset="0"/>
              </a:rPr>
              <a:t>In production milling machines it is desirable to increase the metal removal rates. If it is done on conventional machines by increasing the depth of cut, chatter is likely to result. </a:t>
            </a:r>
          </a:p>
          <a:p>
            <a:pPr algn="just"/>
            <a:r>
              <a:rPr lang="en-US" sz="2200" dirty="0" smtClean="0">
                <a:latin typeface="Times New Roman" pitchFamily="18" charset="0"/>
                <a:cs typeface="Times New Roman" pitchFamily="18" charset="0"/>
              </a:rPr>
              <a:t>Hence another variety of milling machines named as the bed type machines, which are made more rugged and consequently are capable of removing more material. </a:t>
            </a:r>
          </a:p>
          <a:p>
            <a:pPr algn="just"/>
            <a:r>
              <a:rPr lang="en-US" sz="2200" dirty="0" smtClean="0">
                <a:latin typeface="Times New Roman" pitchFamily="18" charset="0"/>
                <a:cs typeface="Times New Roman" pitchFamily="18" charset="0"/>
              </a:rPr>
              <a:t>The ruggedness is obtained as a consequence of the reduction in the versatility. The table in the case of bed type machines is directly mounted on the bed and is provided with only the longitudinal motion.</a:t>
            </a:r>
          </a:p>
          <a:p>
            <a:pPr algn="just"/>
            <a:r>
              <a:rPr lang="en-US" sz="2200" dirty="0" smtClean="0">
                <a:latin typeface="Times New Roman" pitchFamily="18" charset="0"/>
                <a:cs typeface="Times New Roman" pitchFamily="18" charset="0"/>
              </a:rPr>
              <a:t>The spindle will be moving along with the column to provide the cutting action. </a:t>
            </a:r>
          </a:p>
          <a:p>
            <a:pPr algn="just"/>
            <a:r>
              <a:rPr lang="en-US" sz="2200" dirty="0" smtClean="0">
                <a:latin typeface="Times New Roman" pitchFamily="18" charset="0"/>
                <a:cs typeface="Times New Roman" pitchFamily="18" charset="0"/>
              </a:rPr>
              <a:t>Simplex machines are the ones with only one spindle head while the duplex machines have two spindles. The two spindles are located on either side of a heavy work piece and normally remove material from both sides simultaneously.</a:t>
            </a:r>
            <a:endParaRPr lang="en-US"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D374F10-0401-4224-9624-EB074E096B44}" type="slidenum">
              <a:rPr lang="en-US" smtClean="0"/>
              <a:pPr/>
              <a:t>12</a:t>
            </a:fld>
            <a:endParaRPr lang="en-US"/>
          </a:p>
        </p:txBody>
      </p:sp>
      <p:pic>
        <p:nvPicPr>
          <p:cNvPr id="1026" name="Picture 2"/>
          <p:cNvPicPr>
            <a:picLocks noChangeAspect="1" noChangeArrowheads="1"/>
          </p:cNvPicPr>
          <p:nvPr/>
        </p:nvPicPr>
        <p:blipFill>
          <a:blip r:embed="rId2"/>
          <a:srcRect t="2632"/>
          <a:stretch>
            <a:fillRect/>
          </a:stretch>
        </p:blipFill>
        <p:spPr bwMode="auto">
          <a:xfrm>
            <a:off x="71406" y="71414"/>
            <a:ext cx="4982798" cy="285752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l="1103" t="8876" r="1838"/>
          <a:stretch>
            <a:fillRect/>
          </a:stretch>
        </p:blipFill>
        <p:spPr bwMode="auto">
          <a:xfrm>
            <a:off x="2714612" y="3500438"/>
            <a:ext cx="6286544" cy="2933698"/>
          </a:xfrm>
          <a:prstGeom prst="rect">
            <a:avLst/>
          </a:prstGeom>
          <a:noFill/>
          <a:ln w="9525">
            <a:noFill/>
            <a:miter lim="800000"/>
            <a:headEnd/>
            <a:tailEnd/>
          </a:ln>
          <a:effectLst/>
        </p:spPr>
      </p:pic>
      <p:sp>
        <p:nvSpPr>
          <p:cNvPr id="7" name="TextBox 6"/>
          <p:cNvSpPr txBox="1"/>
          <p:nvPr/>
        </p:nvSpPr>
        <p:spPr>
          <a:xfrm>
            <a:off x="5286380" y="1214422"/>
            <a:ext cx="3429024" cy="369332"/>
          </a:xfrm>
          <a:prstGeom prst="rect">
            <a:avLst/>
          </a:prstGeom>
          <a:noFill/>
        </p:spPr>
        <p:txBody>
          <a:bodyPr wrap="square" rtlCol="0">
            <a:spAutoFit/>
          </a:bodyPr>
          <a:lstStyle/>
          <a:p>
            <a:r>
              <a:rPr lang="en-US" dirty="0" smtClean="0"/>
              <a:t>Simplex Bed type Milling Machine</a:t>
            </a:r>
            <a:endParaRPr lang="en-US" dirty="0"/>
          </a:p>
        </p:txBody>
      </p:sp>
      <p:sp>
        <p:nvSpPr>
          <p:cNvPr id="8" name="TextBox 7"/>
          <p:cNvSpPr txBox="1"/>
          <p:nvPr/>
        </p:nvSpPr>
        <p:spPr>
          <a:xfrm>
            <a:off x="500034" y="4925809"/>
            <a:ext cx="1785950" cy="646331"/>
          </a:xfrm>
          <a:prstGeom prst="rect">
            <a:avLst/>
          </a:prstGeom>
          <a:noFill/>
        </p:spPr>
        <p:txBody>
          <a:bodyPr wrap="square" rtlCol="0">
            <a:spAutoFit/>
          </a:bodyPr>
          <a:lstStyle/>
          <a:p>
            <a:r>
              <a:rPr lang="en-US" dirty="0" smtClean="0"/>
              <a:t>Duplex Bed type Milling Machine</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725470"/>
          </a:xfrm>
        </p:spPr>
        <p:txBody>
          <a:bodyPr>
            <a:normAutofit/>
          </a:bodyPr>
          <a:lstStyle/>
          <a:p>
            <a:r>
              <a:rPr lang="en-US" sz="3200" b="1" dirty="0" smtClean="0">
                <a:latin typeface="Times New Roman" pitchFamily="18" charset="0"/>
                <a:cs typeface="Times New Roman" pitchFamily="18" charset="0"/>
              </a:rPr>
              <a:t>Milling Cutters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357158" y="1142984"/>
            <a:ext cx="8501122" cy="3500462"/>
          </a:xfrm>
        </p:spPr>
        <p:txBody>
          <a:bodyPr numCol="2">
            <a:normAutofit/>
          </a:bodyPr>
          <a:lstStyle/>
          <a:p>
            <a:pPr>
              <a:buNone/>
            </a:pPr>
            <a:r>
              <a:rPr lang="en-US" sz="2200" dirty="0" smtClean="0">
                <a:latin typeface="Times New Roman" pitchFamily="18" charset="0"/>
                <a:cs typeface="Times New Roman" pitchFamily="18" charset="0"/>
              </a:rPr>
              <a:t>Types</a:t>
            </a:r>
          </a:p>
          <a:p>
            <a:pPr marL="457200" indent="-457200">
              <a:buAutoNum type="arabicPeriod"/>
            </a:pPr>
            <a:r>
              <a:rPr lang="en-US" sz="2200" dirty="0" smtClean="0">
                <a:latin typeface="Times New Roman" pitchFamily="18" charset="0"/>
                <a:cs typeface="Times New Roman" pitchFamily="18" charset="0"/>
              </a:rPr>
              <a:t>Based on construction</a:t>
            </a:r>
          </a:p>
          <a:p>
            <a:pPr marL="457200" indent="-457200"/>
            <a:r>
              <a:rPr lang="en-US" sz="2200" dirty="0" smtClean="0">
                <a:latin typeface="Times New Roman" pitchFamily="18" charset="0"/>
                <a:cs typeface="Times New Roman" pitchFamily="18" charset="0"/>
              </a:rPr>
              <a:t>Solid</a:t>
            </a:r>
          </a:p>
          <a:p>
            <a:pPr marL="457200" indent="-457200"/>
            <a:r>
              <a:rPr lang="en-US" sz="2200" dirty="0" smtClean="0">
                <a:latin typeface="Times New Roman" pitchFamily="18" charset="0"/>
                <a:cs typeface="Times New Roman" pitchFamily="18" charset="0"/>
              </a:rPr>
              <a:t>Inserted Tooth type</a:t>
            </a:r>
          </a:p>
          <a:p>
            <a:pPr marL="457200" indent="-457200">
              <a:buNone/>
            </a:pPr>
            <a:r>
              <a:rPr lang="en-US" sz="2200" dirty="0" smtClean="0">
                <a:latin typeface="Times New Roman" pitchFamily="18" charset="0"/>
                <a:cs typeface="Times New Roman" pitchFamily="18" charset="0"/>
              </a:rPr>
              <a:t>2. Based on Mounting</a:t>
            </a:r>
          </a:p>
          <a:p>
            <a:pPr marL="457200" indent="-457200"/>
            <a:r>
              <a:rPr lang="en-US" sz="2200" dirty="0" err="1" smtClean="0">
                <a:latin typeface="Times New Roman" pitchFamily="18" charset="0"/>
                <a:cs typeface="Times New Roman" pitchFamily="18" charset="0"/>
              </a:rPr>
              <a:t>Arbour</a:t>
            </a:r>
            <a:r>
              <a:rPr lang="en-US" sz="2200" dirty="0" smtClean="0">
                <a:latin typeface="Times New Roman" pitchFamily="18" charset="0"/>
                <a:cs typeface="Times New Roman" pitchFamily="18" charset="0"/>
              </a:rPr>
              <a:t> Mounted</a:t>
            </a:r>
          </a:p>
          <a:p>
            <a:pPr marL="457200" indent="-457200"/>
            <a:r>
              <a:rPr lang="en-US" sz="2200" dirty="0" smtClean="0">
                <a:latin typeface="Times New Roman" pitchFamily="18" charset="0"/>
                <a:cs typeface="Times New Roman" pitchFamily="18" charset="0"/>
              </a:rPr>
              <a:t>Shank Mounted</a:t>
            </a:r>
          </a:p>
          <a:p>
            <a:pPr marL="457200" indent="-457200"/>
            <a:r>
              <a:rPr lang="en-US" sz="2200" dirty="0" smtClean="0">
                <a:latin typeface="Times New Roman" pitchFamily="18" charset="0"/>
                <a:cs typeface="Times New Roman" pitchFamily="18" charset="0"/>
              </a:rPr>
              <a:t>Nose Mounted</a:t>
            </a:r>
          </a:p>
          <a:p>
            <a:pPr marL="457200" indent="-457200">
              <a:buNone/>
            </a:pPr>
            <a:r>
              <a:rPr lang="en-US" sz="2200" dirty="0" smtClean="0">
                <a:latin typeface="Times New Roman" pitchFamily="18" charset="0"/>
                <a:cs typeface="Times New Roman" pitchFamily="18" charset="0"/>
              </a:rPr>
              <a:t>3. Based on rotation</a:t>
            </a:r>
          </a:p>
          <a:p>
            <a:pPr marL="457200" indent="-457200"/>
            <a:r>
              <a:rPr lang="en-US" sz="2200" dirty="0" smtClean="0">
                <a:latin typeface="Times New Roman" pitchFamily="18" charset="0"/>
                <a:cs typeface="Times New Roman" pitchFamily="18" charset="0"/>
              </a:rPr>
              <a:t>Right Hand rotation (Counter Clockwise)</a:t>
            </a:r>
          </a:p>
          <a:p>
            <a:pPr marL="457200" indent="-457200"/>
            <a:r>
              <a:rPr lang="en-US" sz="2200" dirty="0" smtClean="0">
                <a:latin typeface="Times New Roman" pitchFamily="18" charset="0"/>
                <a:cs typeface="Times New Roman" pitchFamily="18" charset="0"/>
              </a:rPr>
              <a:t>Left Hand Rotation (Clockwise)</a:t>
            </a:r>
          </a:p>
          <a:p>
            <a:pPr marL="457200" indent="-457200">
              <a:buNone/>
            </a:pPr>
            <a:r>
              <a:rPr lang="en-US" sz="2200" dirty="0" smtClean="0">
                <a:latin typeface="Times New Roman" pitchFamily="18" charset="0"/>
                <a:cs typeface="Times New Roman" pitchFamily="18" charset="0"/>
              </a:rPr>
              <a:t>4. Based on Helix</a:t>
            </a:r>
          </a:p>
          <a:p>
            <a:pPr marL="457200" indent="-457200"/>
            <a:r>
              <a:rPr lang="en-US" sz="2200" dirty="0" smtClean="0">
                <a:latin typeface="Times New Roman" pitchFamily="18" charset="0"/>
                <a:cs typeface="Times New Roman" pitchFamily="18" charset="0"/>
              </a:rPr>
              <a:t>Right Hand Helix</a:t>
            </a:r>
          </a:p>
          <a:p>
            <a:pPr marL="457200" indent="-457200"/>
            <a:r>
              <a:rPr lang="en-US" sz="2200" dirty="0" smtClean="0">
                <a:latin typeface="Times New Roman" pitchFamily="18" charset="0"/>
                <a:cs typeface="Times New Roman" pitchFamily="18" charset="0"/>
              </a:rPr>
              <a:t>Left Hand Helix</a:t>
            </a:r>
            <a:endParaRPr lang="en-US"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13</a:t>
            </a:fld>
            <a:endParaRPr lang="en-US"/>
          </a:p>
        </p:txBody>
      </p:sp>
      <p:sp>
        <p:nvSpPr>
          <p:cNvPr id="5" name="TextBox 4"/>
          <p:cNvSpPr txBox="1"/>
          <p:nvPr/>
        </p:nvSpPr>
        <p:spPr>
          <a:xfrm>
            <a:off x="428596" y="4943315"/>
            <a:ext cx="8286808" cy="1200329"/>
          </a:xfrm>
          <a:prstGeom prst="rect">
            <a:avLst/>
          </a:prstGeom>
          <a:noFill/>
        </p:spPr>
        <p:txBody>
          <a:bodyPr wrap="square" rtlCol="0">
            <a:spAutoFit/>
          </a:bodyPr>
          <a:lstStyle/>
          <a:p>
            <a:pPr algn="just"/>
            <a:r>
              <a:rPr lang="en-US" dirty="0" smtClean="0">
                <a:solidFill>
                  <a:srgbClr val="FF0000"/>
                </a:solidFill>
              </a:rPr>
              <a:t> </a:t>
            </a:r>
            <a:r>
              <a:rPr lang="en-US" b="1" dirty="0" smtClean="0">
                <a:solidFill>
                  <a:srgbClr val="FF0000"/>
                </a:solidFill>
                <a:latin typeface="Times New Roman" pitchFamily="18" charset="0"/>
                <a:cs typeface="Times New Roman" pitchFamily="18" charset="0"/>
              </a:rPr>
              <a:t>Milling cutters are generally made of high speed steel or cemented carbides. The cemented carbide cutters can be with brazed tip variety or more commonly with </a:t>
            </a:r>
            <a:r>
              <a:rPr lang="en-US" b="1" dirty="0" err="1" smtClean="0">
                <a:solidFill>
                  <a:srgbClr val="FF0000"/>
                </a:solidFill>
                <a:latin typeface="Times New Roman" pitchFamily="18" charset="0"/>
                <a:cs typeface="Times New Roman" pitchFamily="18" charset="0"/>
              </a:rPr>
              <a:t>indexable</a:t>
            </a:r>
            <a:r>
              <a:rPr lang="en-US" b="1" dirty="0" smtClean="0">
                <a:solidFill>
                  <a:srgbClr val="FF0000"/>
                </a:solidFill>
                <a:latin typeface="Times New Roman" pitchFamily="18" charset="0"/>
                <a:cs typeface="Times New Roman" pitchFamily="18" charset="0"/>
              </a:rPr>
              <a:t> tips. The </a:t>
            </a:r>
            <a:r>
              <a:rPr lang="en-US" b="1" dirty="0" err="1" smtClean="0">
                <a:solidFill>
                  <a:srgbClr val="FF0000"/>
                </a:solidFill>
                <a:latin typeface="Times New Roman" pitchFamily="18" charset="0"/>
                <a:cs typeface="Times New Roman" pitchFamily="18" charset="0"/>
              </a:rPr>
              <a:t>indexable</a:t>
            </a:r>
            <a:r>
              <a:rPr lang="en-US" b="1" dirty="0" smtClean="0">
                <a:solidFill>
                  <a:srgbClr val="FF0000"/>
                </a:solidFill>
                <a:latin typeface="Times New Roman" pitchFamily="18" charset="0"/>
                <a:cs typeface="Times New Roman" pitchFamily="18" charset="0"/>
              </a:rPr>
              <a:t> variety is more common since it is normally less expensive to replace the worn out cutting edges than to regrind them.</a:t>
            </a:r>
            <a:endParaRPr lang="en-US" b="1" dirty="0">
              <a:solidFill>
                <a:srgbClr val="FF0000"/>
              </a:solidFill>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74638"/>
            <a:ext cx="8258204" cy="654032"/>
          </a:xfrm>
        </p:spPr>
        <p:txBody>
          <a:bodyPr>
            <a:normAutofit/>
          </a:bodyPr>
          <a:lstStyle/>
          <a:p>
            <a:r>
              <a:rPr lang="en-US" sz="3200" b="1" dirty="0" smtClean="0">
                <a:latin typeface="Times New Roman" pitchFamily="18" charset="0"/>
                <a:cs typeface="Times New Roman" pitchFamily="18" charset="0"/>
              </a:rPr>
              <a:t>MILLING CUTTER AND ITS ELEMENTS</a:t>
            </a:r>
            <a:endParaRPr lang="en-US" sz="3200" b="1"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b="6249"/>
          <a:stretch>
            <a:fillRect/>
          </a:stretch>
        </p:blipFill>
        <p:spPr bwMode="auto">
          <a:xfrm>
            <a:off x="1785918" y="1428736"/>
            <a:ext cx="5695950" cy="4857784"/>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4D374F10-0401-4224-9624-EB074E096B44}"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285728"/>
            <a:ext cx="6000792" cy="6357982"/>
          </a:xfrm>
        </p:spPr>
        <p:txBody>
          <a:bodyPr>
            <a:normAutofit fontScale="92500" lnSpcReduction="10000"/>
          </a:bodyPr>
          <a:lstStyle/>
          <a:p>
            <a:pPr>
              <a:buNone/>
            </a:pPr>
            <a:r>
              <a:rPr lang="en-US" sz="2200" dirty="0" smtClean="0">
                <a:latin typeface="Times New Roman" pitchFamily="18" charset="0"/>
                <a:cs typeface="Times New Roman" pitchFamily="18" charset="0"/>
              </a:rPr>
              <a:t>Plain Milling Cutters</a:t>
            </a:r>
          </a:p>
          <a:p>
            <a:pPr algn="just"/>
            <a:r>
              <a:rPr lang="en-US" sz="2200" dirty="0" smtClean="0">
                <a:latin typeface="Times New Roman" pitchFamily="18" charset="0"/>
                <a:cs typeface="Times New Roman" pitchFamily="18" charset="0"/>
              </a:rPr>
              <a:t>These are also called slab milling cutters and are basically cylindrical with the cutting teeth on the periphery </a:t>
            </a:r>
          </a:p>
          <a:p>
            <a:pPr algn="just"/>
            <a:r>
              <a:rPr lang="en-US" sz="2200" dirty="0" smtClean="0">
                <a:latin typeface="Times New Roman" pitchFamily="18" charset="0"/>
                <a:cs typeface="Times New Roman" pitchFamily="18" charset="0"/>
              </a:rPr>
              <a:t>These are generally used for machining flat surfaces</a:t>
            </a:r>
          </a:p>
          <a:p>
            <a:pPr algn="just"/>
            <a:r>
              <a:rPr lang="en-US" sz="2200" dirty="0" smtClean="0">
                <a:latin typeface="Times New Roman" pitchFamily="18" charset="0"/>
                <a:cs typeface="Times New Roman" pitchFamily="18" charset="0"/>
              </a:rPr>
              <a:t>Light duty slab milling cutters generally have a face width, which is small of the order of 25 mm.  They generally have straight teeth and large number of teeth.</a:t>
            </a:r>
          </a:p>
          <a:p>
            <a:pPr algn="just"/>
            <a:r>
              <a:rPr lang="en-US" sz="2200" dirty="0" smtClean="0">
                <a:latin typeface="Times New Roman" pitchFamily="18" charset="0"/>
                <a:cs typeface="Times New Roman" pitchFamily="18" charset="0"/>
              </a:rPr>
              <a:t>The heavy duty slab milling cutters come with smaller number of teeth to allow for more chip space. This allows taking deeper cuts and consequently high material removal rates.</a:t>
            </a:r>
          </a:p>
          <a:p>
            <a:pPr algn="just"/>
            <a:r>
              <a:rPr lang="en-US" sz="2200" dirty="0" smtClean="0">
                <a:latin typeface="Times New Roman" pitchFamily="18" charset="0"/>
                <a:cs typeface="Times New Roman" pitchFamily="18" charset="0"/>
              </a:rPr>
              <a:t>Helical milling cutters have a very small number of teeth but a large helix angle. This type of cutter cuts with a shearing action, which can produce a very fine finish. The large helix angle allows the cutter to absorb</a:t>
            </a:r>
          </a:p>
          <a:p>
            <a:pPr algn="just"/>
            <a:r>
              <a:rPr lang="en-US" sz="2200" dirty="0" smtClean="0">
                <a:latin typeface="Times New Roman" pitchFamily="18" charset="0"/>
                <a:cs typeface="Times New Roman" pitchFamily="18" charset="0"/>
              </a:rPr>
              <a:t>most of the end load and therefore the cutter enters and leaves the work piece very smoothly.</a:t>
            </a:r>
            <a:endParaRPr lang="en-US"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15</a:t>
            </a:fld>
            <a:endParaRPr lang="en-US"/>
          </a:p>
        </p:txBody>
      </p:sp>
      <p:pic>
        <p:nvPicPr>
          <p:cNvPr id="2050" name="Picture 2"/>
          <p:cNvPicPr>
            <a:picLocks noChangeAspect="1" noChangeArrowheads="1"/>
          </p:cNvPicPr>
          <p:nvPr/>
        </p:nvPicPr>
        <p:blipFill>
          <a:blip r:embed="rId2"/>
          <a:srcRect l="7653"/>
          <a:stretch>
            <a:fillRect/>
          </a:stretch>
        </p:blipFill>
        <p:spPr bwMode="auto">
          <a:xfrm>
            <a:off x="6715139" y="714356"/>
            <a:ext cx="2096801" cy="214314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t="11719"/>
          <a:stretch>
            <a:fillRect/>
          </a:stretch>
        </p:blipFill>
        <p:spPr bwMode="auto">
          <a:xfrm>
            <a:off x="6572264" y="3571876"/>
            <a:ext cx="2487478" cy="1857388"/>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285728"/>
            <a:ext cx="6000792" cy="6286544"/>
          </a:xfrm>
        </p:spPr>
        <p:txBody>
          <a:bodyPr>
            <a:normAutofit fontScale="92500"/>
          </a:bodyPr>
          <a:lstStyle/>
          <a:p>
            <a:pPr algn="just">
              <a:buNone/>
            </a:pPr>
            <a:r>
              <a:rPr lang="en-US" sz="2200" dirty="0" smtClean="0">
                <a:latin typeface="Times New Roman" pitchFamily="18" charset="0"/>
                <a:cs typeface="Times New Roman" pitchFamily="18" charset="0"/>
              </a:rPr>
              <a:t>Side and Face Milling Cutters</a:t>
            </a:r>
          </a:p>
          <a:p>
            <a:pPr algn="just"/>
            <a:r>
              <a:rPr lang="en-US" sz="2200" dirty="0" smtClean="0">
                <a:latin typeface="Times New Roman" pitchFamily="18" charset="0"/>
                <a:cs typeface="Times New Roman" pitchFamily="18" charset="0"/>
              </a:rPr>
              <a:t>These have the cutting edges not only on the face like the slab milling cutters, but also on both the sides. As a result, these cutters become more versatile since they can be used for side milling as well as for slot milling.</a:t>
            </a:r>
          </a:p>
          <a:p>
            <a:pPr algn="just"/>
            <a:r>
              <a:rPr lang="en-US" sz="2200" dirty="0" smtClean="0">
                <a:latin typeface="Times New Roman" pitchFamily="18" charset="0"/>
                <a:cs typeface="Times New Roman" pitchFamily="18" charset="0"/>
              </a:rPr>
              <a:t>Staggered tooth side milling cutters are a variation where the teeth are arranged in alternate helix pattern.</a:t>
            </a:r>
          </a:p>
          <a:p>
            <a:pPr algn="just"/>
            <a:r>
              <a:rPr lang="en-US" sz="2200" dirty="0" smtClean="0">
                <a:latin typeface="Times New Roman" pitchFamily="18" charset="0"/>
                <a:cs typeface="Times New Roman" pitchFamily="18" charset="0"/>
              </a:rPr>
              <a:t>This type is generally used for milling deep slots, since the staggering of teeth provides greater chip space.</a:t>
            </a:r>
          </a:p>
          <a:p>
            <a:pPr algn="just"/>
            <a:r>
              <a:rPr lang="en-US" sz="2200" dirty="0" smtClean="0">
                <a:latin typeface="Times New Roman" pitchFamily="18" charset="0"/>
                <a:cs typeface="Times New Roman" pitchFamily="18" charset="0"/>
              </a:rPr>
              <a:t>Another variation of the side and face cutter is the half side milling cutter, which has the cutting edge only on one side. This arrangement will allow a positive rake angle and will be useful for machining on only one side.</a:t>
            </a:r>
          </a:p>
          <a:p>
            <a:pPr algn="just"/>
            <a:r>
              <a:rPr lang="en-US" sz="2200" dirty="0" smtClean="0">
                <a:latin typeface="Times New Roman" pitchFamily="18" charset="0"/>
                <a:cs typeface="Times New Roman" pitchFamily="18" charset="0"/>
              </a:rPr>
              <a:t>These have much smoother cutting action and long tool life. The power consumed is also less for these cutters.</a:t>
            </a:r>
            <a:endParaRPr lang="en-US"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16</a:t>
            </a:fld>
            <a:endParaRPr lang="en-US"/>
          </a:p>
        </p:txBody>
      </p:sp>
      <p:pic>
        <p:nvPicPr>
          <p:cNvPr id="3074" name="Picture 2"/>
          <p:cNvPicPr>
            <a:picLocks noChangeAspect="1" noChangeArrowheads="1"/>
          </p:cNvPicPr>
          <p:nvPr/>
        </p:nvPicPr>
        <p:blipFill>
          <a:blip r:embed="rId2"/>
          <a:srcRect l="4412" t="8771" b="3510"/>
          <a:stretch>
            <a:fillRect/>
          </a:stretch>
        </p:blipFill>
        <p:spPr bwMode="auto">
          <a:xfrm>
            <a:off x="6804475" y="71438"/>
            <a:ext cx="1625177" cy="1500174"/>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t="4412"/>
          <a:stretch>
            <a:fillRect/>
          </a:stretch>
        </p:blipFill>
        <p:spPr bwMode="auto">
          <a:xfrm>
            <a:off x="6858016" y="1634808"/>
            <a:ext cx="1643074" cy="1579878"/>
          </a:xfrm>
          <a:prstGeom prst="rect">
            <a:avLst/>
          </a:prstGeom>
          <a:noFill/>
          <a:ln w="9525">
            <a:noFill/>
            <a:miter lim="800000"/>
            <a:headEnd/>
            <a:tailEnd/>
          </a:ln>
          <a:effectLst/>
        </p:spPr>
      </p:pic>
      <p:pic>
        <p:nvPicPr>
          <p:cNvPr id="3076" name="Picture 4"/>
          <p:cNvPicPr>
            <a:picLocks noChangeAspect="1" noChangeArrowheads="1"/>
          </p:cNvPicPr>
          <p:nvPr/>
        </p:nvPicPr>
        <p:blipFill>
          <a:blip r:embed="rId4"/>
          <a:srcRect t="4214" b="3991"/>
          <a:stretch>
            <a:fillRect/>
          </a:stretch>
        </p:blipFill>
        <p:spPr bwMode="auto">
          <a:xfrm>
            <a:off x="6932386" y="3214686"/>
            <a:ext cx="1568704" cy="1643074"/>
          </a:xfrm>
          <a:prstGeom prst="rect">
            <a:avLst/>
          </a:prstGeom>
          <a:noFill/>
          <a:ln w="9525">
            <a:noFill/>
            <a:miter lim="800000"/>
            <a:headEnd/>
            <a:tailEnd/>
          </a:ln>
          <a:effectLst/>
        </p:spPr>
      </p:pic>
      <p:pic>
        <p:nvPicPr>
          <p:cNvPr id="3077" name="Picture 5"/>
          <p:cNvPicPr>
            <a:picLocks noChangeAspect="1" noChangeArrowheads="1"/>
          </p:cNvPicPr>
          <p:nvPr/>
        </p:nvPicPr>
        <p:blipFill>
          <a:blip r:embed="rId5"/>
          <a:srcRect/>
          <a:stretch>
            <a:fillRect/>
          </a:stretch>
        </p:blipFill>
        <p:spPr bwMode="auto">
          <a:xfrm>
            <a:off x="7000892" y="4870628"/>
            <a:ext cx="1433513" cy="184452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214290"/>
            <a:ext cx="6858048" cy="3357586"/>
          </a:xfrm>
        </p:spPr>
        <p:txBody>
          <a:bodyPr>
            <a:normAutofit/>
          </a:bodyPr>
          <a:lstStyle/>
          <a:p>
            <a:pPr>
              <a:buNone/>
            </a:pPr>
            <a:r>
              <a:rPr lang="en-US" sz="2000" dirty="0" smtClean="0">
                <a:latin typeface="Times New Roman" pitchFamily="18" charset="0"/>
                <a:cs typeface="Times New Roman" pitchFamily="18" charset="0"/>
              </a:rPr>
              <a:t>Slitting Saws</a:t>
            </a:r>
          </a:p>
          <a:p>
            <a:pPr algn="just"/>
            <a:r>
              <a:rPr lang="en-US" sz="2000" dirty="0" smtClean="0">
                <a:latin typeface="Times New Roman" pitchFamily="18" charset="0"/>
                <a:cs typeface="Times New Roman" pitchFamily="18" charset="0"/>
              </a:rPr>
              <a:t>The other common form of milling cutters in the </a:t>
            </a:r>
            <a:r>
              <a:rPr lang="en-US" sz="2000" dirty="0" err="1" smtClean="0">
                <a:latin typeface="Times New Roman" pitchFamily="18" charset="0"/>
                <a:cs typeface="Times New Roman" pitchFamily="18" charset="0"/>
              </a:rPr>
              <a:t>arbour</a:t>
            </a:r>
            <a:r>
              <a:rPr lang="en-US" sz="2000" dirty="0" smtClean="0">
                <a:latin typeface="Times New Roman" pitchFamily="18" charset="0"/>
                <a:cs typeface="Times New Roman" pitchFamily="18" charset="0"/>
              </a:rPr>
              <a:t> mounted category is the slitting saw. This is very similar to a saw blade in appearance as well as function. </a:t>
            </a:r>
          </a:p>
          <a:p>
            <a:pPr algn="just"/>
            <a:r>
              <a:rPr lang="en-US" sz="2000" dirty="0" smtClean="0">
                <a:latin typeface="Times New Roman" pitchFamily="18" charset="0"/>
                <a:cs typeface="Times New Roman" pitchFamily="18" charset="0"/>
              </a:rPr>
              <a:t>Most of these have teeth around the circumference while some have side teeth as well. The thickness of these cutters is generally very small and is used for cutting off operation or for deep slots.</a:t>
            </a:r>
          </a:p>
          <a:p>
            <a:pPr algn="just">
              <a:buNone/>
            </a:pPr>
            <a:r>
              <a:rPr lang="en-US" sz="2000" dirty="0" smtClean="0">
                <a:latin typeface="Times New Roman" pitchFamily="18" charset="0"/>
                <a:cs typeface="Times New Roman" pitchFamily="18" charset="0"/>
              </a:rPr>
              <a:t>Special Form Cutters</a:t>
            </a:r>
          </a:p>
          <a:p>
            <a:pPr algn="just">
              <a:buNone/>
            </a:pP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17</a:t>
            </a:fld>
            <a:endParaRPr lang="en-US"/>
          </a:p>
        </p:txBody>
      </p:sp>
      <p:pic>
        <p:nvPicPr>
          <p:cNvPr id="4098" name="Picture 2"/>
          <p:cNvPicPr>
            <a:picLocks noChangeAspect="1" noChangeArrowheads="1"/>
          </p:cNvPicPr>
          <p:nvPr/>
        </p:nvPicPr>
        <p:blipFill>
          <a:blip r:embed="rId2"/>
          <a:srcRect l="8475" t="4190"/>
          <a:stretch>
            <a:fillRect/>
          </a:stretch>
        </p:blipFill>
        <p:spPr bwMode="auto">
          <a:xfrm>
            <a:off x="7215206" y="714356"/>
            <a:ext cx="1619538" cy="1714512"/>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t="1995" b="2260"/>
          <a:stretch>
            <a:fillRect/>
          </a:stretch>
        </p:blipFill>
        <p:spPr bwMode="auto">
          <a:xfrm>
            <a:off x="223850" y="3286124"/>
            <a:ext cx="6134100" cy="3429024"/>
          </a:xfrm>
          <a:prstGeom prst="rect">
            <a:avLst/>
          </a:prstGeom>
          <a:noFill/>
          <a:ln w="9525">
            <a:noFill/>
            <a:miter lim="800000"/>
            <a:headEnd/>
            <a:tailEnd/>
          </a:ln>
          <a:effectLst/>
        </p:spPr>
      </p:pic>
      <p:pic>
        <p:nvPicPr>
          <p:cNvPr id="4100" name="Picture 4"/>
          <p:cNvPicPr>
            <a:picLocks noChangeAspect="1" noChangeArrowheads="1"/>
          </p:cNvPicPr>
          <p:nvPr/>
        </p:nvPicPr>
        <p:blipFill>
          <a:blip r:embed="rId4"/>
          <a:srcRect l="7641" t="3846"/>
          <a:stretch>
            <a:fillRect/>
          </a:stretch>
        </p:blipFill>
        <p:spPr bwMode="auto">
          <a:xfrm>
            <a:off x="6858016" y="2571744"/>
            <a:ext cx="1535822" cy="2071702"/>
          </a:xfrm>
          <a:prstGeom prst="rect">
            <a:avLst/>
          </a:prstGeom>
          <a:noFill/>
          <a:ln w="9525">
            <a:noFill/>
            <a:miter lim="800000"/>
            <a:headEnd/>
            <a:tailEnd/>
          </a:ln>
          <a:effectLst/>
        </p:spPr>
      </p:pic>
      <p:pic>
        <p:nvPicPr>
          <p:cNvPr id="4101" name="Picture 5"/>
          <p:cNvPicPr>
            <a:picLocks noChangeAspect="1" noChangeArrowheads="1"/>
          </p:cNvPicPr>
          <p:nvPr/>
        </p:nvPicPr>
        <p:blipFill>
          <a:blip r:embed="rId5"/>
          <a:srcRect t="3727"/>
          <a:stretch>
            <a:fillRect/>
          </a:stretch>
        </p:blipFill>
        <p:spPr bwMode="auto">
          <a:xfrm>
            <a:off x="6643702" y="4714884"/>
            <a:ext cx="1607683" cy="2000264"/>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44" y="785794"/>
            <a:ext cx="8715436" cy="4786346"/>
          </a:xfrm>
        </p:spPr>
        <p:txBody>
          <a:bodyPr>
            <a:normAutofit/>
          </a:bodyPr>
          <a:lstStyle/>
          <a:p>
            <a:pPr>
              <a:buNone/>
            </a:pPr>
            <a:r>
              <a:rPr lang="en-US" sz="2000" dirty="0" smtClean="0">
                <a:latin typeface="Times New Roman" pitchFamily="18" charset="0"/>
                <a:cs typeface="Times New Roman" pitchFamily="18" charset="0"/>
              </a:rPr>
              <a:t>End Mills</a:t>
            </a:r>
          </a:p>
          <a:p>
            <a:pPr algn="just"/>
            <a:r>
              <a:rPr lang="en-US" sz="2000" dirty="0" smtClean="0">
                <a:latin typeface="Times New Roman" pitchFamily="18" charset="0"/>
                <a:cs typeface="Times New Roman" pitchFamily="18" charset="0"/>
              </a:rPr>
              <a:t>These are shank mounted and are generally used in vertical axis milling machines. They are used for milling slots, key ways and pockets where other type of milling cutters cannot be used. A depth of cut of almost half the diameter can be taken with the end mills.</a:t>
            </a:r>
          </a:p>
          <a:p>
            <a:pPr algn="just"/>
            <a:r>
              <a:rPr lang="en-US" sz="2000" dirty="0" smtClean="0">
                <a:latin typeface="Times New Roman" pitchFamily="18" charset="0"/>
                <a:cs typeface="Times New Roman" pitchFamily="18" charset="0"/>
              </a:rPr>
              <a:t>The end mills have the cutting edge running through the length of the cutting portion as well as on the face </a:t>
            </a:r>
            <a:r>
              <a:rPr lang="en-US" sz="2000" dirty="0" err="1" smtClean="0">
                <a:latin typeface="Times New Roman" pitchFamily="18" charset="0"/>
                <a:cs typeface="Times New Roman" pitchFamily="18" charset="0"/>
              </a:rPr>
              <a:t>radially</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upto</a:t>
            </a:r>
            <a:r>
              <a:rPr lang="en-US" sz="2000" dirty="0" smtClean="0">
                <a:latin typeface="Times New Roman" pitchFamily="18" charset="0"/>
                <a:cs typeface="Times New Roman" pitchFamily="18" charset="0"/>
              </a:rPr>
              <a:t> a certain length. The helix angle of the cutting edge promotes smooth and efficient cutting even at high cutting speeds and feed rates. High cutting speeds are generally recommended for this type of milling cutters.</a:t>
            </a: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D374F10-0401-4224-9624-EB074E096B44}" type="slidenum">
              <a:rPr lang="en-US" smtClean="0"/>
              <a:pPr/>
              <a:t>19</a:t>
            </a:fld>
            <a:endParaRPr lang="en-US"/>
          </a:p>
        </p:txBody>
      </p:sp>
      <p:pic>
        <p:nvPicPr>
          <p:cNvPr id="6146" name="Picture 2"/>
          <p:cNvPicPr>
            <a:picLocks noChangeAspect="1" noChangeArrowheads="1"/>
          </p:cNvPicPr>
          <p:nvPr/>
        </p:nvPicPr>
        <p:blipFill>
          <a:blip r:embed="rId2"/>
          <a:srcRect/>
          <a:stretch>
            <a:fillRect/>
          </a:stretch>
        </p:blipFill>
        <p:spPr bwMode="auto">
          <a:xfrm>
            <a:off x="214282" y="98748"/>
            <a:ext cx="8501122" cy="625921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428604"/>
            <a:ext cx="8286808" cy="6000792"/>
          </a:xfrm>
        </p:spPr>
        <p:txBody>
          <a:bodyPr>
            <a:normAutofit/>
          </a:bodyPr>
          <a:lstStyle/>
          <a:p>
            <a:pPr algn="just">
              <a:buNone/>
            </a:pPr>
            <a:r>
              <a:rPr lang="en-US" sz="2000" dirty="0" smtClean="0">
                <a:latin typeface="Times New Roman" pitchFamily="18" charset="0"/>
                <a:cs typeface="Times New Roman" pitchFamily="18" charset="0"/>
              </a:rPr>
              <a:t>Based on the directions of movement of the milling cutter and the feeding direction of the work piece, there are two possible types of milling:</a:t>
            </a:r>
          </a:p>
          <a:p>
            <a:pPr algn="just">
              <a:buNone/>
            </a:pPr>
            <a:r>
              <a:rPr lang="en-US" sz="2000" dirty="0" smtClean="0">
                <a:latin typeface="Times New Roman" pitchFamily="18" charset="0"/>
                <a:cs typeface="Times New Roman" pitchFamily="18" charset="0"/>
              </a:rPr>
              <a:t>UPMILLING</a:t>
            </a:r>
          </a:p>
          <a:p>
            <a:pPr algn="just"/>
            <a:r>
              <a:rPr lang="en-US" sz="2000" dirty="0" smtClean="0">
                <a:latin typeface="Times New Roman" pitchFamily="18" charset="0"/>
                <a:cs typeface="Times New Roman" pitchFamily="18" charset="0"/>
              </a:rPr>
              <a:t>In up milling the cutting tool rotates in the opposite direction to the table movement. In the conventional or up milling, the chip starts at zero thickness and gradually increases to the maximum size</a:t>
            </a:r>
          </a:p>
          <a:p>
            <a:pPr algn="just"/>
            <a:r>
              <a:rPr lang="en-US" sz="2000" dirty="0" smtClean="0">
                <a:latin typeface="Times New Roman" pitchFamily="18" charset="0"/>
                <a:cs typeface="Times New Roman" pitchFamily="18" charset="0"/>
              </a:rPr>
              <a:t>This tends to lift the work piece from the table. </a:t>
            </a:r>
          </a:p>
          <a:p>
            <a:pPr algn="just"/>
            <a:r>
              <a:rPr lang="en-US" sz="2000" dirty="0" smtClean="0">
                <a:latin typeface="Times New Roman" pitchFamily="18" charset="0"/>
                <a:cs typeface="Times New Roman" pitchFamily="18" charset="0"/>
              </a:rPr>
              <a:t>There is a possibility that the cutting tool will rub the work piece before starting the removal. However, this process is inherently safe.</a:t>
            </a:r>
          </a:p>
          <a:p>
            <a:pPr algn="just"/>
            <a:r>
              <a:rPr lang="en-US" sz="2000" dirty="0" smtClean="0">
                <a:latin typeface="Times New Roman" pitchFamily="18" charset="0"/>
                <a:cs typeface="Times New Roman" pitchFamily="18" charset="0"/>
              </a:rPr>
              <a:t>The initial rubbing of the cutting edge during the start of the cut in up milling tends to dull the cutting edge and consequently have lower tool life. </a:t>
            </a:r>
          </a:p>
          <a:p>
            <a:pPr algn="just"/>
            <a:r>
              <a:rPr lang="en-US" sz="2000" dirty="0" smtClean="0">
                <a:latin typeface="Times New Roman" pitchFamily="18" charset="0"/>
                <a:cs typeface="Times New Roman" pitchFamily="18" charset="0"/>
              </a:rPr>
              <a:t>Also since the cutter tends to cut and slide alternatively, the surface generated is left with the machining marks.</a:t>
            </a:r>
          </a:p>
        </p:txBody>
      </p:sp>
      <p:sp>
        <p:nvSpPr>
          <p:cNvPr id="4" name="Slide Number Placeholder 3"/>
          <p:cNvSpPr>
            <a:spLocks noGrp="1"/>
          </p:cNvSpPr>
          <p:nvPr>
            <p:ph type="sldNum" sz="quarter" idx="12"/>
          </p:nvPr>
        </p:nvSpPr>
        <p:spPr/>
        <p:txBody>
          <a:bodyPr/>
          <a:lstStyle/>
          <a:p>
            <a:fld id="{4D374F10-0401-4224-9624-EB074E096B44}"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214291"/>
            <a:ext cx="8572560" cy="4000527"/>
          </a:xfrm>
        </p:spPr>
        <p:txBody>
          <a:bodyPr>
            <a:normAutofit fontScale="77500" lnSpcReduction="20000"/>
          </a:bodyPr>
          <a:lstStyle/>
          <a:p>
            <a:pPr algn="just">
              <a:buNone/>
            </a:pPr>
            <a:r>
              <a:rPr lang="en-US" dirty="0" smtClean="0">
                <a:latin typeface="Times New Roman" pitchFamily="18" charset="0"/>
                <a:cs typeface="Times New Roman" pitchFamily="18" charset="0"/>
              </a:rPr>
              <a:t>DOWN MILLING</a:t>
            </a:r>
          </a:p>
          <a:p>
            <a:pPr algn="just"/>
            <a:r>
              <a:rPr lang="en-US" sz="2900" dirty="0" smtClean="0">
                <a:latin typeface="Times New Roman" pitchFamily="18" charset="0"/>
                <a:cs typeface="Times New Roman" pitchFamily="18" charset="0"/>
              </a:rPr>
              <a:t>In down milling the cutting tool rotates in the same direction as that of the table movement. In the climb or down milling, the chip starts at maximum thickness and goes to zero thickness gradually</a:t>
            </a:r>
          </a:p>
          <a:p>
            <a:pPr algn="just"/>
            <a:r>
              <a:rPr lang="en-US" sz="2900" dirty="0" smtClean="0">
                <a:latin typeface="Times New Roman" pitchFamily="18" charset="0"/>
                <a:cs typeface="Times New Roman" pitchFamily="18" charset="0"/>
              </a:rPr>
              <a:t>This is suitable for obtaining fine finish on the work piece. The cutting force will act downwards and as such would keep the work piece firmly in the work holding device. This is good for thin and frail work pieces. </a:t>
            </a:r>
          </a:p>
          <a:p>
            <a:pPr algn="just"/>
            <a:r>
              <a:rPr lang="en-US" sz="2900" dirty="0" smtClean="0">
                <a:latin typeface="Times New Roman" pitchFamily="18" charset="0"/>
                <a:cs typeface="Times New Roman" pitchFamily="18" charset="0"/>
              </a:rPr>
              <a:t>In down milling, though the cut starts with a full chip thickness, the cut gradually reduces to zero.</a:t>
            </a:r>
          </a:p>
          <a:p>
            <a:pPr algn="just"/>
            <a:r>
              <a:rPr lang="en-US" sz="2900" dirty="0" smtClean="0">
                <a:latin typeface="Times New Roman" pitchFamily="18" charset="0"/>
                <a:cs typeface="Times New Roman" pitchFamily="18" charset="0"/>
              </a:rPr>
              <a:t>This helps in eliminating the feed marks present in the case of up milling and consequently better surface finish. Climb milling also allows greater feeds per tooth and longer cutting life between regrinds than the conventional milling.</a:t>
            </a:r>
          </a:p>
          <a:p>
            <a:pPr>
              <a:buNone/>
            </a:pPr>
            <a:endParaRPr lang="en-US" dirty="0"/>
          </a:p>
        </p:txBody>
      </p:sp>
      <p:sp>
        <p:nvSpPr>
          <p:cNvPr id="4" name="Slide Number Placeholder 3"/>
          <p:cNvSpPr>
            <a:spLocks noGrp="1"/>
          </p:cNvSpPr>
          <p:nvPr>
            <p:ph type="sldNum" sz="quarter" idx="12"/>
          </p:nvPr>
        </p:nvSpPr>
        <p:spPr/>
        <p:txBody>
          <a:bodyPr/>
          <a:lstStyle/>
          <a:p>
            <a:fld id="{4D374F10-0401-4224-9624-EB074E096B44}" type="slidenum">
              <a:rPr lang="en-US" smtClean="0"/>
              <a:pPr/>
              <a:t>21</a:t>
            </a:fld>
            <a:endParaRPr lang="en-US"/>
          </a:p>
        </p:txBody>
      </p:sp>
      <p:pic>
        <p:nvPicPr>
          <p:cNvPr id="7170" name="Picture 2"/>
          <p:cNvPicPr>
            <a:picLocks noChangeAspect="1" noChangeArrowheads="1"/>
          </p:cNvPicPr>
          <p:nvPr/>
        </p:nvPicPr>
        <p:blipFill>
          <a:blip r:embed="rId2"/>
          <a:srcRect l="3285" r="2554" b="2558"/>
          <a:stretch>
            <a:fillRect/>
          </a:stretch>
        </p:blipFill>
        <p:spPr bwMode="auto">
          <a:xfrm>
            <a:off x="1428728" y="4214818"/>
            <a:ext cx="6143668" cy="2357454"/>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85728"/>
            <a:ext cx="8229600" cy="725470"/>
          </a:xfrm>
        </p:spPr>
        <p:txBody>
          <a:bodyPr>
            <a:normAutofit/>
          </a:bodyPr>
          <a:lstStyle/>
          <a:p>
            <a:r>
              <a:rPr lang="en-US" sz="3200" b="1" dirty="0" smtClean="0">
                <a:latin typeface="Times New Roman" pitchFamily="18" charset="0"/>
                <a:cs typeface="Times New Roman" pitchFamily="18" charset="0"/>
              </a:rPr>
              <a:t>INDEXING METHODS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571472" y="1571612"/>
            <a:ext cx="8072494" cy="3929090"/>
          </a:xfrm>
        </p:spPr>
        <p:txBody>
          <a:bodyPr>
            <a:normAutofit/>
          </a:bodyPr>
          <a:lstStyle/>
          <a:p>
            <a:pPr>
              <a:buNone/>
            </a:pPr>
            <a:r>
              <a:rPr lang="en-US" sz="2400" dirty="0" smtClean="0">
                <a:latin typeface="Times New Roman" pitchFamily="18" charset="0"/>
                <a:cs typeface="Times New Roman" pitchFamily="18" charset="0"/>
              </a:rPr>
              <a:t>INDEXING HEAD OR DIVIDING HEAD</a:t>
            </a:r>
          </a:p>
          <a:p>
            <a:r>
              <a:rPr lang="en-US" sz="2400" dirty="0" smtClean="0">
                <a:latin typeface="Times New Roman" pitchFamily="18" charset="0"/>
                <a:cs typeface="Times New Roman" pitchFamily="18" charset="0"/>
              </a:rPr>
              <a:t>Indexing is the operation of dividing the periphery of a work into any number of equal parts. </a:t>
            </a:r>
          </a:p>
          <a:p>
            <a:r>
              <a:rPr lang="en-US" sz="2400" dirty="0" err="1" smtClean="0">
                <a:latin typeface="Times New Roman" pitchFamily="18" charset="0"/>
                <a:cs typeface="Times New Roman" pitchFamily="18" charset="0"/>
              </a:rPr>
              <a:t>Eg</a:t>
            </a:r>
            <a:r>
              <a:rPr lang="en-US" sz="2400" dirty="0" smtClean="0">
                <a:latin typeface="Times New Roman" pitchFamily="18" charset="0"/>
                <a:cs typeface="Times New Roman" pitchFamily="18" charset="0"/>
              </a:rPr>
              <a:t>: In cutting spur gear, hexagonal and square bolt, </a:t>
            </a:r>
            <a:r>
              <a:rPr lang="en-US" sz="2400" dirty="0" err="1" smtClean="0">
                <a:latin typeface="Times New Roman" pitchFamily="18" charset="0"/>
                <a:cs typeface="Times New Roman" pitchFamily="18" charset="0"/>
              </a:rPr>
              <a:t>splines</a:t>
            </a:r>
            <a:r>
              <a:rPr lang="en-US" sz="2400" dirty="0" smtClean="0">
                <a:latin typeface="Times New Roman" pitchFamily="18" charset="0"/>
                <a:cs typeface="Times New Roman" pitchFamily="18" charset="0"/>
              </a:rPr>
              <a:t> on shaft equal spacing of teeth on the gear blank is performed by indexing </a:t>
            </a:r>
          </a:p>
          <a:p>
            <a:r>
              <a:rPr lang="en-US" sz="2400" dirty="0" smtClean="0">
                <a:latin typeface="Times New Roman" pitchFamily="18" charset="0"/>
                <a:cs typeface="Times New Roman" pitchFamily="18" charset="0"/>
              </a:rPr>
              <a:t>Indexing is accomplished by using a special attachment known as dividing head or index head</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normAutofit/>
          </a:bodyPr>
          <a:lstStyle/>
          <a:p>
            <a:r>
              <a:rPr lang="en-US" sz="3200" b="1" dirty="0" smtClean="0">
                <a:latin typeface="Times New Roman" pitchFamily="18" charset="0"/>
                <a:cs typeface="Times New Roman" pitchFamily="18" charset="0"/>
              </a:rPr>
              <a:t>DIVIDING HEAD</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285720" y="1214422"/>
            <a:ext cx="8358246" cy="5143536"/>
          </a:xfrm>
        </p:spPr>
        <p:txBody>
          <a:bodyPr>
            <a:normAutofit/>
          </a:bodyPr>
          <a:lstStyle/>
          <a:p>
            <a:pPr algn="just"/>
            <a:r>
              <a:rPr lang="en-US" sz="2000" dirty="0">
                <a:latin typeface="Times New Roman" pitchFamily="18" charset="0"/>
                <a:cs typeface="Times New Roman" pitchFamily="18" charset="0"/>
              </a:rPr>
              <a:t>Dividing head is one of the most important attachments with the milling machine and it is almost indispensable</a:t>
            </a:r>
            <a:r>
              <a:rPr lang="en-US" sz="2000" dirty="0" smtClean="0">
                <a:latin typeface="Times New Roman" pitchFamily="18" charset="0"/>
                <a:cs typeface="Times New Roman" pitchFamily="18" charset="0"/>
              </a:rPr>
              <a:t>.</a:t>
            </a:r>
          </a:p>
          <a:p>
            <a:pPr algn="just"/>
            <a:r>
              <a:rPr lang="en-US" sz="2000" dirty="0">
                <a:latin typeface="Times New Roman" pitchFamily="18" charset="0"/>
                <a:cs typeface="Times New Roman" pitchFamily="18" charset="0"/>
              </a:rPr>
              <a:t>The main spindle of the </a:t>
            </a:r>
            <a:r>
              <a:rPr lang="en-US" sz="2000" dirty="0" smtClean="0">
                <a:latin typeface="Times New Roman" pitchFamily="18" charset="0"/>
                <a:cs typeface="Times New Roman" pitchFamily="18" charset="0"/>
              </a:rPr>
              <a:t>dividing head </a:t>
            </a:r>
            <a:r>
              <a:rPr lang="en-US" sz="2000" dirty="0">
                <a:latin typeface="Times New Roman" pitchFamily="18" charset="0"/>
                <a:cs typeface="Times New Roman" pitchFamily="18" charset="0"/>
              </a:rPr>
              <a:t>drives the work piece by means of a 3-jaw universal chuck or a dog and live centre similar to a </a:t>
            </a:r>
            <a:r>
              <a:rPr lang="en-US" sz="2000" dirty="0" smtClean="0">
                <a:latin typeface="Times New Roman" pitchFamily="18" charset="0"/>
                <a:cs typeface="Times New Roman" pitchFamily="18" charset="0"/>
              </a:rPr>
              <a:t>lathe</a:t>
            </a:r>
          </a:p>
          <a:p>
            <a:pPr algn="just"/>
            <a:r>
              <a:rPr lang="en-US" sz="2000" dirty="0">
                <a:latin typeface="Times New Roman" pitchFamily="18" charset="0"/>
                <a:cs typeface="Times New Roman" pitchFamily="18" charset="0"/>
              </a:rPr>
              <a:t>The index plate of a dividing head consists of a number of holes with a crank and pin. </a:t>
            </a: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The </a:t>
            </a:r>
            <a:r>
              <a:rPr lang="en-US" sz="2000" dirty="0">
                <a:latin typeface="Times New Roman" pitchFamily="18" charset="0"/>
                <a:cs typeface="Times New Roman" pitchFamily="18" charset="0"/>
              </a:rPr>
              <a:t>index </a:t>
            </a:r>
            <a:r>
              <a:rPr lang="en-US" sz="2000" dirty="0" smtClean="0">
                <a:latin typeface="Times New Roman" pitchFamily="18" charset="0"/>
                <a:cs typeface="Times New Roman" pitchFamily="18" charset="0"/>
              </a:rPr>
              <a:t>crank drives </a:t>
            </a:r>
            <a:r>
              <a:rPr lang="en-US" sz="2000" dirty="0">
                <a:latin typeface="Times New Roman" pitchFamily="18" charset="0"/>
                <a:cs typeface="Times New Roman" pitchFamily="18" charset="0"/>
              </a:rPr>
              <a:t>the spindle and the live centre through a worm gear, which generally has 40 </a:t>
            </a:r>
            <a:r>
              <a:rPr lang="en-US" sz="2000" dirty="0" smtClean="0">
                <a:latin typeface="Times New Roman" pitchFamily="18" charset="0"/>
                <a:cs typeface="Times New Roman" pitchFamily="18" charset="0"/>
              </a:rPr>
              <a:t>teeth</a:t>
            </a:r>
          </a:p>
          <a:p>
            <a:pPr algn="just"/>
            <a:r>
              <a:rPr lang="en-US" sz="2000" dirty="0">
                <a:latin typeface="Times New Roman" pitchFamily="18" charset="0"/>
                <a:cs typeface="Times New Roman" pitchFamily="18" charset="0"/>
              </a:rPr>
              <a:t>a full rotation of the work piece is produced by 40 full revolutions of the index crank. </a:t>
            </a: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Further indexing </a:t>
            </a:r>
            <a:r>
              <a:rPr lang="en-US" sz="2000" dirty="0">
                <a:latin typeface="Times New Roman" pitchFamily="18" charset="0"/>
                <a:cs typeface="Times New Roman" pitchFamily="18" charset="0"/>
              </a:rPr>
              <a:t>is made possible by having the index plates with </a:t>
            </a:r>
            <a:r>
              <a:rPr lang="en-US" sz="2000" dirty="0" err="1">
                <a:latin typeface="Times New Roman" pitchFamily="18" charset="0"/>
                <a:cs typeface="Times New Roman" pitchFamily="18" charset="0"/>
              </a:rPr>
              <a:t>equi</a:t>
            </a:r>
            <a:r>
              <a:rPr lang="en-US" sz="2000" dirty="0">
                <a:latin typeface="Times New Roman" pitchFamily="18" charset="0"/>
                <a:cs typeface="Times New Roman" pitchFamily="18" charset="0"/>
              </a:rPr>
              <a:t>-spaced holes around various circles. </a:t>
            </a: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This would </a:t>
            </a:r>
            <a:r>
              <a:rPr lang="en-US" sz="2000" dirty="0">
                <a:latin typeface="Times New Roman" pitchFamily="18" charset="0"/>
                <a:cs typeface="Times New Roman" pitchFamily="18" charset="0"/>
              </a:rPr>
              <a:t>allow for indexing the periphery of the work piece to any convenient number of divisions.</a:t>
            </a:r>
          </a:p>
        </p:txBody>
      </p:sp>
      <p:sp>
        <p:nvSpPr>
          <p:cNvPr id="4" name="Slide Number Placeholder 3"/>
          <p:cNvSpPr>
            <a:spLocks noGrp="1"/>
          </p:cNvSpPr>
          <p:nvPr>
            <p:ph type="sldNum" sz="quarter" idx="12"/>
          </p:nvPr>
        </p:nvSpPr>
        <p:spPr/>
        <p:txBody>
          <a:bodyPr/>
          <a:lstStyle/>
          <a:p>
            <a:fld id="{4D374F10-0401-4224-9624-EB074E096B44}"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D374F10-0401-4224-9624-EB074E096B44}" type="slidenum">
              <a:rPr lang="en-US" smtClean="0"/>
              <a:pPr/>
              <a:t>24</a:t>
            </a:fld>
            <a:endParaRPr lang="en-US"/>
          </a:p>
        </p:txBody>
      </p:sp>
      <p:pic>
        <p:nvPicPr>
          <p:cNvPr id="8194" name="Picture 2"/>
          <p:cNvPicPr>
            <a:picLocks noChangeAspect="1" noChangeArrowheads="1"/>
          </p:cNvPicPr>
          <p:nvPr/>
        </p:nvPicPr>
        <p:blipFill>
          <a:blip r:embed="rId2"/>
          <a:srcRect/>
          <a:stretch>
            <a:fillRect/>
          </a:stretch>
        </p:blipFill>
        <p:spPr bwMode="auto">
          <a:xfrm>
            <a:off x="2071670" y="411493"/>
            <a:ext cx="5214974" cy="6089341"/>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63688" y="188640"/>
            <a:ext cx="5760640" cy="3553473"/>
          </a:xfrm>
          <a:prstGeom prst="rect">
            <a:avLst/>
          </a:prstGeom>
        </p:spPr>
      </p:pic>
      <p:pic>
        <p:nvPicPr>
          <p:cNvPr id="5" name="Picture 4"/>
          <p:cNvPicPr>
            <a:picLocks noChangeAspect="1"/>
          </p:cNvPicPr>
          <p:nvPr/>
        </p:nvPicPr>
        <p:blipFill rotWithShape="1">
          <a:blip r:embed="rId3"/>
          <a:srcRect t="4749"/>
          <a:stretch/>
        </p:blipFill>
        <p:spPr>
          <a:xfrm>
            <a:off x="4411996" y="3857002"/>
            <a:ext cx="3096344" cy="2996952"/>
          </a:xfrm>
          <a:prstGeom prst="rect">
            <a:avLst/>
          </a:prstGeom>
        </p:spPr>
      </p:pic>
      <p:sp>
        <p:nvSpPr>
          <p:cNvPr id="6" name="TextBox 5"/>
          <p:cNvSpPr txBox="1"/>
          <p:nvPr/>
        </p:nvSpPr>
        <p:spPr>
          <a:xfrm>
            <a:off x="971600" y="5032312"/>
            <a:ext cx="3312368" cy="646331"/>
          </a:xfrm>
          <a:prstGeom prst="rect">
            <a:avLst/>
          </a:prstGeom>
          <a:noFill/>
        </p:spPr>
        <p:txBody>
          <a:bodyPr wrap="square" rtlCol="0">
            <a:spAutoFit/>
          </a:bodyPr>
          <a:lstStyle/>
          <a:p>
            <a:r>
              <a:rPr lang="en-US" dirty="0" smtClean="0"/>
              <a:t>BROWN AND SHARP DIVIDING HEAD</a:t>
            </a:r>
            <a:endParaRPr lang="en-US" dirty="0"/>
          </a:p>
        </p:txBody>
      </p:sp>
      <p:sp>
        <p:nvSpPr>
          <p:cNvPr id="7" name="Slide Number Placeholder 6"/>
          <p:cNvSpPr>
            <a:spLocks noGrp="1"/>
          </p:cNvSpPr>
          <p:nvPr>
            <p:ph type="sldNum" sz="quarter" idx="12"/>
          </p:nvPr>
        </p:nvSpPr>
        <p:spPr/>
        <p:txBody>
          <a:bodyPr/>
          <a:lstStyle/>
          <a:p>
            <a:fld id="{4D374F10-0401-4224-9624-EB074E096B44}" type="slidenum">
              <a:rPr lang="en-US" smtClean="0"/>
              <a:pPr/>
              <a:t>25</a:t>
            </a:fld>
            <a:endParaRPr lang="en-US"/>
          </a:p>
        </p:txBody>
      </p:sp>
    </p:spTree>
    <p:extLst>
      <p:ext uri="{BB962C8B-B14F-4D97-AF65-F5344CB8AC3E}">
        <p14:creationId xmlns:p14="http://schemas.microsoft.com/office/powerpoint/2010/main" xmlns="" val="33383624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428604"/>
            <a:ext cx="8429684" cy="6143668"/>
          </a:xfrm>
        </p:spPr>
        <p:txBody>
          <a:bodyPr>
            <a:normAutofit fontScale="62500" lnSpcReduction="20000"/>
          </a:bodyPr>
          <a:lstStyle/>
          <a:p>
            <a:pPr algn="just"/>
            <a:r>
              <a:rPr lang="en-US" dirty="0" smtClean="0">
                <a:latin typeface="Times New Roman" pitchFamily="18" charset="0"/>
                <a:cs typeface="Times New Roman" pitchFamily="18" charset="0"/>
              </a:rPr>
              <a:t>The index plates available with the Brown and Sharpe milling machines are</a:t>
            </a:r>
          </a:p>
          <a:p>
            <a:pPr algn="just">
              <a:buNone/>
            </a:pPr>
            <a:endParaRPr lang="en-US" dirty="0" smtClean="0">
              <a:latin typeface="Times New Roman" pitchFamily="18" charset="0"/>
              <a:cs typeface="Times New Roman" pitchFamily="18" charset="0"/>
            </a:endParaRPr>
          </a:p>
          <a:p>
            <a:pPr algn="just">
              <a:buNone/>
            </a:pPr>
            <a:r>
              <a:rPr lang="en-US" dirty="0" smtClean="0">
                <a:latin typeface="Times New Roman" pitchFamily="18" charset="0"/>
                <a:cs typeface="Times New Roman" pitchFamily="18" charset="0"/>
              </a:rPr>
              <a:t>Plate no. 1: 15, 16, 17, 18, 19, 20 holes</a:t>
            </a:r>
          </a:p>
          <a:p>
            <a:pPr algn="just">
              <a:buNone/>
            </a:pPr>
            <a:r>
              <a:rPr lang="en-US" dirty="0" smtClean="0">
                <a:latin typeface="Times New Roman" pitchFamily="18" charset="0"/>
                <a:cs typeface="Times New Roman" pitchFamily="18" charset="0"/>
              </a:rPr>
              <a:t>Plate no. 2: 21, 23, 27, 29, 31, 33 holes</a:t>
            </a:r>
          </a:p>
          <a:p>
            <a:pPr algn="just">
              <a:buNone/>
            </a:pPr>
            <a:r>
              <a:rPr lang="en-US" dirty="0" smtClean="0">
                <a:latin typeface="Times New Roman" pitchFamily="18" charset="0"/>
                <a:cs typeface="Times New Roman" pitchFamily="18" charset="0"/>
              </a:rPr>
              <a:t>Plate no. 3: 37, 39, 41, 43, 47, 49 holes</a:t>
            </a:r>
          </a:p>
          <a:p>
            <a:pPr algn="just">
              <a:buNone/>
            </a:pP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The index plate used on Cincinnati and Parkinson dividing heads is</a:t>
            </a:r>
          </a:p>
          <a:p>
            <a:pPr algn="just">
              <a:buNone/>
            </a:pPr>
            <a:endParaRPr lang="en-US" dirty="0" smtClean="0">
              <a:latin typeface="Times New Roman" pitchFamily="18" charset="0"/>
              <a:cs typeface="Times New Roman" pitchFamily="18" charset="0"/>
            </a:endParaRPr>
          </a:p>
          <a:p>
            <a:pPr algn="just">
              <a:buNone/>
            </a:pPr>
            <a:r>
              <a:rPr lang="en-US" dirty="0" smtClean="0">
                <a:latin typeface="Times New Roman" pitchFamily="18" charset="0"/>
                <a:cs typeface="Times New Roman" pitchFamily="18" charset="0"/>
              </a:rPr>
              <a:t>Plate 1: Side 1 24, 25, 28, 30, 34, 37, 38, 39, 41, 42 and 43 holes</a:t>
            </a:r>
          </a:p>
          <a:p>
            <a:pPr algn="just">
              <a:buNone/>
            </a:pPr>
            <a:r>
              <a:rPr lang="en-US" dirty="0" smtClean="0">
                <a:latin typeface="Times New Roman" pitchFamily="18" charset="0"/>
                <a:cs typeface="Times New Roman" pitchFamily="18" charset="0"/>
              </a:rPr>
              <a:t>             Side 2 46, 47, 49, 51, 53, 57, 58, 59, 62 and 66 holes</a:t>
            </a:r>
          </a:p>
          <a:p>
            <a:pPr algn="just">
              <a:buNone/>
            </a:pP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It is also possible to get additional plates from Cincinnati to increase the indexing capability as follows:</a:t>
            </a:r>
          </a:p>
          <a:p>
            <a:pPr algn="just">
              <a:buNone/>
            </a:pPr>
            <a:endParaRPr lang="nb-NO" dirty="0" smtClean="0">
              <a:latin typeface="Times New Roman" pitchFamily="18" charset="0"/>
              <a:cs typeface="Times New Roman" pitchFamily="18" charset="0"/>
            </a:endParaRPr>
          </a:p>
          <a:p>
            <a:pPr algn="just">
              <a:buNone/>
            </a:pPr>
            <a:r>
              <a:rPr lang="nb-NO" dirty="0" smtClean="0">
                <a:latin typeface="Times New Roman" pitchFamily="18" charset="0"/>
                <a:cs typeface="Times New Roman" pitchFamily="18" charset="0"/>
              </a:rPr>
              <a:t>Plate 2: Side 1 34, 46, 79, 93, 109, 123, 139, 153, 167, 181, 197 holes</a:t>
            </a:r>
          </a:p>
          <a:p>
            <a:pPr algn="just">
              <a:buNone/>
            </a:pPr>
            <a:r>
              <a:rPr lang="en-US" dirty="0" smtClean="0">
                <a:latin typeface="Times New Roman" pitchFamily="18" charset="0"/>
                <a:cs typeface="Times New Roman" pitchFamily="18" charset="0"/>
              </a:rPr>
              <a:t>             Side 2 32, 44, 77, 89, 107, 121, 137, 151, 163, 179, 193 holes</a:t>
            </a:r>
          </a:p>
          <a:p>
            <a:pPr algn="just">
              <a:buNone/>
            </a:pPr>
            <a:r>
              <a:rPr lang="nb-NO" dirty="0" smtClean="0">
                <a:latin typeface="Times New Roman" pitchFamily="18" charset="0"/>
                <a:cs typeface="Times New Roman" pitchFamily="18" charset="0"/>
              </a:rPr>
              <a:t>Plate 3: Side 1 26, 42, 73, 87, 103, 119, 133, 149, 161, 175, 191 holes</a:t>
            </a:r>
          </a:p>
          <a:p>
            <a:pPr algn="just">
              <a:buNone/>
            </a:pPr>
            <a:r>
              <a:rPr lang="en-US" dirty="0" smtClean="0">
                <a:latin typeface="Times New Roman" pitchFamily="18" charset="0"/>
                <a:cs typeface="Times New Roman" pitchFamily="18" charset="0"/>
              </a:rPr>
              <a:t>             Side 2 28, 38, 71, 83, 101, 113, 131, 143, 159, 173, 187 holes</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a:bodyPr>
          <a:lstStyle/>
          <a:p>
            <a:r>
              <a:rPr lang="en-US" sz="3200" b="1" dirty="0" smtClean="0">
                <a:latin typeface="Times New Roman" pitchFamily="18" charset="0"/>
                <a:cs typeface="Times New Roman" pitchFamily="18" charset="0"/>
              </a:rPr>
              <a:t>SIMPLE OR PLAIN INDEXING</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323528" y="1196752"/>
            <a:ext cx="8496944" cy="5400600"/>
          </a:xfrm>
        </p:spPr>
        <p:txBody>
          <a:bodyPr>
            <a:normAutofit/>
          </a:bodyPr>
          <a:lstStyle/>
          <a:p>
            <a:pPr algn="just">
              <a:lnSpc>
                <a:spcPct val="150000"/>
              </a:lnSpc>
            </a:pPr>
            <a:r>
              <a:rPr lang="en-US" sz="2200" dirty="0" smtClean="0">
                <a:latin typeface="Times New Roman" panose="02020603050405020304" pitchFamily="18" charset="0"/>
                <a:cs typeface="Times New Roman" panose="02020603050405020304" pitchFamily="18" charset="0"/>
              </a:rPr>
              <a:t>Universal </a:t>
            </a:r>
            <a:r>
              <a:rPr lang="en-US" sz="2200" dirty="0">
                <a:latin typeface="Times New Roman" panose="02020603050405020304" pitchFamily="18" charset="0"/>
                <a:cs typeface="Times New Roman" panose="02020603050405020304" pitchFamily="18" charset="0"/>
              </a:rPr>
              <a:t>Dividing Head is used for this </a:t>
            </a:r>
          </a:p>
          <a:p>
            <a:pPr algn="just">
              <a:lnSpc>
                <a:spcPct val="150000"/>
              </a:lnSpc>
            </a:pPr>
            <a:r>
              <a:rPr lang="en-US" sz="2200" dirty="0" smtClean="0">
                <a:latin typeface="Times New Roman" panose="02020603050405020304" pitchFamily="18" charset="0"/>
                <a:cs typeface="Times New Roman" panose="02020603050405020304" pitchFamily="18" charset="0"/>
              </a:rPr>
              <a:t>The </a:t>
            </a:r>
            <a:r>
              <a:rPr lang="en-US" sz="2200" dirty="0">
                <a:latin typeface="Times New Roman" panose="02020603050405020304" pitchFamily="18" charset="0"/>
                <a:cs typeface="Times New Roman" panose="02020603050405020304" pitchFamily="18" charset="0"/>
              </a:rPr>
              <a:t>Indexing plate should be locked with the body </a:t>
            </a:r>
          </a:p>
          <a:p>
            <a:pPr algn="just">
              <a:lnSpc>
                <a:spcPct val="150000"/>
              </a:lnSpc>
            </a:pPr>
            <a:r>
              <a:rPr lang="en-US" sz="2200" dirty="0" smtClean="0">
                <a:latin typeface="Times New Roman" panose="02020603050405020304" pitchFamily="18" charset="0"/>
                <a:cs typeface="Times New Roman" panose="02020603050405020304" pitchFamily="18" charset="0"/>
              </a:rPr>
              <a:t>Worm </a:t>
            </a:r>
            <a:r>
              <a:rPr lang="en-US" sz="2200" dirty="0">
                <a:latin typeface="Times New Roman" panose="02020603050405020304" pitchFamily="18" charset="0"/>
                <a:cs typeface="Times New Roman" panose="02020603050405020304" pitchFamily="18" charset="0"/>
              </a:rPr>
              <a:t>and worm gear is to be engaged </a:t>
            </a:r>
          </a:p>
          <a:p>
            <a:pPr algn="just">
              <a:lnSpc>
                <a:spcPct val="150000"/>
              </a:lnSpc>
            </a:pPr>
            <a:r>
              <a:rPr lang="en-US" sz="2200" dirty="0" smtClean="0">
                <a:latin typeface="Times New Roman" panose="02020603050405020304" pitchFamily="18" charset="0"/>
                <a:cs typeface="Times New Roman" panose="02020603050405020304" pitchFamily="18" charset="0"/>
              </a:rPr>
              <a:t>To </a:t>
            </a:r>
            <a:r>
              <a:rPr lang="en-US" sz="2200" dirty="0">
                <a:latin typeface="Times New Roman" panose="02020603050405020304" pitchFamily="18" charset="0"/>
                <a:cs typeface="Times New Roman" panose="02020603050405020304" pitchFamily="18" charset="0"/>
              </a:rPr>
              <a:t>index the work ,the index crank pin is withdrawn from the hole of the index plate, turn the index crank through calculated number of whole revolutions and holes on one of the hole circles </a:t>
            </a:r>
          </a:p>
          <a:p>
            <a:pPr algn="just">
              <a:lnSpc>
                <a:spcPct val="150000"/>
              </a:lnSpc>
            </a:pPr>
            <a:r>
              <a:rPr lang="en-US" sz="2200" dirty="0" smtClean="0">
                <a:latin typeface="Times New Roman" panose="02020603050405020304" pitchFamily="18" charset="0"/>
                <a:cs typeface="Times New Roman" panose="02020603050405020304" pitchFamily="18" charset="0"/>
              </a:rPr>
              <a:t>After </a:t>
            </a:r>
            <a:r>
              <a:rPr lang="en-US" sz="2200" dirty="0">
                <a:latin typeface="Times New Roman" panose="02020603050405020304" pitchFamily="18" charset="0"/>
                <a:cs typeface="Times New Roman" panose="02020603050405020304" pitchFamily="18" charset="0"/>
              </a:rPr>
              <a:t>required position is reached it is again locked by crank pin </a:t>
            </a:r>
          </a:p>
          <a:p>
            <a:pPr algn="just">
              <a:lnSpc>
                <a:spcPct val="150000"/>
              </a:lnSpc>
            </a:pPr>
            <a:r>
              <a:rPr lang="en-US" sz="2200" dirty="0" smtClean="0">
                <a:latin typeface="Times New Roman" panose="02020603050405020304" pitchFamily="18" charset="0"/>
                <a:cs typeface="Times New Roman" panose="02020603050405020304" pitchFamily="18" charset="0"/>
              </a:rPr>
              <a:t>40 </a:t>
            </a:r>
            <a:r>
              <a:rPr lang="en-US" sz="2200" dirty="0">
                <a:latin typeface="Times New Roman" panose="02020603050405020304" pitchFamily="18" charset="0"/>
                <a:cs typeface="Times New Roman" panose="02020603050405020304" pitchFamily="18" charset="0"/>
              </a:rPr>
              <a:t>turns of indexing crank = 1 revolution of index head spindle </a:t>
            </a:r>
          </a:p>
          <a:p>
            <a:pPr algn="just">
              <a:lnSpc>
                <a:spcPct val="150000"/>
              </a:lnSpc>
            </a:pPr>
            <a:r>
              <a:rPr lang="en-US" sz="2200" dirty="0" smtClean="0">
                <a:latin typeface="Times New Roman" panose="02020603050405020304" pitchFamily="18" charset="0"/>
                <a:cs typeface="Times New Roman" panose="02020603050405020304" pitchFamily="18" charset="0"/>
              </a:rPr>
              <a:t>Index </a:t>
            </a:r>
            <a:r>
              <a:rPr lang="en-US" sz="2200" dirty="0">
                <a:latin typeface="Times New Roman" panose="02020603050405020304" pitchFamily="18" charset="0"/>
                <a:cs typeface="Times New Roman" panose="02020603050405020304" pitchFamily="18" charset="0"/>
              </a:rPr>
              <a:t>plates with concentric circles of holes are used: </a:t>
            </a:r>
            <a:endParaRPr lang="en-US" sz="2200" dirty="0"/>
          </a:p>
        </p:txBody>
      </p:sp>
      <p:sp>
        <p:nvSpPr>
          <p:cNvPr id="4" name="Slide Number Placeholder 3"/>
          <p:cNvSpPr>
            <a:spLocks noGrp="1"/>
          </p:cNvSpPr>
          <p:nvPr>
            <p:ph type="sldNum" sz="quarter" idx="12"/>
          </p:nvPr>
        </p:nvSpPr>
        <p:spPr/>
        <p:txBody>
          <a:bodyPr/>
          <a:lstStyle/>
          <a:p>
            <a:fld id="{4D374F10-0401-4224-9624-EB074E096B44}" type="slidenum">
              <a:rPr lang="en-US" smtClean="0"/>
              <a:pPr/>
              <a:t>27</a:t>
            </a:fld>
            <a:endParaRPr lang="en-US"/>
          </a:p>
        </p:txBody>
      </p:sp>
    </p:spTree>
    <p:extLst>
      <p:ext uri="{BB962C8B-B14F-4D97-AF65-F5344CB8AC3E}">
        <p14:creationId xmlns:p14="http://schemas.microsoft.com/office/powerpoint/2010/main" xmlns="" val="39132522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404664"/>
            <a:ext cx="8424936" cy="6264696"/>
          </a:xfrm>
        </p:spPr>
        <p:txBody>
          <a:bodyPr>
            <a:normAutofit/>
          </a:bodyPr>
          <a:lstStyle/>
          <a:p>
            <a:pPr marL="0" indent="0" algn="just">
              <a:buNone/>
            </a:pPr>
            <a:r>
              <a:rPr lang="nb-NO" sz="2200" dirty="0">
                <a:latin typeface="Times New Roman" panose="02020603050405020304" pitchFamily="18" charset="0"/>
                <a:cs typeface="Times New Roman" panose="02020603050405020304" pitchFamily="18" charset="0"/>
              </a:rPr>
              <a:t>Plate: 1 - 15, 16, 17, 18, 19, 20 </a:t>
            </a:r>
          </a:p>
          <a:p>
            <a:pPr marL="0" indent="0" algn="just">
              <a:buNone/>
            </a:pPr>
            <a:r>
              <a:rPr lang="nb-NO" sz="2200" dirty="0">
                <a:latin typeface="Times New Roman" panose="02020603050405020304" pitchFamily="18" charset="0"/>
                <a:cs typeface="Times New Roman" panose="02020603050405020304" pitchFamily="18" charset="0"/>
              </a:rPr>
              <a:t>Plate: 2 - 21, 23, 27, 29, 31, 33 </a:t>
            </a:r>
          </a:p>
          <a:p>
            <a:pPr marL="0" indent="0" algn="just">
              <a:buNone/>
            </a:pPr>
            <a:r>
              <a:rPr lang="nb-NO" sz="2200" dirty="0">
                <a:latin typeface="Times New Roman" panose="02020603050405020304" pitchFamily="18" charset="0"/>
                <a:cs typeface="Times New Roman" panose="02020603050405020304" pitchFamily="18" charset="0"/>
              </a:rPr>
              <a:t>Plate: 3 – 37, 39, 41, 43, 47, 49 </a:t>
            </a:r>
          </a:p>
          <a:p>
            <a:pPr algn="just"/>
            <a:r>
              <a:rPr lang="en-US" sz="2200" dirty="0" smtClean="0">
                <a:latin typeface="Times New Roman" panose="02020603050405020304" pitchFamily="18" charset="0"/>
                <a:cs typeface="Times New Roman" panose="02020603050405020304" pitchFamily="18" charset="0"/>
              </a:rPr>
              <a:t>Index </a:t>
            </a:r>
            <a:r>
              <a:rPr lang="en-US" sz="2200" dirty="0">
                <a:latin typeface="Times New Roman" panose="02020603050405020304" pitchFamily="18" charset="0"/>
                <a:cs typeface="Times New Roman" panose="02020603050405020304" pitchFamily="18" charset="0"/>
              </a:rPr>
              <a:t>crank movement = 40/N (N = number of divisions required) </a:t>
            </a:r>
          </a:p>
          <a:p>
            <a:pPr algn="just"/>
            <a:r>
              <a:rPr lang="en-US" sz="2200" dirty="0" smtClean="0">
                <a:latin typeface="Times New Roman" panose="02020603050405020304" pitchFamily="18" charset="0"/>
                <a:cs typeface="Times New Roman" panose="02020603050405020304" pitchFamily="18" charset="0"/>
              </a:rPr>
              <a:t>If </a:t>
            </a:r>
            <a:r>
              <a:rPr lang="en-US" sz="2200" dirty="0">
                <a:latin typeface="Times New Roman" panose="02020603050405020304" pitchFamily="18" charset="0"/>
                <a:cs typeface="Times New Roman" panose="02020603050405020304" pitchFamily="18" charset="0"/>
              </a:rPr>
              <a:t>the index crank movement deducted from above formula is a whole no. then the index crank should be rotated through a complete no. of turns equal to derived whole no. </a:t>
            </a:r>
          </a:p>
          <a:p>
            <a:pPr algn="just"/>
            <a:r>
              <a:rPr lang="en-US" sz="2200" dirty="0" smtClean="0">
                <a:latin typeface="Times New Roman" panose="02020603050405020304" pitchFamily="18" charset="0"/>
                <a:cs typeface="Times New Roman" panose="02020603050405020304" pitchFamily="18" charset="0"/>
              </a:rPr>
              <a:t>Suppose </a:t>
            </a:r>
            <a:r>
              <a:rPr lang="en-US" sz="2200" dirty="0">
                <a:latin typeface="Times New Roman" panose="02020603050405020304" pitchFamily="18" charset="0"/>
                <a:cs typeface="Times New Roman" panose="02020603050405020304" pitchFamily="18" charset="0"/>
              </a:rPr>
              <a:t>it is desired to mill a gear with 8 equally spaced teeth. l/8 </a:t>
            </a:r>
            <a:r>
              <a:rPr lang="en-US" sz="2200" dirty="0" err="1">
                <a:latin typeface="Times New Roman" panose="02020603050405020304" pitchFamily="18" charset="0"/>
                <a:cs typeface="Times New Roman" panose="02020603050405020304" pitchFamily="18" charset="0"/>
              </a:rPr>
              <a:t>th</a:t>
            </a:r>
            <a:r>
              <a:rPr lang="en-US" sz="2200" dirty="0">
                <a:latin typeface="Times New Roman" panose="02020603050405020304" pitchFamily="18" charset="0"/>
                <a:cs typeface="Times New Roman" panose="02020603050405020304" pitchFamily="18" charset="0"/>
              </a:rPr>
              <a:t> of 40 or 5 turns will produce correct spacing. </a:t>
            </a:r>
          </a:p>
          <a:p>
            <a:pPr algn="just"/>
            <a:r>
              <a:rPr lang="en-US" sz="2200" dirty="0" smtClean="0">
                <a:latin typeface="Times New Roman" panose="02020603050405020304" pitchFamily="18" charset="0"/>
                <a:cs typeface="Times New Roman" panose="02020603050405020304" pitchFamily="18" charset="0"/>
              </a:rPr>
              <a:t>i.e</a:t>
            </a:r>
            <a:r>
              <a:rPr lang="en-US" sz="2200" dirty="0">
                <a:latin typeface="Times New Roman" panose="02020603050405020304" pitchFamily="18" charset="0"/>
                <a:cs typeface="Times New Roman" panose="02020603050405020304" pitchFamily="18" charset="0"/>
              </a:rPr>
              <a:t>. after each milling operation we will rotate the index crank by 5 turns until work is completed. </a:t>
            </a:r>
          </a:p>
          <a:p>
            <a:pPr algn="just"/>
            <a:r>
              <a:rPr lang="en-US" sz="2200" dirty="0" smtClean="0">
                <a:latin typeface="Times New Roman" panose="02020603050405020304" pitchFamily="18" charset="0"/>
                <a:cs typeface="Times New Roman" panose="02020603050405020304" pitchFamily="18" charset="0"/>
              </a:rPr>
              <a:t>If </a:t>
            </a:r>
            <a:r>
              <a:rPr lang="en-US" sz="2200" dirty="0">
                <a:latin typeface="Times New Roman" panose="02020603050405020304" pitchFamily="18" charset="0"/>
                <a:cs typeface="Times New Roman" panose="02020603050405020304" pitchFamily="18" charset="0"/>
              </a:rPr>
              <a:t>index crank movement calculated from above formula is a whole no. and fraction, the numerator and denominator are multiplied by a suitable common no. so that the denominator will turn to a number equal to no. of holes available on any of the index plate </a:t>
            </a:r>
          </a:p>
        </p:txBody>
      </p:sp>
      <p:sp>
        <p:nvSpPr>
          <p:cNvPr id="4" name="Slide Number Placeholder 3"/>
          <p:cNvSpPr>
            <a:spLocks noGrp="1"/>
          </p:cNvSpPr>
          <p:nvPr>
            <p:ph type="sldNum" sz="quarter" idx="12"/>
          </p:nvPr>
        </p:nvSpPr>
        <p:spPr/>
        <p:txBody>
          <a:bodyPr/>
          <a:lstStyle/>
          <a:p>
            <a:fld id="{4D374F10-0401-4224-9624-EB074E096B44}" type="slidenum">
              <a:rPr lang="en-US" smtClean="0"/>
              <a:pPr/>
              <a:t>28</a:t>
            </a:fld>
            <a:endParaRPr lang="en-US"/>
          </a:p>
        </p:txBody>
      </p:sp>
    </p:spTree>
    <p:extLst>
      <p:ext uri="{BB962C8B-B14F-4D97-AF65-F5344CB8AC3E}">
        <p14:creationId xmlns:p14="http://schemas.microsoft.com/office/powerpoint/2010/main" xmlns="" val="31815715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1214422"/>
            <a:ext cx="8424936" cy="4516554"/>
          </a:xfrm>
        </p:spPr>
        <p:txBody>
          <a:bodyPr>
            <a:normAutofit/>
          </a:bodyPr>
          <a:lstStyle/>
          <a:p>
            <a:pPr algn="just">
              <a:lnSpc>
                <a:spcPct val="150000"/>
              </a:lnSpc>
            </a:pPr>
            <a:r>
              <a:rPr lang="en-US" sz="2200" dirty="0" smtClean="0">
                <a:latin typeface="Times New Roman" panose="02020603050405020304" pitchFamily="18" charset="0"/>
                <a:cs typeface="Times New Roman" panose="02020603050405020304" pitchFamily="18" charset="0"/>
              </a:rPr>
              <a:t>The </a:t>
            </a:r>
            <a:r>
              <a:rPr lang="en-US" sz="2200" dirty="0">
                <a:latin typeface="Times New Roman" panose="02020603050405020304" pitchFamily="18" charset="0"/>
                <a:cs typeface="Times New Roman" panose="02020603050405020304" pitchFamily="18" charset="0"/>
              </a:rPr>
              <a:t>new numerator now stands for the no. of holes to be moved by the index crank in the selected whole circle in addition to complete turns of index crank </a:t>
            </a:r>
            <a:endParaRPr lang="en-US" sz="2200" dirty="0" smtClean="0">
              <a:latin typeface="Times New Roman" panose="02020603050405020304" pitchFamily="18" charset="0"/>
              <a:cs typeface="Times New Roman" panose="02020603050405020304" pitchFamily="18" charset="0"/>
            </a:endParaRPr>
          </a:p>
          <a:p>
            <a:pPr algn="just">
              <a:lnSpc>
                <a:spcPct val="150000"/>
              </a:lnSpc>
            </a:pPr>
            <a:r>
              <a:rPr lang="en-US" sz="2200" dirty="0" smtClean="0">
                <a:latin typeface="Times New Roman" panose="02020603050405020304" pitchFamily="18" charset="0"/>
                <a:cs typeface="Times New Roman" panose="02020603050405020304" pitchFamily="18" charset="0"/>
              </a:rPr>
              <a:t>For </a:t>
            </a:r>
            <a:r>
              <a:rPr lang="en-US" sz="2200" dirty="0">
                <a:latin typeface="Times New Roman" panose="02020603050405020304" pitchFamily="18" charset="0"/>
                <a:cs typeface="Times New Roman" panose="02020603050405020304" pitchFamily="18" charset="0"/>
              </a:rPr>
              <a:t>cutting 16 teeth, 40/16 = 2 turns. i.e. for each indexing we need two complete rotations of the crank plus 8 more holes on the 16 hole circle of plate 1(Plate I - 15, 16, 17, 18, 19, 20 holes) </a:t>
            </a:r>
          </a:p>
          <a:p>
            <a:pPr algn="just">
              <a:lnSpc>
                <a:spcPct val="150000"/>
              </a:lnSpc>
            </a:pPr>
            <a:r>
              <a:rPr lang="en-US" sz="2200" dirty="0" smtClean="0">
                <a:latin typeface="Times New Roman" panose="02020603050405020304" pitchFamily="18" charset="0"/>
                <a:cs typeface="Times New Roman" panose="02020603050405020304" pitchFamily="18" charset="0"/>
              </a:rPr>
              <a:t>For </a:t>
            </a:r>
            <a:r>
              <a:rPr lang="en-US" sz="2200" dirty="0">
                <a:latin typeface="Times New Roman" panose="02020603050405020304" pitchFamily="18" charset="0"/>
                <a:cs typeface="Times New Roman" panose="02020603050405020304" pitchFamily="18" charset="0"/>
              </a:rPr>
              <a:t>cutting 30 teeth, 40/30 = 1 + 1/3 = 1 + 7/21 (One complete turn of indexing crank and 7 holes in 21 hole circle of the index plate 2) </a:t>
            </a:r>
          </a:p>
        </p:txBody>
      </p:sp>
      <p:sp>
        <p:nvSpPr>
          <p:cNvPr id="4" name="Slide Number Placeholder 3"/>
          <p:cNvSpPr>
            <a:spLocks noGrp="1"/>
          </p:cNvSpPr>
          <p:nvPr>
            <p:ph type="sldNum" sz="quarter" idx="12"/>
          </p:nvPr>
        </p:nvSpPr>
        <p:spPr/>
        <p:txBody>
          <a:bodyPr/>
          <a:lstStyle/>
          <a:p>
            <a:fld id="{4D374F10-0401-4224-9624-EB074E096B44}" type="slidenum">
              <a:rPr lang="en-US" smtClean="0"/>
              <a:pPr/>
              <a:t>29</a:t>
            </a:fld>
            <a:endParaRPr lang="en-US"/>
          </a:p>
        </p:txBody>
      </p:sp>
    </p:spTree>
    <p:extLst>
      <p:ext uri="{BB962C8B-B14F-4D97-AF65-F5344CB8AC3E}">
        <p14:creationId xmlns:p14="http://schemas.microsoft.com/office/powerpoint/2010/main" xmlns="" val="21385868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Autofit/>
          </a:bodyPr>
          <a:lstStyle/>
          <a:p>
            <a:r>
              <a:rPr lang="en-US" sz="3200" b="1" dirty="0" smtClean="0">
                <a:latin typeface="Times New Roman" pitchFamily="18" charset="0"/>
                <a:cs typeface="Times New Roman" pitchFamily="18" charset="0"/>
              </a:rPr>
              <a:t>COMPOUND INDEXING</a:t>
            </a:r>
            <a:endParaRPr lang="en-US" sz="3200" b="1" dirty="0">
              <a:latin typeface="Times New Roman" pitchFamily="18" charset="0"/>
              <a:cs typeface="Times New Roman" pitchFamily="18" charset="0"/>
            </a:endParaRPr>
          </a:p>
        </p:txBody>
      </p:sp>
      <mc:AlternateContent xmlns:mc="http://schemas.openxmlformats.org/markup-compatibility/2006">
        <mc:Choice xmlns:a14="http://schemas.microsoft.com/office/drawing/2010/main" xmlns="" Requires="a14">
          <p:sp>
            <p:nvSpPr>
              <p:cNvPr id="3" name="Content Placeholder 2"/>
              <p:cNvSpPr>
                <a:spLocks noGrp="1"/>
              </p:cNvSpPr>
              <p:nvPr>
                <p:ph idx="1"/>
              </p:nvPr>
            </p:nvSpPr>
            <p:spPr>
              <a:xfrm>
                <a:off x="457200" y="980728"/>
                <a:ext cx="8363272" cy="5616624"/>
              </a:xfrm>
            </p:spPr>
            <p:txBody>
              <a:bodyPr>
                <a:normAutofit/>
              </a:bodyPr>
              <a:lstStyle/>
              <a:p>
                <a:pPr algn="just"/>
                <a:r>
                  <a:rPr lang="en-US" sz="2400" dirty="0" smtClean="0">
                    <a:latin typeface="Times New Roman" panose="02020603050405020304" pitchFamily="18" charset="0"/>
                    <a:cs typeface="Times New Roman" panose="02020603050405020304" pitchFamily="18" charset="0"/>
                  </a:rPr>
                  <a:t>However when the available capacity </a:t>
                </a:r>
                <a:r>
                  <a:rPr lang="en-US" sz="2400" dirty="0">
                    <a:latin typeface="Times New Roman" panose="02020603050405020304" pitchFamily="18" charset="0"/>
                    <a:cs typeface="Times New Roman" panose="02020603050405020304" pitchFamily="18" charset="0"/>
                  </a:rPr>
                  <a:t>of the index plates is not </a:t>
                </a:r>
                <a:r>
                  <a:rPr lang="en-US" sz="2400" dirty="0" smtClean="0">
                    <a:latin typeface="Times New Roman" panose="02020603050405020304" pitchFamily="18" charset="0"/>
                    <a:cs typeface="Times New Roman" panose="02020603050405020304" pitchFamily="18" charset="0"/>
                  </a:rPr>
                  <a:t>sufficient to </a:t>
                </a:r>
                <a:r>
                  <a:rPr lang="en-US" sz="2400" dirty="0">
                    <a:latin typeface="Times New Roman" panose="02020603050405020304" pitchFamily="18" charset="0"/>
                    <a:cs typeface="Times New Roman" panose="02020603050405020304" pitchFamily="18" charset="0"/>
                  </a:rPr>
                  <a:t>do a given indexing job, the compound </a:t>
                </a:r>
                <a:r>
                  <a:rPr lang="en-US" sz="2400" dirty="0" smtClean="0">
                    <a:latin typeface="Times New Roman" panose="02020603050405020304" pitchFamily="18" charset="0"/>
                    <a:cs typeface="Times New Roman" panose="02020603050405020304" pitchFamily="18" charset="0"/>
                  </a:rPr>
                  <a:t>indexing method </a:t>
                </a:r>
                <a:r>
                  <a:rPr lang="en-US" sz="2400" dirty="0">
                    <a:latin typeface="Times New Roman" panose="02020603050405020304" pitchFamily="18" charset="0"/>
                    <a:cs typeface="Times New Roman" panose="02020603050405020304" pitchFamily="18" charset="0"/>
                  </a:rPr>
                  <a:t>could be used. In order to obtain </a:t>
                </a:r>
                <a:r>
                  <a:rPr lang="en-US" sz="2400" dirty="0" smtClean="0">
                    <a:latin typeface="Times New Roman" panose="02020603050405020304" pitchFamily="18" charset="0"/>
                    <a:cs typeface="Times New Roman" panose="02020603050405020304" pitchFamily="18" charset="0"/>
                  </a:rPr>
                  <a:t>more complex </a:t>
                </a:r>
                <a:r>
                  <a:rPr lang="en-US" sz="2400" dirty="0">
                    <a:latin typeface="Times New Roman" panose="02020603050405020304" pitchFamily="18" charset="0"/>
                    <a:cs typeface="Times New Roman" panose="02020603050405020304" pitchFamily="18" charset="0"/>
                  </a:rPr>
                  <a:t>indexing the following method is </a:t>
                </a:r>
                <a:r>
                  <a:rPr lang="en-US" sz="2400" dirty="0" smtClean="0">
                    <a:latin typeface="Times New Roman" panose="02020603050405020304" pitchFamily="18" charset="0"/>
                    <a:cs typeface="Times New Roman" panose="02020603050405020304" pitchFamily="18" charset="0"/>
                  </a:rPr>
                  <a:t>used. First </a:t>
                </a:r>
                <a:r>
                  <a:rPr lang="en-US" sz="2400" dirty="0">
                    <a:latin typeface="Times New Roman" panose="02020603050405020304" pitchFamily="18" charset="0"/>
                    <a:cs typeface="Times New Roman" panose="02020603050405020304" pitchFamily="18" charset="0"/>
                  </a:rPr>
                  <a:t>the crank is moved in the usual fashion in </a:t>
                </a:r>
                <a:r>
                  <a:rPr lang="en-US" sz="2400" dirty="0" smtClean="0">
                    <a:latin typeface="Times New Roman" panose="02020603050405020304" pitchFamily="18" charset="0"/>
                    <a:cs typeface="Times New Roman" panose="02020603050405020304" pitchFamily="18" charset="0"/>
                  </a:rPr>
                  <a:t>the forward </a:t>
                </a:r>
                <a:r>
                  <a:rPr lang="en-US" sz="2400" dirty="0">
                    <a:latin typeface="Times New Roman" panose="02020603050405020304" pitchFamily="18" charset="0"/>
                    <a:cs typeface="Times New Roman" panose="02020603050405020304" pitchFamily="18" charset="0"/>
                  </a:rPr>
                  <a:t>direction. Then a further motion is </a:t>
                </a:r>
                <a:r>
                  <a:rPr lang="en-US" sz="2400" dirty="0" smtClean="0">
                    <a:latin typeface="Times New Roman" panose="02020603050405020304" pitchFamily="18" charset="0"/>
                    <a:cs typeface="Times New Roman" panose="02020603050405020304" pitchFamily="18" charset="0"/>
                  </a:rPr>
                  <a:t>added or </a:t>
                </a:r>
                <a:r>
                  <a:rPr lang="en-US" sz="2400" dirty="0">
                    <a:latin typeface="Times New Roman" panose="02020603050405020304" pitchFamily="18" charset="0"/>
                    <a:cs typeface="Times New Roman" panose="02020603050405020304" pitchFamily="18" charset="0"/>
                  </a:rPr>
                  <a:t>subtracted by rotating the index plate after </a:t>
                </a:r>
                <a:r>
                  <a:rPr lang="en-US" sz="2400" dirty="0" smtClean="0">
                    <a:latin typeface="Times New Roman" panose="02020603050405020304" pitchFamily="18" charset="0"/>
                    <a:cs typeface="Times New Roman" panose="02020603050405020304" pitchFamily="18" charset="0"/>
                  </a:rPr>
                  <a:t>locking the </a:t>
                </a:r>
                <a:r>
                  <a:rPr lang="en-US" sz="2400" dirty="0">
                    <a:latin typeface="Times New Roman" panose="02020603050405020304" pitchFamily="18" charset="0"/>
                    <a:cs typeface="Times New Roman" panose="02020603050405020304" pitchFamily="18" charset="0"/>
                  </a:rPr>
                  <a:t>plate with the plunger. This is termed </a:t>
                </a:r>
                <a:r>
                  <a:rPr lang="en-US" sz="2400" dirty="0" smtClean="0">
                    <a:latin typeface="Times New Roman" panose="02020603050405020304" pitchFamily="18" charset="0"/>
                    <a:cs typeface="Times New Roman" panose="02020603050405020304" pitchFamily="18" charset="0"/>
                  </a:rPr>
                  <a:t>as compound </a:t>
                </a:r>
                <a:r>
                  <a:rPr lang="en-US" sz="2400" dirty="0">
                    <a:latin typeface="Times New Roman" panose="02020603050405020304" pitchFamily="18" charset="0"/>
                    <a:cs typeface="Times New Roman" panose="02020603050405020304" pitchFamily="18" charset="0"/>
                  </a:rPr>
                  <a:t>indexing</a:t>
                </a:r>
                <a:r>
                  <a:rPr lang="en-US" sz="2400" dirty="0" smtClean="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For example, if the indexing is done by </a:t>
                </a:r>
                <a:r>
                  <a:rPr lang="en-US" sz="2400" dirty="0" smtClean="0">
                    <a:latin typeface="Times New Roman" panose="02020603050405020304" pitchFamily="18" charset="0"/>
                    <a:cs typeface="Times New Roman" panose="02020603050405020304" pitchFamily="18" charset="0"/>
                  </a:rPr>
                  <a:t>moving the </a:t>
                </a:r>
                <a:r>
                  <a:rPr lang="en-US" sz="2400" dirty="0">
                    <a:latin typeface="Times New Roman" panose="02020603050405020304" pitchFamily="18" charset="0"/>
                    <a:cs typeface="Times New Roman" panose="02020603050405020304" pitchFamily="18" charset="0"/>
                  </a:rPr>
                  <a:t>crank by 5 holes in the 20 hole circle and </a:t>
                </a:r>
                <a:r>
                  <a:rPr lang="en-US" sz="2400" dirty="0" smtClean="0">
                    <a:latin typeface="Times New Roman" panose="02020603050405020304" pitchFamily="18" charset="0"/>
                    <a:cs typeface="Times New Roman" panose="02020603050405020304" pitchFamily="18" charset="0"/>
                  </a:rPr>
                  <a:t>then the </a:t>
                </a:r>
                <a:r>
                  <a:rPr lang="en-US" sz="2400" dirty="0">
                    <a:latin typeface="Times New Roman" panose="02020603050405020304" pitchFamily="18" charset="0"/>
                    <a:cs typeface="Times New Roman" panose="02020603050405020304" pitchFamily="18" charset="0"/>
                  </a:rPr>
                  <a:t>index plate together with the crank is </a:t>
                </a:r>
                <a:r>
                  <a:rPr lang="en-US" sz="2400" dirty="0" smtClean="0">
                    <a:latin typeface="Times New Roman" panose="02020603050405020304" pitchFamily="18" charset="0"/>
                    <a:cs typeface="Times New Roman" panose="02020603050405020304" pitchFamily="18" charset="0"/>
                  </a:rPr>
                  <a:t>indexed back </a:t>
                </a:r>
                <a:r>
                  <a:rPr lang="en-US" sz="2400" dirty="0">
                    <a:latin typeface="Times New Roman" panose="02020603050405020304" pitchFamily="18" charset="0"/>
                    <a:cs typeface="Times New Roman" panose="02020603050405020304" pitchFamily="18" charset="0"/>
                  </a:rPr>
                  <a:t>by a hole with the locking plunger </a:t>
                </a:r>
                <a:r>
                  <a:rPr lang="en-US" sz="2400" dirty="0" smtClean="0">
                    <a:latin typeface="Times New Roman" panose="02020603050405020304" pitchFamily="18" charset="0"/>
                    <a:cs typeface="Times New Roman" panose="02020603050405020304" pitchFamily="18" charset="0"/>
                  </a:rPr>
                  <a:t>registering in </a:t>
                </a:r>
                <a:r>
                  <a:rPr lang="en-US" sz="2400" dirty="0">
                    <a:latin typeface="Times New Roman" panose="02020603050405020304" pitchFamily="18" charset="0"/>
                    <a:cs typeface="Times New Roman" panose="02020603050405020304" pitchFamily="18" charset="0"/>
                  </a:rPr>
                  <a:t>a 15 hole </a:t>
                </a:r>
                <a:r>
                  <a:rPr lang="en-US" sz="2400" dirty="0" smtClean="0">
                    <a:latin typeface="Times New Roman" panose="02020603050405020304" pitchFamily="18" charset="0"/>
                    <a:cs typeface="Times New Roman" panose="02020603050405020304" pitchFamily="18" charset="0"/>
                  </a:rPr>
                  <a:t>circle</a:t>
                </a:r>
              </a:p>
              <a:p>
                <a:pPr algn="just"/>
                <a:r>
                  <a:rPr lang="en-US" sz="2400" dirty="0">
                    <a:latin typeface="Times New Roman" panose="02020603050405020304" pitchFamily="18" charset="0"/>
                    <a:cs typeface="Times New Roman" panose="02020603050405020304" pitchFamily="18" charset="0"/>
                  </a:rPr>
                  <a:t>The total indexing done is </a:t>
                </a:r>
                <a:r>
                  <a:rPr lang="en-US" sz="2400" dirty="0" smtClean="0">
                    <a:latin typeface="Times New Roman" panose="02020603050405020304" pitchFamily="18" charset="0"/>
                    <a:cs typeface="Times New Roman" panose="02020603050405020304" pitchFamily="18" charset="0"/>
                  </a:rPr>
                  <a:t>then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5</m:t>
                        </m:r>
                      </m:num>
                      <m:den>
                        <m:r>
                          <a:rPr lang="en-US" sz="2400" b="0" i="1" smtClean="0">
                            <a:latin typeface="Cambria Math" panose="02040503050406030204" pitchFamily="18" charset="0"/>
                          </a:rPr>
                          <m:t>20</m:t>
                        </m:r>
                      </m:den>
                    </m:f>
                    <m:r>
                      <a:rPr lang="en-US" sz="2400" b="0" i="1" smtClean="0">
                        <a:latin typeface="Cambria Math" panose="02040503050406030204" pitchFamily="18" charset="0"/>
                      </a:rPr>
                      <m:t>−</m:t>
                    </m:r>
                    <m:f>
                      <m:fPr>
                        <m:ctrlPr>
                          <a:rPr lang="en-US" sz="240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15</m:t>
                        </m:r>
                      </m:den>
                    </m:f>
                    <m:r>
                      <a:rPr lang="en-US" sz="2400" b="0" i="1" smtClean="0">
                        <a:latin typeface="Cambria Math" panose="02040503050406030204" pitchFamily="18" charset="0"/>
                      </a:rPr>
                      <m:t>=</m:t>
                    </m:r>
                    <m:f>
                      <m:fPr>
                        <m:ctrlPr>
                          <a:rPr lang="en-US" sz="2400" i="1" smtClean="0">
                            <a:latin typeface="Cambria Math" panose="02040503050406030204" pitchFamily="18" charset="0"/>
                          </a:rPr>
                        </m:ctrlPr>
                      </m:fPr>
                      <m:num>
                        <m:r>
                          <a:rPr lang="en-US" sz="2400" b="0" i="1" smtClean="0">
                            <a:latin typeface="Cambria Math" panose="02040503050406030204" pitchFamily="18" charset="0"/>
                          </a:rPr>
                          <m:t>11</m:t>
                        </m:r>
                      </m:num>
                      <m:den>
                        <m:r>
                          <a:rPr lang="en-US" sz="2400" b="0" i="1" smtClean="0">
                            <a:latin typeface="Cambria Math" panose="02040503050406030204" pitchFamily="18" charset="0"/>
                          </a:rPr>
                          <m:t>60</m:t>
                        </m:r>
                      </m:den>
                    </m:f>
                  </m:oMath>
                </a14:m>
                <a:endParaRPr lang="en-US" sz="2400" dirty="0">
                  <a:latin typeface="Times New Roman" panose="02020603050405020304" pitchFamily="18" charset="0"/>
                  <a:cs typeface="Times New Roman" panose="02020603050405020304"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57200" y="980728"/>
                <a:ext cx="8363272" cy="5616624"/>
              </a:xfrm>
              <a:blipFill rotWithShape="0">
                <a:blip r:embed="rId2"/>
                <a:stretch>
                  <a:fillRect l="-948" t="-869" r="-1093"/>
                </a:stretch>
              </a:blipFill>
            </p:spPr>
            <p:txBody>
              <a:bodyPr/>
              <a:lstStyle/>
              <a:p>
                <a:r>
                  <a:rPr lang="en-US" dirty="0">
                    <a:noFill/>
                  </a:rPr>
                  <a:t> </a:t>
                </a:r>
              </a:p>
            </p:txBody>
          </p:sp>
        </mc:Fallback>
      </mc:AlternateContent>
      <p:sp>
        <p:nvSpPr>
          <p:cNvPr id="4" name="Slide Number Placeholder 3"/>
          <p:cNvSpPr>
            <a:spLocks noGrp="1"/>
          </p:cNvSpPr>
          <p:nvPr>
            <p:ph type="sldNum" sz="quarter" idx="12"/>
          </p:nvPr>
        </p:nvSpPr>
        <p:spPr/>
        <p:txBody>
          <a:bodyPr/>
          <a:lstStyle/>
          <a:p>
            <a:fld id="{4D374F10-0401-4224-9624-EB074E096B44}" type="slidenum">
              <a:rPr lang="en-US" smtClean="0"/>
              <a:pPr/>
              <a:t>30</a:t>
            </a:fld>
            <a:endParaRPr lang="en-US"/>
          </a:p>
        </p:txBody>
      </p:sp>
    </p:spTree>
    <p:extLst>
      <p:ext uri="{BB962C8B-B14F-4D97-AF65-F5344CB8AC3E}">
        <p14:creationId xmlns:p14="http://schemas.microsoft.com/office/powerpoint/2010/main" xmlns="" val="10895524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Angular Indexing</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2200" dirty="0" smtClean="0">
                <a:latin typeface="Times New Roman" pitchFamily="18" charset="0"/>
                <a:cs typeface="Times New Roman" pitchFamily="18" charset="0"/>
              </a:rPr>
              <a:t>Sometimes it is desirable to carry out indexing using the actual angles rather than equal numbers along </a:t>
            </a:r>
            <a:r>
              <a:rPr lang="en-US" sz="2200" dirty="0" smtClean="0">
                <a:latin typeface="Times New Roman" pitchFamily="18" charset="0"/>
                <a:cs typeface="Times New Roman" pitchFamily="18" charset="0"/>
              </a:rPr>
              <a:t>the periphery</a:t>
            </a:r>
            <a:r>
              <a:rPr lang="en-US" sz="2200" dirty="0" smtClean="0">
                <a:latin typeface="Times New Roman" pitchFamily="18" charset="0"/>
                <a:cs typeface="Times New Roman" pitchFamily="18" charset="0"/>
              </a:rPr>
              <a:t>, then angular indexing would be useful. </a:t>
            </a:r>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The </a:t>
            </a:r>
            <a:r>
              <a:rPr lang="en-US" sz="2200" dirty="0" smtClean="0">
                <a:latin typeface="Times New Roman" pitchFamily="18" charset="0"/>
                <a:cs typeface="Times New Roman" pitchFamily="18" charset="0"/>
              </a:rPr>
              <a:t>procedure remains the same as the previous cases, </a:t>
            </a:r>
            <a:r>
              <a:rPr lang="en-US" sz="2200" dirty="0" smtClean="0">
                <a:latin typeface="Times New Roman" pitchFamily="18" charset="0"/>
                <a:cs typeface="Times New Roman" pitchFamily="18" charset="0"/>
              </a:rPr>
              <a:t>except that </a:t>
            </a:r>
            <a:r>
              <a:rPr lang="en-US" sz="2200" dirty="0" smtClean="0">
                <a:latin typeface="Times New Roman" pitchFamily="18" charset="0"/>
                <a:cs typeface="Times New Roman" pitchFamily="18" charset="0"/>
              </a:rPr>
              <a:t>the angle will have to be first converted to equivalent divisions. </a:t>
            </a:r>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Since </a:t>
            </a:r>
            <a:r>
              <a:rPr lang="en-US" sz="2200" dirty="0" smtClean="0">
                <a:latin typeface="Times New Roman" pitchFamily="18" charset="0"/>
                <a:cs typeface="Times New Roman" pitchFamily="18" charset="0"/>
              </a:rPr>
              <a:t>the 40 revolutions of the </a:t>
            </a:r>
            <a:r>
              <a:rPr lang="en-US" sz="2200" dirty="0" smtClean="0">
                <a:latin typeface="Times New Roman" pitchFamily="18" charset="0"/>
                <a:cs typeface="Times New Roman" pitchFamily="18" charset="0"/>
              </a:rPr>
              <a:t>crank equals </a:t>
            </a:r>
            <a:r>
              <a:rPr lang="en-US" sz="2200" dirty="0" smtClean="0">
                <a:latin typeface="Times New Roman" pitchFamily="18" charset="0"/>
                <a:cs typeface="Times New Roman" pitchFamily="18" charset="0"/>
              </a:rPr>
              <a:t>to a full rotation of the work piece, which means 360°, then one revolution of the crank is </a:t>
            </a:r>
            <a:r>
              <a:rPr lang="en-US" sz="2200" dirty="0" smtClean="0">
                <a:latin typeface="Times New Roman" pitchFamily="18" charset="0"/>
                <a:cs typeface="Times New Roman" pitchFamily="18" charset="0"/>
              </a:rPr>
              <a:t>equivalent to </a:t>
            </a:r>
            <a:r>
              <a:rPr lang="en-US" sz="2200" dirty="0" smtClean="0">
                <a:latin typeface="Times New Roman" pitchFamily="18" charset="0"/>
                <a:cs typeface="Times New Roman" pitchFamily="18" charset="0"/>
              </a:rPr>
              <a:t>9°.</a:t>
            </a:r>
            <a:endParaRPr lang="en-US"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a:bodyPr>
          <a:lstStyle/>
          <a:p>
            <a:r>
              <a:rPr lang="en-US" sz="3200" dirty="0" smtClean="0">
                <a:latin typeface="Times New Roman" pitchFamily="18" charset="0"/>
                <a:cs typeface="Times New Roman" pitchFamily="18" charset="0"/>
              </a:rPr>
              <a:t>Differential Indexing</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285720" y="857232"/>
            <a:ext cx="8501122" cy="5715040"/>
          </a:xfrm>
        </p:spPr>
        <p:txBody>
          <a:bodyPr>
            <a:noAutofit/>
          </a:bodyPr>
          <a:lstStyle/>
          <a:p>
            <a:pPr algn="just"/>
            <a:r>
              <a:rPr lang="en-US" sz="1800" dirty="0" smtClean="0">
                <a:latin typeface="Times New Roman" pitchFamily="18" charset="0"/>
                <a:cs typeface="Times New Roman" pitchFamily="18" charset="0"/>
              </a:rPr>
              <a:t>differential indexing is used for that purpose which is an </a:t>
            </a:r>
            <a:r>
              <a:rPr lang="en-US" sz="1800" dirty="0" smtClean="0">
                <a:latin typeface="Times New Roman" pitchFamily="18" charset="0"/>
                <a:cs typeface="Times New Roman" pitchFamily="18" charset="0"/>
              </a:rPr>
              <a:t>automatic way </a:t>
            </a:r>
            <a:r>
              <a:rPr lang="en-US" sz="1800" dirty="0" smtClean="0">
                <a:latin typeface="Times New Roman" pitchFamily="18" charset="0"/>
                <a:cs typeface="Times New Roman" pitchFamily="18" charset="0"/>
              </a:rPr>
              <a:t>to carry out the compound indexing </a:t>
            </a:r>
            <a:r>
              <a:rPr lang="en-US" sz="1800" dirty="0" smtClean="0">
                <a:latin typeface="Times New Roman" pitchFamily="18" charset="0"/>
                <a:cs typeface="Times New Roman" pitchFamily="18" charset="0"/>
              </a:rPr>
              <a:t>method</a:t>
            </a:r>
          </a:p>
          <a:p>
            <a:pPr algn="just"/>
            <a:r>
              <a:rPr lang="en-US" sz="1800" dirty="0" smtClean="0">
                <a:latin typeface="Times New Roman" pitchFamily="18" charset="0"/>
                <a:cs typeface="Times New Roman" pitchFamily="18" charset="0"/>
              </a:rPr>
              <a:t>In differential indexing, the index plate is made free to rotate. A gear is connected to the back end of </a:t>
            </a:r>
            <a:r>
              <a:rPr lang="en-US" sz="1800" dirty="0" smtClean="0">
                <a:latin typeface="Times New Roman" pitchFamily="18" charset="0"/>
                <a:cs typeface="Times New Roman" pitchFamily="18" charset="0"/>
              </a:rPr>
              <a:t>the dividing </a:t>
            </a:r>
            <a:r>
              <a:rPr lang="en-US" sz="1800" dirty="0" smtClean="0">
                <a:latin typeface="Times New Roman" pitchFamily="18" charset="0"/>
                <a:cs typeface="Times New Roman" pitchFamily="18" charset="0"/>
              </a:rPr>
              <a:t>head spindle while another gear mounted on a shaft, is connected to the shaft of the index </a:t>
            </a:r>
            <a:r>
              <a:rPr lang="en-US" sz="1800" dirty="0" smtClean="0">
                <a:latin typeface="Times New Roman" pitchFamily="18" charset="0"/>
                <a:cs typeface="Times New Roman" pitchFamily="18" charset="0"/>
              </a:rPr>
              <a:t>plate through </a:t>
            </a:r>
            <a:r>
              <a:rPr lang="en-US" sz="1800" dirty="0" smtClean="0">
                <a:latin typeface="Times New Roman" pitchFamily="18" charset="0"/>
                <a:cs typeface="Times New Roman" pitchFamily="18" charset="0"/>
              </a:rPr>
              <a:t>bevel </a:t>
            </a:r>
            <a:r>
              <a:rPr lang="en-US" sz="1800" dirty="0" smtClean="0">
                <a:latin typeface="Times New Roman" pitchFamily="18" charset="0"/>
                <a:cs typeface="Times New Roman" pitchFamily="18" charset="0"/>
              </a:rPr>
              <a:t>gears</a:t>
            </a:r>
          </a:p>
          <a:p>
            <a:pPr algn="just"/>
            <a:r>
              <a:rPr lang="en-US" sz="1800" dirty="0" smtClean="0">
                <a:latin typeface="Times New Roman" pitchFamily="18" charset="0"/>
                <a:cs typeface="Times New Roman" pitchFamily="18" charset="0"/>
              </a:rPr>
              <a:t>Since the work piece spindle is connected to the index plate through the </a:t>
            </a:r>
            <a:r>
              <a:rPr lang="en-US" sz="1800" dirty="0" smtClean="0">
                <a:latin typeface="Times New Roman" pitchFamily="18" charset="0"/>
                <a:cs typeface="Times New Roman" pitchFamily="18" charset="0"/>
              </a:rPr>
              <a:t>intermediate gearing </a:t>
            </a:r>
            <a:r>
              <a:rPr lang="en-US" sz="1800" dirty="0" smtClean="0">
                <a:latin typeface="Times New Roman" pitchFamily="18" charset="0"/>
                <a:cs typeface="Times New Roman" pitchFamily="18" charset="0"/>
              </a:rPr>
              <a:t>as explained above, the index plate will also start rotating</a:t>
            </a:r>
            <a:r>
              <a:rPr lang="en-US" sz="1800" dirty="0" smtClean="0">
                <a:latin typeface="Times New Roman" pitchFamily="18" charset="0"/>
                <a:cs typeface="Times New Roman" pitchFamily="18" charset="0"/>
              </a:rPr>
              <a:t>.</a:t>
            </a:r>
          </a:p>
          <a:p>
            <a:pPr algn="just"/>
            <a:r>
              <a:rPr lang="en-US" sz="1800" dirty="0" smtClean="0">
                <a:latin typeface="Times New Roman" pitchFamily="18" charset="0"/>
                <a:cs typeface="Times New Roman" pitchFamily="18" charset="0"/>
              </a:rPr>
              <a:t>If the chosen indexing is less than </a:t>
            </a:r>
            <a:r>
              <a:rPr lang="en-US" sz="1800" dirty="0" smtClean="0">
                <a:latin typeface="Times New Roman" pitchFamily="18" charset="0"/>
                <a:cs typeface="Times New Roman" pitchFamily="18" charset="0"/>
              </a:rPr>
              <a:t>the required </a:t>
            </a:r>
            <a:r>
              <a:rPr lang="en-US" sz="1800" dirty="0" smtClean="0">
                <a:latin typeface="Times New Roman" pitchFamily="18" charset="0"/>
                <a:cs typeface="Times New Roman" pitchFamily="18" charset="0"/>
              </a:rPr>
              <a:t>one, then the index plate will have to be moved in the same direction as the movement of the </a:t>
            </a:r>
            <a:r>
              <a:rPr lang="en-US" sz="1800" dirty="0" smtClean="0">
                <a:latin typeface="Times New Roman" pitchFamily="18" charset="0"/>
                <a:cs typeface="Times New Roman" pitchFamily="18" charset="0"/>
              </a:rPr>
              <a:t>crank, to </a:t>
            </a:r>
            <a:r>
              <a:rPr lang="en-US" sz="1800" dirty="0" smtClean="0">
                <a:latin typeface="Times New Roman" pitchFamily="18" charset="0"/>
                <a:cs typeface="Times New Roman" pitchFamily="18" charset="0"/>
              </a:rPr>
              <a:t>add the additional motion. </a:t>
            </a:r>
            <a:endParaRPr lang="en-US" sz="1800" dirty="0" smtClean="0">
              <a:latin typeface="Times New Roman" pitchFamily="18" charset="0"/>
              <a:cs typeface="Times New Roman" pitchFamily="18" charset="0"/>
            </a:endParaRPr>
          </a:p>
          <a:p>
            <a:pPr algn="just"/>
            <a:r>
              <a:rPr lang="en-US" sz="1800" dirty="0" smtClean="0">
                <a:latin typeface="Times New Roman" pitchFamily="18" charset="0"/>
                <a:cs typeface="Times New Roman" pitchFamily="18" charset="0"/>
              </a:rPr>
              <a:t>If </a:t>
            </a:r>
            <a:r>
              <a:rPr lang="en-US" sz="1800" dirty="0" smtClean="0">
                <a:latin typeface="Times New Roman" pitchFamily="18" charset="0"/>
                <a:cs typeface="Times New Roman" pitchFamily="18" charset="0"/>
              </a:rPr>
              <a:t>the chosen indexing is more then the plate should move in the </a:t>
            </a:r>
            <a:r>
              <a:rPr lang="en-US" sz="1800" dirty="0" smtClean="0">
                <a:latin typeface="Times New Roman" pitchFamily="18" charset="0"/>
                <a:cs typeface="Times New Roman" pitchFamily="18" charset="0"/>
              </a:rPr>
              <a:t>opposite direction </a:t>
            </a:r>
            <a:r>
              <a:rPr lang="en-US" sz="1800" dirty="0" smtClean="0">
                <a:latin typeface="Times New Roman" pitchFamily="18" charset="0"/>
                <a:cs typeface="Times New Roman" pitchFamily="18" charset="0"/>
              </a:rPr>
              <a:t>to subtract the additional motion.</a:t>
            </a:r>
          </a:p>
          <a:p>
            <a:pPr algn="just"/>
            <a:r>
              <a:rPr lang="en-US" sz="1800" dirty="0" smtClean="0">
                <a:latin typeface="Times New Roman" pitchFamily="18" charset="0"/>
                <a:cs typeface="Times New Roman" pitchFamily="18" charset="0"/>
              </a:rPr>
              <a:t>The direction of the movement of the index plate depends upon the gear train employed. </a:t>
            </a:r>
            <a:endParaRPr lang="en-US" sz="1800" dirty="0" smtClean="0">
              <a:latin typeface="Times New Roman" pitchFamily="18" charset="0"/>
              <a:cs typeface="Times New Roman" pitchFamily="18" charset="0"/>
            </a:endParaRPr>
          </a:p>
          <a:p>
            <a:pPr algn="just"/>
            <a:r>
              <a:rPr lang="en-US" sz="1800" dirty="0" smtClean="0">
                <a:latin typeface="Times New Roman" pitchFamily="18" charset="0"/>
                <a:cs typeface="Times New Roman" pitchFamily="18" charset="0"/>
              </a:rPr>
              <a:t>If </a:t>
            </a:r>
            <a:r>
              <a:rPr lang="en-US" sz="1800" dirty="0" smtClean="0">
                <a:latin typeface="Times New Roman" pitchFamily="18" charset="0"/>
                <a:cs typeface="Times New Roman" pitchFamily="18" charset="0"/>
              </a:rPr>
              <a:t>an idle </a:t>
            </a:r>
            <a:r>
              <a:rPr lang="en-US" sz="1800" dirty="0" smtClean="0">
                <a:latin typeface="Times New Roman" pitchFamily="18" charset="0"/>
                <a:cs typeface="Times New Roman" pitchFamily="18" charset="0"/>
              </a:rPr>
              <a:t>gear is </a:t>
            </a:r>
            <a:r>
              <a:rPr lang="en-US" sz="1800" dirty="0" smtClean="0">
                <a:latin typeface="Times New Roman" pitchFamily="18" charset="0"/>
                <a:cs typeface="Times New Roman" pitchFamily="18" charset="0"/>
              </a:rPr>
              <a:t>added between the spindle gear and the shaft gear in case of a simple gear train, then the index plate </a:t>
            </a:r>
            <a:r>
              <a:rPr lang="en-US" sz="1800" dirty="0" smtClean="0">
                <a:latin typeface="Times New Roman" pitchFamily="18" charset="0"/>
                <a:cs typeface="Times New Roman" pitchFamily="18" charset="0"/>
              </a:rPr>
              <a:t>will move </a:t>
            </a:r>
            <a:r>
              <a:rPr lang="en-US" sz="1800" dirty="0" smtClean="0">
                <a:latin typeface="Times New Roman" pitchFamily="18" charset="0"/>
                <a:cs typeface="Times New Roman" pitchFamily="18" charset="0"/>
              </a:rPr>
              <a:t>in the same direction to that of the indexing crank movement. </a:t>
            </a:r>
            <a:endParaRPr lang="en-US" sz="1800" dirty="0" smtClean="0">
              <a:latin typeface="Times New Roman" pitchFamily="18" charset="0"/>
              <a:cs typeface="Times New Roman" pitchFamily="18" charset="0"/>
            </a:endParaRPr>
          </a:p>
          <a:p>
            <a:pPr algn="just"/>
            <a:r>
              <a:rPr lang="en-US" sz="1800" dirty="0" smtClean="0">
                <a:latin typeface="Times New Roman" pitchFamily="18" charset="0"/>
                <a:cs typeface="Times New Roman" pitchFamily="18" charset="0"/>
              </a:rPr>
              <a:t>In </a:t>
            </a:r>
            <a:r>
              <a:rPr lang="en-US" sz="1800" dirty="0" smtClean="0">
                <a:latin typeface="Times New Roman" pitchFamily="18" charset="0"/>
                <a:cs typeface="Times New Roman" pitchFamily="18" charset="0"/>
              </a:rPr>
              <a:t>the case of a compound gear train </a:t>
            </a:r>
            <a:r>
              <a:rPr lang="en-US" sz="1800" dirty="0" smtClean="0">
                <a:latin typeface="Times New Roman" pitchFamily="18" charset="0"/>
                <a:cs typeface="Times New Roman" pitchFamily="18" charset="0"/>
              </a:rPr>
              <a:t>an idler </a:t>
            </a:r>
            <a:r>
              <a:rPr lang="en-US" sz="1800" dirty="0" smtClean="0">
                <a:latin typeface="Times New Roman" pitchFamily="18" charset="0"/>
                <a:cs typeface="Times New Roman" pitchFamily="18" charset="0"/>
              </a:rPr>
              <a:t>is to be used when the index plate is to move in the opposite direction.</a:t>
            </a:r>
            <a:endParaRPr lang="en-US" sz="18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D374F10-0401-4224-9624-EB074E096B44}" type="slidenum">
              <a:rPr lang="en-US" smtClean="0"/>
              <a:pPr/>
              <a:t>33</a:t>
            </a:fld>
            <a:endParaRPr lang="en-US"/>
          </a:p>
        </p:txBody>
      </p:sp>
      <p:pic>
        <p:nvPicPr>
          <p:cNvPr id="1026" name="Picture 2"/>
          <p:cNvPicPr>
            <a:picLocks noChangeAspect="1" noChangeArrowheads="1"/>
          </p:cNvPicPr>
          <p:nvPr/>
        </p:nvPicPr>
        <p:blipFill>
          <a:blip r:embed="rId2"/>
          <a:srcRect/>
          <a:stretch>
            <a:fillRect/>
          </a:stretch>
        </p:blipFill>
        <p:spPr bwMode="auto">
          <a:xfrm>
            <a:off x="357158" y="285728"/>
            <a:ext cx="8302067" cy="5143536"/>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1737902" y="5643578"/>
            <a:ext cx="5191552" cy="785818"/>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GRINDING</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2200" dirty="0" smtClean="0">
                <a:latin typeface="Times New Roman" pitchFamily="18" charset="0"/>
                <a:cs typeface="Times New Roman" pitchFamily="18" charset="0"/>
              </a:rPr>
              <a:t>It is the process of removing metal in small quantities by using abrasive wheel.</a:t>
            </a:r>
          </a:p>
          <a:p>
            <a:pPr algn="just"/>
            <a:r>
              <a:rPr lang="en-US" sz="2200" dirty="0" smtClean="0">
                <a:latin typeface="Times New Roman" pitchFamily="18" charset="0"/>
                <a:cs typeface="Times New Roman" pitchFamily="18" charset="0"/>
              </a:rPr>
              <a:t>It is regarded as a finishing process. </a:t>
            </a:r>
          </a:p>
          <a:p>
            <a:pPr algn="just"/>
            <a:r>
              <a:rPr lang="en-US" sz="2200" dirty="0" smtClean="0">
                <a:latin typeface="Times New Roman" pitchFamily="18" charset="0"/>
                <a:cs typeface="Times New Roman" pitchFamily="18" charset="0"/>
              </a:rPr>
              <a:t>It used for obtaining desired surface finish, accuracy in size and geometrical configuration of the product.</a:t>
            </a:r>
          </a:p>
          <a:p>
            <a:pPr algn="just">
              <a:buNone/>
            </a:pPr>
            <a:r>
              <a:rPr lang="en-US" sz="2200" dirty="0" smtClean="0">
                <a:latin typeface="Times New Roman" pitchFamily="18" charset="0"/>
                <a:cs typeface="Times New Roman" pitchFamily="18" charset="0"/>
              </a:rPr>
              <a:t>Grinding wheel </a:t>
            </a:r>
          </a:p>
          <a:p>
            <a:pPr algn="just"/>
            <a:r>
              <a:rPr lang="en-US" sz="2200" dirty="0" smtClean="0">
                <a:latin typeface="Times New Roman" pitchFamily="18" charset="0"/>
                <a:cs typeface="Times New Roman" pitchFamily="18" charset="0"/>
              </a:rPr>
              <a:t>It is a multipoint cutting tool. </a:t>
            </a:r>
          </a:p>
          <a:p>
            <a:pPr algn="just"/>
            <a:r>
              <a:rPr lang="en-US" sz="2200" dirty="0" smtClean="0">
                <a:latin typeface="Times New Roman" pitchFamily="18" charset="0"/>
                <a:cs typeface="Times New Roman" pitchFamily="18" charset="0"/>
              </a:rPr>
              <a:t>It is composed of abrasive grains held together with a suitable bond. </a:t>
            </a:r>
          </a:p>
          <a:p>
            <a:pPr algn="just"/>
            <a:r>
              <a:rPr lang="en-US" sz="2200" dirty="0" smtClean="0">
                <a:latin typeface="Times New Roman" pitchFamily="18" charset="0"/>
                <a:cs typeface="Times New Roman" pitchFamily="18" charset="0"/>
              </a:rPr>
              <a:t>Each abrasive grain will act as an individual cutting tool and removes the metals in the form of small chips. </a:t>
            </a:r>
            <a:endParaRPr lang="en-US"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285728"/>
            <a:ext cx="8501122" cy="6286544"/>
          </a:xfrm>
        </p:spPr>
        <p:txBody>
          <a:bodyPr>
            <a:normAutofit/>
          </a:bodyPr>
          <a:lstStyle/>
          <a:p>
            <a:pPr algn="just">
              <a:buNone/>
            </a:pPr>
            <a:r>
              <a:rPr lang="en-US" sz="2200" b="1" dirty="0" smtClean="0">
                <a:latin typeface="Times New Roman" pitchFamily="18" charset="0"/>
                <a:cs typeface="Times New Roman" pitchFamily="18" charset="0"/>
              </a:rPr>
              <a:t>ADVANTAGES OF GRINDING. </a:t>
            </a:r>
          </a:p>
          <a:p>
            <a:pPr algn="just"/>
            <a:r>
              <a:rPr lang="en-US" sz="2200" dirty="0" smtClean="0">
                <a:latin typeface="Times New Roman" pitchFamily="18" charset="0"/>
                <a:cs typeface="Times New Roman" pitchFamily="18" charset="0"/>
              </a:rPr>
              <a:t>The surface finish obtained is superior to that of any other machine tool, and is also one of the most dimensionally accurate machining processes. </a:t>
            </a:r>
          </a:p>
          <a:p>
            <a:pPr algn="just"/>
            <a:r>
              <a:rPr lang="en-US" sz="2200" dirty="0" smtClean="0">
                <a:latin typeface="Times New Roman" pitchFamily="18" charset="0"/>
                <a:cs typeface="Times New Roman" pitchFamily="18" charset="0"/>
              </a:rPr>
              <a:t>Hardened components can be machined by grinding, which would be difficulty or even impossible for other machine tools. </a:t>
            </a:r>
          </a:p>
          <a:p>
            <a:pPr algn="just"/>
            <a:r>
              <a:rPr lang="en-US" sz="2200" dirty="0" smtClean="0">
                <a:latin typeface="Times New Roman" pitchFamily="18" charset="0"/>
                <a:cs typeface="Times New Roman" pitchFamily="18" charset="0"/>
              </a:rPr>
              <a:t>Grinding requires very little pressure permitting its use on light and delicate parts.</a:t>
            </a:r>
          </a:p>
          <a:p>
            <a:pPr algn="just">
              <a:buNone/>
            </a:pPr>
            <a:r>
              <a:rPr lang="en-US" sz="2200" b="1" dirty="0" smtClean="0">
                <a:latin typeface="Times New Roman" pitchFamily="18" charset="0"/>
                <a:cs typeface="Times New Roman" pitchFamily="18" charset="0"/>
              </a:rPr>
              <a:t>DISADVANTAGES OF GRINDING </a:t>
            </a:r>
          </a:p>
          <a:p>
            <a:pPr algn="just"/>
            <a:r>
              <a:rPr lang="en-US" sz="2200" dirty="0" smtClean="0">
                <a:latin typeface="Times New Roman" pitchFamily="18" charset="0"/>
                <a:cs typeface="Times New Roman" pitchFamily="18" charset="0"/>
              </a:rPr>
              <a:t>Work surface gets over heated. </a:t>
            </a:r>
          </a:p>
          <a:p>
            <a:pPr algn="just"/>
            <a:r>
              <a:rPr lang="en-US" sz="2200" dirty="0" smtClean="0">
                <a:latin typeface="Times New Roman" pitchFamily="18" charset="0"/>
                <a:cs typeface="Times New Roman" pitchFamily="18" charset="0"/>
              </a:rPr>
              <a:t>Wheel chatter and vibrations result inaccuracies, and duplicate pieces do not have the same dimensions. </a:t>
            </a:r>
          </a:p>
          <a:p>
            <a:pPr algn="just"/>
            <a:r>
              <a:rPr lang="en-US" sz="2200" dirty="0" smtClean="0">
                <a:latin typeface="Times New Roman" pitchFamily="18" charset="0"/>
                <a:cs typeface="Times New Roman" pitchFamily="18" charset="0"/>
              </a:rPr>
              <a:t>Grinding is not suitable as a machining process where high metal removal is required. </a:t>
            </a:r>
            <a:endParaRPr lang="en-US"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34" y="1000108"/>
            <a:ext cx="8001056" cy="5000660"/>
          </a:xfrm>
        </p:spPr>
        <p:txBody>
          <a:bodyPr>
            <a:normAutofit/>
          </a:bodyPr>
          <a:lstStyle/>
          <a:p>
            <a:pPr algn="just">
              <a:buNone/>
            </a:pPr>
            <a:r>
              <a:rPr lang="en-US" sz="2200" b="1" dirty="0" smtClean="0">
                <a:latin typeface="Times New Roman" pitchFamily="18" charset="0"/>
                <a:cs typeface="Times New Roman" pitchFamily="18" charset="0"/>
              </a:rPr>
              <a:t>ABRASIVES </a:t>
            </a:r>
          </a:p>
          <a:p>
            <a:pPr algn="just"/>
            <a:r>
              <a:rPr lang="en-US" sz="2200" dirty="0" smtClean="0">
                <a:latin typeface="Times New Roman" pitchFamily="18" charset="0"/>
                <a:cs typeface="Times New Roman" pitchFamily="18" charset="0"/>
              </a:rPr>
              <a:t>It is a small non-metallic hard particle having sharp edges and an irregular shape. </a:t>
            </a:r>
          </a:p>
          <a:p>
            <a:pPr algn="just"/>
            <a:r>
              <a:rPr lang="en-US" sz="2200" dirty="0" smtClean="0">
                <a:latin typeface="Times New Roman" pitchFamily="18" charset="0"/>
                <a:cs typeface="Times New Roman" pitchFamily="18" charset="0"/>
              </a:rPr>
              <a:t>They are capable of removing small amount of materials from the surface in the form of small chips. </a:t>
            </a:r>
          </a:p>
          <a:p>
            <a:pPr algn="just">
              <a:buNone/>
            </a:pPr>
            <a:r>
              <a:rPr lang="en-US" sz="2200" b="1" dirty="0" smtClean="0">
                <a:latin typeface="Times New Roman" pitchFamily="18" charset="0"/>
                <a:cs typeface="Times New Roman" pitchFamily="18" charset="0"/>
              </a:rPr>
              <a:t>Characteristics of abrasives </a:t>
            </a:r>
          </a:p>
          <a:p>
            <a:pPr algn="just"/>
            <a:r>
              <a:rPr lang="en-US" sz="2200" dirty="0" smtClean="0">
                <a:latin typeface="Times New Roman" pitchFamily="18" charset="0"/>
                <a:cs typeface="Times New Roman" pitchFamily="18" charset="0"/>
              </a:rPr>
              <a:t>Must be harder than material being grind. </a:t>
            </a:r>
          </a:p>
          <a:p>
            <a:pPr algn="just"/>
            <a:r>
              <a:rPr lang="en-US" sz="2200" dirty="0" smtClean="0">
                <a:latin typeface="Times New Roman" pitchFamily="18" charset="0"/>
                <a:cs typeface="Times New Roman" pitchFamily="18" charset="0"/>
              </a:rPr>
              <a:t>Must be strong enough to withstand grinding pressure. </a:t>
            </a:r>
          </a:p>
          <a:p>
            <a:pPr algn="just"/>
            <a:r>
              <a:rPr lang="en-US" sz="2200" dirty="0" smtClean="0">
                <a:latin typeface="Times New Roman" pitchFamily="18" charset="0"/>
                <a:cs typeface="Times New Roman" pitchFamily="18" charset="0"/>
              </a:rPr>
              <a:t>Must be heat resistant. </a:t>
            </a:r>
          </a:p>
          <a:p>
            <a:pPr algn="just"/>
            <a:r>
              <a:rPr lang="en-US" sz="2200" dirty="0" smtClean="0">
                <a:latin typeface="Times New Roman" pitchFamily="18" charset="0"/>
                <a:cs typeface="Times New Roman" pitchFamily="18" charset="0"/>
              </a:rPr>
              <a:t>Must be capable to break when the cutting edge is dull.</a:t>
            </a:r>
            <a:endParaRPr lang="en-US"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214290"/>
            <a:ext cx="8715436" cy="6500858"/>
          </a:xfrm>
        </p:spPr>
        <p:txBody>
          <a:bodyPr>
            <a:normAutofit fontScale="92500" lnSpcReduction="20000"/>
          </a:bodyPr>
          <a:lstStyle/>
          <a:p>
            <a:pPr>
              <a:buNone/>
            </a:pPr>
            <a:r>
              <a:rPr lang="en-US" sz="2200" dirty="0" smtClean="0">
                <a:latin typeface="Times New Roman" pitchFamily="18" charset="0"/>
                <a:cs typeface="Times New Roman" pitchFamily="18" charset="0"/>
              </a:rPr>
              <a:t>Types of Abrasives </a:t>
            </a:r>
          </a:p>
          <a:p>
            <a:pPr>
              <a:buNone/>
            </a:pPr>
            <a:r>
              <a:rPr lang="en-US" sz="2200" b="1" dirty="0" smtClean="0">
                <a:latin typeface="Times New Roman" pitchFamily="18" charset="0"/>
                <a:cs typeface="Times New Roman" pitchFamily="18" charset="0"/>
              </a:rPr>
              <a:t>1. Natural abrasives </a:t>
            </a:r>
          </a:p>
          <a:p>
            <a:pPr algn="just"/>
            <a:r>
              <a:rPr lang="en-US" sz="2200" dirty="0" smtClean="0">
                <a:latin typeface="Times New Roman" pitchFamily="18" charset="0"/>
                <a:cs typeface="Times New Roman" pitchFamily="18" charset="0"/>
              </a:rPr>
              <a:t>These are obtained from earth’s crust which includes sand stone, emery, corundum &amp; diamond. </a:t>
            </a:r>
          </a:p>
          <a:p>
            <a:pPr algn="just"/>
            <a:r>
              <a:rPr lang="en-US" sz="2200" dirty="0" smtClean="0">
                <a:latin typeface="Times New Roman" pitchFamily="18" charset="0"/>
                <a:cs typeface="Times New Roman" pitchFamily="18" charset="0"/>
              </a:rPr>
              <a:t>Sand stone is relatively soft and can’t be used for grinding harder materials. </a:t>
            </a:r>
          </a:p>
          <a:p>
            <a:pPr algn="just"/>
            <a:r>
              <a:rPr lang="en-US" sz="2200" dirty="0" smtClean="0">
                <a:latin typeface="Times New Roman" pitchFamily="18" charset="0"/>
                <a:cs typeface="Times New Roman" pitchFamily="18" charset="0"/>
              </a:rPr>
              <a:t>Emery &amp; corundum are natural aluminum oxides, and have a greater hardness and better abrasive action than quartz. </a:t>
            </a:r>
          </a:p>
          <a:p>
            <a:pPr algn="just"/>
            <a:r>
              <a:rPr lang="en-US" sz="2200" dirty="0" smtClean="0">
                <a:latin typeface="Times New Roman" pitchFamily="18" charset="0"/>
                <a:cs typeface="Times New Roman" pitchFamily="18" charset="0"/>
              </a:rPr>
              <a:t>Diamond is one of the best natural abrasive but due to high cost its use is limited to grinding cemented carbides, glass, marbles &amp; garnets. </a:t>
            </a:r>
          </a:p>
          <a:p>
            <a:pPr algn="just"/>
            <a:r>
              <a:rPr lang="en-US" sz="2200" dirty="0" smtClean="0">
                <a:latin typeface="Times New Roman" pitchFamily="18" charset="0"/>
                <a:cs typeface="Times New Roman" pitchFamily="18" charset="0"/>
              </a:rPr>
              <a:t>Due to lack of uniformity and contain a high percentage of impurities. They have been almost totally replaced by artificial abrasives.</a:t>
            </a:r>
          </a:p>
          <a:p>
            <a:pPr algn="just">
              <a:buNone/>
            </a:pPr>
            <a:r>
              <a:rPr lang="en-US" sz="2000" b="1" dirty="0" smtClean="0">
                <a:latin typeface="Times New Roman" pitchFamily="18" charset="0"/>
                <a:cs typeface="Times New Roman" pitchFamily="18" charset="0"/>
              </a:rPr>
              <a:t>2. Artificial abrasives</a:t>
            </a:r>
          </a:p>
          <a:p>
            <a:pPr algn="just"/>
            <a:r>
              <a:rPr lang="en-US" sz="2000" dirty="0" smtClean="0">
                <a:latin typeface="Times New Roman" pitchFamily="18" charset="0"/>
                <a:cs typeface="Times New Roman" pitchFamily="18" charset="0"/>
              </a:rPr>
              <a:t>It is used extensively because their characteristics can be easily controlled</a:t>
            </a:r>
          </a:p>
          <a:p>
            <a:pPr marL="457200" indent="-457200" algn="just">
              <a:buAutoNum type="alphaLcParenR"/>
            </a:pPr>
            <a:r>
              <a:rPr lang="en-US" sz="2200" dirty="0" err="1" smtClean="0">
                <a:latin typeface="Times New Roman" pitchFamily="18" charset="0"/>
                <a:cs typeface="Times New Roman" pitchFamily="18" charset="0"/>
              </a:rPr>
              <a:t>Aluminium</a:t>
            </a:r>
            <a:r>
              <a:rPr lang="en-US" sz="2200" dirty="0" smtClean="0">
                <a:latin typeface="Times New Roman" pitchFamily="18" charset="0"/>
                <a:cs typeface="Times New Roman" pitchFamily="18" charset="0"/>
              </a:rPr>
              <a:t> Oxide (Al2O3) </a:t>
            </a:r>
          </a:p>
          <a:p>
            <a:pPr marL="457200" indent="-457200" algn="just"/>
            <a:r>
              <a:rPr lang="en-US" sz="2200" dirty="0" smtClean="0">
                <a:latin typeface="Times New Roman" pitchFamily="18" charset="0"/>
                <a:cs typeface="Times New Roman" pitchFamily="18" charset="0"/>
              </a:rPr>
              <a:t>This is one of the natural abrasives found called corundum and emery. However the natural abrasives generally have impurities and as a result their performance is inconsistent. </a:t>
            </a:r>
          </a:p>
          <a:p>
            <a:pPr marL="457200" indent="-457200" algn="just"/>
            <a:r>
              <a:rPr lang="en-US" sz="2200" dirty="0" smtClean="0">
                <a:latin typeface="Times New Roman" pitchFamily="18" charset="0"/>
                <a:cs typeface="Times New Roman" pitchFamily="18" charset="0"/>
              </a:rPr>
              <a:t>Hence the abrasive used in grinding wheels is generally manufactured from the </a:t>
            </a:r>
            <a:r>
              <a:rPr lang="en-US" sz="2200" dirty="0" err="1" smtClean="0">
                <a:latin typeface="Times New Roman" pitchFamily="18" charset="0"/>
                <a:cs typeface="Times New Roman" pitchFamily="18" charset="0"/>
              </a:rPr>
              <a:t>aluminium</a:t>
            </a:r>
            <a:r>
              <a:rPr lang="en-US" sz="2200" dirty="0" smtClean="0">
                <a:latin typeface="Times New Roman" pitchFamily="18" charset="0"/>
                <a:cs typeface="Times New Roman" pitchFamily="18" charset="0"/>
              </a:rPr>
              <a:t> ore, bauxite. </a:t>
            </a:r>
          </a:p>
          <a:p>
            <a:pPr marL="457200" indent="-457200" algn="just">
              <a:buNone/>
            </a:pPr>
            <a:r>
              <a:rPr lang="en-US" sz="2200" dirty="0" smtClean="0">
                <a:latin typeface="Times New Roman" pitchFamily="18" charset="0"/>
                <a:cs typeface="Times New Roman" pitchFamily="18" charset="0"/>
              </a:rPr>
              <a:t>b) Silicon Carbide (</a:t>
            </a:r>
            <a:r>
              <a:rPr lang="en-US" sz="2200" dirty="0" err="1" smtClean="0">
                <a:latin typeface="Times New Roman" pitchFamily="18" charset="0"/>
                <a:cs typeface="Times New Roman" pitchFamily="18" charset="0"/>
              </a:rPr>
              <a:t>SiC</a:t>
            </a:r>
            <a:r>
              <a:rPr lang="en-US" sz="2200" dirty="0" smtClean="0">
                <a:latin typeface="Times New Roman" pitchFamily="18" charset="0"/>
                <a:cs typeface="Times New Roman" pitchFamily="18" charset="0"/>
              </a:rPr>
              <a:t>) </a:t>
            </a:r>
          </a:p>
          <a:p>
            <a:pPr marL="457200" indent="-457200" algn="just"/>
            <a:r>
              <a:rPr lang="en-US" sz="2200" dirty="0" smtClean="0">
                <a:latin typeface="Times New Roman" pitchFamily="18" charset="0"/>
                <a:cs typeface="Times New Roman" pitchFamily="18" charset="0"/>
              </a:rPr>
              <a:t>Silicon carbide is made from silica, sand, and coke with small amounts of common salt.</a:t>
            </a:r>
          </a:p>
        </p:txBody>
      </p:sp>
      <p:sp>
        <p:nvSpPr>
          <p:cNvPr id="4" name="Slide Number Placeholder 3"/>
          <p:cNvSpPr>
            <a:spLocks noGrp="1"/>
          </p:cNvSpPr>
          <p:nvPr>
            <p:ph type="sldNum" sz="quarter" idx="12"/>
          </p:nvPr>
        </p:nvSpPr>
        <p:spPr/>
        <p:txBody>
          <a:bodyPr/>
          <a:lstStyle/>
          <a:p>
            <a:fld id="{4D374F10-0401-4224-9624-EB074E096B44}" type="slidenum">
              <a:rPr lang="en-US" smtClean="0"/>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357166"/>
            <a:ext cx="8429684" cy="6143668"/>
          </a:xfrm>
        </p:spPr>
        <p:txBody>
          <a:bodyPr>
            <a:normAutofit/>
          </a:bodyPr>
          <a:lstStyle/>
          <a:p>
            <a:pPr>
              <a:buNone/>
            </a:pPr>
            <a:r>
              <a:rPr lang="en-US" sz="2000" dirty="0" smtClean="0">
                <a:latin typeface="Times New Roman" pitchFamily="18" charset="0"/>
                <a:cs typeface="Times New Roman" pitchFamily="18" charset="0"/>
              </a:rPr>
              <a:t>c) Cubic Boron Nitride (CBN) </a:t>
            </a:r>
          </a:p>
          <a:p>
            <a:r>
              <a:rPr lang="en-US" sz="2000" dirty="0" smtClean="0">
                <a:latin typeface="Times New Roman" pitchFamily="18" charset="0"/>
                <a:cs typeface="Times New Roman" pitchFamily="18" charset="0"/>
              </a:rPr>
              <a:t>Cubic Boron Nitride (CBN) next in hardness only to diamond </a:t>
            </a:r>
          </a:p>
          <a:p>
            <a:r>
              <a:rPr lang="en-US" sz="2000" dirty="0" smtClean="0">
                <a:latin typeface="Times New Roman" pitchFamily="18" charset="0"/>
                <a:cs typeface="Times New Roman" pitchFamily="18" charset="0"/>
              </a:rPr>
              <a:t>It is not a natural material but produced in the laboratory using a high temperature/ high pressure process similar to the making of artificial diamond. </a:t>
            </a:r>
          </a:p>
          <a:p>
            <a:r>
              <a:rPr lang="en-US" sz="2000" dirty="0" smtClean="0">
                <a:latin typeface="Times New Roman" pitchFamily="18" charset="0"/>
                <a:cs typeface="Times New Roman" pitchFamily="18" charset="0"/>
              </a:rPr>
              <a:t>CBN is less reactive with materials like hardened steels, hard chill cast iron, and nickel base and cobalt based super alloys. </a:t>
            </a:r>
          </a:p>
          <a:p>
            <a:r>
              <a:rPr lang="en-US" sz="2000" dirty="0" smtClean="0">
                <a:latin typeface="Times New Roman" pitchFamily="18" charset="0"/>
                <a:cs typeface="Times New Roman" pitchFamily="18" charset="0"/>
              </a:rPr>
              <a:t>CBN grains have 55 times higher thermal conductivity, four times higher the abrasive resistance and twice the hardness of the aluminum oxide abrasives. </a:t>
            </a:r>
          </a:p>
          <a:p>
            <a:r>
              <a:rPr lang="en-US" sz="2000" dirty="0" smtClean="0">
                <a:latin typeface="Times New Roman" pitchFamily="18" charset="0"/>
                <a:cs typeface="Times New Roman" pitchFamily="18" charset="0"/>
              </a:rPr>
              <a:t>They can retain their strength above 10,000°C. CBN is very expensive, 10 to 20 times that of the conventional abrasive such as </a:t>
            </a:r>
            <a:r>
              <a:rPr lang="en-US" sz="2000" dirty="0" err="1" smtClean="0">
                <a:latin typeface="Times New Roman" pitchFamily="18" charset="0"/>
                <a:cs typeface="Times New Roman" pitchFamily="18" charset="0"/>
              </a:rPr>
              <a:t>aluminium</a:t>
            </a:r>
            <a:r>
              <a:rPr lang="en-US" sz="2000" dirty="0" smtClean="0">
                <a:latin typeface="Times New Roman" pitchFamily="18" charset="0"/>
                <a:cs typeface="Times New Roman" pitchFamily="18" charset="0"/>
              </a:rPr>
              <a:t> oxide.</a:t>
            </a:r>
          </a:p>
          <a:p>
            <a:pPr>
              <a:buNone/>
            </a:pPr>
            <a:r>
              <a:rPr lang="en-US" sz="2000" dirty="0" smtClean="0">
                <a:latin typeface="Times New Roman" pitchFamily="18" charset="0"/>
                <a:cs typeface="Times New Roman" pitchFamily="18" charset="0"/>
              </a:rPr>
              <a:t>d) Diamond </a:t>
            </a:r>
          </a:p>
          <a:p>
            <a:r>
              <a:rPr lang="en-US" sz="2000" dirty="0" smtClean="0">
                <a:latin typeface="Times New Roman" pitchFamily="18" charset="0"/>
                <a:cs typeface="Times New Roman" pitchFamily="18" charset="0"/>
              </a:rPr>
              <a:t>Diamond is the hardest known material that can be used as a cutting tool material.</a:t>
            </a:r>
          </a:p>
          <a:p>
            <a:r>
              <a:rPr lang="en-US" sz="2000" dirty="0" smtClean="0">
                <a:latin typeface="Times New Roman" pitchFamily="18" charset="0"/>
                <a:cs typeface="Times New Roman" pitchFamily="18" charset="0"/>
              </a:rPr>
              <a:t> It has very high chemical resistance along with low coefficient of thermal expansion. </a:t>
            </a:r>
          </a:p>
          <a:p>
            <a:r>
              <a:rPr lang="en-US" sz="2000" dirty="0" smtClean="0">
                <a:latin typeface="Times New Roman" pitchFamily="18" charset="0"/>
                <a:cs typeface="Times New Roman" pitchFamily="18" charset="0"/>
              </a:rPr>
              <a:t>Also it is inert towards iron.</a:t>
            </a: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285728"/>
            <a:ext cx="8429684" cy="6357982"/>
          </a:xfrm>
        </p:spPr>
        <p:txBody>
          <a:bodyPr>
            <a:normAutofit lnSpcReduction="10000"/>
          </a:bodyPr>
          <a:lstStyle/>
          <a:p>
            <a:pPr algn="just">
              <a:buNone/>
            </a:pPr>
            <a:r>
              <a:rPr lang="en-US" sz="2200" dirty="0" smtClean="0">
                <a:latin typeface="Times New Roman" pitchFamily="18" charset="0"/>
                <a:cs typeface="Times New Roman" pitchFamily="18" charset="0"/>
              </a:rPr>
              <a:t>Grain Size</a:t>
            </a:r>
          </a:p>
          <a:p>
            <a:pPr algn="just"/>
            <a:r>
              <a:rPr lang="en-US" sz="2200" dirty="0" smtClean="0">
                <a:latin typeface="Times New Roman" pitchFamily="18" charset="0"/>
                <a:cs typeface="Times New Roman" pitchFamily="18" charset="0"/>
              </a:rPr>
              <a:t>Compared to a normal cutting tool, the abrasives used in a grinding wheel are relatively small. </a:t>
            </a:r>
          </a:p>
          <a:p>
            <a:pPr algn="just"/>
            <a:r>
              <a:rPr lang="en-US" sz="2200" dirty="0" smtClean="0">
                <a:latin typeface="Times New Roman" pitchFamily="18" charset="0"/>
                <a:cs typeface="Times New Roman" pitchFamily="18" charset="0"/>
              </a:rPr>
              <a:t>The size of an abrasive grain, generally called grit, is identified by a number which is based on the sieve size used. </a:t>
            </a:r>
          </a:p>
          <a:p>
            <a:pPr algn="just"/>
            <a:r>
              <a:rPr lang="en-US" sz="2200" dirty="0" smtClean="0">
                <a:latin typeface="Times New Roman" pitchFamily="18" charset="0"/>
                <a:cs typeface="Times New Roman" pitchFamily="18" charset="0"/>
              </a:rPr>
              <a:t>These would vary from a very coarse size of 6 or 8 to a super fine size of 500 or 600. </a:t>
            </a:r>
          </a:p>
          <a:p>
            <a:pPr algn="just"/>
            <a:r>
              <a:rPr lang="en-US" sz="2200" dirty="0" smtClean="0">
                <a:latin typeface="Times New Roman" pitchFamily="18" charset="0"/>
                <a:cs typeface="Times New Roman" pitchFamily="18" charset="0"/>
              </a:rPr>
              <a:t>Sieve number is specified in terms of the number of openings per square inch. Thus larger the grain number finer is the grain size. </a:t>
            </a:r>
          </a:p>
          <a:p>
            <a:pPr algn="just"/>
            <a:r>
              <a:rPr lang="en-US" sz="2200" dirty="0" smtClean="0">
                <a:latin typeface="Times New Roman" pitchFamily="18" charset="0"/>
                <a:cs typeface="Times New Roman" pitchFamily="18" charset="0"/>
              </a:rPr>
              <a:t>The fine grains would take a very small depth of cut and hence a better surface finish is produced. Also fine grains generate less heat and are good for faster material removal. Though each grain cuts less, there are more grains per unit surface area of the wheel in case of fine grain size. </a:t>
            </a:r>
          </a:p>
          <a:p>
            <a:pPr algn="just"/>
            <a:r>
              <a:rPr lang="en-US" sz="2200" dirty="0" smtClean="0">
                <a:latin typeface="Times New Roman" pitchFamily="18" charset="0"/>
                <a:cs typeface="Times New Roman" pitchFamily="18" charset="0"/>
              </a:rPr>
              <a:t>Fine grains are also used for making the form grinding wheels. </a:t>
            </a:r>
          </a:p>
          <a:p>
            <a:pPr algn="just"/>
            <a:r>
              <a:rPr lang="en-US" sz="2200" dirty="0" smtClean="0">
                <a:latin typeface="Times New Roman" pitchFamily="18" charset="0"/>
                <a:cs typeface="Times New Roman" pitchFamily="18" charset="0"/>
              </a:rPr>
              <a:t>Coarse grains are good for higher material removal rates. These have better friability and as a result are not good for intermittent grinding where they are likely to chip easily.</a:t>
            </a:r>
            <a:endParaRPr lang="en-US"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142852"/>
            <a:ext cx="8715436" cy="6572296"/>
          </a:xfrm>
        </p:spPr>
        <p:txBody>
          <a:bodyPr>
            <a:normAutofit fontScale="92500"/>
          </a:bodyPr>
          <a:lstStyle/>
          <a:p>
            <a:pPr algn="just">
              <a:buNone/>
            </a:pPr>
            <a:r>
              <a:rPr lang="en-US" sz="2200" dirty="0" smtClean="0">
                <a:latin typeface="Times New Roman" pitchFamily="18" charset="0"/>
                <a:cs typeface="Times New Roman" pitchFamily="18" charset="0"/>
              </a:rPr>
              <a:t>Bond</a:t>
            </a:r>
          </a:p>
          <a:p>
            <a:pPr algn="just"/>
            <a:r>
              <a:rPr lang="en-US" sz="2400" dirty="0" smtClean="0">
                <a:latin typeface="Times New Roman" pitchFamily="18" charset="0"/>
                <a:cs typeface="Times New Roman" pitchFamily="18" charset="0"/>
              </a:rPr>
              <a:t>The function of the bond is to keep the abrasive grains together under the action of the grinding forces. The commonly used bond materials are:</a:t>
            </a:r>
          </a:p>
          <a:p>
            <a:pPr algn="just">
              <a:buNone/>
            </a:pPr>
            <a:r>
              <a:rPr lang="en-US" sz="2400" dirty="0" smtClean="0">
                <a:latin typeface="Times New Roman" pitchFamily="18" charset="0"/>
                <a:cs typeface="Times New Roman" pitchFamily="18" charset="0"/>
              </a:rPr>
              <a:t>Vitrified</a:t>
            </a:r>
          </a:p>
          <a:p>
            <a:pPr algn="just"/>
            <a:r>
              <a:rPr lang="en-US" sz="2400" dirty="0" smtClean="0">
                <a:latin typeface="Times New Roman" pitchFamily="18" charset="0"/>
                <a:cs typeface="Times New Roman" pitchFamily="18" charset="0"/>
              </a:rPr>
              <a:t>This is the most commonly used bond. The bond is actually clay mixed with fluxes such as feldspar, which hardens to a glass like substance on firing to a temperature of about 1250°C and develops the strength. </a:t>
            </a:r>
          </a:p>
          <a:p>
            <a:pPr algn="just"/>
            <a:r>
              <a:rPr lang="en-US" sz="2400" dirty="0" smtClean="0">
                <a:latin typeface="Times New Roman" pitchFamily="18" charset="0"/>
                <a:cs typeface="Times New Roman" pitchFamily="18" charset="0"/>
              </a:rPr>
              <a:t>This bond is strong, rigid and porous, and not affected by fluids. </a:t>
            </a:r>
          </a:p>
          <a:p>
            <a:pPr algn="just"/>
            <a:r>
              <a:rPr lang="en-US" sz="2400" dirty="0" smtClean="0">
                <a:latin typeface="Times New Roman" pitchFamily="18" charset="0"/>
                <a:cs typeface="Times New Roman" pitchFamily="18" charset="0"/>
              </a:rPr>
              <a:t>However, this bond is brittle and hence sensitive to impacts. </a:t>
            </a:r>
          </a:p>
          <a:p>
            <a:pPr algn="just"/>
            <a:r>
              <a:rPr lang="en-US" sz="2400" dirty="0" smtClean="0">
                <a:latin typeface="Times New Roman" pitchFamily="18" charset="0"/>
                <a:cs typeface="Times New Roman" pitchFamily="18" charset="0"/>
              </a:rPr>
              <a:t>This bond is also called ceramic bond.</a:t>
            </a:r>
          </a:p>
          <a:p>
            <a:pPr algn="just">
              <a:buNone/>
            </a:pPr>
            <a:r>
              <a:rPr lang="en-US" sz="2400" dirty="0" smtClean="0">
                <a:latin typeface="Times New Roman" pitchFamily="18" charset="0"/>
                <a:cs typeface="Times New Roman" pitchFamily="18" charset="0"/>
              </a:rPr>
              <a:t>Silicate</a:t>
            </a:r>
          </a:p>
          <a:p>
            <a:pPr algn="just"/>
            <a:r>
              <a:rPr lang="en-US" sz="2400" dirty="0" smtClean="0">
                <a:latin typeface="Times New Roman" pitchFamily="18" charset="0"/>
                <a:cs typeface="Times New Roman" pitchFamily="18" charset="0"/>
              </a:rPr>
              <a:t>This is sodium silicate (NaSiO3) or water glass and hardens when heated. </a:t>
            </a:r>
          </a:p>
          <a:p>
            <a:pPr algn="just"/>
            <a:r>
              <a:rPr lang="en-US" sz="2400" dirty="0" smtClean="0">
                <a:latin typeface="Times New Roman" pitchFamily="18" charset="0"/>
                <a:cs typeface="Times New Roman" pitchFamily="18" charset="0"/>
              </a:rPr>
              <a:t>Not as strong as vitrified. </a:t>
            </a:r>
          </a:p>
          <a:p>
            <a:pPr algn="just"/>
            <a:r>
              <a:rPr lang="en-US" sz="2400" dirty="0" smtClean="0">
                <a:latin typeface="Times New Roman" pitchFamily="18" charset="0"/>
                <a:cs typeface="Times New Roman" pitchFamily="18" charset="0"/>
              </a:rPr>
              <a:t>This can be used in operations that generate less heat. It is affected by dampness but less sensitive to shocks.</a:t>
            </a:r>
          </a:p>
          <a:p>
            <a:pPr algn="just"/>
            <a:r>
              <a:rPr lang="en-US" sz="2400" dirty="0" smtClean="0">
                <a:latin typeface="Times New Roman" pitchFamily="18" charset="0"/>
                <a:cs typeface="Times New Roman" pitchFamily="18" charset="0"/>
              </a:rPr>
              <a:t> Relatively less used.</a:t>
            </a:r>
            <a:endParaRPr lang="en-US"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214290"/>
            <a:ext cx="8572560" cy="6429420"/>
          </a:xfrm>
        </p:spPr>
        <p:txBody>
          <a:bodyPr>
            <a:normAutofit fontScale="70000" lnSpcReduction="20000"/>
          </a:bodyPr>
          <a:lstStyle/>
          <a:p>
            <a:pPr algn="just">
              <a:buNone/>
            </a:pPr>
            <a:r>
              <a:rPr lang="en-US" dirty="0" smtClean="0">
                <a:latin typeface="Times New Roman" pitchFamily="18" charset="0"/>
                <a:cs typeface="Times New Roman" pitchFamily="18" charset="0"/>
              </a:rPr>
              <a:t>Synthetic Resin or </a:t>
            </a:r>
            <a:r>
              <a:rPr lang="en-US" dirty="0" err="1" smtClean="0">
                <a:latin typeface="Times New Roman" pitchFamily="18" charset="0"/>
                <a:cs typeface="Times New Roman" pitchFamily="18" charset="0"/>
              </a:rPr>
              <a:t>Resinoid</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These bonding materials are thermosetting resin such as phenol formaldehyde. </a:t>
            </a:r>
          </a:p>
          <a:p>
            <a:pPr algn="just"/>
            <a:r>
              <a:rPr lang="en-US" dirty="0" smtClean="0">
                <a:latin typeface="Times New Roman" pitchFamily="18" charset="0"/>
                <a:cs typeface="Times New Roman" pitchFamily="18" charset="0"/>
              </a:rPr>
              <a:t>This bond has good strength and is more elastic than the vitrified bond. </a:t>
            </a:r>
          </a:p>
          <a:p>
            <a:pPr algn="just"/>
            <a:r>
              <a:rPr lang="en-US" dirty="0" smtClean="0">
                <a:latin typeface="Times New Roman" pitchFamily="18" charset="0"/>
                <a:cs typeface="Times New Roman" pitchFamily="18" charset="0"/>
              </a:rPr>
              <a:t>However, this is not heat and chemical resistant. </a:t>
            </a:r>
          </a:p>
          <a:p>
            <a:pPr algn="just"/>
            <a:r>
              <a:rPr lang="en-US" dirty="0" smtClean="0">
                <a:latin typeface="Times New Roman" pitchFamily="18" charset="0"/>
                <a:cs typeface="Times New Roman" pitchFamily="18" charset="0"/>
              </a:rPr>
              <a:t>Generally used for rough grinding, parting off and high speed grinding (50 to 65 m/s). </a:t>
            </a:r>
          </a:p>
          <a:p>
            <a:pPr algn="just"/>
            <a:r>
              <a:rPr lang="en-US" dirty="0" smtClean="0">
                <a:latin typeface="Times New Roman" pitchFamily="18" charset="0"/>
                <a:cs typeface="Times New Roman" pitchFamily="18" charset="0"/>
              </a:rPr>
              <a:t>It can also be used for fine finishing of roll grinding.</a:t>
            </a:r>
          </a:p>
          <a:p>
            <a:pPr algn="just">
              <a:buNone/>
            </a:pPr>
            <a:r>
              <a:rPr lang="en-US" dirty="0" smtClean="0">
                <a:latin typeface="Times New Roman" pitchFamily="18" charset="0"/>
                <a:cs typeface="Times New Roman" pitchFamily="18" charset="0"/>
              </a:rPr>
              <a:t>Rubber</a:t>
            </a:r>
          </a:p>
          <a:p>
            <a:pPr algn="just"/>
            <a:r>
              <a:rPr lang="en-US" dirty="0" smtClean="0">
                <a:latin typeface="Times New Roman" pitchFamily="18" charset="0"/>
                <a:cs typeface="Times New Roman" pitchFamily="18" charset="0"/>
              </a:rPr>
              <a:t>Of all the bonds used, this is the most flexible. The bond is made up of natural or synthetic rubber. </a:t>
            </a:r>
          </a:p>
          <a:p>
            <a:pPr algn="just"/>
            <a:r>
              <a:rPr lang="en-US" dirty="0" smtClean="0">
                <a:latin typeface="Times New Roman" pitchFamily="18" charset="0"/>
                <a:cs typeface="Times New Roman" pitchFamily="18" charset="0"/>
              </a:rPr>
              <a:t>The strength is developed with </a:t>
            </a:r>
            <a:r>
              <a:rPr lang="en-US" dirty="0" err="1" smtClean="0">
                <a:latin typeface="Times New Roman" pitchFamily="18" charset="0"/>
                <a:cs typeface="Times New Roman" pitchFamily="18" charset="0"/>
              </a:rPr>
              <a:t>vulcanisation</a:t>
            </a:r>
            <a:r>
              <a:rPr lang="en-US" dirty="0" smtClean="0">
                <a:latin typeface="Times New Roman" pitchFamily="18" charset="0"/>
                <a:cs typeface="Times New Roman" pitchFamily="18" charset="0"/>
              </a:rPr>
              <a:t>. </a:t>
            </a:r>
          </a:p>
          <a:p>
            <a:pPr algn="just"/>
            <a:r>
              <a:rPr lang="en-US" dirty="0" smtClean="0">
                <a:latin typeface="Times New Roman" pitchFamily="18" charset="0"/>
                <a:cs typeface="Times New Roman" pitchFamily="18" charset="0"/>
              </a:rPr>
              <a:t>This has high strength and is less porous.</a:t>
            </a:r>
          </a:p>
          <a:p>
            <a:pPr algn="just"/>
            <a:r>
              <a:rPr lang="en-US" dirty="0" smtClean="0">
                <a:latin typeface="Times New Roman" pitchFamily="18" charset="0"/>
                <a:cs typeface="Times New Roman" pitchFamily="18" charset="0"/>
              </a:rPr>
              <a:t>This bond is affected by dampness and alkaline solutions. </a:t>
            </a:r>
          </a:p>
          <a:p>
            <a:pPr algn="just"/>
            <a:r>
              <a:rPr lang="en-US" dirty="0" smtClean="0">
                <a:latin typeface="Times New Roman" pitchFamily="18" charset="0"/>
                <a:cs typeface="Times New Roman" pitchFamily="18" charset="0"/>
              </a:rPr>
              <a:t>Generally used for cutting off wheels, regulating wheels in centre less grinding and for polishing wheels.</a:t>
            </a:r>
          </a:p>
          <a:p>
            <a:pPr algn="just">
              <a:buNone/>
            </a:pPr>
            <a:r>
              <a:rPr lang="en-US" dirty="0" smtClean="0">
                <a:latin typeface="Times New Roman" pitchFamily="18" charset="0"/>
                <a:cs typeface="Times New Roman" pitchFamily="18" charset="0"/>
              </a:rPr>
              <a:t>Shellac</a:t>
            </a:r>
          </a:p>
          <a:p>
            <a:pPr algn="just"/>
            <a:r>
              <a:rPr lang="en-US" dirty="0" smtClean="0">
                <a:latin typeface="Times New Roman" pitchFamily="18" charset="0"/>
                <a:cs typeface="Times New Roman" pitchFamily="18" charset="0"/>
              </a:rPr>
              <a:t>This is relatively less used bond. Used generally for getting very high finish. </a:t>
            </a:r>
          </a:p>
          <a:p>
            <a:pPr algn="just"/>
            <a:r>
              <a:rPr lang="en-US" dirty="0" smtClean="0">
                <a:latin typeface="Times New Roman" pitchFamily="18" charset="0"/>
                <a:cs typeface="Times New Roman" pitchFamily="18" charset="0"/>
              </a:rPr>
              <a:t>Typical applications are rolls, cutlery, and cam shaft finishing.</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214290"/>
            <a:ext cx="8429684" cy="6357982"/>
          </a:xfrm>
        </p:spPr>
        <p:txBody>
          <a:bodyPr>
            <a:normAutofit/>
          </a:bodyPr>
          <a:lstStyle/>
          <a:p>
            <a:pPr>
              <a:buNone/>
            </a:pPr>
            <a:r>
              <a:rPr lang="en-US" sz="2200" dirty="0" smtClean="0">
                <a:latin typeface="Times New Roman" pitchFamily="18" charset="0"/>
                <a:cs typeface="Times New Roman" pitchFamily="18" charset="0"/>
              </a:rPr>
              <a:t>Metal</a:t>
            </a:r>
          </a:p>
          <a:p>
            <a:pPr algn="just"/>
            <a:r>
              <a:rPr lang="en-US" sz="2200" dirty="0" smtClean="0">
                <a:latin typeface="Times New Roman" pitchFamily="18" charset="0"/>
                <a:cs typeface="Times New Roman" pitchFamily="18" charset="0"/>
              </a:rPr>
              <a:t>This is used in the manufacture of diamond and CBN wheels. </a:t>
            </a:r>
          </a:p>
          <a:p>
            <a:pPr algn="just"/>
            <a:r>
              <a:rPr lang="en-US" sz="2200" dirty="0" smtClean="0">
                <a:latin typeface="Times New Roman" pitchFamily="18" charset="0"/>
                <a:cs typeface="Times New Roman" pitchFamily="18" charset="0"/>
              </a:rPr>
              <a:t>The wheel can be made of any high thermal conductive metal such as copper alloys or </a:t>
            </a:r>
            <a:r>
              <a:rPr lang="en-US" sz="2200" dirty="0" err="1" smtClean="0">
                <a:latin typeface="Times New Roman" pitchFamily="18" charset="0"/>
                <a:cs typeface="Times New Roman" pitchFamily="18" charset="0"/>
              </a:rPr>
              <a:t>aluminium</a:t>
            </a:r>
            <a:r>
              <a:rPr lang="en-US" sz="2200" dirty="0" smtClean="0">
                <a:latin typeface="Times New Roman" pitchFamily="18" charset="0"/>
                <a:cs typeface="Times New Roman" pitchFamily="18" charset="0"/>
              </a:rPr>
              <a:t> alloys. </a:t>
            </a:r>
          </a:p>
          <a:p>
            <a:pPr algn="just"/>
            <a:r>
              <a:rPr lang="en-US" sz="2200" dirty="0" smtClean="0">
                <a:latin typeface="Times New Roman" pitchFamily="18" charset="0"/>
                <a:cs typeface="Times New Roman" pitchFamily="18" charset="0"/>
              </a:rPr>
              <a:t>The periphery of the wheel up to a small </a:t>
            </a:r>
            <a:r>
              <a:rPr lang="en-US" sz="2200" dirty="0" err="1" smtClean="0">
                <a:latin typeface="Times New Roman" pitchFamily="18" charset="0"/>
                <a:cs typeface="Times New Roman" pitchFamily="18" charset="0"/>
              </a:rPr>
              <a:t>depthof</a:t>
            </a:r>
            <a:r>
              <a:rPr lang="en-US" sz="2200" dirty="0" smtClean="0">
                <a:latin typeface="Times New Roman" pitchFamily="18" charset="0"/>
                <a:cs typeface="Times New Roman" pitchFamily="18" charset="0"/>
              </a:rPr>
              <a:t> the order of 5 mm or less contains the abrasive grit.</a:t>
            </a:r>
          </a:p>
          <a:p>
            <a:pPr algn="just"/>
            <a:r>
              <a:rPr lang="en-US" sz="2200" dirty="0" smtClean="0">
                <a:latin typeface="Times New Roman" pitchFamily="18" charset="0"/>
                <a:cs typeface="Times New Roman" pitchFamily="18" charset="0"/>
              </a:rPr>
              <a:t> The choice of the metal depends on the required strength, rigidity and dimensional stability. </a:t>
            </a:r>
          </a:p>
          <a:p>
            <a:pPr algn="just"/>
            <a:r>
              <a:rPr lang="en-US" sz="2200" dirty="0" smtClean="0">
                <a:latin typeface="Times New Roman" pitchFamily="18" charset="0"/>
                <a:cs typeface="Times New Roman" pitchFamily="18" charset="0"/>
              </a:rPr>
              <a:t>In view of the strong bond, the grit will not be knocked out till it is fully </a:t>
            </a:r>
            <a:r>
              <a:rPr lang="en-US" sz="2200" dirty="0" err="1" smtClean="0">
                <a:latin typeface="Times New Roman" pitchFamily="18" charset="0"/>
                <a:cs typeface="Times New Roman" pitchFamily="18" charset="0"/>
              </a:rPr>
              <a:t>utilised</a:t>
            </a:r>
            <a:r>
              <a:rPr lang="en-US" sz="2200" dirty="0" smtClean="0">
                <a:latin typeface="Times New Roman" pitchFamily="18" charset="0"/>
                <a:cs typeface="Times New Roman" pitchFamily="18" charset="0"/>
              </a:rPr>
              <a:t>. </a:t>
            </a:r>
          </a:p>
          <a:p>
            <a:pPr algn="just"/>
            <a:r>
              <a:rPr lang="en-US" sz="2200" dirty="0" smtClean="0">
                <a:latin typeface="Times New Roman" pitchFamily="18" charset="0"/>
                <a:cs typeface="Times New Roman" pitchFamily="18" charset="0"/>
              </a:rPr>
              <a:t>Powder metallurgy techniques are used to make the abrasive periphery.</a:t>
            </a:r>
            <a:endParaRPr lang="en-US"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a:bodyPr>
          <a:lstStyle/>
          <a:p>
            <a:r>
              <a:rPr lang="en-US" sz="3200" b="1" dirty="0" smtClean="0">
                <a:latin typeface="Times New Roman" pitchFamily="18" charset="0"/>
                <a:cs typeface="Times New Roman" pitchFamily="18" charset="0"/>
              </a:rPr>
              <a:t>Grinding wheel types</a:t>
            </a:r>
            <a:endParaRPr lang="en-US" sz="3200" b="1"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1785918" y="1071546"/>
            <a:ext cx="5774849" cy="5643602"/>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4D374F10-0401-4224-9624-EB074E096B44}" type="slidenum">
              <a:rPr lang="en-US" smtClean="0"/>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r>
              <a:rPr lang="en-US" sz="3200" b="1" dirty="0" smtClean="0">
                <a:latin typeface="Times New Roman" pitchFamily="18" charset="0"/>
                <a:cs typeface="Times New Roman" pitchFamily="18" charset="0"/>
              </a:rPr>
              <a:t>Types of grinding machines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214282" y="857232"/>
            <a:ext cx="8786874" cy="4572032"/>
          </a:xfrm>
        </p:spPr>
        <p:txBody>
          <a:bodyPr>
            <a:normAutofit/>
          </a:bodyPr>
          <a:lstStyle/>
          <a:p>
            <a:pPr>
              <a:buNone/>
            </a:pPr>
            <a:r>
              <a:rPr lang="en-US" sz="2000" dirty="0" smtClean="0">
                <a:latin typeface="Times New Roman" pitchFamily="18" charset="0"/>
                <a:cs typeface="Times New Roman" pitchFamily="18" charset="0"/>
              </a:rPr>
              <a:t>Centre type cylindrical grinders </a:t>
            </a:r>
          </a:p>
          <a:p>
            <a:r>
              <a:rPr lang="en-US" sz="2000" dirty="0" smtClean="0">
                <a:latin typeface="Times New Roman" pitchFamily="18" charset="0"/>
                <a:cs typeface="Times New Roman" pitchFamily="18" charset="0"/>
              </a:rPr>
              <a:t>In which work is mounted between centers &amp; rotated against the wheel. </a:t>
            </a:r>
          </a:p>
          <a:p>
            <a:r>
              <a:rPr lang="en-US" sz="2000" dirty="0" smtClean="0">
                <a:latin typeface="Times New Roman" pitchFamily="18" charset="0"/>
                <a:cs typeface="Times New Roman" pitchFamily="18" charset="0"/>
              </a:rPr>
              <a:t>The work must pass through wheel or Vic versa.</a:t>
            </a:r>
          </a:p>
          <a:p>
            <a:pPr marL="514350" indent="-514350">
              <a:buAutoNum type="arabicPeriod"/>
            </a:pPr>
            <a:r>
              <a:rPr lang="en-US" sz="2000" dirty="0" smtClean="0">
                <a:latin typeface="Times New Roman" pitchFamily="18" charset="0"/>
                <a:cs typeface="Times New Roman" pitchFamily="18" charset="0"/>
              </a:rPr>
              <a:t>Transverse grinding </a:t>
            </a:r>
          </a:p>
          <a:p>
            <a:pPr marL="514350" indent="-514350">
              <a:buAutoNum type="arabicPeriod"/>
            </a:pPr>
            <a:r>
              <a:rPr lang="en-US" sz="2000" dirty="0" smtClean="0">
                <a:latin typeface="Times New Roman" pitchFamily="18" charset="0"/>
                <a:cs typeface="Times New Roman" pitchFamily="18" charset="0"/>
              </a:rPr>
              <a:t>Plunge cut grinding </a:t>
            </a:r>
          </a:p>
          <a:p>
            <a:pPr marL="514350" indent="-514350">
              <a:buNone/>
            </a:pPr>
            <a:r>
              <a:rPr lang="en-US" sz="2000" dirty="0" smtClean="0">
                <a:latin typeface="Times New Roman" pitchFamily="18" charset="0"/>
                <a:cs typeface="Times New Roman" pitchFamily="18" charset="0"/>
              </a:rPr>
              <a:t>Transverse grinding</a:t>
            </a:r>
          </a:p>
          <a:p>
            <a:pPr marL="514350" indent="-514350"/>
            <a:r>
              <a:rPr lang="en-US" sz="2000" dirty="0" smtClean="0">
                <a:latin typeface="Times New Roman" pitchFamily="18" charset="0"/>
                <a:cs typeface="Times New Roman" pitchFamily="18" charset="0"/>
              </a:rPr>
              <a:t>Work reciprocates as the wheel feeds into the work</a:t>
            </a:r>
          </a:p>
          <a:p>
            <a:pPr marL="514350" indent="-514350"/>
            <a:r>
              <a:rPr lang="en-US" sz="2000" dirty="0" smtClean="0">
                <a:latin typeface="Times New Roman" pitchFamily="18" charset="0"/>
                <a:cs typeface="Times New Roman" pitchFamily="18" charset="0"/>
              </a:rPr>
              <a:t>This operation produce cylindrical shapes longer than the width of the wheel </a:t>
            </a:r>
          </a:p>
          <a:p>
            <a:pPr marL="514350" indent="-514350">
              <a:buNone/>
            </a:pPr>
            <a:r>
              <a:rPr lang="en-US" sz="2000" dirty="0" smtClean="0">
                <a:latin typeface="Times New Roman" pitchFamily="18" charset="0"/>
                <a:cs typeface="Times New Roman" pitchFamily="18" charset="0"/>
              </a:rPr>
              <a:t>Plunge cut grinding </a:t>
            </a:r>
          </a:p>
          <a:p>
            <a:pPr marL="514350" indent="-514350"/>
            <a:r>
              <a:rPr lang="en-US" sz="2000" dirty="0" smtClean="0">
                <a:latin typeface="Times New Roman" pitchFamily="18" charset="0"/>
                <a:cs typeface="Times New Roman" pitchFamily="18" charset="0"/>
              </a:rPr>
              <a:t>Work rotates in fixed position and the wheel is fed into the work until the required dia. </a:t>
            </a:r>
          </a:p>
          <a:p>
            <a:pPr marL="514350" indent="-514350"/>
            <a:r>
              <a:rPr lang="en-US" sz="2000" dirty="0" smtClean="0">
                <a:latin typeface="Times New Roman" pitchFamily="18" charset="0"/>
                <a:cs typeface="Times New Roman" pitchFamily="18" charset="0"/>
              </a:rPr>
              <a:t>The length of cylindrical shape produced is equal to the width of the wheel</a:t>
            </a:r>
            <a:endParaRPr lang="en-US" sz="20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a:stretch>
            <a:fillRect/>
          </a:stretch>
        </p:blipFill>
        <p:spPr bwMode="auto">
          <a:xfrm>
            <a:off x="2786051" y="5143512"/>
            <a:ext cx="3786214" cy="1680337"/>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4D374F10-0401-4224-9624-EB074E096B44}" type="slidenum">
              <a:rPr lang="en-US" smtClean="0"/>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428604"/>
            <a:ext cx="8229600" cy="490066"/>
          </a:xfrm>
        </p:spPr>
        <p:txBody>
          <a:bodyPr>
            <a:noAutofit/>
          </a:bodyPr>
          <a:lstStyle/>
          <a:p>
            <a:r>
              <a:rPr lang="en-US" sz="3200" b="1" dirty="0" smtClean="0">
                <a:latin typeface="Times New Roman" pitchFamily="18" charset="0"/>
                <a:cs typeface="Times New Roman" pitchFamily="18" charset="0"/>
              </a:rPr>
              <a:t>CYLINDRICAL GRINDING</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3538736" cy="4525963"/>
          </a:xfrm>
        </p:spPr>
        <p:txBody>
          <a:bodyPr>
            <a:normAutofit/>
          </a:bodyPr>
          <a:lstStyle/>
          <a:p>
            <a:pPr marL="0" indent="0" algn="just">
              <a:buNone/>
            </a:pPr>
            <a:r>
              <a:rPr lang="en-US" sz="2200" dirty="0"/>
              <a:t>The plain cylindrical grinding machine </a:t>
            </a:r>
            <a:r>
              <a:rPr lang="en-US" sz="2200" dirty="0" smtClean="0"/>
              <a:t>has </a:t>
            </a:r>
            <a:r>
              <a:rPr lang="en-US" sz="2200" dirty="0"/>
              <a:t>the following parts, </a:t>
            </a:r>
          </a:p>
          <a:p>
            <a:pPr marL="0" indent="0" algn="just">
              <a:buNone/>
            </a:pPr>
            <a:r>
              <a:rPr lang="en-US" sz="2200" dirty="0"/>
              <a:t>1. Bed or Base </a:t>
            </a:r>
          </a:p>
          <a:p>
            <a:pPr marL="0" indent="0" algn="just">
              <a:buNone/>
            </a:pPr>
            <a:r>
              <a:rPr lang="en-US" sz="2200" dirty="0"/>
              <a:t>2. Table </a:t>
            </a:r>
          </a:p>
          <a:p>
            <a:pPr marL="0" indent="0" algn="just">
              <a:buNone/>
            </a:pPr>
            <a:r>
              <a:rPr lang="en-US" sz="2200" dirty="0"/>
              <a:t>3. Headstock </a:t>
            </a:r>
          </a:p>
          <a:p>
            <a:pPr marL="0" indent="0" algn="just">
              <a:buNone/>
            </a:pPr>
            <a:r>
              <a:rPr lang="en-US" sz="2200" dirty="0"/>
              <a:t>4. Tailstock or Foot stock </a:t>
            </a:r>
          </a:p>
          <a:p>
            <a:pPr marL="0" indent="0" algn="just">
              <a:buNone/>
            </a:pPr>
            <a:r>
              <a:rPr lang="en-US" sz="2200" dirty="0"/>
              <a:t>5. Wheel head </a:t>
            </a:r>
          </a:p>
          <a:p>
            <a:endParaRPr lang="en-US" sz="2400" dirty="0"/>
          </a:p>
        </p:txBody>
      </p:sp>
      <p:pic>
        <p:nvPicPr>
          <p:cNvPr id="5" name="Picture 4"/>
          <p:cNvPicPr>
            <a:picLocks noChangeAspect="1"/>
          </p:cNvPicPr>
          <p:nvPr/>
        </p:nvPicPr>
        <p:blipFill>
          <a:blip r:embed="rId2"/>
          <a:stretch>
            <a:fillRect/>
          </a:stretch>
        </p:blipFill>
        <p:spPr>
          <a:xfrm>
            <a:off x="3995936" y="1581514"/>
            <a:ext cx="4837490" cy="3935717"/>
          </a:xfrm>
          <a:prstGeom prst="rect">
            <a:avLst/>
          </a:prstGeom>
        </p:spPr>
      </p:pic>
      <p:sp>
        <p:nvSpPr>
          <p:cNvPr id="6" name="Slide Number Placeholder 5"/>
          <p:cNvSpPr>
            <a:spLocks noGrp="1"/>
          </p:cNvSpPr>
          <p:nvPr>
            <p:ph type="sldNum" sz="quarter" idx="12"/>
          </p:nvPr>
        </p:nvSpPr>
        <p:spPr/>
        <p:txBody>
          <a:bodyPr/>
          <a:lstStyle/>
          <a:p>
            <a:fld id="{4D374F10-0401-4224-9624-EB074E096B44}" type="slidenum">
              <a:rPr lang="en-US" smtClean="0"/>
              <a:pPr/>
              <a:t>45</a:t>
            </a:fld>
            <a:endParaRPr lang="en-US"/>
          </a:p>
        </p:txBody>
      </p:sp>
    </p:spTree>
    <p:extLst>
      <p:ext uri="{BB962C8B-B14F-4D97-AF65-F5344CB8AC3E}">
        <p14:creationId xmlns:p14="http://schemas.microsoft.com/office/powerpoint/2010/main" xmlns="" val="33623375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1484784"/>
            <a:ext cx="8568952" cy="4032448"/>
          </a:xfrm>
        </p:spPr>
        <p:txBody>
          <a:bodyPr>
            <a:normAutofit/>
          </a:bodyPr>
          <a:lstStyle/>
          <a:p>
            <a:pPr algn="just"/>
            <a:r>
              <a:rPr lang="en-US" sz="2400" dirty="0" smtClean="0">
                <a:latin typeface="Times New Roman" panose="02020603050405020304" pitchFamily="18" charset="0"/>
                <a:cs typeface="Times New Roman" panose="02020603050405020304" pitchFamily="18" charset="0"/>
              </a:rPr>
              <a:t>In </a:t>
            </a:r>
            <a:r>
              <a:rPr lang="en-US" sz="2400" dirty="0">
                <a:latin typeface="Times New Roman" panose="02020603050405020304" pitchFamily="18" charset="0"/>
                <a:cs typeface="Times New Roman" panose="02020603050405020304" pitchFamily="18" charset="0"/>
              </a:rPr>
              <a:t>cylindrical grinders the work is mounted between the centers and rotated against the grinding wheel. </a:t>
            </a: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work may also be held in a chuck for certain operations. </a:t>
            </a: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various movements involved in a cylindrical grinding are given below, </a:t>
            </a:r>
          </a:p>
          <a:p>
            <a:pPr marL="0" indent="0" algn="just">
              <a:buNone/>
            </a:pPr>
            <a:r>
              <a:rPr lang="en-US" sz="2400" dirty="0">
                <a:latin typeface="Times New Roman" panose="02020603050405020304" pitchFamily="18" charset="0"/>
                <a:cs typeface="Times New Roman" panose="02020603050405020304" pitchFamily="18" charset="0"/>
              </a:rPr>
              <a:t>1. The work must revolve. </a:t>
            </a:r>
          </a:p>
          <a:p>
            <a:pPr marL="0" indent="0" algn="just">
              <a:buNone/>
            </a:pPr>
            <a:r>
              <a:rPr lang="en-US" sz="2400" dirty="0">
                <a:latin typeface="Times New Roman" panose="02020603050405020304" pitchFamily="18" charset="0"/>
                <a:cs typeface="Times New Roman" panose="02020603050405020304" pitchFamily="18" charset="0"/>
              </a:rPr>
              <a:t>2. The wheel must revolve. </a:t>
            </a:r>
          </a:p>
          <a:p>
            <a:pPr marL="0" indent="0" algn="just">
              <a:buNone/>
            </a:pPr>
            <a:r>
              <a:rPr lang="en-US" sz="2400" dirty="0">
                <a:latin typeface="Times New Roman" panose="02020603050405020304" pitchFamily="18" charset="0"/>
                <a:cs typeface="Times New Roman" panose="02020603050405020304" pitchFamily="18" charset="0"/>
              </a:rPr>
              <a:t>3. The work must pass the wheel or the wheel must pass the work. </a:t>
            </a: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4</a:t>
            </a:r>
            <a:r>
              <a:rPr lang="en-US" sz="2400" dirty="0">
                <a:latin typeface="Times New Roman" panose="02020603050405020304" pitchFamily="18" charset="0"/>
                <a:cs typeface="Times New Roman" panose="02020603050405020304" pitchFamily="18" charset="0"/>
              </a:rPr>
              <a:t>. The movement of wheel into the work or work into the wheel. </a:t>
            </a:r>
          </a:p>
          <a:p>
            <a:pPr marL="0" indent="0">
              <a:buNone/>
            </a:pPr>
            <a:endParaRPr lang="en-US" sz="2400" dirty="0" smtClean="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12"/>
          </p:nvPr>
        </p:nvSpPr>
        <p:spPr/>
        <p:txBody>
          <a:bodyPr/>
          <a:lstStyle/>
          <a:p>
            <a:fld id="{4D374F10-0401-4224-9624-EB074E096B44}" type="slidenum">
              <a:rPr lang="en-US" smtClean="0"/>
              <a:pPr/>
              <a:t>46</a:t>
            </a:fld>
            <a:endParaRPr lang="en-US"/>
          </a:p>
        </p:txBody>
      </p:sp>
    </p:spTree>
    <p:extLst>
      <p:ext uri="{BB962C8B-B14F-4D97-AF65-F5344CB8AC3E}">
        <p14:creationId xmlns:p14="http://schemas.microsoft.com/office/powerpoint/2010/main" xmlns="" val="10330997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260648"/>
            <a:ext cx="8712968" cy="6408712"/>
          </a:xfrm>
        </p:spPr>
        <p:txBody>
          <a:bodyPr>
            <a:normAutofit/>
          </a:bodyPr>
          <a:lstStyle/>
          <a:p>
            <a:pPr marL="0" indent="0" algn="just">
              <a:buNone/>
            </a:pPr>
            <a:r>
              <a:rPr lang="en-US" sz="2200" dirty="0">
                <a:latin typeface="Times New Roman" panose="02020603050405020304" pitchFamily="18" charset="0"/>
                <a:cs typeface="Times New Roman" panose="02020603050405020304" pitchFamily="18" charset="0"/>
              </a:rPr>
              <a:t>Base: </a:t>
            </a:r>
          </a:p>
          <a:p>
            <a:pPr algn="just"/>
            <a:r>
              <a:rPr lang="en-US" sz="2200" dirty="0">
                <a:latin typeface="Times New Roman" panose="02020603050405020304" pitchFamily="18" charset="0"/>
                <a:cs typeface="Times New Roman" panose="02020603050405020304" pitchFamily="18" charset="0"/>
              </a:rPr>
              <a:t>The base or bed rests on the floor. The top of the base is machined accurately to form ways for the table. It also houses the table drive mechanism. </a:t>
            </a:r>
          </a:p>
          <a:p>
            <a:pPr marL="0" indent="0" algn="just">
              <a:buNone/>
            </a:pPr>
            <a:r>
              <a:rPr lang="en-US" sz="2200" dirty="0">
                <a:latin typeface="Times New Roman" panose="02020603050405020304" pitchFamily="18" charset="0"/>
                <a:cs typeface="Times New Roman" panose="02020603050405020304" pitchFamily="18" charset="0"/>
              </a:rPr>
              <a:t>Table: </a:t>
            </a:r>
          </a:p>
          <a:p>
            <a:pPr algn="just"/>
            <a:r>
              <a:rPr lang="en-US" sz="2200" dirty="0">
                <a:latin typeface="Times New Roman" panose="02020603050405020304" pitchFamily="18" charset="0"/>
                <a:cs typeface="Times New Roman" panose="02020603050405020304" pitchFamily="18" charset="0"/>
              </a:rPr>
              <a:t>The lower table mounted on the ways of the bed. It provides traverse motion to the work past the grinding wheel. It can be operated </a:t>
            </a:r>
            <a:r>
              <a:rPr lang="en-US" sz="2200" dirty="0" err="1">
                <a:latin typeface="Times New Roman" panose="02020603050405020304" pitchFamily="18" charset="0"/>
                <a:cs typeface="Times New Roman" panose="02020603050405020304" pitchFamily="18" charset="0"/>
              </a:rPr>
              <a:t>manualy</a:t>
            </a:r>
            <a:r>
              <a:rPr lang="en-US" sz="2200" dirty="0">
                <a:latin typeface="Times New Roman" panose="02020603050405020304" pitchFamily="18" charset="0"/>
                <a:cs typeface="Times New Roman" panose="02020603050405020304" pitchFamily="18" charset="0"/>
              </a:rPr>
              <a:t>. </a:t>
            </a:r>
          </a:p>
          <a:p>
            <a:pPr marL="0" indent="0" algn="just">
              <a:buNone/>
            </a:pPr>
            <a:r>
              <a:rPr lang="en-US" sz="2200" dirty="0">
                <a:latin typeface="Times New Roman" panose="02020603050405020304" pitchFamily="18" charset="0"/>
                <a:cs typeface="Times New Roman" panose="02020603050405020304" pitchFamily="18" charset="0"/>
              </a:rPr>
              <a:t>Upper table: </a:t>
            </a:r>
          </a:p>
          <a:p>
            <a:pPr algn="just"/>
            <a:r>
              <a:rPr lang="en-US" sz="2200" dirty="0">
                <a:latin typeface="Times New Roman" panose="02020603050405020304" pitchFamily="18" charset="0"/>
                <a:cs typeface="Times New Roman" panose="02020603050405020304" pitchFamily="18" charset="0"/>
              </a:rPr>
              <a:t>It is mounted on lower table and can be </a:t>
            </a:r>
            <a:r>
              <a:rPr lang="en-US" sz="2200" dirty="0" err="1">
                <a:latin typeface="Times New Roman" panose="02020603050405020304" pitchFamily="18" charset="0"/>
                <a:cs typeface="Times New Roman" panose="02020603050405020304" pitchFamily="18" charset="0"/>
              </a:rPr>
              <a:t>swivelled</a:t>
            </a:r>
            <a:r>
              <a:rPr lang="en-US" sz="2200" dirty="0">
                <a:latin typeface="Times New Roman" panose="02020603050405020304" pitchFamily="18" charset="0"/>
                <a:cs typeface="Times New Roman" panose="02020603050405020304" pitchFamily="18" charset="0"/>
              </a:rPr>
              <a:t> for grinding tapers and alignment purposes. The head stock and tail stock are mounted on this table. </a:t>
            </a:r>
          </a:p>
          <a:p>
            <a:pPr marL="0" indent="0" algn="just">
              <a:buNone/>
            </a:pPr>
            <a:r>
              <a:rPr lang="en-US" sz="2200" dirty="0">
                <a:latin typeface="Times New Roman" panose="02020603050405020304" pitchFamily="18" charset="0"/>
                <a:cs typeface="Times New Roman" panose="02020603050405020304" pitchFamily="18" charset="0"/>
              </a:rPr>
              <a:t>Head stock: </a:t>
            </a:r>
          </a:p>
          <a:p>
            <a:pPr algn="just"/>
            <a:r>
              <a:rPr lang="en-US" sz="2200" dirty="0">
                <a:latin typeface="Times New Roman" panose="02020603050405020304" pitchFamily="18" charset="0"/>
                <a:cs typeface="Times New Roman" panose="02020603050405020304" pitchFamily="18" charset="0"/>
              </a:rPr>
              <a:t>Head stock supports and drive the work piece with the help of </a:t>
            </a:r>
            <a:r>
              <a:rPr lang="en-US" sz="2200" dirty="0" err="1">
                <a:latin typeface="Times New Roman" panose="02020603050405020304" pitchFamily="18" charset="0"/>
                <a:cs typeface="Times New Roman" panose="02020603050405020304" pitchFamily="18" charset="0"/>
              </a:rPr>
              <a:t>centre</a:t>
            </a:r>
            <a:r>
              <a:rPr lang="en-US" sz="2200" dirty="0">
                <a:latin typeface="Times New Roman" panose="02020603050405020304" pitchFamily="18" charset="0"/>
                <a:cs typeface="Times New Roman" panose="02020603050405020304" pitchFamily="18" charset="0"/>
              </a:rPr>
              <a:t> and dog or chuck </a:t>
            </a:r>
          </a:p>
        </p:txBody>
      </p:sp>
      <p:sp>
        <p:nvSpPr>
          <p:cNvPr id="4" name="Slide Number Placeholder 3"/>
          <p:cNvSpPr>
            <a:spLocks noGrp="1"/>
          </p:cNvSpPr>
          <p:nvPr>
            <p:ph type="sldNum" sz="quarter" idx="12"/>
          </p:nvPr>
        </p:nvSpPr>
        <p:spPr/>
        <p:txBody>
          <a:bodyPr/>
          <a:lstStyle/>
          <a:p>
            <a:fld id="{4D374F10-0401-4224-9624-EB074E096B44}" type="slidenum">
              <a:rPr lang="en-US" smtClean="0"/>
              <a:pPr/>
              <a:t>47</a:t>
            </a:fld>
            <a:endParaRPr lang="en-US"/>
          </a:p>
        </p:txBody>
      </p:sp>
    </p:spTree>
    <p:extLst>
      <p:ext uri="{BB962C8B-B14F-4D97-AF65-F5344CB8AC3E}">
        <p14:creationId xmlns:p14="http://schemas.microsoft.com/office/powerpoint/2010/main" xmlns="" val="17236508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844824"/>
            <a:ext cx="8640960" cy="3384376"/>
          </a:xfrm>
        </p:spPr>
        <p:txBody>
          <a:bodyPr>
            <a:normAutofit/>
          </a:bodyPr>
          <a:lstStyle/>
          <a:p>
            <a:pPr marL="0" indent="0" algn="just">
              <a:buNone/>
            </a:pPr>
            <a:r>
              <a:rPr lang="en-US" sz="2200" dirty="0">
                <a:latin typeface="Times New Roman" panose="02020603050405020304" pitchFamily="18" charset="0"/>
                <a:cs typeface="Times New Roman" panose="02020603050405020304" pitchFamily="18" charset="0"/>
              </a:rPr>
              <a:t>Tailstock: </a:t>
            </a:r>
          </a:p>
          <a:p>
            <a:pPr algn="just"/>
            <a:r>
              <a:rPr lang="en-US" sz="2200" dirty="0">
                <a:latin typeface="Times New Roman" panose="02020603050405020304" pitchFamily="18" charset="0"/>
                <a:cs typeface="Times New Roman" panose="02020603050405020304" pitchFamily="18" charset="0"/>
              </a:rPr>
              <a:t>Tailstock or foot stock is mounted on the right end of the table. It can be adjusted along the length of the bed to support the right end of the work. </a:t>
            </a:r>
          </a:p>
          <a:p>
            <a:pPr marL="0" indent="0" algn="just">
              <a:buNone/>
            </a:pPr>
            <a:r>
              <a:rPr lang="en-US" sz="2200" dirty="0">
                <a:latin typeface="Times New Roman" panose="02020603050405020304" pitchFamily="18" charset="0"/>
                <a:cs typeface="Times New Roman" panose="02020603050405020304" pitchFamily="18" charset="0"/>
              </a:rPr>
              <a:t>Wheel head: </a:t>
            </a:r>
          </a:p>
          <a:p>
            <a:pPr algn="just"/>
            <a:r>
              <a:rPr lang="en-US" sz="2200" dirty="0">
                <a:latin typeface="Times New Roman" panose="02020603050405020304" pitchFamily="18" charset="0"/>
                <a:cs typeface="Times New Roman" panose="02020603050405020304" pitchFamily="18" charset="0"/>
              </a:rPr>
              <a:t>Wheel head is mounted on a cross-slide at right angle to the table, providing the in-feed movement of the wheel to the work. </a:t>
            </a:r>
          </a:p>
        </p:txBody>
      </p:sp>
      <p:sp>
        <p:nvSpPr>
          <p:cNvPr id="4" name="Slide Number Placeholder 3"/>
          <p:cNvSpPr>
            <a:spLocks noGrp="1"/>
          </p:cNvSpPr>
          <p:nvPr>
            <p:ph type="sldNum" sz="quarter" idx="12"/>
          </p:nvPr>
        </p:nvSpPr>
        <p:spPr/>
        <p:txBody>
          <a:bodyPr/>
          <a:lstStyle/>
          <a:p>
            <a:fld id="{4D374F10-0401-4224-9624-EB074E096B44}" type="slidenum">
              <a:rPr lang="en-US" smtClean="0"/>
              <a:pPr/>
              <a:t>48</a:t>
            </a:fld>
            <a:endParaRPr lang="en-US"/>
          </a:p>
        </p:txBody>
      </p:sp>
    </p:spTree>
    <p:extLst>
      <p:ext uri="{BB962C8B-B14F-4D97-AF65-F5344CB8AC3E}">
        <p14:creationId xmlns:p14="http://schemas.microsoft.com/office/powerpoint/2010/main" xmlns="" val="33685825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a:bodyPr>
          <a:lstStyle/>
          <a:p>
            <a:r>
              <a:rPr lang="en-US" sz="3200" b="1" dirty="0" smtClean="0">
                <a:latin typeface="Times New Roman" panose="02020603050405020304" pitchFamily="18" charset="0"/>
                <a:cs typeface="Times New Roman" panose="02020603050405020304" pitchFamily="18" charset="0"/>
              </a:rPr>
              <a:t>CENTRELESS GRINDING</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14282" y="1071546"/>
            <a:ext cx="8572560" cy="5500726"/>
          </a:xfrm>
        </p:spPr>
        <p:txBody>
          <a:bodyPr>
            <a:normAutofit/>
          </a:bodyPr>
          <a:lstStyle/>
          <a:p>
            <a:pPr algn="just"/>
            <a:r>
              <a:rPr lang="en-US" sz="2200" dirty="0" smtClean="0">
                <a:latin typeface="Times New Roman" pitchFamily="18" charset="0"/>
                <a:cs typeface="Times New Roman" pitchFamily="18" charset="0"/>
              </a:rPr>
              <a:t>Centre less grinding makes it possible to grind cylindrical work pieces without actually fixing the work piece using </a:t>
            </a:r>
            <a:r>
              <a:rPr lang="en-US" sz="2200" dirty="0" err="1" smtClean="0">
                <a:latin typeface="Times New Roman" pitchFamily="18" charset="0"/>
                <a:cs typeface="Times New Roman" pitchFamily="18" charset="0"/>
              </a:rPr>
              <a:t>centres</a:t>
            </a:r>
            <a:r>
              <a:rPr lang="en-US" sz="2200" dirty="0" smtClean="0">
                <a:latin typeface="Times New Roman" pitchFamily="18" charset="0"/>
                <a:cs typeface="Times New Roman" pitchFamily="18" charset="0"/>
              </a:rPr>
              <a:t> or a chuck. As a result no work rotation is separately provided</a:t>
            </a:r>
          </a:p>
          <a:p>
            <a:pPr algn="just"/>
            <a:r>
              <a:rPr lang="en-US" sz="2200" dirty="0" smtClean="0">
                <a:latin typeface="Times New Roman" pitchFamily="18" charset="0"/>
                <a:cs typeface="Times New Roman" pitchFamily="18" charset="0"/>
              </a:rPr>
              <a:t>In </a:t>
            </a:r>
            <a:r>
              <a:rPr lang="en-US" sz="2200" dirty="0">
                <a:latin typeface="Times New Roman" pitchFamily="18" charset="0"/>
                <a:cs typeface="Times New Roman" pitchFamily="18" charset="0"/>
              </a:rPr>
              <a:t>which the work is supported by a combination of a work rest blades </a:t>
            </a:r>
          </a:p>
          <a:p>
            <a:pPr algn="just"/>
            <a:r>
              <a:rPr lang="en-US" sz="2200" dirty="0" smtClean="0">
                <a:latin typeface="Times New Roman" pitchFamily="18" charset="0"/>
                <a:cs typeface="Times New Roman" pitchFamily="18" charset="0"/>
              </a:rPr>
              <a:t>Two </a:t>
            </a:r>
            <a:r>
              <a:rPr lang="en-US" sz="2200" dirty="0">
                <a:latin typeface="Times New Roman" pitchFamily="18" charset="0"/>
                <a:cs typeface="Times New Roman" pitchFamily="18" charset="0"/>
              </a:rPr>
              <a:t>wheels are </a:t>
            </a:r>
            <a:r>
              <a:rPr lang="en-US" sz="2200" dirty="0" smtClean="0">
                <a:latin typeface="Times New Roman" pitchFamily="18" charset="0"/>
                <a:cs typeface="Times New Roman" pitchFamily="18" charset="0"/>
              </a:rPr>
              <a:t>used, one </a:t>
            </a:r>
            <a:r>
              <a:rPr lang="en-US" sz="2200" dirty="0">
                <a:latin typeface="Times New Roman" pitchFamily="18" charset="0"/>
                <a:cs typeface="Times New Roman" pitchFamily="18" charset="0"/>
              </a:rPr>
              <a:t>is grinding wheel and other is regulating wheel </a:t>
            </a:r>
          </a:p>
          <a:p>
            <a:pPr algn="just"/>
            <a:r>
              <a:rPr lang="en-US" sz="2200" dirty="0" smtClean="0">
                <a:latin typeface="Times New Roman" pitchFamily="18" charset="0"/>
                <a:cs typeface="Times New Roman" pitchFamily="18" charset="0"/>
              </a:rPr>
              <a:t>Its </a:t>
            </a:r>
            <a:r>
              <a:rPr lang="en-US" sz="2200" dirty="0">
                <a:latin typeface="Times New Roman" pitchFamily="18" charset="0"/>
                <a:cs typeface="Times New Roman" pitchFamily="18" charset="0"/>
              </a:rPr>
              <a:t>performed on work which does not have centers </a:t>
            </a:r>
          </a:p>
          <a:p>
            <a:pPr algn="just"/>
            <a:r>
              <a:rPr lang="en-US" sz="2200" dirty="0" smtClean="0">
                <a:latin typeface="Times New Roman" pitchFamily="18" charset="0"/>
                <a:cs typeface="Times New Roman" pitchFamily="18" charset="0"/>
              </a:rPr>
              <a:t>It </a:t>
            </a:r>
            <a:r>
              <a:rPr lang="en-US" sz="2200" dirty="0">
                <a:latin typeface="Times New Roman" pitchFamily="18" charset="0"/>
                <a:cs typeface="Times New Roman" pitchFamily="18" charset="0"/>
              </a:rPr>
              <a:t>reduces the total operation time by eliminating need for center holes in the work piece </a:t>
            </a:r>
          </a:p>
          <a:p>
            <a:pPr algn="just"/>
            <a:r>
              <a:rPr lang="en-US" sz="2200" dirty="0" smtClean="0">
                <a:latin typeface="Times New Roman" pitchFamily="18" charset="0"/>
                <a:cs typeface="Times New Roman" pitchFamily="18" charset="0"/>
              </a:rPr>
              <a:t>The </a:t>
            </a:r>
            <a:r>
              <a:rPr lang="en-US" sz="2200" dirty="0">
                <a:latin typeface="Times New Roman" pitchFamily="18" charset="0"/>
                <a:cs typeface="Times New Roman" pitchFamily="18" charset="0"/>
              </a:rPr>
              <a:t>grinding wheel rotates at higher speed than the regulating wheel. </a:t>
            </a:r>
          </a:p>
          <a:p>
            <a:pPr algn="just"/>
            <a:r>
              <a:rPr lang="en-US" sz="2200" dirty="0" smtClean="0">
                <a:latin typeface="Times New Roman" pitchFamily="18" charset="0"/>
                <a:cs typeface="Times New Roman" pitchFamily="18" charset="0"/>
              </a:rPr>
              <a:t>Regulating </a:t>
            </a:r>
            <a:r>
              <a:rPr lang="en-US" sz="2200" dirty="0">
                <a:latin typeface="Times New Roman" pitchFamily="18" charset="0"/>
                <a:cs typeface="Times New Roman" pitchFamily="18" charset="0"/>
              </a:rPr>
              <a:t>wheel control the rotation of work piece </a:t>
            </a:r>
          </a:p>
        </p:txBody>
      </p:sp>
      <p:sp>
        <p:nvSpPr>
          <p:cNvPr id="4" name="Slide Number Placeholder 3"/>
          <p:cNvSpPr>
            <a:spLocks noGrp="1"/>
          </p:cNvSpPr>
          <p:nvPr>
            <p:ph type="sldNum" sz="quarter" idx="12"/>
          </p:nvPr>
        </p:nvSpPr>
        <p:spPr/>
        <p:txBody>
          <a:bodyPr/>
          <a:lstStyle/>
          <a:p>
            <a:fld id="{4D374F10-0401-4224-9624-EB074E096B44}" type="slidenum">
              <a:rPr lang="en-US" smtClean="0"/>
              <a:pPr/>
              <a:t>49</a:t>
            </a:fld>
            <a:endParaRPr lang="en-US"/>
          </a:p>
        </p:txBody>
      </p:sp>
    </p:spTree>
    <p:extLst>
      <p:ext uri="{BB962C8B-B14F-4D97-AF65-F5344CB8AC3E}">
        <p14:creationId xmlns:p14="http://schemas.microsoft.com/office/powerpoint/2010/main" xmlns="" val="27211555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b="8697"/>
          <a:stretch/>
        </p:blipFill>
        <p:spPr>
          <a:xfrm>
            <a:off x="539552" y="476673"/>
            <a:ext cx="5124450" cy="1800200"/>
          </a:xfrm>
          <a:prstGeom prst="rect">
            <a:avLst/>
          </a:prstGeom>
        </p:spPr>
      </p:pic>
      <p:pic>
        <p:nvPicPr>
          <p:cNvPr id="5" name="Picture 4"/>
          <p:cNvPicPr>
            <a:picLocks noChangeAspect="1"/>
          </p:cNvPicPr>
          <p:nvPr/>
        </p:nvPicPr>
        <p:blipFill>
          <a:blip r:embed="rId3"/>
          <a:stretch>
            <a:fillRect/>
          </a:stretch>
        </p:blipFill>
        <p:spPr>
          <a:xfrm>
            <a:off x="3101776" y="3068960"/>
            <a:ext cx="5757261" cy="3456384"/>
          </a:xfrm>
          <a:prstGeom prst="rect">
            <a:avLst/>
          </a:prstGeom>
        </p:spPr>
      </p:pic>
      <p:sp>
        <p:nvSpPr>
          <p:cNvPr id="6" name="Slide Number Placeholder 5"/>
          <p:cNvSpPr>
            <a:spLocks noGrp="1"/>
          </p:cNvSpPr>
          <p:nvPr>
            <p:ph type="sldNum" sz="quarter" idx="12"/>
          </p:nvPr>
        </p:nvSpPr>
        <p:spPr/>
        <p:txBody>
          <a:bodyPr/>
          <a:lstStyle/>
          <a:p>
            <a:fld id="{4D374F10-0401-4224-9624-EB074E096B44}" type="slidenum">
              <a:rPr lang="en-US" smtClean="0"/>
              <a:pPr/>
              <a:t>50</a:t>
            </a:fld>
            <a:endParaRPr lang="en-US"/>
          </a:p>
        </p:txBody>
      </p:sp>
    </p:spTree>
    <p:extLst>
      <p:ext uri="{BB962C8B-B14F-4D97-AF65-F5344CB8AC3E}">
        <p14:creationId xmlns:p14="http://schemas.microsoft.com/office/powerpoint/2010/main" xmlns="" val="4551299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285728"/>
            <a:ext cx="8429684" cy="6072230"/>
          </a:xfrm>
        </p:spPr>
        <p:txBody>
          <a:bodyPr>
            <a:normAutofit fontScale="92500"/>
          </a:bodyPr>
          <a:lstStyle/>
          <a:p>
            <a:pPr>
              <a:buNone/>
            </a:pPr>
            <a:r>
              <a:rPr lang="en-US" sz="2200" dirty="0" smtClean="0">
                <a:latin typeface="Times New Roman" pitchFamily="18" charset="0"/>
                <a:cs typeface="Times New Roman" pitchFamily="18" charset="0"/>
              </a:rPr>
              <a:t>ADVANTAGES</a:t>
            </a:r>
          </a:p>
          <a:p>
            <a:pPr algn="just">
              <a:buNone/>
            </a:pPr>
            <a:r>
              <a:rPr lang="en-US" sz="2400" dirty="0" smtClean="0"/>
              <a:t>1</a:t>
            </a:r>
            <a:r>
              <a:rPr lang="en-US" sz="2400" dirty="0" smtClean="0">
                <a:latin typeface="Times New Roman" pitchFamily="18" charset="0"/>
                <a:cs typeface="Times New Roman" pitchFamily="18" charset="0"/>
              </a:rPr>
              <a:t>. There is no need for having and maintaining </a:t>
            </a:r>
            <a:r>
              <a:rPr lang="en-US" sz="2400" dirty="0" err="1" smtClean="0">
                <a:latin typeface="Times New Roman" pitchFamily="18" charset="0"/>
                <a:cs typeface="Times New Roman" pitchFamily="18" charset="0"/>
              </a:rPr>
              <a:t>centres</a:t>
            </a:r>
            <a:r>
              <a:rPr lang="en-US" sz="2400" dirty="0" smtClean="0">
                <a:latin typeface="Times New Roman" pitchFamily="18" charset="0"/>
                <a:cs typeface="Times New Roman" pitchFamily="18" charset="0"/>
              </a:rPr>
              <a:t> and centre holes.</a:t>
            </a:r>
          </a:p>
          <a:p>
            <a:pPr algn="just">
              <a:buNone/>
            </a:pPr>
            <a:r>
              <a:rPr lang="en-US" sz="2400" dirty="0" smtClean="0">
                <a:latin typeface="Times New Roman" pitchFamily="18" charset="0"/>
                <a:cs typeface="Times New Roman" pitchFamily="18" charset="0"/>
              </a:rPr>
              <a:t>2. Work pieces can be loaded and unloaded from the machine rapidly. Grinding is almost continuous for through feed grinding.</a:t>
            </a:r>
          </a:p>
          <a:p>
            <a:pPr algn="just">
              <a:buNone/>
            </a:pPr>
            <a:r>
              <a:rPr lang="en-US" sz="2400" dirty="0" smtClean="0">
                <a:latin typeface="Times New Roman" pitchFamily="18" charset="0"/>
                <a:cs typeface="Times New Roman" pitchFamily="18" charset="0"/>
              </a:rPr>
              <a:t>3. Backing up the work piece by the regulating wheel and work rest blade practically eliminates any deflection of the work piece. This permits maximum material removal rates.</a:t>
            </a:r>
          </a:p>
          <a:p>
            <a:pPr algn="just">
              <a:buNone/>
            </a:pPr>
            <a:r>
              <a:rPr lang="en-US" sz="2400" dirty="0" smtClean="0">
                <a:latin typeface="Times New Roman" pitchFamily="18" charset="0"/>
                <a:cs typeface="Times New Roman" pitchFamily="18" charset="0"/>
              </a:rPr>
              <a:t>4. Minimum wear is observed in view of the large grinding wheels used. This </a:t>
            </a:r>
            <a:r>
              <a:rPr lang="en-US" sz="2400" dirty="0" err="1" smtClean="0">
                <a:latin typeface="Times New Roman" pitchFamily="18" charset="0"/>
                <a:cs typeface="Times New Roman" pitchFamily="18" charset="0"/>
              </a:rPr>
              <a:t>minimises</a:t>
            </a:r>
            <a:r>
              <a:rPr lang="en-US" sz="2400" dirty="0" smtClean="0">
                <a:latin typeface="Times New Roman" pitchFamily="18" charset="0"/>
                <a:cs typeface="Times New Roman" pitchFamily="18" charset="0"/>
              </a:rPr>
              <a:t> the adjustments needed for staying within dimensional tolerances and </a:t>
            </a:r>
            <a:r>
              <a:rPr lang="en-US" sz="2400" dirty="0" err="1" smtClean="0">
                <a:latin typeface="Times New Roman" pitchFamily="18" charset="0"/>
                <a:cs typeface="Times New Roman" pitchFamily="18" charset="0"/>
              </a:rPr>
              <a:t>maximises</a:t>
            </a:r>
            <a:r>
              <a:rPr lang="en-US" sz="2400" dirty="0" smtClean="0">
                <a:latin typeface="Times New Roman" pitchFamily="18" charset="0"/>
                <a:cs typeface="Times New Roman" pitchFamily="18" charset="0"/>
              </a:rPr>
              <a:t> the periods of time between wheel dressings.</a:t>
            </a:r>
          </a:p>
          <a:p>
            <a:pPr algn="just">
              <a:buNone/>
            </a:pPr>
            <a:r>
              <a:rPr lang="en-US" sz="2400" dirty="0" smtClean="0">
                <a:latin typeface="Times New Roman" pitchFamily="18" charset="0"/>
                <a:cs typeface="Times New Roman" pitchFamily="18" charset="0"/>
              </a:rPr>
              <a:t>5. Work pieces may often be loaded into the machine by the automatic feeding devices.</a:t>
            </a:r>
          </a:p>
          <a:p>
            <a:pPr algn="just">
              <a:buNone/>
            </a:pPr>
            <a:r>
              <a:rPr lang="en-US" sz="2400" dirty="0" smtClean="0">
                <a:latin typeface="Times New Roman" pitchFamily="18" charset="0"/>
                <a:cs typeface="Times New Roman" pitchFamily="18" charset="0"/>
              </a:rPr>
              <a:t>6. Less grinding allowance may be required, because the out-of-roundness is corrected across the diameter rather than the radius.</a:t>
            </a:r>
            <a:endParaRPr lang="en-US"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285728"/>
            <a:ext cx="8358246" cy="6143668"/>
          </a:xfrm>
        </p:spPr>
        <p:txBody>
          <a:bodyPr>
            <a:normAutofit/>
          </a:bodyPr>
          <a:lstStyle/>
          <a:p>
            <a:pPr>
              <a:buNone/>
            </a:pPr>
            <a:r>
              <a:rPr lang="en-US" sz="2200" dirty="0" smtClean="0">
                <a:latin typeface="Times New Roman" pitchFamily="18" charset="0"/>
                <a:cs typeface="Times New Roman" pitchFamily="18" charset="0"/>
              </a:rPr>
              <a:t>Limitations of centre less grinding</a:t>
            </a:r>
          </a:p>
          <a:p>
            <a:pPr>
              <a:buNone/>
            </a:pPr>
            <a:r>
              <a:rPr lang="en-US" sz="2200" dirty="0" smtClean="0">
                <a:latin typeface="Times New Roman" pitchFamily="18" charset="0"/>
                <a:cs typeface="Times New Roman" pitchFamily="18" charset="0"/>
              </a:rPr>
              <a:t>1. Setup time for a centre less grinding operation is usually large.</a:t>
            </a:r>
          </a:p>
          <a:p>
            <a:pPr>
              <a:buNone/>
            </a:pPr>
            <a:r>
              <a:rPr lang="en-US" sz="2200" dirty="0" smtClean="0">
                <a:latin typeface="Times New Roman" pitchFamily="18" charset="0"/>
                <a:cs typeface="Times New Roman" pitchFamily="18" charset="0"/>
              </a:rPr>
              <a:t>2. This process is useful only for large volume production. It may be necessary to have special equipment and additional setup time for special profiles.</a:t>
            </a:r>
          </a:p>
          <a:p>
            <a:pPr>
              <a:buNone/>
            </a:pPr>
            <a:r>
              <a:rPr lang="en-US" sz="2200" dirty="0" smtClean="0">
                <a:latin typeface="Times New Roman" pitchFamily="18" charset="0"/>
                <a:cs typeface="Times New Roman" pitchFamily="18" charset="0"/>
              </a:rPr>
              <a:t>3. This process is not suitable for large work piece sizes.</a:t>
            </a:r>
          </a:p>
          <a:p>
            <a:pPr>
              <a:buNone/>
            </a:pPr>
            <a:r>
              <a:rPr lang="en-US" sz="2200" b="1" dirty="0" smtClean="0">
                <a:latin typeface="Times New Roman" pitchFamily="18" charset="0"/>
                <a:cs typeface="Times New Roman" pitchFamily="18" charset="0"/>
              </a:rPr>
              <a:t>INTERNAL CENTRELESS GRINDING</a:t>
            </a:r>
          </a:p>
          <a:p>
            <a:pPr algn="just"/>
            <a:r>
              <a:rPr lang="en-US" sz="2200" dirty="0" smtClean="0">
                <a:latin typeface="Times New Roman" pitchFamily="18" charset="0"/>
                <a:cs typeface="Times New Roman" pitchFamily="18" charset="0"/>
              </a:rPr>
              <a:t>It is also possible to apply centre-less grinding for internal surfaces as well. However, in this case, the work piece needs to be supported by two support Rolls</a:t>
            </a:r>
          </a:p>
          <a:p>
            <a:pPr algn="just"/>
            <a:r>
              <a:rPr lang="en-US" sz="2200" dirty="0" smtClean="0">
                <a:latin typeface="Times New Roman" pitchFamily="18" charset="0"/>
                <a:cs typeface="Times New Roman" pitchFamily="18" charset="0"/>
              </a:rPr>
              <a:t>The main advantage of the process is that the ground hole will be concentric with the outside diameter of the work. </a:t>
            </a:r>
          </a:p>
          <a:p>
            <a:pPr algn="just"/>
            <a:r>
              <a:rPr lang="en-US" sz="2200" dirty="0" smtClean="0">
                <a:latin typeface="Times New Roman" pitchFamily="18" charset="0"/>
                <a:cs typeface="Times New Roman" pitchFamily="18" charset="0"/>
              </a:rPr>
              <a:t>The process is capable of grinding straight cylindrical or tapered holes. </a:t>
            </a:r>
          </a:p>
          <a:p>
            <a:pPr algn="just"/>
            <a:r>
              <a:rPr lang="en-US" sz="2200" dirty="0" smtClean="0">
                <a:latin typeface="Times New Roman" pitchFamily="18" charset="0"/>
                <a:cs typeface="Times New Roman" pitchFamily="18" charset="0"/>
              </a:rPr>
              <a:t>These holes can be blind, through, interrupted, or even with a shoulder.</a:t>
            </a:r>
          </a:p>
        </p:txBody>
      </p:sp>
      <p:sp>
        <p:nvSpPr>
          <p:cNvPr id="4" name="Slide Number Placeholder 3"/>
          <p:cNvSpPr>
            <a:spLocks noGrp="1"/>
          </p:cNvSpPr>
          <p:nvPr>
            <p:ph type="sldNum" sz="quarter" idx="12"/>
          </p:nvPr>
        </p:nvSpPr>
        <p:spPr/>
        <p:txBody>
          <a:bodyPr/>
          <a:lstStyle/>
          <a:p>
            <a:fld id="{4D374F10-0401-4224-9624-EB074E096B44}" type="slidenum">
              <a:rPr lang="en-US" smtClean="0"/>
              <a:p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214290"/>
            <a:ext cx="8572560" cy="6357982"/>
          </a:xfrm>
        </p:spPr>
        <p:txBody>
          <a:bodyPr>
            <a:normAutofit/>
          </a:bodyPr>
          <a:lstStyle/>
          <a:p>
            <a:r>
              <a:rPr lang="en-US" sz="2200" dirty="0" smtClean="0">
                <a:latin typeface="Times New Roman" pitchFamily="18" charset="0"/>
                <a:cs typeface="Times New Roman" pitchFamily="18" charset="0"/>
              </a:rPr>
              <a:t>First support roll is mounted below the work to support it and control the distance from the work centre. </a:t>
            </a:r>
          </a:p>
          <a:p>
            <a:r>
              <a:rPr lang="en-US" sz="2200" dirty="0" smtClean="0">
                <a:latin typeface="Times New Roman" pitchFamily="18" charset="0"/>
                <a:cs typeface="Times New Roman" pitchFamily="18" charset="0"/>
              </a:rPr>
              <a:t>The second support roll is a pressure roll and holds the work in contact with the other two. This roll moves in and out to allow for loading and unloading the machine. </a:t>
            </a:r>
          </a:p>
          <a:p>
            <a:r>
              <a:rPr lang="en-US" sz="2200" dirty="0" smtClean="0">
                <a:latin typeface="Times New Roman" pitchFamily="18" charset="0"/>
                <a:cs typeface="Times New Roman" pitchFamily="18" charset="0"/>
              </a:rPr>
              <a:t>The third roller as shown is the regulating roll that drives the work and controls its speed and direction. </a:t>
            </a:r>
          </a:p>
          <a:p>
            <a:r>
              <a:rPr lang="en-US" sz="2200" dirty="0" smtClean="0">
                <a:latin typeface="Times New Roman" pitchFamily="18" charset="0"/>
                <a:cs typeface="Times New Roman" pitchFamily="18" charset="0"/>
              </a:rPr>
              <a:t>The grinding wheel remains in a fixed position, and the work traverses past the grinding wheel. This is almost similar to through feed center-less grinding with simplified setup and automatic loading of work pieces.</a:t>
            </a:r>
            <a:endParaRPr lang="en-US"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53</a:t>
            </a:fld>
            <a:endParaRPr lang="en-US"/>
          </a:p>
        </p:txBody>
      </p:sp>
      <p:pic>
        <p:nvPicPr>
          <p:cNvPr id="1027" name="Picture 3"/>
          <p:cNvPicPr>
            <a:picLocks noChangeAspect="1" noChangeArrowheads="1"/>
          </p:cNvPicPr>
          <p:nvPr/>
        </p:nvPicPr>
        <p:blipFill>
          <a:blip r:embed="rId2"/>
          <a:srcRect/>
          <a:stretch>
            <a:fillRect/>
          </a:stretch>
        </p:blipFill>
        <p:spPr bwMode="auto">
          <a:xfrm>
            <a:off x="3428992" y="3857628"/>
            <a:ext cx="3516784" cy="2928934"/>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3114684"/>
          </a:xfrm>
        </p:spPr>
        <p:txBody>
          <a:bodyPr>
            <a:normAutofit/>
          </a:bodyPr>
          <a:lstStyle/>
          <a:p>
            <a:pPr algn="ctr">
              <a:buNone/>
            </a:pPr>
            <a:r>
              <a:rPr lang="en-US" sz="2200" b="1" dirty="0" smtClean="0">
                <a:latin typeface="Times New Roman" pitchFamily="18" charset="0"/>
                <a:cs typeface="Times New Roman" pitchFamily="18" charset="0"/>
              </a:rPr>
              <a:t>FINISHING OPERATIONS </a:t>
            </a:r>
          </a:p>
          <a:p>
            <a:pPr algn="just"/>
            <a:r>
              <a:rPr lang="en-US" sz="2200" dirty="0" smtClean="0">
                <a:latin typeface="Times New Roman" pitchFamily="18" charset="0"/>
                <a:cs typeface="Times New Roman" pitchFamily="18" charset="0"/>
              </a:rPr>
              <a:t>The heat generated during grinding tends to disrupt and distort the surface of the work, this result in poor surface finish. </a:t>
            </a:r>
          </a:p>
          <a:p>
            <a:pPr algn="just"/>
            <a:r>
              <a:rPr lang="en-US" sz="2200" dirty="0" smtClean="0">
                <a:latin typeface="Times New Roman" pitchFamily="18" charset="0"/>
                <a:cs typeface="Times New Roman" pitchFamily="18" charset="0"/>
              </a:rPr>
              <a:t>After machining some components undergo a further process in order to improve the accuracy and surface finish. </a:t>
            </a:r>
          </a:p>
          <a:p>
            <a:pPr algn="just"/>
            <a:r>
              <a:rPr lang="en-US" sz="2200" dirty="0" smtClean="0">
                <a:latin typeface="Times New Roman" pitchFamily="18" charset="0"/>
                <a:cs typeface="Times New Roman" pitchFamily="18" charset="0"/>
              </a:rPr>
              <a:t>Such operations include lapping, honing, super finishing, polishing, burnishing, etc. </a:t>
            </a:r>
          </a:p>
          <a:p>
            <a:endParaRPr lang="en-US" dirty="0"/>
          </a:p>
        </p:txBody>
      </p:sp>
      <p:sp>
        <p:nvSpPr>
          <p:cNvPr id="4" name="Slide Number Placeholder 3"/>
          <p:cNvSpPr>
            <a:spLocks noGrp="1"/>
          </p:cNvSpPr>
          <p:nvPr>
            <p:ph type="sldNum" sz="quarter" idx="12"/>
          </p:nvPr>
        </p:nvSpPr>
        <p:spPr/>
        <p:txBody>
          <a:bodyPr/>
          <a:lstStyle/>
          <a:p>
            <a:fld id="{4D374F10-0401-4224-9624-EB074E096B44}" type="slidenum">
              <a:rPr lang="en-US" smtClean="0"/>
              <a:pPr/>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214290"/>
            <a:ext cx="8572560" cy="6357982"/>
          </a:xfrm>
        </p:spPr>
        <p:txBody>
          <a:bodyPr>
            <a:normAutofit fontScale="70000" lnSpcReduction="20000"/>
          </a:bodyPr>
          <a:lstStyle/>
          <a:p>
            <a:pPr algn="just">
              <a:buNone/>
            </a:pPr>
            <a:r>
              <a:rPr lang="en-US" sz="3500" dirty="0" smtClean="0">
                <a:latin typeface="Times New Roman" pitchFamily="18" charset="0"/>
                <a:cs typeface="Times New Roman" pitchFamily="18" charset="0"/>
              </a:rPr>
              <a:t>LAPPING </a:t>
            </a:r>
          </a:p>
          <a:p>
            <a:pPr algn="just"/>
            <a:r>
              <a:rPr lang="en-US" sz="3500" dirty="0" smtClean="0">
                <a:latin typeface="Times New Roman" pitchFamily="18" charset="0"/>
                <a:cs typeface="Times New Roman" pitchFamily="18" charset="0"/>
              </a:rPr>
              <a:t>Lapping is an abrasive process used to improve the surface finish and to obtain small changes in dimensions or to obtain almost perfect contact </a:t>
            </a:r>
          </a:p>
          <a:p>
            <a:pPr algn="just"/>
            <a:r>
              <a:rPr lang="en-US" sz="3500" dirty="0" smtClean="0">
                <a:latin typeface="Times New Roman" pitchFamily="18" charset="0"/>
                <a:cs typeface="Times New Roman" pitchFamily="18" charset="0"/>
              </a:rPr>
              <a:t>between two mating surfaces. </a:t>
            </a:r>
          </a:p>
          <a:p>
            <a:pPr algn="just"/>
            <a:r>
              <a:rPr lang="en-US" sz="3500" dirty="0" smtClean="0">
                <a:latin typeface="Times New Roman" pitchFamily="18" charset="0"/>
                <a:cs typeface="Times New Roman" pitchFamily="18" charset="0"/>
              </a:rPr>
              <a:t>Lapping consist of rubbing work surface with lap surface which is charged with fine abrasive particles. </a:t>
            </a:r>
          </a:p>
          <a:p>
            <a:pPr algn="just"/>
            <a:r>
              <a:rPr lang="en-US" sz="3500" dirty="0" smtClean="0">
                <a:latin typeface="Times New Roman" pitchFamily="18" charset="0"/>
                <a:cs typeface="Times New Roman" pitchFamily="18" charset="0"/>
              </a:rPr>
              <a:t>The lap material is generally softer than the work material. </a:t>
            </a:r>
          </a:p>
          <a:p>
            <a:pPr algn="just"/>
            <a:r>
              <a:rPr lang="en-US" sz="3500" dirty="0" smtClean="0">
                <a:latin typeface="Times New Roman" pitchFamily="18" charset="0"/>
                <a:cs typeface="Times New Roman" pitchFamily="18" charset="0"/>
              </a:rPr>
              <a:t>Graphite in the cast iron serves to hold the abrasive particles and provides lubricating effect. </a:t>
            </a:r>
          </a:p>
          <a:p>
            <a:pPr algn="just"/>
            <a:r>
              <a:rPr lang="en-US" sz="3500" dirty="0" smtClean="0">
                <a:latin typeface="Times New Roman" pitchFamily="18" charset="0"/>
                <a:cs typeface="Times New Roman" pitchFamily="18" charset="0"/>
              </a:rPr>
              <a:t>Narrow grooves are cut on lap surface and are then charged by spreading and pressing the abrasive particles over the surface of the lap. </a:t>
            </a:r>
          </a:p>
          <a:p>
            <a:pPr algn="just"/>
            <a:r>
              <a:rPr lang="en-US" sz="3500" dirty="0" smtClean="0">
                <a:latin typeface="Times New Roman" pitchFamily="18" charset="0"/>
                <a:cs typeface="Times New Roman" pitchFamily="18" charset="0"/>
              </a:rPr>
              <a:t>Silicon carbide is used for rapid stock removal &amp; </a:t>
            </a:r>
            <a:r>
              <a:rPr lang="en-US" sz="3500" dirty="0" err="1" smtClean="0">
                <a:latin typeface="Times New Roman" pitchFamily="18" charset="0"/>
                <a:cs typeface="Times New Roman" pitchFamily="18" charset="0"/>
              </a:rPr>
              <a:t>aluminium</a:t>
            </a:r>
            <a:r>
              <a:rPr lang="en-US" sz="3500" dirty="0" smtClean="0">
                <a:latin typeface="Times New Roman" pitchFamily="18" charset="0"/>
                <a:cs typeface="Times New Roman" pitchFamily="18" charset="0"/>
              </a:rPr>
              <a:t> oxide for improve surface finish. </a:t>
            </a:r>
          </a:p>
          <a:p>
            <a:pPr algn="just"/>
            <a:r>
              <a:rPr lang="en-US" sz="3500" dirty="0" smtClean="0">
                <a:latin typeface="Times New Roman" pitchFamily="18" charset="0"/>
                <a:cs typeface="Times New Roman" pitchFamily="18" charset="0"/>
              </a:rPr>
              <a:t>The work piece is then held against the lap &amp; moved in unrepeated path. </a:t>
            </a:r>
          </a:p>
          <a:p>
            <a:pPr algn="just"/>
            <a:r>
              <a:rPr lang="en-US" sz="3500" dirty="0" smtClean="0">
                <a:latin typeface="Times New Roman" pitchFamily="18" charset="0"/>
                <a:cs typeface="Times New Roman" pitchFamily="18" charset="0"/>
              </a:rPr>
              <a:t>Suitable cutting fluid such as oil is applied for lapping. </a:t>
            </a:r>
          </a:p>
        </p:txBody>
      </p:sp>
      <p:sp>
        <p:nvSpPr>
          <p:cNvPr id="4" name="Slide Number Placeholder 3"/>
          <p:cNvSpPr>
            <a:spLocks noGrp="1"/>
          </p:cNvSpPr>
          <p:nvPr>
            <p:ph type="sldNum" sz="quarter" idx="12"/>
          </p:nvPr>
        </p:nvSpPr>
        <p:spPr/>
        <p:txBody>
          <a:bodyPr/>
          <a:lstStyle/>
          <a:p>
            <a:fld id="{4D374F10-0401-4224-9624-EB074E096B44}" type="slidenum">
              <a:rPr lang="en-US" smtClean="0"/>
              <a:pPr/>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214290"/>
            <a:ext cx="8501122" cy="6429420"/>
          </a:xfrm>
        </p:spPr>
        <p:txBody>
          <a:bodyPr>
            <a:normAutofit/>
          </a:bodyPr>
          <a:lstStyle/>
          <a:p>
            <a:pPr algn="just"/>
            <a:r>
              <a:rPr lang="en-US" sz="2200" dirty="0" smtClean="0">
                <a:latin typeface="Times New Roman" pitchFamily="18" charset="0"/>
                <a:cs typeface="Times New Roman" pitchFamily="18" charset="0"/>
              </a:rPr>
              <a:t>The lapping pressure is generally kept in the range of 0.01 – 0.2/mm2. </a:t>
            </a:r>
          </a:p>
          <a:p>
            <a:pPr algn="just"/>
            <a:r>
              <a:rPr lang="en-US" sz="2200" dirty="0" smtClean="0">
                <a:latin typeface="Times New Roman" pitchFamily="18" charset="0"/>
                <a:cs typeface="Times New Roman" pitchFamily="18" charset="0"/>
              </a:rPr>
              <a:t>The lapping can be done by hand or by machine. </a:t>
            </a:r>
          </a:p>
          <a:p>
            <a:pPr algn="just"/>
            <a:r>
              <a:rPr lang="en-US" sz="2200" dirty="0" smtClean="0">
                <a:latin typeface="Times New Roman" pitchFamily="18" charset="0"/>
                <a:cs typeface="Times New Roman" pitchFamily="18" charset="0"/>
              </a:rPr>
              <a:t>In hand lapping either lap or the work is held by hand and a relative motion is produced between them. </a:t>
            </a:r>
          </a:p>
          <a:p>
            <a:pPr algn="just"/>
            <a:r>
              <a:rPr lang="en-US" sz="2200" dirty="0" smtClean="0">
                <a:latin typeface="Times New Roman" pitchFamily="18" charset="0"/>
                <a:cs typeface="Times New Roman" pitchFamily="18" charset="0"/>
              </a:rPr>
              <a:t>Machine lapping is performed for obtaining highly finished surfaces in mass production. </a:t>
            </a:r>
          </a:p>
          <a:p>
            <a:endParaRPr lang="en-US" dirty="0"/>
          </a:p>
        </p:txBody>
      </p:sp>
      <p:sp>
        <p:nvSpPr>
          <p:cNvPr id="4" name="Slide Number Placeholder 3"/>
          <p:cNvSpPr>
            <a:spLocks noGrp="1"/>
          </p:cNvSpPr>
          <p:nvPr>
            <p:ph type="sldNum" sz="quarter" idx="12"/>
          </p:nvPr>
        </p:nvSpPr>
        <p:spPr/>
        <p:txBody>
          <a:bodyPr/>
          <a:lstStyle/>
          <a:p>
            <a:fld id="{4D374F10-0401-4224-9624-EB074E096B44}" type="slidenum">
              <a:rPr lang="en-US" smtClean="0"/>
              <a:pPr/>
              <a:t>56</a:t>
            </a:fld>
            <a:endParaRPr lang="en-US"/>
          </a:p>
        </p:txBody>
      </p:sp>
      <p:pic>
        <p:nvPicPr>
          <p:cNvPr id="2050" name="Picture 2"/>
          <p:cNvPicPr>
            <a:picLocks noChangeAspect="1" noChangeArrowheads="1"/>
          </p:cNvPicPr>
          <p:nvPr/>
        </p:nvPicPr>
        <p:blipFill>
          <a:blip r:embed="rId2"/>
          <a:srcRect/>
          <a:stretch>
            <a:fillRect/>
          </a:stretch>
        </p:blipFill>
        <p:spPr bwMode="auto">
          <a:xfrm>
            <a:off x="2214546" y="3143248"/>
            <a:ext cx="4362450" cy="2362200"/>
          </a:xfrm>
          <a:prstGeom prst="rect">
            <a:avLst/>
          </a:prstGeom>
          <a:noFill/>
          <a:ln w="9525">
            <a:noFill/>
            <a:miter lim="800000"/>
            <a:headEnd/>
            <a:tailEnd/>
          </a:ln>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214290"/>
            <a:ext cx="8429684" cy="6357982"/>
          </a:xfrm>
        </p:spPr>
        <p:txBody>
          <a:bodyPr>
            <a:normAutofit/>
          </a:bodyPr>
          <a:lstStyle/>
          <a:p>
            <a:pPr>
              <a:buNone/>
            </a:pPr>
            <a:r>
              <a:rPr lang="en-US" sz="2200" dirty="0" smtClean="0">
                <a:latin typeface="Times New Roman" pitchFamily="18" charset="0"/>
                <a:cs typeface="Times New Roman" pitchFamily="18" charset="0"/>
              </a:rPr>
              <a:t>Advantages </a:t>
            </a:r>
          </a:p>
          <a:p>
            <a:r>
              <a:rPr lang="en-US" sz="2200" dirty="0" smtClean="0">
                <a:latin typeface="Times New Roman" pitchFamily="18" charset="0"/>
                <a:cs typeface="Times New Roman" pitchFamily="18" charset="0"/>
              </a:rPr>
              <a:t>Less heat generated, and there is no distortion of work surface </a:t>
            </a:r>
          </a:p>
          <a:p>
            <a:r>
              <a:rPr lang="en-US" sz="2200" dirty="0" smtClean="0">
                <a:latin typeface="Times New Roman" pitchFamily="18" charset="0"/>
                <a:cs typeface="Times New Roman" pitchFamily="18" charset="0"/>
              </a:rPr>
              <a:t>Due to low temperature, there are no metallurgical changes in the work materials. </a:t>
            </a:r>
          </a:p>
          <a:p>
            <a:r>
              <a:rPr lang="en-US" sz="2200" dirty="0" smtClean="0">
                <a:latin typeface="Times New Roman" pitchFamily="18" charset="0"/>
                <a:cs typeface="Times New Roman" pitchFamily="18" charset="0"/>
              </a:rPr>
              <a:t>The process is suitable for ant materials, and can be used for finishing flat or cylindrical surfaces and holes. </a:t>
            </a:r>
          </a:p>
          <a:p>
            <a:pPr>
              <a:buNone/>
            </a:pPr>
            <a:r>
              <a:rPr lang="en-US" sz="2200" dirty="0" smtClean="0">
                <a:latin typeface="Times New Roman" pitchFamily="18" charset="0"/>
                <a:cs typeface="Times New Roman" pitchFamily="18" charset="0"/>
              </a:rPr>
              <a:t>Disadvantages </a:t>
            </a:r>
          </a:p>
          <a:p>
            <a:r>
              <a:rPr lang="en-US" sz="2200" dirty="0" smtClean="0">
                <a:latin typeface="Times New Roman" pitchFamily="18" charset="0"/>
                <a:cs typeface="Times New Roman" pitchFamily="18" charset="0"/>
              </a:rPr>
              <a:t>The process is very slow and metal removal rate is low. </a:t>
            </a:r>
          </a:p>
          <a:p>
            <a:r>
              <a:rPr lang="en-US" sz="2200" dirty="0" smtClean="0">
                <a:latin typeface="Times New Roman" pitchFamily="18" charset="0"/>
                <a:cs typeface="Times New Roman" pitchFamily="18" charset="0"/>
              </a:rPr>
              <a:t>Hand lapping requires high operation skill. </a:t>
            </a:r>
          </a:p>
          <a:p>
            <a:r>
              <a:rPr lang="en-US" sz="2200" dirty="0" smtClean="0">
                <a:latin typeface="Times New Roman" pitchFamily="18" charset="0"/>
                <a:cs typeface="Times New Roman" pitchFamily="18" charset="0"/>
              </a:rPr>
              <a:t>Process cost is high. </a:t>
            </a:r>
          </a:p>
          <a:p>
            <a:pPr>
              <a:buNone/>
            </a:pPr>
            <a:r>
              <a:rPr lang="en-US" sz="2200" dirty="0" smtClean="0">
                <a:latin typeface="Times New Roman" pitchFamily="18" charset="0"/>
                <a:cs typeface="Times New Roman" pitchFamily="18" charset="0"/>
              </a:rPr>
              <a:t>Applications: </a:t>
            </a:r>
          </a:p>
          <a:p>
            <a:r>
              <a:rPr lang="en-US" sz="2200" dirty="0" smtClean="0">
                <a:latin typeface="Times New Roman" pitchFamily="18" charset="0"/>
                <a:cs typeface="Times New Roman" pitchFamily="18" charset="0"/>
              </a:rPr>
              <a:t>Lapping is employed for getting precise surface finish on precision tool, gauges, bearings, valves, valves seats. This process can applied for both metal &amp; non-metals</a:t>
            </a:r>
            <a:r>
              <a:rPr lang="en-US" sz="2200" b="1" dirty="0" smtClean="0">
                <a:latin typeface="Times New Roman" pitchFamily="18" charset="0"/>
                <a:cs typeface="Times New Roman" pitchFamily="18" charset="0"/>
              </a:rPr>
              <a:t>. </a:t>
            </a:r>
            <a:endParaRPr lang="en-US" sz="2200" dirty="0" smtClean="0">
              <a:latin typeface="Times New Roman" pitchFamily="18" charset="0"/>
              <a:cs typeface="Times New Roman" pitchFamily="18" charset="0"/>
            </a:endParaRPr>
          </a:p>
          <a:p>
            <a:pPr>
              <a:buNone/>
            </a:pPr>
            <a:endParaRPr lang="en-US" dirty="0"/>
          </a:p>
        </p:txBody>
      </p:sp>
      <p:sp>
        <p:nvSpPr>
          <p:cNvPr id="4" name="Slide Number Placeholder 3"/>
          <p:cNvSpPr>
            <a:spLocks noGrp="1"/>
          </p:cNvSpPr>
          <p:nvPr>
            <p:ph type="sldNum" sz="quarter" idx="12"/>
          </p:nvPr>
        </p:nvSpPr>
        <p:spPr/>
        <p:txBody>
          <a:bodyPr/>
          <a:lstStyle/>
          <a:p>
            <a:fld id="{4D374F10-0401-4224-9624-EB074E096B44}" type="slidenum">
              <a:rPr lang="en-US" smtClean="0"/>
              <a:pPr/>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285728"/>
            <a:ext cx="8429684" cy="6357982"/>
          </a:xfrm>
        </p:spPr>
        <p:txBody>
          <a:bodyPr>
            <a:normAutofit fontScale="92500" lnSpcReduction="20000"/>
          </a:bodyPr>
          <a:lstStyle/>
          <a:p>
            <a:pPr>
              <a:buNone/>
            </a:pPr>
            <a:r>
              <a:rPr lang="en-US" sz="2800" dirty="0" smtClean="0">
                <a:latin typeface="Times New Roman" pitchFamily="18" charset="0"/>
                <a:cs typeface="Times New Roman" pitchFamily="18" charset="0"/>
              </a:rPr>
              <a:t>HONING: </a:t>
            </a:r>
          </a:p>
          <a:p>
            <a:pPr algn="just"/>
            <a:r>
              <a:rPr lang="en-US" sz="2800" dirty="0" smtClean="0">
                <a:latin typeface="Times New Roman" pitchFamily="18" charset="0"/>
                <a:cs typeface="Times New Roman" pitchFamily="18" charset="0"/>
              </a:rPr>
              <a:t>Honing is a finishing process in which honing tool rotates and reciprocates in the stationary hole being honed. </a:t>
            </a:r>
          </a:p>
          <a:p>
            <a:pPr algn="just"/>
            <a:r>
              <a:rPr lang="en-US" sz="2800" dirty="0" smtClean="0">
                <a:latin typeface="Times New Roman" pitchFamily="18" charset="0"/>
                <a:cs typeface="Times New Roman" pitchFamily="18" charset="0"/>
              </a:rPr>
              <a:t>It is used on holes and bores, which require a fine surface finish and a high degree of accuracy. </a:t>
            </a:r>
          </a:p>
          <a:p>
            <a:pPr algn="just"/>
            <a:r>
              <a:rPr lang="en-US" sz="2800" dirty="0" smtClean="0">
                <a:latin typeface="Times New Roman" pitchFamily="18" charset="0"/>
                <a:cs typeface="Times New Roman" pitchFamily="18" charset="0"/>
              </a:rPr>
              <a:t>For honing, the hone is inserted into the hole and adjusted to bear against the walls. </a:t>
            </a:r>
          </a:p>
          <a:p>
            <a:pPr algn="just"/>
            <a:r>
              <a:rPr lang="en-US" sz="2800" dirty="0" smtClean="0">
                <a:latin typeface="Times New Roman" pitchFamily="18" charset="0"/>
                <a:cs typeface="Times New Roman" pitchFamily="18" charset="0"/>
              </a:rPr>
              <a:t>Work is kept stationary, and the metal is removed as a result of rotary as well as reciprocating motion of the hone in the hole. </a:t>
            </a:r>
          </a:p>
          <a:p>
            <a:pPr algn="just"/>
            <a:r>
              <a:rPr lang="en-US" sz="2800" dirty="0" smtClean="0">
                <a:latin typeface="Times New Roman" pitchFamily="18" charset="0"/>
                <a:cs typeface="Times New Roman" pitchFamily="18" charset="0"/>
              </a:rPr>
              <a:t>A cutting fluid is used to remove chips and to keep temperature low. </a:t>
            </a:r>
          </a:p>
          <a:p>
            <a:pPr algn="just"/>
            <a:r>
              <a:rPr lang="en-US" sz="2800" dirty="0" smtClean="0">
                <a:latin typeface="Times New Roman" pitchFamily="18" charset="0"/>
                <a:cs typeface="Times New Roman" pitchFamily="18" charset="0"/>
              </a:rPr>
              <a:t>It is important to see that the hone should not leave the work surface and stroke length must cover the entire work length. </a:t>
            </a:r>
          </a:p>
          <a:p>
            <a:pPr algn="just"/>
            <a:r>
              <a:rPr lang="en-US" sz="2800" dirty="0" smtClean="0">
                <a:latin typeface="Times New Roman" pitchFamily="18" charset="0"/>
                <a:cs typeface="Times New Roman" pitchFamily="18" charset="0"/>
              </a:rPr>
              <a:t>Honing can be performed on lathe or drilling machine, but better results can be obtained on honing machines for production work. </a:t>
            </a:r>
          </a:p>
          <a:p>
            <a:pPr>
              <a:buNone/>
            </a:pPr>
            <a:endParaRPr lang="en-US" dirty="0"/>
          </a:p>
        </p:txBody>
      </p:sp>
      <p:sp>
        <p:nvSpPr>
          <p:cNvPr id="4" name="Slide Number Placeholder 3"/>
          <p:cNvSpPr>
            <a:spLocks noGrp="1"/>
          </p:cNvSpPr>
          <p:nvPr>
            <p:ph type="sldNum" sz="quarter" idx="12"/>
          </p:nvPr>
        </p:nvSpPr>
        <p:spPr/>
        <p:txBody>
          <a:bodyPr/>
          <a:lstStyle/>
          <a:p>
            <a:fld id="{4D374F10-0401-4224-9624-EB074E096B44}" type="slidenum">
              <a:rPr lang="en-US" smtClean="0"/>
              <a:pPr/>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285728"/>
            <a:ext cx="4643470" cy="6286544"/>
          </a:xfrm>
        </p:spPr>
        <p:txBody>
          <a:bodyPr>
            <a:normAutofit lnSpcReduction="10000"/>
          </a:bodyPr>
          <a:lstStyle/>
          <a:p>
            <a:pPr algn="just">
              <a:buNone/>
            </a:pPr>
            <a:r>
              <a:rPr lang="en-US" sz="2200" dirty="0" smtClean="0">
                <a:latin typeface="Times New Roman" pitchFamily="18" charset="0"/>
                <a:cs typeface="Times New Roman" pitchFamily="18" charset="0"/>
              </a:rPr>
              <a:t>Advantages </a:t>
            </a:r>
          </a:p>
          <a:p>
            <a:pPr algn="just"/>
            <a:r>
              <a:rPr lang="en-US" sz="2200" dirty="0" smtClean="0">
                <a:latin typeface="Times New Roman" pitchFamily="18" charset="0"/>
                <a:cs typeface="Times New Roman" pitchFamily="18" charset="0"/>
              </a:rPr>
              <a:t>Hole of any diameter or length can be finished. </a:t>
            </a:r>
          </a:p>
          <a:p>
            <a:pPr algn="just"/>
            <a:r>
              <a:rPr lang="en-US" sz="2200" dirty="0" smtClean="0">
                <a:latin typeface="Times New Roman" pitchFamily="18" charset="0"/>
                <a:cs typeface="Times New Roman" pitchFamily="18" charset="0"/>
              </a:rPr>
              <a:t>Relatively high productivity &amp; low cost with other finishing methods. </a:t>
            </a:r>
          </a:p>
          <a:p>
            <a:pPr algn="just"/>
            <a:r>
              <a:rPr lang="en-US" sz="2200" dirty="0" smtClean="0">
                <a:latin typeface="Times New Roman" pitchFamily="18" charset="0"/>
                <a:cs typeface="Times New Roman" pitchFamily="18" charset="0"/>
              </a:rPr>
              <a:t>Remove considerable amount of material &amp; it is faster. </a:t>
            </a:r>
          </a:p>
          <a:p>
            <a:pPr algn="just">
              <a:buNone/>
            </a:pPr>
            <a:r>
              <a:rPr lang="en-US" sz="2200" dirty="0" smtClean="0">
                <a:latin typeface="Times New Roman" pitchFamily="18" charset="0"/>
                <a:cs typeface="Times New Roman" pitchFamily="18" charset="0"/>
              </a:rPr>
              <a:t>Disadvantages </a:t>
            </a:r>
          </a:p>
          <a:p>
            <a:pPr algn="just"/>
            <a:r>
              <a:rPr lang="en-US" sz="2200" dirty="0" smtClean="0">
                <a:latin typeface="Times New Roman" pitchFamily="18" charset="0"/>
                <a:cs typeface="Times New Roman" pitchFamily="18" charset="0"/>
              </a:rPr>
              <a:t>Honing cannot correct diametric or axial run-out of the bore </a:t>
            </a:r>
          </a:p>
          <a:p>
            <a:pPr algn="just"/>
            <a:r>
              <a:rPr lang="en-US" sz="2200" dirty="0" smtClean="0">
                <a:latin typeface="Times New Roman" pitchFamily="18" charset="0"/>
                <a:cs typeface="Times New Roman" pitchFamily="18" charset="0"/>
              </a:rPr>
              <a:t>It is not suitable for tough non-ferrous metals due to glazing. </a:t>
            </a:r>
          </a:p>
          <a:p>
            <a:pPr algn="just">
              <a:buNone/>
            </a:pPr>
            <a:r>
              <a:rPr lang="en-US" sz="2200" dirty="0" smtClean="0">
                <a:latin typeface="Times New Roman" pitchFamily="18" charset="0"/>
                <a:cs typeface="Times New Roman" pitchFamily="18" charset="0"/>
              </a:rPr>
              <a:t>Applications </a:t>
            </a:r>
          </a:p>
          <a:p>
            <a:pPr algn="just"/>
            <a:r>
              <a:rPr lang="en-US" sz="2200" dirty="0" smtClean="0">
                <a:latin typeface="Times New Roman" pitchFamily="18" charset="0"/>
                <a:cs typeface="Times New Roman" pitchFamily="18" charset="0"/>
              </a:rPr>
              <a:t>It is employed for gun barrels, bearing holes, valve guides, bushes, diesel engine cylinder bore, hub holes in gears &amp; gear box, etc. </a:t>
            </a:r>
          </a:p>
        </p:txBody>
      </p:sp>
      <p:sp>
        <p:nvSpPr>
          <p:cNvPr id="4" name="Slide Number Placeholder 3"/>
          <p:cNvSpPr>
            <a:spLocks noGrp="1"/>
          </p:cNvSpPr>
          <p:nvPr>
            <p:ph type="sldNum" sz="quarter" idx="12"/>
          </p:nvPr>
        </p:nvSpPr>
        <p:spPr/>
        <p:txBody>
          <a:bodyPr/>
          <a:lstStyle/>
          <a:p>
            <a:fld id="{4D374F10-0401-4224-9624-EB074E096B44}" type="slidenum">
              <a:rPr lang="en-US" smtClean="0"/>
              <a:pPr/>
              <a:t>59</a:t>
            </a:fld>
            <a:endParaRPr lang="en-US"/>
          </a:p>
        </p:txBody>
      </p:sp>
      <p:pic>
        <p:nvPicPr>
          <p:cNvPr id="3074" name="Picture 2"/>
          <p:cNvPicPr>
            <a:picLocks noChangeAspect="1" noChangeArrowheads="1"/>
          </p:cNvPicPr>
          <p:nvPr/>
        </p:nvPicPr>
        <p:blipFill>
          <a:blip r:embed="rId2"/>
          <a:srcRect l="3466"/>
          <a:stretch>
            <a:fillRect/>
          </a:stretch>
        </p:blipFill>
        <p:spPr bwMode="auto">
          <a:xfrm>
            <a:off x="5093434" y="1471622"/>
            <a:ext cx="3979160" cy="3600452"/>
          </a:xfrm>
          <a:prstGeom prst="rect">
            <a:avLst/>
          </a:prstGeom>
          <a:noFill/>
          <a:ln w="9525">
            <a:noFill/>
            <a:miter lim="800000"/>
            <a:headEnd/>
            <a:tailEnd/>
          </a:ln>
          <a:effec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285728"/>
            <a:ext cx="8643998" cy="4143404"/>
          </a:xfrm>
        </p:spPr>
        <p:txBody>
          <a:bodyPr>
            <a:normAutofit/>
          </a:bodyPr>
          <a:lstStyle/>
          <a:p>
            <a:pPr>
              <a:buNone/>
            </a:pPr>
            <a:r>
              <a:rPr lang="en-US" sz="2200" dirty="0" smtClean="0">
                <a:latin typeface="Times New Roman" pitchFamily="18" charset="0"/>
                <a:cs typeface="Times New Roman" pitchFamily="18" charset="0"/>
              </a:rPr>
              <a:t>SUPER FINISHING </a:t>
            </a:r>
          </a:p>
          <a:p>
            <a:r>
              <a:rPr lang="en-US" sz="2200" dirty="0" smtClean="0">
                <a:latin typeface="Times New Roman" pitchFamily="18" charset="0"/>
                <a:cs typeface="Times New Roman" pitchFamily="18" charset="0"/>
              </a:rPr>
              <a:t>Super finishing is a special technique for producing fine quality surface finish by using abrasive stick. </a:t>
            </a:r>
          </a:p>
          <a:p>
            <a:r>
              <a:rPr lang="en-US" sz="2200" dirty="0" smtClean="0">
                <a:latin typeface="Times New Roman" pitchFamily="18" charset="0"/>
                <a:cs typeface="Times New Roman" pitchFamily="18" charset="0"/>
              </a:rPr>
              <a:t>In super finishing, tool reciprocates with short strokes across the surface of the rotating work piece. </a:t>
            </a:r>
          </a:p>
          <a:p>
            <a:r>
              <a:rPr lang="en-US" sz="2200" dirty="0" smtClean="0">
                <a:latin typeface="Times New Roman" pitchFamily="18" charset="0"/>
                <a:cs typeface="Times New Roman" pitchFamily="18" charset="0"/>
              </a:rPr>
              <a:t>Controlled amounts of pressure are applied to the abrasive stick to affect the surface cutting. </a:t>
            </a:r>
          </a:p>
          <a:p>
            <a:r>
              <a:rPr lang="en-US" sz="2200" dirty="0" smtClean="0">
                <a:latin typeface="Times New Roman" pitchFamily="18" charset="0"/>
                <a:cs typeface="Times New Roman" pitchFamily="18" charset="0"/>
              </a:rPr>
              <a:t>Super finishing is applied for external or internal surfaces which have been previously ground or precision turned. </a:t>
            </a:r>
          </a:p>
          <a:p>
            <a:r>
              <a:rPr lang="en-US" sz="2200" dirty="0" smtClean="0">
                <a:latin typeface="Times New Roman" pitchFamily="18" charset="0"/>
                <a:cs typeface="Times New Roman" pitchFamily="18" charset="0"/>
              </a:rPr>
              <a:t>Parts made from cast iron, steel or non-ferrous metals can be successfully super finished. </a:t>
            </a:r>
          </a:p>
          <a:p>
            <a:pPr>
              <a:buNone/>
            </a:pPr>
            <a:endParaRPr lang="en-US" dirty="0"/>
          </a:p>
        </p:txBody>
      </p:sp>
      <p:sp>
        <p:nvSpPr>
          <p:cNvPr id="4" name="Slide Number Placeholder 3"/>
          <p:cNvSpPr>
            <a:spLocks noGrp="1"/>
          </p:cNvSpPr>
          <p:nvPr>
            <p:ph type="sldNum" sz="quarter" idx="12"/>
          </p:nvPr>
        </p:nvSpPr>
        <p:spPr/>
        <p:txBody>
          <a:bodyPr/>
          <a:lstStyle/>
          <a:p>
            <a:fld id="{4D374F10-0401-4224-9624-EB074E096B44}" type="slidenum">
              <a:rPr lang="en-US" smtClean="0"/>
              <a:pPr/>
              <a:t>60</a:t>
            </a:fld>
            <a:endParaRPr lang="en-US"/>
          </a:p>
        </p:txBody>
      </p:sp>
      <p:pic>
        <p:nvPicPr>
          <p:cNvPr id="4098" name="Picture 2"/>
          <p:cNvPicPr>
            <a:picLocks noChangeAspect="1" noChangeArrowheads="1"/>
          </p:cNvPicPr>
          <p:nvPr/>
        </p:nvPicPr>
        <p:blipFill>
          <a:blip r:embed="rId2"/>
          <a:srcRect l="6410" t="6097" b="4268"/>
          <a:stretch>
            <a:fillRect/>
          </a:stretch>
        </p:blipFill>
        <p:spPr bwMode="auto">
          <a:xfrm>
            <a:off x="2786050" y="4500570"/>
            <a:ext cx="3143272" cy="2109875"/>
          </a:xfrm>
          <a:prstGeom prst="rect">
            <a:avLst/>
          </a:prstGeom>
          <a:noFill/>
          <a:ln w="9525">
            <a:noFill/>
            <a:miter lim="800000"/>
            <a:headEnd/>
            <a:tailEnd/>
          </a:ln>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1472" y="1071546"/>
            <a:ext cx="8229600" cy="4525963"/>
          </a:xfrm>
        </p:spPr>
        <p:txBody>
          <a:bodyPr>
            <a:normAutofit/>
          </a:bodyPr>
          <a:lstStyle/>
          <a:p>
            <a:pPr>
              <a:buNone/>
            </a:pPr>
            <a:r>
              <a:rPr lang="en-US" sz="2200" dirty="0" smtClean="0">
                <a:latin typeface="Times New Roman" pitchFamily="18" charset="0"/>
                <a:cs typeface="Times New Roman" pitchFamily="18" charset="0"/>
              </a:rPr>
              <a:t>Advantages </a:t>
            </a:r>
          </a:p>
          <a:p>
            <a:r>
              <a:rPr lang="en-US" sz="2200" dirty="0" smtClean="0">
                <a:latin typeface="Times New Roman" pitchFamily="18" charset="0"/>
                <a:cs typeface="Times New Roman" pitchFamily="18" charset="0"/>
              </a:rPr>
              <a:t>Due to large area of contact minute imperfections left by grinding or other machining process are completely eliminated. </a:t>
            </a:r>
          </a:p>
          <a:p>
            <a:r>
              <a:rPr lang="en-US" sz="2200" dirty="0" smtClean="0">
                <a:latin typeface="Times New Roman" pitchFamily="18" charset="0"/>
                <a:cs typeface="Times New Roman" pitchFamily="18" charset="0"/>
              </a:rPr>
              <a:t>Low working temperature due to low heat generation. </a:t>
            </a:r>
          </a:p>
          <a:p>
            <a:endParaRPr lang="en-US" sz="2200" dirty="0" smtClean="0">
              <a:latin typeface="Times New Roman" pitchFamily="18" charset="0"/>
              <a:cs typeface="Times New Roman" pitchFamily="18" charset="0"/>
            </a:endParaRPr>
          </a:p>
          <a:p>
            <a:pPr>
              <a:buNone/>
            </a:pPr>
            <a:r>
              <a:rPr lang="en-US" sz="2200" dirty="0" smtClean="0">
                <a:latin typeface="Times New Roman" pitchFamily="18" charset="0"/>
                <a:cs typeface="Times New Roman" pitchFamily="18" charset="0"/>
              </a:rPr>
              <a:t>Disadvantages </a:t>
            </a:r>
          </a:p>
          <a:p>
            <a:r>
              <a:rPr lang="en-US" sz="2200" dirty="0" smtClean="0">
                <a:latin typeface="Times New Roman" pitchFamily="18" charset="0"/>
                <a:cs typeface="Times New Roman" pitchFamily="18" charset="0"/>
              </a:rPr>
              <a:t>Macro-geometrical errors can’t be corrected by super finishing. </a:t>
            </a:r>
          </a:p>
          <a:p>
            <a:endParaRPr lang="en-US" dirty="0"/>
          </a:p>
        </p:txBody>
      </p:sp>
      <p:sp>
        <p:nvSpPr>
          <p:cNvPr id="4" name="Slide Number Placeholder 3"/>
          <p:cNvSpPr>
            <a:spLocks noGrp="1"/>
          </p:cNvSpPr>
          <p:nvPr>
            <p:ph type="sldNum" sz="quarter" idx="12"/>
          </p:nvPr>
        </p:nvSpPr>
        <p:spPr/>
        <p:txBody>
          <a:bodyPr/>
          <a:lstStyle/>
          <a:p>
            <a:fld id="{4D374F10-0401-4224-9624-EB074E096B44}" type="slidenum">
              <a:rPr lang="en-US" smtClean="0"/>
              <a:pPr/>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JIGS AND FIXTURES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2028828"/>
            <a:ext cx="8229600" cy="3400436"/>
          </a:xfrm>
        </p:spPr>
        <p:txBody>
          <a:bodyPr>
            <a:normAutofit/>
          </a:bodyPr>
          <a:lstStyle/>
          <a:p>
            <a:pPr marL="0" indent="0">
              <a:buNone/>
            </a:pPr>
            <a:r>
              <a:rPr lang="en-US" sz="2400" dirty="0">
                <a:latin typeface="Times New Roman" pitchFamily="18" charset="0"/>
                <a:cs typeface="Times New Roman" pitchFamily="18" charset="0"/>
              </a:rPr>
              <a:t>JIG: it is a work holding device also locater </a:t>
            </a:r>
            <a:r>
              <a:rPr lang="en-US" sz="2400" dirty="0" smtClean="0">
                <a:latin typeface="Times New Roman" pitchFamily="18" charset="0"/>
                <a:cs typeface="Times New Roman" pitchFamily="18" charset="0"/>
              </a:rPr>
              <a:t>or guides </a:t>
            </a:r>
            <a:r>
              <a:rPr lang="en-US" sz="2400" dirty="0">
                <a:latin typeface="Times New Roman" pitchFamily="18" charset="0"/>
                <a:cs typeface="Times New Roman" pitchFamily="18" charset="0"/>
              </a:rPr>
              <a:t>the cutting tool with respect to the </a:t>
            </a:r>
            <a:r>
              <a:rPr lang="en-US" sz="2400" dirty="0" smtClean="0">
                <a:latin typeface="Times New Roman" pitchFamily="18" charset="0"/>
                <a:cs typeface="Times New Roman" pitchFamily="18" charset="0"/>
              </a:rPr>
              <a:t>work piece</a:t>
            </a:r>
            <a:endParaRPr lang="en-US" sz="2400" dirty="0">
              <a:latin typeface="Times New Roman" pitchFamily="18" charset="0"/>
              <a:cs typeface="Times New Roman" pitchFamily="18" charset="0"/>
            </a:endParaRPr>
          </a:p>
          <a:p>
            <a:pPr marL="0" indent="0">
              <a:buNone/>
            </a:pPr>
            <a:endParaRPr lang="en-US" sz="2400" dirty="0" smtClean="0">
              <a:latin typeface="Times New Roman" pitchFamily="18" charset="0"/>
              <a:cs typeface="Times New Roman" pitchFamily="18" charset="0"/>
            </a:endParaRPr>
          </a:p>
          <a:p>
            <a:pPr marL="0" indent="0">
              <a:buNone/>
            </a:pPr>
            <a:endParaRPr lang="en-US" sz="2400" dirty="0" smtClean="0">
              <a:latin typeface="Times New Roman" pitchFamily="18" charset="0"/>
              <a:cs typeface="Times New Roman" pitchFamily="18" charset="0"/>
            </a:endParaRPr>
          </a:p>
          <a:p>
            <a:pPr marL="0" indent="0">
              <a:buNone/>
            </a:pPr>
            <a:r>
              <a:rPr lang="en-US" sz="2400" dirty="0" smtClean="0">
                <a:latin typeface="Times New Roman" pitchFamily="18" charset="0"/>
                <a:cs typeface="Times New Roman" pitchFamily="18" charset="0"/>
              </a:rPr>
              <a:t>FIXTURE</a:t>
            </a:r>
            <a:r>
              <a:rPr lang="en-US" sz="2400" dirty="0">
                <a:latin typeface="Times New Roman" pitchFamily="18" charset="0"/>
                <a:cs typeface="Times New Roman" pitchFamily="18" charset="0"/>
              </a:rPr>
              <a:t>: it is a work holding device but does </a:t>
            </a:r>
            <a:r>
              <a:rPr lang="en-US" sz="2400" dirty="0" smtClean="0">
                <a:latin typeface="Times New Roman" pitchFamily="18" charset="0"/>
                <a:cs typeface="Times New Roman" pitchFamily="18" charset="0"/>
              </a:rPr>
              <a:t>not locates </a:t>
            </a:r>
            <a:r>
              <a:rPr lang="en-US" sz="2400" dirty="0">
                <a:latin typeface="Times New Roman" pitchFamily="18" charset="0"/>
                <a:cs typeface="Times New Roman" pitchFamily="18" charset="0"/>
              </a:rPr>
              <a:t>or guides the cutting tool</a:t>
            </a:r>
          </a:p>
        </p:txBody>
      </p:sp>
      <p:sp>
        <p:nvSpPr>
          <p:cNvPr id="4" name="Slide Number Placeholder 3"/>
          <p:cNvSpPr>
            <a:spLocks noGrp="1"/>
          </p:cNvSpPr>
          <p:nvPr>
            <p:ph type="sldNum" sz="quarter" idx="12"/>
          </p:nvPr>
        </p:nvSpPr>
        <p:spPr/>
        <p:txBody>
          <a:bodyPr/>
          <a:lstStyle/>
          <a:p>
            <a:fld id="{4D374F10-0401-4224-9624-EB074E096B44}" type="slidenum">
              <a:rPr lang="en-US" smtClean="0"/>
              <a:pPr/>
              <a:t>62</a:t>
            </a:fld>
            <a:endParaRPr lang="en-US"/>
          </a:p>
        </p:txBody>
      </p:sp>
    </p:spTree>
    <p:extLst>
      <p:ext uri="{BB962C8B-B14F-4D97-AF65-F5344CB8AC3E}">
        <p14:creationId xmlns:p14="http://schemas.microsoft.com/office/powerpoint/2010/main" xmlns="" val="18997365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Times New Roman" pitchFamily="18" charset="0"/>
                <a:cs typeface="Times New Roman" pitchFamily="18" charset="0"/>
              </a:rPr>
              <a:t>DIFFERENCE BETWEEN JIGS AND FIXTURES</a:t>
            </a:r>
          </a:p>
        </p:txBody>
      </p:sp>
      <p:pic>
        <p:nvPicPr>
          <p:cNvPr id="4" name="Picture 3"/>
          <p:cNvPicPr>
            <a:picLocks noChangeAspect="1"/>
          </p:cNvPicPr>
          <p:nvPr/>
        </p:nvPicPr>
        <p:blipFill>
          <a:blip r:embed="rId2"/>
          <a:stretch>
            <a:fillRect/>
          </a:stretch>
        </p:blipFill>
        <p:spPr>
          <a:xfrm>
            <a:off x="717454" y="1628800"/>
            <a:ext cx="7709092" cy="4680520"/>
          </a:xfrm>
          <a:prstGeom prst="rect">
            <a:avLst/>
          </a:prstGeom>
        </p:spPr>
      </p:pic>
      <p:sp>
        <p:nvSpPr>
          <p:cNvPr id="5" name="Slide Number Placeholder 4"/>
          <p:cNvSpPr>
            <a:spLocks noGrp="1"/>
          </p:cNvSpPr>
          <p:nvPr>
            <p:ph type="sldNum" sz="quarter" idx="12"/>
          </p:nvPr>
        </p:nvSpPr>
        <p:spPr/>
        <p:txBody>
          <a:bodyPr/>
          <a:lstStyle/>
          <a:p>
            <a:fld id="{4D374F10-0401-4224-9624-EB074E096B44}" type="slidenum">
              <a:rPr lang="en-US" smtClean="0"/>
              <a:pPr/>
              <a:t>63</a:t>
            </a:fld>
            <a:endParaRPr lang="en-US"/>
          </a:p>
        </p:txBody>
      </p:sp>
    </p:spTree>
    <p:extLst>
      <p:ext uri="{BB962C8B-B14F-4D97-AF65-F5344CB8AC3E}">
        <p14:creationId xmlns:p14="http://schemas.microsoft.com/office/powerpoint/2010/main" xmlns="" val="274035237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052736"/>
            <a:ext cx="8229600" cy="4525963"/>
          </a:xfrm>
        </p:spPr>
        <p:txBody>
          <a:bodyPr>
            <a:normAutofit/>
          </a:bodyPr>
          <a:lstStyle/>
          <a:p>
            <a:pPr marL="0" indent="0" algn="ctr">
              <a:buNone/>
            </a:pPr>
            <a:r>
              <a:rPr lang="en-US" sz="2400" dirty="0">
                <a:latin typeface="Times New Roman" panose="02020603050405020304" pitchFamily="18" charset="0"/>
                <a:cs typeface="Times New Roman" panose="02020603050405020304" pitchFamily="18" charset="0"/>
              </a:rPr>
              <a:t>ADVANTAGES OF JIGS AND </a:t>
            </a:r>
            <a:r>
              <a:rPr lang="en-US" sz="2400" dirty="0" smtClean="0">
                <a:latin typeface="Times New Roman" panose="02020603050405020304" pitchFamily="18" charset="0"/>
                <a:cs typeface="Times New Roman" panose="02020603050405020304" pitchFamily="18" charset="0"/>
              </a:rPr>
              <a:t>FIXTURES</a:t>
            </a:r>
          </a:p>
          <a:p>
            <a:pPr marL="0" indent="0" algn="ctr">
              <a:buNone/>
            </a:pPr>
            <a:endParaRPr lang="en-US" sz="2400" dirty="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Reduce </a:t>
            </a:r>
            <a:r>
              <a:rPr lang="en-US" sz="2400" dirty="0">
                <a:latin typeface="Times New Roman" panose="02020603050405020304" pitchFamily="18" charset="0"/>
                <a:cs typeface="Times New Roman" panose="02020603050405020304" pitchFamily="18" charset="0"/>
              </a:rPr>
              <a:t>the operation time, and </a:t>
            </a:r>
            <a:r>
              <a:rPr lang="en-US" sz="2400" dirty="0" smtClean="0">
                <a:latin typeface="Times New Roman" panose="02020603050405020304" pitchFamily="18" charset="0"/>
                <a:cs typeface="Times New Roman" panose="02020603050405020304" pitchFamily="18" charset="0"/>
              </a:rPr>
              <a:t>increases productivity</a:t>
            </a:r>
            <a:endParaRPr lang="en-US" sz="2400" dirty="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Facilitates </a:t>
            </a:r>
            <a:r>
              <a:rPr lang="en-US" sz="2400" dirty="0">
                <a:latin typeface="Times New Roman" panose="02020603050405020304" pitchFamily="18" charset="0"/>
                <a:cs typeface="Times New Roman" panose="02020603050405020304" pitchFamily="18" charset="0"/>
              </a:rPr>
              <a:t>uniform quality and ensures </a:t>
            </a:r>
            <a:r>
              <a:rPr lang="en-US" sz="2400" dirty="0" smtClean="0">
                <a:latin typeface="Times New Roman" panose="02020603050405020304" pitchFamily="18" charset="0"/>
                <a:cs typeface="Times New Roman" panose="02020603050405020304" pitchFamily="18" charset="0"/>
              </a:rPr>
              <a:t>inter changeability </a:t>
            </a:r>
            <a:r>
              <a:rPr lang="en-US" sz="2400" dirty="0">
                <a:latin typeface="Times New Roman" panose="02020603050405020304" pitchFamily="18" charset="0"/>
                <a:cs typeface="Times New Roman" panose="02020603050405020304" pitchFamily="18" charset="0"/>
              </a:rPr>
              <a:t>of component</a:t>
            </a:r>
          </a:p>
          <a:p>
            <a:r>
              <a:rPr lang="en-US" sz="2400" dirty="0" smtClean="0">
                <a:latin typeface="Times New Roman" panose="02020603050405020304" pitchFamily="18" charset="0"/>
                <a:cs typeface="Times New Roman" panose="02020603050405020304" pitchFamily="18" charset="0"/>
              </a:rPr>
              <a:t>Unskilled </a:t>
            </a:r>
            <a:r>
              <a:rPr lang="en-US" sz="2400" dirty="0">
                <a:latin typeface="Times New Roman" panose="02020603050405020304" pitchFamily="18" charset="0"/>
                <a:cs typeface="Times New Roman" panose="02020603050405020304" pitchFamily="18" charset="0"/>
              </a:rPr>
              <a:t>operators can do the job, </a:t>
            </a:r>
            <a:r>
              <a:rPr lang="en-US" sz="2400" dirty="0" smtClean="0">
                <a:latin typeface="Times New Roman" panose="02020603050405020304" pitchFamily="18" charset="0"/>
                <a:cs typeface="Times New Roman" panose="02020603050405020304" pitchFamily="18" charset="0"/>
              </a:rPr>
              <a:t>thus saving </a:t>
            </a:r>
            <a:r>
              <a:rPr lang="en-US" sz="2400" dirty="0">
                <a:latin typeface="Times New Roman" panose="02020603050405020304" pitchFamily="18" charset="0"/>
                <a:cs typeface="Times New Roman" panose="02020603050405020304" pitchFamily="18" charset="0"/>
              </a:rPr>
              <a:t>in </a:t>
            </a:r>
            <a:r>
              <a:rPr lang="en-US" sz="2400" dirty="0" err="1">
                <a:latin typeface="Times New Roman" panose="02020603050405020304" pitchFamily="18" charset="0"/>
                <a:cs typeface="Times New Roman" panose="02020603050405020304" pitchFamily="18" charset="0"/>
              </a:rPr>
              <a:t>labour</a:t>
            </a:r>
            <a:r>
              <a:rPr lang="en-US" sz="2400" dirty="0">
                <a:latin typeface="Times New Roman" panose="02020603050405020304" pitchFamily="18" charset="0"/>
                <a:cs typeface="Times New Roman" panose="02020603050405020304" pitchFamily="18" charset="0"/>
              </a:rPr>
              <a:t> cost</a:t>
            </a:r>
          </a:p>
          <a:p>
            <a:r>
              <a:rPr lang="en-US" sz="2400" dirty="0" smtClean="0">
                <a:latin typeface="Times New Roman" panose="02020603050405020304" pitchFamily="18" charset="0"/>
                <a:cs typeface="Times New Roman" panose="02020603050405020304" pitchFamily="18" charset="0"/>
              </a:rPr>
              <a:t>Ensures </a:t>
            </a:r>
            <a:r>
              <a:rPr lang="en-US" sz="2400" dirty="0">
                <a:latin typeface="Times New Roman" panose="02020603050405020304" pitchFamily="18" charset="0"/>
                <a:cs typeface="Times New Roman" panose="02020603050405020304" pitchFamily="18" charset="0"/>
              </a:rPr>
              <a:t>higher accuracy and surface quality</a:t>
            </a:r>
          </a:p>
          <a:p>
            <a:r>
              <a:rPr lang="en-US" sz="2400" dirty="0" smtClean="0">
                <a:latin typeface="Times New Roman" panose="02020603050405020304" pitchFamily="18" charset="0"/>
                <a:cs typeface="Times New Roman" panose="02020603050405020304" pitchFamily="18" charset="0"/>
              </a:rPr>
              <a:t>Reduce </a:t>
            </a:r>
            <a:r>
              <a:rPr lang="en-US" sz="2400" dirty="0">
                <a:latin typeface="Times New Roman" panose="02020603050405020304" pitchFamily="18" charset="0"/>
                <a:cs typeface="Times New Roman" panose="02020603050405020304" pitchFamily="18" charset="0"/>
              </a:rPr>
              <a:t>the overall cost of product</a:t>
            </a:r>
          </a:p>
        </p:txBody>
      </p:sp>
      <p:sp>
        <p:nvSpPr>
          <p:cNvPr id="4" name="Slide Number Placeholder 3"/>
          <p:cNvSpPr>
            <a:spLocks noGrp="1"/>
          </p:cNvSpPr>
          <p:nvPr>
            <p:ph type="sldNum" sz="quarter" idx="12"/>
          </p:nvPr>
        </p:nvSpPr>
        <p:spPr/>
        <p:txBody>
          <a:bodyPr/>
          <a:lstStyle/>
          <a:p>
            <a:fld id="{4D374F10-0401-4224-9624-EB074E096B44}" type="slidenum">
              <a:rPr lang="en-US" smtClean="0"/>
              <a:pPr/>
              <a:t>64</a:t>
            </a:fld>
            <a:endParaRPr lang="en-US"/>
          </a:p>
        </p:txBody>
      </p:sp>
    </p:spTree>
    <p:extLst>
      <p:ext uri="{BB962C8B-B14F-4D97-AF65-F5344CB8AC3E}">
        <p14:creationId xmlns:p14="http://schemas.microsoft.com/office/powerpoint/2010/main" xmlns="" val="38609816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663" y="116632"/>
            <a:ext cx="8229600" cy="552046"/>
          </a:xfrm>
        </p:spPr>
        <p:txBody>
          <a:bodyPr>
            <a:normAutofit fontScale="90000"/>
          </a:bodyPr>
          <a:lstStyle/>
          <a:p>
            <a:r>
              <a:rPr lang="en-US" sz="3200" dirty="0">
                <a:latin typeface="Times New Roman" pitchFamily="18" charset="0"/>
                <a:cs typeface="Times New Roman" pitchFamily="18" charset="0"/>
              </a:rPr>
              <a:t>PRINCIPLES OF LOCATION</a:t>
            </a:r>
          </a:p>
        </p:txBody>
      </p:sp>
      <p:sp>
        <p:nvSpPr>
          <p:cNvPr id="3" name="Content Placeholder 2"/>
          <p:cNvSpPr>
            <a:spLocks noGrp="1"/>
          </p:cNvSpPr>
          <p:nvPr>
            <p:ph idx="1"/>
          </p:nvPr>
        </p:nvSpPr>
        <p:spPr>
          <a:xfrm>
            <a:off x="275987" y="764704"/>
            <a:ext cx="8568952" cy="3672408"/>
          </a:xfrm>
        </p:spPr>
        <p:txBody>
          <a:bodyPr>
            <a:normAutofit lnSpcReduction="10000"/>
          </a:bodyPr>
          <a:lstStyle/>
          <a:p>
            <a:r>
              <a:rPr lang="en-US" sz="2400" dirty="0">
                <a:latin typeface="Times New Roman" panose="02020603050405020304" pitchFamily="18" charset="0"/>
                <a:cs typeface="Times New Roman" panose="02020603050405020304" pitchFamily="18" charset="0"/>
              </a:rPr>
              <a:t>An object in space has 6 digress </a:t>
            </a:r>
            <a:r>
              <a:rPr lang="en-US" sz="2400" dirty="0" smtClean="0">
                <a:latin typeface="Times New Roman" panose="02020603050405020304" pitchFamily="18" charset="0"/>
                <a:cs typeface="Times New Roman" panose="02020603050405020304" pitchFamily="18" charset="0"/>
              </a:rPr>
              <a:t>of freedom.3 </a:t>
            </a:r>
            <a:r>
              <a:rPr lang="en-US" sz="2400" dirty="0">
                <a:latin typeface="Times New Roman" panose="02020603050405020304" pitchFamily="18" charset="0"/>
                <a:cs typeface="Times New Roman" panose="02020603050405020304" pitchFamily="18" charset="0"/>
              </a:rPr>
              <a:t>linear movements along x, y </a:t>
            </a:r>
            <a:r>
              <a:rPr lang="en-US" sz="2400" dirty="0" smtClean="0">
                <a:latin typeface="Times New Roman" panose="02020603050405020304" pitchFamily="18" charset="0"/>
                <a:cs typeface="Times New Roman" panose="02020603050405020304" pitchFamily="18" charset="0"/>
              </a:rPr>
              <a:t>and z </a:t>
            </a:r>
            <a:r>
              <a:rPr lang="en-US" sz="2400" dirty="0">
                <a:latin typeface="Times New Roman" panose="02020603050405020304" pitchFamily="18" charset="0"/>
                <a:cs typeface="Times New Roman" panose="02020603050405020304" pitchFamily="18" charset="0"/>
              </a:rPr>
              <a:t>axes and 3 rotations about these 3 axes</a:t>
            </a:r>
            <a:r>
              <a:rPr lang="en-US" sz="2400" dirty="0" smtClean="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Locating means preventing the degrees </a:t>
            </a:r>
            <a:r>
              <a:rPr lang="en-US" sz="2400" dirty="0" smtClean="0">
                <a:latin typeface="Times New Roman" panose="02020603050405020304" pitchFamily="18" charset="0"/>
                <a:cs typeface="Times New Roman" panose="02020603050405020304" pitchFamily="18" charset="0"/>
              </a:rPr>
              <a:t>of freedom </a:t>
            </a:r>
            <a:r>
              <a:rPr lang="en-US" sz="2400" dirty="0">
                <a:latin typeface="Times New Roman" panose="02020603050405020304" pitchFamily="18" charset="0"/>
                <a:cs typeface="Times New Roman" panose="02020603050405020304" pitchFamily="18" charset="0"/>
              </a:rPr>
              <a:t>of the work piece when it is </a:t>
            </a:r>
            <a:r>
              <a:rPr lang="en-US" sz="2400" dirty="0" smtClean="0">
                <a:latin typeface="Times New Roman" panose="02020603050405020304" pitchFamily="18" charset="0"/>
                <a:cs typeface="Times New Roman" panose="02020603050405020304" pitchFamily="18" charset="0"/>
              </a:rPr>
              <a:t>placed in </a:t>
            </a:r>
            <a:r>
              <a:rPr lang="en-US" sz="2400" dirty="0">
                <a:latin typeface="Times New Roman" panose="02020603050405020304" pitchFamily="18" charset="0"/>
                <a:cs typeface="Times New Roman" panose="02020603050405020304" pitchFamily="18" charset="0"/>
              </a:rPr>
              <a:t>the jig or fixture. It can be done </a:t>
            </a:r>
            <a:r>
              <a:rPr lang="en-US" sz="2400" dirty="0" smtClean="0">
                <a:latin typeface="Times New Roman" panose="02020603050405020304" pitchFamily="18" charset="0"/>
                <a:cs typeface="Times New Roman" panose="02020603050405020304" pitchFamily="18" charset="0"/>
              </a:rPr>
              <a:t>by providing </a:t>
            </a:r>
            <a:r>
              <a:rPr lang="en-US" sz="2400" dirty="0">
                <a:latin typeface="Times New Roman" panose="02020603050405020304" pitchFamily="18" charset="0"/>
                <a:cs typeface="Times New Roman" panose="02020603050405020304" pitchFamily="18" charset="0"/>
              </a:rPr>
              <a:t>pins at correct positions </a:t>
            </a:r>
            <a:r>
              <a:rPr lang="en-US" sz="2400" dirty="0" smtClean="0">
                <a:latin typeface="Times New Roman" panose="02020603050405020304" pitchFamily="18" charset="0"/>
                <a:cs typeface="Times New Roman" panose="02020603050405020304" pitchFamily="18" charset="0"/>
              </a:rPr>
              <a:t>as follows</a:t>
            </a:r>
          </a:p>
          <a:p>
            <a:r>
              <a:rPr lang="en-US" sz="2400" dirty="0">
                <a:latin typeface="Times New Roman" panose="02020603050405020304" pitchFamily="18" charset="0"/>
                <a:cs typeface="Times New Roman" panose="02020603050405020304" pitchFamily="18" charset="0"/>
              </a:rPr>
              <a:t>Pins 1,2,3:-prevent linear motion along </a:t>
            </a:r>
            <a:r>
              <a:rPr lang="en-US" sz="2400" dirty="0" smtClean="0">
                <a:latin typeface="Times New Roman" panose="02020603050405020304" pitchFamily="18" charset="0"/>
                <a:cs typeface="Times New Roman" panose="02020603050405020304" pitchFamily="18" charset="0"/>
              </a:rPr>
              <a:t>y and </a:t>
            </a:r>
            <a:r>
              <a:rPr lang="en-US" sz="2400" dirty="0">
                <a:latin typeface="Times New Roman" panose="02020603050405020304" pitchFamily="18" charset="0"/>
                <a:cs typeface="Times New Roman" panose="02020603050405020304" pitchFamily="18" charset="0"/>
              </a:rPr>
              <a:t>rotation about z and </a:t>
            </a:r>
            <a:r>
              <a:rPr lang="en-US" sz="2400" dirty="0" smtClean="0">
                <a:latin typeface="Times New Roman" panose="02020603050405020304" pitchFamily="18" charset="0"/>
                <a:cs typeface="Times New Roman" panose="02020603050405020304" pitchFamily="18" charset="0"/>
              </a:rPr>
              <a:t>x</a:t>
            </a:r>
          </a:p>
          <a:p>
            <a:r>
              <a:rPr lang="en-US" sz="2400" dirty="0" smtClean="0">
                <a:latin typeface="Times New Roman" panose="02020603050405020304" pitchFamily="18" charset="0"/>
                <a:cs typeface="Times New Roman" panose="02020603050405020304" pitchFamily="18" charset="0"/>
              </a:rPr>
              <a:t>Pins </a:t>
            </a:r>
            <a:r>
              <a:rPr lang="en-US" sz="2400" dirty="0">
                <a:latin typeface="Times New Roman" panose="02020603050405020304" pitchFamily="18" charset="0"/>
                <a:cs typeface="Times New Roman" panose="02020603050405020304" pitchFamily="18" charset="0"/>
              </a:rPr>
              <a:t>4,5:-Prevent linear motion along z </a:t>
            </a:r>
            <a:r>
              <a:rPr lang="en-US" sz="2400" dirty="0" smtClean="0">
                <a:latin typeface="Times New Roman" panose="02020603050405020304" pitchFamily="18" charset="0"/>
                <a:cs typeface="Times New Roman" panose="02020603050405020304" pitchFamily="18" charset="0"/>
              </a:rPr>
              <a:t>and rotation </a:t>
            </a:r>
            <a:r>
              <a:rPr lang="en-US" sz="2400" dirty="0">
                <a:latin typeface="Times New Roman" panose="02020603050405020304" pitchFamily="18" charset="0"/>
                <a:cs typeface="Times New Roman" panose="02020603050405020304" pitchFamily="18" charset="0"/>
              </a:rPr>
              <a:t>about y</a:t>
            </a:r>
          </a:p>
          <a:p>
            <a:r>
              <a:rPr lang="en-US" sz="2400" dirty="0" smtClean="0">
                <a:latin typeface="Times New Roman" panose="02020603050405020304" pitchFamily="18" charset="0"/>
                <a:cs typeface="Times New Roman" panose="02020603050405020304" pitchFamily="18" charset="0"/>
              </a:rPr>
              <a:t>Pin </a:t>
            </a:r>
            <a:r>
              <a:rPr lang="en-US" sz="2400" dirty="0">
                <a:latin typeface="Times New Roman" panose="02020603050405020304" pitchFamily="18" charset="0"/>
                <a:cs typeface="Times New Roman" panose="02020603050405020304" pitchFamily="18" charset="0"/>
              </a:rPr>
              <a:t>6:-Prevent linear motion along x</a:t>
            </a:r>
          </a:p>
        </p:txBody>
      </p:sp>
      <p:pic>
        <p:nvPicPr>
          <p:cNvPr id="4" name="Picture 3"/>
          <p:cNvPicPr>
            <a:picLocks noChangeAspect="1"/>
          </p:cNvPicPr>
          <p:nvPr/>
        </p:nvPicPr>
        <p:blipFill>
          <a:blip r:embed="rId2"/>
          <a:stretch>
            <a:fillRect/>
          </a:stretch>
        </p:blipFill>
        <p:spPr>
          <a:xfrm>
            <a:off x="683568" y="4520687"/>
            <a:ext cx="2520280" cy="1898841"/>
          </a:xfrm>
          <a:prstGeom prst="rect">
            <a:avLst/>
          </a:prstGeom>
        </p:spPr>
      </p:pic>
      <p:pic>
        <p:nvPicPr>
          <p:cNvPr id="5" name="Picture 4"/>
          <p:cNvPicPr>
            <a:picLocks noChangeAspect="1"/>
          </p:cNvPicPr>
          <p:nvPr/>
        </p:nvPicPr>
        <p:blipFill>
          <a:blip r:embed="rId3"/>
          <a:stretch>
            <a:fillRect/>
          </a:stretch>
        </p:blipFill>
        <p:spPr>
          <a:xfrm>
            <a:off x="4427984" y="4543302"/>
            <a:ext cx="4095984" cy="2056561"/>
          </a:xfrm>
          <a:prstGeom prst="rect">
            <a:avLst/>
          </a:prstGeom>
        </p:spPr>
      </p:pic>
      <p:sp>
        <p:nvSpPr>
          <p:cNvPr id="6" name="Slide Number Placeholder 5"/>
          <p:cNvSpPr>
            <a:spLocks noGrp="1"/>
          </p:cNvSpPr>
          <p:nvPr>
            <p:ph type="sldNum" sz="quarter" idx="12"/>
          </p:nvPr>
        </p:nvSpPr>
        <p:spPr/>
        <p:txBody>
          <a:bodyPr/>
          <a:lstStyle/>
          <a:p>
            <a:fld id="{4D374F10-0401-4224-9624-EB074E096B44}" type="slidenum">
              <a:rPr lang="en-US" smtClean="0"/>
              <a:pPr/>
              <a:t>65</a:t>
            </a:fld>
            <a:endParaRPr lang="en-US"/>
          </a:p>
        </p:txBody>
      </p:sp>
    </p:spTree>
    <p:extLst>
      <p:ext uri="{BB962C8B-B14F-4D97-AF65-F5344CB8AC3E}">
        <p14:creationId xmlns:p14="http://schemas.microsoft.com/office/powerpoint/2010/main" xmlns="" val="281805825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a:bodyPr>
          <a:lstStyle/>
          <a:p>
            <a:r>
              <a:rPr lang="en-US" sz="3200" dirty="0">
                <a:latin typeface="Times New Roman" pitchFamily="18" charset="0"/>
                <a:cs typeface="Times New Roman" pitchFamily="18" charset="0"/>
              </a:rPr>
              <a:t>TYPES OF DRILL JIGS</a:t>
            </a:r>
          </a:p>
        </p:txBody>
      </p:sp>
      <p:sp>
        <p:nvSpPr>
          <p:cNvPr id="3" name="Content Placeholder 2"/>
          <p:cNvSpPr>
            <a:spLocks noGrp="1"/>
          </p:cNvSpPr>
          <p:nvPr>
            <p:ph idx="1"/>
          </p:nvPr>
        </p:nvSpPr>
        <p:spPr>
          <a:xfrm>
            <a:off x="138484" y="1006898"/>
            <a:ext cx="4968552" cy="5544616"/>
          </a:xfrm>
        </p:spPr>
        <p:txBody>
          <a:bodyPr>
            <a:normAutofit lnSpcReduction="10000"/>
          </a:bodyPr>
          <a:lstStyle/>
          <a:p>
            <a:pPr marL="0" indent="0" algn="just">
              <a:buNone/>
            </a:pPr>
            <a:r>
              <a:rPr lang="en-US" sz="2400" dirty="0">
                <a:latin typeface="Times New Roman" pitchFamily="18" charset="0"/>
                <a:cs typeface="Times New Roman" pitchFamily="18" charset="0"/>
              </a:rPr>
              <a:t>1. Template jig</a:t>
            </a:r>
          </a:p>
          <a:p>
            <a:pPr algn="just"/>
            <a:r>
              <a:rPr lang="en-US" sz="2400" dirty="0" smtClean="0">
                <a:latin typeface="Times New Roman" pitchFamily="18" charset="0"/>
                <a:cs typeface="Times New Roman" pitchFamily="18" charset="0"/>
              </a:rPr>
              <a:t>Used </a:t>
            </a:r>
            <a:r>
              <a:rPr lang="en-US" sz="2400" dirty="0">
                <a:latin typeface="Times New Roman" pitchFamily="18" charset="0"/>
                <a:cs typeface="Times New Roman" pitchFamily="18" charset="0"/>
              </a:rPr>
              <a:t>when making holes</a:t>
            </a:r>
          </a:p>
          <a:p>
            <a:pPr algn="just"/>
            <a:r>
              <a:rPr lang="en-US" sz="2400" dirty="0" smtClean="0">
                <a:latin typeface="Times New Roman" pitchFamily="18" charset="0"/>
                <a:cs typeface="Times New Roman" pitchFamily="18" charset="0"/>
              </a:rPr>
              <a:t>Contains </a:t>
            </a:r>
            <a:r>
              <a:rPr lang="en-US" sz="2400" dirty="0">
                <a:latin typeface="Times New Roman" pitchFamily="18" charset="0"/>
                <a:cs typeface="Times New Roman" pitchFamily="18" charset="0"/>
              </a:rPr>
              <a:t>holes to guide the tool and is </a:t>
            </a:r>
            <a:r>
              <a:rPr lang="en-US" sz="2400" dirty="0" smtClean="0">
                <a:latin typeface="Times New Roman" pitchFamily="18" charset="0"/>
                <a:cs typeface="Times New Roman" pitchFamily="18" charset="0"/>
              </a:rPr>
              <a:t>used directly </a:t>
            </a:r>
            <a:r>
              <a:rPr lang="en-US" sz="2400" dirty="0">
                <a:latin typeface="Times New Roman" pitchFamily="18" charset="0"/>
                <a:cs typeface="Times New Roman" pitchFamily="18" charset="0"/>
              </a:rPr>
              <a:t>over the </a:t>
            </a:r>
            <a:r>
              <a:rPr lang="en-US" sz="2400" dirty="0" smtClean="0">
                <a:latin typeface="Times New Roman" pitchFamily="18" charset="0"/>
                <a:cs typeface="Times New Roman" pitchFamily="18" charset="0"/>
              </a:rPr>
              <a:t>component</a:t>
            </a:r>
          </a:p>
          <a:p>
            <a:pPr marL="0" indent="0" algn="just">
              <a:buNone/>
            </a:pPr>
            <a:r>
              <a:rPr lang="en-US" sz="2400" dirty="0" smtClean="0">
                <a:latin typeface="Times New Roman" pitchFamily="18" charset="0"/>
                <a:cs typeface="Times New Roman" pitchFamily="18" charset="0"/>
              </a:rPr>
              <a:t>2</a:t>
            </a:r>
            <a:r>
              <a:rPr lang="en-US" sz="2400" dirty="0">
                <a:latin typeface="Times New Roman" pitchFamily="18" charset="0"/>
                <a:cs typeface="Times New Roman" pitchFamily="18" charset="0"/>
              </a:rPr>
              <a:t>. Plate jig</a:t>
            </a:r>
          </a:p>
          <a:p>
            <a:pPr algn="just"/>
            <a:r>
              <a:rPr lang="en-US" sz="2400" dirty="0" smtClean="0">
                <a:latin typeface="Times New Roman" pitchFamily="18" charset="0"/>
                <a:cs typeface="Times New Roman" pitchFamily="18" charset="0"/>
              </a:rPr>
              <a:t>Template </a:t>
            </a:r>
            <a:r>
              <a:rPr lang="en-US" sz="2400" dirty="0">
                <a:latin typeface="Times New Roman" pitchFamily="18" charset="0"/>
                <a:cs typeface="Times New Roman" pitchFamily="18" charset="0"/>
              </a:rPr>
              <a:t>jigs in which drill buses </a:t>
            </a:r>
            <a:r>
              <a:rPr lang="en-US" sz="2400" dirty="0" smtClean="0">
                <a:latin typeface="Times New Roman" pitchFamily="18" charset="0"/>
                <a:cs typeface="Times New Roman" pitchFamily="18" charset="0"/>
              </a:rPr>
              <a:t>are provided </a:t>
            </a:r>
            <a:r>
              <a:rPr lang="en-US" sz="2400" dirty="0">
                <a:latin typeface="Times New Roman" pitchFamily="18" charset="0"/>
                <a:cs typeface="Times New Roman" pitchFamily="18" charset="0"/>
              </a:rPr>
              <a:t>is called plate jig, used for </a:t>
            </a:r>
            <a:r>
              <a:rPr lang="en-US" sz="2400" dirty="0" smtClean="0">
                <a:latin typeface="Times New Roman" pitchFamily="18" charset="0"/>
                <a:cs typeface="Times New Roman" pitchFamily="18" charset="0"/>
              </a:rPr>
              <a:t>accurate drilling </a:t>
            </a:r>
            <a:r>
              <a:rPr lang="en-US" sz="2400" dirty="0">
                <a:latin typeface="Times New Roman" pitchFamily="18" charset="0"/>
                <a:cs typeface="Times New Roman" pitchFamily="18" charset="0"/>
              </a:rPr>
              <a:t>on large </a:t>
            </a:r>
            <a:r>
              <a:rPr lang="en-US" sz="2400" dirty="0" smtClean="0">
                <a:latin typeface="Times New Roman" pitchFamily="18" charset="0"/>
                <a:cs typeface="Times New Roman" pitchFamily="18" charset="0"/>
              </a:rPr>
              <a:t>parts</a:t>
            </a:r>
          </a:p>
          <a:p>
            <a:pPr marL="0" indent="0" algn="just">
              <a:buNone/>
            </a:pPr>
            <a:r>
              <a:rPr lang="en-US" sz="2400" dirty="0">
                <a:latin typeface="Times New Roman" pitchFamily="18" charset="0"/>
                <a:cs typeface="Times New Roman" pitchFamily="18" charset="0"/>
              </a:rPr>
              <a:t>3. Channel jig</a:t>
            </a:r>
          </a:p>
          <a:p>
            <a:pPr algn="just"/>
            <a:r>
              <a:rPr lang="en-US" sz="2400" dirty="0" smtClean="0">
                <a:latin typeface="Times New Roman" pitchFamily="18" charset="0"/>
                <a:cs typeface="Times New Roman" pitchFamily="18" charset="0"/>
              </a:rPr>
              <a:t>It </a:t>
            </a:r>
            <a:r>
              <a:rPr lang="en-US" sz="2400" dirty="0">
                <a:latin typeface="Times New Roman" pitchFamily="18" charset="0"/>
                <a:cs typeface="Times New Roman" pitchFamily="18" charset="0"/>
              </a:rPr>
              <a:t>is in the form of standard channel</a:t>
            </a:r>
          </a:p>
          <a:p>
            <a:pPr algn="just"/>
            <a:r>
              <a:rPr lang="en-US" sz="2400" dirty="0" smtClean="0">
                <a:latin typeface="Times New Roman" pitchFamily="18" charset="0"/>
                <a:cs typeface="Times New Roman" pitchFamily="18" charset="0"/>
              </a:rPr>
              <a:t>Component </a:t>
            </a:r>
            <a:r>
              <a:rPr lang="en-US" sz="2400" dirty="0">
                <a:latin typeface="Times New Roman" pitchFamily="18" charset="0"/>
                <a:cs typeface="Times New Roman" pitchFamily="18" charset="0"/>
              </a:rPr>
              <a:t>is located in a channel and </a:t>
            </a:r>
            <a:r>
              <a:rPr lang="en-US" sz="2400" dirty="0" smtClean="0">
                <a:latin typeface="Times New Roman" pitchFamily="18" charset="0"/>
                <a:cs typeface="Times New Roman" pitchFamily="18" charset="0"/>
              </a:rPr>
              <a:t>is clamped </a:t>
            </a:r>
            <a:r>
              <a:rPr lang="en-US" sz="2400" dirty="0">
                <a:latin typeface="Times New Roman" pitchFamily="18" charset="0"/>
                <a:cs typeface="Times New Roman" pitchFamily="18" charset="0"/>
              </a:rPr>
              <a:t>by </a:t>
            </a:r>
            <a:r>
              <a:rPr lang="en-US" sz="2400" dirty="0" smtClean="0">
                <a:latin typeface="Times New Roman" pitchFamily="18" charset="0"/>
                <a:cs typeface="Times New Roman" pitchFamily="18" charset="0"/>
              </a:rPr>
              <a:t>screw</a:t>
            </a:r>
          </a:p>
          <a:p>
            <a:pPr algn="just"/>
            <a:r>
              <a:rPr lang="en-US" sz="2400" dirty="0" smtClean="0">
                <a:latin typeface="Times New Roman" pitchFamily="18" charset="0"/>
                <a:cs typeface="Times New Roman" pitchFamily="18" charset="0"/>
              </a:rPr>
              <a:t>Used </a:t>
            </a:r>
            <a:r>
              <a:rPr lang="en-US" sz="2400" dirty="0">
                <a:latin typeface="Times New Roman" pitchFamily="18" charset="0"/>
                <a:cs typeface="Times New Roman" pitchFamily="18" charset="0"/>
              </a:rPr>
              <a:t>for drilling simple symmetrical shapes</a:t>
            </a:r>
          </a:p>
        </p:txBody>
      </p:sp>
      <p:pic>
        <p:nvPicPr>
          <p:cNvPr id="5" name="Picture 4"/>
          <p:cNvPicPr>
            <a:picLocks noChangeAspect="1"/>
          </p:cNvPicPr>
          <p:nvPr/>
        </p:nvPicPr>
        <p:blipFill>
          <a:blip r:embed="rId2"/>
          <a:stretch>
            <a:fillRect/>
          </a:stretch>
        </p:blipFill>
        <p:spPr>
          <a:xfrm>
            <a:off x="6576646" y="836712"/>
            <a:ext cx="1792339" cy="1800200"/>
          </a:xfrm>
          <a:prstGeom prst="rect">
            <a:avLst/>
          </a:prstGeom>
        </p:spPr>
      </p:pic>
      <p:pic>
        <p:nvPicPr>
          <p:cNvPr id="6" name="Picture 5"/>
          <p:cNvPicPr>
            <a:picLocks noChangeAspect="1"/>
          </p:cNvPicPr>
          <p:nvPr/>
        </p:nvPicPr>
        <p:blipFill rotWithShape="1">
          <a:blip r:embed="rId3"/>
          <a:srcRect t="1856"/>
          <a:stretch/>
        </p:blipFill>
        <p:spPr>
          <a:xfrm>
            <a:off x="6576647" y="2996952"/>
            <a:ext cx="1689430" cy="1872208"/>
          </a:xfrm>
          <a:prstGeom prst="rect">
            <a:avLst/>
          </a:prstGeom>
        </p:spPr>
      </p:pic>
      <p:pic>
        <p:nvPicPr>
          <p:cNvPr id="7" name="Picture 6"/>
          <p:cNvPicPr>
            <a:picLocks noChangeAspect="1"/>
          </p:cNvPicPr>
          <p:nvPr/>
        </p:nvPicPr>
        <p:blipFill rotWithShape="1">
          <a:blip r:embed="rId4"/>
          <a:srcRect l="2710" t="4273" r="1098"/>
          <a:stretch/>
        </p:blipFill>
        <p:spPr>
          <a:xfrm>
            <a:off x="5107036" y="5013176"/>
            <a:ext cx="4009275" cy="1394322"/>
          </a:xfrm>
          <a:prstGeom prst="rect">
            <a:avLst/>
          </a:prstGeom>
        </p:spPr>
      </p:pic>
      <p:sp>
        <p:nvSpPr>
          <p:cNvPr id="8" name="Slide Number Placeholder 7"/>
          <p:cNvSpPr>
            <a:spLocks noGrp="1"/>
          </p:cNvSpPr>
          <p:nvPr>
            <p:ph type="sldNum" sz="quarter" idx="12"/>
          </p:nvPr>
        </p:nvSpPr>
        <p:spPr/>
        <p:txBody>
          <a:bodyPr/>
          <a:lstStyle/>
          <a:p>
            <a:fld id="{4D374F10-0401-4224-9624-EB074E096B44}" type="slidenum">
              <a:rPr lang="en-US" smtClean="0"/>
              <a:pPr/>
              <a:t>66</a:t>
            </a:fld>
            <a:endParaRPr lang="en-US"/>
          </a:p>
        </p:txBody>
      </p:sp>
    </p:spTree>
    <p:extLst>
      <p:ext uri="{BB962C8B-B14F-4D97-AF65-F5344CB8AC3E}">
        <p14:creationId xmlns:p14="http://schemas.microsoft.com/office/powerpoint/2010/main" xmlns="" val="39685418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5346" y="188640"/>
            <a:ext cx="5109474" cy="6480720"/>
          </a:xfrm>
        </p:spPr>
        <p:txBody>
          <a:bodyPr>
            <a:normAutofit fontScale="92500" lnSpcReduction="10000"/>
          </a:bodyPr>
          <a:lstStyle/>
          <a:p>
            <a:pPr marL="0" indent="0" algn="just">
              <a:buNone/>
            </a:pPr>
            <a:r>
              <a:rPr lang="en-US" sz="2400" dirty="0">
                <a:latin typeface="Times New Roman" pitchFamily="18" charset="0"/>
                <a:cs typeface="Times New Roman" pitchFamily="18" charset="0"/>
              </a:rPr>
              <a:t>4. Box </a:t>
            </a:r>
            <a:r>
              <a:rPr lang="en-US" sz="2400" dirty="0" smtClean="0">
                <a:latin typeface="Times New Roman" pitchFamily="18" charset="0"/>
                <a:cs typeface="Times New Roman" pitchFamily="18" charset="0"/>
              </a:rPr>
              <a:t>jig</a:t>
            </a:r>
          </a:p>
          <a:p>
            <a:pPr algn="just"/>
            <a:r>
              <a:rPr lang="en-US" sz="2400" dirty="0" smtClean="0">
                <a:latin typeface="Times New Roman" pitchFamily="18" charset="0"/>
                <a:cs typeface="Times New Roman" pitchFamily="18" charset="0"/>
              </a:rPr>
              <a:t>Used </a:t>
            </a:r>
            <a:r>
              <a:rPr lang="en-US" sz="2400" dirty="0">
                <a:latin typeface="Times New Roman" pitchFamily="18" charset="0"/>
                <a:cs typeface="Times New Roman" pitchFamily="18" charset="0"/>
              </a:rPr>
              <a:t>when drilling is required on more </a:t>
            </a:r>
            <a:r>
              <a:rPr lang="en-US" sz="2400" dirty="0" smtClean="0">
                <a:latin typeface="Times New Roman" pitchFamily="18" charset="0"/>
                <a:cs typeface="Times New Roman" pitchFamily="18" charset="0"/>
              </a:rPr>
              <a:t>than one </a:t>
            </a:r>
            <a:r>
              <a:rPr lang="en-US" sz="2400" dirty="0">
                <a:latin typeface="Times New Roman" pitchFamily="18" charset="0"/>
                <a:cs typeface="Times New Roman" pitchFamily="18" charset="0"/>
              </a:rPr>
              <a:t>plane</a:t>
            </a:r>
          </a:p>
          <a:p>
            <a:pPr algn="just"/>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body of the jig is made of box </a:t>
            </a:r>
            <a:r>
              <a:rPr lang="en-US" sz="2400" dirty="0" smtClean="0">
                <a:latin typeface="Times New Roman" pitchFamily="18" charset="0"/>
                <a:cs typeface="Times New Roman" pitchFamily="18" charset="0"/>
              </a:rPr>
              <a:t>like structure </a:t>
            </a:r>
            <a:r>
              <a:rPr lang="en-US" sz="2400" dirty="0">
                <a:latin typeface="Times New Roman" pitchFamily="18" charset="0"/>
                <a:cs typeface="Times New Roman" pitchFamily="18" charset="0"/>
              </a:rPr>
              <a:t>in which the component is located</a:t>
            </a:r>
          </a:p>
          <a:p>
            <a:pPr algn="just"/>
            <a:r>
              <a:rPr lang="en-US" sz="2400" dirty="0" smtClean="0">
                <a:latin typeface="Times New Roman" pitchFamily="18" charset="0"/>
                <a:cs typeface="Times New Roman" pitchFamily="18" charset="0"/>
              </a:rPr>
              <a:t>One </a:t>
            </a:r>
            <a:r>
              <a:rPr lang="en-US" sz="2400" dirty="0">
                <a:latin typeface="Times New Roman" pitchFamily="18" charset="0"/>
                <a:cs typeface="Times New Roman" pitchFamily="18" charset="0"/>
              </a:rPr>
              <a:t>side of the box would be fitted </a:t>
            </a:r>
            <a:r>
              <a:rPr lang="en-US" sz="2400" dirty="0" smtClean="0">
                <a:latin typeface="Times New Roman" pitchFamily="18" charset="0"/>
                <a:cs typeface="Times New Roman" pitchFamily="18" charset="0"/>
              </a:rPr>
              <a:t>with cam </a:t>
            </a:r>
            <a:r>
              <a:rPr lang="en-US" sz="2400" dirty="0">
                <a:latin typeface="Times New Roman" pitchFamily="18" charset="0"/>
                <a:cs typeface="Times New Roman" pitchFamily="18" charset="0"/>
              </a:rPr>
              <a:t>or latch to provide the </a:t>
            </a:r>
            <a:r>
              <a:rPr lang="en-US" sz="2400" dirty="0" smtClean="0">
                <a:latin typeface="Times New Roman" pitchFamily="18" charset="0"/>
                <a:cs typeface="Times New Roman" pitchFamily="18" charset="0"/>
              </a:rPr>
              <a:t>necessary opening </a:t>
            </a:r>
            <a:r>
              <a:rPr lang="en-US" sz="2400" dirty="0">
                <a:latin typeface="Times New Roman" pitchFamily="18" charset="0"/>
                <a:cs typeface="Times New Roman" pitchFamily="18" charset="0"/>
              </a:rPr>
              <a:t>for inserting the component </a:t>
            </a:r>
            <a:r>
              <a:rPr lang="en-US" sz="2400" dirty="0" smtClean="0">
                <a:latin typeface="Times New Roman" pitchFamily="18" charset="0"/>
                <a:cs typeface="Times New Roman" pitchFamily="18" charset="0"/>
              </a:rPr>
              <a:t>and unloading it</a:t>
            </a:r>
          </a:p>
          <a:p>
            <a:pPr marL="0" indent="0" algn="just">
              <a:buNone/>
            </a:pPr>
            <a:r>
              <a:rPr lang="en-US" sz="2400" dirty="0">
                <a:latin typeface="Times New Roman" pitchFamily="18" charset="0"/>
                <a:cs typeface="Times New Roman" pitchFamily="18" charset="0"/>
              </a:rPr>
              <a:t>5. Leaf or latch jig</a:t>
            </a:r>
          </a:p>
          <a:p>
            <a:pPr algn="just"/>
            <a:r>
              <a:rPr lang="en-US" sz="2400" dirty="0" smtClean="0">
                <a:latin typeface="Times New Roman" pitchFamily="18" charset="0"/>
                <a:cs typeface="Times New Roman" pitchFamily="18" charset="0"/>
              </a:rPr>
              <a:t>Drill </a:t>
            </a:r>
            <a:r>
              <a:rPr lang="en-US" sz="2400" dirty="0">
                <a:latin typeface="Times New Roman" pitchFamily="18" charset="0"/>
                <a:cs typeface="Times New Roman" pitchFamily="18" charset="0"/>
              </a:rPr>
              <a:t>jig with a hinged jig plate in which </a:t>
            </a:r>
            <a:r>
              <a:rPr lang="en-US" sz="2400" dirty="0" smtClean="0">
                <a:latin typeface="Times New Roman" pitchFamily="18" charset="0"/>
                <a:cs typeface="Times New Roman" pitchFamily="18" charset="0"/>
              </a:rPr>
              <a:t>one or </a:t>
            </a:r>
            <a:r>
              <a:rPr lang="en-US" sz="2400" dirty="0">
                <a:latin typeface="Times New Roman" pitchFamily="18" charset="0"/>
                <a:cs typeface="Times New Roman" pitchFamily="18" charset="0"/>
              </a:rPr>
              <a:t>more drill bushes are fitted</a:t>
            </a:r>
          </a:p>
          <a:p>
            <a:pPr algn="just"/>
            <a:r>
              <a:rPr lang="en-US" sz="2400" dirty="0" smtClean="0">
                <a:latin typeface="Times New Roman" pitchFamily="18" charset="0"/>
                <a:cs typeface="Times New Roman" pitchFamily="18" charset="0"/>
              </a:rPr>
              <a:t>Jig </a:t>
            </a:r>
            <a:r>
              <a:rPr lang="en-US" sz="2400" dirty="0">
                <a:latin typeface="Times New Roman" pitchFamily="18" charset="0"/>
                <a:cs typeface="Times New Roman" pitchFamily="18" charset="0"/>
              </a:rPr>
              <a:t>plate must be positively located such </a:t>
            </a:r>
            <a:r>
              <a:rPr lang="en-US" sz="2400" dirty="0" smtClean="0">
                <a:latin typeface="Times New Roman" pitchFamily="18" charset="0"/>
                <a:cs typeface="Times New Roman" pitchFamily="18" charset="0"/>
              </a:rPr>
              <a:t>that the </a:t>
            </a:r>
            <a:r>
              <a:rPr lang="en-US" sz="2400" dirty="0">
                <a:latin typeface="Times New Roman" pitchFamily="18" charset="0"/>
                <a:cs typeface="Times New Roman" pitchFamily="18" charset="0"/>
              </a:rPr>
              <a:t>axes of bushes are vertical </a:t>
            </a:r>
            <a:r>
              <a:rPr lang="en-US" sz="2400" dirty="0" smtClean="0">
                <a:latin typeface="Times New Roman" pitchFamily="18" charset="0"/>
                <a:cs typeface="Times New Roman" pitchFamily="18" charset="0"/>
              </a:rPr>
              <a:t>during drilling</a:t>
            </a:r>
            <a:endParaRPr lang="en-US" sz="2400" dirty="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Latch </a:t>
            </a:r>
            <a:r>
              <a:rPr lang="en-US" sz="2400" dirty="0">
                <a:latin typeface="Times New Roman" pitchFamily="18" charset="0"/>
                <a:cs typeface="Times New Roman" pitchFamily="18" charset="0"/>
              </a:rPr>
              <a:t>is clamped by nut and the work </a:t>
            </a:r>
            <a:r>
              <a:rPr lang="en-US" sz="2400" dirty="0" smtClean="0">
                <a:latin typeface="Times New Roman" pitchFamily="18" charset="0"/>
                <a:cs typeface="Times New Roman" pitchFamily="18" charset="0"/>
              </a:rPr>
              <a:t>piece by </a:t>
            </a:r>
            <a:r>
              <a:rPr lang="en-US" sz="2400" dirty="0">
                <a:latin typeface="Times New Roman" pitchFamily="18" charset="0"/>
                <a:cs typeface="Times New Roman" pitchFamily="18" charset="0"/>
              </a:rPr>
              <a:t>clamping screw</a:t>
            </a:r>
          </a:p>
        </p:txBody>
      </p:sp>
      <p:pic>
        <p:nvPicPr>
          <p:cNvPr id="4" name="Picture 3"/>
          <p:cNvPicPr>
            <a:picLocks noChangeAspect="1"/>
          </p:cNvPicPr>
          <p:nvPr/>
        </p:nvPicPr>
        <p:blipFill>
          <a:blip r:embed="rId2"/>
          <a:stretch>
            <a:fillRect/>
          </a:stretch>
        </p:blipFill>
        <p:spPr>
          <a:xfrm>
            <a:off x="5288986" y="692696"/>
            <a:ext cx="3819518" cy="2198900"/>
          </a:xfrm>
          <a:prstGeom prst="rect">
            <a:avLst/>
          </a:prstGeom>
        </p:spPr>
      </p:pic>
      <p:pic>
        <p:nvPicPr>
          <p:cNvPr id="5" name="Picture 4"/>
          <p:cNvPicPr>
            <a:picLocks noChangeAspect="1"/>
          </p:cNvPicPr>
          <p:nvPr/>
        </p:nvPicPr>
        <p:blipFill rotWithShape="1">
          <a:blip r:embed="rId3"/>
          <a:srcRect l="4703" t="2001" b="2579"/>
          <a:stretch/>
        </p:blipFill>
        <p:spPr>
          <a:xfrm>
            <a:off x="5353468" y="3573016"/>
            <a:ext cx="3407011" cy="2664296"/>
          </a:xfrm>
          <a:prstGeom prst="rect">
            <a:avLst/>
          </a:prstGeom>
        </p:spPr>
      </p:pic>
      <p:sp>
        <p:nvSpPr>
          <p:cNvPr id="6" name="Slide Number Placeholder 5"/>
          <p:cNvSpPr>
            <a:spLocks noGrp="1"/>
          </p:cNvSpPr>
          <p:nvPr>
            <p:ph type="sldNum" sz="quarter" idx="12"/>
          </p:nvPr>
        </p:nvSpPr>
        <p:spPr/>
        <p:txBody>
          <a:bodyPr/>
          <a:lstStyle/>
          <a:p>
            <a:fld id="{4D374F10-0401-4224-9624-EB074E096B44}" type="slidenum">
              <a:rPr lang="en-US" smtClean="0"/>
              <a:pPr/>
              <a:t>67</a:t>
            </a:fld>
            <a:endParaRPr lang="en-US"/>
          </a:p>
        </p:txBody>
      </p:sp>
    </p:spTree>
    <p:extLst>
      <p:ext uri="{BB962C8B-B14F-4D97-AF65-F5344CB8AC3E}">
        <p14:creationId xmlns:p14="http://schemas.microsoft.com/office/powerpoint/2010/main" xmlns="" val="8189932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332656"/>
            <a:ext cx="8640960" cy="6336704"/>
          </a:xfrm>
        </p:spPr>
        <p:txBody>
          <a:bodyPr>
            <a:normAutofit/>
          </a:bodyPr>
          <a:lstStyle/>
          <a:p>
            <a:pPr marL="0" indent="0" algn="just">
              <a:buNone/>
            </a:pPr>
            <a:r>
              <a:rPr lang="en-US" sz="2400" dirty="0">
                <a:latin typeface="Times New Roman" pitchFamily="18" charset="0"/>
                <a:cs typeface="Times New Roman" pitchFamily="18" charset="0"/>
              </a:rPr>
              <a:t>6. Indexing jig</a:t>
            </a:r>
          </a:p>
          <a:p>
            <a:pPr algn="just"/>
            <a:r>
              <a:rPr lang="en-US" sz="2400" dirty="0" smtClean="0">
                <a:latin typeface="Times New Roman" pitchFamily="18" charset="0"/>
                <a:cs typeface="Times New Roman" pitchFamily="18" charset="0"/>
              </a:rPr>
              <a:t>Drill </a:t>
            </a:r>
            <a:r>
              <a:rPr lang="en-US" sz="2400" dirty="0">
                <a:latin typeface="Times New Roman" pitchFamily="18" charset="0"/>
                <a:cs typeface="Times New Roman" pitchFamily="18" charset="0"/>
              </a:rPr>
              <a:t>jig in which index plate is </a:t>
            </a:r>
            <a:r>
              <a:rPr lang="en-US" sz="2400" dirty="0" smtClean="0">
                <a:latin typeface="Times New Roman" pitchFamily="18" charset="0"/>
                <a:cs typeface="Times New Roman" pitchFamily="18" charset="0"/>
              </a:rPr>
              <a:t>incorporated so </a:t>
            </a:r>
            <a:r>
              <a:rPr lang="en-US" sz="2400" dirty="0">
                <a:latin typeface="Times New Roman" pitchFamily="18" charset="0"/>
                <a:cs typeface="Times New Roman" pitchFamily="18" charset="0"/>
              </a:rPr>
              <a:t>that the work piece can be </a:t>
            </a:r>
            <a:r>
              <a:rPr lang="en-US" sz="2400" dirty="0" smtClean="0">
                <a:latin typeface="Times New Roman" pitchFamily="18" charset="0"/>
                <a:cs typeface="Times New Roman" pitchFamily="18" charset="0"/>
              </a:rPr>
              <a:t>indexed successively </a:t>
            </a:r>
            <a:r>
              <a:rPr lang="en-US" sz="2400" dirty="0">
                <a:latin typeface="Times New Roman" pitchFamily="18" charset="0"/>
                <a:cs typeface="Times New Roman" pitchFamily="18" charset="0"/>
              </a:rPr>
              <a:t>for drilling series of holes </a:t>
            </a:r>
            <a:r>
              <a:rPr lang="en-US" sz="2400" dirty="0" smtClean="0">
                <a:latin typeface="Times New Roman" pitchFamily="18" charset="0"/>
                <a:cs typeface="Times New Roman" pitchFamily="18" charset="0"/>
              </a:rPr>
              <a:t>on its </a:t>
            </a:r>
            <a:r>
              <a:rPr lang="en-US" sz="2400" dirty="0">
                <a:latin typeface="Times New Roman" pitchFamily="18" charset="0"/>
                <a:cs typeface="Times New Roman" pitchFamily="18" charset="0"/>
              </a:rPr>
              <a:t>surface under a single bushing</a:t>
            </a:r>
          </a:p>
          <a:p>
            <a:pPr marL="0" indent="0" algn="just">
              <a:buNone/>
            </a:pPr>
            <a:r>
              <a:rPr lang="en-US" sz="2400" dirty="0">
                <a:latin typeface="Times New Roman" pitchFamily="18" charset="0"/>
                <a:cs typeface="Times New Roman" pitchFamily="18" charset="0"/>
              </a:rPr>
              <a:t>7. Universal jig</a:t>
            </a:r>
          </a:p>
          <a:p>
            <a:pPr algn="just"/>
            <a:r>
              <a:rPr lang="en-US" sz="2400" dirty="0" smtClean="0">
                <a:latin typeface="Times New Roman" pitchFamily="18" charset="0"/>
                <a:cs typeface="Times New Roman" pitchFamily="18" charset="0"/>
              </a:rPr>
              <a:t>Universal </a:t>
            </a:r>
            <a:r>
              <a:rPr lang="en-US" sz="2400" dirty="0">
                <a:latin typeface="Times New Roman" pitchFamily="18" charset="0"/>
                <a:cs typeface="Times New Roman" pitchFamily="18" charset="0"/>
              </a:rPr>
              <a:t>or pump jigs are plate jigs </a:t>
            </a:r>
            <a:r>
              <a:rPr lang="en-US" sz="2400" dirty="0" smtClean="0">
                <a:latin typeface="Times New Roman" pitchFamily="18" charset="0"/>
                <a:cs typeface="Times New Roman" pitchFamily="18" charset="0"/>
              </a:rPr>
              <a:t>with guide </a:t>
            </a:r>
            <a:r>
              <a:rPr lang="en-US" sz="2400" dirty="0">
                <a:latin typeface="Times New Roman" pitchFamily="18" charset="0"/>
                <a:cs typeface="Times New Roman" pitchFamily="18" charset="0"/>
              </a:rPr>
              <a:t>pillars</a:t>
            </a:r>
          </a:p>
          <a:p>
            <a:pPr algn="just"/>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guide pillars position the drill </a:t>
            </a:r>
            <a:r>
              <a:rPr lang="en-US" sz="2400" dirty="0" smtClean="0">
                <a:latin typeface="Times New Roman" pitchFamily="18" charset="0"/>
                <a:cs typeface="Times New Roman" pitchFamily="18" charset="0"/>
              </a:rPr>
              <a:t>bushes correctly </a:t>
            </a:r>
            <a:r>
              <a:rPr lang="en-US" sz="2400" dirty="0">
                <a:latin typeface="Times New Roman" pitchFamily="18" charset="0"/>
                <a:cs typeface="Times New Roman" pitchFamily="18" charset="0"/>
              </a:rPr>
              <a:t>with respect to the work </a:t>
            </a:r>
            <a:r>
              <a:rPr lang="en-US" sz="2400" dirty="0" smtClean="0">
                <a:latin typeface="Times New Roman" pitchFamily="18" charset="0"/>
                <a:cs typeface="Times New Roman" pitchFamily="18" charset="0"/>
              </a:rPr>
              <a:t>piece located </a:t>
            </a:r>
            <a:r>
              <a:rPr lang="en-US" sz="2400" dirty="0">
                <a:latin typeface="Times New Roman" pitchFamily="18" charset="0"/>
                <a:cs typeface="Times New Roman" pitchFamily="18" charset="0"/>
              </a:rPr>
              <a:t>on the base plate</a:t>
            </a:r>
          </a:p>
          <a:p>
            <a:pPr algn="just"/>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jig plate is lowered to touch and </a:t>
            </a:r>
            <a:r>
              <a:rPr lang="en-US" sz="2400" dirty="0" smtClean="0">
                <a:latin typeface="Times New Roman" pitchFamily="18" charset="0"/>
                <a:cs typeface="Times New Roman" pitchFamily="18" charset="0"/>
              </a:rPr>
              <a:t>clamp the </a:t>
            </a:r>
            <a:r>
              <a:rPr lang="en-US" sz="2400" dirty="0">
                <a:latin typeface="Times New Roman" pitchFamily="18" charset="0"/>
                <a:cs typeface="Times New Roman" pitchFamily="18" charset="0"/>
              </a:rPr>
              <a:t>work piece, and after drilling it is </a:t>
            </a:r>
            <a:r>
              <a:rPr lang="en-US" sz="2400" dirty="0" smtClean="0">
                <a:latin typeface="Times New Roman" pitchFamily="18" charset="0"/>
                <a:cs typeface="Times New Roman" pitchFamily="18" charset="0"/>
              </a:rPr>
              <a:t>raised to </a:t>
            </a:r>
            <a:r>
              <a:rPr lang="en-US" sz="2400" dirty="0">
                <a:latin typeface="Times New Roman" pitchFamily="18" charset="0"/>
                <a:cs typeface="Times New Roman" pitchFamily="18" charset="0"/>
              </a:rPr>
              <a:t>relieve the work piece</a:t>
            </a:r>
          </a:p>
          <a:p>
            <a:pPr algn="just"/>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jig plate is moved by handle </a:t>
            </a:r>
            <a:r>
              <a:rPr lang="en-US" sz="2400" dirty="0" smtClean="0">
                <a:latin typeface="Times New Roman" pitchFamily="18" charset="0"/>
                <a:cs typeface="Times New Roman" pitchFamily="18" charset="0"/>
              </a:rPr>
              <a:t>which operates </a:t>
            </a:r>
            <a:r>
              <a:rPr lang="en-US" sz="2400" dirty="0">
                <a:latin typeface="Times New Roman" pitchFamily="18" charset="0"/>
                <a:cs typeface="Times New Roman" pitchFamily="18" charset="0"/>
              </a:rPr>
              <a:t>rack and pinion</a:t>
            </a:r>
          </a:p>
          <a:p>
            <a:pPr algn="just"/>
            <a:r>
              <a:rPr lang="en-US" sz="2400" dirty="0" smtClean="0">
                <a:latin typeface="Times New Roman" pitchFamily="18" charset="0"/>
                <a:cs typeface="Times New Roman" pitchFamily="18" charset="0"/>
              </a:rPr>
              <a:t>Universal </a:t>
            </a:r>
            <a:r>
              <a:rPr lang="en-US" sz="2400" dirty="0">
                <a:latin typeface="Times New Roman" pitchFamily="18" charset="0"/>
                <a:cs typeface="Times New Roman" pitchFamily="18" charset="0"/>
              </a:rPr>
              <a:t>jigs are used for drilling </a:t>
            </a:r>
            <a:r>
              <a:rPr lang="en-US" sz="2400" dirty="0" smtClean="0">
                <a:latin typeface="Times New Roman" pitchFamily="18" charset="0"/>
                <a:cs typeface="Times New Roman" pitchFamily="18" charset="0"/>
              </a:rPr>
              <a:t>work pieces </a:t>
            </a:r>
            <a:r>
              <a:rPr lang="en-US" sz="2400" dirty="0">
                <a:latin typeface="Times New Roman" pitchFamily="18" charset="0"/>
                <a:cs typeface="Times New Roman" pitchFamily="18" charset="0"/>
              </a:rPr>
              <a:t>having parallel surfaces</a:t>
            </a:r>
          </a:p>
        </p:txBody>
      </p:sp>
      <p:sp>
        <p:nvSpPr>
          <p:cNvPr id="4" name="Slide Number Placeholder 3"/>
          <p:cNvSpPr>
            <a:spLocks noGrp="1"/>
          </p:cNvSpPr>
          <p:nvPr>
            <p:ph type="sldNum" sz="quarter" idx="12"/>
          </p:nvPr>
        </p:nvSpPr>
        <p:spPr/>
        <p:txBody>
          <a:bodyPr/>
          <a:lstStyle/>
          <a:p>
            <a:fld id="{4D374F10-0401-4224-9624-EB074E096B44}" type="slidenum">
              <a:rPr lang="en-US" smtClean="0"/>
              <a:pPr/>
              <a:t>68</a:t>
            </a:fld>
            <a:endParaRPr lang="en-US"/>
          </a:p>
        </p:txBody>
      </p:sp>
    </p:spTree>
    <p:extLst>
      <p:ext uri="{BB962C8B-B14F-4D97-AF65-F5344CB8AC3E}">
        <p14:creationId xmlns:p14="http://schemas.microsoft.com/office/powerpoint/2010/main" xmlns="" val="16484097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229600" cy="418058"/>
          </a:xfrm>
        </p:spPr>
        <p:txBody>
          <a:bodyPr>
            <a:noAutofit/>
          </a:bodyPr>
          <a:lstStyle/>
          <a:p>
            <a:r>
              <a:rPr lang="en-US" sz="3200" dirty="0" smtClean="0">
                <a:latin typeface="Times New Roman" pitchFamily="18" charset="0"/>
                <a:cs typeface="Times New Roman" pitchFamily="18" charset="0"/>
              </a:rPr>
              <a:t>TYPES OF FIXTURES</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107504" y="692696"/>
            <a:ext cx="5112568" cy="6048672"/>
          </a:xfrm>
        </p:spPr>
        <p:txBody>
          <a:bodyPr>
            <a:normAutofit/>
          </a:bodyPr>
          <a:lstStyle/>
          <a:p>
            <a:pPr marL="0" indent="0" algn="just">
              <a:buNone/>
            </a:pPr>
            <a:r>
              <a:rPr lang="en-US" sz="2200" dirty="0">
                <a:latin typeface="Times New Roman" pitchFamily="18" charset="0"/>
                <a:cs typeface="Times New Roman" pitchFamily="18" charset="0"/>
              </a:rPr>
              <a:t>1. Machine vices</a:t>
            </a:r>
          </a:p>
          <a:p>
            <a:pPr algn="just"/>
            <a:r>
              <a:rPr lang="en-US" sz="2200" dirty="0" smtClean="0">
                <a:latin typeface="Times New Roman" pitchFamily="18" charset="0"/>
                <a:cs typeface="Times New Roman" pitchFamily="18" charset="0"/>
              </a:rPr>
              <a:t>The </a:t>
            </a:r>
            <a:r>
              <a:rPr lang="en-US" sz="2200" dirty="0">
                <a:latin typeface="Times New Roman" pitchFamily="18" charset="0"/>
                <a:cs typeface="Times New Roman" pitchFamily="18" charset="0"/>
              </a:rPr>
              <a:t>machine vice is the simplest form </a:t>
            </a:r>
            <a:r>
              <a:rPr lang="en-US" sz="2200" dirty="0" smtClean="0">
                <a:latin typeface="Times New Roman" pitchFamily="18" charset="0"/>
                <a:cs typeface="Times New Roman" pitchFamily="18" charset="0"/>
              </a:rPr>
              <a:t>of fixtures </a:t>
            </a:r>
            <a:r>
              <a:rPr lang="en-US" sz="2200" dirty="0">
                <a:latin typeface="Times New Roman" pitchFamily="18" charset="0"/>
                <a:cs typeface="Times New Roman" pitchFamily="18" charset="0"/>
              </a:rPr>
              <a:t>used to hold the parts for machining</a:t>
            </a:r>
          </a:p>
          <a:p>
            <a:pPr algn="just"/>
            <a:r>
              <a:rPr lang="en-US" sz="2200" dirty="0" smtClean="0">
                <a:latin typeface="Times New Roman" pitchFamily="18" charset="0"/>
                <a:cs typeface="Times New Roman" pitchFamily="18" charset="0"/>
              </a:rPr>
              <a:t>Special </a:t>
            </a:r>
            <a:r>
              <a:rPr lang="en-US" sz="2200" dirty="0">
                <a:latin typeface="Times New Roman" pitchFamily="18" charset="0"/>
                <a:cs typeface="Times New Roman" pitchFamily="18" charset="0"/>
              </a:rPr>
              <a:t>jaws are designed to </a:t>
            </a:r>
            <a:r>
              <a:rPr lang="en-US" sz="2200" dirty="0" smtClean="0">
                <a:latin typeface="Times New Roman" pitchFamily="18" charset="0"/>
                <a:cs typeface="Times New Roman" pitchFamily="18" charset="0"/>
              </a:rPr>
              <a:t>accommodate off </a:t>
            </a:r>
            <a:r>
              <a:rPr lang="en-US" sz="2200" dirty="0">
                <a:latin typeface="Times New Roman" pitchFamily="18" charset="0"/>
                <a:cs typeface="Times New Roman" pitchFamily="18" charset="0"/>
              </a:rPr>
              <a:t>shaped work piece and at the same </a:t>
            </a:r>
            <a:r>
              <a:rPr lang="en-US" sz="2200" dirty="0" smtClean="0">
                <a:latin typeface="Times New Roman" pitchFamily="18" charset="0"/>
                <a:cs typeface="Times New Roman" pitchFamily="18" charset="0"/>
              </a:rPr>
              <a:t>time to </a:t>
            </a:r>
            <a:r>
              <a:rPr lang="en-US" sz="2200" dirty="0">
                <a:latin typeface="Times New Roman" pitchFamily="18" charset="0"/>
                <a:cs typeface="Times New Roman" pitchFamily="18" charset="0"/>
              </a:rPr>
              <a:t>prevent damage to machined </a:t>
            </a:r>
            <a:r>
              <a:rPr lang="en-US" sz="2200" dirty="0" smtClean="0">
                <a:latin typeface="Times New Roman" pitchFamily="18" charset="0"/>
                <a:cs typeface="Times New Roman" pitchFamily="18" charset="0"/>
              </a:rPr>
              <a:t>surfaces</a:t>
            </a:r>
          </a:p>
          <a:p>
            <a:pPr marL="0" indent="0" algn="just">
              <a:buNone/>
            </a:pPr>
            <a:r>
              <a:rPr lang="en-US" sz="2200" dirty="0">
                <a:latin typeface="Times New Roman" pitchFamily="18" charset="0"/>
                <a:cs typeface="Times New Roman" pitchFamily="18" charset="0"/>
              </a:rPr>
              <a:t>2. Milling fixtures</a:t>
            </a:r>
          </a:p>
          <a:p>
            <a:pPr algn="just"/>
            <a:r>
              <a:rPr lang="en-US" sz="2200" dirty="0" smtClean="0">
                <a:latin typeface="Times New Roman" pitchFamily="18" charset="0"/>
                <a:cs typeface="Times New Roman" pitchFamily="18" charset="0"/>
              </a:rPr>
              <a:t>The </a:t>
            </a:r>
            <a:r>
              <a:rPr lang="en-US" sz="2200" dirty="0">
                <a:latin typeface="Times New Roman" pitchFamily="18" charset="0"/>
                <a:cs typeface="Times New Roman" pitchFamily="18" charset="0"/>
              </a:rPr>
              <a:t>cutting force induced in milling </a:t>
            </a:r>
            <a:r>
              <a:rPr lang="en-US" sz="2200" dirty="0" smtClean="0">
                <a:latin typeface="Times New Roman" pitchFamily="18" charset="0"/>
                <a:cs typeface="Times New Roman" pitchFamily="18" charset="0"/>
              </a:rPr>
              <a:t>is heavy </a:t>
            </a:r>
            <a:r>
              <a:rPr lang="en-US" sz="2200" dirty="0">
                <a:latin typeface="Times New Roman" pitchFamily="18" charset="0"/>
                <a:cs typeface="Times New Roman" pitchFamily="18" charset="0"/>
              </a:rPr>
              <a:t>and therefore, the fixture is </a:t>
            </a:r>
            <a:r>
              <a:rPr lang="en-US" sz="2200" dirty="0" smtClean="0">
                <a:latin typeface="Times New Roman" pitchFamily="18" charset="0"/>
                <a:cs typeface="Times New Roman" pitchFamily="18" charset="0"/>
              </a:rPr>
              <a:t>rigidity attached </a:t>
            </a:r>
            <a:r>
              <a:rPr lang="en-US" sz="2200" dirty="0">
                <a:latin typeface="Times New Roman" pitchFamily="18" charset="0"/>
                <a:cs typeface="Times New Roman" pitchFamily="18" charset="0"/>
              </a:rPr>
              <a:t>to the table</a:t>
            </a:r>
          </a:p>
          <a:p>
            <a:pPr algn="just"/>
            <a:r>
              <a:rPr lang="en-US" sz="2200" dirty="0" smtClean="0">
                <a:latin typeface="Times New Roman" pitchFamily="18" charset="0"/>
                <a:cs typeface="Times New Roman" pitchFamily="18" charset="0"/>
              </a:rPr>
              <a:t>Essentially </a:t>
            </a:r>
            <a:r>
              <a:rPr lang="en-US" sz="2200" dirty="0">
                <a:latin typeface="Times New Roman" pitchFamily="18" charset="0"/>
                <a:cs typeface="Times New Roman" pitchFamily="18" charset="0"/>
              </a:rPr>
              <a:t>consists of base, </a:t>
            </a:r>
            <a:r>
              <a:rPr lang="en-US" sz="2200" dirty="0" err="1">
                <a:latin typeface="Times New Roman" pitchFamily="18" charset="0"/>
                <a:cs typeface="Times New Roman" pitchFamily="18" charset="0"/>
              </a:rPr>
              <a:t>tenon</a:t>
            </a: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strips, setting </a:t>
            </a:r>
            <a:r>
              <a:rPr lang="en-US" sz="2200" dirty="0">
                <a:latin typeface="Times New Roman" pitchFamily="18" charset="0"/>
                <a:cs typeface="Times New Roman" pitchFamily="18" charset="0"/>
              </a:rPr>
              <a:t>blocks, T-bolts, clamps and </a:t>
            </a:r>
            <a:r>
              <a:rPr lang="en-US" sz="2200" dirty="0" smtClean="0">
                <a:latin typeface="Times New Roman" pitchFamily="18" charset="0"/>
                <a:cs typeface="Times New Roman" pitchFamily="18" charset="0"/>
              </a:rPr>
              <a:t>locating pins</a:t>
            </a:r>
            <a:endParaRPr lang="en-US" sz="2200" dirty="0">
              <a:latin typeface="Times New Roman" pitchFamily="18" charset="0"/>
              <a:cs typeface="Times New Roman" pitchFamily="18" charset="0"/>
            </a:endParaRPr>
          </a:p>
        </p:txBody>
      </p:sp>
      <p:pic>
        <p:nvPicPr>
          <p:cNvPr id="4" name="Picture 3"/>
          <p:cNvPicPr>
            <a:picLocks noChangeAspect="1"/>
          </p:cNvPicPr>
          <p:nvPr/>
        </p:nvPicPr>
        <p:blipFill>
          <a:blip r:embed="rId2"/>
          <a:stretch>
            <a:fillRect/>
          </a:stretch>
        </p:blipFill>
        <p:spPr>
          <a:xfrm>
            <a:off x="5603948" y="620688"/>
            <a:ext cx="3432548" cy="3328531"/>
          </a:xfrm>
          <a:prstGeom prst="rect">
            <a:avLst/>
          </a:prstGeom>
        </p:spPr>
      </p:pic>
      <p:pic>
        <p:nvPicPr>
          <p:cNvPr id="5" name="Picture 4"/>
          <p:cNvPicPr>
            <a:picLocks noChangeAspect="1"/>
          </p:cNvPicPr>
          <p:nvPr/>
        </p:nvPicPr>
        <p:blipFill>
          <a:blip r:embed="rId3"/>
          <a:stretch>
            <a:fillRect/>
          </a:stretch>
        </p:blipFill>
        <p:spPr>
          <a:xfrm>
            <a:off x="5629697" y="4005064"/>
            <a:ext cx="3334791" cy="2649766"/>
          </a:xfrm>
          <a:prstGeom prst="rect">
            <a:avLst/>
          </a:prstGeom>
        </p:spPr>
      </p:pic>
      <p:sp>
        <p:nvSpPr>
          <p:cNvPr id="6" name="Slide Number Placeholder 5"/>
          <p:cNvSpPr>
            <a:spLocks noGrp="1"/>
          </p:cNvSpPr>
          <p:nvPr>
            <p:ph type="sldNum" sz="quarter" idx="12"/>
          </p:nvPr>
        </p:nvSpPr>
        <p:spPr/>
        <p:txBody>
          <a:bodyPr/>
          <a:lstStyle/>
          <a:p>
            <a:fld id="{4D374F10-0401-4224-9624-EB074E096B44}" type="slidenum">
              <a:rPr lang="en-US" smtClean="0"/>
              <a:pPr/>
              <a:t>69</a:t>
            </a:fld>
            <a:endParaRPr lang="en-US"/>
          </a:p>
        </p:txBody>
      </p:sp>
    </p:spTree>
    <p:extLst>
      <p:ext uri="{BB962C8B-B14F-4D97-AF65-F5344CB8AC3E}">
        <p14:creationId xmlns:p14="http://schemas.microsoft.com/office/powerpoint/2010/main" xmlns="" val="16910823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500042"/>
            <a:ext cx="8229600" cy="1972816"/>
          </a:xfrm>
        </p:spPr>
        <p:txBody>
          <a:bodyPr>
            <a:normAutofit/>
          </a:bodyPr>
          <a:lstStyle/>
          <a:p>
            <a:pPr marL="0" indent="0" algn="just">
              <a:buNone/>
            </a:pPr>
            <a:r>
              <a:rPr lang="en-US" sz="2200" dirty="0">
                <a:latin typeface="Times New Roman" pitchFamily="18" charset="0"/>
                <a:cs typeface="Times New Roman" pitchFamily="18" charset="0"/>
              </a:rPr>
              <a:t>3. Boring fixture</a:t>
            </a:r>
          </a:p>
          <a:p>
            <a:pPr algn="just"/>
            <a:r>
              <a:rPr lang="en-US" sz="2200" dirty="0" smtClean="0">
                <a:latin typeface="Times New Roman" pitchFamily="18" charset="0"/>
                <a:cs typeface="Times New Roman" pitchFamily="18" charset="0"/>
              </a:rPr>
              <a:t>Purpose </a:t>
            </a:r>
            <a:r>
              <a:rPr lang="en-US" sz="2200" dirty="0">
                <a:latin typeface="Times New Roman" pitchFamily="18" charset="0"/>
                <a:cs typeface="Times New Roman" pitchFamily="18" charset="0"/>
              </a:rPr>
              <a:t>is to guide the boring bar as </a:t>
            </a:r>
            <a:r>
              <a:rPr lang="en-US" sz="2200" dirty="0" smtClean="0">
                <a:latin typeface="Times New Roman" pitchFamily="18" charset="0"/>
                <a:cs typeface="Times New Roman" pitchFamily="18" charset="0"/>
              </a:rPr>
              <a:t>in drilling </a:t>
            </a:r>
            <a:r>
              <a:rPr lang="en-US" sz="2200" dirty="0">
                <a:latin typeface="Times New Roman" pitchFamily="18" charset="0"/>
                <a:cs typeface="Times New Roman" pitchFamily="18" charset="0"/>
              </a:rPr>
              <a:t>or to hold the work piece in position</a:t>
            </a:r>
          </a:p>
          <a:p>
            <a:pPr algn="just"/>
            <a:r>
              <a:rPr lang="en-US" sz="2200" dirty="0" smtClean="0">
                <a:latin typeface="Times New Roman" pitchFamily="18" charset="0"/>
                <a:cs typeface="Times New Roman" pitchFamily="18" charset="0"/>
              </a:rPr>
              <a:t>Not </a:t>
            </a:r>
            <a:r>
              <a:rPr lang="en-US" sz="2200" dirty="0">
                <a:latin typeface="Times New Roman" pitchFamily="18" charset="0"/>
                <a:cs typeface="Times New Roman" pitchFamily="18" charset="0"/>
              </a:rPr>
              <a:t>rigid because cutting force induced </a:t>
            </a:r>
            <a:r>
              <a:rPr lang="en-US" sz="2200" dirty="0" smtClean="0">
                <a:latin typeface="Times New Roman" pitchFamily="18" charset="0"/>
                <a:cs typeface="Times New Roman" pitchFamily="18" charset="0"/>
              </a:rPr>
              <a:t>is smaller </a:t>
            </a:r>
            <a:r>
              <a:rPr lang="en-US" sz="2200" dirty="0">
                <a:latin typeface="Times New Roman" pitchFamily="18" charset="0"/>
                <a:cs typeface="Times New Roman" pitchFamily="18" charset="0"/>
              </a:rPr>
              <a:t>than milling</a:t>
            </a:r>
          </a:p>
        </p:txBody>
      </p:sp>
      <p:pic>
        <p:nvPicPr>
          <p:cNvPr id="4" name="Picture 3"/>
          <p:cNvPicPr>
            <a:picLocks noChangeAspect="1"/>
          </p:cNvPicPr>
          <p:nvPr/>
        </p:nvPicPr>
        <p:blipFill>
          <a:blip r:embed="rId2"/>
          <a:stretch>
            <a:fillRect/>
          </a:stretch>
        </p:blipFill>
        <p:spPr>
          <a:xfrm>
            <a:off x="2152849" y="2665512"/>
            <a:ext cx="4858990" cy="3389749"/>
          </a:xfrm>
          <a:prstGeom prst="rect">
            <a:avLst/>
          </a:prstGeom>
        </p:spPr>
      </p:pic>
      <p:sp>
        <p:nvSpPr>
          <p:cNvPr id="5" name="Slide Number Placeholder 4"/>
          <p:cNvSpPr>
            <a:spLocks noGrp="1"/>
          </p:cNvSpPr>
          <p:nvPr>
            <p:ph type="sldNum" sz="quarter" idx="12"/>
          </p:nvPr>
        </p:nvSpPr>
        <p:spPr/>
        <p:txBody>
          <a:bodyPr/>
          <a:lstStyle/>
          <a:p>
            <a:fld id="{4D374F10-0401-4224-9624-EB074E096B44}" type="slidenum">
              <a:rPr lang="en-US" smtClean="0"/>
              <a:pPr/>
              <a:t>70</a:t>
            </a:fld>
            <a:endParaRPr lang="en-US"/>
          </a:p>
        </p:txBody>
      </p:sp>
    </p:spTree>
    <p:extLst>
      <p:ext uri="{BB962C8B-B14F-4D97-AF65-F5344CB8AC3E}">
        <p14:creationId xmlns:p14="http://schemas.microsoft.com/office/powerpoint/2010/main" xmlns="" val="30713280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813</TotalTime>
  <Words>6612</Words>
  <Application>Microsoft Office PowerPoint</Application>
  <PresentationFormat>On-screen Show (4:3)</PresentationFormat>
  <Paragraphs>536</Paragraphs>
  <Slides>70</Slides>
  <Notes>0</Notes>
  <HiddenSlides>0</HiddenSlides>
  <MMClips>0</MMClips>
  <ScaleCrop>false</ScaleCrop>
  <HeadingPairs>
    <vt:vector size="4" baseType="variant">
      <vt:variant>
        <vt:lpstr>Theme</vt:lpstr>
      </vt:variant>
      <vt:variant>
        <vt:i4>1</vt:i4>
      </vt:variant>
      <vt:variant>
        <vt:lpstr>Slide Titles</vt:lpstr>
      </vt:variant>
      <vt:variant>
        <vt:i4>70</vt:i4>
      </vt:variant>
    </vt:vector>
  </HeadingPairs>
  <TitlesOfParts>
    <vt:vector size="71" baseType="lpstr">
      <vt:lpstr>Office Theme</vt:lpstr>
      <vt:lpstr>MACHINING SCIENCE AND MACHINE TOOLS</vt:lpstr>
      <vt:lpstr>MILLING</vt:lpstr>
      <vt:lpstr>Slide 3</vt:lpstr>
      <vt:lpstr>Slide 4</vt:lpstr>
      <vt:lpstr>Types of Milling Machines</vt:lpstr>
      <vt:lpstr>Slide 6</vt:lpstr>
      <vt:lpstr>PARTS OF COLUMN AND KNEE TYPE MILLING MACHINE</vt:lpstr>
      <vt:lpstr>Slide 8</vt:lpstr>
      <vt:lpstr>Slide 9</vt:lpstr>
      <vt:lpstr>Slide 10</vt:lpstr>
      <vt:lpstr>BED TYPE MILLING MACHINES</vt:lpstr>
      <vt:lpstr>Slide 12</vt:lpstr>
      <vt:lpstr>Milling Cutters</vt:lpstr>
      <vt:lpstr>MILLING CUTTER AND ITS ELEMENTS</vt:lpstr>
      <vt:lpstr>Slide 15</vt:lpstr>
      <vt:lpstr>Slide 16</vt:lpstr>
      <vt:lpstr>Slide 17</vt:lpstr>
      <vt:lpstr>Slide 18</vt:lpstr>
      <vt:lpstr>Slide 19</vt:lpstr>
      <vt:lpstr>Slide 20</vt:lpstr>
      <vt:lpstr>Slide 21</vt:lpstr>
      <vt:lpstr>INDEXING METHODS</vt:lpstr>
      <vt:lpstr>DIVIDING HEAD</vt:lpstr>
      <vt:lpstr>Slide 24</vt:lpstr>
      <vt:lpstr>Slide 25</vt:lpstr>
      <vt:lpstr>Slide 26</vt:lpstr>
      <vt:lpstr>SIMPLE OR PLAIN INDEXING</vt:lpstr>
      <vt:lpstr>Slide 28</vt:lpstr>
      <vt:lpstr>Slide 29</vt:lpstr>
      <vt:lpstr>COMPOUND INDEXING</vt:lpstr>
      <vt:lpstr>Angular Indexing</vt:lpstr>
      <vt:lpstr>Differential Indexing</vt:lpstr>
      <vt:lpstr>Slide 33</vt:lpstr>
      <vt:lpstr>GRINDING</vt:lpstr>
      <vt:lpstr>Slide 35</vt:lpstr>
      <vt:lpstr>Slide 36</vt:lpstr>
      <vt:lpstr>Slide 37</vt:lpstr>
      <vt:lpstr>Slide 38</vt:lpstr>
      <vt:lpstr>Slide 39</vt:lpstr>
      <vt:lpstr>Slide 40</vt:lpstr>
      <vt:lpstr>Slide 41</vt:lpstr>
      <vt:lpstr>Slide 42</vt:lpstr>
      <vt:lpstr>Grinding wheel types</vt:lpstr>
      <vt:lpstr>Types of grinding machines</vt:lpstr>
      <vt:lpstr>CYLINDRICAL GRINDING</vt:lpstr>
      <vt:lpstr>Slide 46</vt:lpstr>
      <vt:lpstr>Slide 47</vt:lpstr>
      <vt:lpstr>Slide 48</vt:lpstr>
      <vt:lpstr>CENTRELESS GRINDING</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JIGS AND FIXTURES</vt:lpstr>
      <vt:lpstr>DIFFERENCE BETWEEN JIGS AND FIXTURES</vt:lpstr>
      <vt:lpstr>Slide 64</vt:lpstr>
      <vt:lpstr>PRINCIPLES OF LOCATION</vt:lpstr>
      <vt:lpstr>TYPES OF DRILL JIGS</vt:lpstr>
      <vt:lpstr>Slide 67</vt:lpstr>
      <vt:lpstr>Slide 68</vt:lpstr>
      <vt:lpstr>TYPES OF FIXTURES</vt:lpstr>
      <vt:lpstr>Slide 70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MACHINING SCIENCE AND MACHINE TOOLS</dc:title>
  <dc:creator>CAD LAB</dc:creator>
  <cp:lastModifiedBy>admin</cp:lastModifiedBy>
  <cp:revision>88</cp:revision>
  <dcterms:created xsi:type="dcterms:W3CDTF">2023-12-11T08:39:58Z</dcterms:created>
  <dcterms:modified xsi:type="dcterms:W3CDTF">2024-11-14T06:26:20Z</dcterms:modified>
</cp:coreProperties>
</file>