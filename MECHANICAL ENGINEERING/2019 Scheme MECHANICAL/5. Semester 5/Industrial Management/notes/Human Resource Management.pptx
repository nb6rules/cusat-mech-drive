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93" r:id="rId8"/>
    <p:sldId id="262" r:id="rId9"/>
    <p:sldId id="264" r:id="rId10"/>
    <p:sldId id="263" r:id="rId11"/>
    <p:sldId id="265" r:id="rId12"/>
    <p:sldId id="266" r:id="rId13"/>
    <p:sldId id="267" r:id="rId14"/>
    <p:sldId id="268" r:id="rId15"/>
    <p:sldId id="269" r:id="rId16"/>
    <p:sldId id="270" r:id="rId17"/>
    <p:sldId id="272" r:id="rId18"/>
    <p:sldId id="273" r:id="rId19"/>
    <p:sldId id="271"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310" r:id="rId37"/>
    <p:sldId id="292" r:id="rId38"/>
    <p:sldId id="290" r:id="rId39"/>
    <p:sldId id="291" r:id="rId40"/>
    <p:sldId id="294" r:id="rId41"/>
    <p:sldId id="295" r:id="rId42"/>
    <p:sldId id="311" r:id="rId43"/>
    <p:sldId id="298" r:id="rId44"/>
    <p:sldId id="299" r:id="rId45"/>
    <p:sldId id="300" r:id="rId46"/>
    <p:sldId id="301" r:id="rId47"/>
    <p:sldId id="302" r:id="rId48"/>
    <p:sldId id="296" r:id="rId49"/>
    <p:sldId id="297" r:id="rId50"/>
    <p:sldId id="303" r:id="rId51"/>
    <p:sldId id="304" r:id="rId52"/>
    <p:sldId id="305" r:id="rId53"/>
    <p:sldId id="306" r:id="rId54"/>
    <p:sldId id="307" r:id="rId55"/>
    <p:sldId id="308" r:id="rId56"/>
    <p:sldId id="309" r:id="rId57"/>
    <p:sldId id="365"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67"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68" r:id="rId97"/>
    <p:sldId id="369" r:id="rId98"/>
    <p:sldId id="370" r:id="rId99"/>
    <p:sldId id="380" r:id="rId100"/>
    <p:sldId id="381" r:id="rId101"/>
    <p:sldId id="382" r:id="rId102"/>
    <p:sldId id="371" r:id="rId103"/>
    <p:sldId id="372" r:id="rId104"/>
    <p:sldId id="373" r:id="rId105"/>
    <p:sldId id="374" r:id="rId106"/>
    <p:sldId id="375" r:id="rId107"/>
    <p:sldId id="376" r:id="rId108"/>
    <p:sldId id="377" r:id="rId109"/>
    <p:sldId id="378" r:id="rId110"/>
    <p:sldId id="379" r:id="rId111"/>
    <p:sldId id="350" r:id="rId112"/>
    <p:sldId id="351" r:id="rId113"/>
    <p:sldId id="352" r:id="rId114"/>
    <p:sldId id="353" r:id="rId115"/>
    <p:sldId id="354" r:id="rId116"/>
    <p:sldId id="355" r:id="rId117"/>
    <p:sldId id="356" r:id="rId118"/>
    <p:sldId id="357" r:id="rId119"/>
    <p:sldId id="358" r:id="rId120"/>
    <p:sldId id="359" r:id="rId121"/>
    <p:sldId id="360" r:id="rId122"/>
    <p:sldId id="361" r:id="rId123"/>
    <p:sldId id="362" r:id="rId124"/>
    <p:sldId id="363" r:id="rId125"/>
    <p:sldId id="364" r:id="rId126"/>
    <p:sldId id="366"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94660"/>
  </p:normalViewPr>
  <p:slideViewPr>
    <p:cSldViewPr snapToGrid="0">
      <p:cViewPr varScale="1">
        <p:scale>
          <a:sx n="60" d="100"/>
          <a:sy n="60" d="100"/>
        </p:scale>
        <p:origin x="82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49DD-6FE8-3622-43B6-9F1F34B1F3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3D76D0-9B64-6DB0-7840-3FA933D0BC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C5DAFE-2CEC-1B5A-1FFD-AF721A4B54D4}"/>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5" name="Footer Placeholder 4">
            <a:extLst>
              <a:ext uri="{FF2B5EF4-FFF2-40B4-BE49-F238E27FC236}">
                <a16:creationId xmlns:a16="http://schemas.microsoft.com/office/drawing/2014/main" id="{E4EDC9DE-6B6E-BF94-5B67-46E3C09E33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7056E1-C476-65E1-6450-ADDF2CFF3C3F}"/>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1125657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89C0-5AF5-78A9-0DDC-EE6729DD74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1EDBCC-1C32-8227-1447-8920DD068E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53FB18-C4B6-9A55-E790-6C57B5FCD730}"/>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5" name="Footer Placeholder 4">
            <a:extLst>
              <a:ext uri="{FF2B5EF4-FFF2-40B4-BE49-F238E27FC236}">
                <a16:creationId xmlns:a16="http://schemas.microsoft.com/office/drawing/2014/main" id="{CF932305-A8F2-37C0-F864-12D639D9C7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D8C6BD-3E27-37A7-5FCF-D326458A0A50}"/>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1166749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C802-6D4E-F849-1341-DD98B9C757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764EA2-92A4-BFEC-BF72-5EA7DC7F91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3CB8D2-C6BF-39B7-D493-F2A4BD659A04}"/>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5" name="Footer Placeholder 4">
            <a:extLst>
              <a:ext uri="{FF2B5EF4-FFF2-40B4-BE49-F238E27FC236}">
                <a16:creationId xmlns:a16="http://schemas.microsoft.com/office/drawing/2014/main" id="{9EA20850-A40E-0F05-3D04-DA151BB603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65F27B-C4A9-2E20-C403-5EF882BFF516}"/>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4256874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EB1B9-C07A-6221-B18B-E0D315CD8C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EE571D-BBED-39D5-E3C0-DF1B14D20B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B141A0-53EC-75A7-94C7-2EBDB6510E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6FA74A-767E-109B-31B9-C7C977BC0DB2}"/>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6" name="Footer Placeholder 5">
            <a:extLst>
              <a:ext uri="{FF2B5EF4-FFF2-40B4-BE49-F238E27FC236}">
                <a16:creationId xmlns:a16="http://schemas.microsoft.com/office/drawing/2014/main" id="{F5346D59-6716-900F-D8D1-79ADF5C30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6C744F-209C-3EC6-B54D-9906B7BCA801}"/>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208880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7E8BD-75E2-8407-8BA5-19868D1A14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FA12BF-DE9E-909B-61E4-05B5423E45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151D8B-AA1D-AB86-2117-B6CC7AFEF9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CEAC10-44F3-6A16-2349-964B8BB0BC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C9708-BCFA-6E92-3B95-6C0386FB2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FB235D-C4DF-5DCC-5336-89A88F68021F}"/>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8" name="Footer Placeholder 7">
            <a:extLst>
              <a:ext uri="{FF2B5EF4-FFF2-40B4-BE49-F238E27FC236}">
                <a16:creationId xmlns:a16="http://schemas.microsoft.com/office/drawing/2014/main" id="{19473DE1-69BB-A987-E01A-3A7BB3C542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31B5EB-E360-5C16-B746-2D9B0681F47F}"/>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3115408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8800-336F-F8B7-4A22-A4CD14E8DE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537B43-3E00-C9C6-7800-1C162233C3CD}"/>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4" name="Footer Placeholder 3">
            <a:extLst>
              <a:ext uri="{FF2B5EF4-FFF2-40B4-BE49-F238E27FC236}">
                <a16:creationId xmlns:a16="http://schemas.microsoft.com/office/drawing/2014/main" id="{9D331681-2A51-03EE-A98A-A65EE9678B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58B969-39CB-E6C1-C701-3240679F83B9}"/>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3286500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312B3F-78AC-22F3-8A28-6C56BDF19279}"/>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3" name="Footer Placeholder 2">
            <a:extLst>
              <a:ext uri="{FF2B5EF4-FFF2-40B4-BE49-F238E27FC236}">
                <a16:creationId xmlns:a16="http://schemas.microsoft.com/office/drawing/2014/main" id="{5B3F3504-372E-E470-7391-7EFA365FC6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83914A-4BDC-0C06-7996-544B8A9C855B}"/>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3602848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004E0-BDA9-AE26-ADD3-F6C3A68F6E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60AB7E-15AD-AAAD-1A5A-1B8FC73F8D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883115-214B-5FE8-1626-25F4B771E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F64F41-FAE0-53D2-DBEB-4D379D77E3BF}"/>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6" name="Footer Placeholder 5">
            <a:extLst>
              <a:ext uri="{FF2B5EF4-FFF2-40B4-BE49-F238E27FC236}">
                <a16:creationId xmlns:a16="http://schemas.microsoft.com/office/drawing/2014/main" id="{B55CADF2-AC2E-3509-6DE8-96CF80E5C6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23FCD6-2940-29EA-83AD-1C515EE11B20}"/>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2834091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6A543-E5A7-4315-BC8A-3D55262FF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8A3DB7-1543-A781-6CA2-1811449A6F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9E2EEA-0615-D28A-AACE-4F79EE428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2CF4A5-5859-B947-1592-BA371644830E}"/>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6" name="Footer Placeholder 5">
            <a:extLst>
              <a:ext uri="{FF2B5EF4-FFF2-40B4-BE49-F238E27FC236}">
                <a16:creationId xmlns:a16="http://schemas.microsoft.com/office/drawing/2014/main" id="{5C8D94AA-FB94-0AA3-E3B3-863C878E20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2B3042-7F19-EAC4-17B6-CD1FB07A7781}"/>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1538372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A8F9-6FA3-6FB1-86A3-0F461F6C22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079AA4-A699-46CE-1BDE-3236CC0381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4C5E4B-0EB1-B14D-03DC-C10C0CB68884}"/>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5" name="Footer Placeholder 4">
            <a:extLst>
              <a:ext uri="{FF2B5EF4-FFF2-40B4-BE49-F238E27FC236}">
                <a16:creationId xmlns:a16="http://schemas.microsoft.com/office/drawing/2014/main" id="{28B9A408-921E-51DC-A910-0836E7BBCD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F78056-3FEF-EB6C-7C85-EFA3E9E8CE12}"/>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360241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418934-26A8-83D7-40D6-5893893AEF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CE82A7-EC1D-6868-3FDB-AB39742B8A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1D7553-F785-55DC-C1DF-DCAECED90CAA}"/>
              </a:ext>
            </a:extLst>
          </p:cNvPr>
          <p:cNvSpPr>
            <a:spLocks noGrp="1"/>
          </p:cNvSpPr>
          <p:nvPr>
            <p:ph type="dt" sz="half" idx="10"/>
          </p:nvPr>
        </p:nvSpPr>
        <p:spPr/>
        <p:txBody>
          <a:bodyPr/>
          <a:lstStyle/>
          <a:p>
            <a:fld id="{3CA94AE4-0442-428F-A82E-B2B160FF0575}" type="datetimeFigureOut">
              <a:rPr lang="en-IN" smtClean="0"/>
              <a:t>29-11-2023</a:t>
            </a:fld>
            <a:endParaRPr lang="en-IN"/>
          </a:p>
        </p:txBody>
      </p:sp>
      <p:sp>
        <p:nvSpPr>
          <p:cNvPr id="5" name="Footer Placeholder 4">
            <a:extLst>
              <a:ext uri="{FF2B5EF4-FFF2-40B4-BE49-F238E27FC236}">
                <a16:creationId xmlns:a16="http://schemas.microsoft.com/office/drawing/2014/main" id="{8DC8EAE9-61C7-4BC0-E2C2-94FC93508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2D1EE9-B83E-0129-400A-A5D397670AB2}"/>
              </a:ext>
            </a:extLst>
          </p:cNvPr>
          <p:cNvSpPr>
            <a:spLocks noGrp="1"/>
          </p:cNvSpPr>
          <p:nvPr>
            <p:ph type="sldNum" sz="quarter" idx="12"/>
          </p:nvPr>
        </p:nvSpPr>
        <p:spPr/>
        <p:txBody>
          <a:bodyPr/>
          <a:lstStyle/>
          <a:p>
            <a:fld id="{2037ADE0-C670-41C4-9C3B-003FE19EDD3B}" type="slidenum">
              <a:rPr lang="en-IN" smtClean="0"/>
              <a:t>‹#›</a:t>
            </a:fld>
            <a:endParaRPr lang="en-IN"/>
          </a:p>
        </p:txBody>
      </p:sp>
    </p:spTree>
    <p:extLst>
      <p:ext uri="{BB962C8B-B14F-4D97-AF65-F5344CB8AC3E}">
        <p14:creationId xmlns:p14="http://schemas.microsoft.com/office/powerpoint/2010/main" val="2049462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8D832-4537-7552-E7E9-499424CE1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B02517-481E-EC3C-CD17-19EAD00820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C0ED2D-7216-9BB8-74B7-001DE2A6D3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A94AE4-0442-428F-A82E-B2B160FF0575}" type="datetimeFigureOut">
              <a:rPr lang="en-IN" smtClean="0"/>
              <a:t>29-11-2023</a:t>
            </a:fld>
            <a:endParaRPr lang="en-IN"/>
          </a:p>
        </p:txBody>
      </p:sp>
      <p:sp>
        <p:nvSpPr>
          <p:cNvPr id="5" name="Footer Placeholder 4">
            <a:extLst>
              <a:ext uri="{FF2B5EF4-FFF2-40B4-BE49-F238E27FC236}">
                <a16:creationId xmlns:a16="http://schemas.microsoft.com/office/drawing/2014/main" id="{2ACE71F6-1B05-A1EA-DA08-7CD905B77C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1A1D99-D845-C943-F883-76968923D1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37ADE0-C670-41C4-9C3B-003FE19EDD3B}" type="slidenum">
              <a:rPr lang="en-IN" smtClean="0"/>
              <a:t>‹#›</a:t>
            </a:fld>
            <a:endParaRPr lang="en-IN"/>
          </a:p>
        </p:txBody>
      </p:sp>
    </p:spTree>
    <p:extLst>
      <p:ext uri="{BB962C8B-B14F-4D97-AF65-F5344CB8AC3E}">
        <p14:creationId xmlns:p14="http://schemas.microsoft.com/office/powerpoint/2010/main" val="2542371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12E7E-8BBA-85AA-143E-E3B3A0A80D10}"/>
              </a:ext>
            </a:extLst>
          </p:cNvPr>
          <p:cNvSpPr>
            <a:spLocks noGrp="1"/>
          </p:cNvSpPr>
          <p:nvPr>
            <p:ph type="ctrTitle"/>
          </p:nvPr>
        </p:nvSpPr>
        <p:spPr/>
        <p:txBody>
          <a:bodyPr/>
          <a:lstStyle/>
          <a:p>
            <a:r>
              <a:rPr lang="en-GB" dirty="0"/>
              <a:t>Human Resource Management</a:t>
            </a:r>
            <a:endParaRPr lang="en-IN" dirty="0"/>
          </a:p>
        </p:txBody>
      </p:sp>
      <p:sp>
        <p:nvSpPr>
          <p:cNvPr id="3" name="Subtitle 2">
            <a:extLst>
              <a:ext uri="{FF2B5EF4-FFF2-40B4-BE49-F238E27FC236}">
                <a16:creationId xmlns:a16="http://schemas.microsoft.com/office/drawing/2014/main" id="{0252FD60-F7DC-A360-FFBF-EF622A1B2A6C}"/>
              </a:ext>
            </a:extLst>
          </p:cNvPr>
          <p:cNvSpPr>
            <a:spLocks noGrp="1"/>
          </p:cNvSpPr>
          <p:nvPr>
            <p:ph type="subTitle" idx="1"/>
          </p:nvPr>
        </p:nvSpPr>
        <p:spPr>
          <a:xfrm>
            <a:off x="1524000" y="3602038"/>
            <a:ext cx="9144000" cy="2483802"/>
          </a:xfrm>
        </p:spPr>
        <p:txBody>
          <a:bodyPr>
            <a:normAutofit lnSpcReduction="10000"/>
          </a:bodyPr>
          <a:lstStyle/>
          <a:p>
            <a:r>
              <a:rPr lang="en-GB" dirty="0"/>
              <a:t>Module 2</a:t>
            </a:r>
          </a:p>
          <a:p>
            <a:r>
              <a:rPr lang="en-IN" dirty="0"/>
              <a:t>Prepared by </a:t>
            </a:r>
          </a:p>
          <a:p>
            <a:r>
              <a:rPr lang="en-IN" dirty="0"/>
              <a:t>Sriram K </a:t>
            </a:r>
            <a:endParaRPr lang="en-GB" dirty="0"/>
          </a:p>
          <a:p>
            <a:br>
              <a:rPr lang="en-IN" dirty="0"/>
            </a:br>
            <a:r>
              <a:rPr lang="en-IN" dirty="0"/>
              <a:t>Department of Mechanical Engineering </a:t>
            </a:r>
          </a:p>
          <a:p>
            <a:r>
              <a:rPr lang="en-IN" dirty="0"/>
              <a:t>School of Engineering , CUSAT</a:t>
            </a:r>
          </a:p>
        </p:txBody>
      </p:sp>
    </p:spTree>
    <p:extLst>
      <p:ext uri="{BB962C8B-B14F-4D97-AF65-F5344CB8AC3E}">
        <p14:creationId xmlns:p14="http://schemas.microsoft.com/office/powerpoint/2010/main" val="700661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97BB-6BDA-B81B-37CE-C3BE7F6497A7}"/>
              </a:ext>
            </a:extLst>
          </p:cNvPr>
          <p:cNvSpPr>
            <a:spLocks noGrp="1"/>
          </p:cNvSpPr>
          <p:nvPr>
            <p:ph type="title"/>
          </p:nvPr>
        </p:nvSpPr>
        <p:spPr/>
        <p:txBody>
          <a:bodyPr>
            <a:normAutofit/>
          </a:bodyPr>
          <a:lstStyle/>
          <a:p>
            <a:r>
              <a:rPr lang="en-GB" sz="4800" b="1" dirty="0">
                <a:solidFill>
                  <a:srgbClr val="FF0000"/>
                </a:solidFill>
              </a:rPr>
              <a:t>Human Resource Management		</a:t>
            </a:r>
            <a:endParaRPr lang="en-IN" sz="4800" b="1" dirty="0">
              <a:solidFill>
                <a:srgbClr val="FF0000"/>
              </a:solidFill>
            </a:endParaRPr>
          </a:p>
        </p:txBody>
      </p:sp>
      <p:sp>
        <p:nvSpPr>
          <p:cNvPr id="3" name="Content Placeholder 2">
            <a:extLst>
              <a:ext uri="{FF2B5EF4-FFF2-40B4-BE49-F238E27FC236}">
                <a16:creationId xmlns:a16="http://schemas.microsoft.com/office/drawing/2014/main" id="{1CD197B1-D08D-EA5F-25F4-AF5CB3D1FF95}"/>
              </a:ext>
            </a:extLst>
          </p:cNvPr>
          <p:cNvSpPr>
            <a:spLocks noGrp="1"/>
          </p:cNvSpPr>
          <p:nvPr>
            <p:ph idx="1"/>
          </p:nvPr>
        </p:nvSpPr>
        <p:spPr>
          <a:xfrm>
            <a:off x="838200" y="1690688"/>
            <a:ext cx="10515600" cy="4351338"/>
          </a:xfrm>
        </p:spPr>
        <p:txBody>
          <a:bodyPr>
            <a:normAutofit/>
          </a:bodyPr>
          <a:lstStyle/>
          <a:p>
            <a:r>
              <a:rPr lang="en-GB" sz="4000" dirty="0">
                <a:latin typeface="TimesNewRomanPSMT"/>
              </a:rPr>
              <a:t>T</a:t>
            </a:r>
            <a:r>
              <a:rPr lang="en-GB" sz="4000" b="0" i="0" u="none" strike="noStrike" baseline="0" dirty="0">
                <a:latin typeface="TimesNewRomanPSMT"/>
              </a:rPr>
              <a:t>he study of activities regarding people working in an organization</a:t>
            </a:r>
          </a:p>
          <a:p>
            <a:pPr algn="l"/>
            <a:r>
              <a:rPr lang="en-GB" sz="4000" b="0" i="0" u="none" strike="noStrike" baseline="0" dirty="0">
                <a:latin typeface="TimesNewRomanPSMT"/>
              </a:rPr>
              <a:t>It is a </a:t>
            </a:r>
            <a:r>
              <a:rPr lang="en-GB" sz="4000" b="0" i="0" u="sng" strike="noStrike" baseline="0" dirty="0">
                <a:latin typeface="TimesNewRomanPSMT"/>
              </a:rPr>
              <a:t>managerial function </a:t>
            </a:r>
            <a:r>
              <a:rPr lang="en-GB" sz="4000" b="0" i="0" u="none" strike="noStrike" baseline="0" dirty="0">
                <a:latin typeface="TimesNewRomanPSMT"/>
              </a:rPr>
              <a:t>that tries to match an organization’s needs to the skills and abilities of its employees.</a:t>
            </a:r>
          </a:p>
          <a:p>
            <a:pPr algn="l"/>
            <a:r>
              <a:rPr lang="en-GB" sz="4000" dirty="0">
                <a:latin typeface="TimesNewRomanPSMT"/>
              </a:rPr>
              <a:t>It is an </a:t>
            </a:r>
            <a:r>
              <a:rPr lang="en-GB" sz="4000" u="sng" dirty="0">
                <a:latin typeface="TimesNewRomanPSMT"/>
              </a:rPr>
              <a:t>administrative</a:t>
            </a:r>
            <a:r>
              <a:rPr lang="en-GB" sz="4000" dirty="0">
                <a:latin typeface="TimesNewRomanPSMT"/>
              </a:rPr>
              <a:t> , </a:t>
            </a:r>
            <a:r>
              <a:rPr lang="en-GB" sz="4000" u="sng" dirty="0">
                <a:latin typeface="TimesNewRomanPSMT"/>
              </a:rPr>
              <a:t>operational </a:t>
            </a:r>
            <a:r>
              <a:rPr lang="en-GB" sz="4000" dirty="0">
                <a:latin typeface="TimesNewRomanPSMT"/>
              </a:rPr>
              <a:t>and </a:t>
            </a:r>
            <a:r>
              <a:rPr lang="en-GB" sz="4000" u="sng" dirty="0">
                <a:latin typeface="TimesNewRomanPSMT"/>
              </a:rPr>
              <a:t>strategic process</a:t>
            </a:r>
            <a:endParaRPr lang="en-IN" sz="4000" u="sng" dirty="0"/>
          </a:p>
        </p:txBody>
      </p:sp>
    </p:spTree>
    <p:extLst>
      <p:ext uri="{BB962C8B-B14F-4D97-AF65-F5344CB8AC3E}">
        <p14:creationId xmlns:p14="http://schemas.microsoft.com/office/powerpoint/2010/main" val="3994043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Definition of HRM			</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838200" y="1432560"/>
            <a:ext cx="10515600" cy="4744403"/>
          </a:xfrm>
        </p:spPr>
        <p:txBody>
          <a:bodyPr>
            <a:normAutofit fontScale="92500" lnSpcReduction="10000"/>
          </a:bodyPr>
          <a:lstStyle/>
          <a:p>
            <a:pPr algn="l"/>
            <a:r>
              <a:rPr lang="en-GB" sz="4000" b="1" i="0" u="none" strike="noStrike" baseline="0" dirty="0"/>
              <a:t>HRM i</a:t>
            </a:r>
            <a:r>
              <a:rPr lang="en-GB" sz="4000" b="0" i="0" u="none" strike="noStrike" baseline="0" dirty="0"/>
              <a:t>s a management function concerned with hiring, motivating and maintaining people in an organization. </a:t>
            </a:r>
          </a:p>
          <a:p>
            <a:pPr algn="l"/>
            <a:r>
              <a:rPr lang="en-GB" sz="4000" dirty="0"/>
              <a:t>HRM is </a:t>
            </a:r>
            <a:r>
              <a:rPr lang="en-GB" sz="4000" u="sng" dirty="0"/>
              <a:t>designing management systems </a:t>
            </a:r>
            <a:r>
              <a:rPr lang="en-GB" sz="4000" dirty="0"/>
              <a:t>to ensure that human talent is used effectively and efficiently </a:t>
            </a:r>
            <a:r>
              <a:rPr lang="en-IN" sz="4000" dirty="0"/>
              <a:t>to accomplish organizational goals.</a:t>
            </a:r>
          </a:p>
          <a:p>
            <a:pPr algn="l"/>
            <a:r>
              <a:rPr lang="en-GB" sz="4300" i="1" dirty="0"/>
              <a:t>T</a:t>
            </a:r>
            <a:r>
              <a:rPr lang="en-GB" sz="4300" b="0" i="1" u="none" strike="noStrike" baseline="0" dirty="0"/>
              <a:t>he </a:t>
            </a:r>
            <a:r>
              <a:rPr lang="en-GB" sz="4300" i="1" dirty="0"/>
              <a:t>art</a:t>
            </a:r>
            <a:r>
              <a:rPr lang="en-GB" sz="4300" b="0" i="1" u="none" strike="noStrike" baseline="0" dirty="0"/>
              <a:t> of procuring, developing and maintaining competent workforce to achieve the goals of an organization in an effective and efficient </a:t>
            </a:r>
            <a:r>
              <a:rPr lang="en-IN" sz="4300" b="0" i="1" u="none" strike="noStrike" baseline="0" dirty="0"/>
              <a:t>manner.</a:t>
            </a:r>
            <a:endParaRPr lang="en-IN" sz="4300" i="1" dirty="0"/>
          </a:p>
        </p:txBody>
      </p:sp>
    </p:spTree>
    <p:extLst>
      <p:ext uri="{BB962C8B-B14F-4D97-AF65-F5344CB8AC3E}">
        <p14:creationId xmlns:p14="http://schemas.microsoft.com/office/powerpoint/2010/main" val="45505530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Major functioning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p:txBody>
          <a:bodyPr>
            <a:normAutofit/>
          </a:bodyPr>
          <a:lstStyle/>
          <a:p>
            <a:pPr algn="l"/>
            <a:r>
              <a:rPr lang="en-IN" sz="4000" b="0" i="0" u="none" strike="noStrike" baseline="0" dirty="0"/>
              <a:t>procurement, </a:t>
            </a:r>
          </a:p>
          <a:p>
            <a:pPr algn="l"/>
            <a:r>
              <a:rPr lang="en-IN" sz="4000" b="0" i="0" u="none" strike="noStrike" baseline="0" dirty="0"/>
              <a:t>development, </a:t>
            </a:r>
          </a:p>
          <a:p>
            <a:pPr algn="l"/>
            <a:r>
              <a:rPr lang="en-IN" sz="4000" b="0" i="0" u="none" strike="noStrike" baseline="0" dirty="0"/>
              <a:t>compensation, </a:t>
            </a:r>
          </a:p>
          <a:p>
            <a:pPr algn="l"/>
            <a:r>
              <a:rPr lang="en-IN" sz="4000" b="0" i="0" u="none" strike="noStrike" baseline="0" dirty="0"/>
              <a:t>integration</a:t>
            </a:r>
          </a:p>
          <a:p>
            <a:pPr algn="l"/>
            <a:r>
              <a:rPr lang="en-GB" sz="4000" b="0" i="0" u="none" strike="noStrike" baseline="0" dirty="0"/>
              <a:t>maintenance of the personnel of an organization</a:t>
            </a:r>
            <a:endParaRPr lang="en-IN" sz="7200" dirty="0"/>
          </a:p>
        </p:txBody>
      </p:sp>
    </p:spTree>
    <p:extLst>
      <p:ext uri="{BB962C8B-B14F-4D97-AF65-F5344CB8AC3E}">
        <p14:creationId xmlns:p14="http://schemas.microsoft.com/office/powerpoint/2010/main" val="2448035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The Core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96240" y="1825625"/>
            <a:ext cx="11450320" cy="4351338"/>
          </a:xfrm>
        </p:spPr>
        <p:txBody>
          <a:bodyPr>
            <a:noAutofit/>
          </a:bodyPr>
          <a:lstStyle/>
          <a:p>
            <a:pPr marL="0" indent="0" algn="just">
              <a:buNone/>
            </a:pPr>
            <a:r>
              <a:rPr lang="en-GB" sz="4000" b="0" i="0" u="none" strike="noStrike" baseline="0" dirty="0"/>
              <a:t>The following constitute the core of HRM</a:t>
            </a:r>
          </a:p>
          <a:p>
            <a:pPr algn="just"/>
            <a:r>
              <a:rPr lang="en-GB" sz="4000" b="1" i="0" u="none" strike="noStrike" baseline="0" dirty="0"/>
              <a:t>1. HRM Involves the Application of Management Functions and Principles. </a:t>
            </a:r>
          </a:p>
          <a:p>
            <a:pPr marL="0" indent="0" algn="just">
              <a:buNone/>
            </a:pPr>
            <a:r>
              <a:rPr lang="en-GB" sz="4000" b="0" i="0" u="none" strike="noStrike" baseline="0" dirty="0"/>
              <a:t>The functions and principles are applied to acquiring, developing, maintaining and providing remuneration to </a:t>
            </a:r>
            <a:r>
              <a:rPr lang="en-IN" sz="4000" b="0" i="0" u="none" strike="noStrike" baseline="0" dirty="0"/>
              <a:t>employees in organization.</a:t>
            </a:r>
            <a:endParaRPr lang="en-IN" sz="4000" dirty="0"/>
          </a:p>
        </p:txBody>
      </p:sp>
    </p:spTree>
    <p:extLst>
      <p:ext uri="{BB962C8B-B14F-4D97-AF65-F5344CB8AC3E}">
        <p14:creationId xmlns:p14="http://schemas.microsoft.com/office/powerpoint/2010/main" val="578680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838200" y="365125"/>
            <a:ext cx="10515600" cy="711835"/>
          </a:xfrm>
        </p:spPr>
        <p:txBody>
          <a:bodyPr>
            <a:normAutofit fontScale="90000"/>
          </a:bodyPr>
          <a:lstStyle/>
          <a:p>
            <a:r>
              <a:rPr lang="en-GB" sz="4800" b="1" dirty="0">
                <a:solidFill>
                  <a:srgbClr val="FF0000"/>
                </a:solidFill>
              </a:rPr>
              <a:t>The Core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12140" y="904240"/>
            <a:ext cx="10967720" cy="4351338"/>
          </a:xfrm>
        </p:spPr>
        <p:txBody>
          <a:bodyPr>
            <a:noAutofit/>
          </a:bodyPr>
          <a:lstStyle/>
          <a:p>
            <a:pPr algn="just"/>
            <a:r>
              <a:rPr lang="en-GB" sz="4000" b="1" i="0" u="none" strike="noStrike" baseline="0" dirty="0"/>
              <a:t>2. Decision Relating to Employees must be Integrated. </a:t>
            </a:r>
          </a:p>
          <a:p>
            <a:pPr marL="0" indent="0" algn="just">
              <a:buNone/>
            </a:pPr>
            <a:r>
              <a:rPr lang="en-GB" sz="4000" b="0" i="0" u="none" strike="noStrike" baseline="0" dirty="0"/>
              <a:t>Decisions on different aspects of employees must be consistent with other human resource (HR) decisions.</a:t>
            </a:r>
          </a:p>
          <a:p>
            <a:pPr algn="just"/>
            <a:r>
              <a:rPr lang="en-GB" sz="4000" b="1" i="0" u="none" strike="noStrike" baseline="0" dirty="0"/>
              <a:t>3. Decisions Made Influence the Effectiveness of an Organization. </a:t>
            </a:r>
          </a:p>
          <a:p>
            <a:pPr marL="0" indent="0" algn="just">
              <a:buNone/>
            </a:pPr>
            <a:r>
              <a:rPr lang="en-GB" sz="4000" b="0" i="0" u="none" strike="noStrike" baseline="0" dirty="0"/>
              <a:t>Effectiveness of an organization will result in betterment of services to customers in the form of high quality products </a:t>
            </a:r>
            <a:r>
              <a:rPr lang="en-IN" sz="4000" b="0" i="0" u="none" strike="noStrike" baseline="0" dirty="0"/>
              <a:t>supplied at reasonable costs.</a:t>
            </a:r>
          </a:p>
          <a:p>
            <a:pPr marL="0" indent="0" algn="just">
              <a:buNone/>
            </a:pPr>
            <a:endParaRPr lang="en-IN" sz="4000" dirty="0"/>
          </a:p>
        </p:txBody>
      </p:sp>
    </p:spTree>
    <p:extLst>
      <p:ext uri="{BB962C8B-B14F-4D97-AF65-F5344CB8AC3E}">
        <p14:creationId xmlns:p14="http://schemas.microsoft.com/office/powerpoint/2010/main" val="293037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838200" y="365125"/>
            <a:ext cx="10515600" cy="711835"/>
          </a:xfrm>
        </p:spPr>
        <p:txBody>
          <a:bodyPr>
            <a:normAutofit fontScale="90000"/>
          </a:bodyPr>
          <a:lstStyle/>
          <a:p>
            <a:r>
              <a:rPr lang="en-GB" sz="4800" b="1" dirty="0">
                <a:solidFill>
                  <a:srgbClr val="FF0000"/>
                </a:solidFill>
              </a:rPr>
              <a:t>The Core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12140" y="1076960"/>
            <a:ext cx="10967720" cy="4351338"/>
          </a:xfrm>
        </p:spPr>
        <p:txBody>
          <a:bodyPr>
            <a:noAutofit/>
          </a:bodyPr>
          <a:lstStyle/>
          <a:p>
            <a:pPr algn="l"/>
            <a:r>
              <a:rPr lang="en-GB" sz="4000" b="1" i="0" u="none" strike="noStrike" baseline="0" dirty="0">
                <a:latin typeface="TimesNewRomanPS-BoldMT"/>
              </a:rPr>
              <a:t>4. HRM Functions are not Confined to Business Establishments Only </a:t>
            </a:r>
            <a:r>
              <a:rPr lang="en-GB" sz="4000" b="0" i="0" u="none" strike="noStrike" baseline="0" dirty="0">
                <a:latin typeface="TimesNewRomanPSMT"/>
              </a:rPr>
              <a:t>but applicable to non business organizations such as education, health care, recreation and like.</a:t>
            </a:r>
            <a:endParaRPr lang="en-IN" sz="7200" dirty="0"/>
          </a:p>
          <a:p>
            <a:pPr marL="0" indent="0" algn="just">
              <a:buNone/>
            </a:pPr>
            <a:endParaRPr lang="en-IN" sz="4000" dirty="0"/>
          </a:p>
        </p:txBody>
      </p:sp>
    </p:spTree>
    <p:extLst>
      <p:ext uri="{BB962C8B-B14F-4D97-AF65-F5344CB8AC3E}">
        <p14:creationId xmlns:p14="http://schemas.microsoft.com/office/powerpoint/2010/main" val="4213616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a:solidFill>
                  <a:srgbClr val="FF0000"/>
                </a:solidFill>
              </a:rPr>
              <a:t>Characteristics of </a:t>
            </a:r>
            <a:r>
              <a:rPr lang="en-GB" sz="4800" b="1" dirty="0">
                <a:solidFill>
                  <a:srgbClr val="FF0000"/>
                </a:solidFill>
              </a:rPr>
              <a:t>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462280" y="1429385"/>
            <a:ext cx="5064760" cy="4351338"/>
          </a:xfrm>
        </p:spPr>
        <p:txBody>
          <a:bodyPr>
            <a:noAutofit/>
          </a:bodyPr>
          <a:lstStyle/>
          <a:p>
            <a:pPr algn="l"/>
            <a:r>
              <a:rPr lang="en-IN" sz="3600" b="0" i="0" u="none" strike="noStrike" baseline="0" dirty="0"/>
              <a:t>American </a:t>
            </a:r>
            <a:r>
              <a:rPr lang="en-GB" sz="3600" b="0" i="0" u="none" strike="noStrike" baseline="0" dirty="0"/>
              <a:t>Society for Training and Development (ASTD) conducted fairly an exhaustive study in this field and identified nine broad areas of activities of HRM.</a:t>
            </a:r>
          </a:p>
          <a:p>
            <a:pPr marL="0" indent="0" algn="l">
              <a:buNone/>
            </a:pPr>
            <a:endParaRPr lang="en-IN" sz="3600" b="1" dirty="0"/>
          </a:p>
        </p:txBody>
      </p:sp>
      <p:pic>
        <p:nvPicPr>
          <p:cNvPr id="5" name="Picture 4">
            <a:extLst>
              <a:ext uri="{FF2B5EF4-FFF2-40B4-BE49-F238E27FC236}">
                <a16:creationId xmlns:a16="http://schemas.microsoft.com/office/drawing/2014/main" id="{635143B2-1D93-A354-530B-54C9CC904E2B}"/>
              </a:ext>
            </a:extLst>
          </p:cNvPr>
          <p:cNvPicPr>
            <a:picLocks noChangeAspect="1"/>
          </p:cNvPicPr>
          <p:nvPr/>
        </p:nvPicPr>
        <p:blipFill>
          <a:blip r:embed="rId2"/>
          <a:stretch>
            <a:fillRect/>
          </a:stretch>
        </p:blipFill>
        <p:spPr>
          <a:xfrm>
            <a:off x="5383413" y="1332548"/>
            <a:ext cx="6346307" cy="5368584"/>
          </a:xfrm>
          <a:prstGeom prst="rect">
            <a:avLst/>
          </a:prstGeom>
        </p:spPr>
      </p:pic>
    </p:spTree>
    <p:extLst>
      <p:ext uri="{BB962C8B-B14F-4D97-AF65-F5344CB8AC3E}">
        <p14:creationId xmlns:p14="http://schemas.microsoft.com/office/powerpoint/2010/main" val="493134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63880" y="342265"/>
            <a:ext cx="10515600" cy="4351338"/>
          </a:xfrm>
        </p:spPr>
        <p:txBody>
          <a:bodyPr>
            <a:noAutofit/>
          </a:bodyPr>
          <a:lstStyle/>
          <a:p>
            <a:pPr marL="742950" indent="-742950" algn="l">
              <a:buAutoNum type="arabicParenR"/>
            </a:pPr>
            <a:r>
              <a:rPr lang="en-IN" sz="4000" b="1" i="0" u="none" strike="noStrike" baseline="0" dirty="0"/>
              <a:t>Human Resource Planning: </a:t>
            </a:r>
          </a:p>
          <a:p>
            <a:pPr algn="l">
              <a:buFont typeface="Wingdings" panose="05000000000000000000" pitchFamily="2" charset="2"/>
              <a:buChar char="§"/>
            </a:pPr>
            <a:r>
              <a:rPr lang="en-GB" sz="4000" dirty="0"/>
              <a:t>  the right types of persons at the right time at the right place</a:t>
            </a:r>
          </a:p>
          <a:p>
            <a:pPr algn="l">
              <a:buFont typeface="Wingdings" panose="05000000000000000000" pitchFamily="2" charset="2"/>
              <a:buChar char="§"/>
            </a:pPr>
            <a:r>
              <a:rPr lang="en-GB" sz="4000" dirty="0"/>
              <a:t>It prepares human resources inventory with a view to assess present and future needs, availability and possible shortages in human resource</a:t>
            </a:r>
          </a:p>
          <a:p>
            <a:pPr algn="l">
              <a:buFont typeface="Wingdings" panose="05000000000000000000" pitchFamily="2" charset="2"/>
              <a:buChar char="§"/>
            </a:pPr>
            <a:r>
              <a:rPr lang="en-GB" sz="4000" dirty="0"/>
              <a:t>HR Planning forecast demand and supplies and identify sources of selection</a:t>
            </a:r>
            <a:endParaRPr lang="en-IN" sz="4000" dirty="0"/>
          </a:p>
          <a:p>
            <a:pPr marL="0" indent="0" algn="l">
              <a:buNone/>
            </a:pPr>
            <a:endParaRPr lang="en-IN" sz="4000" b="1" i="0" u="none" strike="noStrike" baseline="0" dirty="0"/>
          </a:p>
          <a:p>
            <a:pPr marL="0" indent="0" algn="l">
              <a:buNone/>
            </a:pPr>
            <a:r>
              <a:rPr lang="en-IN" sz="4000" b="1" dirty="0"/>
              <a:t>	</a:t>
            </a:r>
          </a:p>
          <a:p>
            <a:endParaRPr lang="en-IN" sz="4000" dirty="0"/>
          </a:p>
        </p:txBody>
      </p:sp>
    </p:spTree>
    <p:extLst>
      <p:ext uri="{BB962C8B-B14F-4D97-AF65-F5344CB8AC3E}">
        <p14:creationId xmlns:p14="http://schemas.microsoft.com/office/powerpoint/2010/main" val="1223969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73380" y="829945"/>
            <a:ext cx="11445240" cy="4351338"/>
          </a:xfrm>
        </p:spPr>
        <p:txBody>
          <a:bodyPr>
            <a:noAutofit/>
          </a:bodyPr>
          <a:lstStyle/>
          <a:p>
            <a:pPr marL="0" indent="0" algn="just">
              <a:buNone/>
            </a:pPr>
            <a:r>
              <a:rPr lang="en-GB" sz="4000" b="1" dirty="0"/>
              <a:t>2</a:t>
            </a:r>
            <a:r>
              <a:rPr lang="en-GB" sz="4000" b="1" i="0" u="none" strike="noStrike" baseline="0" dirty="0"/>
              <a:t>) Design of Organization and Job: </a:t>
            </a:r>
          </a:p>
          <a:p>
            <a:pPr algn="just">
              <a:buFont typeface="Wingdings" panose="05000000000000000000" pitchFamily="2" charset="2"/>
              <a:buChar char="§"/>
            </a:pPr>
            <a:r>
              <a:rPr lang="en-GB" sz="4000" b="0" i="0" u="none" strike="noStrike" baseline="0" dirty="0"/>
              <a:t>This is the task of laying down organization structure, authority, relationship and responsibilities. </a:t>
            </a:r>
          </a:p>
          <a:p>
            <a:pPr algn="just">
              <a:buFont typeface="Wingdings" panose="05000000000000000000" pitchFamily="2" charset="2"/>
              <a:buChar char="§"/>
            </a:pPr>
            <a:r>
              <a:rPr lang="en-GB" sz="4000" dirty="0"/>
              <a:t>Defining the work content for each position (known as job description)</a:t>
            </a:r>
            <a:endParaRPr lang="en-GB" sz="4000" b="0" i="0" u="none" strike="noStrike" baseline="0" dirty="0"/>
          </a:p>
          <a:p>
            <a:pPr algn="just">
              <a:buFont typeface="Wingdings" panose="05000000000000000000" pitchFamily="2" charset="2"/>
              <a:buChar char="§"/>
            </a:pPr>
            <a:r>
              <a:rPr lang="en-GB" sz="4000" b="0" i="0" u="none" strike="noStrike" baseline="0" dirty="0"/>
              <a:t>Job specification identifies the attributes of persons who will be most suitable for each job which is defined by job description.</a:t>
            </a:r>
            <a:endParaRPr lang="en-IN" sz="4000" dirty="0"/>
          </a:p>
        </p:txBody>
      </p:sp>
    </p:spTree>
    <p:extLst>
      <p:ext uri="{BB962C8B-B14F-4D97-AF65-F5344CB8AC3E}">
        <p14:creationId xmlns:p14="http://schemas.microsoft.com/office/powerpoint/2010/main" val="2883141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70840" y="128905"/>
            <a:ext cx="11343640" cy="4351338"/>
          </a:xfrm>
        </p:spPr>
        <p:txBody>
          <a:bodyPr vert="horz" lIns="91440" tIns="45720" rIns="91440" bIns="45720" rtlCol="0">
            <a:noAutofit/>
          </a:bodyPr>
          <a:lstStyle/>
          <a:p>
            <a:pPr marL="0" indent="0" algn="just">
              <a:buNone/>
            </a:pPr>
            <a:r>
              <a:rPr lang="en-GB" sz="4000" b="1" dirty="0"/>
              <a:t>3) Selection and Staffing: </a:t>
            </a:r>
          </a:p>
          <a:p>
            <a:pPr algn="just">
              <a:buFont typeface="Wingdings" panose="05000000000000000000" pitchFamily="2" charset="2"/>
              <a:buChar char="§"/>
            </a:pPr>
            <a:r>
              <a:rPr lang="en-GB" sz="4000" dirty="0"/>
              <a:t>the process of recruitment and selection of staff. </a:t>
            </a:r>
          </a:p>
          <a:p>
            <a:pPr algn="just">
              <a:buFont typeface="Wingdings" panose="05000000000000000000" pitchFamily="2" charset="2"/>
              <a:buChar char="§"/>
            </a:pPr>
            <a:r>
              <a:rPr lang="en-GB" sz="4000" dirty="0"/>
              <a:t>It involves matching people and their expectations with which the job specifications and career path available </a:t>
            </a:r>
            <a:r>
              <a:rPr lang="en-IN" sz="4000" dirty="0"/>
              <a:t>within the organization.</a:t>
            </a:r>
          </a:p>
          <a:p>
            <a:pPr marL="0" indent="0" algn="l">
              <a:buNone/>
            </a:pPr>
            <a:r>
              <a:rPr lang="en-GB" sz="4000" b="1" dirty="0"/>
              <a:t>4) Training and Development: </a:t>
            </a:r>
          </a:p>
          <a:p>
            <a:pPr algn="just">
              <a:buFont typeface="Wingdings" panose="05000000000000000000" pitchFamily="2" charset="2"/>
              <a:buChar char="§"/>
            </a:pPr>
            <a:r>
              <a:rPr lang="en-GB" sz="4000" dirty="0"/>
              <a:t>It is an organized attempt to find out training needs of the individuals to meet </a:t>
            </a:r>
            <a:r>
              <a:rPr lang="en-GB" sz="4000" u="sng" dirty="0"/>
              <a:t>the knowledge and skill </a:t>
            </a:r>
            <a:r>
              <a:rPr lang="en-GB" sz="4000" dirty="0"/>
              <a:t>which is needed not only </a:t>
            </a:r>
            <a:r>
              <a:rPr lang="en-GB" sz="4000" u="sng" dirty="0"/>
              <a:t>to perform current job </a:t>
            </a:r>
            <a:r>
              <a:rPr lang="en-GB" sz="4000" dirty="0"/>
              <a:t>but also </a:t>
            </a:r>
            <a:r>
              <a:rPr lang="en-GB" sz="4000" u="sng" dirty="0"/>
              <a:t>to fulfil the future needs </a:t>
            </a:r>
            <a:r>
              <a:rPr lang="en-GB" sz="4000" dirty="0"/>
              <a:t>of the organization.</a:t>
            </a:r>
            <a:endParaRPr lang="en-IN" sz="4000" dirty="0"/>
          </a:p>
        </p:txBody>
      </p:sp>
    </p:spTree>
    <p:extLst>
      <p:ext uri="{BB962C8B-B14F-4D97-AF65-F5344CB8AC3E}">
        <p14:creationId xmlns:p14="http://schemas.microsoft.com/office/powerpoint/2010/main" val="1544514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94359" y="413385"/>
            <a:ext cx="11271575" cy="6274494"/>
          </a:xfrm>
        </p:spPr>
        <p:txBody>
          <a:bodyPr>
            <a:normAutofit/>
          </a:bodyPr>
          <a:lstStyle/>
          <a:p>
            <a:pPr marL="0" indent="0" algn="l">
              <a:buNone/>
            </a:pPr>
            <a:r>
              <a:rPr lang="en-GB" sz="4000" b="1" dirty="0"/>
              <a:t>5</a:t>
            </a:r>
            <a:r>
              <a:rPr lang="en-GB" sz="4000" b="1" i="0" u="none" strike="noStrike" baseline="0" dirty="0"/>
              <a:t>) Organizational Development: </a:t>
            </a:r>
            <a:endParaRPr lang="en-GB" sz="4000" dirty="0"/>
          </a:p>
          <a:p>
            <a:pPr marL="457200" lvl="1" indent="0">
              <a:buNone/>
            </a:pPr>
            <a:r>
              <a:rPr lang="en-GB" sz="4000" b="0" i="0" u="none" strike="noStrike" baseline="0" dirty="0"/>
              <a:t>To maintain an healthy interpersonal and inter-group relationship within </a:t>
            </a:r>
            <a:r>
              <a:rPr lang="en-GB" sz="4000" dirty="0"/>
              <a:t>the </a:t>
            </a:r>
            <a:r>
              <a:rPr lang="en-IN" sz="4000" dirty="0"/>
              <a:t>organization</a:t>
            </a:r>
            <a:r>
              <a:rPr lang="en-IN" sz="3600" dirty="0"/>
              <a:t>.</a:t>
            </a:r>
          </a:p>
          <a:p>
            <a:pPr marL="457200" lvl="1" indent="0">
              <a:buNone/>
            </a:pPr>
            <a:endParaRPr lang="en-IN" sz="3600" dirty="0"/>
          </a:p>
          <a:p>
            <a:pPr marL="457200" lvl="1" indent="-457200">
              <a:buNone/>
            </a:pPr>
            <a:r>
              <a:rPr lang="en-GB" sz="4000" b="1" dirty="0"/>
              <a:t>6) Compensation and Benefits: </a:t>
            </a:r>
          </a:p>
          <a:p>
            <a:pPr marL="571500" lvl="1" indent="-571500">
              <a:buFont typeface="Wingdings" panose="05000000000000000000" pitchFamily="2" charset="2"/>
              <a:buChar char="§"/>
            </a:pPr>
            <a:r>
              <a:rPr lang="en-GB" sz="4000" dirty="0"/>
              <a:t>	The wages and compensations are fixed scientifically to meet fairness and equity criteria. </a:t>
            </a:r>
          </a:p>
          <a:p>
            <a:pPr marL="571500" lvl="1" indent="-571500">
              <a:buFont typeface="Wingdings" panose="05000000000000000000" pitchFamily="2" charset="2"/>
              <a:buChar char="§"/>
            </a:pPr>
            <a:r>
              <a:rPr lang="en-GB" sz="4000" dirty="0"/>
              <a:t>	In addition labour welfare measures are involved which include benefits and services.</a:t>
            </a:r>
            <a:endParaRPr lang="en-IN" sz="4000" dirty="0"/>
          </a:p>
          <a:p>
            <a:pPr marL="457200" lvl="1" indent="0">
              <a:buNone/>
            </a:pPr>
            <a:endParaRPr lang="en-IN" sz="3600" i="1" dirty="0"/>
          </a:p>
        </p:txBody>
      </p:sp>
    </p:spTree>
    <p:extLst>
      <p:ext uri="{BB962C8B-B14F-4D97-AF65-F5344CB8AC3E}">
        <p14:creationId xmlns:p14="http://schemas.microsoft.com/office/powerpoint/2010/main" val="1540579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59733" y="305170"/>
            <a:ext cx="11697587" cy="4351338"/>
          </a:xfrm>
        </p:spPr>
        <p:txBody>
          <a:bodyPr>
            <a:noAutofit/>
          </a:bodyPr>
          <a:lstStyle/>
          <a:p>
            <a:pPr marL="0" indent="0" algn="l">
              <a:buNone/>
            </a:pPr>
            <a:r>
              <a:rPr lang="en-GB" sz="4000" b="1" dirty="0"/>
              <a:t>7</a:t>
            </a:r>
            <a:r>
              <a:rPr lang="en-GB" sz="4000" b="1" i="0" u="none" strike="noStrike" baseline="0" dirty="0"/>
              <a:t>) Employee Assistance: </a:t>
            </a:r>
          </a:p>
          <a:p>
            <a:pPr algn="l">
              <a:buFont typeface="Wingdings" panose="05000000000000000000" pitchFamily="2" charset="2"/>
              <a:buChar char="§"/>
            </a:pPr>
            <a:r>
              <a:rPr lang="en-GB" sz="4000" dirty="0"/>
              <a:t>The individuality of employees to be considered and the assistance to their personal as well as official problems for better productivity</a:t>
            </a:r>
          </a:p>
          <a:p>
            <a:pPr marL="0" indent="0" algn="l">
              <a:buNone/>
            </a:pPr>
            <a:r>
              <a:rPr lang="en-GB" sz="4000" b="1" dirty="0"/>
              <a:t>8) Union-Labour Relations: </a:t>
            </a:r>
          </a:p>
          <a:p>
            <a:pPr algn="just">
              <a:buFont typeface="Wingdings" panose="05000000000000000000" pitchFamily="2" charset="2"/>
              <a:buChar char="§"/>
            </a:pPr>
            <a:r>
              <a:rPr lang="en-GB" sz="4000" dirty="0"/>
              <a:t>Healthy Industrial and Labour relations are very important for enhancing peace and productivity in an organization.</a:t>
            </a:r>
          </a:p>
          <a:p>
            <a:pPr marL="0" indent="0" algn="l">
              <a:buNone/>
            </a:pPr>
            <a:endParaRPr lang="en-GB" sz="4000" b="0" i="0" u="none" strike="noStrike" baseline="0" dirty="0"/>
          </a:p>
        </p:txBody>
      </p:sp>
    </p:spTree>
    <p:extLst>
      <p:ext uri="{BB962C8B-B14F-4D97-AF65-F5344CB8AC3E}">
        <p14:creationId xmlns:p14="http://schemas.microsoft.com/office/powerpoint/2010/main" val="2125236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38470" y="294537"/>
            <a:ext cx="11633790" cy="6382710"/>
          </a:xfrm>
        </p:spPr>
        <p:txBody>
          <a:bodyPr>
            <a:noAutofit/>
          </a:bodyPr>
          <a:lstStyle/>
          <a:p>
            <a:pPr marL="0" indent="0" algn="just">
              <a:buNone/>
            </a:pPr>
            <a:r>
              <a:rPr lang="en-GB" sz="3600" b="1" i="0" u="none" strike="noStrike" baseline="0" dirty="0"/>
              <a:t>9) Personnel Research and Information System: </a:t>
            </a:r>
          </a:p>
          <a:p>
            <a:pPr algn="just">
              <a:buFont typeface="Wingdings" panose="05000000000000000000" pitchFamily="2" charset="2"/>
              <a:buChar char="§"/>
            </a:pPr>
            <a:r>
              <a:rPr lang="en-GB" sz="3600" b="0" i="0" u="none" strike="noStrike" baseline="0" dirty="0"/>
              <a:t>Knowledge on behavioural science and industrial psychology throws better insight into the workers expectations, aspirations and behaviour.</a:t>
            </a:r>
          </a:p>
          <a:p>
            <a:pPr algn="just">
              <a:buFont typeface="Wingdings" panose="05000000000000000000" pitchFamily="2" charset="2"/>
              <a:buChar char="§"/>
            </a:pPr>
            <a:r>
              <a:rPr lang="en-GB" sz="3600" b="0" i="0" u="none" strike="noStrike" baseline="0" dirty="0"/>
              <a:t>Advancement of technology of product and production methods have created new working environment</a:t>
            </a:r>
          </a:p>
          <a:p>
            <a:pPr algn="just">
              <a:buFont typeface="Wingdings" panose="05000000000000000000" pitchFamily="2" charset="2"/>
              <a:buChar char="§"/>
            </a:pPr>
            <a:r>
              <a:rPr lang="en-GB" sz="3600" b="0" i="0" u="none" strike="noStrike" baseline="0" dirty="0"/>
              <a:t>Science of ergonomics gives better ideas of doing a work more conveniently by an employee. </a:t>
            </a:r>
          </a:p>
          <a:p>
            <a:pPr algn="just">
              <a:buFont typeface="Wingdings" panose="05000000000000000000" pitchFamily="2" charset="2"/>
              <a:buChar char="§"/>
            </a:pPr>
            <a:r>
              <a:rPr lang="en-GB" sz="3600" b="0" i="0" u="none" strike="noStrike" baseline="0" dirty="0"/>
              <a:t>It must also take special care for improving exchange of information through effective communication systems on a continuous basis especially on moral and motivation.</a:t>
            </a:r>
            <a:endParaRPr lang="en-IN" sz="3600" dirty="0"/>
          </a:p>
        </p:txBody>
      </p:sp>
    </p:spTree>
    <p:extLst>
      <p:ext uri="{BB962C8B-B14F-4D97-AF65-F5344CB8AC3E}">
        <p14:creationId xmlns:p14="http://schemas.microsoft.com/office/powerpoint/2010/main" val="804433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446568" y="0"/>
            <a:ext cx="10515600" cy="1325563"/>
          </a:xfrm>
        </p:spPr>
        <p:txBody>
          <a:bodyPr>
            <a:normAutofit/>
          </a:bodyPr>
          <a:lstStyle/>
          <a:p>
            <a:r>
              <a:rPr lang="en-GB" sz="4800" b="1" dirty="0">
                <a:solidFill>
                  <a:srgbClr val="FF0000"/>
                </a:solidFill>
              </a:rPr>
              <a:t>Objectives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446568" y="953755"/>
            <a:ext cx="11515060" cy="5117436"/>
          </a:xfrm>
        </p:spPr>
        <p:txBody>
          <a:bodyPr>
            <a:noAutofit/>
          </a:bodyPr>
          <a:lstStyle/>
          <a:p>
            <a:pPr algn="just"/>
            <a:r>
              <a:rPr lang="en-GB" sz="3600" b="0" i="0" u="none" strike="noStrike" baseline="0" dirty="0"/>
              <a:t>The primary objective of HRM is to ensure the availability of competent and willing workforce to an </a:t>
            </a:r>
            <a:r>
              <a:rPr lang="en-IN" sz="3600" b="0" i="0" u="none" strike="noStrike" baseline="0" dirty="0"/>
              <a:t>organization.</a:t>
            </a:r>
          </a:p>
          <a:p>
            <a:pPr algn="just"/>
            <a:r>
              <a:rPr lang="en-IN" sz="3600" dirty="0"/>
              <a:t>Specific objectives</a:t>
            </a:r>
            <a:endParaRPr lang="en-IN" sz="3600" b="0" i="0" u="none" strike="noStrike" baseline="0" dirty="0"/>
          </a:p>
          <a:p>
            <a:pPr marL="0" indent="0" algn="just">
              <a:buNone/>
            </a:pPr>
            <a:r>
              <a:rPr lang="en-GB" sz="3600" b="1" i="0" u="none" strike="noStrike" baseline="0" dirty="0"/>
              <a:t>1) Human capital : </a:t>
            </a:r>
            <a:r>
              <a:rPr lang="en-GB" sz="3600" b="0" i="0" u="none" strike="noStrike" baseline="0" dirty="0"/>
              <a:t>assisting the organization in obtaining the right number and types of employees to fulfil its strategic and operational goals</a:t>
            </a:r>
          </a:p>
          <a:p>
            <a:pPr marL="0" indent="0" algn="just">
              <a:buNone/>
            </a:pPr>
            <a:r>
              <a:rPr lang="en-GB" sz="3600" b="1" i="0" u="none" strike="noStrike" baseline="0" dirty="0"/>
              <a:t>2) Developing organizational climate: </a:t>
            </a:r>
            <a:r>
              <a:rPr lang="en-GB" sz="3600" b="0" i="0" u="none" strike="noStrike" baseline="0" dirty="0"/>
              <a:t>helping to create a climate in which employees are encouraged to develop and utilize their skills to the fullest and to employ the skills and abilities of the workforce</a:t>
            </a:r>
          </a:p>
          <a:p>
            <a:pPr marL="0" indent="0" algn="just">
              <a:buNone/>
            </a:pPr>
            <a:endParaRPr lang="en-IN" sz="3600" b="0" i="0" u="none" strike="noStrike" baseline="0" dirty="0"/>
          </a:p>
        </p:txBody>
      </p:sp>
    </p:spTree>
    <p:extLst>
      <p:ext uri="{BB962C8B-B14F-4D97-AF65-F5344CB8AC3E}">
        <p14:creationId xmlns:p14="http://schemas.microsoft.com/office/powerpoint/2010/main" val="191065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Objectives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36182" y="1347159"/>
            <a:ext cx="11474302" cy="4351338"/>
          </a:xfrm>
        </p:spPr>
        <p:txBody>
          <a:bodyPr>
            <a:noAutofit/>
          </a:bodyPr>
          <a:lstStyle/>
          <a:p>
            <a:pPr marL="0" indent="0" algn="l">
              <a:buNone/>
            </a:pPr>
            <a:r>
              <a:rPr lang="en-GB" sz="3600" b="0" i="0" u="none" strike="noStrike" baseline="0" dirty="0"/>
              <a:t>3) Helping to maintain performance standards and increase productivity through effective job design; providing adequate orientation, training and development; providing performance-related feedback; and ensuring effective two-way communication.</a:t>
            </a:r>
          </a:p>
          <a:p>
            <a:pPr marL="0" indent="0" algn="l">
              <a:buNone/>
            </a:pPr>
            <a:r>
              <a:rPr lang="en-GB" sz="3600" b="0" i="0" u="none" strike="noStrike" baseline="0" dirty="0"/>
              <a:t>4) Helping to establish and maintain a harmonious employer/employee relationship</a:t>
            </a:r>
          </a:p>
          <a:p>
            <a:pPr marL="0" indent="0" algn="l">
              <a:buNone/>
            </a:pPr>
            <a:r>
              <a:rPr lang="en-GB" sz="3600" b="0" i="0" u="none" strike="noStrike" baseline="0" dirty="0"/>
              <a:t>5) Helping to create and maintain a safe and healthy work environment</a:t>
            </a:r>
            <a:endParaRPr lang="en-IN" sz="3600" dirty="0"/>
          </a:p>
          <a:p>
            <a:pPr marL="0" indent="0">
              <a:buNone/>
            </a:pPr>
            <a:endParaRPr lang="en-IN" sz="3600" dirty="0"/>
          </a:p>
        </p:txBody>
      </p:sp>
    </p:spTree>
    <p:extLst>
      <p:ext uri="{BB962C8B-B14F-4D97-AF65-F5344CB8AC3E}">
        <p14:creationId xmlns:p14="http://schemas.microsoft.com/office/powerpoint/2010/main" val="2176879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Objectives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51120" y="1442852"/>
            <a:ext cx="11229753" cy="4351338"/>
          </a:xfrm>
        </p:spPr>
        <p:txBody>
          <a:bodyPr>
            <a:noAutofit/>
          </a:bodyPr>
          <a:lstStyle/>
          <a:p>
            <a:pPr marL="0" indent="0" algn="just">
              <a:buNone/>
            </a:pPr>
            <a:r>
              <a:rPr lang="en-GB" sz="3200" b="0" i="0" u="none" strike="noStrike" baseline="0" dirty="0"/>
              <a:t>6) Developing programs to meet the economic, psychological, and social needs of the employees and helping the organization to retain the productive employees</a:t>
            </a:r>
          </a:p>
          <a:p>
            <a:pPr marL="0" indent="0" algn="just">
              <a:buNone/>
            </a:pPr>
            <a:r>
              <a:rPr lang="en-GB" sz="3200" b="0" i="0" u="none" strike="noStrike" baseline="0" dirty="0"/>
              <a:t>7) Ensuring that the organization is in compliance with provincial/territorial and federal laws affecting the workplace (such as human rights, employment equity, occupational health and safety, employment standards, and labour relations legislation). To help the organization to reach its goals</a:t>
            </a:r>
          </a:p>
        </p:txBody>
      </p:sp>
    </p:spTree>
    <p:extLst>
      <p:ext uri="{BB962C8B-B14F-4D97-AF65-F5344CB8AC3E}">
        <p14:creationId xmlns:p14="http://schemas.microsoft.com/office/powerpoint/2010/main" val="3871878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Objectives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48586" y="1825625"/>
            <a:ext cx="10855842" cy="4351338"/>
          </a:xfrm>
        </p:spPr>
        <p:txBody>
          <a:bodyPr>
            <a:noAutofit/>
          </a:bodyPr>
          <a:lstStyle/>
          <a:p>
            <a:pPr marL="0" indent="0" algn="l">
              <a:buNone/>
            </a:pPr>
            <a:r>
              <a:rPr lang="en-GB" sz="4000" b="0" i="0" u="none" strike="noStrike" baseline="0" dirty="0"/>
              <a:t>8) To provide organization with well-trained and well-motivated employees</a:t>
            </a:r>
          </a:p>
          <a:p>
            <a:pPr marL="0" indent="0" algn="l">
              <a:buNone/>
            </a:pPr>
            <a:r>
              <a:rPr lang="en-GB" sz="4000" b="0" i="0" u="none" strike="noStrike" baseline="0" dirty="0"/>
              <a:t>9) To increase the employees satisfaction and self-actualization</a:t>
            </a:r>
          </a:p>
          <a:p>
            <a:pPr marL="0" indent="0" algn="l">
              <a:buNone/>
            </a:pPr>
            <a:r>
              <a:rPr lang="en-GB" sz="4000" b="0" i="0" u="none" strike="noStrike" baseline="0" dirty="0"/>
              <a:t>10) To develop and maintain the quality of work life</a:t>
            </a:r>
          </a:p>
          <a:p>
            <a:pPr marL="0" indent="0" algn="l">
              <a:buNone/>
            </a:pPr>
            <a:r>
              <a:rPr lang="en-GB" sz="4000" b="0" i="0" u="none" strike="noStrike" baseline="0" dirty="0"/>
              <a:t>11) To communicate HR policies to all employees.</a:t>
            </a:r>
          </a:p>
          <a:p>
            <a:pPr marL="0" indent="0" algn="l">
              <a:buNone/>
            </a:pPr>
            <a:r>
              <a:rPr lang="en-GB" sz="4000" b="0" i="0" u="none" strike="noStrike" baseline="0" dirty="0"/>
              <a:t>12) To help maintain ethical polices and behaviour.</a:t>
            </a:r>
            <a:endParaRPr lang="en-IN" sz="4000" dirty="0"/>
          </a:p>
          <a:p>
            <a:pPr marL="0" indent="0">
              <a:buNone/>
            </a:pPr>
            <a:endParaRPr lang="en-IN" sz="4000" dirty="0"/>
          </a:p>
        </p:txBody>
      </p:sp>
    </p:spTree>
    <p:extLst>
      <p:ext uri="{BB962C8B-B14F-4D97-AF65-F5344CB8AC3E}">
        <p14:creationId xmlns:p14="http://schemas.microsoft.com/office/powerpoint/2010/main" val="3664803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294167" y="358110"/>
            <a:ext cx="10515600" cy="1325563"/>
          </a:xfrm>
        </p:spPr>
        <p:txBody>
          <a:bodyPr>
            <a:normAutofit/>
          </a:bodyPr>
          <a:lstStyle/>
          <a:p>
            <a:r>
              <a:rPr lang="en-GB" sz="4800" b="1" dirty="0">
                <a:solidFill>
                  <a:srgbClr val="FF0000"/>
                </a:solidFill>
              </a:rPr>
              <a:t>Objectives of HRM</a:t>
            </a:r>
            <a:endParaRPr lang="en-IN" sz="4800" b="1" dirty="0">
              <a:solidFill>
                <a:srgbClr val="FF0000"/>
              </a:solidFill>
            </a:endParaRPr>
          </a:p>
        </p:txBody>
      </p:sp>
      <p:pic>
        <p:nvPicPr>
          <p:cNvPr id="7" name="Picture 6">
            <a:extLst>
              <a:ext uri="{FF2B5EF4-FFF2-40B4-BE49-F238E27FC236}">
                <a16:creationId xmlns:a16="http://schemas.microsoft.com/office/drawing/2014/main" id="{BF9EB335-736E-9047-D9CF-691A0DB31558}"/>
              </a:ext>
            </a:extLst>
          </p:cNvPr>
          <p:cNvPicPr>
            <a:picLocks noChangeAspect="1"/>
          </p:cNvPicPr>
          <p:nvPr/>
        </p:nvPicPr>
        <p:blipFill>
          <a:blip r:embed="rId2"/>
          <a:stretch>
            <a:fillRect/>
          </a:stretch>
        </p:blipFill>
        <p:spPr>
          <a:xfrm>
            <a:off x="6096000" y="365125"/>
            <a:ext cx="5801833" cy="6398520"/>
          </a:xfrm>
          <a:prstGeom prst="rect">
            <a:avLst/>
          </a:prstGeom>
        </p:spPr>
      </p:pic>
      <p:sp>
        <p:nvSpPr>
          <p:cNvPr id="8" name="TextBox 7">
            <a:extLst>
              <a:ext uri="{FF2B5EF4-FFF2-40B4-BE49-F238E27FC236}">
                <a16:creationId xmlns:a16="http://schemas.microsoft.com/office/drawing/2014/main" id="{4789B82B-CBD5-038F-5E4B-DCF121BBCD9D}"/>
              </a:ext>
            </a:extLst>
          </p:cNvPr>
          <p:cNvSpPr txBox="1"/>
          <p:nvPr/>
        </p:nvSpPr>
        <p:spPr>
          <a:xfrm flipH="1">
            <a:off x="520995" y="1594883"/>
            <a:ext cx="5316278" cy="3539430"/>
          </a:xfrm>
          <a:prstGeom prst="rect">
            <a:avLst/>
          </a:prstGeom>
          <a:noFill/>
        </p:spPr>
        <p:txBody>
          <a:bodyPr wrap="square" rtlCol="0">
            <a:spAutoFit/>
          </a:bodyPr>
          <a:lstStyle/>
          <a:p>
            <a:r>
              <a:rPr lang="en-GB" sz="3200" dirty="0"/>
              <a:t>All above mentioned objectives are categorized </a:t>
            </a:r>
            <a:r>
              <a:rPr lang="en-GB" sz="3200" b="0" i="0" u="none" strike="noStrike" baseline="0" dirty="0"/>
              <a:t>under four specific objectives: </a:t>
            </a:r>
          </a:p>
          <a:p>
            <a:pPr marL="457200" indent="-457200" algn="l">
              <a:buFont typeface="Wingdings" panose="05000000000000000000" pitchFamily="2" charset="2"/>
              <a:buChar char="§"/>
            </a:pPr>
            <a:r>
              <a:rPr lang="en-GB" sz="3200" b="0" i="0" u="none" strike="noStrike" baseline="0" dirty="0"/>
              <a:t>societal, </a:t>
            </a:r>
          </a:p>
          <a:p>
            <a:pPr marL="457200" indent="-457200" algn="l">
              <a:buFont typeface="Wingdings" panose="05000000000000000000" pitchFamily="2" charset="2"/>
              <a:buChar char="§"/>
            </a:pPr>
            <a:r>
              <a:rPr lang="en-GB" sz="3200" b="0" i="0" u="none" strike="noStrike" baseline="0" dirty="0"/>
              <a:t>organizational,</a:t>
            </a:r>
          </a:p>
          <a:p>
            <a:pPr marL="457200" indent="-457200" algn="l">
              <a:buFont typeface="Wingdings" panose="05000000000000000000" pitchFamily="2" charset="2"/>
              <a:buChar char="§"/>
            </a:pPr>
            <a:r>
              <a:rPr lang="en-IN" sz="3200" b="0" i="0" u="none" strike="noStrike" baseline="0" dirty="0"/>
              <a:t>functional </a:t>
            </a:r>
          </a:p>
          <a:p>
            <a:pPr marL="457200" indent="-457200" algn="l">
              <a:buFont typeface="Wingdings" panose="05000000000000000000" pitchFamily="2" charset="2"/>
              <a:buChar char="§"/>
            </a:pPr>
            <a:r>
              <a:rPr lang="en-IN" sz="3200" b="0" i="0" u="none" strike="noStrike" baseline="0" dirty="0"/>
              <a:t>personnel.</a:t>
            </a:r>
            <a:endParaRPr lang="en-IN" sz="3200" dirty="0"/>
          </a:p>
        </p:txBody>
      </p:sp>
    </p:spTree>
    <p:extLst>
      <p:ext uri="{BB962C8B-B14F-4D97-AF65-F5344CB8AC3E}">
        <p14:creationId xmlns:p14="http://schemas.microsoft.com/office/powerpoint/2010/main" val="1993262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95939" y="305170"/>
            <a:ext cx="11612526" cy="6403974"/>
          </a:xfrm>
        </p:spPr>
        <p:txBody>
          <a:bodyPr>
            <a:normAutofit/>
          </a:bodyPr>
          <a:lstStyle/>
          <a:p>
            <a:pPr marL="0" indent="0" algn="l">
              <a:buNone/>
            </a:pPr>
            <a:r>
              <a:rPr lang="en-GB" sz="3200" b="1" i="0" u="none" strike="noStrike" baseline="0" dirty="0"/>
              <a:t>1) Societal Objectives</a:t>
            </a:r>
            <a:r>
              <a:rPr lang="en-GB" sz="3200" b="0" i="0" u="none" strike="noStrike" baseline="0" dirty="0"/>
              <a:t>: </a:t>
            </a:r>
          </a:p>
          <a:p>
            <a:pPr algn="l"/>
            <a:r>
              <a:rPr lang="en-GB" sz="3200" b="0" i="0" u="none" strike="noStrike" baseline="0" dirty="0"/>
              <a:t>seek to ensure that the organization becomes </a:t>
            </a:r>
            <a:r>
              <a:rPr lang="en-GB" sz="3200" b="0" i="0" u="sng" strike="noStrike" baseline="0" dirty="0"/>
              <a:t>socially responsible</a:t>
            </a:r>
            <a:r>
              <a:rPr lang="en-GB" sz="3200" b="0" i="0" u="none" strike="noStrike" baseline="0" dirty="0"/>
              <a:t> to the needs and challenges of the </a:t>
            </a:r>
            <a:r>
              <a:rPr lang="en-GB" sz="3200" b="0" i="0" u="sng" strike="noStrike" baseline="0" dirty="0"/>
              <a:t>society while minimizing the negative impact of such demands </a:t>
            </a:r>
            <a:r>
              <a:rPr lang="en-GB" sz="3200" b="0" i="0" u="none" strike="noStrike" baseline="0" dirty="0"/>
              <a:t>upon the organization. </a:t>
            </a:r>
          </a:p>
          <a:p>
            <a:pPr algn="l"/>
            <a:r>
              <a:rPr lang="en-GB" sz="3200" b="0" i="0" u="none" strike="noStrike" baseline="0" dirty="0"/>
              <a:t>The failure of the organizations to use their resources for the society’s benefit in ethical ways may lead to restriction.</a:t>
            </a:r>
          </a:p>
          <a:p>
            <a:pPr marL="0" indent="0" algn="l">
              <a:buNone/>
            </a:pPr>
            <a:r>
              <a:rPr lang="en-GB" sz="3200" b="1" i="0" u="none" strike="noStrike" baseline="0" dirty="0"/>
              <a:t>2) Organizational Objectives</a:t>
            </a:r>
            <a:r>
              <a:rPr lang="en-GB" sz="3200" b="0" i="0" u="none" strike="noStrike" baseline="0" dirty="0"/>
              <a:t>: </a:t>
            </a:r>
          </a:p>
          <a:p>
            <a:pPr algn="l">
              <a:buFont typeface="Wingdings" panose="05000000000000000000" pitchFamily="2" charset="2"/>
              <a:buChar char="§"/>
            </a:pPr>
            <a:r>
              <a:rPr lang="en-GB" sz="3200" dirty="0"/>
              <a:t>I</a:t>
            </a:r>
            <a:r>
              <a:rPr lang="en-GB" sz="3200" b="0" i="0" u="none" strike="noStrike" baseline="0" dirty="0"/>
              <a:t>t recognizes the role of HRM in bringing about organizational effectiveness. </a:t>
            </a:r>
          </a:p>
          <a:p>
            <a:pPr algn="l">
              <a:buFont typeface="Wingdings" panose="05000000000000000000" pitchFamily="2" charset="2"/>
              <a:buChar char="§"/>
            </a:pPr>
            <a:r>
              <a:rPr lang="en-GB" sz="3200" b="0" i="0" u="none" strike="noStrike" baseline="0" dirty="0"/>
              <a:t>It makes sure that HRM is not a standalone department, but rather a means to assist the organization with its primary objectives.</a:t>
            </a:r>
          </a:p>
          <a:p>
            <a:pPr algn="l">
              <a:buFont typeface="Wingdings" panose="05000000000000000000" pitchFamily="2" charset="2"/>
              <a:buChar char="§"/>
            </a:pPr>
            <a:r>
              <a:rPr lang="en-GB" sz="3200" b="0" i="0" u="none" strike="noStrike" baseline="0" dirty="0"/>
              <a:t> The HR department exists to serve the rest of the </a:t>
            </a:r>
            <a:r>
              <a:rPr lang="en-IN" sz="3200" b="0" i="0" u="none" strike="noStrike" baseline="0" dirty="0"/>
              <a:t>organization.</a:t>
            </a:r>
            <a:endParaRPr lang="en-IN" sz="3200" dirty="0"/>
          </a:p>
        </p:txBody>
      </p:sp>
    </p:spTree>
    <p:extLst>
      <p:ext uri="{BB962C8B-B14F-4D97-AF65-F5344CB8AC3E}">
        <p14:creationId xmlns:p14="http://schemas.microsoft.com/office/powerpoint/2010/main" val="4238364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91631" y="432760"/>
            <a:ext cx="11431773" cy="6042468"/>
          </a:xfrm>
        </p:spPr>
        <p:txBody>
          <a:bodyPr>
            <a:noAutofit/>
          </a:bodyPr>
          <a:lstStyle/>
          <a:p>
            <a:pPr marL="0" indent="0" algn="l">
              <a:buNone/>
            </a:pPr>
            <a:r>
              <a:rPr lang="en-GB" sz="3200" b="1" i="0" u="none" strike="noStrike" baseline="0" dirty="0"/>
              <a:t>3) Functional Objectives: </a:t>
            </a:r>
          </a:p>
          <a:p>
            <a:pPr algn="l"/>
            <a:r>
              <a:rPr lang="en-GB" sz="3200" b="0" i="0" u="none" strike="noStrike" baseline="0" dirty="0"/>
              <a:t>Human resources are to be adjusted to suit the organization’s demands in an efficient method</a:t>
            </a:r>
          </a:p>
          <a:p>
            <a:pPr marL="0" indent="0" algn="l">
              <a:buNone/>
            </a:pPr>
            <a:r>
              <a:rPr lang="en-GB" sz="3200" b="1" i="0" u="none" strike="noStrike" baseline="0" dirty="0"/>
              <a:t>4) Personnel Objectives: </a:t>
            </a:r>
          </a:p>
          <a:p>
            <a:pPr algn="l"/>
            <a:r>
              <a:rPr lang="en-GB" sz="3200" b="0" i="0" u="none" strike="noStrike" baseline="0" dirty="0"/>
              <a:t>it is to assist employees in achieving their personal goals, at least as far as these goals enhance the individual’s contribution to the organization. </a:t>
            </a:r>
          </a:p>
          <a:p>
            <a:pPr algn="l"/>
            <a:r>
              <a:rPr lang="en-GB" sz="3200" b="0" i="0" u="none" strike="noStrike" baseline="0" dirty="0"/>
              <a:t>Personal objectives of employees must be met if they are to be maintained, retained and motivated. </a:t>
            </a:r>
          </a:p>
          <a:p>
            <a:pPr algn="l"/>
            <a:r>
              <a:rPr lang="en-GB" sz="3200" b="0" i="0" u="none" strike="noStrike" baseline="0" dirty="0"/>
              <a:t>Otherwise employee performance and satisfaction may decline giving rise to employee turnover.</a:t>
            </a:r>
            <a:endParaRPr lang="en-IN" sz="3200" dirty="0"/>
          </a:p>
        </p:txBody>
      </p:sp>
    </p:spTree>
    <p:extLst>
      <p:ext uri="{BB962C8B-B14F-4D97-AF65-F5344CB8AC3E}">
        <p14:creationId xmlns:p14="http://schemas.microsoft.com/office/powerpoint/2010/main" val="2490022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Functions of HRM</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96052" y="1690688"/>
            <a:ext cx="10515600" cy="4351338"/>
          </a:xfrm>
        </p:spPr>
        <p:txBody>
          <a:bodyPr>
            <a:normAutofit fontScale="92500" lnSpcReduction="20000"/>
          </a:bodyPr>
          <a:lstStyle/>
          <a:p>
            <a:r>
              <a:rPr lang="en-GB" sz="4000" dirty="0"/>
              <a:t>Seven major functions</a:t>
            </a:r>
          </a:p>
          <a:p>
            <a:r>
              <a:rPr lang="en-GB" sz="4000" dirty="0"/>
              <a:t>Additional Functions</a:t>
            </a:r>
          </a:p>
          <a:p>
            <a:pPr algn="l"/>
            <a:r>
              <a:rPr lang="en-IN" b="0" i="0" u="none" strike="noStrike" baseline="0" dirty="0"/>
              <a:t>legal, </a:t>
            </a:r>
          </a:p>
          <a:p>
            <a:pPr algn="l"/>
            <a:r>
              <a:rPr lang="en-IN" b="0" i="0" u="none" strike="noStrike" baseline="0" dirty="0"/>
              <a:t>economic, </a:t>
            </a:r>
          </a:p>
          <a:p>
            <a:pPr algn="l"/>
            <a:r>
              <a:rPr lang="en-IN" b="0" i="0" u="none" strike="noStrike" baseline="0" dirty="0"/>
              <a:t>technological, </a:t>
            </a:r>
          </a:p>
          <a:p>
            <a:pPr algn="l"/>
            <a:r>
              <a:rPr lang="en-IN" b="0" i="0" u="none" strike="noStrike" baseline="0" dirty="0"/>
              <a:t>global, </a:t>
            </a:r>
          </a:p>
          <a:p>
            <a:pPr algn="l"/>
            <a:r>
              <a:rPr lang="en-IN" b="0" i="0" u="none" strike="noStrike" baseline="0" dirty="0"/>
              <a:t>environmental,</a:t>
            </a:r>
          </a:p>
          <a:p>
            <a:pPr algn="l"/>
            <a:r>
              <a:rPr lang="en-GB" b="0" i="0" u="none" strike="noStrike" baseline="0" dirty="0"/>
              <a:t>cultural/geographic, </a:t>
            </a:r>
          </a:p>
          <a:p>
            <a:pPr algn="l"/>
            <a:r>
              <a:rPr lang="en-GB" b="0" i="0" u="none" strike="noStrike" baseline="0" dirty="0"/>
              <a:t>political,</a:t>
            </a:r>
          </a:p>
          <a:p>
            <a:pPr algn="l"/>
            <a:r>
              <a:rPr lang="en-GB" b="0" i="0" u="none" strike="noStrike" baseline="0" dirty="0"/>
              <a:t>social</a:t>
            </a:r>
            <a:endParaRPr lang="en-IN" dirty="0"/>
          </a:p>
        </p:txBody>
      </p:sp>
      <p:pic>
        <p:nvPicPr>
          <p:cNvPr id="7" name="Picture 6">
            <a:extLst>
              <a:ext uri="{FF2B5EF4-FFF2-40B4-BE49-F238E27FC236}">
                <a16:creationId xmlns:a16="http://schemas.microsoft.com/office/drawing/2014/main" id="{3B5C3A71-8D4C-6CA1-7481-BFD7597D0704}"/>
              </a:ext>
            </a:extLst>
          </p:cNvPr>
          <p:cNvPicPr>
            <a:picLocks noChangeAspect="1"/>
          </p:cNvPicPr>
          <p:nvPr/>
        </p:nvPicPr>
        <p:blipFill>
          <a:blip r:embed="rId2"/>
          <a:stretch>
            <a:fillRect/>
          </a:stretch>
        </p:blipFill>
        <p:spPr>
          <a:xfrm>
            <a:off x="5202459" y="147532"/>
            <a:ext cx="6893489" cy="6519082"/>
          </a:xfrm>
          <a:prstGeom prst="rect">
            <a:avLst/>
          </a:prstGeom>
        </p:spPr>
      </p:pic>
    </p:spTree>
    <p:extLst>
      <p:ext uri="{BB962C8B-B14F-4D97-AF65-F5344CB8AC3E}">
        <p14:creationId xmlns:p14="http://schemas.microsoft.com/office/powerpoint/2010/main" val="1621384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189614" y="305169"/>
            <a:ext cx="10515600" cy="4351338"/>
          </a:xfrm>
        </p:spPr>
        <p:txBody>
          <a:bodyPr>
            <a:noAutofit/>
          </a:bodyPr>
          <a:lstStyle/>
          <a:p>
            <a:pPr marL="342900" indent="-342900">
              <a:buAutoNum type="arabicParenR"/>
            </a:pPr>
            <a:r>
              <a:rPr lang="en-IN" sz="3600" b="1" i="0" u="none" strike="noStrike" baseline="0" dirty="0"/>
              <a:t>Strategic HR Management:</a:t>
            </a:r>
          </a:p>
          <a:p>
            <a:r>
              <a:rPr lang="en-GB" sz="3600" dirty="0"/>
              <a:t>HR effectiveness can be increased through the use of HR metrics and HR technology</a:t>
            </a:r>
          </a:p>
          <a:p>
            <a:pPr algn="l"/>
            <a:r>
              <a:rPr lang="en-GB" sz="3600" b="0" i="0" u="none" strike="noStrike" baseline="0" dirty="0"/>
              <a:t>Human resource planning (HRP) function determine the number and type of employees </a:t>
            </a:r>
            <a:r>
              <a:rPr lang="en-GB" sz="3600" b="0" i="0" u="none" strike="noStrike" baseline="0"/>
              <a:t>needed to </a:t>
            </a:r>
            <a:r>
              <a:rPr lang="en-IN" sz="3600" b="0" i="0" u="none" strike="noStrike" baseline="0"/>
              <a:t>accomplish </a:t>
            </a:r>
            <a:r>
              <a:rPr lang="en-IN" sz="3600" b="0" i="0" u="none" strike="noStrike" baseline="0" dirty="0"/>
              <a:t>organizational goals.</a:t>
            </a:r>
          </a:p>
          <a:p>
            <a:pPr algn="l"/>
            <a:r>
              <a:rPr lang="en-GB" sz="3600" b="0" i="0" u="none" strike="noStrike" baseline="0" dirty="0"/>
              <a:t>HRP includes creating venture teams with a balanced skill-mix, recruiting the right people, and voluntary team assignment.</a:t>
            </a:r>
          </a:p>
          <a:p>
            <a:pPr algn="l"/>
            <a:r>
              <a:rPr lang="en-GB" sz="3600" b="0" i="0" u="none" strike="noStrike" baseline="0" dirty="0"/>
              <a:t>The basic HRP strategy is staffing </a:t>
            </a:r>
            <a:r>
              <a:rPr lang="en-IN" sz="3600" b="0" i="0" u="none" strike="noStrike" baseline="0" dirty="0"/>
              <a:t>and employee development.</a:t>
            </a:r>
            <a:endParaRPr lang="en-IN" sz="3600" dirty="0"/>
          </a:p>
        </p:txBody>
      </p:sp>
    </p:spTree>
    <p:extLst>
      <p:ext uri="{BB962C8B-B14F-4D97-AF65-F5344CB8AC3E}">
        <p14:creationId xmlns:p14="http://schemas.microsoft.com/office/powerpoint/2010/main" val="802389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1" y="145681"/>
            <a:ext cx="12192000" cy="4351338"/>
          </a:xfrm>
        </p:spPr>
        <p:txBody>
          <a:bodyPr>
            <a:noAutofit/>
          </a:bodyPr>
          <a:lstStyle/>
          <a:p>
            <a:pPr marL="0" indent="0" algn="l">
              <a:buNone/>
            </a:pPr>
            <a:r>
              <a:rPr lang="en-GB" sz="3400" b="1" i="0" u="none" strike="noStrike" baseline="0" dirty="0"/>
              <a:t>2) Equal Employment Opportunity: </a:t>
            </a:r>
          </a:p>
          <a:p>
            <a:pPr marL="0" indent="0" algn="l">
              <a:buNone/>
            </a:pPr>
            <a:r>
              <a:rPr lang="en-GB" sz="3400" b="0" i="0" u="none" strike="noStrike" baseline="0" dirty="0"/>
              <a:t>Compliance with equal employment opportunity (EEO) laws and regulations affects all other HR activities.</a:t>
            </a:r>
          </a:p>
          <a:p>
            <a:pPr marL="0" indent="0" algn="l">
              <a:buNone/>
            </a:pPr>
            <a:r>
              <a:rPr lang="en-GB" sz="3400" b="1" dirty="0"/>
              <a:t>3) </a:t>
            </a:r>
            <a:r>
              <a:rPr lang="en-IN" sz="3400" b="1" i="0" u="none" strike="noStrike" baseline="0" dirty="0"/>
              <a:t>Staffing:</a:t>
            </a:r>
          </a:p>
          <a:p>
            <a:pPr algn="l"/>
            <a:r>
              <a:rPr lang="en-GB" sz="3400" b="0" i="0" u="none" strike="noStrike" baseline="0" dirty="0"/>
              <a:t>to provide a sufficient supply of qualified individuals to fill jobs in an </a:t>
            </a:r>
            <a:r>
              <a:rPr lang="en-IN" sz="3400" b="0" i="0" u="none" strike="noStrike" baseline="0" dirty="0"/>
              <a:t>organization</a:t>
            </a:r>
          </a:p>
          <a:p>
            <a:pPr algn="l"/>
            <a:r>
              <a:rPr lang="en-GB" sz="3400" b="0" i="0" u="none" strike="noStrike" baseline="0" dirty="0"/>
              <a:t>Job analysis, recruitment and selection are the main functions under staffing.</a:t>
            </a:r>
            <a:endParaRPr lang="en-IN" sz="3400" dirty="0"/>
          </a:p>
          <a:p>
            <a:pPr algn="l"/>
            <a:r>
              <a:rPr lang="en-GB" sz="3400" b="0" i="0" u="none" strike="noStrike" baseline="0" dirty="0"/>
              <a:t>Job analysis is the process of describing the nature of a job and specifying the human requirements such as knowledge, skills, and experience needed to perform the job</a:t>
            </a:r>
            <a:endParaRPr lang="en-IN" sz="3400" b="0" i="0" u="none" strike="noStrike" baseline="0" dirty="0"/>
          </a:p>
          <a:p>
            <a:pPr algn="l"/>
            <a:r>
              <a:rPr lang="en-GB" sz="3400" b="0" i="0" u="none" strike="noStrike" baseline="0" dirty="0"/>
              <a:t>Job description spells out work duties and activities of employees.</a:t>
            </a:r>
            <a:endParaRPr lang="en-IN" sz="3400" b="1" i="0" u="none" strike="noStrike" baseline="0" dirty="0"/>
          </a:p>
          <a:p>
            <a:pPr marL="0" indent="0" algn="l">
              <a:buNone/>
            </a:pPr>
            <a:endParaRPr lang="en-IN" sz="3400" dirty="0"/>
          </a:p>
        </p:txBody>
      </p:sp>
    </p:spTree>
    <p:extLst>
      <p:ext uri="{BB962C8B-B14F-4D97-AF65-F5344CB8AC3E}">
        <p14:creationId xmlns:p14="http://schemas.microsoft.com/office/powerpoint/2010/main" val="2927849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157716" y="489374"/>
            <a:ext cx="11876567" cy="5879251"/>
          </a:xfrm>
        </p:spPr>
        <p:txBody>
          <a:bodyPr>
            <a:noAutofit/>
          </a:bodyPr>
          <a:lstStyle/>
          <a:p>
            <a:pPr algn="l"/>
            <a:r>
              <a:rPr lang="en-IN" sz="3600" b="0" i="0" u="none" strike="noStrike" baseline="0" dirty="0"/>
              <a:t>HRP precedes the actual </a:t>
            </a:r>
            <a:r>
              <a:rPr lang="en-GB" sz="3600" b="0" i="0" u="none" strike="noStrike" baseline="0" dirty="0"/>
              <a:t>selection of people for organization.</a:t>
            </a:r>
          </a:p>
          <a:p>
            <a:pPr marL="0" indent="0" algn="l">
              <a:buNone/>
            </a:pPr>
            <a:r>
              <a:rPr lang="en-IN" sz="3600" b="1" i="0" u="none" strike="noStrike" baseline="0" dirty="0"/>
              <a:t>4) Talent Management and Development:</a:t>
            </a:r>
            <a:endParaRPr lang="en-IN" sz="3600" b="1" dirty="0"/>
          </a:p>
          <a:p>
            <a:pPr algn="l"/>
            <a:r>
              <a:rPr lang="en-IN" sz="3600" b="0" i="0" u="none" strike="noStrike" baseline="0" dirty="0"/>
              <a:t>Orientation is the first </a:t>
            </a:r>
            <a:r>
              <a:rPr lang="en-GB" sz="3600" b="0" i="0" u="none" strike="noStrike" baseline="0" dirty="0"/>
              <a:t>step towards helping a new employee to adjust himself to the new job and the employer </a:t>
            </a:r>
            <a:r>
              <a:rPr lang="en-IN" sz="3600" b="0" i="0" u="none" strike="noStrike" baseline="0" dirty="0"/>
              <a:t>including pay and </a:t>
            </a:r>
            <a:r>
              <a:rPr lang="en-GB" sz="3600" b="0" i="0" u="none" strike="noStrike" baseline="0" dirty="0"/>
              <a:t>benefit programmes, working hours and company rules and expectations</a:t>
            </a:r>
          </a:p>
          <a:p>
            <a:pPr algn="l"/>
            <a:r>
              <a:rPr lang="en-GB" sz="3600" b="0" i="0" u="none" strike="noStrike" baseline="0" dirty="0"/>
              <a:t>Training and Development programs provide useful means of assuring that the employees are capable of performing their jobs at acceptable levels and also more than that</a:t>
            </a:r>
          </a:p>
          <a:p>
            <a:pPr algn="l"/>
            <a:r>
              <a:rPr lang="en-GB" sz="3600" b="0" i="0" u="none" strike="noStrike" baseline="0" dirty="0"/>
              <a:t>on the job and off the job training programmes</a:t>
            </a:r>
            <a:endParaRPr lang="en-IN" sz="3600" dirty="0"/>
          </a:p>
        </p:txBody>
      </p:sp>
    </p:spTree>
    <p:extLst>
      <p:ext uri="{BB962C8B-B14F-4D97-AF65-F5344CB8AC3E}">
        <p14:creationId xmlns:p14="http://schemas.microsoft.com/office/powerpoint/2010/main" val="1633918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08590" y="262639"/>
            <a:ext cx="11410508" cy="4351338"/>
          </a:xfrm>
        </p:spPr>
        <p:txBody>
          <a:bodyPr>
            <a:noAutofit/>
          </a:bodyPr>
          <a:lstStyle/>
          <a:p>
            <a:pPr marL="0" indent="0">
              <a:buNone/>
            </a:pPr>
            <a:r>
              <a:rPr lang="en-IN" sz="3600" b="1" i="0" u="none" strike="noStrike" baseline="0" dirty="0"/>
              <a:t>5) Total Rewards:</a:t>
            </a:r>
          </a:p>
          <a:p>
            <a:pPr algn="l"/>
            <a:r>
              <a:rPr lang="en-GB" sz="3600" b="0" i="0" u="none" strike="noStrike" baseline="0" dirty="0"/>
              <a:t>Compensation in the form of pay, incentives and benefits are the rewards given to the employees for performing organizational work</a:t>
            </a:r>
          </a:p>
          <a:p>
            <a:pPr algn="l"/>
            <a:r>
              <a:rPr lang="en-GB" sz="3600" b="0" i="0" u="none" strike="noStrike" baseline="0" dirty="0"/>
              <a:t>To be competitive, employers  may use variable pay programs such as incentive rewards, promotion from within the team, recognition rewards, balancing team and individual rewards etc.</a:t>
            </a:r>
          </a:p>
          <a:p>
            <a:pPr algn="l"/>
            <a:r>
              <a:rPr lang="en-GB" sz="3600" b="0" i="0" u="none" strike="noStrike" baseline="0" dirty="0"/>
              <a:t>Benefits are another form of compensation to employees other than direct pay for the work performed. Benefits include both legally required items and those offered at employer’s discretion.</a:t>
            </a:r>
            <a:endParaRPr lang="en-IN" sz="3600" dirty="0"/>
          </a:p>
        </p:txBody>
      </p:sp>
    </p:spTree>
    <p:extLst>
      <p:ext uri="{BB962C8B-B14F-4D97-AF65-F5344CB8AC3E}">
        <p14:creationId xmlns:p14="http://schemas.microsoft.com/office/powerpoint/2010/main" val="418444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49102" y="283904"/>
            <a:ext cx="11431772" cy="6350812"/>
          </a:xfrm>
        </p:spPr>
        <p:txBody>
          <a:bodyPr>
            <a:normAutofit fontScale="92500" lnSpcReduction="10000"/>
          </a:bodyPr>
          <a:lstStyle/>
          <a:p>
            <a:pPr marL="0" indent="0" algn="just">
              <a:buNone/>
            </a:pPr>
            <a:r>
              <a:rPr lang="en-GB" sz="3600" b="1" i="0" u="none" strike="noStrike" baseline="0" dirty="0"/>
              <a:t>6) Risk Management and Worker Protection: </a:t>
            </a:r>
          </a:p>
          <a:p>
            <a:pPr marL="0" indent="0" algn="just">
              <a:buNone/>
            </a:pPr>
            <a:r>
              <a:rPr lang="en-GB" sz="3600" b="1" i="0" u="none" strike="noStrike" baseline="0" dirty="0"/>
              <a:t>HRM </a:t>
            </a:r>
            <a:r>
              <a:rPr lang="en-GB" sz="3600" b="0" i="0" u="none" strike="noStrike" baseline="0" dirty="0"/>
              <a:t>addresses various workplace risks to</a:t>
            </a:r>
          </a:p>
          <a:p>
            <a:pPr algn="just"/>
            <a:r>
              <a:rPr lang="en-GB" sz="3600" b="0" i="0" u="none" strike="noStrike" baseline="0" dirty="0"/>
              <a:t>ensure protection of workers by meeting legal requirements and being more responsive to concerns for workplace health and safety along with disaster and recovery planning.</a:t>
            </a:r>
          </a:p>
          <a:p>
            <a:pPr marL="0" indent="0" algn="just">
              <a:buNone/>
            </a:pPr>
            <a:r>
              <a:rPr lang="en-GB" sz="3600" b="1" dirty="0"/>
              <a:t>7) </a:t>
            </a:r>
            <a:r>
              <a:rPr lang="en-IN" sz="3600" b="1" i="0" u="none" strike="noStrike" baseline="0" dirty="0"/>
              <a:t>Employee and Labor Relations:</a:t>
            </a:r>
          </a:p>
          <a:p>
            <a:pPr algn="l"/>
            <a:r>
              <a:rPr lang="en-GB" sz="3600" dirty="0"/>
              <a:t>The relationship between managers and their employees must be handled legally and effectively.</a:t>
            </a:r>
          </a:p>
          <a:p>
            <a:pPr algn="l"/>
            <a:r>
              <a:rPr lang="en-IN" sz="3600" dirty="0"/>
              <a:t>It is </a:t>
            </a:r>
            <a:r>
              <a:rPr lang="en-GB" sz="3600" dirty="0"/>
              <a:t>important to develop, communicate, and update HR policies and procedures so that managers and employees alike know what is expected</a:t>
            </a:r>
          </a:p>
          <a:p>
            <a:pPr algn="l"/>
            <a:r>
              <a:rPr lang="en-GB" sz="3600" dirty="0"/>
              <a:t>The term labour relation refers to the interaction with employees who are represented by a trade union</a:t>
            </a:r>
            <a:endParaRPr lang="en-IN" sz="3600" dirty="0"/>
          </a:p>
        </p:txBody>
      </p:sp>
    </p:spTree>
    <p:extLst>
      <p:ext uri="{BB962C8B-B14F-4D97-AF65-F5344CB8AC3E}">
        <p14:creationId xmlns:p14="http://schemas.microsoft.com/office/powerpoint/2010/main" val="3453616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46814" y="1134509"/>
            <a:ext cx="10515600" cy="4351338"/>
          </a:xfrm>
        </p:spPr>
        <p:txBody>
          <a:bodyPr>
            <a:normAutofit/>
          </a:bodyPr>
          <a:lstStyle/>
          <a:p>
            <a:pPr algn="l"/>
            <a:r>
              <a:rPr lang="en-GB" sz="3600" b="0" i="0" u="none" strike="noStrike" baseline="0" dirty="0"/>
              <a:t>Unions are organization of employees who join together to obtain more voice in decisions affecting wages, benefits, working conditions and other aspects of </a:t>
            </a:r>
            <a:r>
              <a:rPr lang="en-IN" sz="3600" b="0" i="0" u="none" strike="noStrike" baseline="0" dirty="0"/>
              <a:t>employment.</a:t>
            </a:r>
          </a:p>
          <a:p>
            <a:pPr algn="l"/>
            <a:r>
              <a:rPr lang="en-GB" sz="3600" b="0" i="0" u="none" strike="noStrike" baseline="0" dirty="0"/>
              <a:t>With regard to labour relations the major function of HR personnel includes negotiating with the unions regarding wages, service conditions and resolving disputes and grievances.</a:t>
            </a:r>
            <a:endParaRPr lang="en-IN" sz="3600" dirty="0"/>
          </a:p>
        </p:txBody>
      </p:sp>
    </p:spTree>
    <p:extLst>
      <p:ext uri="{BB962C8B-B14F-4D97-AF65-F5344CB8AC3E}">
        <p14:creationId xmlns:p14="http://schemas.microsoft.com/office/powerpoint/2010/main" val="1304162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ROLL OF HRM</a:t>
            </a:r>
            <a:endParaRPr lang="en-IN" sz="4800" b="1" dirty="0">
              <a:solidFill>
                <a:srgbClr val="FF0000"/>
              </a:solidFill>
            </a:endParaRPr>
          </a:p>
        </p:txBody>
      </p:sp>
      <p:pic>
        <p:nvPicPr>
          <p:cNvPr id="5" name="Content Placeholder 4">
            <a:extLst>
              <a:ext uri="{FF2B5EF4-FFF2-40B4-BE49-F238E27FC236}">
                <a16:creationId xmlns:a16="http://schemas.microsoft.com/office/drawing/2014/main" id="{7C371625-F866-CAC1-84BE-E1714B61C971}"/>
              </a:ext>
            </a:extLst>
          </p:cNvPr>
          <p:cNvPicPr>
            <a:picLocks noGrp="1" noChangeAspect="1"/>
          </p:cNvPicPr>
          <p:nvPr>
            <p:ph idx="1"/>
          </p:nvPr>
        </p:nvPicPr>
        <p:blipFill>
          <a:blip r:embed="rId2"/>
          <a:stretch>
            <a:fillRect/>
          </a:stretch>
        </p:blipFill>
        <p:spPr>
          <a:xfrm>
            <a:off x="373804" y="1955744"/>
            <a:ext cx="11228231" cy="2318544"/>
          </a:xfrm>
        </p:spPr>
      </p:pic>
    </p:spTree>
    <p:extLst>
      <p:ext uri="{BB962C8B-B14F-4D97-AF65-F5344CB8AC3E}">
        <p14:creationId xmlns:p14="http://schemas.microsoft.com/office/powerpoint/2010/main" val="3484872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78711" y="315802"/>
            <a:ext cx="10878880" cy="4351338"/>
          </a:xfrm>
        </p:spPr>
        <p:txBody>
          <a:bodyPr>
            <a:noAutofit/>
          </a:bodyPr>
          <a:lstStyle/>
          <a:p>
            <a:pPr marL="0" indent="0" algn="l">
              <a:buNone/>
            </a:pPr>
            <a:r>
              <a:rPr lang="en-GB" sz="3600" b="1" dirty="0"/>
              <a:t>1-Administrative roll: </a:t>
            </a:r>
          </a:p>
          <a:p>
            <a:pPr algn="l"/>
            <a:r>
              <a:rPr lang="en-IN" sz="3600" b="0" i="0" u="none" strike="noStrike" baseline="0" dirty="0"/>
              <a:t>administration and recordkeeping </a:t>
            </a:r>
            <a:r>
              <a:rPr lang="en-GB" sz="3600" b="0" i="0" u="none" strike="noStrike" baseline="0" dirty="0"/>
              <a:t>including essential legal paperwork and policy implementation.</a:t>
            </a:r>
          </a:p>
          <a:p>
            <a:pPr algn="l"/>
            <a:r>
              <a:rPr lang="en-GB" sz="3600" b="0" i="0" u="none" strike="noStrike" baseline="0" dirty="0"/>
              <a:t>Two major shifts driving the transformation of the administrative role are: Greater use of technology and Outsourcing.</a:t>
            </a:r>
          </a:p>
          <a:p>
            <a:pPr algn="l"/>
            <a:r>
              <a:rPr lang="en-GB" sz="3600" b="0" i="0" u="none" strike="noStrike" baseline="0" dirty="0"/>
              <a:t>Technology is being used in most HR activities, from employment applications and employee benefits enrolments to e-learning using Internet-based resources</a:t>
            </a:r>
            <a:endParaRPr lang="en-IN" sz="3600" dirty="0"/>
          </a:p>
        </p:txBody>
      </p:sp>
    </p:spTree>
    <p:extLst>
      <p:ext uri="{BB962C8B-B14F-4D97-AF65-F5344CB8AC3E}">
        <p14:creationId xmlns:p14="http://schemas.microsoft.com/office/powerpoint/2010/main" val="4098146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09993" y="454025"/>
            <a:ext cx="11772014" cy="4351338"/>
          </a:xfrm>
        </p:spPr>
        <p:txBody>
          <a:bodyPr>
            <a:noAutofit/>
          </a:bodyPr>
          <a:lstStyle/>
          <a:p>
            <a:pPr marL="0" indent="0">
              <a:buNone/>
            </a:pPr>
            <a:r>
              <a:rPr lang="en-GB" sz="3600" b="1" i="0" u="none" strike="noStrike" baseline="0" dirty="0"/>
              <a:t>2. Operational and Employee Advocate Role for HR</a:t>
            </a:r>
          </a:p>
          <a:p>
            <a:pPr algn="l"/>
            <a:r>
              <a:rPr lang="en-GB" sz="3600" b="0" i="0" u="none" strike="noStrike" baseline="0" dirty="0"/>
              <a:t>HR often has been viewed as the “employee advocate” in organizations. </a:t>
            </a:r>
          </a:p>
          <a:p>
            <a:pPr algn="l"/>
            <a:r>
              <a:rPr lang="en-GB" sz="3600" b="0" i="0" u="none" strike="noStrike" baseline="0" dirty="0"/>
              <a:t>They act as the voice for employee concerns, and spend considerable time on HR “crisis management,” dealing with employee problems that are both work-related and not work-related.</a:t>
            </a:r>
          </a:p>
          <a:p>
            <a:pPr algn="l"/>
            <a:r>
              <a:rPr lang="en-GB" sz="3600" b="0" i="0" u="none" strike="noStrike" baseline="0" dirty="0"/>
              <a:t>Employee advocacy helps to ensure fair and equitable treatment for employees regardless of personal background or circumstances</a:t>
            </a:r>
          </a:p>
        </p:txBody>
      </p:sp>
    </p:spTree>
    <p:extLst>
      <p:ext uri="{BB962C8B-B14F-4D97-AF65-F5344CB8AC3E}">
        <p14:creationId xmlns:p14="http://schemas.microsoft.com/office/powerpoint/2010/main" val="511440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423529" y="475290"/>
            <a:ext cx="11187223" cy="4351338"/>
          </a:xfrm>
        </p:spPr>
        <p:txBody>
          <a:bodyPr>
            <a:normAutofit/>
          </a:bodyPr>
          <a:lstStyle/>
          <a:p>
            <a:pPr algn="l"/>
            <a:r>
              <a:rPr lang="en-GB" sz="4000" b="0" i="0" u="none" strike="noStrike" baseline="0" dirty="0"/>
              <a:t>The operational role requires HR professionals to cooperate with various departmental and operating  managers and supervisors in order to identify and implement needed programs and policies in the organization. </a:t>
            </a:r>
          </a:p>
          <a:p>
            <a:pPr algn="l"/>
            <a:r>
              <a:rPr lang="en-GB" sz="4000" b="0" i="0" u="none" strike="noStrike" baseline="0" dirty="0"/>
              <a:t>Operational activities are tactical in nature.</a:t>
            </a:r>
            <a:endParaRPr lang="en-IN" sz="4000" dirty="0"/>
          </a:p>
          <a:p>
            <a:endParaRPr lang="en-IN" sz="4000" dirty="0"/>
          </a:p>
        </p:txBody>
      </p:sp>
    </p:spTree>
    <p:extLst>
      <p:ext uri="{BB962C8B-B14F-4D97-AF65-F5344CB8AC3E}">
        <p14:creationId xmlns:p14="http://schemas.microsoft.com/office/powerpoint/2010/main" val="3614660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74674" y="528452"/>
            <a:ext cx="11917326" cy="6095631"/>
          </a:xfrm>
        </p:spPr>
        <p:txBody>
          <a:bodyPr>
            <a:normAutofit/>
          </a:bodyPr>
          <a:lstStyle/>
          <a:p>
            <a:pPr marL="0" indent="0">
              <a:buNone/>
            </a:pPr>
            <a:r>
              <a:rPr lang="en-GB" sz="4000" b="1" dirty="0"/>
              <a:t>3) Strategic roll of HRM</a:t>
            </a:r>
          </a:p>
          <a:p>
            <a:pPr algn="l"/>
            <a:r>
              <a:rPr lang="en-IN" sz="4000" dirty="0"/>
              <a:t>It </a:t>
            </a:r>
            <a:r>
              <a:rPr lang="en-GB" sz="4000" b="0" i="0" u="none" strike="noStrike" baseline="0" dirty="0"/>
              <a:t>means that HR professionals are </a:t>
            </a:r>
            <a:r>
              <a:rPr lang="en-GB" sz="4000" b="0" i="0" u="sng" strike="noStrike" baseline="0" dirty="0"/>
              <a:t>proactive in addressing business realities</a:t>
            </a:r>
            <a:r>
              <a:rPr lang="en-GB" sz="4000" b="0" i="0" u="none" strike="noStrike" baseline="0" dirty="0"/>
              <a:t> and </a:t>
            </a:r>
            <a:r>
              <a:rPr lang="en-GB" sz="4000" b="0" i="0" u="sng" strike="noStrike" baseline="0" dirty="0"/>
              <a:t>focusing on future business needs</a:t>
            </a:r>
            <a:r>
              <a:rPr lang="en-GB" sz="4000" b="0" i="0" u="none" strike="noStrike" baseline="0" dirty="0"/>
              <a:t>, such as strategic planning, compensation strategies, the performance of HR, and measuring </a:t>
            </a:r>
            <a:r>
              <a:rPr lang="en-IN" sz="4000" b="0" i="0" u="none" strike="noStrike" baseline="0" dirty="0"/>
              <a:t>its results.</a:t>
            </a:r>
          </a:p>
          <a:p>
            <a:pPr algn="l"/>
            <a:r>
              <a:rPr lang="en-IN" sz="4000" b="0" i="0" u="none" strike="noStrike" baseline="0" dirty="0"/>
              <a:t>HR should be </a:t>
            </a:r>
            <a:r>
              <a:rPr lang="en-GB" sz="4000" b="0" i="0" u="none" strike="noStrike" baseline="0" dirty="0"/>
              <a:t>responsible for knowing what the true cost of human capital is for an employer</a:t>
            </a:r>
          </a:p>
          <a:p>
            <a:pPr algn="l"/>
            <a:r>
              <a:rPr lang="en-IN" sz="4000" b="0" i="0" u="none" strike="noStrike" baseline="0" dirty="0"/>
              <a:t>HR is involved in </a:t>
            </a:r>
            <a:r>
              <a:rPr lang="en-GB" sz="4000" b="0" i="1" u="none" strike="noStrike" baseline="0" dirty="0"/>
              <a:t>devising </a:t>
            </a:r>
            <a:r>
              <a:rPr lang="en-GB" sz="4000" b="0" i="0" u="none" strike="noStrike" baseline="0" dirty="0"/>
              <a:t>strategy in addition to </a:t>
            </a:r>
            <a:r>
              <a:rPr lang="en-GB" sz="4000" b="0" i="1" u="none" strike="noStrike" baseline="0" dirty="0"/>
              <a:t>implementing </a:t>
            </a:r>
            <a:r>
              <a:rPr lang="en-GB" sz="4000" b="0" i="0" u="none" strike="noStrike" baseline="0" dirty="0"/>
              <a:t>strategy.</a:t>
            </a:r>
            <a:endParaRPr lang="en-IN" sz="4000" dirty="0"/>
          </a:p>
        </p:txBody>
      </p:sp>
    </p:spTree>
    <p:extLst>
      <p:ext uri="{BB962C8B-B14F-4D97-AF65-F5344CB8AC3E}">
        <p14:creationId xmlns:p14="http://schemas.microsoft.com/office/powerpoint/2010/main" val="3607733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64928" y="252006"/>
            <a:ext cx="11662144" cy="4351338"/>
          </a:xfrm>
        </p:spPr>
        <p:txBody>
          <a:bodyPr>
            <a:noAutofit/>
          </a:bodyPr>
          <a:lstStyle/>
          <a:p>
            <a:pPr marL="0" indent="0" algn="l">
              <a:buNone/>
            </a:pPr>
            <a:r>
              <a:rPr lang="en-GB" sz="3200" b="0" i="0" u="none" strike="noStrike" baseline="0" dirty="0"/>
              <a:t>Some areas where HR involves in strategic planning</a:t>
            </a:r>
          </a:p>
          <a:p>
            <a:pPr algn="l"/>
            <a:r>
              <a:rPr lang="en-GB" sz="3200" b="0" i="0" u="none" strike="noStrike" baseline="0" dirty="0"/>
              <a:t>Evaluating mergers and acquisitions for organizational “compatibility,” structural changes, and </a:t>
            </a:r>
            <a:r>
              <a:rPr lang="en-IN" sz="3200" b="0" i="0" u="none" strike="noStrike" baseline="0" dirty="0"/>
              <a:t>staffing needs</a:t>
            </a:r>
          </a:p>
          <a:p>
            <a:pPr algn="l"/>
            <a:r>
              <a:rPr lang="en-GB" sz="3200" b="0" i="0" u="none" strike="noStrike" baseline="0" dirty="0"/>
              <a:t>Conducting workforce planning to anticipate the retirement of employees at all levels and identify workforce expansion in organizational strategic plans</a:t>
            </a:r>
          </a:p>
          <a:p>
            <a:pPr algn="l"/>
            <a:r>
              <a:rPr lang="en-GB" sz="3200" b="0" i="0" u="none" strike="noStrike" baseline="0" dirty="0"/>
              <a:t>Leading site selection efforts for new facilities or transferring operations to international outsourcing</a:t>
            </a:r>
          </a:p>
          <a:p>
            <a:pPr algn="l"/>
            <a:r>
              <a:rPr lang="en-GB" sz="3200" b="0" i="0" u="none" strike="noStrike" baseline="0" dirty="0"/>
              <a:t>locations based on workforce needs</a:t>
            </a:r>
          </a:p>
          <a:p>
            <a:pPr algn="l"/>
            <a:r>
              <a:rPr lang="en-GB" sz="3200" b="0" i="0" u="none" strike="noStrike" baseline="0" dirty="0"/>
              <a:t>Instituting HR management systems to reduce administrative time, equipment, and staff by using </a:t>
            </a:r>
            <a:r>
              <a:rPr lang="en-IN" sz="3200" b="0" i="0" u="none" strike="noStrike" baseline="0" dirty="0"/>
              <a:t>HR technology</a:t>
            </a:r>
          </a:p>
          <a:p>
            <a:pPr algn="l"/>
            <a:r>
              <a:rPr lang="en-GB" sz="3200" b="0" i="0" u="none" strike="noStrike" baseline="0" dirty="0"/>
              <a:t>Working with executives to develop a revised sales</a:t>
            </a:r>
          </a:p>
          <a:p>
            <a:pPr algn="l"/>
            <a:r>
              <a:rPr lang="en-GB" sz="3200" b="0" i="0" u="none" strike="noStrike" baseline="0" dirty="0"/>
              <a:t>compensation and incentives plan as new products</a:t>
            </a:r>
            <a:endParaRPr lang="en-IN" sz="3200" dirty="0"/>
          </a:p>
        </p:txBody>
      </p:sp>
    </p:spTree>
    <p:extLst>
      <p:ext uri="{BB962C8B-B14F-4D97-AF65-F5344CB8AC3E}">
        <p14:creationId xmlns:p14="http://schemas.microsoft.com/office/powerpoint/2010/main" val="3435479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115186" y="0"/>
            <a:ext cx="10515600" cy="1325563"/>
          </a:xfrm>
        </p:spPr>
        <p:txBody>
          <a:bodyPr>
            <a:normAutofit/>
          </a:bodyPr>
          <a:lstStyle/>
          <a:p>
            <a:r>
              <a:rPr lang="en-GB" sz="4800" b="1" dirty="0">
                <a:solidFill>
                  <a:srgbClr val="FF0000"/>
                </a:solidFill>
              </a:rPr>
              <a:t>Recruitment</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443023" y="1145141"/>
            <a:ext cx="11633791" cy="5245025"/>
          </a:xfrm>
        </p:spPr>
        <p:txBody>
          <a:bodyPr>
            <a:normAutofit/>
          </a:bodyPr>
          <a:lstStyle/>
          <a:p>
            <a:pPr algn="l"/>
            <a:r>
              <a:rPr lang="en-GB" sz="3200" b="0" i="0" u="none" strike="noStrike" baseline="0" dirty="0"/>
              <a:t>It forms a step in the process which continues with selection and ceases with the placement of </a:t>
            </a:r>
            <a:r>
              <a:rPr lang="en-IN" sz="3200" b="0" i="0" u="none" strike="noStrike" baseline="0" dirty="0"/>
              <a:t>the candidate.</a:t>
            </a:r>
          </a:p>
          <a:p>
            <a:pPr algn="l"/>
            <a:r>
              <a:rPr lang="en-IN" sz="3200" dirty="0"/>
              <a:t>It follows the step man power planning</a:t>
            </a:r>
          </a:p>
          <a:p>
            <a:pPr algn="l"/>
            <a:r>
              <a:rPr lang="en-GB" sz="3200" b="0" i="0" u="none" strike="noStrike" baseline="0" dirty="0"/>
              <a:t>It makes it possible to acquire the number and types of people necessary to ensure the continued </a:t>
            </a:r>
            <a:r>
              <a:rPr lang="en-IN" sz="3200" b="0" i="0" u="none" strike="noStrike" baseline="0" dirty="0"/>
              <a:t>operation of the organisation</a:t>
            </a:r>
          </a:p>
          <a:p>
            <a:pPr algn="l"/>
            <a:r>
              <a:rPr lang="en-GB" sz="3200" b="0" i="0" u="none" strike="noStrike" baseline="0" dirty="0"/>
              <a:t>It is the discovering of potential applicants for actual or anticipated </a:t>
            </a:r>
            <a:r>
              <a:rPr lang="en-IN" sz="3200" b="0" i="0" u="none" strike="noStrike" baseline="0" dirty="0"/>
              <a:t>organisational vacancies</a:t>
            </a:r>
          </a:p>
          <a:p>
            <a:pPr algn="l"/>
            <a:r>
              <a:rPr lang="en-GB" b="0" i="1" u="none" strike="noStrike" baseline="0" dirty="0"/>
              <a:t>Recruiting is a process to discover the sources of manpower to meet the requirements of the staffing schedule and to employ effective measures for attracting that manpower in adequate numbers to facilitate effective selection of an efficient working force</a:t>
            </a:r>
            <a:endParaRPr lang="en-IN" sz="6600" i="1" dirty="0"/>
          </a:p>
        </p:txBody>
      </p:sp>
    </p:spTree>
    <p:extLst>
      <p:ext uri="{BB962C8B-B14F-4D97-AF65-F5344CB8AC3E}">
        <p14:creationId xmlns:p14="http://schemas.microsoft.com/office/powerpoint/2010/main" val="2819218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0909C04-7F2D-C9F7-5DE8-EA00633617AD}"/>
              </a:ext>
            </a:extLst>
          </p:cNvPr>
          <p:cNvPicPr>
            <a:picLocks noGrp="1" noChangeAspect="1"/>
          </p:cNvPicPr>
          <p:nvPr>
            <p:ph idx="1"/>
          </p:nvPr>
        </p:nvPicPr>
        <p:blipFill>
          <a:blip r:embed="rId2"/>
          <a:stretch>
            <a:fillRect/>
          </a:stretch>
        </p:blipFill>
        <p:spPr>
          <a:xfrm>
            <a:off x="1218056" y="590778"/>
            <a:ext cx="8574529" cy="6248966"/>
          </a:xfrm>
        </p:spPr>
      </p:pic>
      <p:sp>
        <p:nvSpPr>
          <p:cNvPr id="7" name="Title 6">
            <a:extLst>
              <a:ext uri="{FF2B5EF4-FFF2-40B4-BE49-F238E27FC236}">
                <a16:creationId xmlns:a16="http://schemas.microsoft.com/office/drawing/2014/main" id="{598A51B9-2FA6-7BB0-A093-CEC822436929}"/>
              </a:ext>
            </a:extLst>
          </p:cNvPr>
          <p:cNvSpPr>
            <a:spLocks noGrp="1"/>
          </p:cNvSpPr>
          <p:nvPr>
            <p:ph type="title"/>
          </p:nvPr>
        </p:nvSpPr>
        <p:spPr>
          <a:xfrm>
            <a:off x="0" y="18256"/>
            <a:ext cx="10515600" cy="662782"/>
          </a:xfrm>
        </p:spPr>
        <p:txBody>
          <a:bodyPr>
            <a:normAutofit/>
          </a:bodyPr>
          <a:lstStyle/>
          <a:p>
            <a:r>
              <a:rPr lang="en-GB" sz="2800" b="1" i="0" u="none" strike="noStrike" baseline="0" dirty="0">
                <a:solidFill>
                  <a:srgbClr val="FF0000"/>
                </a:solidFill>
                <a:latin typeface="+mn-lt"/>
              </a:rPr>
              <a:t>Place of Recruitment in Selection System</a:t>
            </a:r>
            <a:endParaRPr lang="en-IN" sz="6000" dirty="0">
              <a:solidFill>
                <a:srgbClr val="FF0000"/>
              </a:solidFill>
              <a:latin typeface="+mn-lt"/>
            </a:endParaRPr>
          </a:p>
        </p:txBody>
      </p:sp>
    </p:spTree>
    <p:extLst>
      <p:ext uri="{BB962C8B-B14F-4D97-AF65-F5344CB8AC3E}">
        <p14:creationId xmlns:p14="http://schemas.microsoft.com/office/powerpoint/2010/main" val="3214000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95938" y="166946"/>
            <a:ext cx="11708219" cy="6223221"/>
          </a:xfrm>
        </p:spPr>
        <p:txBody>
          <a:bodyPr>
            <a:noAutofit/>
          </a:bodyPr>
          <a:lstStyle/>
          <a:p>
            <a:pPr marL="0" indent="0" algn="l">
              <a:buNone/>
            </a:pPr>
            <a:r>
              <a:rPr lang="en-GB" sz="3200" dirty="0">
                <a:solidFill>
                  <a:srgbClr val="000000"/>
                </a:solidFill>
              </a:rPr>
              <a:t>T</a:t>
            </a:r>
            <a:r>
              <a:rPr lang="en-GB" sz="3200" b="0" i="0" u="none" strike="noStrike" baseline="0" dirty="0">
                <a:solidFill>
                  <a:srgbClr val="000000"/>
                </a:solidFill>
              </a:rPr>
              <a:t>he </a:t>
            </a:r>
            <a:r>
              <a:rPr lang="en-GB" sz="3200" b="1" i="0" u="sng" strike="noStrike" baseline="0" dirty="0">
                <a:solidFill>
                  <a:srgbClr val="000000"/>
                </a:solidFill>
              </a:rPr>
              <a:t>need for recruitment arises out of the following situations</a:t>
            </a:r>
            <a:r>
              <a:rPr lang="en-GB" sz="3200" b="0" i="0" u="none" strike="noStrike" baseline="0" dirty="0">
                <a:solidFill>
                  <a:srgbClr val="000000"/>
                </a:solidFill>
              </a:rPr>
              <a:t>:</a:t>
            </a:r>
          </a:p>
          <a:p>
            <a:pPr algn="l"/>
            <a:r>
              <a:rPr lang="en-GB" sz="3200" b="0" i="0" u="none" strike="noStrike" baseline="0" dirty="0">
                <a:solidFill>
                  <a:srgbClr val="000000"/>
                </a:solidFill>
              </a:rPr>
              <a:t>Vacancies created due to expansion, diversification, and growth of business.</a:t>
            </a:r>
          </a:p>
          <a:p>
            <a:pPr algn="l"/>
            <a:r>
              <a:rPr lang="en-GB" sz="3200" b="0" i="0" u="none" strike="noStrike" baseline="0" dirty="0">
                <a:solidFill>
                  <a:srgbClr val="000000"/>
                </a:solidFill>
              </a:rPr>
              <a:t>An increase in the competitive advantage of certain concerns, enabling them to get more of the </a:t>
            </a:r>
            <a:r>
              <a:rPr lang="en-IN" sz="3200" b="0" i="0" u="none" strike="noStrike" baseline="0" dirty="0">
                <a:solidFill>
                  <a:srgbClr val="000000"/>
                </a:solidFill>
              </a:rPr>
              <a:t>available business than formerly.</a:t>
            </a:r>
          </a:p>
          <a:p>
            <a:pPr algn="l"/>
            <a:r>
              <a:rPr lang="en-GB" sz="3200" b="0" i="0" u="none" strike="noStrike" baseline="0" dirty="0">
                <a:solidFill>
                  <a:srgbClr val="000000"/>
                </a:solidFill>
              </a:rPr>
              <a:t>An increase in business arising from an upswing during the recovery period of a business cycle.</a:t>
            </a:r>
          </a:p>
          <a:p>
            <a:pPr algn="l"/>
            <a:r>
              <a:rPr lang="en-GB" sz="3200" b="0" i="0" u="none" strike="noStrike" baseline="0" dirty="0">
                <a:solidFill>
                  <a:srgbClr val="000000"/>
                </a:solidFill>
              </a:rPr>
              <a:t>Vacancies created due to transfer, promotion, retirement, termination, permanent disability or </a:t>
            </a:r>
            <a:r>
              <a:rPr lang="en-IN" sz="3200" b="0" i="0" u="none" strike="noStrike" baseline="0" dirty="0">
                <a:solidFill>
                  <a:srgbClr val="000000"/>
                </a:solidFill>
              </a:rPr>
              <a:t>death.</a:t>
            </a:r>
          </a:p>
          <a:p>
            <a:pPr algn="l"/>
            <a:r>
              <a:rPr lang="en-GB" sz="3200" b="0" i="0" u="none" strike="noStrike" baseline="0" dirty="0">
                <a:solidFill>
                  <a:srgbClr val="000000"/>
                </a:solidFill>
              </a:rPr>
              <a:t>The normal population growth, which requires increased goods and services to meet the needs of </a:t>
            </a:r>
            <a:r>
              <a:rPr lang="en-IN" sz="3200" b="0" i="0" u="none" strike="noStrike" baseline="0" dirty="0">
                <a:solidFill>
                  <a:srgbClr val="000000"/>
                </a:solidFill>
              </a:rPr>
              <a:t>the people.</a:t>
            </a:r>
          </a:p>
          <a:p>
            <a:pPr algn="l"/>
            <a:r>
              <a:rPr lang="en-GB" sz="3200" b="0" i="0" u="none" strike="noStrike" baseline="0" dirty="0">
                <a:solidFill>
                  <a:srgbClr val="000000"/>
                </a:solidFill>
              </a:rPr>
              <a:t>A rising standard of living, which requires more of the same goods and services as well as the creation of new wants to be satisfied.</a:t>
            </a:r>
          </a:p>
        </p:txBody>
      </p:sp>
    </p:spTree>
    <p:extLst>
      <p:ext uri="{BB962C8B-B14F-4D97-AF65-F5344CB8AC3E}">
        <p14:creationId xmlns:p14="http://schemas.microsoft.com/office/powerpoint/2010/main" val="4065989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0" y="18255"/>
            <a:ext cx="10515600" cy="1325563"/>
          </a:xfrm>
        </p:spPr>
        <p:txBody>
          <a:bodyPr vert="horz" lIns="91440" tIns="45720" rIns="91440" bIns="45720" rtlCol="0" anchor="ctr">
            <a:normAutofit/>
          </a:bodyPr>
          <a:lstStyle/>
          <a:p>
            <a:r>
              <a:rPr lang="en-IN" sz="4800" b="1" dirty="0">
                <a:solidFill>
                  <a:srgbClr val="FF0000"/>
                </a:solidFill>
              </a:rPr>
              <a:t>Process of Recruitment</a:t>
            </a: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487324" y="1253331"/>
            <a:ext cx="11623159" cy="4351338"/>
          </a:xfrm>
        </p:spPr>
        <p:txBody>
          <a:bodyPr>
            <a:noAutofit/>
          </a:bodyPr>
          <a:lstStyle/>
          <a:p>
            <a:pPr algn="l"/>
            <a:r>
              <a:rPr lang="en-GB" sz="3200" b="0" i="0" u="none" strike="noStrike" baseline="0" dirty="0"/>
              <a:t>Recruitment process begins when the personnel department receives requisitions for recruitment from any department of the company</a:t>
            </a:r>
          </a:p>
          <a:p>
            <a:pPr algn="l"/>
            <a:r>
              <a:rPr lang="en-IN" sz="3200" b="0" i="0" u="none" strike="noStrike" baseline="0" dirty="0"/>
              <a:t>the position </a:t>
            </a:r>
            <a:r>
              <a:rPr lang="en-GB" sz="3200" b="0" i="0" u="none" strike="noStrike" baseline="0" dirty="0"/>
              <a:t>to be filled, number of persons to be recruited, the duties to be performed, qualifications expected from the candidates, terms and conditions of employment and the time by which the persons should be available for appointment</a:t>
            </a:r>
          </a:p>
          <a:p>
            <a:pPr algn="l"/>
            <a:r>
              <a:rPr lang="en-GB" sz="3200" b="0" i="0" u="none" strike="noStrike" baseline="0" dirty="0"/>
              <a:t>Locating and developing the sources of required number and type of employees</a:t>
            </a:r>
          </a:p>
          <a:p>
            <a:pPr algn="l"/>
            <a:r>
              <a:rPr lang="en-GB" sz="3200" b="0" i="0" u="none" strike="noStrike" baseline="0" dirty="0"/>
              <a:t>Identifying the prospective employees with required characteristics.</a:t>
            </a:r>
          </a:p>
        </p:txBody>
      </p:sp>
    </p:spTree>
    <p:extLst>
      <p:ext uri="{BB962C8B-B14F-4D97-AF65-F5344CB8AC3E}">
        <p14:creationId xmlns:p14="http://schemas.microsoft.com/office/powerpoint/2010/main" val="1293103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64042" y="422127"/>
            <a:ext cx="11729484" cy="6297650"/>
          </a:xfrm>
        </p:spPr>
        <p:txBody>
          <a:bodyPr>
            <a:normAutofit/>
          </a:bodyPr>
          <a:lstStyle/>
          <a:p>
            <a:pPr algn="l"/>
            <a:r>
              <a:rPr lang="en-GB" sz="4000" b="0" i="0" u="none" strike="noStrike" baseline="0" dirty="0"/>
              <a:t>Developing the techniques to attract the desired candidates.</a:t>
            </a:r>
          </a:p>
          <a:p>
            <a:pPr lvl="1"/>
            <a:r>
              <a:rPr lang="en-GB" sz="3600" b="0" i="0" u="none" strike="noStrike" baseline="0" dirty="0"/>
              <a:t>The goodwill of an organisation in the market may be one technique. </a:t>
            </a:r>
          </a:p>
          <a:p>
            <a:pPr lvl="1"/>
            <a:r>
              <a:rPr lang="en-GB" sz="3600" b="0" i="0" u="none" strike="noStrike" baseline="0" dirty="0"/>
              <a:t>The publicity about the company being a good employer may also help in stimulating candidates to apply. </a:t>
            </a:r>
          </a:p>
          <a:p>
            <a:pPr lvl="1"/>
            <a:r>
              <a:rPr lang="en-GB" sz="3600" b="0" i="0" u="none" strike="noStrike" baseline="0" dirty="0"/>
              <a:t>There may be others of attractive salaries, proper facilities </a:t>
            </a:r>
            <a:r>
              <a:rPr lang="en-IN" sz="3600" b="0" i="0" u="none" strike="noStrike" baseline="0" dirty="0"/>
              <a:t>for development etc.</a:t>
            </a:r>
            <a:endParaRPr lang="en-GB" sz="7200" dirty="0"/>
          </a:p>
          <a:p>
            <a:pPr algn="l"/>
            <a:r>
              <a:rPr lang="en-GB" sz="4000" b="0" i="0" u="none" strike="noStrike" baseline="0" dirty="0"/>
              <a:t>Evaluating the effectiveness of recruitment process.</a:t>
            </a:r>
            <a:endParaRPr lang="en-IN" sz="4000" dirty="0"/>
          </a:p>
          <a:p>
            <a:endParaRPr lang="en-IN" sz="4000" dirty="0"/>
          </a:p>
        </p:txBody>
      </p:sp>
    </p:spTree>
    <p:extLst>
      <p:ext uri="{BB962C8B-B14F-4D97-AF65-F5344CB8AC3E}">
        <p14:creationId xmlns:p14="http://schemas.microsoft.com/office/powerpoint/2010/main" val="1379793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Elements of Recruitment</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25549" y="1559811"/>
            <a:ext cx="10515600" cy="4351338"/>
          </a:xfrm>
        </p:spPr>
        <p:txBody>
          <a:bodyPr>
            <a:normAutofit/>
          </a:bodyPr>
          <a:lstStyle/>
          <a:p>
            <a:pPr marL="0" indent="0" algn="l">
              <a:buNone/>
            </a:pPr>
            <a:r>
              <a:rPr lang="en-GB" sz="3200" b="0" i="0" u="none" strike="noStrike" baseline="0" dirty="0"/>
              <a:t>personnel recruitment process involves five elements, viz., </a:t>
            </a:r>
          </a:p>
          <a:p>
            <a:pPr algn="l"/>
            <a:r>
              <a:rPr lang="en-GB" sz="3200" b="0" i="0" u="none" strike="noStrike" baseline="0" dirty="0"/>
              <a:t>a recruitment policy,</a:t>
            </a:r>
          </a:p>
          <a:p>
            <a:pPr algn="l"/>
            <a:r>
              <a:rPr lang="en-GB" sz="3200" b="0" i="0" u="none" strike="noStrike" baseline="0" dirty="0"/>
              <a:t>a recruitment organisation, </a:t>
            </a:r>
          </a:p>
          <a:p>
            <a:pPr algn="l"/>
            <a:r>
              <a:rPr lang="en-GB" sz="3200" b="0" i="0" u="none" strike="noStrike" baseline="0" dirty="0"/>
              <a:t>a forecast of manpower, </a:t>
            </a:r>
          </a:p>
          <a:p>
            <a:pPr algn="l"/>
            <a:r>
              <a:rPr lang="en-GB" sz="3200" b="0" i="0" u="none" strike="noStrike" baseline="0" dirty="0"/>
              <a:t>the development of sources of recruitment, </a:t>
            </a:r>
          </a:p>
          <a:p>
            <a:pPr algn="l"/>
            <a:r>
              <a:rPr lang="en-GB" sz="3200" b="0" i="0" u="none" strike="noStrike" baseline="0" dirty="0"/>
              <a:t>Different techniques used for utilising these sources, and a method of assessing the recruitment programme.</a:t>
            </a:r>
            <a:endParaRPr lang="en-IN" sz="6000" dirty="0"/>
          </a:p>
        </p:txBody>
      </p:sp>
    </p:spTree>
    <p:extLst>
      <p:ext uri="{BB962C8B-B14F-4D97-AF65-F5344CB8AC3E}">
        <p14:creationId xmlns:p14="http://schemas.microsoft.com/office/powerpoint/2010/main" val="10486327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68079" y="434623"/>
            <a:ext cx="10974572" cy="5796055"/>
          </a:xfrm>
        </p:spPr>
        <p:txBody>
          <a:bodyPr>
            <a:noAutofit/>
          </a:bodyPr>
          <a:lstStyle/>
          <a:p>
            <a:pPr marL="0" indent="0" algn="l">
              <a:buNone/>
            </a:pPr>
            <a:r>
              <a:rPr lang="en-IN" sz="3600" b="1" dirty="0"/>
              <a:t>1.Recruitment</a:t>
            </a:r>
            <a:r>
              <a:rPr lang="en-IN" sz="1200" b="1" i="0" u="none" strike="noStrike" baseline="0" dirty="0">
                <a:latin typeface="TimesNewRomanPS-BoldMT"/>
              </a:rPr>
              <a:t> </a:t>
            </a:r>
            <a:r>
              <a:rPr lang="en-IN" sz="3600" b="1" dirty="0"/>
              <a:t>Policy</a:t>
            </a:r>
            <a:endParaRPr lang="en-GB" sz="3600" b="0" i="0" u="none" strike="noStrike" baseline="0" dirty="0"/>
          </a:p>
          <a:p>
            <a:pPr algn="l"/>
            <a:r>
              <a:rPr lang="en-GB" sz="3600" b="0" i="0" u="none" strike="noStrike" baseline="0" dirty="0"/>
              <a:t>It specifies the objectives of recruitment and provides a framework for the implementation of the recruitment programme. </a:t>
            </a:r>
          </a:p>
          <a:p>
            <a:pPr algn="l"/>
            <a:r>
              <a:rPr lang="en-GB" sz="3600" b="0" i="0" u="none" strike="noStrike" baseline="0" dirty="0"/>
              <a:t>It also involves the employer’s commitment to some principles as to find and employ the best qualified persons for each job, to retain the most promising of those hired, etc. </a:t>
            </a:r>
          </a:p>
          <a:p>
            <a:pPr algn="l"/>
            <a:r>
              <a:rPr lang="en-GB" sz="3600" b="0" i="0" u="none" strike="noStrike" baseline="0" dirty="0"/>
              <a:t>It should be based on the goals, needs and environment of the organisation.</a:t>
            </a:r>
            <a:endParaRPr lang="en-IN" sz="3600" dirty="0"/>
          </a:p>
        </p:txBody>
      </p:sp>
    </p:spTree>
    <p:extLst>
      <p:ext uri="{BB962C8B-B14F-4D97-AF65-F5344CB8AC3E}">
        <p14:creationId xmlns:p14="http://schemas.microsoft.com/office/powerpoint/2010/main" val="1257660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83288" y="0"/>
            <a:ext cx="10515600" cy="1325563"/>
          </a:xfrm>
        </p:spPr>
        <p:txBody>
          <a:bodyPr>
            <a:normAutofit/>
          </a:bodyPr>
          <a:lstStyle/>
          <a:p>
            <a:r>
              <a:rPr lang="en-IN" sz="4800" b="1" dirty="0">
                <a:solidFill>
                  <a:srgbClr val="FF0000"/>
                </a:solidFill>
              </a:rPr>
              <a:t>Recruitment</a:t>
            </a:r>
            <a:r>
              <a:rPr lang="en-IN" sz="1800" b="1" i="0" u="none" strike="noStrike" baseline="0" dirty="0">
                <a:solidFill>
                  <a:srgbClr val="FF0000"/>
                </a:solidFill>
                <a:latin typeface="TimesNewRomanPS-BoldMT"/>
              </a:rPr>
              <a:t> </a:t>
            </a:r>
            <a:r>
              <a:rPr lang="en-IN" sz="4800" b="1" dirty="0">
                <a:solidFill>
                  <a:srgbClr val="FF0000"/>
                </a:solidFill>
              </a:rPr>
              <a:t>Policy</a:t>
            </a: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12774" y="964387"/>
            <a:ext cx="11566451" cy="4351338"/>
          </a:xfrm>
        </p:spPr>
        <p:txBody>
          <a:bodyPr>
            <a:noAutofit/>
          </a:bodyPr>
          <a:lstStyle/>
          <a:p>
            <a:pPr algn="l"/>
            <a:r>
              <a:rPr lang="en-GB" sz="3600" b="0" i="0" u="none" strike="noStrike" baseline="0" dirty="0"/>
              <a:t>It may embrace several issues such as the extent of promotion from within, attitudes of enterprise in recruiting old, handicapped, and minor individuals, minority group members, part-time employees and </a:t>
            </a:r>
            <a:r>
              <a:rPr lang="en-IN" sz="3600" b="0" i="0" u="none" strike="noStrike" baseline="0" dirty="0"/>
              <a:t>relatives of present employees.</a:t>
            </a:r>
          </a:p>
          <a:p>
            <a:pPr algn="l"/>
            <a:r>
              <a:rPr lang="en-GB" sz="3600" b="0" i="0" u="none" strike="noStrike" baseline="0" dirty="0"/>
              <a:t>It may also involve the organisation system to be developed for implementing the recruitment programme and procedures to be employed</a:t>
            </a:r>
            <a:endParaRPr lang="en-IN" sz="3600" b="0" i="0" u="none" strike="noStrike" baseline="0" dirty="0"/>
          </a:p>
        </p:txBody>
      </p:sp>
    </p:spTree>
    <p:extLst>
      <p:ext uri="{BB962C8B-B14F-4D97-AF65-F5344CB8AC3E}">
        <p14:creationId xmlns:p14="http://schemas.microsoft.com/office/powerpoint/2010/main" val="715518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83288" y="0"/>
            <a:ext cx="10515600" cy="1325563"/>
          </a:xfrm>
        </p:spPr>
        <p:txBody>
          <a:bodyPr>
            <a:normAutofit/>
          </a:bodyPr>
          <a:lstStyle/>
          <a:p>
            <a:r>
              <a:rPr lang="en-IN" sz="4800" b="1" dirty="0">
                <a:solidFill>
                  <a:srgbClr val="FF0000"/>
                </a:solidFill>
              </a:rPr>
              <a:t>Recruitment</a:t>
            </a:r>
            <a:r>
              <a:rPr lang="en-IN" sz="1800" b="1" i="0" u="none" strike="noStrike" baseline="0" dirty="0">
                <a:solidFill>
                  <a:srgbClr val="FF0000"/>
                </a:solidFill>
                <a:latin typeface="TimesNewRomanPS-BoldMT"/>
              </a:rPr>
              <a:t> </a:t>
            </a:r>
            <a:r>
              <a:rPr lang="en-IN" sz="4800" b="1" dirty="0">
                <a:solidFill>
                  <a:srgbClr val="FF0000"/>
                </a:solidFill>
              </a:rPr>
              <a:t>Policy</a:t>
            </a: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625548" y="1357792"/>
            <a:ext cx="11566451" cy="4351338"/>
          </a:xfrm>
        </p:spPr>
        <p:txBody>
          <a:bodyPr>
            <a:noAutofit/>
          </a:bodyPr>
          <a:lstStyle/>
          <a:p>
            <a:pPr marL="0" indent="0" algn="l">
              <a:buNone/>
            </a:pPr>
            <a:r>
              <a:rPr lang="en-GB" sz="3200" b="0" i="0" u="none" strike="noStrike" baseline="0" dirty="0"/>
              <a:t>Recruitment policy covers the following areas:</a:t>
            </a:r>
          </a:p>
          <a:p>
            <a:pPr algn="l"/>
            <a:r>
              <a:rPr lang="en-GB" sz="3200" b="0" i="0" u="none" strike="noStrike" baseline="0" dirty="0"/>
              <a:t>To prescribe the degree of emphasis. Inside the organisation or outside the organisation.</a:t>
            </a:r>
          </a:p>
          <a:p>
            <a:pPr algn="l"/>
            <a:r>
              <a:rPr lang="en-GB" sz="3200" b="0" i="0" u="none" strike="noStrike" baseline="0" dirty="0"/>
              <a:t>To provide the weightage that would be given to certain categories of people such as gender, local population, physically-handicapped personnel, etc</a:t>
            </a:r>
            <a:r>
              <a:rPr lang="en-IN" sz="3200" b="0" i="0" u="none" strike="noStrike" baseline="0" dirty="0"/>
              <a:t>.</a:t>
            </a:r>
          </a:p>
          <a:p>
            <a:pPr algn="l"/>
            <a:r>
              <a:rPr lang="en-GB" sz="3200" b="0" i="0" u="none" strike="noStrike" baseline="0" dirty="0"/>
              <a:t>To prescribe whether the recruitment would be centralised or decentralised at unit levels.</a:t>
            </a:r>
          </a:p>
          <a:p>
            <a:pPr algn="l"/>
            <a:r>
              <a:rPr lang="en-GB" sz="3200" b="0" i="0" u="none" strike="noStrike" baseline="0" dirty="0"/>
              <a:t>To specify the degree of flexibility with regard to age, qualifications, compensation structure and </a:t>
            </a:r>
            <a:r>
              <a:rPr lang="en-IN" sz="3200" b="0" i="0" u="none" strike="noStrike" baseline="0" dirty="0"/>
              <a:t>other service conditions.</a:t>
            </a:r>
          </a:p>
        </p:txBody>
      </p:sp>
    </p:spTree>
    <p:extLst>
      <p:ext uri="{BB962C8B-B14F-4D97-AF65-F5344CB8AC3E}">
        <p14:creationId xmlns:p14="http://schemas.microsoft.com/office/powerpoint/2010/main" val="979608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08589" y="432760"/>
            <a:ext cx="11481391" cy="4351338"/>
          </a:xfrm>
        </p:spPr>
        <p:txBody>
          <a:bodyPr>
            <a:normAutofit/>
          </a:bodyPr>
          <a:lstStyle/>
          <a:p>
            <a:pPr algn="l"/>
            <a:r>
              <a:rPr lang="en-GB" sz="4000" b="0" i="0" u="none" strike="noStrike" baseline="0" dirty="0"/>
              <a:t>To prescribe the personnel who would be involved in recruitment process and the role of human resource department in this regard.</a:t>
            </a:r>
          </a:p>
          <a:p>
            <a:pPr algn="l"/>
            <a:r>
              <a:rPr lang="en-GB" sz="4000" b="0" i="0" u="none" strike="noStrike" baseline="0" dirty="0"/>
              <a:t>To specify the budget for meeting the expenditures incurred in completing the recruitment process.</a:t>
            </a:r>
            <a:endParaRPr lang="en-IN" sz="4000" dirty="0"/>
          </a:p>
          <a:p>
            <a:endParaRPr lang="en-IN" sz="4000" dirty="0"/>
          </a:p>
        </p:txBody>
      </p:sp>
    </p:spTree>
    <p:extLst>
      <p:ext uri="{BB962C8B-B14F-4D97-AF65-F5344CB8AC3E}">
        <p14:creationId xmlns:p14="http://schemas.microsoft.com/office/powerpoint/2010/main" val="2413649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Autofit/>
          </a:bodyPr>
          <a:lstStyle/>
          <a:p>
            <a:r>
              <a:rPr lang="en-GB" b="0" i="0" u="none" strike="noStrike" baseline="0" dirty="0">
                <a:solidFill>
                  <a:srgbClr val="FF0000"/>
                </a:solidFill>
                <a:latin typeface="+mn-lt"/>
              </a:rPr>
              <a:t>Factors are involved in a </a:t>
            </a:r>
            <a:r>
              <a:rPr lang="en-IN" b="0" i="0" u="none" strike="noStrike" baseline="0" dirty="0">
                <a:solidFill>
                  <a:srgbClr val="FF0000"/>
                </a:solidFill>
                <a:latin typeface="+mn-lt"/>
              </a:rPr>
              <a:t>recruitment policy:</a:t>
            </a:r>
            <a:br>
              <a:rPr lang="en-IN" dirty="0">
                <a:solidFill>
                  <a:srgbClr val="FF0000"/>
                </a:solidFill>
                <a:latin typeface="+mn-lt"/>
              </a:rPr>
            </a:b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91632" y="1102611"/>
            <a:ext cx="11800368" cy="4351338"/>
          </a:xfrm>
        </p:spPr>
        <p:txBody>
          <a:bodyPr>
            <a:noAutofit/>
          </a:bodyPr>
          <a:lstStyle/>
          <a:p>
            <a:pPr marL="0" indent="0" algn="l">
              <a:buNone/>
            </a:pPr>
            <a:r>
              <a:rPr lang="en-GB" sz="3600" b="0" i="0" u="none" strike="noStrike" baseline="0" dirty="0"/>
              <a:t>Generally, the following factors are involved in a </a:t>
            </a:r>
            <a:r>
              <a:rPr lang="en-IN" sz="3600" b="0" i="0" u="none" strike="noStrike" baseline="0" dirty="0"/>
              <a:t>recruitment policy:</a:t>
            </a:r>
          </a:p>
          <a:p>
            <a:pPr algn="l"/>
            <a:r>
              <a:rPr lang="en-GB" sz="3600" b="0" i="0" u="none" strike="noStrike" baseline="0" dirty="0"/>
              <a:t>To provide each employee with an open road and encouragement in the continuing development of his talents and skills;</a:t>
            </a:r>
          </a:p>
          <a:p>
            <a:pPr algn="l"/>
            <a:r>
              <a:rPr lang="en-GB" sz="3600" b="0" i="0" u="none" strike="noStrike" baseline="0" dirty="0"/>
              <a:t>To provide individual employees with the maximum of employment security, avoiding, frequent </a:t>
            </a:r>
            <a:r>
              <a:rPr lang="en-IN" sz="3600" b="0" i="0" u="none" strike="noStrike" baseline="0" dirty="0"/>
              <a:t>lay-off or lost time;</a:t>
            </a:r>
          </a:p>
          <a:p>
            <a:pPr algn="l"/>
            <a:r>
              <a:rPr lang="en-GB" sz="3600" b="0" i="0" u="none" strike="noStrike" baseline="0" dirty="0"/>
              <a:t>To avoid cliques which may develop when several members of the same household or community are employed in the organisation;</a:t>
            </a:r>
            <a:endParaRPr lang="en-IN" sz="3600" dirty="0"/>
          </a:p>
        </p:txBody>
      </p:sp>
    </p:spTree>
    <p:extLst>
      <p:ext uri="{BB962C8B-B14F-4D97-AF65-F5344CB8AC3E}">
        <p14:creationId xmlns:p14="http://schemas.microsoft.com/office/powerpoint/2010/main" val="765806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18337" y="411495"/>
            <a:ext cx="11155326" cy="4351338"/>
          </a:xfrm>
        </p:spPr>
        <p:txBody>
          <a:bodyPr>
            <a:noAutofit/>
          </a:bodyPr>
          <a:lstStyle/>
          <a:p>
            <a:pPr algn="l"/>
            <a:r>
              <a:rPr lang="en-GB" sz="3200" b="0" i="0" u="none" strike="noStrike" baseline="0" dirty="0"/>
              <a:t>To carefully observe the letter and spirit of the relevant public policy on hiring and, on the whole, </a:t>
            </a:r>
            <a:r>
              <a:rPr lang="en-IN" sz="3200" b="0" i="0" u="none" strike="noStrike" baseline="0" dirty="0"/>
              <a:t>employment relationship;</a:t>
            </a:r>
          </a:p>
          <a:p>
            <a:pPr algn="l"/>
            <a:r>
              <a:rPr lang="en-GB" sz="3200" b="0" i="0" u="none" strike="noStrike" baseline="0" dirty="0"/>
              <a:t>To assure each employee of the organisation interest in his personal goals and employment objective;</a:t>
            </a:r>
          </a:p>
          <a:p>
            <a:pPr algn="l"/>
            <a:r>
              <a:rPr lang="en-GB" sz="3200" b="0" i="0" u="none" strike="noStrike" baseline="0" dirty="0"/>
              <a:t>To assure employees of fairness in all employment relationships, including promotions and transfers;</a:t>
            </a:r>
          </a:p>
          <a:p>
            <a:pPr algn="l"/>
            <a:r>
              <a:rPr lang="en-GB" sz="3200" b="0" i="0" u="none" strike="noStrike" baseline="0" dirty="0"/>
              <a:t>To provide employment in jobs which are engineered to meet the qualifications of handicapped workers and minority sections; and</a:t>
            </a:r>
          </a:p>
          <a:p>
            <a:pPr algn="l"/>
            <a:r>
              <a:rPr lang="en-GB" sz="3200" b="0" i="0" u="none" strike="noStrike" baseline="0" dirty="0"/>
              <a:t>To encourage one or more strong, effective, responsible trade unions among the employees.</a:t>
            </a:r>
            <a:endParaRPr lang="en-IN" sz="3200" dirty="0"/>
          </a:p>
        </p:txBody>
      </p:sp>
    </p:spTree>
    <p:extLst>
      <p:ext uri="{BB962C8B-B14F-4D97-AF65-F5344CB8AC3E}">
        <p14:creationId xmlns:p14="http://schemas.microsoft.com/office/powerpoint/2010/main" val="32525112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147084" y="103150"/>
            <a:ext cx="12044916" cy="6648523"/>
          </a:xfrm>
        </p:spPr>
        <p:txBody>
          <a:bodyPr>
            <a:normAutofit/>
          </a:bodyPr>
          <a:lstStyle/>
          <a:p>
            <a:pPr marL="0" indent="0" algn="l">
              <a:buNone/>
            </a:pPr>
            <a:r>
              <a:rPr lang="en-GB" sz="3200" b="1" i="0" u="none" strike="noStrike" baseline="0" dirty="0"/>
              <a:t>Prerequisites of a Good Recruitment Policy: </a:t>
            </a:r>
            <a:r>
              <a:rPr lang="en-GB" sz="3200" b="0" i="0" u="none" strike="noStrike" baseline="0" dirty="0"/>
              <a:t>The recruitment policy of an organisation must satisfy </a:t>
            </a:r>
            <a:r>
              <a:rPr lang="en-IN" sz="3200" b="0" i="0" u="none" strike="noStrike" baseline="0" dirty="0"/>
              <a:t>the following conditions:</a:t>
            </a:r>
          </a:p>
          <a:p>
            <a:pPr algn="l"/>
            <a:r>
              <a:rPr lang="en-GB" sz="3200" b="0" i="0" u="none" strike="noStrike" baseline="0" dirty="0"/>
              <a:t>It should be in conformity with its general personnel policies;</a:t>
            </a:r>
          </a:p>
          <a:p>
            <a:pPr algn="l"/>
            <a:r>
              <a:rPr lang="en-GB" sz="3200" b="0" i="0" u="none" strike="noStrike" baseline="0" dirty="0"/>
              <a:t>It should be flexible enough to meet the changing needs of an organisation;</a:t>
            </a:r>
          </a:p>
          <a:p>
            <a:pPr algn="l"/>
            <a:r>
              <a:rPr lang="en-GB" sz="3200" b="0" i="0" u="none" strike="noStrike" baseline="0" dirty="0"/>
              <a:t>It should be so designed as to ensure employment opportunities for its employees on a long-term basis so that the goals of the organisation should be achievable; and it should develop the potentialities </a:t>
            </a:r>
            <a:r>
              <a:rPr lang="en-IN" sz="3200" b="0" i="0" u="none" strike="noStrike" baseline="0" dirty="0"/>
              <a:t>of employees;</a:t>
            </a:r>
          </a:p>
          <a:p>
            <a:pPr algn="l"/>
            <a:r>
              <a:rPr lang="en-GB" sz="3200" b="0" i="0" u="none" strike="noStrike" baseline="0" dirty="0"/>
              <a:t>It should match the qualities of employees with the requirements of the work for which they are </a:t>
            </a:r>
            <a:r>
              <a:rPr lang="en-IN" sz="3200" b="0" i="0" u="none" strike="noStrike" baseline="0" dirty="0"/>
              <a:t>employed; and</a:t>
            </a:r>
          </a:p>
          <a:p>
            <a:pPr algn="l"/>
            <a:r>
              <a:rPr lang="en-GB" sz="3200" b="0" i="0" u="none" strike="noStrike" baseline="0" dirty="0"/>
              <a:t>It should highlight the necessity of establishing job analysis.</a:t>
            </a:r>
            <a:endParaRPr lang="en-IN" sz="6000" dirty="0"/>
          </a:p>
        </p:txBody>
      </p:sp>
    </p:spTree>
    <p:extLst>
      <p:ext uri="{BB962C8B-B14F-4D97-AF65-F5344CB8AC3E}">
        <p14:creationId xmlns:p14="http://schemas.microsoft.com/office/powerpoint/2010/main" val="1517825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38469" y="220109"/>
            <a:ext cx="11676321" cy="6425240"/>
          </a:xfrm>
        </p:spPr>
        <p:txBody>
          <a:bodyPr>
            <a:noAutofit/>
          </a:bodyPr>
          <a:lstStyle/>
          <a:p>
            <a:pPr marL="0" indent="0" algn="l">
              <a:buNone/>
            </a:pPr>
            <a:r>
              <a:rPr lang="en-GB" sz="3600" b="1" i="0" u="none" strike="noStrike" baseline="0" dirty="0"/>
              <a:t>2. Recruitment Organisation: </a:t>
            </a:r>
          </a:p>
          <a:p>
            <a:pPr algn="l"/>
            <a:r>
              <a:rPr lang="en-GB" sz="3600" b="0" i="0" u="none" strike="noStrike" baseline="0" dirty="0"/>
              <a:t>The recruitment may be centralised like public sector banks or decentralised. </a:t>
            </a:r>
          </a:p>
          <a:p>
            <a:pPr algn="l"/>
            <a:r>
              <a:rPr lang="en-GB" sz="3600" b="0" i="0" u="none" strike="noStrike" baseline="0" dirty="0"/>
              <a:t>Both practices have their own merits. </a:t>
            </a:r>
          </a:p>
          <a:p>
            <a:pPr algn="l"/>
            <a:r>
              <a:rPr lang="en-GB" sz="3600" b="0" i="0" u="none" strike="noStrike" baseline="0" dirty="0"/>
              <a:t>The choice between the two will depend on the managerial philosophy and the particular needs of the organisation.</a:t>
            </a:r>
          </a:p>
          <a:p>
            <a:pPr marL="0" indent="0" algn="l">
              <a:buNone/>
            </a:pPr>
            <a:r>
              <a:rPr lang="en-GB" sz="3600" b="1" i="0" u="none" strike="noStrike" baseline="0" dirty="0"/>
              <a:t>3. Sources of Recruitment</a:t>
            </a:r>
            <a:r>
              <a:rPr lang="en-GB" sz="3600" b="0" i="0" u="none" strike="noStrike" baseline="0" dirty="0"/>
              <a:t>: </a:t>
            </a:r>
          </a:p>
          <a:p>
            <a:pPr algn="l"/>
            <a:r>
              <a:rPr lang="en-GB" sz="3600" b="0" i="0" u="none" strike="noStrike" baseline="0" dirty="0"/>
              <a:t>Various sources of recruitment may be classified as internal and external.</a:t>
            </a:r>
          </a:p>
          <a:p>
            <a:pPr algn="l"/>
            <a:r>
              <a:rPr lang="en-GB" sz="3600" b="0" i="0" u="none" strike="noStrike" baseline="0" dirty="0"/>
              <a:t>These have their own merits and demerits.</a:t>
            </a:r>
          </a:p>
        </p:txBody>
      </p:sp>
    </p:spTree>
    <p:extLst>
      <p:ext uri="{BB962C8B-B14F-4D97-AF65-F5344CB8AC3E}">
        <p14:creationId xmlns:p14="http://schemas.microsoft.com/office/powerpoint/2010/main" val="3072603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540488" y="698573"/>
            <a:ext cx="11378610" cy="4351338"/>
          </a:xfrm>
        </p:spPr>
        <p:txBody>
          <a:bodyPr>
            <a:noAutofit/>
          </a:bodyPr>
          <a:lstStyle/>
          <a:p>
            <a:pPr marL="0" indent="0" algn="l">
              <a:buNone/>
            </a:pPr>
            <a:r>
              <a:rPr lang="en-GB" sz="3600" b="1" i="0" u="none" strike="noStrike" baseline="0" dirty="0"/>
              <a:t>4. Methods of Recruitment: </a:t>
            </a:r>
          </a:p>
          <a:p>
            <a:pPr algn="l"/>
            <a:r>
              <a:rPr lang="en-GB" sz="3600" b="0" i="0" u="none" strike="noStrike" baseline="0" dirty="0"/>
              <a:t>Recruitment techniques are the means to make contact with potential candidates, to provide them necessary information and to encourage them to apply for jobs.</a:t>
            </a:r>
          </a:p>
          <a:p>
            <a:pPr marL="0" indent="0" algn="l">
              <a:buNone/>
            </a:pPr>
            <a:r>
              <a:rPr lang="en-GB" sz="3600" b="1" i="0" u="none" strike="noStrike" baseline="0" dirty="0"/>
              <a:t> 5. Evaluation of Recruitment Programme: </a:t>
            </a:r>
          </a:p>
          <a:p>
            <a:pPr algn="l"/>
            <a:r>
              <a:rPr lang="en-GB" sz="3600" b="0" i="0" u="none" strike="noStrike" baseline="0" dirty="0"/>
              <a:t>The recruitment process must be evaluated periodically.</a:t>
            </a:r>
          </a:p>
          <a:p>
            <a:pPr algn="l"/>
            <a:r>
              <a:rPr lang="en-GB" sz="3600" b="0" i="0" u="none" strike="noStrike" baseline="0" dirty="0"/>
              <a:t>The criteria for evaluation may consist of cost per applicant, the hiring ratio, performance appraisal, tenure of stay, etc. </a:t>
            </a:r>
          </a:p>
          <a:p>
            <a:pPr algn="l"/>
            <a:r>
              <a:rPr lang="en-GB" sz="3600" b="0" i="0" u="none" strike="noStrike" baseline="0" dirty="0"/>
              <a:t>After evaluation, necessary improvements should be made in the recruitment programme.</a:t>
            </a:r>
            <a:endParaRPr lang="en-IN" sz="3600" dirty="0"/>
          </a:p>
          <a:p>
            <a:endParaRPr lang="en-IN" sz="3600" dirty="0"/>
          </a:p>
        </p:txBody>
      </p:sp>
    </p:spTree>
    <p:extLst>
      <p:ext uri="{BB962C8B-B14F-4D97-AF65-F5344CB8AC3E}">
        <p14:creationId xmlns:p14="http://schemas.microsoft.com/office/powerpoint/2010/main" val="1406814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0" y="0"/>
            <a:ext cx="10515600" cy="1325563"/>
          </a:xfrm>
        </p:spPr>
        <p:txBody>
          <a:bodyPr>
            <a:normAutofit/>
          </a:bodyPr>
          <a:lstStyle/>
          <a:p>
            <a:r>
              <a:rPr lang="en-IN" sz="4000" b="1" i="0" u="none" strike="noStrike" baseline="0" dirty="0">
                <a:solidFill>
                  <a:srgbClr val="FF0000"/>
                </a:solidFill>
                <a:latin typeface="+mn-lt"/>
              </a:rPr>
              <a:t>Factor Affecting Recruitment</a:t>
            </a:r>
            <a:endParaRPr lang="en-IN" sz="8800" b="1" dirty="0">
              <a:solidFill>
                <a:srgbClr val="FF0000"/>
              </a:solidFill>
              <a:latin typeface="+mn-lt"/>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255181" y="996284"/>
            <a:ext cx="12192000" cy="5766021"/>
          </a:xfrm>
        </p:spPr>
        <p:txBody>
          <a:bodyPr>
            <a:noAutofit/>
          </a:bodyPr>
          <a:lstStyle/>
          <a:p>
            <a:pPr marL="0" indent="0" algn="l">
              <a:buNone/>
            </a:pPr>
            <a:r>
              <a:rPr lang="en-GB" sz="3600" b="0" i="0" u="none" strike="noStrike" baseline="0" dirty="0"/>
              <a:t>The factors affecting recruitment can be classified as internal and external factors.</a:t>
            </a:r>
          </a:p>
          <a:p>
            <a:pPr marL="0" indent="0" algn="l">
              <a:buNone/>
            </a:pPr>
            <a:r>
              <a:rPr lang="en-IN" sz="3600" b="1" i="0" u="none" strike="noStrike" baseline="0" dirty="0"/>
              <a:t>The internal factors are:</a:t>
            </a:r>
          </a:p>
          <a:p>
            <a:pPr algn="l"/>
            <a:r>
              <a:rPr lang="en-IN" sz="3600" b="0" i="0" u="none" strike="noStrike" baseline="0" dirty="0"/>
              <a:t>Wage and salary policies;</a:t>
            </a:r>
          </a:p>
          <a:p>
            <a:pPr algn="l"/>
            <a:r>
              <a:rPr lang="en-GB" sz="3600" b="0" i="0" u="none" strike="noStrike" baseline="0" dirty="0"/>
              <a:t>The age composition of existing working force;</a:t>
            </a:r>
          </a:p>
          <a:p>
            <a:pPr algn="l"/>
            <a:r>
              <a:rPr lang="en-IN" sz="3600" b="0" i="0" u="none" strike="noStrike" baseline="0" dirty="0"/>
              <a:t>Promotion and retirement policies;</a:t>
            </a:r>
          </a:p>
          <a:p>
            <a:pPr algn="l"/>
            <a:r>
              <a:rPr lang="en-IN" sz="3600" b="0" i="0" u="none" strike="noStrike" baseline="0" dirty="0"/>
              <a:t>Turnover rates;</a:t>
            </a:r>
          </a:p>
          <a:p>
            <a:pPr algn="l"/>
            <a:r>
              <a:rPr lang="en-GB" sz="3600" b="0" i="0" u="none" strike="noStrike" baseline="0" dirty="0"/>
              <a:t>The nature of operations involved the kind of personnel required;</a:t>
            </a:r>
          </a:p>
        </p:txBody>
      </p:sp>
    </p:spTree>
    <p:extLst>
      <p:ext uri="{BB962C8B-B14F-4D97-AF65-F5344CB8AC3E}">
        <p14:creationId xmlns:p14="http://schemas.microsoft.com/office/powerpoint/2010/main" val="13364099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710609" y="592248"/>
            <a:ext cx="10515600" cy="4351338"/>
          </a:xfrm>
        </p:spPr>
        <p:txBody>
          <a:bodyPr>
            <a:noAutofit/>
          </a:bodyPr>
          <a:lstStyle/>
          <a:p>
            <a:pPr algn="l"/>
            <a:r>
              <a:rPr lang="en-GB" sz="3600" b="0" i="0" u="none" strike="noStrike" baseline="0" dirty="0"/>
              <a:t>The level and seasonality of operations in question;</a:t>
            </a:r>
          </a:p>
          <a:p>
            <a:pPr algn="l"/>
            <a:r>
              <a:rPr lang="en-IN" sz="3600" b="0" i="0" u="none" strike="noStrike" baseline="0" dirty="0"/>
              <a:t>Future expansion and reduction programmes;</a:t>
            </a:r>
          </a:p>
          <a:p>
            <a:pPr algn="l"/>
            <a:r>
              <a:rPr lang="en-GB" sz="3600" b="0" i="0" u="none" strike="noStrike" baseline="0" dirty="0"/>
              <a:t>Recruiting policy of the organisation;</a:t>
            </a:r>
          </a:p>
          <a:p>
            <a:pPr algn="l"/>
            <a:r>
              <a:rPr lang="en-GB" sz="3600" b="0" i="0" u="none" strike="noStrike" baseline="0" dirty="0"/>
              <a:t>Human resource planning strategy of the company;</a:t>
            </a:r>
          </a:p>
          <a:p>
            <a:pPr algn="l"/>
            <a:r>
              <a:rPr lang="en-GB" sz="3600" b="0" i="0" u="none" strike="noStrike" baseline="0" dirty="0"/>
              <a:t>Size of the organisation and the number of employees employed;</a:t>
            </a:r>
          </a:p>
          <a:p>
            <a:pPr algn="l"/>
            <a:r>
              <a:rPr lang="en-GB" sz="3600" dirty="0"/>
              <a:t>Cost involved in recruiting employees, and finally;</a:t>
            </a:r>
          </a:p>
          <a:p>
            <a:pPr algn="l"/>
            <a:r>
              <a:rPr lang="en-GB" sz="3600" dirty="0"/>
              <a:t>Growth and expansion plans of the organisation.</a:t>
            </a:r>
            <a:endParaRPr lang="en-IN" sz="3600" dirty="0"/>
          </a:p>
          <a:p>
            <a:endParaRPr lang="en-IN" sz="3600" dirty="0"/>
          </a:p>
        </p:txBody>
      </p:sp>
    </p:spTree>
    <p:extLst>
      <p:ext uri="{BB962C8B-B14F-4D97-AF65-F5344CB8AC3E}">
        <p14:creationId xmlns:p14="http://schemas.microsoft.com/office/powerpoint/2010/main" val="2514267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a:xfrm>
            <a:off x="-76200" y="-304726"/>
            <a:ext cx="10515600" cy="1325563"/>
          </a:xfrm>
        </p:spPr>
        <p:txBody>
          <a:bodyPr>
            <a:normAutofit/>
          </a:bodyPr>
          <a:lstStyle/>
          <a:p>
            <a:r>
              <a:rPr lang="en-IN" sz="4800" b="1" i="0" u="none" strike="noStrike" baseline="0" dirty="0">
                <a:solidFill>
                  <a:srgbClr val="FF0000"/>
                </a:solidFill>
                <a:latin typeface="TimesNewRomanPS-BoldMT"/>
              </a:rPr>
              <a:t>The external factors are:</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104554" y="804900"/>
            <a:ext cx="12087446" cy="4351338"/>
          </a:xfrm>
        </p:spPr>
        <p:txBody>
          <a:bodyPr>
            <a:noAutofit/>
          </a:bodyPr>
          <a:lstStyle/>
          <a:p>
            <a:pPr algn="l"/>
            <a:r>
              <a:rPr lang="en-GB" sz="3200" b="0" i="0" u="none" strike="noStrike" baseline="0" dirty="0"/>
              <a:t>Supply and demand of specific skills in the labour market;</a:t>
            </a:r>
          </a:p>
          <a:p>
            <a:pPr algn="l"/>
            <a:r>
              <a:rPr lang="en-GB" sz="3200" b="0" i="0" u="none" strike="noStrike" baseline="0" dirty="0"/>
              <a:t>Company’s image perception of the job seekers about the company.</a:t>
            </a:r>
          </a:p>
          <a:p>
            <a:pPr algn="l"/>
            <a:r>
              <a:rPr lang="en-GB" sz="3200" b="0" i="0" u="none" strike="noStrike" baseline="0" dirty="0"/>
              <a:t>External cultural factors: Obviously, the culture may exert considerable check on recruitment. For example, women may not be recruited in certain jobs in industry.</a:t>
            </a:r>
          </a:p>
          <a:p>
            <a:pPr algn="l"/>
            <a:r>
              <a:rPr lang="en-GB" sz="3200" b="0" i="0" u="none" strike="noStrike" baseline="0" dirty="0"/>
              <a:t>Economic factors: such as a tight or loose labour market, the reputation of the enterprise in the community as a good pay master or otherwise and such allied issues which determine the quality and quantity of manpower submitting itself for recruitment.</a:t>
            </a:r>
          </a:p>
          <a:p>
            <a:pPr algn="l"/>
            <a:r>
              <a:rPr lang="en-GB" sz="3200" b="0" i="0" u="none" strike="noStrike" baseline="0" dirty="0"/>
              <a:t>Political and legal factors also exert restraints in respect of nature and hours of work for women and children, and allied employment practices in the enterprise, reservation of Job for SC, ST and </a:t>
            </a:r>
            <a:r>
              <a:rPr lang="en-IN" sz="3200" b="0" i="0" u="none" strike="noStrike" baseline="0" dirty="0"/>
              <a:t>so on.</a:t>
            </a:r>
            <a:endParaRPr lang="en-IN" sz="3200" dirty="0"/>
          </a:p>
        </p:txBody>
      </p:sp>
    </p:spTree>
    <p:extLst>
      <p:ext uri="{BB962C8B-B14F-4D97-AF65-F5344CB8AC3E}">
        <p14:creationId xmlns:p14="http://schemas.microsoft.com/office/powerpoint/2010/main" val="37394286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IN" sz="4800" b="1" i="0" u="none" strike="noStrike" baseline="0" dirty="0">
                <a:solidFill>
                  <a:srgbClr val="FF0000"/>
                </a:solidFill>
                <a:latin typeface="+mn-lt"/>
              </a:rPr>
              <a:t>Sources of Recruitment</a:t>
            </a:r>
            <a:endParaRPr lang="en-IN" sz="11500" b="1" dirty="0">
              <a:solidFill>
                <a:srgbClr val="FF0000"/>
              </a:solidFill>
              <a:latin typeface="+mn-lt"/>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p:txBody>
          <a:bodyPr>
            <a:normAutofit/>
          </a:bodyPr>
          <a:lstStyle/>
          <a:p>
            <a:pPr algn="l"/>
            <a:r>
              <a:rPr lang="en-IN" sz="3200" dirty="0">
                <a:latin typeface="TimesNewRomanPSMT"/>
              </a:rPr>
              <a:t>T</a:t>
            </a:r>
            <a:r>
              <a:rPr lang="en-IN" sz="3200" b="0" i="0" u="none" strike="noStrike" baseline="0" dirty="0">
                <a:latin typeface="TimesNewRomanPSMT"/>
              </a:rPr>
              <a:t>he </a:t>
            </a:r>
            <a:r>
              <a:rPr lang="en-GB" sz="3200" b="0" i="0" u="none" strike="noStrike" baseline="0" dirty="0">
                <a:latin typeface="TimesNewRomanPSMT"/>
              </a:rPr>
              <a:t>identification of sources from which these candidates can be attracted.</a:t>
            </a:r>
          </a:p>
          <a:p>
            <a:pPr algn="l"/>
            <a:r>
              <a:rPr lang="en-GB" sz="3200" b="0" i="0" u="none" strike="noStrike" baseline="0" dirty="0">
                <a:latin typeface="TimesNewRomanPSMT"/>
              </a:rPr>
              <a:t>Some companies try to develop new sources, while most only try to tackle the existing sources they have.</a:t>
            </a:r>
          </a:p>
          <a:p>
            <a:pPr algn="l"/>
            <a:r>
              <a:rPr lang="en-GB" sz="3200" b="0" i="0" u="none" strike="noStrike" baseline="0" dirty="0">
                <a:latin typeface="TimesNewRomanPSMT"/>
              </a:rPr>
              <a:t> These sources, accordingly, may be termed as internal and external.</a:t>
            </a:r>
            <a:endParaRPr lang="en-IN" sz="6000" dirty="0"/>
          </a:p>
        </p:txBody>
      </p:sp>
    </p:spTree>
    <p:extLst>
      <p:ext uri="{BB962C8B-B14F-4D97-AF65-F5344CB8AC3E}">
        <p14:creationId xmlns:p14="http://schemas.microsoft.com/office/powerpoint/2010/main" val="127401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C9-262D-D85D-462E-1B6C5728DB16}"/>
              </a:ext>
            </a:extLst>
          </p:cNvPr>
          <p:cNvSpPr>
            <a:spLocks noGrp="1"/>
          </p:cNvSpPr>
          <p:nvPr>
            <p:ph type="title"/>
          </p:nvPr>
        </p:nvSpPr>
        <p:spPr/>
        <p:txBody>
          <a:bodyPr>
            <a:normAutofit/>
          </a:bodyPr>
          <a:lstStyle/>
          <a:p>
            <a:r>
              <a:rPr lang="en-GB" sz="4800" b="1" dirty="0">
                <a:solidFill>
                  <a:srgbClr val="FF0000"/>
                </a:solidFill>
              </a:rPr>
              <a:t>Internal Sources</a:t>
            </a:r>
            <a:endParaRPr lang="en-IN" sz="4800" b="1" dirty="0">
              <a:solidFill>
                <a:srgbClr val="FF0000"/>
              </a:solidFill>
            </a:endParaRPr>
          </a:p>
        </p:txBody>
      </p:sp>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47329" y="1368424"/>
            <a:ext cx="11667462" cy="4351338"/>
          </a:xfrm>
        </p:spPr>
        <p:txBody>
          <a:bodyPr>
            <a:noAutofit/>
          </a:bodyPr>
          <a:lstStyle/>
          <a:p>
            <a:pPr algn="l"/>
            <a:r>
              <a:rPr lang="en-GB" sz="3200" dirty="0"/>
              <a:t>T</a:t>
            </a:r>
            <a:r>
              <a:rPr lang="en-GB" sz="3200" b="0" i="0" u="none" strike="noStrike" baseline="0" dirty="0"/>
              <a:t>wo categories of internal sources including a review of the present employees and nomination of candidates by employees.</a:t>
            </a:r>
          </a:p>
          <a:p>
            <a:pPr algn="l"/>
            <a:r>
              <a:rPr lang="en-GB" sz="3200" b="0" i="0" u="none" strike="noStrike" baseline="0" dirty="0"/>
              <a:t>Effective utilisation of internal sources necessitates an understanding of their skills and information regarding relationships of jobs</a:t>
            </a:r>
          </a:p>
          <a:p>
            <a:pPr algn="l"/>
            <a:r>
              <a:rPr lang="en-GB" sz="3200" dirty="0"/>
              <a:t>P</a:t>
            </a:r>
            <a:r>
              <a:rPr lang="en-GB" sz="3200" b="0" i="0" u="none" strike="noStrike" baseline="0" dirty="0"/>
              <a:t>ossibilities for horizontal and vertical transfers within the enterprise</a:t>
            </a:r>
          </a:p>
          <a:p>
            <a:pPr algn="l"/>
            <a:r>
              <a:rPr lang="en-IN" sz="3200" b="0" i="0" u="none" strike="noStrike" baseline="0" dirty="0"/>
              <a:t>Internal </a:t>
            </a:r>
            <a:r>
              <a:rPr lang="en-GB" sz="3200" b="0" i="0" u="none" strike="noStrike" baseline="0" dirty="0"/>
              <a:t>sources can be used effectively if the numbers of vacancies are not very large, adequate, employee records are maintained, jobs do not demand originality lacking in the internal sources, and employees have prepared </a:t>
            </a:r>
            <a:r>
              <a:rPr lang="en-IN" sz="3200" b="0" i="0" u="none" strike="noStrike" baseline="0" dirty="0"/>
              <a:t>themselves for promotions</a:t>
            </a:r>
            <a:endParaRPr lang="en-GB" sz="3200" b="0" i="0" u="none" strike="noStrike" baseline="0" dirty="0"/>
          </a:p>
          <a:p>
            <a:pPr algn="l"/>
            <a:endParaRPr lang="en-IN" sz="3200" dirty="0"/>
          </a:p>
        </p:txBody>
      </p:sp>
    </p:spTree>
    <p:extLst>
      <p:ext uri="{BB962C8B-B14F-4D97-AF65-F5344CB8AC3E}">
        <p14:creationId xmlns:p14="http://schemas.microsoft.com/office/powerpoint/2010/main" val="36096004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391633" y="220108"/>
            <a:ext cx="11442404" cy="4883519"/>
          </a:xfrm>
        </p:spPr>
        <p:txBody>
          <a:bodyPr>
            <a:noAutofit/>
          </a:bodyPr>
          <a:lstStyle/>
          <a:p>
            <a:pPr marL="0" indent="0" algn="l">
              <a:buNone/>
            </a:pPr>
            <a:r>
              <a:rPr lang="en-GB" sz="4000" b="1" i="0" u="none" strike="noStrike" baseline="0" dirty="0"/>
              <a:t>Merits of Internal Sources:</a:t>
            </a:r>
            <a:endParaRPr lang="en-GB" b="0" i="0" u="none" strike="noStrike" baseline="0" dirty="0"/>
          </a:p>
          <a:p>
            <a:pPr algn="l"/>
            <a:r>
              <a:rPr lang="en-GB" b="0" i="0" u="none" strike="noStrike" baseline="0" dirty="0"/>
              <a:t> It creates a sense of security among employees when they are assured that they would be preferred </a:t>
            </a:r>
            <a:r>
              <a:rPr lang="en-IN" b="0" i="0" u="none" strike="noStrike" baseline="0" dirty="0"/>
              <a:t>in filling up vacancies.</a:t>
            </a:r>
          </a:p>
          <a:p>
            <a:pPr algn="l"/>
            <a:r>
              <a:rPr lang="en-GB" b="0" i="0" u="none" strike="noStrike" baseline="0" dirty="0"/>
              <a:t>It improves the morale of employees, for they are assured of the fact that they would be preferred over outsiders when vacancies occur.</a:t>
            </a:r>
          </a:p>
          <a:p>
            <a:pPr algn="l"/>
            <a:r>
              <a:rPr lang="en-GB" b="0" i="0" u="none" strike="noStrike" baseline="0" dirty="0"/>
              <a:t>It promotes loyalty and commitment among employees due to sense of job security and opportunities </a:t>
            </a:r>
            <a:r>
              <a:rPr lang="en-IN" b="0" i="0" u="none" strike="noStrike" baseline="0" dirty="0"/>
              <a:t>for advancement.</a:t>
            </a:r>
          </a:p>
          <a:p>
            <a:pPr algn="l"/>
            <a:r>
              <a:rPr lang="en-GB" b="0" i="0" u="none" strike="noStrike" baseline="0" dirty="0"/>
              <a:t>The employer is in a better position to evaluate those presently employed than outside candidates. This is because the company maintains a record of the progress, experience and service of its </a:t>
            </a:r>
            <a:r>
              <a:rPr lang="en-IN" b="0" i="0" u="none" strike="noStrike" baseline="0" dirty="0"/>
              <a:t>employees.</a:t>
            </a:r>
          </a:p>
          <a:p>
            <a:pPr algn="l"/>
            <a:r>
              <a:rPr lang="en-GB" b="0" i="0" u="none" strike="noStrike" baseline="0" dirty="0"/>
              <a:t>Time and costs of training will be low because employees remain familiar with the organisation and </a:t>
            </a:r>
            <a:r>
              <a:rPr lang="en-IN" b="0" i="0" u="none" strike="noStrike" baseline="0" dirty="0"/>
              <a:t>its policies.</a:t>
            </a:r>
            <a:endParaRPr lang="en-IN" dirty="0"/>
          </a:p>
        </p:txBody>
      </p:sp>
    </p:spTree>
    <p:extLst>
      <p:ext uri="{BB962C8B-B14F-4D97-AF65-F5344CB8AC3E}">
        <p14:creationId xmlns:p14="http://schemas.microsoft.com/office/powerpoint/2010/main" val="3752966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89E8F-0621-F0A7-AB67-EE428C5BD96C}"/>
              </a:ext>
            </a:extLst>
          </p:cNvPr>
          <p:cNvSpPr>
            <a:spLocks noGrp="1"/>
          </p:cNvSpPr>
          <p:nvPr>
            <p:ph idx="1"/>
          </p:nvPr>
        </p:nvSpPr>
        <p:spPr>
          <a:xfrm>
            <a:off x="838200" y="443392"/>
            <a:ext cx="10515600" cy="4351338"/>
          </a:xfrm>
        </p:spPr>
        <p:txBody>
          <a:bodyPr vert="horz" lIns="91440" tIns="45720" rIns="91440" bIns="45720" rtlCol="0">
            <a:noAutofit/>
          </a:bodyPr>
          <a:lstStyle/>
          <a:p>
            <a:r>
              <a:rPr lang="en-GB" sz="3200" dirty="0"/>
              <a:t>Relations with trade unions remain good. Labour turnover is reduced.</a:t>
            </a:r>
          </a:p>
          <a:p>
            <a:r>
              <a:rPr lang="en-GB" sz="3200" dirty="0"/>
              <a:t>It encourages self-development among the employees. It encourages good individuals who are </a:t>
            </a:r>
            <a:r>
              <a:rPr lang="en-IN" sz="3200" dirty="0"/>
              <a:t>ambitious.</a:t>
            </a:r>
          </a:p>
          <a:p>
            <a:r>
              <a:rPr lang="en-GB" sz="3200" dirty="0"/>
              <a:t>It encourages stability from continuity of employment.</a:t>
            </a:r>
          </a:p>
          <a:p>
            <a:r>
              <a:rPr lang="en-GB" sz="3200" dirty="0"/>
              <a:t>It can also act as a training device for developing middle and top-level managers.</a:t>
            </a:r>
            <a:endParaRPr lang="en-IN" sz="3200" dirty="0"/>
          </a:p>
        </p:txBody>
      </p:sp>
    </p:spTree>
    <p:extLst>
      <p:ext uri="{BB962C8B-B14F-4D97-AF65-F5344CB8AC3E}">
        <p14:creationId xmlns:p14="http://schemas.microsoft.com/office/powerpoint/2010/main" val="4923500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r>
              <a:rPr lang="en-GB" sz="4400" b="1" i="0" u="none" strike="noStrike" baseline="0" dirty="0">
                <a:solidFill>
                  <a:srgbClr val="FF0000"/>
                </a:solidFill>
                <a:latin typeface="TimesNewRomanPS-BoldMT"/>
              </a:rPr>
              <a:t>Demerits of Internal Sources</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44549" y="1027906"/>
            <a:ext cx="11947451" cy="4351338"/>
          </a:xfrm>
        </p:spPr>
        <p:txBody>
          <a:bodyPr>
            <a:noAutofit/>
          </a:bodyPr>
          <a:lstStyle/>
          <a:p>
            <a:pPr marL="0" indent="0" algn="l">
              <a:buNone/>
            </a:pPr>
            <a:endParaRPr lang="en-GB" b="0" i="0" u="none" strike="noStrike" baseline="0" dirty="0"/>
          </a:p>
          <a:p>
            <a:pPr algn="l"/>
            <a:r>
              <a:rPr lang="en-GB" b="0" i="0" u="none" strike="noStrike" baseline="0" dirty="0"/>
              <a:t>There are possibilities that internal sources may “dry up”, and it may be difficult to find the requisite personnel from within an organisation.</a:t>
            </a:r>
          </a:p>
          <a:p>
            <a:pPr algn="l"/>
            <a:r>
              <a:rPr lang="en-GB" b="0" i="0" u="none" strike="noStrike" baseline="0" dirty="0"/>
              <a:t>It often leads to inbreeding, and discourages new blood from entering and organisation.</a:t>
            </a:r>
          </a:p>
          <a:p>
            <a:pPr algn="l"/>
            <a:r>
              <a:rPr lang="en-GB" b="0" i="0" u="none" strike="noStrike" baseline="0" dirty="0"/>
              <a:t>As promotion is based on seniority, the danger is that really capable hands may not be chosen.</a:t>
            </a:r>
          </a:p>
          <a:p>
            <a:pPr algn="l"/>
            <a:r>
              <a:rPr lang="en-GB" b="0" i="0" u="none" strike="noStrike" baseline="0" dirty="0"/>
              <a:t>The likes and dislikes of the management may also play an important role in the selection of </a:t>
            </a:r>
            <a:r>
              <a:rPr lang="en-IN" b="0" i="0" u="none" strike="noStrike" baseline="0" dirty="0"/>
              <a:t>personnel.</a:t>
            </a:r>
          </a:p>
          <a:p>
            <a:pPr algn="l"/>
            <a:r>
              <a:rPr lang="en-GB" b="0" i="0" u="none" strike="noStrike" baseline="0" dirty="0"/>
              <a:t>Since the learner does not know more than the lecturer, no innovations worth the name can be made. Therefore, on jobs which require original thinking (such as advertising, style, designing and basic research), this practice is not followed.</a:t>
            </a:r>
            <a:endParaRPr lang="en-IN" dirty="0"/>
          </a:p>
        </p:txBody>
      </p:sp>
    </p:spTree>
    <p:extLst>
      <p:ext uri="{BB962C8B-B14F-4D97-AF65-F5344CB8AC3E}">
        <p14:creationId xmlns:p14="http://schemas.microsoft.com/office/powerpoint/2010/main" val="16766049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r>
              <a:rPr lang="en-GB" dirty="0">
                <a:solidFill>
                  <a:srgbClr val="FF0000"/>
                </a:solidFill>
              </a:rPr>
              <a:t>External Sources</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noAutofit/>
          </a:bodyPr>
          <a:lstStyle/>
          <a:p>
            <a:pPr algn="l"/>
            <a:r>
              <a:rPr lang="en-IN" sz="3200" b="0" i="0" u="none" strike="noStrike" baseline="0" dirty="0"/>
              <a:t>Employment agencies.</a:t>
            </a:r>
          </a:p>
          <a:p>
            <a:pPr lvl="1"/>
            <a:r>
              <a:rPr lang="en-GB" sz="3200" b="0" i="0" u="none" strike="noStrike" baseline="0" dirty="0"/>
              <a:t>Public and private employment agencies </a:t>
            </a:r>
            <a:endParaRPr lang="en-IN" sz="3200" b="0" i="0" u="none" strike="noStrike" baseline="0" dirty="0"/>
          </a:p>
          <a:p>
            <a:pPr algn="l"/>
            <a:r>
              <a:rPr lang="en-GB" sz="3200" b="0" i="0" u="none" strike="noStrike" baseline="0" dirty="0"/>
              <a:t>Educational and technical institutes. </a:t>
            </a:r>
            <a:endParaRPr lang="en-GB" sz="3200" dirty="0"/>
          </a:p>
          <a:p>
            <a:pPr lvl="1"/>
            <a:r>
              <a:rPr lang="en-GB" sz="3200" b="0" i="0" u="none" strike="noStrike" baseline="0" dirty="0"/>
              <a:t>provides a constant flow of new personnel with leadership potentialities.</a:t>
            </a:r>
          </a:p>
          <a:p>
            <a:pPr lvl="1"/>
            <a:r>
              <a:rPr lang="en-IN" sz="3200" b="0" i="0" u="none" strike="noStrike" baseline="0" dirty="0"/>
              <a:t>on-campus interview</a:t>
            </a:r>
            <a:endParaRPr lang="en-GB" sz="3200" b="0" i="0" u="none" strike="noStrike" baseline="0" dirty="0"/>
          </a:p>
          <a:p>
            <a:pPr algn="l"/>
            <a:r>
              <a:rPr lang="en-GB" sz="3200" b="0" i="0" u="none" strike="noStrike" baseline="0" dirty="0"/>
              <a:t>Casual labour or </a:t>
            </a:r>
            <a:r>
              <a:rPr lang="en-IN" sz="3200" b="0" i="0" u="none" strike="noStrike" baseline="0" dirty="0"/>
              <a:t>“applicants at the gate”</a:t>
            </a:r>
            <a:endParaRPr lang="en-GB" sz="3200" b="0" i="0" u="none" strike="noStrike" baseline="0" dirty="0"/>
          </a:p>
          <a:p>
            <a:pPr lvl="1"/>
            <a:r>
              <a:rPr lang="en-GB" sz="3200" b="0" i="0" u="none" strike="noStrike" baseline="0" dirty="0"/>
              <a:t>The candidates may appear personally at the company’s employment office or send their applications for possible vacancies</a:t>
            </a:r>
            <a:endParaRPr lang="en-IN" sz="3200" dirty="0"/>
          </a:p>
        </p:txBody>
      </p:sp>
    </p:spTree>
    <p:extLst>
      <p:ext uri="{BB962C8B-B14F-4D97-AF65-F5344CB8AC3E}">
        <p14:creationId xmlns:p14="http://schemas.microsoft.com/office/powerpoint/2010/main" val="22246003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E7B90F-913D-3C41-9F0C-4087BB848BF1}"/>
              </a:ext>
            </a:extLst>
          </p:cNvPr>
          <p:cNvPicPr>
            <a:picLocks noChangeAspect="1"/>
          </p:cNvPicPr>
          <p:nvPr/>
        </p:nvPicPr>
        <p:blipFill>
          <a:blip r:embed="rId2"/>
          <a:stretch>
            <a:fillRect/>
          </a:stretch>
        </p:blipFill>
        <p:spPr>
          <a:xfrm>
            <a:off x="1306865" y="553098"/>
            <a:ext cx="9578270" cy="6304902"/>
          </a:xfrm>
          <a:prstGeom prst="rect">
            <a:avLst/>
          </a:prstGeom>
        </p:spPr>
      </p:pic>
      <p:sp>
        <p:nvSpPr>
          <p:cNvPr id="2" name="TextBox 1">
            <a:extLst>
              <a:ext uri="{FF2B5EF4-FFF2-40B4-BE49-F238E27FC236}">
                <a16:creationId xmlns:a16="http://schemas.microsoft.com/office/drawing/2014/main" id="{9B29FC07-8CAF-3EB3-00A7-85CB544279AD}"/>
              </a:ext>
            </a:extLst>
          </p:cNvPr>
          <p:cNvSpPr txBox="1"/>
          <p:nvPr/>
        </p:nvSpPr>
        <p:spPr>
          <a:xfrm flipH="1">
            <a:off x="3947690" y="29878"/>
            <a:ext cx="3977643" cy="523220"/>
          </a:xfrm>
          <a:prstGeom prst="rect">
            <a:avLst/>
          </a:prstGeom>
          <a:noFill/>
        </p:spPr>
        <p:txBody>
          <a:bodyPr wrap="square" rtlCol="0">
            <a:spAutoFit/>
          </a:bodyPr>
          <a:lstStyle/>
          <a:p>
            <a:pPr algn="ctr"/>
            <a:r>
              <a:rPr lang="en-GB" sz="2800" b="1" dirty="0"/>
              <a:t>Example of Recruitments</a:t>
            </a:r>
            <a:endParaRPr lang="en-IN" sz="2800" b="1" dirty="0"/>
          </a:p>
        </p:txBody>
      </p:sp>
    </p:spTree>
    <p:extLst>
      <p:ext uri="{BB962C8B-B14F-4D97-AF65-F5344CB8AC3E}">
        <p14:creationId xmlns:p14="http://schemas.microsoft.com/office/powerpoint/2010/main" val="16804903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466061" y="337288"/>
            <a:ext cx="10515600" cy="687498"/>
          </a:xfrm>
        </p:spPr>
        <p:txBody>
          <a:bodyPr>
            <a:normAutofit fontScale="90000"/>
          </a:bodyPr>
          <a:lstStyle/>
          <a:p>
            <a:r>
              <a:rPr lang="en-GB" sz="4400" b="1" i="0" u="none" strike="noStrike" baseline="0" dirty="0">
                <a:solidFill>
                  <a:srgbClr val="FF0000"/>
                </a:solidFill>
                <a:latin typeface="TimesNewRomanPS-BoldMT"/>
              </a:rPr>
              <a:t>Advantages of External Recruitment: </a:t>
            </a:r>
            <a:br>
              <a:rPr lang="en-GB" sz="4400" b="1" i="0" u="none" strike="noStrike" baseline="0" dirty="0">
                <a:solidFill>
                  <a:srgbClr val="FF0000"/>
                </a:solidFill>
                <a:latin typeface="TimesNewRomanPS-BoldMT"/>
              </a:rPr>
            </a:b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338469" y="815532"/>
            <a:ext cx="11304181" cy="5851082"/>
          </a:xfrm>
        </p:spPr>
        <p:txBody>
          <a:bodyPr>
            <a:normAutofit/>
          </a:bodyPr>
          <a:lstStyle/>
          <a:p>
            <a:pPr algn="l"/>
            <a:r>
              <a:rPr lang="en-GB" sz="3200" b="0" i="0" u="none" strike="noStrike" baseline="0" dirty="0"/>
              <a:t>It will help in bringing new ideas, better techniques and improved methods to the organisation.</a:t>
            </a:r>
          </a:p>
          <a:p>
            <a:pPr algn="l"/>
            <a:r>
              <a:rPr lang="en-GB" sz="3200" b="0" i="0" u="none" strike="noStrike" baseline="0" dirty="0"/>
              <a:t>The cost of employees will be minimised because candidates selected in this method will be placed in the minimum pay scale.</a:t>
            </a:r>
          </a:p>
          <a:p>
            <a:pPr algn="l"/>
            <a:r>
              <a:rPr lang="en-GB" sz="3200" b="0" i="0" u="none" strike="noStrike" baseline="0" dirty="0"/>
              <a:t>The existing employees will also broaden their personality.</a:t>
            </a:r>
          </a:p>
          <a:p>
            <a:pPr algn="l"/>
            <a:r>
              <a:rPr lang="en-GB" sz="3200" b="0" i="0" u="none" strike="noStrike" baseline="0" dirty="0"/>
              <a:t>The entry of qualitative persons from outside will be in the interest of the organisation in the long </a:t>
            </a:r>
            <a:r>
              <a:rPr lang="en-IN" sz="3200" b="0" i="0" u="none" strike="noStrike" baseline="0" dirty="0"/>
              <a:t>run.</a:t>
            </a:r>
          </a:p>
          <a:p>
            <a:pPr algn="l"/>
            <a:r>
              <a:rPr lang="en-GB" sz="3200" dirty="0"/>
              <a:t>The suitable candidates with skill, talent, knowledge are available from external sources.</a:t>
            </a:r>
          </a:p>
          <a:p>
            <a:pPr algn="l"/>
            <a:r>
              <a:rPr lang="en-GB" sz="3200" dirty="0"/>
              <a:t>The entry of new persons with varied expansion and talent will help in human resource mix.</a:t>
            </a:r>
            <a:endParaRPr lang="en-IN" sz="3200" dirty="0"/>
          </a:p>
        </p:txBody>
      </p:sp>
    </p:spTree>
    <p:extLst>
      <p:ext uri="{BB962C8B-B14F-4D97-AF65-F5344CB8AC3E}">
        <p14:creationId xmlns:p14="http://schemas.microsoft.com/office/powerpoint/2010/main" val="13584263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753140" y="0"/>
            <a:ext cx="10515600" cy="1325563"/>
          </a:xfrm>
        </p:spPr>
        <p:txBody>
          <a:bodyPr/>
          <a:lstStyle/>
          <a:p>
            <a:r>
              <a:rPr lang="en-GB" b="1" dirty="0">
                <a:solidFill>
                  <a:srgbClr val="FF0000"/>
                </a:solidFill>
              </a:rPr>
              <a:t>Disadvantages of External recruitments</a:t>
            </a:r>
            <a:endParaRPr lang="en-IN" b="1"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446567" y="1240833"/>
            <a:ext cx="10907233" cy="5617167"/>
          </a:xfrm>
        </p:spPr>
        <p:txBody>
          <a:bodyPr>
            <a:normAutofit/>
          </a:bodyPr>
          <a:lstStyle/>
          <a:p>
            <a:pPr algn="l"/>
            <a:r>
              <a:rPr lang="en-GB" sz="3200" b="0" i="0" u="none" strike="noStrike" baseline="0" dirty="0"/>
              <a:t>Orientation and training are required as the employees remain unfamiliar with the organisation.</a:t>
            </a:r>
          </a:p>
          <a:p>
            <a:pPr algn="l"/>
            <a:r>
              <a:rPr lang="en-GB" sz="3200" b="0" i="0" u="none" strike="noStrike" baseline="0" dirty="0"/>
              <a:t>It is more expensive and time-consuming. Detailed screening is necessary as very little is known </a:t>
            </a:r>
            <a:r>
              <a:rPr lang="en-IN" sz="3200" b="0" i="0" u="none" strike="noStrike" baseline="0" dirty="0"/>
              <a:t>about the candidate.</a:t>
            </a:r>
          </a:p>
          <a:p>
            <a:pPr algn="l"/>
            <a:r>
              <a:rPr lang="en-GB" sz="3200" b="0" i="0" u="none" strike="noStrike" baseline="0" dirty="0"/>
              <a:t>If new entrant fails to adjust himself to the working in the enterprise, it means yet more expenditure on looking for his replacement.</a:t>
            </a:r>
          </a:p>
          <a:p>
            <a:pPr algn="l"/>
            <a:r>
              <a:rPr lang="en-GB" sz="3200" b="0" i="0" u="none" strike="noStrike" baseline="0" dirty="0"/>
              <a:t>Motivation, morale and loyalty of existing staff are affected, if higher level jobs are filled from external sources. It becomes a source of heart-burning and demoralisation among existing </a:t>
            </a:r>
            <a:r>
              <a:rPr lang="en-IN" sz="3200" b="0" i="0" u="none" strike="noStrike" baseline="0" dirty="0"/>
              <a:t>employees.</a:t>
            </a:r>
            <a:endParaRPr lang="en-IN" sz="4400" dirty="0"/>
          </a:p>
        </p:txBody>
      </p:sp>
    </p:spTree>
    <p:extLst>
      <p:ext uri="{BB962C8B-B14F-4D97-AF65-F5344CB8AC3E}">
        <p14:creationId xmlns:p14="http://schemas.microsoft.com/office/powerpoint/2010/main" val="16757569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83288" y="0"/>
            <a:ext cx="10515600" cy="1325563"/>
          </a:xfrm>
        </p:spPr>
        <p:txBody>
          <a:bodyPr>
            <a:normAutofit/>
          </a:bodyPr>
          <a:lstStyle/>
          <a:p>
            <a:r>
              <a:rPr lang="en-IN" sz="4000" b="1" i="0" u="none" strike="noStrike" baseline="0" dirty="0">
                <a:solidFill>
                  <a:srgbClr val="FF0000"/>
                </a:solidFill>
                <a:latin typeface="+mn-lt"/>
              </a:rPr>
              <a:t>Methods of Recruitment</a:t>
            </a:r>
            <a:endParaRPr lang="en-IN" sz="80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668080" y="1253331"/>
            <a:ext cx="11440632" cy="5275060"/>
          </a:xfrm>
        </p:spPr>
        <p:txBody>
          <a:bodyPr>
            <a:normAutofit fontScale="92500" lnSpcReduction="10000"/>
          </a:bodyPr>
          <a:lstStyle/>
          <a:p>
            <a:pPr marL="0" indent="0" algn="l">
              <a:buNone/>
            </a:pPr>
            <a:r>
              <a:rPr lang="en-GB" sz="3600" b="0" i="0" u="none" strike="noStrike" baseline="0" dirty="0"/>
              <a:t>methods are way of establishing links with the </a:t>
            </a:r>
            <a:r>
              <a:rPr lang="en-IN" sz="3600" b="0" i="0" u="none" strike="noStrike" baseline="0" dirty="0"/>
              <a:t>prospective employees</a:t>
            </a:r>
          </a:p>
          <a:p>
            <a:pPr algn="l"/>
            <a:r>
              <a:rPr lang="en-IN" sz="3600" b="1" i="0" u="none" strike="noStrike" baseline="0" dirty="0"/>
              <a:t>1. Direct Methods:</a:t>
            </a:r>
            <a:endParaRPr lang="en-IN" sz="3600" dirty="0"/>
          </a:p>
          <a:p>
            <a:pPr algn="l"/>
            <a:r>
              <a:rPr lang="en-GB" sz="3600" b="0" i="0" u="none" strike="noStrike" baseline="0" dirty="0"/>
              <a:t>direct methods is that of sending of recruiters to </a:t>
            </a:r>
            <a:r>
              <a:rPr lang="en-IN" sz="3600" b="0" i="0" u="none" strike="noStrike" baseline="0" dirty="0"/>
              <a:t>colleges and technical schools through placement offices.</a:t>
            </a:r>
          </a:p>
          <a:p>
            <a:pPr algn="l"/>
            <a:r>
              <a:rPr lang="en-IN" sz="3600" dirty="0"/>
              <a:t>Certain aspects of organization demands will be circulated among students and students has to apply for the concerned vacancy </a:t>
            </a:r>
          </a:p>
          <a:p>
            <a:pPr algn="l"/>
            <a:r>
              <a:rPr lang="en-IN" sz="3600" dirty="0"/>
              <a:t>Through supervisors/professors individual contacts</a:t>
            </a:r>
          </a:p>
          <a:p>
            <a:pPr algn="l"/>
            <a:r>
              <a:rPr lang="en-IN" sz="3600" dirty="0"/>
              <a:t>Conventions, Conferences, Seminar, Workshops, Internships etc are also considered as a source of recruitments</a:t>
            </a:r>
          </a:p>
          <a:p>
            <a:pPr algn="l"/>
            <a:endParaRPr lang="en-IN" sz="4800" dirty="0"/>
          </a:p>
        </p:txBody>
      </p:sp>
    </p:spTree>
    <p:extLst>
      <p:ext uri="{BB962C8B-B14F-4D97-AF65-F5344CB8AC3E}">
        <p14:creationId xmlns:p14="http://schemas.microsoft.com/office/powerpoint/2010/main" val="24545019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8200" y="287079"/>
            <a:ext cx="10515600" cy="5889884"/>
          </a:xfrm>
        </p:spPr>
        <p:txBody>
          <a:bodyPr>
            <a:normAutofit/>
          </a:bodyPr>
          <a:lstStyle/>
          <a:p>
            <a:pPr marL="0" indent="0">
              <a:buNone/>
            </a:pPr>
            <a:r>
              <a:rPr lang="en-GB" sz="3200" b="1" dirty="0"/>
              <a:t>2. Indirect methods of recruitment</a:t>
            </a:r>
          </a:p>
          <a:p>
            <a:pPr algn="l"/>
            <a:r>
              <a:rPr lang="en-GB" sz="3200" b="0" i="0" u="none" strike="noStrike" baseline="0" dirty="0"/>
              <a:t>advertisement in newspapers, journals, and on </a:t>
            </a:r>
            <a:r>
              <a:rPr lang="en-IN" sz="3200" b="0" i="0" u="none" strike="noStrike" baseline="0" dirty="0"/>
              <a:t>the radio and television.</a:t>
            </a:r>
          </a:p>
          <a:p>
            <a:pPr algn="l"/>
            <a:r>
              <a:rPr lang="en-GB" sz="3200" b="0" i="0" u="none" strike="noStrike" baseline="0" dirty="0"/>
              <a:t>Advertisement enables candidates to assess their suitability. </a:t>
            </a:r>
          </a:p>
          <a:p>
            <a:pPr algn="l"/>
            <a:r>
              <a:rPr lang="en-GB" sz="3200" b="0" i="0" u="none" strike="noStrike" baseline="0" dirty="0"/>
              <a:t>It is appropriate when the organisation wants to reach out to a large target group scattered nationwide</a:t>
            </a:r>
          </a:p>
          <a:p>
            <a:pPr algn="l"/>
            <a:r>
              <a:rPr lang="en-IN" sz="3200" b="0" i="0" u="none" strike="noStrike" baseline="0" dirty="0"/>
              <a:t>Considerable </a:t>
            </a:r>
            <a:r>
              <a:rPr lang="en-GB" sz="3200" b="0" i="0" u="none" strike="noStrike" baseline="0" dirty="0"/>
              <a:t>details about jobs and qualifications can be given in the advertisements</a:t>
            </a:r>
            <a:endParaRPr lang="en-IN" sz="3200" dirty="0"/>
          </a:p>
        </p:txBody>
      </p:sp>
    </p:spTree>
    <p:extLst>
      <p:ext uri="{BB962C8B-B14F-4D97-AF65-F5344CB8AC3E}">
        <p14:creationId xmlns:p14="http://schemas.microsoft.com/office/powerpoint/2010/main" val="24252342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93651" y="454025"/>
            <a:ext cx="10515600" cy="4351338"/>
          </a:xfrm>
        </p:spPr>
        <p:txBody>
          <a:bodyPr>
            <a:normAutofit lnSpcReduction="10000"/>
          </a:bodyPr>
          <a:lstStyle/>
          <a:p>
            <a:pPr marL="0" indent="0">
              <a:buNone/>
            </a:pPr>
            <a:r>
              <a:rPr lang="en-GB" sz="4800" dirty="0"/>
              <a:t>3. Third-party mode</a:t>
            </a:r>
          </a:p>
          <a:p>
            <a:r>
              <a:rPr lang="en-GB" sz="3600" b="0" i="0" u="none" strike="noStrike" baseline="0" dirty="0"/>
              <a:t>public and private employment agencies</a:t>
            </a:r>
          </a:p>
          <a:p>
            <a:pPr algn="l"/>
            <a:r>
              <a:rPr lang="en-IN" sz="3600" b="0" i="0" u="none" strike="noStrike" baseline="0" dirty="0"/>
              <a:t>Public </a:t>
            </a:r>
            <a:r>
              <a:rPr lang="en-GB" sz="3600" b="0" i="0" u="none" strike="noStrike" baseline="0" dirty="0"/>
              <a:t>employment exchanges have been largely concerned with factory workers and clerical jobs</a:t>
            </a:r>
            <a:r>
              <a:rPr lang="en-GB" sz="4800" dirty="0"/>
              <a:t> </a:t>
            </a:r>
          </a:p>
          <a:p>
            <a:pPr algn="l"/>
            <a:r>
              <a:rPr lang="en-GB" sz="3600" b="0" i="0" u="none" strike="noStrike" baseline="0" dirty="0"/>
              <a:t>Private agencies provide consultancy services and </a:t>
            </a:r>
            <a:r>
              <a:rPr lang="en-IN" sz="3600" b="0" i="0" u="none" strike="noStrike" baseline="0" dirty="0"/>
              <a:t>charge a fee</a:t>
            </a:r>
          </a:p>
          <a:p>
            <a:pPr algn="l"/>
            <a:r>
              <a:rPr lang="en-IN" sz="3600" dirty="0"/>
              <a:t>Trade unions</a:t>
            </a:r>
          </a:p>
          <a:p>
            <a:pPr algn="l"/>
            <a:endParaRPr lang="en-IN" sz="4800" dirty="0"/>
          </a:p>
        </p:txBody>
      </p:sp>
    </p:spTree>
    <p:extLst>
      <p:ext uri="{BB962C8B-B14F-4D97-AF65-F5344CB8AC3E}">
        <p14:creationId xmlns:p14="http://schemas.microsoft.com/office/powerpoint/2010/main" val="40090704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317204" y="152474"/>
            <a:ext cx="10515600" cy="1325563"/>
          </a:xfrm>
        </p:spPr>
        <p:txBody>
          <a:bodyPr/>
          <a:lstStyle/>
          <a:p>
            <a:r>
              <a:rPr lang="en-GB" dirty="0">
                <a:solidFill>
                  <a:srgbClr val="FF0000"/>
                </a:solidFill>
              </a:rPr>
              <a:t>Selection	</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19222" y="1253330"/>
            <a:ext cx="11355573" cy="5264427"/>
          </a:xfrm>
        </p:spPr>
        <p:txBody>
          <a:bodyPr>
            <a:normAutofit/>
          </a:bodyPr>
          <a:lstStyle/>
          <a:p>
            <a:pPr algn="l"/>
            <a:r>
              <a:rPr lang="en-GB" sz="3200" b="0" i="0" u="none" strike="noStrike" baseline="0" dirty="0"/>
              <a:t>Selection is the process </a:t>
            </a:r>
            <a:r>
              <a:rPr lang="en-GB" sz="3200" b="0" i="0" u="sng" strike="noStrike" baseline="0" dirty="0"/>
              <a:t>of choosing people by obtaining and assessing information </a:t>
            </a:r>
            <a:r>
              <a:rPr lang="en-GB" sz="3200" b="0" i="0" u="none" strike="noStrike" baseline="0" dirty="0"/>
              <a:t>about the applicants with a view to matching these with the job requirements. </a:t>
            </a:r>
          </a:p>
          <a:p>
            <a:pPr algn="l"/>
            <a:r>
              <a:rPr lang="en-GB" sz="3200" b="0" i="0" u="none" strike="noStrike" baseline="0" dirty="0"/>
              <a:t>It involves a </a:t>
            </a:r>
            <a:r>
              <a:rPr lang="en-GB" sz="3200" b="0" i="0" u="sng" strike="noStrike" baseline="0" dirty="0"/>
              <a:t>careful screening and testing of candidates </a:t>
            </a:r>
            <a:r>
              <a:rPr lang="en-GB" sz="3200" b="0" i="0" u="none" strike="noStrike" baseline="0" dirty="0"/>
              <a:t>who have put in their applications for any job in the enterprise</a:t>
            </a:r>
          </a:p>
          <a:p>
            <a:pPr algn="l"/>
            <a:r>
              <a:rPr lang="en-GB" sz="3200" b="0" i="0" u="none" strike="noStrike" baseline="0" dirty="0"/>
              <a:t>It can be conceptualised in terms of</a:t>
            </a:r>
            <a:r>
              <a:rPr lang="en-GB" sz="3200" b="0" i="0" u="sng" strike="noStrike" baseline="0" dirty="0"/>
              <a:t> either choosing the fit candidates, or rejecting the unfit candidates</a:t>
            </a:r>
            <a:r>
              <a:rPr lang="en-GB" sz="3200" b="0" i="0" u="none" strike="noStrike" baseline="0" dirty="0"/>
              <a:t>, or </a:t>
            </a:r>
            <a:r>
              <a:rPr lang="en-IN" sz="3200" b="0" i="0" u="none" strike="noStrike" baseline="0" dirty="0"/>
              <a:t>a combination of both</a:t>
            </a:r>
          </a:p>
          <a:p>
            <a:pPr algn="l"/>
            <a:r>
              <a:rPr lang="en-GB" sz="3200" b="0" i="0" u="none" strike="noStrike" baseline="0" dirty="0"/>
              <a:t>it is called a </a:t>
            </a:r>
            <a:r>
              <a:rPr lang="en-GB" sz="3200" b="0" i="0" u="sng" strike="noStrike" baseline="0" dirty="0"/>
              <a:t>negative process in </a:t>
            </a:r>
            <a:r>
              <a:rPr lang="en-GB" sz="3200" b="0" i="0" u="none" strike="noStrike" baseline="0" dirty="0"/>
              <a:t>contrast to positive programme </a:t>
            </a:r>
            <a:r>
              <a:rPr lang="en-IN" sz="3200" b="0" i="0" u="none" strike="noStrike" baseline="0" dirty="0"/>
              <a:t>of recruitment.</a:t>
            </a:r>
            <a:endParaRPr lang="en-IN" sz="4400" dirty="0"/>
          </a:p>
        </p:txBody>
      </p:sp>
    </p:spTree>
    <p:extLst>
      <p:ext uri="{BB962C8B-B14F-4D97-AF65-F5344CB8AC3E}">
        <p14:creationId xmlns:p14="http://schemas.microsoft.com/office/powerpoint/2010/main" val="13508699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8200" y="467833"/>
            <a:ext cx="11155326" cy="5709130"/>
          </a:xfrm>
        </p:spPr>
        <p:txBody>
          <a:bodyPr>
            <a:normAutofit fontScale="92500"/>
          </a:bodyPr>
          <a:lstStyle/>
          <a:p>
            <a:pPr algn="l"/>
            <a:r>
              <a:rPr lang="en-GB" b="0" i="0" u="none" strike="noStrike" baseline="0" dirty="0"/>
              <a:t>Proper selection of personnel is obviously an area where effectiveness - choosing competent workers who perform well in their position-can result in large saving</a:t>
            </a:r>
          </a:p>
          <a:p>
            <a:pPr algn="l"/>
            <a:r>
              <a:rPr lang="en-GB" b="0" i="0" u="none" strike="noStrike" baseline="0" dirty="0"/>
              <a:t>selection has two objectives: </a:t>
            </a:r>
          </a:p>
          <a:p>
            <a:pPr marL="0" indent="0" algn="l">
              <a:buNone/>
            </a:pPr>
            <a:r>
              <a:rPr lang="en-GB" dirty="0"/>
              <a:t>	</a:t>
            </a:r>
            <a:r>
              <a:rPr lang="en-GB" b="0" i="0" u="none" strike="noStrike" baseline="0" dirty="0"/>
              <a:t>(1) to predict which job applicants would be successful if hired and </a:t>
            </a:r>
          </a:p>
          <a:p>
            <a:pPr marL="0" indent="0" algn="l">
              <a:buNone/>
            </a:pPr>
            <a:r>
              <a:rPr lang="en-GB" dirty="0"/>
              <a:t>	</a:t>
            </a:r>
            <a:r>
              <a:rPr lang="en-GB" b="0" i="0" u="none" strike="noStrike" baseline="0" dirty="0"/>
              <a:t>(2) to inform and sell the candidate on the job and the organization. </a:t>
            </a:r>
          </a:p>
          <a:p>
            <a:pPr marL="0" indent="0" algn="l">
              <a:buNone/>
            </a:pPr>
            <a:r>
              <a:rPr lang="en-GB" dirty="0"/>
              <a:t>	</a:t>
            </a:r>
            <a:r>
              <a:rPr lang="en-GB" b="0" i="0" u="none" strike="noStrike" baseline="0" dirty="0"/>
              <a:t>Satisfaction of employee needs and wants as well as the fullest development of his potential are important objectives of selection.</a:t>
            </a:r>
          </a:p>
          <a:p>
            <a:pPr marL="0" indent="0" algn="l">
              <a:buNone/>
            </a:pPr>
            <a:r>
              <a:rPr lang="en-GB" b="1" i="0" u="none" strike="noStrike" baseline="0" dirty="0"/>
              <a:t>Difference between Recruitment and Selection:</a:t>
            </a:r>
            <a:endParaRPr lang="en-GB" dirty="0"/>
          </a:p>
          <a:p>
            <a:pPr algn="l"/>
            <a:r>
              <a:rPr lang="en-GB" b="0" i="0" u="none" strike="noStrike" baseline="0" dirty="0"/>
              <a:t>Recruitment is a process of searching for prospective employees and stimulating and encouraging them to apply for jobs in an organisation. </a:t>
            </a:r>
            <a:r>
              <a:rPr lang="en-GB" dirty="0"/>
              <a:t>(Positive process)</a:t>
            </a:r>
          </a:p>
          <a:p>
            <a:pPr algn="l"/>
            <a:r>
              <a:rPr lang="en-GB" b="0" i="0" u="none" strike="noStrike" baseline="0" dirty="0"/>
              <a:t>selection on the other hand tends to be negative because it rejects a good number of those who apply, leaving only the best to be hired</a:t>
            </a:r>
            <a:endParaRPr lang="en-IN" sz="4000" dirty="0"/>
          </a:p>
        </p:txBody>
      </p:sp>
    </p:spTree>
    <p:extLst>
      <p:ext uri="{BB962C8B-B14F-4D97-AF65-F5344CB8AC3E}">
        <p14:creationId xmlns:p14="http://schemas.microsoft.com/office/powerpoint/2010/main" val="2176154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0" y="0"/>
            <a:ext cx="12191999" cy="6393343"/>
          </a:xfrm>
        </p:spPr>
        <p:txBody>
          <a:bodyPr>
            <a:noAutofit/>
          </a:bodyPr>
          <a:lstStyle/>
          <a:p>
            <a:pPr algn="l"/>
            <a:r>
              <a:rPr lang="en-GB" sz="2400" b="1" i="0" u="none" strike="noStrike" baseline="0" dirty="0"/>
              <a:t>1. Difference in Objective: </a:t>
            </a:r>
          </a:p>
          <a:p>
            <a:pPr lvl="1"/>
            <a:r>
              <a:rPr lang="en-GB" b="0" i="0" u="none" strike="noStrike" baseline="0" dirty="0"/>
              <a:t>The basic objective of recruitment is to attract maximum number of candidates so that more options are available. </a:t>
            </a:r>
          </a:p>
          <a:p>
            <a:pPr lvl="1"/>
            <a:r>
              <a:rPr lang="en-GB" b="0" i="0" u="none" strike="noStrike" baseline="0" dirty="0"/>
              <a:t>The basic objective of selection is to choose best out of the available </a:t>
            </a:r>
            <a:r>
              <a:rPr lang="en-IN" b="0" i="0" u="none" strike="noStrike" baseline="0" dirty="0"/>
              <a:t>candidates.</a:t>
            </a:r>
          </a:p>
          <a:p>
            <a:pPr algn="l"/>
            <a:r>
              <a:rPr lang="en-GB" sz="2400" b="1" i="0" u="none" strike="noStrike" baseline="0" dirty="0"/>
              <a:t>2. Difference is Process: </a:t>
            </a:r>
          </a:p>
          <a:p>
            <a:pPr lvl="1"/>
            <a:r>
              <a:rPr lang="en-GB" b="0" i="0" u="none" strike="noStrike" baseline="0" dirty="0"/>
              <a:t>Recruitment adopts the process of creating application pool as large as possible.</a:t>
            </a:r>
          </a:p>
          <a:p>
            <a:pPr lvl="1"/>
            <a:r>
              <a:rPr lang="en-GB" b="0" i="0" u="none" strike="noStrike" baseline="0" dirty="0"/>
              <a:t>Selection adopts the process through which more and more candidates are rejected and fewer candidates are selected or sometimes even not a single candidate is selected (negative process or rejection process).</a:t>
            </a:r>
          </a:p>
          <a:p>
            <a:pPr algn="l"/>
            <a:r>
              <a:rPr lang="en-GB" sz="2400" b="1" i="0" u="none" strike="noStrike" baseline="0" dirty="0"/>
              <a:t>3. Technical Differences: </a:t>
            </a:r>
          </a:p>
          <a:p>
            <a:pPr lvl="1"/>
            <a:r>
              <a:rPr lang="en-GB" b="0" i="0" u="none" strike="noStrike" baseline="0" dirty="0"/>
              <a:t>Recruitment techniques are not very intensive, and not require high skills.</a:t>
            </a:r>
          </a:p>
          <a:p>
            <a:pPr lvl="1"/>
            <a:r>
              <a:rPr lang="en-GB" dirty="0"/>
              <a:t>The </a:t>
            </a:r>
            <a:r>
              <a:rPr lang="en-GB" b="0" i="0" u="none" strike="noStrike" baseline="0" dirty="0"/>
              <a:t>selection process, highly specialised techniques are required. Therefore, in the selection process, only personnel with specific skills like expertise in using selection tests, conducting interviews, </a:t>
            </a:r>
            <a:r>
              <a:rPr lang="en-IN" b="0" i="0" u="none" strike="noStrike" baseline="0" dirty="0"/>
              <a:t>etc., are involved.</a:t>
            </a:r>
          </a:p>
          <a:p>
            <a:pPr algn="l"/>
            <a:r>
              <a:rPr lang="en-GB" sz="2400" b="1" i="0" u="none" strike="noStrike" baseline="0" dirty="0"/>
              <a:t>4. Difference in Outcomes: </a:t>
            </a:r>
          </a:p>
          <a:p>
            <a:pPr lvl="1"/>
            <a:r>
              <a:rPr lang="en-GB" b="0" i="0" u="none" strike="noStrike" baseline="0" dirty="0"/>
              <a:t>The outcome of recruitment is application pool which becomes input for selection process. </a:t>
            </a:r>
          </a:p>
          <a:p>
            <a:pPr lvl="1"/>
            <a:r>
              <a:rPr lang="en-GB" b="0" i="0" u="none" strike="noStrike" baseline="0" dirty="0"/>
              <a:t>The outcome of selection process is in the form of finalising candidates who will be </a:t>
            </a:r>
            <a:r>
              <a:rPr lang="en-IN" b="0" i="0" u="none" strike="noStrike" baseline="0" dirty="0"/>
              <a:t>offered jobs.</a:t>
            </a:r>
            <a:endParaRPr lang="en-IN" dirty="0"/>
          </a:p>
        </p:txBody>
      </p:sp>
    </p:spTree>
    <p:extLst>
      <p:ext uri="{BB962C8B-B14F-4D97-AF65-F5344CB8AC3E}">
        <p14:creationId xmlns:p14="http://schemas.microsoft.com/office/powerpoint/2010/main" val="7668318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115186" y="18255"/>
            <a:ext cx="10515600" cy="1325563"/>
          </a:xfrm>
        </p:spPr>
        <p:txBody>
          <a:bodyPr/>
          <a:lstStyle/>
          <a:p>
            <a:r>
              <a:rPr lang="en-GB" dirty="0">
                <a:solidFill>
                  <a:srgbClr val="FF0000"/>
                </a:solidFill>
              </a:rPr>
              <a:t>Selection process	</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19222" y="1253330"/>
            <a:ext cx="11557591" cy="5498343"/>
          </a:xfrm>
        </p:spPr>
        <p:txBody>
          <a:bodyPr>
            <a:normAutofit/>
          </a:bodyPr>
          <a:lstStyle/>
          <a:p>
            <a:r>
              <a:rPr lang="en-IN" sz="3200" b="0" i="0" u="none" strike="noStrike" baseline="0" dirty="0"/>
              <a:t>“Successive Hurdles Technique”.</a:t>
            </a:r>
          </a:p>
          <a:p>
            <a:pPr algn="l"/>
            <a:r>
              <a:rPr lang="en-GB" sz="3200" b="0" i="0" u="none" strike="noStrike" baseline="0" dirty="0"/>
              <a:t>The selection procedure is concerned with securing relevant information about an applicant. </a:t>
            </a:r>
          </a:p>
          <a:p>
            <a:pPr algn="l"/>
            <a:r>
              <a:rPr lang="en-GB" sz="3200" b="0" i="0" u="none" strike="noStrike" baseline="0" dirty="0"/>
              <a:t>This information is secured in a number of steps or stages.</a:t>
            </a:r>
          </a:p>
          <a:p>
            <a:pPr algn="l"/>
            <a:r>
              <a:rPr lang="en-GB" sz="2400" b="1" i="0" u="none" strike="noStrike" baseline="0" dirty="0"/>
              <a:t>The major factors which determine the steps involved in a selection process are as follows:</a:t>
            </a:r>
          </a:p>
          <a:p>
            <a:pPr lvl="1"/>
            <a:r>
              <a:rPr lang="en-GB" sz="2800" b="0" i="0" u="none" strike="noStrike" baseline="0" dirty="0"/>
              <a:t>Selection process depends on the number of candidates that are available for selection.</a:t>
            </a:r>
          </a:p>
          <a:p>
            <a:pPr lvl="1"/>
            <a:r>
              <a:rPr lang="en-GB" sz="2800" b="0" i="0" u="none" strike="noStrike" baseline="0" dirty="0"/>
              <a:t>Selection process depends on the sources of recruitment and the method that is adopted for making contact with the prospective candidates.</a:t>
            </a:r>
          </a:p>
          <a:p>
            <a:pPr lvl="1"/>
            <a:r>
              <a:rPr lang="en-GB" sz="2800" b="0" i="0" u="none" strike="noStrike" baseline="0" dirty="0"/>
              <a:t>Various steps involved in as selection process depend on the type of personnel to be selected.</a:t>
            </a:r>
            <a:endParaRPr lang="en-IN" sz="6600" dirty="0"/>
          </a:p>
        </p:txBody>
      </p:sp>
    </p:spTree>
    <p:extLst>
      <p:ext uri="{BB962C8B-B14F-4D97-AF65-F5344CB8AC3E}">
        <p14:creationId xmlns:p14="http://schemas.microsoft.com/office/powerpoint/2010/main" val="20641014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r>
              <a:rPr lang="en-GB" dirty="0">
                <a:solidFill>
                  <a:srgbClr val="FF0000"/>
                </a:solidFill>
              </a:rPr>
              <a:t>Steps involved in Selection</a:t>
            </a:r>
            <a:endParaRPr lang="en-IN" dirty="0">
              <a:solidFill>
                <a:srgbClr val="FF0000"/>
              </a:solidFill>
            </a:endParaRPr>
          </a:p>
        </p:txBody>
      </p:sp>
      <p:pic>
        <p:nvPicPr>
          <p:cNvPr id="5" name="Content Placeholder 4">
            <a:extLst>
              <a:ext uri="{FF2B5EF4-FFF2-40B4-BE49-F238E27FC236}">
                <a16:creationId xmlns:a16="http://schemas.microsoft.com/office/drawing/2014/main" id="{E3FF9076-0F33-062F-FEBA-EFDC0B1E89F9}"/>
              </a:ext>
            </a:extLst>
          </p:cNvPr>
          <p:cNvPicPr>
            <a:picLocks noGrp="1" noChangeAspect="1"/>
          </p:cNvPicPr>
          <p:nvPr>
            <p:ph idx="1"/>
          </p:nvPr>
        </p:nvPicPr>
        <p:blipFill>
          <a:blip r:embed="rId2"/>
          <a:stretch>
            <a:fillRect/>
          </a:stretch>
        </p:blipFill>
        <p:spPr>
          <a:xfrm>
            <a:off x="327108" y="1900053"/>
            <a:ext cx="4966863" cy="4351338"/>
          </a:xfrm>
        </p:spPr>
      </p:pic>
      <p:pic>
        <p:nvPicPr>
          <p:cNvPr id="7" name="Picture 6">
            <a:extLst>
              <a:ext uri="{FF2B5EF4-FFF2-40B4-BE49-F238E27FC236}">
                <a16:creationId xmlns:a16="http://schemas.microsoft.com/office/drawing/2014/main" id="{FFB7BCA3-4CF9-17E3-6D4E-BC8366CFAA48}"/>
              </a:ext>
            </a:extLst>
          </p:cNvPr>
          <p:cNvPicPr>
            <a:picLocks noChangeAspect="1"/>
          </p:cNvPicPr>
          <p:nvPr/>
        </p:nvPicPr>
        <p:blipFill>
          <a:blip r:embed="rId3"/>
          <a:stretch>
            <a:fillRect/>
          </a:stretch>
        </p:blipFill>
        <p:spPr>
          <a:xfrm>
            <a:off x="5408356" y="1900053"/>
            <a:ext cx="5670841" cy="2851297"/>
          </a:xfrm>
          <a:prstGeom prst="rect">
            <a:avLst/>
          </a:prstGeom>
        </p:spPr>
      </p:pic>
    </p:spTree>
    <p:extLst>
      <p:ext uri="{BB962C8B-B14F-4D97-AF65-F5344CB8AC3E}">
        <p14:creationId xmlns:p14="http://schemas.microsoft.com/office/powerpoint/2010/main" val="81660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85307" y="329609"/>
            <a:ext cx="11080898" cy="5953679"/>
          </a:xfrm>
        </p:spPr>
        <p:txBody>
          <a:bodyPr>
            <a:normAutofit/>
          </a:bodyPr>
          <a:lstStyle/>
          <a:p>
            <a:r>
              <a:rPr lang="en-GB" b="1" dirty="0"/>
              <a:t>1.Application pool </a:t>
            </a:r>
            <a:r>
              <a:rPr lang="en-GB" dirty="0"/>
              <a:t>-</a:t>
            </a:r>
            <a:r>
              <a:rPr lang="en-GB" b="0" i="0" u="none" strike="noStrike" baseline="0" dirty="0"/>
              <a:t>maximum number of applications for the selection process</a:t>
            </a:r>
          </a:p>
          <a:p>
            <a:r>
              <a:rPr lang="en-IN" b="1" i="0" u="none" strike="noStrike" baseline="0" dirty="0"/>
              <a:t>2. Preliminary Screening and Interview</a:t>
            </a:r>
            <a:r>
              <a:rPr lang="en-GB" dirty="0"/>
              <a:t>: to sort the qualified persons</a:t>
            </a:r>
          </a:p>
          <a:p>
            <a:pPr algn="l"/>
            <a:r>
              <a:rPr lang="en-IN" b="1" i="0" u="none" strike="noStrike" baseline="0" dirty="0"/>
              <a:t>3. Application Blank or Application Form:</a:t>
            </a:r>
            <a:r>
              <a:rPr lang="en-GB" b="1" i="0" u="none" strike="noStrike" baseline="0" dirty="0"/>
              <a:t> </a:t>
            </a:r>
            <a:r>
              <a:rPr lang="en-GB" dirty="0"/>
              <a:t>to get</a:t>
            </a:r>
            <a:r>
              <a:rPr lang="en-GB" b="0" i="0" u="none" strike="noStrike" baseline="0" dirty="0"/>
              <a:t> information from a prospective applicant which will enable the management to make a proper </a:t>
            </a:r>
            <a:r>
              <a:rPr lang="en-IN" b="0" i="0" u="none" strike="noStrike" baseline="0" dirty="0"/>
              <a:t>selection.</a:t>
            </a:r>
          </a:p>
          <a:p>
            <a:pPr lvl="1"/>
            <a:r>
              <a:rPr lang="en-IN" sz="2800" i="0" u="none" strike="noStrike" baseline="0" dirty="0"/>
              <a:t>(a) Biographical Data:</a:t>
            </a:r>
            <a:r>
              <a:rPr lang="en-IN" sz="2800" dirty="0"/>
              <a:t>, </a:t>
            </a:r>
            <a:r>
              <a:rPr lang="en-IN" sz="2800" i="0" u="none" strike="noStrike" baseline="0" dirty="0"/>
              <a:t>(b) Educational Attainment</a:t>
            </a:r>
            <a:r>
              <a:rPr lang="en-IN" sz="2800" dirty="0"/>
              <a:t>, </a:t>
            </a:r>
            <a:r>
              <a:rPr lang="en-IN" sz="2800" i="0" u="none" strike="noStrike" baseline="0" dirty="0"/>
              <a:t>(c) Work Experience:</a:t>
            </a:r>
            <a:r>
              <a:rPr lang="en-IN" sz="2800" dirty="0"/>
              <a:t> </a:t>
            </a:r>
            <a:r>
              <a:rPr lang="en-IN" sz="2800" i="0" u="none" strike="noStrike" baseline="0" dirty="0"/>
              <a:t>(d) Salary and Benefits (e) Other Items:</a:t>
            </a:r>
          </a:p>
          <a:p>
            <a:pPr marL="180975" lvl="1" indent="-180975"/>
            <a:r>
              <a:rPr lang="en-IN" sz="2800" b="1" dirty="0"/>
              <a:t>4. Selection Tests: </a:t>
            </a:r>
            <a:r>
              <a:rPr lang="en-IN" sz="2800" i="0" u="none" strike="noStrike" baseline="0" dirty="0"/>
              <a:t>Aptitude, Personality, Interest, Performance, Knowledge, Intelligence, Achievement, Projective</a:t>
            </a:r>
          </a:p>
          <a:p>
            <a:pPr algn="l"/>
            <a:r>
              <a:rPr lang="en-IN" b="1" dirty="0"/>
              <a:t>5. Interview: </a:t>
            </a:r>
            <a:r>
              <a:rPr lang="en-GB" dirty="0"/>
              <a:t>to get information from a person and to assess his </a:t>
            </a:r>
            <a:r>
              <a:rPr lang="en-IN" dirty="0"/>
              <a:t>potential for the job</a:t>
            </a:r>
          </a:p>
          <a:p>
            <a:pPr algn="l"/>
            <a:endParaRPr lang="en-IN" dirty="0"/>
          </a:p>
          <a:p>
            <a:pPr marL="457200" lvl="1" indent="0">
              <a:buNone/>
            </a:pPr>
            <a:endParaRPr lang="en-GB" sz="2800" i="0" u="none" strike="noStrike" baseline="0" dirty="0"/>
          </a:p>
          <a:p>
            <a:pPr marL="457200" lvl="1" indent="0">
              <a:buNone/>
            </a:pPr>
            <a:endParaRPr lang="en-GB" sz="2800" b="0" i="0" u="none" strike="noStrike" baseline="0" dirty="0"/>
          </a:p>
          <a:p>
            <a:pPr lvl="1"/>
            <a:endParaRPr lang="en-IN" sz="2800" dirty="0"/>
          </a:p>
        </p:txBody>
      </p:sp>
    </p:spTree>
    <p:extLst>
      <p:ext uri="{BB962C8B-B14F-4D97-AF65-F5344CB8AC3E}">
        <p14:creationId xmlns:p14="http://schemas.microsoft.com/office/powerpoint/2010/main" val="28593236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478465" y="393405"/>
            <a:ext cx="11713535" cy="5783558"/>
          </a:xfrm>
        </p:spPr>
        <p:txBody>
          <a:bodyPr>
            <a:noAutofit/>
          </a:bodyPr>
          <a:lstStyle/>
          <a:p>
            <a:pPr algn="l"/>
            <a:r>
              <a:rPr lang="en-GB" b="1" i="0" u="none" strike="noStrike" baseline="0" dirty="0"/>
              <a:t>Objectives of Interviews: </a:t>
            </a:r>
            <a:r>
              <a:rPr lang="en-GB" b="0" i="0" u="none" strike="noStrike" baseline="0" dirty="0"/>
              <a:t>Interview helps:</a:t>
            </a:r>
          </a:p>
          <a:p>
            <a:pPr marL="0" indent="0" algn="l">
              <a:buNone/>
            </a:pPr>
            <a:r>
              <a:rPr lang="en-GB" dirty="0"/>
              <a:t>	</a:t>
            </a:r>
            <a:r>
              <a:rPr lang="en-GB" b="0" i="0" u="none" strike="noStrike" baseline="0" dirty="0"/>
              <a:t>To obtain additional information from the candidate.</a:t>
            </a:r>
          </a:p>
          <a:p>
            <a:pPr marL="0" indent="0" algn="l">
              <a:buNone/>
            </a:pPr>
            <a:r>
              <a:rPr lang="en-GB" dirty="0"/>
              <a:t>	</a:t>
            </a:r>
            <a:r>
              <a:rPr lang="en-GB" b="0" i="0" u="none" strike="noStrike" baseline="0" dirty="0"/>
              <a:t>Facilitates giving to the candidate information about the job, company, its policies, products etc.</a:t>
            </a:r>
          </a:p>
          <a:p>
            <a:pPr marL="0" indent="0" algn="l">
              <a:buNone/>
            </a:pPr>
            <a:r>
              <a:rPr lang="en-GB" dirty="0"/>
              <a:t>	</a:t>
            </a:r>
            <a:r>
              <a:rPr lang="en-GB" b="0" i="0" u="none" strike="noStrike" baseline="0" dirty="0"/>
              <a:t>To assess the basic suitability of the candidate.</a:t>
            </a:r>
          </a:p>
          <a:p>
            <a:pPr algn="l"/>
            <a:r>
              <a:rPr lang="en-GB" b="1" i="0" u="none" strike="noStrike" baseline="0" dirty="0"/>
              <a:t>Types of interviews: Interviews can be classified in various ways according to:</a:t>
            </a:r>
          </a:p>
          <a:p>
            <a:pPr lvl="1"/>
            <a:r>
              <a:rPr lang="en-IN" sz="2800" b="0" i="0" u="none" strike="noStrike" baseline="0" dirty="0"/>
              <a:t>(A) Degree of Structure (B) Purpose of Interview  (C) Content of Interview</a:t>
            </a:r>
          </a:p>
          <a:p>
            <a:pPr marL="0" indent="0" algn="l">
              <a:buNone/>
            </a:pPr>
            <a:r>
              <a:rPr lang="en-IN" b="1" i="0" u="none" strike="noStrike" baseline="0" dirty="0"/>
              <a:t>(A) Degree of Structure:</a:t>
            </a:r>
          </a:p>
          <a:p>
            <a:pPr marL="0" indent="0" algn="l">
              <a:buNone/>
            </a:pPr>
            <a:r>
              <a:rPr lang="en-GB" b="1" i="0" u="none" strike="noStrike" baseline="0" dirty="0"/>
              <a:t>	(1) Unstructured or non directive: </a:t>
            </a:r>
            <a:r>
              <a:rPr lang="en-GB" b="0" i="0" u="none" strike="noStrike" baseline="0" dirty="0"/>
              <a:t>in which you ask questions as they come to mind. There is no set format to follow.</a:t>
            </a:r>
          </a:p>
          <a:p>
            <a:pPr marL="0" indent="0" algn="l">
              <a:buNone/>
            </a:pPr>
            <a:r>
              <a:rPr lang="en-GB" b="1" dirty="0"/>
              <a:t>	(</a:t>
            </a:r>
            <a:r>
              <a:rPr lang="en-GB" b="1" i="0" u="none" strike="noStrike" baseline="0" dirty="0"/>
              <a:t>2) Structured or directive: </a:t>
            </a:r>
            <a:r>
              <a:rPr lang="en-GB" b="0" i="0" u="none" strike="noStrike" baseline="0" dirty="0"/>
              <a:t>in which the questions and acceptable responses are specified in advance. The responses are rated for appropriateness of content.</a:t>
            </a:r>
            <a:endParaRPr lang="en-IN" dirty="0"/>
          </a:p>
        </p:txBody>
      </p:sp>
    </p:spTree>
    <p:extLst>
      <p:ext uri="{BB962C8B-B14F-4D97-AF65-F5344CB8AC3E}">
        <p14:creationId xmlns:p14="http://schemas.microsoft.com/office/powerpoint/2010/main" val="1717702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8200" y="435935"/>
            <a:ext cx="10515600" cy="5741028"/>
          </a:xfrm>
        </p:spPr>
        <p:txBody>
          <a:bodyPr>
            <a:normAutofit/>
          </a:bodyPr>
          <a:lstStyle/>
          <a:p>
            <a:pPr algn="l"/>
            <a:r>
              <a:rPr lang="en-GB" b="1" i="0" u="none" strike="noStrike" baseline="0" dirty="0"/>
              <a:t>(B) Purpose of Interview: </a:t>
            </a:r>
            <a:r>
              <a:rPr lang="en-GB" b="0" i="0" u="none" strike="noStrike" baseline="0" dirty="0"/>
              <a:t>A selection interview is a type of interview designed to predict future job performance, on the basis of applicant’s responses to the oral questions asked to him.</a:t>
            </a:r>
          </a:p>
          <a:p>
            <a:pPr algn="l"/>
            <a:r>
              <a:rPr lang="en-GB" b="1" i="0" u="none" strike="noStrike" baseline="0" dirty="0"/>
              <a:t>A stress interview </a:t>
            </a:r>
            <a:r>
              <a:rPr lang="en-GB" b="0" i="0" u="none" strike="noStrike" baseline="0" dirty="0"/>
              <a:t>is a special type of selection interview in which the applicant is made uncomfortable by series of awkward and rude questions. </a:t>
            </a:r>
          </a:p>
          <a:p>
            <a:pPr algn="l"/>
            <a:r>
              <a:rPr lang="en-GB" b="0" i="0" u="none" strike="noStrike" baseline="0" dirty="0"/>
              <a:t>The aim of stress interview is supposedly to identify applicant’s low or high stress tolerance. </a:t>
            </a:r>
          </a:p>
          <a:p>
            <a:pPr algn="l"/>
            <a:r>
              <a:rPr lang="en-GB" b="0" i="0" u="none" strike="noStrike" baseline="0" dirty="0"/>
              <a:t>In such an interview the applicant is made uncomfortable by throwing him on the defensive by series of frank and often discourteous questions </a:t>
            </a:r>
            <a:r>
              <a:rPr lang="en-IN" b="0" i="0" u="none" strike="noStrike" baseline="0" dirty="0"/>
              <a:t>by the interviewer.</a:t>
            </a:r>
          </a:p>
          <a:p>
            <a:pPr algn="l"/>
            <a:endParaRPr lang="en-IN" sz="4000" dirty="0"/>
          </a:p>
        </p:txBody>
      </p:sp>
    </p:spTree>
    <p:extLst>
      <p:ext uri="{BB962C8B-B14F-4D97-AF65-F5344CB8AC3E}">
        <p14:creationId xmlns:p14="http://schemas.microsoft.com/office/powerpoint/2010/main" val="1904852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19222" y="368963"/>
            <a:ext cx="11219121" cy="6127529"/>
          </a:xfrm>
        </p:spPr>
        <p:txBody>
          <a:bodyPr>
            <a:normAutofit/>
          </a:bodyPr>
          <a:lstStyle/>
          <a:p>
            <a:r>
              <a:rPr lang="en-IN" b="1" i="0" u="none" strike="noStrike" baseline="0" dirty="0"/>
              <a:t>6. Background Investigation: Using external or internal agencies, </a:t>
            </a:r>
          </a:p>
          <a:p>
            <a:r>
              <a:rPr lang="en-IN" b="1" i="0" u="none" strike="noStrike" baseline="0" dirty="0"/>
              <a:t>7. Physical Examinations: Physically fitness</a:t>
            </a:r>
          </a:p>
          <a:p>
            <a:pPr algn="l"/>
            <a:r>
              <a:rPr lang="en-GB" b="1" i="0" u="none" strike="noStrike" baseline="0" dirty="0"/>
              <a:t>8. Approval by Appropriate Authority:</a:t>
            </a:r>
            <a:r>
              <a:rPr lang="en-IN" b="0" i="0" u="none" strike="noStrike" baseline="0" dirty="0"/>
              <a:t>suitable candidates are </a:t>
            </a:r>
            <a:r>
              <a:rPr lang="en-GB" b="0" i="0" u="none" strike="noStrike" baseline="0" dirty="0"/>
              <a:t>recommended for selection by the selection committee or personnel department</a:t>
            </a:r>
          </a:p>
          <a:p>
            <a:pPr algn="l"/>
            <a:r>
              <a:rPr lang="en-IN" b="1" i="0" u="none" strike="noStrike" baseline="0" dirty="0"/>
              <a:t>9. Final Employment Decision:</a:t>
            </a:r>
            <a:r>
              <a:rPr lang="en-GB" dirty="0"/>
              <a:t> </a:t>
            </a:r>
            <a:r>
              <a:rPr lang="en-GB" b="0" i="0" u="none" strike="noStrike" baseline="0" dirty="0"/>
              <a:t>After a candidate is finally selected, the human resource department recommends his name for employment. The management or board of the company offers employment in the form of an appointment letter mentioning the post</a:t>
            </a:r>
          </a:p>
          <a:p>
            <a:pPr algn="l"/>
            <a:r>
              <a:rPr lang="en-GB" b="1" i="0" u="none" strike="noStrike" baseline="0" dirty="0"/>
              <a:t>10. Evaluation</a:t>
            </a:r>
            <a:r>
              <a:rPr lang="en-GB" b="0" i="0" u="none" strike="noStrike" baseline="0" dirty="0"/>
              <a:t>-A period audit, conducted by people who work independently of the human resource department, will evaluate the effectiveness of the selection process</a:t>
            </a:r>
            <a:endParaRPr lang="en-IN" sz="4000" dirty="0"/>
          </a:p>
        </p:txBody>
      </p:sp>
    </p:spTree>
    <p:extLst>
      <p:ext uri="{BB962C8B-B14F-4D97-AF65-F5344CB8AC3E}">
        <p14:creationId xmlns:p14="http://schemas.microsoft.com/office/powerpoint/2010/main" val="12683373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18255"/>
            <a:ext cx="10515600" cy="1325563"/>
          </a:xfrm>
        </p:spPr>
        <p:txBody>
          <a:bodyPr/>
          <a:lstStyle/>
          <a:p>
            <a:r>
              <a:rPr lang="en-GB" dirty="0">
                <a:solidFill>
                  <a:srgbClr val="FF0000"/>
                </a:solidFill>
              </a:rPr>
              <a:t>Training</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59488" y="1095153"/>
            <a:ext cx="11844670" cy="5744592"/>
          </a:xfrm>
        </p:spPr>
        <p:txBody>
          <a:bodyPr>
            <a:normAutofit/>
          </a:bodyPr>
          <a:lstStyle/>
          <a:p>
            <a:pPr marL="0" indent="0" algn="l">
              <a:buNone/>
            </a:pPr>
            <a:r>
              <a:rPr lang="en-GB" sz="3200" b="1" i="0" u="none" strike="noStrike" baseline="0" dirty="0"/>
              <a:t>1. Improves Morale of Employees- </a:t>
            </a:r>
            <a:r>
              <a:rPr lang="en-GB" sz="3200" b="0" i="0" u="none" strike="noStrike" baseline="0" dirty="0"/>
              <a:t> job security and job satisfaction.</a:t>
            </a:r>
          </a:p>
          <a:p>
            <a:pPr marL="0" indent="0" algn="l">
              <a:buNone/>
            </a:pPr>
            <a:r>
              <a:rPr lang="en-GB" sz="3200" b="1" i="0" u="none" strike="noStrike" baseline="0" dirty="0"/>
              <a:t>2. Less Supervision- </a:t>
            </a:r>
            <a:r>
              <a:rPr lang="en-GB" sz="3200" b="0" i="0" u="none" strike="noStrike" baseline="0" dirty="0"/>
              <a:t>well acquainted with the job and will need less of supervision.</a:t>
            </a:r>
          </a:p>
          <a:p>
            <a:pPr marL="0" indent="0" algn="l">
              <a:buNone/>
            </a:pPr>
            <a:r>
              <a:rPr lang="en-GB" sz="3200" b="1" i="0" u="none" strike="noStrike" baseline="0" dirty="0"/>
              <a:t>3. Fewer Accidents- </a:t>
            </a:r>
            <a:r>
              <a:rPr lang="en-GB" sz="3200" b="0" i="0" u="none" strike="noStrike" baseline="0" dirty="0"/>
              <a:t>the less are the chances of committing accidents in job and the more proficient the employee becomes.</a:t>
            </a:r>
          </a:p>
          <a:p>
            <a:pPr marL="0" indent="0" algn="l">
              <a:buNone/>
            </a:pPr>
            <a:r>
              <a:rPr lang="en-GB" sz="3200" b="1" i="0" u="none" strike="noStrike" baseline="0" dirty="0"/>
              <a:t>4. Chances of Promotion- </a:t>
            </a:r>
            <a:r>
              <a:rPr lang="en-GB" sz="3200" dirty="0"/>
              <a:t>develops</a:t>
            </a:r>
            <a:r>
              <a:rPr lang="en-GB" sz="3200" b="0" i="0" u="none" strike="noStrike" baseline="0" dirty="0"/>
              <a:t> skills and efficiency.</a:t>
            </a:r>
          </a:p>
          <a:p>
            <a:pPr marL="0" indent="0" algn="l">
              <a:buNone/>
            </a:pPr>
            <a:r>
              <a:rPr lang="en-GB" sz="3200" b="1" i="0" u="none" strike="noStrike" baseline="0" dirty="0"/>
              <a:t>5. Increased Productivity- </a:t>
            </a:r>
            <a:r>
              <a:rPr lang="en-GB" sz="3200" b="0" i="0" u="none" strike="noStrike" baseline="0" dirty="0"/>
              <a:t>improves efficiency and productivity</a:t>
            </a:r>
          </a:p>
          <a:p>
            <a:pPr marL="0" indent="0" algn="l">
              <a:buNone/>
            </a:pPr>
            <a:endParaRPr lang="en-IN" sz="4400" dirty="0"/>
          </a:p>
        </p:txBody>
      </p:sp>
    </p:spTree>
    <p:extLst>
      <p:ext uri="{BB962C8B-B14F-4D97-AF65-F5344CB8AC3E}">
        <p14:creationId xmlns:p14="http://schemas.microsoft.com/office/powerpoint/2010/main" val="33031593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0"/>
            <a:ext cx="10515600" cy="1325563"/>
          </a:xfrm>
        </p:spPr>
        <p:txBody>
          <a:bodyPr/>
          <a:lstStyle/>
          <a:p>
            <a:r>
              <a:rPr lang="en-GB" dirty="0">
                <a:solidFill>
                  <a:srgbClr val="FF0000"/>
                </a:solidFill>
              </a:rPr>
              <a:t>Types of training				</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00245" y="1081344"/>
            <a:ext cx="11431773" cy="5670329"/>
          </a:xfrm>
        </p:spPr>
        <p:txBody>
          <a:bodyPr>
            <a:normAutofit/>
          </a:bodyPr>
          <a:lstStyle/>
          <a:p>
            <a:r>
              <a:rPr lang="en-GB" dirty="0"/>
              <a:t>On the job and off the job training</a:t>
            </a:r>
          </a:p>
          <a:p>
            <a:pPr marL="0" indent="0">
              <a:buNone/>
            </a:pPr>
            <a:r>
              <a:rPr lang="en-GB" b="1" u="sng" dirty="0"/>
              <a:t>On the job training</a:t>
            </a:r>
          </a:p>
          <a:p>
            <a:pPr lvl="1"/>
            <a:r>
              <a:rPr lang="en-GB" sz="2800" b="0" i="0" u="none" strike="noStrike" baseline="0" dirty="0"/>
              <a:t>takes place in a normal working situation</a:t>
            </a:r>
          </a:p>
          <a:p>
            <a:pPr lvl="1"/>
            <a:r>
              <a:rPr lang="en-GB" sz="2800" b="0" i="0" u="none" strike="noStrike" baseline="0" dirty="0"/>
              <a:t>as most effective for vocational work.</a:t>
            </a:r>
            <a:endParaRPr lang="en-GB" sz="2800" dirty="0"/>
          </a:p>
          <a:p>
            <a:pPr lvl="1"/>
            <a:r>
              <a:rPr lang="en-GB" sz="2800" b="0" i="0" u="none" strike="noStrike" baseline="0" dirty="0"/>
              <a:t>It is done on ad-hoc manner with no formal procedure, or content</a:t>
            </a:r>
          </a:p>
          <a:p>
            <a:pPr lvl="1"/>
            <a:r>
              <a:rPr lang="en-GB" sz="2800" b="0" i="0" u="none" strike="noStrike" baseline="0" dirty="0"/>
              <a:t>At the start of training, or during the training, no specific goals or objectives are developed</a:t>
            </a:r>
          </a:p>
          <a:p>
            <a:pPr lvl="1"/>
            <a:r>
              <a:rPr lang="en-GB" sz="2800" b="0" i="0" u="none" strike="noStrike" baseline="0" dirty="0"/>
              <a:t>Trainers usually have no formal qualification or training experience for training</a:t>
            </a:r>
          </a:p>
          <a:p>
            <a:pPr lvl="1"/>
            <a:r>
              <a:rPr lang="en-GB" sz="2800" b="0" i="0" u="none" strike="noStrike" baseline="0" dirty="0"/>
              <a:t>Training is not carefully planned or prepared</a:t>
            </a:r>
          </a:p>
          <a:p>
            <a:pPr lvl="1"/>
            <a:r>
              <a:rPr lang="en-GB" sz="2800" b="0" i="0" u="none" strike="noStrike" baseline="0" dirty="0"/>
              <a:t>The trainer are selected on the basis of technical expertise or area knowledge</a:t>
            </a:r>
            <a:endParaRPr lang="en-GB" sz="2800" dirty="0"/>
          </a:p>
          <a:p>
            <a:endParaRPr lang="en-IN" dirty="0"/>
          </a:p>
        </p:txBody>
      </p:sp>
    </p:spTree>
    <p:extLst>
      <p:ext uri="{BB962C8B-B14F-4D97-AF65-F5344CB8AC3E}">
        <p14:creationId xmlns:p14="http://schemas.microsoft.com/office/powerpoint/2010/main" val="14934689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63880" y="143540"/>
            <a:ext cx="11506200" cy="6714460"/>
          </a:xfrm>
        </p:spPr>
        <p:txBody>
          <a:bodyPr>
            <a:normAutofit fontScale="92500" lnSpcReduction="10000"/>
          </a:bodyPr>
          <a:lstStyle/>
          <a:p>
            <a:r>
              <a:rPr lang="en-GB" b="0" i="0" u="none" strike="noStrike" baseline="0" dirty="0"/>
              <a:t>The four techniques for on the job development are:</a:t>
            </a:r>
          </a:p>
          <a:p>
            <a:pPr marL="0" indent="0" algn="l">
              <a:buNone/>
            </a:pPr>
            <a:r>
              <a:rPr lang="en-GB" sz="3900" b="1" i="0" u="none" strike="noStrike" baseline="0" dirty="0">
                <a:solidFill>
                  <a:srgbClr val="FF0000"/>
                </a:solidFill>
              </a:rPr>
              <a:t>1.) Coaching </a:t>
            </a:r>
            <a:r>
              <a:rPr lang="en-GB" sz="3900" dirty="0">
                <a:solidFill>
                  <a:srgbClr val="FF0000"/>
                </a:solidFill>
              </a:rPr>
              <a:t>- </a:t>
            </a:r>
            <a:r>
              <a:rPr lang="en-GB" b="0" i="0" u="none" strike="noStrike" baseline="0" dirty="0"/>
              <a:t>a corrective method for inadequate performance.</a:t>
            </a:r>
          </a:p>
          <a:p>
            <a:pPr algn="l"/>
            <a:r>
              <a:rPr lang="en-IN" b="1" i="0" u="none" strike="noStrike" baseline="0" dirty="0"/>
              <a:t>Procedure of the Coaching</a:t>
            </a:r>
          </a:p>
          <a:p>
            <a:pPr marL="0" indent="0" algn="l">
              <a:buNone/>
            </a:pPr>
            <a:r>
              <a:rPr lang="en-GB" b="0" i="0" u="none" strike="noStrike" baseline="0" dirty="0"/>
              <a:t>	1. Understand the participant’s job, the knowledge, skills, and attitudes, and resources required to </a:t>
            </a:r>
            <a:r>
              <a:rPr lang="en-IN" b="0" i="0" u="none" strike="noStrike" baseline="0" dirty="0"/>
              <a:t>meet the desired expectation</a:t>
            </a:r>
          </a:p>
          <a:p>
            <a:pPr marL="0" indent="0" algn="l">
              <a:buNone/>
            </a:pPr>
            <a:r>
              <a:rPr lang="en-GB" b="0" i="0" u="none" strike="noStrike" baseline="0" dirty="0"/>
              <a:t>	2. Meet the participant and mutually agree on the objective that has to be achieved</a:t>
            </a:r>
          </a:p>
          <a:p>
            <a:pPr marL="0" indent="0" algn="l">
              <a:buNone/>
            </a:pPr>
            <a:r>
              <a:rPr lang="en-GB" b="0" i="0" u="none" strike="noStrike" baseline="0" dirty="0"/>
              <a:t>	3. Mutually arrive at a plan and schedule</a:t>
            </a:r>
          </a:p>
          <a:p>
            <a:pPr marL="0" indent="0" algn="l">
              <a:buNone/>
            </a:pPr>
            <a:r>
              <a:rPr lang="en-GB" b="0" i="0" u="none" strike="noStrike" baseline="0" dirty="0"/>
              <a:t>	4. At the job, show the participant how to achieve the objectives, observe the performance and then </a:t>
            </a:r>
            <a:r>
              <a:rPr lang="en-IN" b="0" i="0" u="none" strike="noStrike" baseline="0" dirty="0"/>
              <a:t>provide feedback</a:t>
            </a:r>
          </a:p>
          <a:p>
            <a:pPr marL="0" indent="0" algn="l">
              <a:buNone/>
            </a:pPr>
            <a:r>
              <a:rPr lang="en-GB" b="0" i="0" u="none" strike="noStrike" baseline="0" dirty="0"/>
              <a:t>	5. Repeat step 4 until performance improves</a:t>
            </a:r>
          </a:p>
          <a:p>
            <a:pPr algn="l"/>
            <a:r>
              <a:rPr lang="en-GB" b="0" i="0" u="none" strike="noStrike" baseline="0" dirty="0"/>
              <a:t>For the people at middle level management, coaching is more likely done by the supervisor; however experts from outside the organization are at times used for up and coming managers. </a:t>
            </a:r>
          </a:p>
          <a:p>
            <a:pPr algn="l"/>
            <a:r>
              <a:rPr lang="en-GB" dirty="0"/>
              <a:t>P</a:t>
            </a:r>
            <a:r>
              <a:rPr lang="en-GB" b="0" i="0" u="none" strike="noStrike" baseline="0" dirty="0"/>
              <a:t>ersonalized approach assists the manger focus on definite needs and improvement.</a:t>
            </a:r>
          </a:p>
        </p:txBody>
      </p:sp>
    </p:spTree>
    <p:extLst>
      <p:ext uri="{BB962C8B-B14F-4D97-AF65-F5344CB8AC3E}">
        <p14:creationId xmlns:p14="http://schemas.microsoft.com/office/powerpoint/2010/main" val="28334870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8200" y="381000"/>
            <a:ext cx="10515600" cy="5795963"/>
          </a:xfrm>
        </p:spPr>
        <p:txBody>
          <a:bodyPr/>
          <a:lstStyle/>
          <a:p>
            <a:pPr marL="0" indent="0">
              <a:buNone/>
            </a:pPr>
            <a:r>
              <a:rPr lang="en-GB" sz="4000" dirty="0">
                <a:solidFill>
                  <a:srgbClr val="FF0000"/>
                </a:solidFill>
              </a:rPr>
              <a:t>2. mentoring: </a:t>
            </a:r>
          </a:p>
          <a:p>
            <a:r>
              <a:rPr lang="en-GB" b="0" i="0" u="none" strike="noStrike" baseline="0" dirty="0"/>
              <a:t>an ongoing relationship that is developed between a senior and junior employee</a:t>
            </a:r>
          </a:p>
          <a:p>
            <a:pPr algn="l"/>
            <a:r>
              <a:rPr lang="en-GB" b="0" i="0" u="none" strike="noStrike" baseline="0" dirty="0"/>
              <a:t>guidance and clear understanding of how the organization goes to achieve its vision and mission</a:t>
            </a:r>
          </a:p>
          <a:p>
            <a:pPr algn="l"/>
            <a:r>
              <a:rPr lang="en-GB" dirty="0"/>
              <a:t>Non structured meeting and performed by some one from inside of company (Executive mentoring)</a:t>
            </a:r>
            <a:endParaRPr lang="en-IN" sz="3600" dirty="0"/>
          </a:p>
          <a:p>
            <a:pPr algn="l"/>
            <a:r>
              <a:rPr lang="en-GB" dirty="0"/>
              <a:t>It helps the executives to grow professionally by developing management skills and learning how to work with people with diverse background, culture, and language and personality types</a:t>
            </a:r>
          </a:p>
          <a:p>
            <a:pPr algn="l"/>
            <a:r>
              <a:rPr lang="en-GB" b="0" i="0" u="none" strike="noStrike" baseline="0" dirty="0"/>
              <a:t>It allows the mentor to determine what is required to improve mentee’s performance.</a:t>
            </a:r>
            <a:endParaRPr lang="en-GB" sz="3600" dirty="0"/>
          </a:p>
        </p:txBody>
      </p:sp>
    </p:spTree>
    <p:extLst>
      <p:ext uri="{BB962C8B-B14F-4D97-AF65-F5344CB8AC3E}">
        <p14:creationId xmlns:p14="http://schemas.microsoft.com/office/powerpoint/2010/main" val="14158780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61754" y="209476"/>
            <a:ext cx="10515600" cy="6457138"/>
          </a:xfrm>
        </p:spPr>
        <p:txBody>
          <a:bodyPr>
            <a:normAutofit/>
          </a:bodyPr>
          <a:lstStyle/>
          <a:p>
            <a:pPr algn="l"/>
            <a:r>
              <a:rPr lang="en-GB" sz="3200" b="0" i="0" u="none" strike="noStrike" baseline="0" dirty="0"/>
              <a:t>Some key points on Mentoring</a:t>
            </a:r>
          </a:p>
          <a:p>
            <a:pPr lvl="1"/>
            <a:r>
              <a:rPr lang="en-GB" sz="2800" b="0" i="0" u="none" strike="noStrike" baseline="0" dirty="0"/>
              <a:t>Mentoring focus on attitude development</a:t>
            </a:r>
          </a:p>
          <a:p>
            <a:pPr lvl="1"/>
            <a:r>
              <a:rPr lang="en-IN" sz="2800" b="0" i="0" u="none" strike="noStrike" baseline="0" dirty="0"/>
              <a:t>Conducted for management-level employees</a:t>
            </a:r>
          </a:p>
          <a:p>
            <a:pPr lvl="1"/>
            <a:r>
              <a:rPr lang="en-GB" sz="2800" b="0" i="0" u="none" strike="noStrike" baseline="0" dirty="0"/>
              <a:t>Mentoring is done by someone inside the company</a:t>
            </a:r>
          </a:p>
          <a:p>
            <a:pPr lvl="1"/>
            <a:r>
              <a:rPr lang="en-IN" sz="2800" b="0" i="0" u="none" strike="noStrike" baseline="0" dirty="0"/>
              <a:t>It is one-to-one interaction</a:t>
            </a:r>
          </a:p>
          <a:p>
            <a:pPr lvl="1"/>
            <a:r>
              <a:rPr lang="en-GB" sz="2800" b="0" i="0" u="none" strike="noStrike" baseline="0" dirty="0"/>
              <a:t>It helps in identifying weaknesses and focus on the area that needs improvement</a:t>
            </a:r>
          </a:p>
          <a:p>
            <a:pPr marL="0" lvl="1" indent="0">
              <a:buNone/>
            </a:pPr>
            <a:r>
              <a:rPr lang="en-GB" sz="3600" b="1" u="sng" dirty="0">
                <a:solidFill>
                  <a:srgbClr val="FF0000"/>
                </a:solidFill>
              </a:rPr>
              <a:t>Job rotation</a:t>
            </a:r>
          </a:p>
          <a:p>
            <a:pPr algn="l"/>
            <a:r>
              <a:rPr lang="en-GB" b="0" i="0" u="none" strike="noStrike" baseline="0" dirty="0"/>
              <a:t>Learning how the organization is perceived from the outside broadens the executive’s outlook on the process of the organization.</a:t>
            </a:r>
          </a:p>
          <a:p>
            <a:pPr algn="l"/>
            <a:r>
              <a:rPr lang="en-GB" b="0" i="0" u="none" strike="noStrike" baseline="0" dirty="0"/>
              <a:t>the rotation might be to a foreign office to provide a global perspective.</a:t>
            </a:r>
          </a:p>
          <a:p>
            <a:pPr algn="l"/>
            <a:r>
              <a:rPr lang="en-GB" b="0" i="0" u="none" strike="noStrike" baseline="0" dirty="0"/>
              <a:t>For managers being developed for executive roles, rotation to different functions in the company is regular </a:t>
            </a:r>
            <a:r>
              <a:rPr lang="en-IN" b="0" i="0" u="none" strike="noStrike" baseline="0" dirty="0"/>
              <a:t>carried out.</a:t>
            </a:r>
            <a:endParaRPr lang="en-IN" sz="4000" dirty="0"/>
          </a:p>
        </p:txBody>
      </p:sp>
    </p:spTree>
    <p:extLst>
      <p:ext uri="{BB962C8B-B14F-4D97-AF65-F5344CB8AC3E}">
        <p14:creationId xmlns:p14="http://schemas.microsoft.com/office/powerpoint/2010/main" val="37762616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308344" y="233916"/>
            <a:ext cx="11045456" cy="5943047"/>
          </a:xfrm>
        </p:spPr>
        <p:txBody>
          <a:bodyPr>
            <a:normAutofit/>
          </a:bodyPr>
          <a:lstStyle/>
          <a:p>
            <a:pPr algn="l"/>
            <a:r>
              <a:rPr lang="en-IN" sz="3200" b="0" i="0" u="none" strike="noStrike" baseline="0" dirty="0"/>
              <a:t>A recent study indicated </a:t>
            </a:r>
            <a:r>
              <a:rPr lang="en-GB" sz="3200" b="0" i="0" u="none" strike="noStrike" baseline="0" dirty="0"/>
              <a:t>that the single most significant factor that leads to leader’s achievement was the variety of experiences in different departments, business units, cities, and countries</a:t>
            </a:r>
          </a:p>
          <a:p>
            <a:pPr algn="l"/>
            <a:r>
              <a:rPr lang="en-GB" sz="3200" dirty="0"/>
              <a:t>Some of the major benefits of job rotation are:</a:t>
            </a:r>
          </a:p>
          <a:p>
            <a:pPr lvl="1"/>
            <a:r>
              <a:rPr lang="en-GB" sz="2800" dirty="0"/>
              <a:t>It provides the employees with opportunities to broaden the horizon of knowledge, skills, and</a:t>
            </a:r>
          </a:p>
          <a:p>
            <a:pPr lvl="1"/>
            <a:r>
              <a:rPr lang="en-GB" sz="2800" dirty="0"/>
              <a:t>abilities by working in different departments, business units, functions, and countries</a:t>
            </a:r>
          </a:p>
          <a:p>
            <a:pPr lvl="1"/>
            <a:r>
              <a:rPr lang="en-GB" sz="2800" dirty="0"/>
              <a:t>Identification of Knowledge, skills, and attitudes (KSAs) required</a:t>
            </a:r>
          </a:p>
          <a:p>
            <a:pPr lvl="1"/>
            <a:r>
              <a:rPr lang="en-GB" sz="2800" dirty="0"/>
              <a:t>It determines the areas where improvement is required</a:t>
            </a:r>
          </a:p>
          <a:p>
            <a:pPr lvl="1"/>
            <a:r>
              <a:rPr lang="en-GB" sz="2800" dirty="0"/>
              <a:t>Assessment of the employees who have the potential and </a:t>
            </a:r>
            <a:r>
              <a:rPr lang="en-GB" sz="2800" dirty="0" err="1"/>
              <a:t>caliber</a:t>
            </a:r>
            <a:r>
              <a:rPr lang="en-GB" sz="2800" dirty="0"/>
              <a:t> for filling the position</a:t>
            </a:r>
          </a:p>
        </p:txBody>
      </p:sp>
    </p:spTree>
    <p:extLst>
      <p:ext uri="{BB962C8B-B14F-4D97-AF65-F5344CB8AC3E}">
        <p14:creationId xmlns:p14="http://schemas.microsoft.com/office/powerpoint/2010/main" val="25906334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18255"/>
            <a:ext cx="10515600" cy="1325563"/>
          </a:xfrm>
        </p:spPr>
        <p:txBody>
          <a:bodyPr>
            <a:normAutofit/>
          </a:bodyPr>
          <a:lstStyle/>
          <a:p>
            <a:r>
              <a:rPr lang="en-GB" sz="3600" b="1" i="0" u="none" strike="noStrike" baseline="0" dirty="0">
                <a:solidFill>
                  <a:srgbClr val="FF0000"/>
                </a:solidFill>
                <a:latin typeface="+mn-lt"/>
              </a:rPr>
              <a:t>Job Instruction Technique (JIT</a:t>
            </a:r>
            <a:endParaRPr lang="en-IN" sz="72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00246" y="932489"/>
            <a:ext cx="10515600" cy="5907255"/>
          </a:xfrm>
        </p:spPr>
        <p:txBody>
          <a:bodyPr>
            <a:normAutofit/>
          </a:bodyPr>
          <a:lstStyle/>
          <a:p>
            <a:pPr marL="0" indent="0">
              <a:buNone/>
            </a:pPr>
            <a:r>
              <a:rPr lang="en-GB" sz="2800" b="0" i="0" u="none" strike="noStrike" baseline="0" dirty="0">
                <a:latin typeface="TimesNewRomanPSMT"/>
              </a:rPr>
              <a:t>uses a strategy with focus on knowledge (factual and procedural),</a:t>
            </a:r>
            <a:br>
              <a:rPr lang="en-GB" sz="2800" b="0" i="0" u="none" strike="noStrike" baseline="0" dirty="0">
                <a:latin typeface="TimesNewRomanPSMT"/>
              </a:rPr>
            </a:br>
            <a:r>
              <a:rPr lang="en-IN" sz="2800" b="0" i="0" u="none" strike="noStrike" baseline="0" dirty="0">
                <a:latin typeface="TimesNewRomanPSMT"/>
              </a:rPr>
              <a:t>skills and attitudes development.</a:t>
            </a:r>
          </a:p>
          <a:p>
            <a:pPr marL="0" indent="0" algn="l">
              <a:buNone/>
            </a:pPr>
            <a:r>
              <a:rPr lang="en-GB" sz="2400" b="1" i="0" u="none" strike="noStrike" baseline="0" dirty="0"/>
              <a:t>JIT Consists of Four Steps:</a:t>
            </a:r>
          </a:p>
          <a:p>
            <a:pPr algn="l"/>
            <a:r>
              <a:rPr lang="en-IN" sz="2400" b="1" i="1" u="none" strike="noStrike" baseline="0" dirty="0"/>
              <a:t>Plan </a:t>
            </a:r>
            <a:r>
              <a:rPr lang="en-IN" sz="2400" b="0" i="1" u="none" strike="noStrike" baseline="0" dirty="0"/>
              <a:t>–</a:t>
            </a:r>
            <a:r>
              <a:rPr lang="en-GB" sz="2400" b="0" i="0" u="none" strike="noStrike" baseline="0" dirty="0"/>
              <a:t>a written breakdown of the work </a:t>
            </a:r>
          </a:p>
          <a:p>
            <a:pPr marL="0" indent="0" algn="l">
              <a:buNone/>
            </a:pPr>
            <a:r>
              <a:rPr lang="en-GB" sz="2400" b="0" i="0" u="none" strike="noStrike" baseline="0" dirty="0"/>
              <a:t>to be done</a:t>
            </a:r>
            <a:endParaRPr lang="en-GB" sz="2400" b="1" dirty="0"/>
          </a:p>
          <a:p>
            <a:pPr algn="l"/>
            <a:r>
              <a:rPr lang="en-GB" sz="2400" b="0" i="0" u="none" strike="noStrike" baseline="0" dirty="0"/>
              <a:t>the trainer and the trainee must </a:t>
            </a:r>
          </a:p>
          <a:p>
            <a:pPr marL="0" indent="0" algn="l">
              <a:buNone/>
            </a:pPr>
            <a:r>
              <a:rPr lang="en-GB" sz="2400" b="0" i="0" u="none" strike="noStrike" baseline="0" dirty="0"/>
              <a:t>understand that documentation is a must </a:t>
            </a:r>
          </a:p>
          <a:p>
            <a:pPr marL="0" indent="0" algn="l">
              <a:buNone/>
            </a:pPr>
            <a:r>
              <a:rPr lang="en-GB" sz="2400" b="0" i="0" u="none" strike="noStrike" baseline="0" dirty="0"/>
              <a:t>and important for familiarity </a:t>
            </a:r>
          </a:p>
          <a:p>
            <a:pPr marL="0" indent="0" algn="l">
              <a:buNone/>
            </a:pPr>
            <a:r>
              <a:rPr lang="en-GB" sz="2400" b="0" i="0" u="none" strike="noStrike" baseline="0" dirty="0"/>
              <a:t>of work.</a:t>
            </a:r>
          </a:p>
          <a:p>
            <a:pPr algn="l"/>
            <a:r>
              <a:rPr lang="en-GB" sz="2400" dirty="0"/>
              <a:t>what the trainee knows and what training </a:t>
            </a:r>
          </a:p>
          <a:p>
            <a:pPr marL="0" indent="0" algn="l">
              <a:buNone/>
            </a:pPr>
            <a:r>
              <a:rPr lang="en-GB" sz="2400" dirty="0"/>
              <a:t>should focus on</a:t>
            </a:r>
          </a:p>
          <a:p>
            <a:pPr algn="l"/>
            <a:r>
              <a:rPr lang="en-GB" sz="2400" dirty="0"/>
              <a:t>proper orientation program, availing the resources, familiarizing trainee with the training program, etc</a:t>
            </a:r>
          </a:p>
          <a:p>
            <a:pPr marL="0" indent="0" algn="l">
              <a:buNone/>
            </a:pPr>
            <a:endParaRPr lang="en-GB" sz="2400" dirty="0"/>
          </a:p>
          <a:p>
            <a:pPr algn="l"/>
            <a:endParaRPr lang="en-GB" sz="1800" b="1" i="0" u="none" strike="noStrike" baseline="0" dirty="0">
              <a:latin typeface="TimesNewRomanPS-BoldMT"/>
            </a:endParaRPr>
          </a:p>
        </p:txBody>
      </p:sp>
      <p:pic>
        <p:nvPicPr>
          <p:cNvPr id="5" name="Picture 4">
            <a:extLst>
              <a:ext uri="{FF2B5EF4-FFF2-40B4-BE49-F238E27FC236}">
                <a16:creationId xmlns:a16="http://schemas.microsoft.com/office/drawing/2014/main" id="{B13919EE-9E37-EA99-25E7-73E70756D19A}"/>
              </a:ext>
            </a:extLst>
          </p:cNvPr>
          <p:cNvPicPr>
            <a:picLocks noChangeAspect="1"/>
          </p:cNvPicPr>
          <p:nvPr/>
        </p:nvPicPr>
        <p:blipFill>
          <a:blip r:embed="rId2"/>
          <a:stretch>
            <a:fillRect/>
          </a:stretch>
        </p:blipFill>
        <p:spPr>
          <a:xfrm>
            <a:off x="6018028" y="2410899"/>
            <a:ext cx="6173972" cy="3298785"/>
          </a:xfrm>
          <a:prstGeom prst="rect">
            <a:avLst/>
          </a:prstGeom>
        </p:spPr>
      </p:pic>
    </p:spTree>
    <p:extLst>
      <p:ext uri="{BB962C8B-B14F-4D97-AF65-F5344CB8AC3E}">
        <p14:creationId xmlns:p14="http://schemas.microsoft.com/office/powerpoint/2010/main" val="104413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pPr algn="l"/>
            <a:r>
              <a:rPr lang="en-GB" sz="4400" dirty="0"/>
              <a:t>Present: </a:t>
            </a:r>
            <a:r>
              <a:rPr lang="en-GB" sz="3200" b="0" i="0" u="none" strike="noStrike" baseline="0" dirty="0"/>
              <a:t>Trainee actually demonstrates the procedure while emphasizing the key points and safety instructions</a:t>
            </a:r>
          </a:p>
          <a:p>
            <a:pPr algn="l"/>
            <a:r>
              <a:rPr lang="en-GB" sz="3200" b="1" dirty="0"/>
              <a:t>Trial: </a:t>
            </a:r>
            <a:r>
              <a:rPr lang="en-IN" sz="3200" b="0" i="0" u="none" strike="noStrike" baseline="0" dirty="0"/>
              <a:t>rehearsal step</a:t>
            </a:r>
            <a:r>
              <a:rPr lang="en-GB" sz="3200" dirty="0"/>
              <a:t>; </a:t>
            </a:r>
            <a:r>
              <a:rPr lang="en-GB" sz="3200" b="0" i="0" u="none" strike="noStrike" baseline="0" dirty="0"/>
              <a:t>improving the method of instruction</a:t>
            </a:r>
            <a:r>
              <a:rPr lang="en-GB" sz="3200" dirty="0"/>
              <a:t>; </a:t>
            </a:r>
            <a:r>
              <a:rPr lang="en-GB" sz="3200" b="0" i="0" u="none" strike="noStrike" baseline="0" dirty="0"/>
              <a:t>questioning and guiding to identify the correct procedure</a:t>
            </a:r>
            <a:endParaRPr lang="en-GB" sz="3200" dirty="0"/>
          </a:p>
          <a:p>
            <a:pPr algn="l"/>
            <a:r>
              <a:rPr lang="en-GB" sz="3200" b="1" dirty="0"/>
              <a:t>Follow-up: </a:t>
            </a:r>
            <a:r>
              <a:rPr lang="en-GB" sz="3200" b="0" i="0" u="none" strike="noStrike" baseline="0" dirty="0"/>
              <a:t>to prevent bad work habits from developing; Cognitive and </a:t>
            </a:r>
            <a:r>
              <a:rPr lang="en-GB" sz="3200" dirty="0"/>
              <a:t>behavioural methods;  </a:t>
            </a:r>
            <a:endParaRPr lang="en-IN" sz="3200" dirty="0"/>
          </a:p>
        </p:txBody>
      </p:sp>
    </p:spTree>
    <p:extLst>
      <p:ext uri="{BB962C8B-B14F-4D97-AF65-F5344CB8AC3E}">
        <p14:creationId xmlns:p14="http://schemas.microsoft.com/office/powerpoint/2010/main" val="14428880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9CD145-E5D9-8BD5-AD0D-65428E2A8A64}"/>
              </a:ext>
            </a:extLst>
          </p:cNvPr>
          <p:cNvSpPr>
            <a:spLocks noGrp="1"/>
          </p:cNvSpPr>
          <p:nvPr>
            <p:ph idx="1"/>
          </p:nvPr>
        </p:nvSpPr>
        <p:spPr>
          <a:xfrm>
            <a:off x="402264" y="464657"/>
            <a:ext cx="11484935" cy="5457677"/>
          </a:xfrm>
        </p:spPr>
        <p:txBody>
          <a:bodyPr>
            <a:normAutofit/>
          </a:bodyPr>
          <a:lstStyle/>
          <a:p>
            <a:pPr algn="l"/>
            <a:r>
              <a:rPr lang="en-GB" b="0" i="0" u="none" strike="noStrike" baseline="0" dirty="0"/>
              <a:t>On the job training method has the following advantages that can be considered:</a:t>
            </a:r>
          </a:p>
          <a:p>
            <a:pPr marL="0" indent="0" algn="l">
              <a:buNone/>
            </a:pPr>
            <a:r>
              <a:rPr lang="en-IN" dirty="0"/>
              <a:t>	</a:t>
            </a:r>
            <a:r>
              <a:rPr lang="en-IN" b="0" i="0" u="none" strike="noStrike" baseline="0" dirty="0"/>
              <a:t>Generally most cost-effective</a:t>
            </a:r>
          </a:p>
          <a:p>
            <a:pPr marL="0" indent="0" algn="l">
              <a:buNone/>
            </a:pPr>
            <a:r>
              <a:rPr lang="en-IN" dirty="0"/>
              <a:t>	</a:t>
            </a:r>
            <a:r>
              <a:rPr lang="en-IN" b="0" i="0" u="none" strike="noStrike" baseline="0" dirty="0"/>
              <a:t>Employees are actually productive</a:t>
            </a:r>
          </a:p>
          <a:p>
            <a:pPr marL="0" indent="0" algn="l">
              <a:buNone/>
            </a:pPr>
            <a:r>
              <a:rPr lang="en-GB" dirty="0"/>
              <a:t>	</a:t>
            </a:r>
            <a:r>
              <a:rPr lang="en-GB" b="0" i="0" u="none" strike="noStrike" baseline="0" dirty="0"/>
              <a:t>Opportunity to learn whilst doing</a:t>
            </a:r>
          </a:p>
          <a:p>
            <a:pPr marL="0" indent="0" algn="l">
              <a:buNone/>
            </a:pPr>
            <a:r>
              <a:rPr lang="en-IN" dirty="0"/>
              <a:t>	</a:t>
            </a:r>
            <a:r>
              <a:rPr lang="en-IN" b="0" i="0" u="none" strike="noStrike" baseline="0" dirty="0"/>
              <a:t>Training alongside real colleagues.</a:t>
            </a:r>
          </a:p>
          <a:p>
            <a:pPr marL="0" indent="0" algn="l">
              <a:buNone/>
            </a:pPr>
            <a:r>
              <a:rPr lang="en-GB" dirty="0"/>
              <a:t>	</a:t>
            </a:r>
            <a:r>
              <a:rPr lang="en-GB" b="0" i="0" u="none" strike="noStrike" baseline="0" dirty="0"/>
              <a:t>Training can be delivered on time and at the optimum time.</a:t>
            </a:r>
          </a:p>
          <a:p>
            <a:pPr marL="0" indent="0" algn="l">
              <a:buNone/>
            </a:pPr>
            <a:r>
              <a:rPr lang="en-GB" dirty="0"/>
              <a:t>	</a:t>
            </a:r>
            <a:r>
              <a:rPr lang="en-GB" b="0" i="0" u="none" strike="noStrike" baseline="0" dirty="0"/>
              <a:t>The trainee will have the good opportunities to practice and implement.</a:t>
            </a:r>
          </a:p>
          <a:p>
            <a:pPr marL="0" indent="0" algn="l">
              <a:buNone/>
            </a:pPr>
            <a:r>
              <a:rPr lang="en-GB" dirty="0"/>
              <a:t>	</a:t>
            </a:r>
            <a:r>
              <a:rPr lang="en-GB" b="0" i="0" u="none" strike="noStrike" baseline="0" dirty="0"/>
              <a:t>The trainee will have feedbacks.</a:t>
            </a:r>
          </a:p>
          <a:p>
            <a:pPr marL="0" indent="0" algn="l">
              <a:buNone/>
            </a:pPr>
            <a:r>
              <a:rPr lang="en-GB" dirty="0"/>
              <a:t>	</a:t>
            </a:r>
            <a:r>
              <a:rPr lang="en-GB" b="0" i="0" u="none" strike="noStrike" baseline="0" dirty="0"/>
              <a:t>Trainee builds confidence by working with own speed and productivity.</a:t>
            </a:r>
            <a:endParaRPr lang="en-IN" sz="4000" dirty="0"/>
          </a:p>
        </p:txBody>
      </p:sp>
    </p:spTree>
    <p:extLst>
      <p:ext uri="{BB962C8B-B14F-4D97-AF65-F5344CB8AC3E}">
        <p14:creationId xmlns:p14="http://schemas.microsoft.com/office/powerpoint/2010/main" val="33568423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0"/>
            <a:ext cx="10515600" cy="1325563"/>
          </a:xfrm>
        </p:spPr>
        <p:txBody>
          <a:bodyPr/>
          <a:lstStyle/>
          <a:p>
            <a:r>
              <a:rPr lang="en-GB" dirty="0">
                <a:solidFill>
                  <a:srgbClr val="FF0000"/>
                </a:solidFill>
              </a:rPr>
              <a:t>Off-the job training</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47083" y="943123"/>
            <a:ext cx="11463670" cy="5638954"/>
          </a:xfrm>
        </p:spPr>
        <p:txBody>
          <a:bodyPr>
            <a:normAutofit/>
          </a:bodyPr>
          <a:lstStyle/>
          <a:p>
            <a:r>
              <a:rPr lang="en-GB" sz="3200" b="0" i="0" u="none" strike="noStrike" baseline="0" dirty="0"/>
              <a:t>many management development techniques that an employee can take in off the job</a:t>
            </a:r>
          </a:p>
          <a:p>
            <a:pPr algn="l"/>
            <a:r>
              <a:rPr lang="en-GB" sz="3200" b="1" i="0" u="none" strike="noStrike" baseline="0" dirty="0"/>
              <a:t>1.) Sensitivity Training </a:t>
            </a:r>
          </a:p>
          <a:p>
            <a:pPr algn="l"/>
            <a:r>
              <a:rPr lang="en-GB" sz="3200" b="0" i="0" u="none" strike="noStrike" baseline="0" dirty="0"/>
              <a:t>is about making people understand about themselves and others reasonably, which is done by developing in them social sensitivity and </a:t>
            </a:r>
            <a:r>
              <a:rPr lang="en-GB" sz="3200" b="0" i="0" u="none" strike="noStrike" baseline="0" dirty="0" err="1"/>
              <a:t>behavioral</a:t>
            </a:r>
            <a:r>
              <a:rPr lang="en-GB" sz="3200" b="0" i="0" u="none" strike="noStrike" baseline="0" dirty="0"/>
              <a:t> flexibility. </a:t>
            </a:r>
          </a:p>
          <a:p>
            <a:pPr algn="l"/>
            <a:r>
              <a:rPr lang="en-GB" sz="3200" b="0" i="0" u="none" strike="noStrike" baseline="0" dirty="0"/>
              <a:t>Social sensitivity in one word is empathy. </a:t>
            </a:r>
          </a:p>
          <a:p>
            <a:pPr algn="l"/>
            <a:r>
              <a:rPr lang="en-GB" sz="3200" b="0" i="0" u="none" strike="noStrike" baseline="0" dirty="0" err="1"/>
              <a:t>Behavioral</a:t>
            </a:r>
            <a:r>
              <a:rPr lang="en-GB" sz="3200" b="0" i="0" u="none" strike="noStrike" baseline="0" dirty="0"/>
              <a:t> flexibility is ability to behave suitably in light of understanding.</a:t>
            </a:r>
          </a:p>
          <a:p>
            <a:pPr algn="l"/>
            <a:r>
              <a:rPr lang="en-GB" sz="3200" dirty="0"/>
              <a:t>Steps in Sensitivity training</a:t>
            </a:r>
          </a:p>
          <a:p>
            <a:pPr algn="l"/>
            <a:endParaRPr lang="en-GB" sz="3200" dirty="0"/>
          </a:p>
        </p:txBody>
      </p:sp>
      <p:pic>
        <p:nvPicPr>
          <p:cNvPr id="5" name="Picture 4">
            <a:extLst>
              <a:ext uri="{FF2B5EF4-FFF2-40B4-BE49-F238E27FC236}">
                <a16:creationId xmlns:a16="http://schemas.microsoft.com/office/drawing/2014/main" id="{2FA369E5-DC8B-7D3D-A258-6021C9FAABB9}"/>
              </a:ext>
            </a:extLst>
          </p:cNvPr>
          <p:cNvPicPr>
            <a:picLocks noChangeAspect="1"/>
          </p:cNvPicPr>
          <p:nvPr/>
        </p:nvPicPr>
        <p:blipFill>
          <a:blip r:embed="rId2"/>
          <a:stretch>
            <a:fillRect/>
          </a:stretch>
        </p:blipFill>
        <p:spPr>
          <a:xfrm>
            <a:off x="5878918" y="5104649"/>
            <a:ext cx="5473450" cy="1583230"/>
          </a:xfrm>
          <a:prstGeom prst="rect">
            <a:avLst/>
          </a:prstGeom>
        </p:spPr>
      </p:pic>
    </p:spTree>
    <p:extLst>
      <p:ext uri="{BB962C8B-B14F-4D97-AF65-F5344CB8AC3E}">
        <p14:creationId xmlns:p14="http://schemas.microsoft.com/office/powerpoint/2010/main" val="27879339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20995" y="85060"/>
            <a:ext cx="10832805" cy="6091903"/>
          </a:xfrm>
        </p:spPr>
        <p:txBody>
          <a:bodyPr/>
          <a:lstStyle/>
          <a:p>
            <a:r>
              <a:rPr lang="en-IN" b="1" i="0" u="none" strike="noStrike" baseline="0" dirty="0"/>
              <a:t>Unfreezing the Old Values</a:t>
            </a:r>
            <a:r>
              <a:rPr lang="en-GB" b="1" i="0" u="none" strike="noStrike" baseline="0" dirty="0"/>
              <a:t> – </a:t>
            </a:r>
          </a:p>
          <a:p>
            <a:pPr lvl="1"/>
            <a:r>
              <a:rPr lang="en-GB" sz="2800" b="0" i="0" u="none" strike="noStrike" baseline="0" dirty="0"/>
              <a:t>aware of the inadequacy of the old values where old values are not able to provide proper guidance</a:t>
            </a:r>
          </a:p>
          <a:p>
            <a:pPr algn="l"/>
            <a:r>
              <a:rPr lang="en-GB" b="1" i="0" u="none" strike="noStrike" baseline="0" dirty="0"/>
              <a:t>Development of New Values – </a:t>
            </a:r>
          </a:p>
          <a:p>
            <a:pPr lvl="1"/>
            <a:r>
              <a:rPr lang="en-GB" sz="2800" b="0" i="0" u="none" strike="noStrike" baseline="0" dirty="0"/>
              <a:t>With the trainer’s support, trainees begin to examine their interpersonal </a:t>
            </a:r>
            <a:r>
              <a:rPr lang="en-GB" sz="2800" b="0" i="0" u="none" strike="noStrike" baseline="0" dirty="0" err="1"/>
              <a:t>behavior</a:t>
            </a:r>
            <a:r>
              <a:rPr lang="en-GB" sz="2800" b="0" i="0" u="none" strike="noStrike" baseline="0" dirty="0"/>
              <a:t> and giving each other feedback. </a:t>
            </a:r>
          </a:p>
          <a:p>
            <a:pPr lvl="1"/>
            <a:r>
              <a:rPr lang="en-GB" sz="2800" b="0" i="0" u="none" strike="noStrike" baseline="0" dirty="0"/>
              <a:t>The reasoning of the feedbacks are discussed which motivates trainees to experiment with range of new </a:t>
            </a:r>
            <a:r>
              <a:rPr lang="en-GB" sz="2800" b="0" i="0" u="none" strike="noStrike" baseline="0" dirty="0" err="1"/>
              <a:t>behaviors</a:t>
            </a:r>
            <a:r>
              <a:rPr lang="en-GB" sz="2800" b="0" i="0" u="none" strike="noStrike" baseline="0" dirty="0"/>
              <a:t> and values. </a:t>
            </a:r>
          </a:p>
          <a:p>
            <a:pPr lvl="1"/>
            <a:r>
              <a:rPr lang="en-GB" sz="2800" b="0" i="0" u="none" strike="noStrike" baseline="0" dirty="0"/>
              <a:t>This process constitutes the second step in the change process of the development of these values.</a:t>
            </a:r>
          </a:p>
          <a:p>
            <a:pPr algn="l"/>
            <a:r>
              <a:rPr lang="en-GB" b="1" dirty="0"/>
              <a:t>Refreezing the new ones – </a:t>
            </a:r>
          </a:p>
          <a:p>
            <a:pPr lvl="1"/>
            <a:r>
              <a:rPr lang="en-GB" sz="2800" dirty="0"/>
              <a:t>This step depends upon how much opportunity the trainees get to practice their new </a:t>
            </a:r>
            <a:r>
              <a:rPr lang="en-GB" sz="2800" dirty="0" err="1"/>
              <a:t>behaviors</a:t>
            </a:r>
            <a:r>
              <a:rPr lang="en-GB" sz="2800" dirty="0"/>
              <a:t> and values at their work place.</a:t>
            </a:r>
            <a:endParaRPr lang="en-IN" sz="2800" dirty="0"/>
          </a:p>
          <a:p>
            <a:endParaRPr lang="en-IN" dirty="0"/>
          </a:p>
        </p:txBody>
      </p:sp>
    </p:spTree>
    <p:extLst>
      <p:ext uri="{BB962C8B-B14F-4D97-AF65-F5344CB8AC3E}">
        <p14:creationId xmlns:p14="http://schemas.microsoft.com/office/powerpoint/2010/main" val="28913234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338469" y="413357"/>
            <a:ext cx="11527466" cy="6115033"/>
          </a:xfrm>
        </p:spPr>
        <p:txBody>
          <a:bodyPr>
            <a:normAutofit/>
          </a:bodyPr>
          <a:lstStyle/>
          <a:p>
            <a:pPr marL="0" indent="0" algn="l">
              <a:buNone/>
            </a:pPr>
            <a:r>
              <a:rPr lang="en-IN" sz="3200" b="1" i="0" u="none" strike="noStrike" baseline="0" dirty="0"/>
              <a:t>2) Transactional Analysis:</a:t>
            </a:r>
          </a:p>
          <a:p>
            <a:pPr lvl="1"/>
            <a:r>
              <a:rPr lang="en-GB" sz="3200" b="0" i="0" u="none" strike="noStrike" baseline="0" dirty="0"/>
              <a:t>a realistic and useful method for </a:t>
            </a:r>
            <a:r>
              <a:rPr lang="en-GB" sz="3200" b="0" i="0" u="none" strike="noStrike" baseline="0" dirty="0" err="1"/>
              <a:t>analyzing</a:t>
            </a:r>
            <a:r>
              <a:rPr lang="en-GB" sz="3200" b="0" i="0" u="none" strike="noStrike" baseline="0" dirty="0"/>
              <a:t> and understanding the </a:t>
            </a:r>
            <a:r>
              <a:rPr lang="en-GB" sz="3200" b="0" i="0" u="none" strike="noStrike" baseline="0" dirty="0" err="1"/>
              <a:t>behavior</a:t>
            </a:r>
            <a:r>
              <a:rPr lang="en-GB" sz="3200" b="0" i="0" u="none" strike="noStrike" baseline="0" dirty="0"/>
              <a:t> of others</a:t>
            </a:r>
          </a:p>
          <a:p>
            <a:pPr lvl="1"/>
            <a:r>
              <a:rPr lang="en-IN" sz="3200" dirty="0"/>
              <a:t>The motivation reaction relationship </a:t>
            </a:r>
            <a:r>
              <a:rPr lang="en-GB" sz="3200" dirty="0"/>
              <a:t>between two persons is a transaction</a:t>
            </a:r>
          </a:p>
          <a:p>
            <a:pPr lvl="1"/>
            <a:r>
              <a:rPr lang="en-GB" sz="3200" dirty="0"/>
              <a:t>Transactional analysis can be done by the ego states of an individual</a:t>
            </a:r>
          </a:p>
        </p:txBody>
      </p:sp>
      <p:pic>
        <p:nvPicPr>
          <p:cNvPr id="5" name="Picture 4">
            <a:extLst>
              <a:ext uri="{FF2B5EF4-FFF2-40B4-BE49-F238E27FC236}">
                <a16:creationId xmlns:a16="http://schemas.microsoft.com/office/drawing/2014/main" id="{146A3670-77C5-8F3E-5ECC-E82D00B05C8C}"/>
              </a:ext>
            </a:extLst>
          </p:cNvPr>
          <p:cNvPicPr>
            <a:picLocks noChangeAspect="1"/>
          </p:cNvPicPr>
          <p:nvPr/>
        </p:nvPicPr>
        <p:blipFill>
          <a:blip r:embed="rId2"/>
          <a:stretch>
            <a:fillRect/>
          </a:stretch>
        </p:blipFill>
        <p:spPr>
          <a:xfrm>
            <a:off x="3232047" y="3879201"/>
            <a:ext cx="5727905" cy="1670994"/>
          </a:xfrm>
          <a:prstGeom prst="rect">
            <a:avLst/>
          </a:prstGeom>
        </p:spPr>
      </p:pic>
    </p:spTree>
    <p:extLst>
      <p:ext uri="{BB962C8B-B14F-4D97-AF65-F5344CB8AC3E}">
        <p14:creationId xmlns:p14="http://schemas.microsoft.com/office/powerpoint/2010/main" val="19193949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289" y="0"/>
            <a:ext cx="11825176" cy="6624084"/>
          </a:xfrm>
        </p:spPr>
        <p:txBody>
          <a:bodyPr>
            <a:noAutofit/>
          </a:bodyPr>
          <a:lstStyle/>
          <a:p>
            <a:pPr algn="l"/>
            <a:r>
              <a:rPr lang="en-IN" sz="2200" b="1" i="0" u="none" strike="noStrike" baseline="0" dirty="0"/>
              <a:t>Child:</a:t>
            </a:r>
            <a:r>
              <a:rPr lang="en-GB" sz="2200" dirty="0"/>
              <a:t>It is a collection of recordings in the brain of an individual of </a:t>
            </a:r>
            <a:r>
              <a:rPr lang="en-GB" sz="2200" dirty="0" err="1"/>
              <a:t>behaviors</a:t>
            </a:r>
            <a:r>
              <a:rPr lang="en-GB" sz="2200" dirty="0"/>
              <a:t>, attitudes, and impulses which come to her naturally from her own understanding as a child</a:t>
            </a:r>
            <a:endParaRPr lang="en-IN" sz="2200" dirty="0"/>
          </a:p>
          <a:p>
            <a:pPr algn="l"/>
            <a:r>
              <a:rPr lang="en-GB" sz="2200" b="0" i="0" u="none" strike="noStrike" baseline="0" dirty="0"/>
              <a:t>The characteristics of this ego are to be spontaneous, intense, unconfident, reliant, probing, anxious, etc</a:t>
            </a:r>
          </a:p>
          <a:p>
            <a:pPr algn="l"/>
            <a:r>
              <a:rPr lang="en-GB" sz="2200" b="0" i="0" u="none" strike="noStrike" baseline="0" dirty="0"/>
              <a:t>“I guess”, “I suppose”, etc. and non verbal clues like, giggling, </a:t>
            </a:r>
            <a:r>
              <a:rPr lang="en-IN" sz="2200" b="0" i="0" u="none" strike="noStrike" baseline="0" dirty="0"/>
              <a:t>coyness, silent, attention seeking etc.</a:t>
            </a:r>
          </a:p>
          <a:p>
            <a:pPr algn="l"/>
            <a:r>
              <a:rPr lang="en-IN" sz="2200" b="1" dirty="0"/>
              <a:t>Parent: </a:t>
            </a:r>
            <a:r>
              <a:rPr lang="en-GB" sz="2200" dirty="0"/>
              <a:t>It is a collection of recordings in the brain of an individual of </a:t>
            </a:r>
            <a:r>
              <a:rPr lang="en-GB" sz="2200" dirty="0" err="1"/>
              <a:t>behaviors</a:t>
            </a:r>
            <a:r>
              <a:rPr lang="en-GB" sz="2200" dirty="0"/>
              <a:t>, attitudes, and impulses imposed on her in her childhood from various sources such as, social, parents, friends, etc</a:t>
            </a:r>
            <a:r>
              <a:rPr lang="en-IN" sz="2200" dirty="0"/>
              <a:t> </a:t>
            </a:r>
          </a:p>
          <a:p>
            <a:pPr algn="l"/>
            <a:r>
              <a:rPr lang="en-IN" sz="2200" b="0" i="0" u="none" strike="noStrike" baseline="0" dirty="0"/>
              <a:t>The </a:t>
            </a:r>
            <a:r>
              <a:rPr lang="en-GB" sz="2200" b="0" i="0" u="none" strike="noStrike" baseline="0" dirty="0"/>
              <a:t>characteristics of this ego are to be overprotective, isolated, rigid, bossy</a:t>
            </a:r>
          </a:p>
          <a:p>
            <a:pPr algn="l"/>
            <a:r>
              <a:rPr lang="en-GB" sz="2200" b="0" i="0" u="none" strike="noStrike" baseline="0" dirty="0"/>
              <a:t>Verbal clues that a person is operating from its parent states are the use of words like, always, should, never, etc and non-verbal clues such as, raising eyebrows, pointing an accusing finger at somebody, etc.</a:t>
            </a:r>
          </a:p>
          <a:p>
            <a:pPr algn="l"/>
            <a:r>
              <a:rPr lang="en-GB" sz="2200" b="1" i="0" u="none" strike="noStrike" baseline="0" dirty="0"/>
              <a:t>Adult: </a:t>
            </a:r>
            <a:r>
              <a:rPr lang="en-GB" sz="2200" b="0" i="0" u="none" strike="noStrike" baseline="0" dirty="0"/>
              <a:t>It is a collection of reality testing, rational </a:t>
            </a:r>
            <a:r>
              <a:rPr lang="en-GB" sz="2200" b="0" i="0" u="none" strike="noStrike" baseline="0" dirty="0" err="1"/>
              <a:t>behavior</a:t>
            </a:r>
            <a:r>
              <a:rPr lang="en-GB" sz="2200" b="0" i="0" u="none" strike="noStrike" baseline="0" dirty="0"/>
              <a:t>, decision making, etc. </a:t>
            </a:r>
          </a:p>
          <a:p>
            <a:pPr algn="l"/>
            <a:r>
              <a:rPr lang="en-GB" sz="2200" b="0" i="0" u="none" strike="noStrike" baseline="0" dirty="0"/>
              <a:t>A person in this ego state verifies, updates the data which she has received from the other two states. </a:t>
            </a:r>
          </a:p>
          <a:p>
            <a:pPr algn="l"/>
            <a:r>
              <a:rPr lang="en-GB" sz="2200" b="0" i="0" u="none" strike="noStrike" baseline="0" dirty="0"/>
              <a:t>It is a shift from the taught and felt concepts to tested concepts. </a:t>
            </a:r>
          </a:p>
          <a:p>
            <a:pPr algn="l"/>
            <a:r>
              <a:rPr lang="en-GB" sz="2200" b="0" i="0" u="none" strike="noStrike" baseline="0" dirty="0"/>
              <a:t>All of us evoke </a:t>
            </a:r>
            <a:r>
              <a:rPr lang="en-GB" sz="2200" b="0" i="0" u="none" strike="noStrike" baseline="0" dirty="0" err="1"/>
              <a:t>behavior</a:t>
            </a:r>
            <a:r>
              <a:rPr lang="en-GB" sz="2200" b="0" i="0" u="none" strike="noStrike" baseline="0" dirty="0"/>
              <a:t> from one ego state which is responded to by the other person from any of these three states.</a:t>
            </a:r>
            <a:endParaRPr lang="en-GB" sz="2200" dirty="0"/>
          </a:p>
          <a:p>
            <a:pPr algn="l"/>
            <a:endParaRPr lang="en-IN" sz="2000" dirty="0"/>
          </a:p>
          <a:p>
            <a:endParaRPr lang="en-IN" sz="2000" dirty="0"/>
          </a:p>
        </p:txBody>
      </p:sp>
    </p:spTree>
    <p:extLst>
      <p:ext uri="{BB962C8B-B14F-4D97-AF65-F5344CB8AC3E}">
        <p14:creationId xmlns:p14="http://schemas.microsoft.com/office/powerpoint/2010/main" val="42553414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25819" y="103150"/>
            <a:ext cx="11931502" cy="6531565"/>
          </a:xfrm>
        </p:spPr>
        <p:txBody>
          <a:bodyPr>
            <a:noAutofit/>
          </a:bodyPr>
          <a:lstStyle/>
          <a:p>
            <a:pPr marL="0" indent="0" algn="l">
              <a:buNone/>
            </a:pPr>
            <a:r>
              <a:rPr lang="en-IN" b="1" i="0" u="none" strike="noStrike" baseline="0" dirty="0"/>
              <a:t>3.) Lecture: </a:t>
            </a:r>
            <a:r>
              <a:rPr lang="en-GB" b="0" i="0" u="none" strike="noStrike" baseline="0" dirty="0"/>
              <a:t>Lecture is given to enhance the knowledge of listener or to give him the theoretical aspect of a topic</a:t>
            </a:r>
          </a:p>
          <a:p>
            <a:pPr algn="l"/>
            <a:r>
              <a:rPr lang="en-GB" dirty="0"/>
              <a:t>It may be interactive or non interactive.</a:t>
            </a:r>
          </a:p>
          <a:p>
            <a:pPr algn="l"/>
            <a:r>
              <a:rPr lang="en-GB" b="0" i="0" u="none" strike="noStrike" baseline="0" dirty="0"/>
              <a:t>Straight lecture method consists of presenting information it does not involve any kind of interaction between the trainer and the trainees</a:t>
            </a:r>
          </a:p>
          <a:p>
            <a:pPr algn="l"/>
            <a:r>
              <a:rPr lang="en-GB" b="0" i="0" u="none" strike="noStrike" baseline="0" dirty="0"/>
              <a:t>A good lecture consists of introduction of the topic, purpose of the lecture, and priorities and preferences of the order in which the topic will be covered.</a:t>
            </a:r>
          </a:p>
          <a:p>
            <a:pPr marL="0" indent="0" algn="l">
              <a:buNone/>
            </a:pPr>
            <a:r>
              <a:rPr lang="en-GB" b="1" i="0" u="none" strike="noStrike" baseline="0" dirty="0"/>
              <a:t>4.) Games and Simulations </a:t>
            </a:r>
            <a:r>
              <a:rPr lang="en-GB" b="0" i="0" u="none" strike="noStrike" baseline="0" dirty="0"/>
              <a:t>are structured and sometimes unstructured, that are usually played for enjoyment sometimes are used for training purposes as an educational tool.</a:t>
            </a:r>
          </a:p>
          <a:p>
            <a:pPr algn="l"/>
            <a:r>
              <a:rPr lang="en-IN" b="0" i="0" u="none" strike="noStrike" baseline="0" dirty="0"/>
              <a:t>Training games and simulations </a:t>
            </a:r>
            <a:r>
              <a:rPr lang="en-GB" b="0" i="0" u="none" strike="noStrike" baseline="0" dirty="0"/>
              <a:t>are different from work as they are designed to reproduce or simulate events, circumstances, processes that take place in trainees’ job</a:t>
            </a:r>
          </a:p>
          <a:p>
            <a:pPr algn="l"/>
            <a:r>
              <a:rPr lang="en-GB" b="0" i="0" u="none" strike="noStrike" baseline="0" dirty="0"/>
              <a:t>A Training Game is defined as spirited activity or exercise in which trainees compete with each other according to the defined set of rules.</a:t>
            </a:r>
          </a:p>
          <a:p>
            <a:pPr marL="0" indent="0" algn="l">
              <a:buNone/>
            </a:pPr>
            <a:endParaRPr lang="en-IN" dirty="0"/>
          </a:p>
        </p:txBody>
      </p:sp>
    </p:spTree>
    <p:extLst>
      <p:ext uri="{BB962C8B-B14F-4D97-AF65-F5344CB8AC3E}">
        <p14:creationId xmlns:p14="http://schemas.microsoft.com/office/powerpoint/2010/main" val="4617687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8200" y="446567"/>
            <a:ext cx="10515600" cy="5730396"/>
          </a:xfrm>
        </p:spPr>
        <p:txBody>
          <a:bodyPr/>
          <a:lstStyle/>
          <a:p>
            <a:pPr algn="l"/>
            <a:r>
              <a:rPr lang="en-GB" b="0" i="0" u="none" strike="noStrike" baseline="0" dirty="0"/>
              <a:t>Simulation is creating computer versions of real-life games. Simulation is about imitating or making judgment or opining how events might occur in a real situation.</a:t>
            </a:r>
            <a:endParaRPr lang="en-IN" dirty="0"/>
          </a:p>
          <a:p>
            <a:pPr algn="l"/>
            <a:r>
              <a:rPr lang="en-IN" b="0" i="0" u="none" strike="noStrike" baseline="0" dirty="0"/>
              <a:t>It can entail </a:t>
            </a:r>
            <a:r>
              <a:rPr lang="en-GB" b="0" i="0" u="none" strike="noStrike" baseline="0" dirty="0"/>
              <a:t>intricate numerical </a:t>
            </a:r>
            <a:r>
              <a:rPr lang="en-GB" b="0" i="0" u="none" strike="noStrike" baseline="0" dirty="0" err="1"/>
              <a:t>modeling</a:t>
            </a:r>
            <a:r>
              <a:rPr lang="en-GB" b="0" i="0" u="none" strike="noStrike" baseline="0" dirty="0"/>
              <a:t>, role playing without the support of technology, or combinations.</a:t>
            </a:r>
          </a:p>
          <a:p>
            <a:pPr algn="l"/>
            <a:endParaRPr lang="en-IN" dirty="0"/>
          </a:p>
        </p:txBody>
      </p:sp>
    </p:spTree>
    <p:extLst>
      <p:ext uri="{BB962C8B-B14F-4D97-AF65-F5344CB8AC3E}">
        <p14:creationId xmlns:p14="http://schemas.microsoft.com/office/powerpoint/2010/main" val="4439631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444794" y="464657"/>
            <a:ext cx="11357345" cy="5946776"/>
          </a:xfrm>
        </p:spPr>
        <p:txBody>
          <a:bodyPr>
            <a:normAutofit/>
          </a:bodyPr>
          <a:lstStyle/>
          <a:p>
            <a:pPr algn="l"/>
            <a:r>
              <a:rPr lang="en-IN" b="0" i="0" u="none" strike="noStrike" baseline="0" dirty="0"/>
              <a:t>The </a:t>
            </a:r>
            <a:r>
              <a:rPr lang="en-GB" b="0" i="0" u="none" strike="noStrike" baseline="0" dirty="0"/>
              <a:t>various methods that come under Games and Simulations are:</a:t>
            </a:r>
          </a:p>
          <a:p>
            <a:pPr marL="0" indent="0" algn="l">
              <a:buNone/>
            </a:pPr>
            <a:r>
              <a:rPr lang="en-IN" dirty="0"/>
              <a:t>	</a:t>
            </a:r>
            <a:r>
              <a:rPr lang="en-IN" b="0" i="0" u="none" strike="noStrike" baseline="0" dirty="0"/>
              <a:t>BEHAVIOR-MODELLING</a:t>
            </a:r>
          </a:p>
          <a:p>
            <a:pPr marL="0" indent="0" algn="l">
              <a:buNone/>
            </a:pPr>
            <a:r>
              <a:rPr lang="en-IN" dirty="0"/>
              <a:t>	</a:t>
            </a:r>
            <a:r>
              <a:rPr lang="en-IN" b="0" i="0" u="none" strike="noStrike" baseline="0" dirty="0"/>
              <a:t> BUSINESS GAMES</a:t>
            </a:r>
          </a:p>
          <a:p>
            <a:pPr marL="0" indent="0" algn="l">
              <a:buNone/>
            </a:pPr>
            <a:r>
              <a:rPr lang="en-IN" dirty="0"/>
              <a:t>	</a:t>
            </a:r>
            <a:r>
              <a:rPr lang="en-IN" b="0" i="0" u="none" strike="noStrike" baseline="0" dirty="0"/>
              <a:t>CASE STUDIES</a:t>
            </a:r>
          </a:p>
          <a:p>
            <a:pPr marL="0" indent="0" algn="l">
              <a:buNone/>
            </a:pPr>
            <a:r>
              <a:rPr lang="en-IN" dirty="0"/>
              <a:t>	</a:t>
            </a:r>
            <a:r>
              <a:rPr lang="en-IN" b="0" i="0" u="none" strike="noStrike" baseline="0" dirty="0"/>
              <a:t>EQUIPMENT STIMULATORS</a:t>
            </a:r>
          </a:p>
          <a:p>
            <a:pPr marL="0" indent="0" algn="l">
              <a:buNone/>
            </a:pPr>
            <a:r>
              <a:rPr lang="en-IN" dirty="0"/>
              <a:t>	</a:t>
            </a:r>
            <a:r>
              <a:rPr lang="en-IN" b="0" i="0" u="none" strike="noStrike" baseline="0" dirty="0"/>
              <a:t>IN-BASKET TECHNIQUE</a:t>
            </a:r>
          </a:p>
          <a:p>
            <a:pPr marL="0" indent="0" algn="l">
              <a:buNone/>
            </a:pPr>
            <a:r>
              <a:rPr lang="en-IN" dirty="0"/>
              <a:t>	</a:t>
            </a:r>
            <a:r>
              <a:rPr lang="en-IN" b="0" i="0" u="none" strike="noStrike" baseline="0" dirty="0"/>
              <a:t>ROLE PLAYS</a:t>
            </a:r>
            <a:endParaRPr lang="en-IN" sz="4000" dirty="0"/>
          </a:p>
        </p:txBody>
      </p:sp>
      <p:pic>
        <p:nvPicPr>
          <p:cNvPr id="2" name="Picture 1">
            <a:extLst>
              <a:ext uri="{FF2B5EF4-FFF2-40B4-BE49-F238E27FC236}">
                <a16:creationId xmlns:a16="http://schemas.microsoft.com/office/drawing/2014/main" id="{D4AA1E0B-8130-FD57-12E3-AC9E798F9B72}"/>
              </a:ext>
            </a:extLst>
          </p:cNvPr>
          <p:cNvPicPr>
            <a:picLocks noChangeAspect="1"/>
          </p:cNvPicPr>
          <p:nvPr/>
        </p:nvPicPr>
        <p:blipFill>
          <a:blip r:embed="rId2"/>
          <a:stretch>
            <a:fillRect/>
          </a:stretch>
        </p:blipFill>
        <p:spPr>
          <a:xfrm>
            <a:off x="5197549" y="3429000"/>
            <a:ext cx="6134986" cy="3110495"/>
          </a:xfrm>
          <a:prstGeom prst="rect">
            <a:avLst/>
          </a:prstGeom>
        </p:spPr>
      </p:pic>
    </p:spTree>
    <p:extLst>
      <p:ext uri="{BB962C8B-B14F-4D97-AF65-F5344CB8AC3E}">
        <p14:creationId xmlns:p14="http://schemas.microsoft.com/office/powerpoint/2010/main" val="32364746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18255"/>
            <a:ext cx="10515600" cy="1325563"/>
          </a:xfrm>
        </p:spPr>
        <p:txBody>
          <a:bodyPr/>
          <a:lstStyle/>
          <a:p>
            <a:r>
              <a:rPr lang="en-GB" dirty="0">
                <a:solidFill>
                  <a:srgbClr val="FF0000"/>
                </a:solidFill>
              </a:rPr>
              <a:t>Wages and Salary administration</a:t>
            </a:r>
            <a:endParaRPr lang="en-IN" dirty="0">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53408" y="1253331"/>
            <a:ext cx="11750749" cy="5349488"/>
          </a:xfrm>
        </p:spPr>
        <p:txBody>
          <a:bodyPr>
            <a:normAutofit/>
          </a:bodyPr>
          <a:lstStyle/>
          <a:p>
            <a:r>
              <a:rPr lang="en-GB" b="0" i="0" u="none" strike="noStrike" baseline="0" dirty="0"/>
              <a:t>Employees’ compensation is one of the major determinants of employee satisfaction</a:t>
            </a:r>
          </a:p>
          <a:p>
            <a:pPr algn="l"/>
            <a:r>
              <a:rPr lang="en-GB" b="0" i="0" u="none" strike="noStrike" baseline="0" dirty="0"/>
              <a:t>The compensation policy and the reward system of an organization are viewed by the employee as a indicators of the management’s attitude and concern for them</a:t>
            </a:r>
          </a:p>
          <a:p>
            <a:pPr algn="l"/>
            <a:r>
              <a:rPr lang="en-GB" b="0" i="0" u="none" strike="noStrike" baseline="0" dirty="0"/>
              <a:t>employees moral, motivation, productivity and their relationship with the management more or less associated with the compensation management system</a:t>
            </a:r>
          </a:p>
          <a:p>
            <a:pPr algn="l"/>
            <a:r>
              <a:rPr lang="en-GB" b="0" i="0" u="none" strike="noStrike" baseline="0" dirty="0"/>
              <a:t>Job evaluation helps to determine the relative worth of job in an organization in a systematic, </a:t>
            </a:r>
            <a:r>
              <a:rPr lang="en-IN" b="0" i="0" u="none" strike="noStrike" baseline="0" dirty="0"/>
              <a:t>consistent and accurate manner.</a:t>
            </a:r>
          </a:p>
          <a:p>
            <a:pPr algn="l"/>
            <a:r>
              <a:rPr lang="en-IN" b="0" i="0" u="none" strike="noStrike" baseline="0" dirty="0"/>
              <a:t>The basic </a:t>
            </a:r>
            <a:r>
              <a:rPr lang="en-GB" b="0" i="0" u="none" strike="noStrike" baseline="0" dirty="0"/>
              <a:t>wage, incentives and rewards and benefits, together from compensation package of an employee</a:t>
            </a:r>
            <a:endParaRPr lang="en-IN" sz="4000" dirty="0"/>
          </a:p>
        </p:txBody>
      </p:sp>
    </p:spTree>
    <p:extLst>
      <p:ext uri="{BB962C8B-B14F-4D97-AF65-F5344CB8AC3E}">
        <p14:creationId xmlns:p14="http://schemas.microsoft.com/office/powerpoint/2010/main" val="36773099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0"/>
            <a:ext cx="10515600" cy="1325563"/>
          </a:xfrm>
        </p:spPr>
        <p:txBody>
          <a:bodyPr>
            <a:normAutofit/>
          </a:bodyPr>
          <a:lstStyle/>
          <a:p>
            <a:r>
              <a:rPr lang="en-GB" sz="3600" b="1" i="0" u="none" strike="noStrike" baseline="0" dirty="0">
                <a:solidFill>
                  <a:srgbClr val="FF0000"/>
                </a:solidFill>
                <a:latin typeface="+mn-lt"/>
              </a:rPr>
              <a:t>Principles of Wage and Salary Administration</a:t>
            </a:r>
            <a:endParaRPr lang="en-IN" sz="72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327836" y="1253331"/>
            <a:ext cx="11484935" cy="5328222"/>
          </a:xfrm>
        </p:spPr>
        <p:txBody>
          <a:bodyPr>
            <a:normAutofit lnSpcReduction="10000"/>
          </a:bodyPr>
          <a:lstStyle/>
          <a:p>
            <a:r>
              <a:rPr lang="en-GB" b="0" i="0" u="none" strike="noStrike" baseline="0" dirty="0">
                <a:latin typeface="TimesNewRomanPSMT"/>
              </a:rPr>
              <a:t>should be develop and maintain based on sound principles</a:t>
            </a:r>
          </a:p>
          <a:p>
            <a:pPr marL="0" indent="0" algn="l">
              <a:buNone/>
            </a:pPr>
            <a:r>
              <a:rPr lang="en-GB" b="0" i="0" u="none" strike="noStrike" baseline="0" dirty="0">
                <a:latin typeface="TimesNewRomanPSMT"/>
              </a:rPr>
              <a:t>1) maintaining equity in the distribution of wages and </a:t>
            </a:r>
            <a:r>
              <a:rPr lang="en-IN" b="0" i="0" u="none" strike="noStrike" baseline="0" dirty="0">
                <a:latin typeface="TimesNewRomanPSMT"/>
              </a:rPr>
              <a:t>salaries in the organization (Plan and system)</a:t>
            </a:r>
          </a:p>
          <a:p>
            <a:pPr marL="0" indent="0" algn="l">
              <a:buNone/>
            </a:pPr>
            <a:r>
              <a:rPr lang="en-GB" b="0" i="0" u="none" strike="noStrike" baseline="0" dirty="0">
                <a:latin typeface="TimesNewRomanPSMT"/>
              </a:rPr>
              <a:t>2) Maintaining competitiveness in the wage market (the general level of wage and salary should be reasonably in line with that prevailing in the market)</a:t>
            </a:r>
          </a:p>
          <a:p>
            <a:pPr marL="0" indent="0" algn="l">
              <a:buNone/>
            </a:pPr>
            <a:r>
              <a:rPr lang="en-GB" b="0" i="0" u="none" strike="noStrike" baseline="0" dirty="0">
                <a:latin typeface="TimesNewRomanPSMT"/>
              </a:rPr>
              <a:t>3) Matching employees’ expectations and it should avoid unjustified discrimination.</a:t>
            </a:r>
          </a:p>
          <a:p>
            <a:pPr marL="0" indent="0" algn="l">
              <a:buNone/>
            </a:pPr>
            <a:r>
              <a:rPr lang="en-GB" b="0" i="0" u="none" strike="noStrike" baseline="0" dirty="0">
                <a:latin typeface="TimesNewRomanPSMT"/>
              </a:rPr>
              <a:t>4) differences in the compensation package should be based on contribution, productivity, job performance, </a:t>
            </a:r>
            <a:r>
              <a:rPr lang="en-IN" b="0" i="0" u="none" strike="noStrike" baseline="0" dirty="0">
                <a:latin typeface="TimesNewRomanPSMT"/>
              </a:rPr>
              <a:t>achievement etc.</a:t>
            </a:r>
          </a:p>
          <a:p>
            <a:pPr marL="0" indent="0" algn="l">
              <a:buNone/>
            </a:pPr>
            <a:r>
              <a:rPr lang="en-GB" b="0" i="0" u="none" strike="noStrike" baseline="0" dirty="0">
                <a:latin typeface="TimesNewRomanPSMT"/>
              </a:rPr>
              <a:t>5) Devising a system that is the most efficient for the organization, as far as possible it must eliminate any discrepancies or exploitation of the employees.</a:t>
            </a:r>
          </a:p>
          <a:p>
            <a:pPr marL="0" indent="0" algn="l">
              <a:buNone/>
            </a:pPr>
            <a:r>
              <a:rPr lang="en-GB" b="0" i="0" u="none" strike="noStrike" baseline="0" dirty="0">
                <a:latin typeface="TimesNewRomanPSMT"/>
              </a:rPr>
              <a:t>6) The compensation system should formulate and define rules and regulations for determining, changing, adjusting wages in the organization.</a:t>
            </a:r>
            <a:endParaRPr lang="en-IN" sz="4000" dirty="0"/>
          </a:p>
        </p:txBody>
      </p:sp>
    </p:spTree>
    <p:extLst>
      <p:ext uri="{BB962C8B-B14F-4D97-AF65-F5344CB8AC3E}">
        <p14:creationId xmlns:p14="http://schemas.microsoft.com/office/powerpoint/2010/main" val="1896677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25818" y="177579"/>
            <a:ext cx="11761381" cy="6499668"/>
          </a:xfrm>
        </p:spPr>
        <p:txBody>
          <a:bodyPr/>
          <a:lstStyle/>
          <a:p>
            <a:pPr marL="0" indent="0" algn="l">
              <a:buNone/>
            </a:pPr>
            <a:r>
              <a:rPr lang="en-GB" sz="2800" b="0" i="0" u="none" strike="noStrike" baseline="0" dirty="0">
                <a:latin typeface="TimesNewRomanPSMT"/>
              </a:rPr>
              <a:t>7) It must ensure fairness, should maintain harmonious relationship </a:t>
            </a:r>
          </a:p>
          <a:p>
            <a:pPr marL="0" indent="0" algn="l">
              <a:buNone/>
            </a:pPr>
            <a:r>
              <a:rPr lang="en-GB" sz="2800" b="0" i="0" u="none" strike="noStrike" baseline="0" dirty="0">
                <a:latin typeface="TimesNewRomanPSMT"/>
              </a:rPr>
              <a:t>8) Compensation system should be flexible enough so that future changes can be incorporated.</a:t>
            </a:r>
          </a:p>
          <a:p>
            <a:pPr marL="0" indent="0" algn="l">
              <a:buNone/>
            </a:pPr>
            <a:r>
              <a:rPr lang="en-GB" sz="2800" b="0" i="0" u="none" strike="noStrike" baseline="0" dirty="0">
                <a:latin typeface="TimesNewRomanPSMT"/>
              </a:rPr>
              <a:t>9) The wage and salary administration should take care of and comply all the rules and regulations laid down by the legislator for protecting the employees’ interest.</a:t>
            </a:r>
          </a:p>
          <a:p>
            <a:pPr marL="0" indent="0" algn="l">
              <a:buNone/>
            </a:pPr>
            <a:r>
              <a:rPr lang="en-GB" sz="2800" b="0" i="0" u="none" strike="noStrike" baseline="0" dirty="0">
                <a:latin typeface="TimesNewRomanPSMT"/>
              </a:rPr>
              <a:t>10) Optimization of management and employee interests.</a:t>
            </a:r>
            <a:endParaRPr lang="en-IN" dirty="0"/>
          </a:p>
        </p:txBody>
      </p:sp>
    </p:spTree>
    <p:extLst>
      <p:ext uri="{BB962C8B-B14F-4D97-AF65-F5344CB8AC3E}">
        <p14:creationId xmlns:p14="http://schemas.microsoft.com/office/powerpoint/2010/main" val="2172533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18255"/>
            <a:ext cx="10515600" cy="1325563"/>
          </a:xfrm>
        </p:spPr>
        <p:txBody>
          <a:bodyPr>
            <a:normAutofit/>
          </a:bodyPr>
          <a:lstStyle/>
          <a:p>
            <a:r>
              <a:rPr lang="en-GB" sz="3600" b="1" i="0" u="none" strike="noStrike" baseline="0" dirty="0">
                <a:solidFill>
                  <a:srgbClr val="FF0000"/>
                </a:solidFill>
                <a:latin typeface="+mn-lt"/>
              </a:rPr>
              <a:t>Essentials of Sound Wage and Salary Administration</a:t>
            </a:r>
            <a:endParaRPr lang="en-IN" sz="72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0" y="1123877"/>
            <a:ext cx="12192000" cy="5715868"/>
          </a:xfrm>
        </p:spPr>
        <p:txBody>
          <a:bodyPr>
            <a:normAutofit/>
          </a:bodyPr>
          <a:lstStyle/>
          <a:p>
            <a:pPr algn="l"/>
            <a:r>
              <a:rPr lang="en-GB" sz="3200" b="0" i="0" u="none" strike="noStrike" baseline="0" dirty="0"/>
              <a:t>the pre requisites for the sound compensation </a:t>
            </a:r>
            <a:r>
              <a:rPr lang="en-IN" sz="3200" b="0" i="0" u="none" strike="noStrike" baseline="0" dirty="0"/>
              <a:t>system are</a:t>
            </a:r>
          </a:p>
          <a:p>
            <a:pPr marL="571500" indent="-571500" algn="l">
              <a:buAutoNum type="romanUcPeriod"/>
            </a:pPr>
            <a:r>
              <a:rPr lang="en-GB" sz="3200" b="1" i="0" u="none" strike="noStrike" baseline="0" dirty="0"/>
              <a:t>Rational Job Analysis:</a:t>
            </a:r>
            <a:r>
              <a:rPr lang="en-GB" sz="3200" b="0" i="0" u="none" strike="noStrike" baseline="0" dirty="0"/>
              <a:t> </a:t>
            </a:r>
          </a:p>
          <a:p>
            <a:r>
              <a:rPr lang="en-GB" sz="3200" b="0" i="0" u="none" strike="noStrike" baseline="0" dirty="0"/>
              <a:t>It reveals detailed aspects of the job, like duties, responsibilities associated with the performance,</a:t>
            </a:r>
          </a:p>
          <a:p>
            <a:pPr algn="l"/>
            <a:r>
              <a:rPr lang="en-GB" sz="3200" b="0" i="0" u="none" strike="noStrike" baseline="0" dirty="0"/>
              <a:t>It gives performance standards as a fair parameter for evaluation of the performance. </a:t>
            </a:r>
          </a:p>
          <a:p>
            <a:pPr algn="l"/>
            <a:r>
              <a:rPr lang="en-GB" sz="3200" b="0" i="0" u="none" strike="noStrike" baseline="0" dirty="0"/>
              <a:t>It gives fair idea about job specification i.e. qualification, experience, skill and other essential requirements that job performer must satisfy. </a:t>
            </a:r>
          </a:p>
          <a:p>
            <a:pPr algn="l"/>
            <a:r>
              <a:rPr lang="en-GB" sz="3200" b="0" i="0" u="none" strike="noStrike" baseline="0" dirty="0"/>
              <a:t>Thus rational job analysis always put policy decider in a better condition to lay down appropriate content in policy design.</a:t>
            </a:r>
            <a:endParaRPr lang="en-IN" sz="4400" dirty="0"/>
          </a:p>
        </p:txBody>
      </p:sp>
    </p:spTree>
    <p:extLst>
      <p:ext uri="{BB962C8B-B14F-4D97-AF65-F5344CB8AC3E}">
        <p14:creationId xmlns:p14="http://schemas.microsoft.com/office/powerpoint/2010/main" val="26624720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00246" y="211063"/>
            <a:ext cx="11516833" cy="6435873"/>
          </a:xfrm>
        </p:spPr>
        <p:txBody>
          <a:bodyPr>
            <a:normAutofit/>
          </a:bodyPr>
          <a:lstStyle/>
          <a:p>
            <a:pPr marL="0" indent="0" algn="l">
              <a:buNone/>
            </a:pPr>
            <a:r>
              <a:rPr lang="en-GB" sz="3200" b="1" i="0" u="none" strike="noStrike" baseline="0" dirty="0"/>
              <a:t>2. Proper Job Evaluation: </a:t>
            </a:r>
          </a:p>
          <a:p>
            <a:pPr algn="l"/>
            <a:r>
              <a:rPr lang="en-GB" sz="3200" dirty="0"/>
              <a:t>Job evaluation is a systematic process of </a:t>
            </a:r>
            <a:r>
              <a:rPr lang="en-GB" sz="3200" dirty="0" err="1"/>
              <a:t>analyzing</a:t>
            </a:r>
            <a:r>
              <a:rPr lang="en-GB" sz="3200" dirty="0"/>
              <a:t> and evaluating jobs to determine the relative worth of job in an organization. </a:t>
            </a:r>
          </a:p>
          <a:p>
            <a:pPr algn="l"/>
            <a:r>
              <a:rPr lang="en-GB" sz="3200" b="0" i="0" u="none" strike="noStrike" baseline="0" dirty="0"/>
              <a:t>It forms the basis for designing the sound compensation system in an organization. </a:t>
            </a:r>
          </a:p>
          <a:p>
            <a:pPr algn="l"/>
            <a:r>
              <a:rPr lang="en-GB" sz="3200" b="0" i="0" u="none" strike="noStrike" baseline="0" dirty="0"/>
              <a:t>the perceived fairness of approach adopted under </a:t>
            </a:r>
            <a:r>
              <a:rPr lang="en-GB" sz="3200" dirty="0"/>
              <a:t>wages and salary administration</a:t>
            </a:r>
            <a:r>
              <a:rPr lang="en-GB" sz="3200" b="0" i="0" u="none" strike="noStrike" baseline="0" dirty="0"/>
              <a:t> have a immense influence on employee morale, motivation </a:t>
            </a:r>
            <a:r>
              <a:rPr lang="en-IN" sz="3200" b="0" i="0" u="none" strike="noStrike" baseline="0" dirty="0"/>
              <a:t>and satisfaction, </a:t>
            </a:r>
          </a:p>
          <a:p>
            <a:pPr algn="l"/>
            <a:r>
              <a:rPr lang="en-IN" sz="3200" b="0" i="0" u="none" strike="noStrike" baseline="0" dirty="0"/>
              <a:t>proper job evaluation exercise demands sensible consideration</a:t>
            </a:r>
            <a:endParaRPr lang="en-IN" sz="4400" dirty="0"/>
          </a:p>
        </p:txBody>
      </p:sp>
    </p:spTree>
    <p:extLst>
      <p:ext uri="{BB962C8B-B14F-4D97-AF65-F5344CB8AC3E}">
        <p14:creationId xmlns:p14="http://schemas.microsoft.com/office/powerpoint/2010/main" val="39534653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57715" y="166945"/>
            <a:ext cx="11867707" cy="6552831"/>
          </a:xfrm>
        </p:spPr>
        <p:txBody>
          <a:bodyPr>
            <a:normAutofit/>
          </a:bodyPr>
          <a:lstStyle/>
          <a:p>
            <a:pPr marL="0" indent="0">
              <a:buNone/>
            </a:pPr>
            <a:r>
              <a:rPr lang="en-GB" sz="3600" b="1" i="0" u="none" strike="noStrike" baseline="0" dirty="0"/>
              <a:t>3. In Depth Knowledge About an Organization and Market Factors:</a:t>
            </a:r>
          </a:p>
          <a:p>
            <a:pPr algn="l"/>
            <a:r>
              <a:rPr lang="en-GB" sz="3600" b="0" i="0" u="none" strike="noStrike" baseline="0" dirty="0"/>
              <a:t>the size and structure of the organization</a:t>
            </a:r>
          </a:p>
          <a:p>
            <a:pPr algn="l"/>
            <a:r>
              <a:rPr lang="en-GB" sz="3600" b="0" i="0" u="none" strike="noStrike" baseline="0" dirty="0"/>
              <a:t>the industry in which it operates, </a:t>
            </a:r>
          </a:p>
          <a:p>
            <a:pPr algn="l"/>
            <a:r>
              <a:rPr lang="en-GB" sz="3600" b="0" i="0" u="none" strike="noStrike" baseline="0" dirty="0"/>
              <a:t>the strength of employees union, </a:t>
            </a:r>
          </a:p>
          <a:p>
            <a:pPr algn="l"/>
            <a:r>
              <a:rPr lang="en-GB" sz="3600" b="0" i="0" u="none" strike="noStrike" baseline="0" dirty="0"/>
              <a:t>position of a person and his importance to the organization, </a:t>
            </a:r>
          </a:p>
          <a:p>
            <a:pPr algn="l"/>
            <a:r>
              <a:rPr lang="en-GB" sz="3600" b="0" i="0" u="none" strike="noStrike" baseline="0" dirty="0"/>
              <a:t>demand and supply for particular skill sets in the industry, </a:t>
            </a:r>
          </a:p>
          <a:p>
            <a:pPr algn="l"/>
            <a:r>
              <a:rPr lang="en-GB" sz="3600" b="0" i="0" u="none" strike="noStrike" baseline="0" dirty="0"/>
              <a:t>organizational ability </a:t>
            </a:r>
          </a:p>
          <a:p>
            <a:pPr algn="l"/>
            <a:r>
              <a:rPr lang="en-GB" sz="3600" b="0" i="0" u="none" strike="noStrike" baseline="0" dirty="0"/>
              <a:t>capacity to pay and its economic condition like profitability, </a:t>
            </a:r>
          </a:p>
          <a:p>
            <a:pPr algn="l"/>
            <a:r>
              <a:rPr lang="en-GB" sz="3600" b="0" i="0" u="none" strike="noStrike" baseline="0" dirty="0"/>
              <a:t>legislative aspects related with wage determination</a:t>
            </a:r>
            <a:endParaRPr lang="en-IN" sz="6600" dirty="0"/>
          </a:p>
        </p:txBody>
      </p:sp>
    </p:spTree>
    <p:extLst>
      <p:ext uri="{BB962C8B-B14F-4D97-AF65-F5344CB8AC3E}">
        <p14:creationId xmlns:p14="http://schemas.microsoft.com/office/powerpoint/2010/main" val="5314618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57716" y="177578"/>
            <a:ext cx="11772014" cy="6372078"/>
          </a:xfrm>
        </p:spPr>
        <p:txBody>
          <a:bodyPr>
            <a:normAutofit/>
          </a:bodyPr>
          <a:lstStyle/>
          <a:p>
            <a:pPr marL="0" indent="0">
              <a:buNone/>
            </a:pPr>
            <a:r>
              <a:rPr lang="en-GB" sz="4000" b="1" i="0" u="none" strike="noStrike" baseline="0" dirty="0"/>
              <a:t>4. Clarity of Objectives or Purposes of Wage and Salary Administration</a:t>
            </a:r>
          </a:p>
          <a:p>
            <a:pPr algn="l"/>
            <a:r>
              <a:rPr lang="en-IN" sz="3600" b="0" i="0" u="none" strike="noStrike" baseline="0" dirty="0"/>
              <a:t>clarity about the purposes </a:t>
            </a:r>
            <a:r>
              <a:rPr lang="en-GB" sz="3600" b="0" i="0" u="none" strike="noStrike" baseline="0" dirty="0"/>
              <a:t>that it may tries to satisfy through policy decisions</a:t>
            </a:r>
          </a:p>
          <a:p>
            <a:pPr lvl="1"/>
            <a:r>
              <a:rPr lang="en-IN" sz="3600" b="0" i="0" u="none" strike="noStrike" baseline="0" dirty="0"/>
              <a:t>attracting talented resources;</a:t>
            </a:r>
          </a:p>
          <a:p>
            <a:pPr lvl="1"/>
            <a:r>
              <a:rPr lang="en-GB" sz="3600" b="0" i="0" u="none" strike="noStrike" baseline="0" dirty="0"/>
              <a:t>retaining and motivating employees; </a:t>
            </a:r>
          </a:p>
          <a:p>
            <a:pPr lvl="1"/>
            <a:r>
              <a:rPr lang="en-GB" sz="3600" b="0" i="0" u="none" strike="noStrike" baseline="0" dirty="0"/>
              <a:t>financial management of an organization; </a:t>
            </a:r>
          </a:p>
          <a:p>
            <a:pPr lvl="1"/>
            <a:r>
              <a:rPr lang="en-GB" sz="3600" b="0" i="0" u="none" strike="noStrike" baseline="0" dirty="0"/>
              <a:t>satisfying legal </a:t>
            </a:r>
            <a:r>
              <a:rPr lang="en-IN" sz="3600" b="0" i="0" u="none" strike="noStrike" baseline="0" dirty="0"/>
              <a:t>requirement;</a:t>
            </a:r>
          </a:p>
          <a:p>
            <a:pPr lvl="1" indent="-685800"/>
            <a:endParaRPr lang="en-IN" sz="3600" dirty="0"/>
          </a:p>
        </p:txBody>
      </p:sp>
    </p:spTree>
    <p:extLst>
      <p:ext uri="{BB962C8B-B14F-4D97-AF65-F5344CB8AC3E}">
        <p14:creationId xmlns:p14="http://schemas.microsoft.com/office/powerpoint/2010/main" val="41652304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normAutofit fontScale="90000"/>
          </a:bodyPr>
          <a:lstStyle/>
          <a:p>
            <a:r>
              <a:rPr lang="en-GB" b="1" i="0" u="none" strike="noStrike" baseline="0" dirty="0">
                <a:latin typeface="+mn-lt"/>
              </a:rPr>
              <a:t>Factors affecting Wage and Salary Administration</a:t>
            </a:r>
            <a:br>
              <a:rPr lang="en-GB" sz="1800" b="1" i="0" u="none" strike="noStrike" baseline="0" dirty="0">
                <a:latin typeface="TimesNewRomanPS-BoldMT"/>
              </a:rPr>
            </a:br>
            <a:endParaRPr lang="en-IN" dirty="0">
              <a:solidFill>
                <a:srgbClr val="FF0000"/>
              </a:solidFill>
            </a:endParaRPr>
          </a:p>
        </p:txBody>
      </p:sp>
      <p:pic>
        <p:nvPicPr>
          <p:cNvPr id="5" name="Content Placeholder 4">
            <a:extLst>
              <a:ext uri="{FF2B5EF4-FFF2-40B4-BE49-F238E27FC236}">
                <a16:creationId xmlns:a16="http://schemas.microsoft.com/office/drawing/2014/main" id="{624896C9-09AC-5EB5-E654-A2CF2B716756}"/>
              </a:ext>
            </a:extLst>
          </p:cNvPr>
          <p:cNvPicPr>
            <a:picLocks noGrp="1" noChangeAspect="1"/>
          </p:cNvPicPr>
          <p:nvPr>
            <p:ph idx="1"/>
          </p:nvPr>
        </p:nvPicPr>
        <p:blipFill>
          <a:blip r:embed="rId2"/>
          <a:stretch>
            <a:fillRect/>
          </a:stretch>
        </p:blipFill>
        <p:spPr>
          <a:xfrm>
            <a:off x="1766094" y="1336526"/>
            <a:ext cx="7998233" cy="5415147"/>
          </a:xfrm>
        </p:spPr>
      </p:pic>
    </p:spTree>
    <p:extLst>
      <p:ext uri="{BB962C8B-B14F-4D97-AF65-F5344CB8AC3E}">
        <p14:creationId xmlns:p14="http://schemas.microsoft.com/office/powerpoint/2010/main" val="2773815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53408" y="166946"/>
            <a:ext cx="11708219" cy="6584728"/>
          </a:xfrm>
        </p:spPr>
        <p:txBody>
          <a:bodyPr>
            <a:normAutofit lnSpcReduction="10000"/>
          </a:bodyPr>
          <a:lstStyle/>
          <a:p>
            <a:pPr marL="0" indent="0">
              <a:buNone/>
            </a:pPr>
            <a:r>
              <a:rPr lang="en-IN" b="1" i="0" u="none" strike="noStrike" baseline="0" dirty="0"/>
              <a:t>1. Demand and Supply:</a:t>
            </a:r>
          </a:p>
          <a:p>
            <a:pPr algn="l"/>
            <a:r>
              <a:rPr lang="en-GB" b="0" i="0" u="none" strike="noStrike" baseline="0" dirty="0"/>
              <a:t>If there is a shortage of </a:t>
            </a:r>
            <a:r>
              <a:rPr lang="en-GB" b="0" i="0" u="none" strike="noStrike" baseline="0" dirty="0" err="1"/>
              <a:t>labor</a:t>
            </a:r>
            <a:r>
              <a:rPr lang="en-GB" b="0" i="0" u="none" strike="noStrike" baseline="0" dirty="0"/>
              <a:t>, the wages demanded will be high. </a:t>
            </a:r>
          </a:p>
          <a:p>
            <a:pPr algn="l"/>
            <a:r>
              <a:rPr lang="en-GB" b="0" i="0" u="none" strike="noStrike" baseline="0" dirty="0"/>
              <a:t>If, on the other hand </a:t>
            </a:r>
            <a:r>
              <a:rPr lang="en-GB" b="0" i="0" u="none" strike="noStrike" baseline="0" dirty="0" err="1"/>
              <a:t>labor</a:t>
            </a:r>
            <a:r>
              <a:rPr lang="en-GB" b="0" i="0" u="none" strike="noStrike" baseline="0" dirty="0"/>
              <a:t> is plentiful, workers will be too willing to work at low rates of </a:t>
            </a:r>
            <a:r>
              <a:rPr lang="en-IN" b="0" i="0" u="none" strike="noStrike" baseline="0" dirty="0"/>
              <a:t>wages.</a:t>
            </a:r>
          </a:p>
          <a:p>
            <a:pPr algn="l"/>
            <a:r>
              <a:rPr lang="en-GB" b="0" i="0" u="none" strike="noStrike" baseline="0" dirty="0"/>
              <a:t>An employee will not hesitate to accept lower wages if he has opportunities for growth in the organization</a:t>
            </a:r>
          </a:p>
          <a:p>
            <a:pPr marL="0" indent="0" algn="l">
              <a:buNone/>
            </a:pPr>
            <a:r>
              <a:rPr lang="en-IN" b="1" i="0" u="none" strike="noStrike" baseline="0" dirty="0"/>
              <a:t>2. Organization’s Ability to Pay</a:t>
            </a:r>
            <a:r>
              <a:rPr lang="en-IN" b="0" i="0" u="none" strike="noStrike" baseline="0" dirty="0"/>
              <a:t>:</a:t>
            </a:r>
          </a:p>
          <a:p>
            <a:pPr marL="0" indent="0" algn="l">
              <a:buNone/>
            </a:pPr>
            <a:r>
              <a:rPr lang="en-IN" b="0" i="0" u="none" strike="noStrike" baseline="0" dirty="0"/>
              <a:t>Financial position and soundness</a:t>
            </a:r>
            <a:endParaRPr lang="en-IN" dirty="0"/>
          </a:p>
          <a:p>
            <a:pPr algn="l"/>
            <a:r>
              <a:rPr lang="en-GB" b="0" i="0" u="none" strike="noStrike" baseline="0" dirty="0"/>
              <a:t>Good compensation package helps in attracting and retaining quality talent in an organization</a:t>
            </a:r>
          </a:p>
          <a:p>
            <a:pPr marL="0" indent="0" algn="l">
              <a:buNone/>
            </a:pPr>
            <a:r>
              <a:rPr lang="en-GB" b="1" i="0" u="none" strike="noStrike" baseline="0" dirty="0"/>
              <a:t>3. Prevailing Market Rate or “Going Wage Rate”</a:t>
            </a:r>
            <a:r>
              <a:rPr lang="en-GB" b="0" i="0" u="none" strike="noStrike" baseline="0" dirty="0"/>
              <a:t>: (‘most comparable rate of wage’,)</a:t>
            </a:r>
          </a:p>
          <a:p>
            <a:pPr algn="l"/>
            <a:r>
              <a:rPr lang="en-GB" b="0" i="0" u="none" strike="noStrike" baseline="0" dirty="0"/>
              <a:t>competition and a practice of ‘Brain Drain’ prevails </a:t>
            </a:r>
            <a:r>
              <a:rPr lang="en-IN" b="0" i="0" u="none" strike="noStrike" baseline="0" dirty="0"/>
              <a:t>in the market.</a:t>
            </a:r>
          </a:p>
          <a:p>
            <a:pPr algn="l"/>
            <a:r>
              <a:rPr lang="en-GB" b="0" i="0" u="none" strike="noStrike" baseline="0" dirty="0"/>
              <a:t>certain laws framed laid down principal of’ minimum wages’, ‘equal </a:t>
            </a:r>
            <a:r>
              <a:rPr lang="en-IN" b="0" i="0" u="none" strike="noStrike" baseline="0" dirty="0"/>
              <a:t>wage for equal work’</a:t>
            </a:r>
            <a:endParaRPr lang="en-IN" sz="4000" dirty="0"/>
          </a:p>
        </p:txBody>
      </p:sp>
    </p:spTree>
    <p:extLst>
      <p:ext uri="{BB962C8B-B14F-4D97-AF65-F5344CB8AC3E}">
        <p14:creationId xmlns:p14="http://schemas.microsoft.com/office/powerpoint/2010/main" val="30093068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53408" y="166946"/>
            <a:ext cx="11708219" cy="6584728"/>
          </a:xfrm>
        </p:spPr>
        <p:txBody>
          <a:bodyPr>
            <a:normAutofit/>
          </a:bodyPr>
          <a:lstStyle/>
          <a:p>
            <a:pPr marL="0" indent="0" algn="l">
              <a:buNone/>
            </a:pPr>
            <a:r>
              <a:rPr lang="en-GB" sz="2400" b="1" i="0" u="none" strike="noStrike" baseline="0" dirty="0"/>
              <a:t>4) Productivity: </a:t>
            </a:r>
          </a:p>
          <a:p>
            <a:pPr algn="l"/>
            <a:r>
              <a:rPr lang="en-GB" sz="2400" b="0" i="0" u="none" strike="noStrike" baseline="0" dirty="0"/>
              <a:t>Productivity is measured in terms of output per man hour. </a:t>
            </a:r>
          </a:p>
          <a:p>
            <a:pPr algn="l"/>
            <a:r>
              <a:rPr lang="en-GB" sz="2400" b="0" i="0" u="none" strike="noStrike" baseline="0" dirty="0"/>
              <a:t>technology, </a:t>
            </a:r>
            <a:r>
              <a:rPr lang="en-GB" sz="2400" b="0" i="0" u="none" strike="noStrike" baseline="0" dirty="0" err="1"/>
              <a:t>labor</a:t>
            </a:r>
            <a:r>
              <a:rPr lang="en-GB" sz="2400" b="0" i="0" u="none" strike="noStrike" baseline="0" dirty="0"/>
              <a:t> efforts, method of doing work, management contribution and support. </a:t>
            </a:r>
          </a:p>
          <a:p>
            <a:pPr algn="l"/>
            <a:r>
              <a:rPr lang="en-GB" sz="2400" b="0" i="0" u="none" strike="noStrike" baseline="0" dirty="0"/>
              <a:t>base for wage differences since it a base which is apparently justifiable and acceptable to all in the organization. </a:t>
            </a:r>
          </a:p>
          <a:p>
            <a:pPr algn="l"/>
            <a:r>
              <a:rPr lang="en-GB" sz="2400" b="0" i="0" u="none" strike="noStrike" baseline="0" dirty="0"/>
              <a:t>a discretion of management policies.</a:t>
            </a:r>
          </a:p>
          <a:p>
            <a:pPr marL="0" indent="0" algn="l">
              <a:buNone/>
            </a:pPr>
            <a:r>
              <a:rPr lang="en-GB" sz="2400" b="1" i="0" u="none" strike="noStrike" baseline="0" dirty="0"/>
              <a:t>5) Cost of Living: </a:t>
            </a:r>
          </a:p>
          <a:p>
            <a:pPr algn="l"/>
            <a:r>
              <a:rPr lang="en-GB" sz="2400" b="0" i="0" u="none" strike="noStrike" baseline="0" dirty="0"/>
              <a:t>It is always expected that there has to be adjustment in pay rates in accordance with prevailing cost of living. </a:t>
            </a:r>
          </a:p>
          <a:p>
            <a:pPr algn="l"/>
            <a:r>
              <a:rPr lang="en-GB" sz="2400" b="0" i="0" u="none" strike="noStrike" baseline="0" dirty="0"/>
              <a:t>Base of collective </a:t>
            </a:r>
            <a:r>
              <a:rPr lang="en-GB" sz="2400" b="0" i="0" u="none" strike="noStrike" baseline="0" dirty="0" err="1"/>
              <a:t>bargainning</a:t>
            </a:r>
            <a:r>
              <a:rPr lang="en-GB" sz="2400" b="0" i="0" u="none" strike="noStrike" baseline="0" dirty="0"/>
              <a:t> on wage issues.</a:t>
            </a:r>
          </a:p>
          <a:p>
            <a:pPr marL="0" indent="0" algn="l">
              <a:buNone/>
            </a:pPr>
            <a:r>
              <a:rPr lang="en-GB" sz="2400" b="1" i="0" u="none" strike="noStrike" baseline="0" dirty="0"/>
              <a:t>6) Trade Union’s Bargaining Power: </a:t>
            </a:r>
          </a:p>
          <a:p>
            <a:pPr algn="l"/>
            <a:r>
              <a:rPr lang="en-GB" sz="2400" b="0" i="0" u="none" strike="noStrike" baseline="0" dirty="0"/>
              <a:t>collective bargaining or negotiation,</a:t>
            </a:r>
          </a:p>
          <a:p>
            <a:pPr algn="l"/>
            <a:r>
              <a:rPr lang="en-GB" sz="2400" b="0" i="0" u="none" strike="noStrike" baseline="0" dirty="0"/>
              <a:t> collective bargaining and negotiations depends upon the trade union’s strength. </a:t>
            </a:r>
          </a:p>
          <a:p>
            <a:pPr algn="l"/>
            <a:r>
              <a:rPr lang="en-GB" sz="2400" b="0" i="0" u="none" strike="noStrike" baseline="0" dirty="0"/>
              <a:t>The strength and power of the trade union depends upon its membership, financial strength and leadership it may have, for</a:t>
            </a:r>
            <a:endParaRPr lang="en-IN" sz="3600" dirty="0"/>
          </a:p>
        </p:txBody>
      </p:sp>
    </p:spTree>
    <p:extLst>
      <p:ext uri="{BB962C8B-B14F-4D97-AF65-F5344CB8AC3E}">
        <p14:creationId xmlns:p14="http://schemas.microsoft.com/office/powerpoint/2010/main" val="18833919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53408" y="166946"/>
            <a:ext cx="11708219" cy="6584728"/>
          </a:xfrm>
        </p:spPr>
        <p:txBody>
          <a:bodyPr>
            <a:normAutofit lnSpcReduction="10000"/>
          </a:bodyPr>
          <a:lstStyle/>
          <a:p>
            <a:pPr marL="0" indent="0" algn="l">
              <a:buNone/>
            </a:pPr>
            <a:r>
              <a:rPr lang="en-GB" sz="2400" b="1" dirty="0">
                <a:latin typeface="TimesNewRomanPS-BoldMT"/>
              </a:rPr>
              <a:t>7</a:t>
            </a:r>
            <a:r>
              <a:rPr lang="en-GB" b="1" i="0" u="none" strike="noStrike" baseline="0" dirty="0"/>
              <a:t>) Job Requirements: </a:t>
            </a:r>
          </a:p>
          <a:p>
            <a:pPr algn="l"/>
            <a:r>
              <a:rPr lang="en-GB" b="0" i="0" u="none" strike="noStrike" baseline="0" dirty="0"/>
              <a:t>appropriate job analysis and job evaluation exercise is a base for the wage determination and revision. </a:t>
            </a:r>
          </a:p>
          <a:p>
            <a:pPr algn="l"/>
            <a:r>
              <a:rPr lang="en-GB" b="0" i="0" u="none" strike="noStrike" baseline="0" dirty="0"/>
              <a:t>wages to be paid to the workers should be in accordance with the duties, responsibilities and the efforts likely to be put for job performance. </a:t>
            </a:r>
          </a:p>
          <a:p>
            <a:pPr algn="l"/>
            <a:r>
              <a:rPr lang="en-GB" b="0" i="0" u="none" strike="noStrike" baseline="0" dirty="0"/>
              <a:t>Wage or compensation package very in accordance with job description and job specification.</a:t>
            </a:r>
          </a:p>
          <a:p>
            <a:pPr marL="0" indent="0" algn="l">
              <a:buNone/>
            </a:pPr>
            <a:r>
              <a:rPr lang="en-GB" b="1" i="0" u="none" strike="noStrike" baseline="0" dirty="0"/>
              <a:t>8) Management Attitude: </a:t>
            </a:r>
          </a:p>
          <a:p>
            <a:pPr algn="l"/>
            <a:r>
              <a:rPr lang="en-GB" b="0" i="0" u="none" strike="noStrike" baseline="0" dirty="0"/>
              <a:t>Attitude of employer or management towers the working community of the organization </a:t>
            </a:r>
          </a:p>
          <a:p>
            <a:pPr algn="l"/>
            <a:r>
              <a:rPr lang="en-GB" b="0" i="0" u="none" strike="noStrike" baseline="0" dirty="0"/>
              <a:t>Some reputed and professional organization does prefer to pay wage in accordance with their reputation or prestige of an organization in the market. </a:t>
            </a:r>
          </a:p>
          <a:p>
            <a:pPr algn="l"/>
            <a:r>
              <a:rPr lang="en-GB" b="0" i="0" u="none" strike="noStrike" baseline="0" dirty="0"/>
              <a:t>They may give participation to workers in sharing profits. </a:t>
            </a:r>
          </a:p>
          <a:p>
            <a:pPr algn="l"/>
            <a:r>
              <a:rPr lang="en-GB" b="0" i="0" u="none" strike="noStrike" baseline="0" dirty="0"/>
              <a:t>On the other hand conservative organizations do not prefer to go for such profit sharing.</a:t>
            </a:r>
            <a:endParaRPr lang="en-IN" sz="4000" dirty="0"/>
          </a:p>
        </p:txBody>
      </p:sp>
    </p:spTree>
    <p:extLst>
      <p:ext uri="{BB962C8B-B14F-4D97-AF65-F5344CB8AC3E}">
        <p14:creationId xmlns:p14="http://schemas.microsoft.com/office/powerpoint/2010/main" val="6933730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53408" y="166946"/>
            <a:ext cx="11708219" cy="6584728"/>
          </a:xfrm>
        </p:spPr>
        <p:txBody>
          <a:bodyPr>
            <a:normAutofit lnSpcReduction="10000"/>
          </a:bodyPr>
          <a:lstStyle/>
          <a:p>
            <a:pPr marL="0" indent="0" algn="l">
              <a:buNone/>
            </a:pPr>
            <a:r>
              <a:rPr lang="en-GB" b="1" i="0" u="none" strike="noStrike" baseline="0" dirty="0"/>
              <a:t>9) Psychological and Social Factors: </a:t>
            </a:r>
          </a:p>
          <a:p>
            <a:pPr algn="l"/>
            <a:r>
              <a:rPr lang="en-GB" b="0" i="0" u="none" strike="noStrike" baseline="0" dirty="0"/>
              <a:t>Psychologically person perceive wages and compensation package as sole parameter for success or failure in the life.</a:t>
            </a:r>
          </a:p>
          <a:p>
            <a:pPr algn="l"/>
            <a:r>
              <a:rPr lang="en-GB" b="0" i="0" u="none" strike="noStrike" baseline="0" dirty="0"/>
              <a:t>Compensation package plays significant role in the employees pride, moral, motivation and psychological engagement and involvement in the work. </a:t>
            </a:r>
          </a:p>
          <a:p>
            <a:pPr algn="l"/>
            <a:r>
              <a:rPr lang="en-GB" b="0" i="0" u="none" strike="noStrike" baseline="0" dirty="0"/>
              <a:t>wage should be in accordance with efforts and workers should not be felt like being cheated. </a:t>
            </a:r>
          </a:p>
          <a:p>
            <a:pPr algn="l"/>
            <a:r>
              <a:rPr lang="en-GB" b="0" i="0" u="none" strike="noStrike" baseline="0" dirty="0"/>
              <a:t>Compensation policy should not make any discrimination and must try to satisfy condition for fairness equity and justice.</a:t>
            </a:r>
          </a:p>
          <a:p>
            <a:pPr marL="0" indent="0" algn="l">
              <a:buNone/>
            </a:pPr>
            <a:r>
              <a:rPr lang="en-GB" b="1" i="0" u="none" strike="noStrike" baseline="0" dirty="0"/>
              <a:t>10) Legislative Considerations: </a:t>
            </a:r>
          </a:p>
          <a:p>
            <a:pPr algn="l"/>
            <a:r>
              <a:rPr lang="en-GB" b="0" i="0" u="none" strike="noStrike" baseline="0" dirty="0"/>
              <a:t>Legislative provisions do provide protection to the working community by fixing bottom line for wage payments. </a:t>
            </a:r>
          </a:p>
          <a:p>
            <a:pPr algn="l"/>
            <a:r>
              <a:rPr lang="en-GB" b="0" i="0" u="none" strike="noStrike" baseline="0" dirty="0"/>
              <a:t>the bargaining power of the workers was not strong enough to ensure fair wages.</a:t>
            </a:r>
          </a:p>
          <a:p>
            <a:pPr algn="l"/>
            <a:r>
              <a:rPr lang="en-GB" b="0" i="0" u="none" strike="noStrike" baseline="0" dirty="0"/>
              <a:t>Legislation like Minimum Wages Act, 1936, provides for statutory minimum wages</a:t>
            </a:r>
            <a:endParaRPr lang="en-IN" sz="4000" dirty="0"/>
          </a:p>
        </p:txBody>
      </p:sp>
    </p:spTree>
    <p:extLst>
      <p:ext uri="{BB962C8B-B14F-4D97-AF65-F5344CB8AC3E}">
        <p14:creationId xmlns:p14="http://schemas.microsoft.com/office/powerpoint/2010/main" val="32549326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normAutofit/>
          </a:bodyPr>
          <a:lstStyle/>
          <a:p>
            <a:r>
              <a:rPr lang="en-IN" sz="4000" b="1" i="0" u="none" strike="noStrike" baseline="0" dirty="0">
                <a:solidFill>
                  <a:srgbClr val="FF0000"/>
                </a:solidFill>
                <a:latin typeface="+mn-lt"/>
              </a:rPr>
              <a:t>Methods of Wage Payments</a:t>
            </a:r>
            <a:endParaRPr lang="en-IN" sz="40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normAutofit/>
          </a:bodyPr>
          <a:lstStyle/>
          <a:p>
            <a:pPr algn="l"/>
            <a:r>
              <a:rPr lang="en-GB" sz="3200" b="0" i="0" u="none" strike="noStrike" baseline="0" dirty="0"/>
              <a:t>It should be simple and understandable</a:t>
            </a:r>
          </a:p>
          <a:p>
            <a:pPr algn="l"/>
            <a:r>
              <a:rPr lang="en-GB" sz="3200" b="0" i="0" u="none" strike="noStrike" baseline="0" dirty="0"/>
              <a:t>It should be capable of easy computation</a:t>
            </a:r>
          </a:p>
          <a:p>
            <a:pPr algn="l"/>
            <a:r>
              <a:rPr lang="en-GB" sz="3200" b="0" i="0" u="none" strike="noStrike" baseline="0" dirty="0"/>
              <a:t>It should be capable of motivating the employees</a:t>
            </a:r>
          </a:p>
          <a:p>
            <a:pPr algn="l"/>
            <a:r>
              <a:rPr lang="en-GB" sz="3200" b="0" i="0" u="none" strike="noStrike" baseline="0" dirty="0"/>
              <a:t>It should be attractive enough for new talent in the organization.</a:t>
            </a:r>
          </a:p>
          <a:p>
            <a:pPr algn="l"/>
            <a:r>
              <a:rPr lang="en-GB" sz="3200" b="0" i="0" u="none" strike="noStrike" baseline="0" dirty="0"/>
              <a:t>It should be fair, just and stable to all the employees.</a:t>
            </a:r>
            <a:endParaRPr lang="en-IN" sz="4400" dirty="0"/>
          </a:p>
        </p:txBody>
      </p:sp>
    </p:spTree>
    <p:extLst>
      <p:ext uri="{BB962C8B-B14F-4D97-AF65-F5344CB8AC3E}">
        <p14:creationId xmlns:p14="http://schemas.microsoft.com/office/powerpoint/2010/main" val="15665249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70312"/>
            <a:ext cx="10515600" cy="1325563"/>
          </a:xfrm>
        </p:spPr>
        <p:txBody>
          <a:bodyPr>
            <a:normAutofit/>
          </a:bodyPr>
          <a:lstStyle/>
          <a:p>
            <a:r>
              <a:rPr lang="en-IN" sz="3600" b="1" i="0" u="none" strike="noStrike" baseline="0" dirty="0">
                <a:solidFill>
                  <a:srgbClr val="FF0000"/>
                </a:solidFill>
                <a:latin typeface="+mn-lt"/>
              </a:rPr>
              <a:t>Time Rate Wage System</a:t>
            </a:r>
            <a:endParaRPr lang="en-IN" sz="72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10879" y="858062"/>
            <a:ext cx="10515600" cy="4351338"/>
          </a:xfrm>
        </p:spPr>
        <p:txBody>
          <a:bodyPr>
            <a:normAutofit/>
          </a:bodyPr>
          <a:lstStyle/>
          <a:p>
            <a:pPr algn="l"/>
            <a:r>
              <a:rPr lang="en-GB" sz="3200" b="0" i="0" u="none" strike="noStrike" baseline="0" dirty="0"/>
              <a:t>workers are paid according to the work done during a certain period of time at a rate of per hour, per day, per week, per fortnight, or per month or any other fixed period of time</a:t>
            </a:r>
          </a:p>
          <a:p>
            <a:pPr algn="l"/>
            <a:r>
              <a:rPr lang="en-IN" sz="3200" b="0" i="0" u="none" strike="noStrike" baseline="0" dirty="0"/>
              <a:t>According </a:t>
            </a:r>
            <a:r>
              <a:rPr lang="en-GB" sz="3200" b="0" i="0" u="none" strike="noStrike" baseline="0" dirty="0"/>
              <a:t>to the section4 of the Payments of Wages Act,1936, not more than one month must elapse between </a:t>
            </a:r>
            <a:r>
              <a:rPr lang="en-IN" sz="3200" b="0" i="0" u="none" strike="noStrike" baseline="0" dirty="0"/>
              <a:t>two wage period</a:t>
            </a:r>
          </a:p>
          <a:p>
            <a:pPr algn="l"/>
            <a:r>
              <a:rPr lang="en-GB" sz="3200" b="0" i="0" u="none" strike="noStrike" baseline="0" dirty="0"/>
              <a:t>adopts time as the basis of worker remuneration without taking in to account the units produced.</a:t>
            </a:r>
            <a:endParaRPr lang="en-IN" sz="4400" dirty="0"/>
          </a:p>
        </p:txBody>
      </p:sp>
    </p:spTree>
    <p:extLst>
      <p:ext uri="{BB962C8B-B14F-4D97-AF65-F5344CB8AC3E}">
        <p14:creationId xmlns:p14="http://schemas.microsoft.com/office/powerpoint/2010/main" val="2880733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76201" y="-1"/>
            <a:ext cx="12101623" cy="6762307"/>
          </a:xfrm>
        </p:spPr>
        <p:txBody>
          <a:bodyPr>
            <a:normAutofit/>
          </a:bodyPr>
          <a:lstStyle/>
          <a:p>
            <a:pPr marL="0" indent="0" algn="l">
              <a:buNone/>
            </a:pPr>
            <a:r>
              <a:rPr lang="en-IN" sz="3200" b="1" i="0" u="none" strike="noStrike" baseline="0" dirty="0">
                <a:latin typeface="+mj-lt"/>
              </a:rPr>
              <a:t>Merits:</a:t>
            </a:r>
          </a:p>
          <a:p>
            <a:pPr algn="l"/>
            <a:r>
              <a:rPr lang="en-GB" sz="3200" b="0" i="0" u="none" strike="noStrike" baseline="0" dirty="0">
                <a:latin typeface="+mj-lt"/>
              </a:rPr>
              <a:t>It is simple and understandable and easy for calculation of wages</a:t>
            </a:r>
          </a:p>
          <a:p>
            <a:pPr algn="l"/>
            <a:r>
              <a:rPr lang="en-GB" sz="3200" b="0" i="0" u="none" strike="noStrike" baseline="0" dirty="0">
                <a:latin typeface="+mj-lt"/>
              </a:rPr>
              <a:t>There is no time limit for completion of job, workman are not in hurry to finish it and this may mean that they may pay p enough attention to the quality of work, effective handling of machinery and utilization of resources in an optimum manner.</a:t>
            </a:r>
          </a:p>
          <a:p>
            <a:pPr algn="l"/>
            <a:r>
              <a:rPr lang="en-GB" sz="3200" b="0" i="0" u="none" strike="noStrike" baseline="0" dirty="0">
                <a:latin typeface="+mj-lt"/>
              </a:rPr>
              <a:t>All workers are given same treatment in terms of equal wage payment, so grievances, ill will; jealousy can be avoided among them.</a:t>
            </a:r>
          </a:p>
          <a:p>
            <a:pPr algn="l"/>
            <a:r>
              <a:rPr lang="en-GB" sz="3200" b="0" i="0" u="none" strike="noStrike" baseline="0" dirty="0">
                <a:latin typeface="+mj-lt"/>
              </a:rPr>
              <a:t>Time rate system provides regular and stable income to workers, so they can adjust and manage </a:t>
            </a:r>
            <a:r>
              <a:rPr lang="en-IN" sz="3200" b="0" i="0" u="none" strike="noStrike" baseline="0" dirty="0">
                <a:latin typeface="+mj-lt"/>
              </a:rPr>
              <a:t>their budget accordingly.</a:t>
            </a:r>
          </a:p>
          <a:p>
            <a:pPr algn="l"/>
            <a:r>
              <a:rPr lang="en-GB" sz="3200" b="0" i="0" u="none" strike="noStrike" baseline="0" dirty="0">
                <a:latin typeface="+mj-lt"/>
              </a:rPr>
              <a:t>It requires less administrative attention as this system provide good faith and mutual understanding and trust between employer and employee.</a:t>
            </a:r>
          </a:p>
        </p:txBody>
      </p:sp>
    </p:spTree>
    <p:extLst>
      <p:ext uri="{BB962C8B-B14F-4D97-AF65-F5344CB8AC3E}">
        <p14:creationId xmlns:p14="http://schemas.microsoft.com/office/powerpoint/2010/main" val="41882698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0" y="166945"/>
            <a:ext cx="12078586" cy="5787287"/>
          </a:xfrm>
        </p:spPr>
        <p:txBody>
          <a:bodyPr>
            <a:normAutofit/>
          </a:bodyPr>
          <a:lstStyle/>
          <a:p>
            <a:pPr marL="0" indent="0" algn="l">
              <a:buNone/>
            </a:pPr>
            <a:r>
              <a:rPr lang="en-IN" sz="2800" b="1" i="0" u="none" strike="noStrike" baseline="0" dirty="0">
                <a:latin typeface="TimesNewRomanPS-BoldMT"/>
              </a:rPr>
              <a:t>Demerits:</a:t>
            </a:r>
          </a:p>
          <a:p>
            <a:pPr algn="l"/>
            <a:r>
              <a:rPr lang="en-GB" sz="2800" b="0" i="0" u="none" strike="noStrike" baseline="0" dirty="0">
                <a:latin typeface="TimesNewRomanPSMT"/>
              </a:rPr>
              <a:t>It does not take in to account the ability and capacity of the workers so the skilful and more capable workers who have higher production efficiency will demoralize.</a:t>
            </a:r>
          </a:p>
          <a:p>
            <a:pPr algn="l"/>
            <a:r>
              <a:rPr lang="en-GB" sz="2800" b="0" i="0" u="none" strike="noStrike" baseline="0" dirty="0">
                <a:latin typeface="TimesNewRomanPSMT"/>
              </a:rPr>
              <a:t>Time rate system is unrelated to the productivity and does not provide extra motivation for extra </a:t>
            </a:r>
            <a:r>
              <a:rPr lang="en-IN" sz="2800" b="0" i="0" u="none" strike="noStrike" baseline="0" dirty="0">
                <a:latin typeface="TimesNewRomanPSMT"/>
              </a:rPr>
              <a:t>efforts by the workers.</a:t>
            </a:r>
          </a:p>
          <a:p>
            <a:pPr algn="l"/>
            <a:r>
              <a:rPr lang="en-GB" sz="2800" b="0" i="0" u="none" strike="noStrike" baseline="0" dirty="0">
                <a:latin typeface="TimesNewRomanPSMT"/>
              </a:rPr>
              <a:t>The </a:t>
            </a:r>
            <a:r>
              <a:rPr lang="en-GB" sz="2800" b="0" i="0" u="none" strike="noStrike" baseline="0" dirty="0" err="1">
                <a:latin typeface="TimesNewRomanPSMT"/>
              </a:rPr>
              <a:t>labor</a:t>
            </a:r>
            <a:r>
              <a:rPr lang="en-GB" sz="2800" b="0" i="0" u="none" strike="noStrike" baseline="0" dirty="0">
                <a:latin typeface="TimesNewRomanPSMT"/>
              </a:rPr>
              <a:t> charges for a particular job do not remain constant. </a:t>
            </a:r>
          </a:p>
          <a:p>
            <a:pPr algn="l"/>
            <a:r>
              <a:rPr lang="en-GB" sz="2800" b="0" i="0" u="none" strike="noStrike" baseline="0" dirty="0">
                <a:latin typeface="TimesNewRomanPSMT"/>
              </a:rPr>
              <a:t>There is a possibility of systematic evasion of work by the workers, since there is no specific target or demand for specific quantity of work by the management.</a:t>
            </a:r>
          </a:p>
          <a:p>
            <a:pPr algn="l"/>
            <a:r>
              <a:rPr lang="en-GB" sz="2800" b="0" i="0" u="none" strike="noStrike" baseline="0" dirty="0">
                <a:latin typeface="TimesNewRomanPSMT"/>
              </a:rPr>
              <a:t>Time rate system does not ask for maintaining individual workers record, it becomes difficult for the employer to determine his relative efficiency for the purpose of performance evaluation for future promotion or rewards. </a:t>
            </a:r>
            <a:r>
              <a:rPr lang="en-GB" sz="2800" b="0" i="0" u="none" strike="noStrike" baseline="0">
                <a:latin typeface="TimesNewRomanPSMT"/>
              </a:rPr>
              <a:t>So it </a:t>
            </a:r>
            <a:r>
              <a:rPr lang="en-GB" sz="2800" b="0" i="0" u="none" strike="noStrike" baseline="0" dirty="0">
                <a:latin typeface="TimesNewRomanPSMT"/>
              </a:rPr>
              <a:t>does injustice to the outstanding employees.</a:t>
            </a:r>
            <a:endParaRPr lang="en-IN" dirty="0"/>
          </a:p>
          <a:p>
            <a:endParaRPr lang="en-IN" dirty="0"/>
          </a:p>
        </p:txBody>
      </p:sp>
    </p:spTree>
    <p:extLst>
      <p:ext uri="{BB962C8B-B14F-4D97-AF65-F5344CB8AC3E}">
        <p14:creationId xmlns:p14="http://schemas.microsoft.com/office/powerpoint/2010/main" val="13870250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604284" y="283904"/>
            <a:ext cx="10515600" cy="4351338"/>
          </a:xfrm>
        </p:spPr>
        <p:txBody>
          <a:bodyPr>
            <a:normAutofit/>
          </a:bodyPr>
          <a:lstStyle/>
          <a:p>
            <a:pPr marL="0" indent="0" algn="l">
              <a:buNone/>
            </a:pPr>
            <a:r>
              <a:rPr lang="en-GB" sz="3200" b="1" i="0" u="none" strike="noStrike" baseline="0" dirty="0"/>
              <a:t>Suitability: </a:t>
            </a:r>
          </a:p>
          <a:p>
            <a:pPr algn="l"/>
            <a:r>
              <a:rPr lang="en-GB" sz="3200" b="0" i="0" u="none" strike="noStrike" baseline="0" dirty="0"/>
              <a:t>Time rate system is suitable when the output contributed by the worker is difficult to measure and cannot be recorded in an individual basis. </a:t>
            </a:r>
          </a:p>
          <a:p>
            <a:pPr algn="l"/>
            <a:r>
              <a:rPr lang="en-GB" sz="3200" b="0" i="0" u="none" strike="noStrike" baseline="0" dirty="0"/>
              <a:t>It is also suitable when by cultivating mutual trust and confidence and by giving fair and equal treatment to all the employees, management can get the work done in an appropriate manner</a:t>
            </a:r>
            <a:endParaRPr lang="en-IN" sz="4400" dirty="0"/>
          </a:p>
        </p:txBody>
      </p:sp>
    </p:spTree>
    <p:extLst>
      <p:ext uri="{BB962C8B-B14F-4D97-AF65-F5344CB8AC3E}">
        <p14:creationId xmlns:p14="http://schemas.microsoft.com/office/powerpoint/2010/main" val="38054483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0"/>
            <a:ext cx="10515600" cy="1325563"/>
          </a:xfrm>
        </p:spPr>
        <p:txBody>
          <a:bodyPr>
            <a:normAutofit/>
          </a:bodyPr>
          <a:lstStyle/>
          <a:p>
            <a:r>
              <a:rPr lang="en-IN" sz="4000" b="1" i="0" u="none" strike="noStrike" baseline="0" dirty="0">
                <a:solidFill>
                  <a:srgbClr val="FF0000"/>
                </a:solidFill>
                <a:latin typeface="+mn-lt"/>
              </a:rPr>
              <a:t>Piece Rate Wage System:</a:t>
            </a:r>
            <a:endParaRPr lang="en-IN" sz="80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83288" y="985651"/>
            <a:ext cx="11910238" cy="5734125"/>
          </a:xfrm>
        </p:spPr>
        <p:txBody>
          <a:bodyPr>
            <a:noAutofit/>
          </a:bodyPr>
          <a:lstStyle/>
          <a:p>
            <a:pPr algn="l"/>
            <a:r>
              <a:rPr lang="en-GB" b="0" i="0" u="none" strike="noStrike" baseline="0" dirty="0"/>
              <a:t>workers are paid according to the amount of work done or numbers of units produced or completed, the rate of each unit being settled in advance, irrespective of the time taken to do the work</a:t>
            </a:r>
          </a:p>
          <a:p>
            <a:pPr algn="l"/>
            <a:r>
              <a:rPr lang="en-GB" b="0" i="0" u="none" strike="noStrike" baseline="0" dirty="0"/>
              <a:t>indirect implication that a worker should not take more than average time</a:t>
            </a:r>
          </a:p>
          <a:p>
            <a:pPr marL="0" indent="0" algn="l">
              <a:buNone/>
            </a:pPr>
            <a:r>
              <a:rPr lang="en-IN" b="1" i="0" u="none" strike="noStrike" baseline="0" dirty="0"/>
              <a:t>Merits:</a:t>
            </a:r>
          </a:p>
          <a:p>
            <a:pPr algn="l"/>
            <a:r>
              <a:rPr lang="en-GB" b="0" i="0" u="none" strike="noStrike" baseline="0" dirty="0"/>
              <a:t>recognition of merit, more equitable then time rate system.</a:t>
            </a:r>
          </a:p>
          <a:p>
            <a:pPr algn="l"/>
            <a:r>
              <a:rPr lang="en-GB" b="0" i="0" u="none" strike="noStrike" baseline="0" dirty="0"/>
              <a:t>it gives direct stimulus and motivation to the employees for extra efforts, which may result into more productivity.</a:t>
            </a:r>
          </a:p>
          <a:p>
            <a:pPr algn="l"/>
            <a:r>
              <a:rPr lang="en-GB" b="0" i="0" u="none" strike="noStrike" baseline="0" dirty="0"/>
              <a:t>less managerial supervision as total remuneration depends upon units produced, and not on time spent in an organization.</a:t>
            </a:r>
          </a:p>
          <a:p>
            <a:pPr algn="l"/>
            <a:r>
              <a:rPr lang="en-GB" b="0" i="0" u="none" strike="noStrike" baseline="0" dirty="0"/>
              <a:t>a workman is likely to take greater care to prevent breakdown in the machinery or in the work shop. </a:t>
            </a:r>
          </a:p>
          <a:p>
            <a:pPr algn="l"/>
            <a:r>
              <a:rPr lang="en-GB" b="0" i="0" u="none" strike="noStrike" baseline="0" dirty="0"/>
              <a:t>it reduces maintenance expenditure in an organization.</a:t>
            </a:r>
          </a:p>
        </p:txBody>
      </p:sp>
    </p:spTree>
    <p:extLst>
      <p:ext uri="{BB962C8B-B14F-4D97-AF65-F5344CB8AC3E}">
        <p14:creationId xmlns:p14="http://schemas.microsoft.com/office/powerpoint/2010/main" val="41127274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529856" y="326434"/>
            <a:ext cx="10515600" cy="6223222"/>
          </a:xfrm>
        </p:spPr>
        <p:txBody>
          <a:bodyPr>
            <a:normAutofit fontScale="92500"/>
          </a:bodyPr>
          <a:lstStyle/>
          <a:p>
            <a:pPr algn="l"/>
            <a:r>
              <a:rPr lang="en-GB" sz="2800" b="0" i="0" u="none" strike="noStrike" baseline="0" dirty="0"/>
              <a:t>As the direct </a:t>
            </a:r>
            <a:r>
              <a:rPr lang="en-GB" sz="2800" b="0" i="0" u="none" strike="noStrike" baseline="0" dirty="0" err="1"/>
              <a:t>labor</a:t>
            </a:r>
            <a:r>
              <a:rPr lang="en-GB" sz="2800" b="0" i="0" u="none" strike="noStrike" baseline="0" dirty="0"/>
              <a:t> cost per unit of production remains fixed and constant, calculation of cost while filling tenders and estimates becomes easier.</a:t>
            </a:r>
          </a:p>
          <a:p>
            <a:pPr algn="l"/>
            <a:r>
              <a:rPr lang="en-GB" sz="2800" b="0" i="0" u="none" strike="noStrike" baseline="0" dirty="0"/>
              <a:t>It results in to not only increase in the output and wages ,but the methods of production too are also improved, as workers demand material and tools free from defects and machinery in perfect </a:t>
            </a:r>
            <a:r>
              <a:rPr lang="en-IN" sz="2800" b="0" i="0" u="none" strike="noStrike" baseline="0" dirty="0"/>
              <a:t>operating condition.</a:t>
            </a:r>
          </a:p>
          <a:p>
            <a:pPr marL="0" indent="0" algn="l">
              <a:buNone/>
            </a:pPr>
            <a:r>
              <a:rPr lang="en-IN" b="1" dirty="0"/>
              <a:t>Demerits:</a:t>
            </a:r>
          </a:p>
          <a:p>
            <a:pPr algn="l"/>
            <a:r>
              <a:rPr lang="en-GB" b="0" i="0" u="none" strike="noStrike" baseline="0" dirty="0"/>
              <a:t>If rates of wages are not scientifically fixed and acceptable to the workers, would result into workers exploitation and may prove counterproductive</a:t>
            </a:r>
          </a:p>
          <a:p>
            <a:pPr algn="l"/>
            <a:r>
              <a:rPr lang="en-GB" b="0" i="0" u="none" strike="noStrike" baseline="0" dirty="0"/>
              <a:t>As workers are interested in completion of the job with a greatest speed, may damage the machinery, quality of output or may increase rate of hazards in an organization.</a:t>
            </a:r>
          </a:p>
          <a:p>
            <a:pPr algn="l"/>
            <a:r>
              <a:rPr lang="en-GB" b="0" i="0" u="none" strike="noStrike" baseline="0" dirty="0"/>
              <a:t>Trade unions generally do not like this system of wage payment; they may not have full support and acceptance. It may be the major issue for industrial dispute.</a:t>
            </a:r>
            <a:endParaRPr lang="en-IN" dirty="0"/>
          </a:p>
          <a:p>
            <a:endParaRPr lang="en-IN" dirty="0"/>
          </a:p>
        </p:txBody>
      </p:sp>
    </p:spTree>
    <p:extLst>
      <p:ext uri="{BB962C8B-B14F-4D97-AF65-F5344CB8AC3E}">
        <p14:creationId xmlns:p14="http://schemas.microsoft.com/office/powerpoint/2010/main" val="418314170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223284" y="297712"/>
            <a:ext cx="11823404" cy="6400800"/>
          </a:xfrm>
        </p:spPr>
        <p:txBody>
          <a:bodyPr>
            <a:normAutofit/>
          </a:bodyPr>
          <a:lstStyle/>
          <a:p>
            <a:pPr marL="0" indent="0" algn="l">
              <a:buNone/>
            </a:pPr>
            <a:r>
              <a:rPr lang="en-GB" sz="3600" b="1" i="0" u="none" strike="noStrike" baseline="0" dirty="0"/>
              <a:t>Suitability: </a:t>
            </a:r>
          </a:p>
          <a:p>
            <a:pPr algn="l"/>
            <a:r>
              <a:rPr lang="en-GB" sz="3600" b="0" i="0" u="none" strike="noStrike" baseline="0" dirty="0"/>
              <a:t>It can be introduced generally in jobs of a repetitive nature, when task can be easily measured, inspected and counted. </a:t>
            </a:r>
          </a:p>
          <a:p>
            <a:pPr algn="l"/>
            <a:r>
              <a:rPr lang="en-GB" sz="3600" b="0" i="0" u="none" strike="noStrike" baseline="0" dirty="0"/>
              <a:t>It is practically suitable for standardized processes, and it appeals to skilled and efficient workers who can increase their earnings by working to their best capacity.</a:t>
            </a:r>
            <a:endParaRPr lang="en-IN" sz="4800" dirty="0"/>
          </a:p>
        </p:txBody>
      </p:sp>
    </p:spTree>
    <p:extLst>
      <p:ext uri="{BB962C8B-B14F-4D97-AF65-F5344CB8AC3E}">
        <p14:creationId xmlns:p14="http://schemas.microsoft.com/office/powerpoint/2010/main" val="27484923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0"/>
            <a:ext cx="10515600" cy="1325563"/>
          </a:xfrm>
        </p:spPr>
        <p:txBody>
          <a:bodyPr>
            <a:normAutofit/>
          </a:bodyPr>
          <a:lstStyle/>
          <a:p>
            <a:r>
              <a:rPr lang="en-GB" sz="4000" b="1" i="0" u="none" strike="noStrike" baseline="0" dirty="0">
                <a:solidFill>
                  <a:srgbClr val="FF0000"/>
                </a:solidFill>
                <a:latin typeface="+mn-lt"/>
              </a:rPr>
              <a:t>Balance and Debt System</a:t>
            </a:r>
            <a:endParaRPr lang="en-IN" sz="80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27591" y="925034"/>
            <a:ext cx="12064409" cy="5784110"/>
          </a:xfrm>
        </p:spPr>
        <p:txBody>
          <a:bodyPr>
            <a:normAutofit lnSpcReduction="10000"/>
          </a:bodyPr>
          <a:lstStyle/>
          <a:p>
            <a:r>
              <a:rPr lang="en-GB" sz="3200" dirty="0"/>
              <a:t>Combination of time rate and Piece rate</a:t>
            </a:r>
          </a:p>
          <a:p>
            <a:pPr algn="l"/>
            <a:r>
              <a:rPr lang="en-IN" sz="3200" b="0" i="0" u="none" strike="noStrike" baseline="0" dirty="0"/>
              <a:t>a minimum </a:t>
            </a:r>
            <a:r>
              <a:rPr lang="en-GB" sz="3200" b="0" i="0" u="none" strike="noStrike" baseline="0" dirty="0"/>
              <a:t>weekly wage is guaranteed for a full weeks’ work with an alternative piece-rate determined by the rate fixed on the assumption that the worker would put enough effort to earn his minimum </a:t>
            </a:r>
            <a:r>
              <a:rPr lang="en-IN" sz="3200" b="0" i="0" u="none" strike="noStrike" baseline="0" dirty="0"/>
              <a:t>wage.</a:t>
            </a:r>
          </a:p>
          <a:p>
            <a:pPr algn="l"/>
            <a:r>
              <a:rPr lang="en-GB" sz="3200" b="0" i="0" u="none" strike="noStrike" baseline="0" dirty="0"/>
              <a:t>If the wages calculated on piece bases are in excess of the time rate, the worker earns the excess. </a:t>
            </a:r>
          </a:p>
          <a:p>
            <a:pPr algn="l"/>
            <a:r>
              <a:rPr lang="en-GB" sz="3200" b="0" i="0" u="none" strike="noStrike" baseline="0" dirty="0"/>
              <a:t>If the piece rate wages are less than the time-rate earnings, he would still get weekly </a:t>
            </a:r>
            <a:r>
              <a:rPr lang="en-IN" sz="3200" b="0" i="0" u="none" strike="noStrike" baseline="0" dirty="0"/>
              <a:t>wage,</a:t>
            </a:r>
            <a:r>
              <a:rPr lang="en-GB" sz="3200" b="0" i="0" u="none" strike="noStrike" baseline="0" dirty="0"/>
              <a:t> but on the condition that he shall have to make good the excess paid to him out of the subsequent wage he would earn</a:t>
            </a:r>
          </a:p>
          <a:p>
            <a:pPr algn="l"/>
            <a:r>
              <a:rPr lang="en-GB" sz="3200" b="0" i="0" u="none" strike="noStrike" baseline="0" dirty="0"/>
              <a:t>it a hybrid system producing the same benefits and limitations of both the time rate </a:t>
            </a:r>
            <a:r>
              <a:rPr lang="en-IN" sz="3200" b="0" i="0" u="none" strike="noStrike" baseline="0" dirty="0"/>
              <a:t>and piece rare system</a:t>
            </a:r>
            <a:endParaRPr lang="en-IN" sz="4400" dirty="0"/>
          </a:p>
        </p:txBody>
      </p:sp>
    </p:spTree>
    <p:extLst>
      <p:ext uri="{BB962C8B-B14F-4D97-AF65-F5344CB8AC3E}">
        <p14:creationId xmlns:p14="http://schemas.microsoft.com/office/powerpoint/2010/main" val="260357415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a:xfrm>
            <a:off x="0" y="0"/>
            <a:ext cx="10515600" cy="1325563"/>
          </a:xfrm>
        </p:spPr>
        <p:txBody>
          <a:bodyPr>
            <a:normAutofit/>
          </a:bodyPr>
          <a:lstStyle/>
          <a:p>
            <a:r>
              <a:rPr lang="en-IN" sz="3600" b="1" i="0" u="none" strike="noStrike" baseline="0" dirty="0">
                <a:solidFill>
                  <a:srgbClr val="FF0000"/>
                </a:solidFill>
                <a:latin typeface="+mn-lt"/>
              </a:rPr>
              <a:t>Process of Wage Determination</a:t>
            </a:r>
            <a:endParaRPr lang="en-IN" sz="7200" dirty="0">
              <a:solidFill>
                <a:srgbClr val="FF0000"/>
              </a:solidFill>
              <a:latin typeface="+mn-lt"/>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22052" y="1389689"/>
            <a:ext cx="6268115" cy="4798459"/>
          </a:xfrm>
        </p:spPr>
        <p:txBody>
          <a:bodyPr>
            <a:noAutofit/>
          </a:bodyPr>
          <a:lstStyle/>
          <a:p>
            <a:pPr algn="l"/>
            <a:r>
              <a:rPr lang="en-GB" b="0" i="0" u="none" strike="noStrike" baseline="0" dirty="0"/>
              <a:t>it depends upon sole discretion that what procedure an organization follows for wage and salary administration.</a:t>
            </a:r>
          </a:p>
          <a:p>
            <a:pPr algn="l"/>
            <a:r>
              <a:rPr lang="en-GB" b="0" i="0" u="none" strike="noStrike" baseline="0" dirty="0"/>
              <a:t>More or less an attempt is made by every organization to follow the principles suggested for sound compensation management</a:t>
            </a:r>
          </a:p>
          <a:p>
            <a:pPr algn="l"/>
            <a:r>
              <a:rPr lang="en-IN" b="0" i="0" u="none" strike="noStrike" baseline="0" dirty="0"/>
              <a:t>Process of wage </a:t>
            </a:r>
            <a:r>
              <a:rPr lang="en-GB" b="0" i="0" u="none" strike="noStrike" baseline="0" dirty="0"/>
              <a:t>determination includes job analysis and job evaluation, survey of wages in the environment, determining wage structure, and deciding rules for wage administration.</a:t>
            </a:r>
            <a:endParaRPr lang="en-IN" dirty="0"/>
          </a:p>
        </p:txBody>
      </p:sp>
      <p:pic>
        <p:nvPicPr>
          <p:cNvPr id="5" name="Picture 4">
            <a:extLst>
              <a:ext uri="{FF2B5EF4-FFF2-40B4-BE49-F238E27FC236}">
                <a16:creationId xmlns:a16="http://schemas.microsoft.com/office/drawing/2014/main" id="{649E4A59-ECA5-62C8-E5D4-2F39AD0B9BF9}"/>
              </a:ext>
            </a:extLst>
          </p:cNvPr>
          <p:cNvPicPr>
            <a:picLocks noChangeAspect="1"/>
          </p:cNvPicPr>
          <p:nvPr/>
        </p:nvPicPr>
        <p:blipFill>
          <a:blip r:embed="rId2"/>
          <a:stretch>
            <a:fillRect/>
          </a:stretch>
        </p:blipFill>
        <p:spPr>
          <a:xfrm>
            <a:off x="6310202" y="1696315"/>
            <a:ext cx="5759746" cy="2260716"/>
          </a:xfrm>
          <a:prstGeom prst="rect">
            <a:avLst/>
          </a:prstGeom>
        </p:spPr>
      </p:pic>
    </p:spTree>
    <p:extLst>
      <p:ext uri="{BB962C8B-B14F-4D97-AF65-F5344CB8AC3E}">
        <p14:creationId xmlns:p14="http://schemas.microsoft.com/office/powerpoint/2010/main" val="166959681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 y="92517"/>
            <a:ext cx="12067953" cy="6637891"/>
          </a:xfrm>
        </p:spPr>
        <p:txBody>
          <a:bodyPr>
            <a:normAutofit/>
          </a:bodyPr>
          <a:lstStyle/>
          <a:p>
            <a:pPr marL="0" indent="0">
              <a:buNone/>
            </a:pPr>
            <a:r>
              <a:rPr lang="en-GB" b="1" i="0" u="none" strike="noStrike" baseline="0" dirty="0"/>
              <a:t>Job Analysis and Job Evaluation:</a:t>
            </a:r>
          </a:p>
          <a:p>
            <a:pPr algn="l"/>
            <a:r>
              <a:rPr lang="en-IN" b="0" i="0" u="none" strike="noStrike" baseline="0" dirty="0"/>
              <a:t>Job analysis reveals </a:t>
            </a:r>
            <a:r>
              <a:rPr lang="en-GB" b="0" i="0" u="none" strike="noStrike" baseline="0" dirty="0"/>
              <a:t>information about tasks, duties, responsibilities and standards with proposed job is to be performed </a:t>
            </a:r>
            <a:r>
              <a:rPr lang="en-IN" b="0" i="0" u="none" strike="noStrike" baseline="0" dirty="0"/>
              <a:t>by the employees.</a:t>
            </a:r>
          </a:p>
          <a:p>
            <a:pPr algn="l"/>
            <a:r>
              <a:rPr lang="en-GB" b="0" i="0" u="none" strike="noStrike" baseline="0" dirty="0"/>
              <a:t>It also guides in terms of job specification i.e. skills, ability, qualification and experiences needed to perform the job with requisite performance standards.</a:t>
            </a:r>
          </a:p>
          <a:p>
            <a:pPr algn="l"/>
            <a:r>
              <a:rPr lang="en-IN" b="0" i="0" u="none" strike="noStrike" baseline="0" dirty="0"/>
              <a:t>Job evaluation is nothing </a:t>
            </a:r>
            <a:r>
              <a:rPr lang="en-GB" b="0" i="0" u="none" strike="noStrike" baseline="0" dirty="0"/>
              <a:t>but finding out relative worth of a job, in terms its contribution and significance to the overall </a:t>
            </a:r>
            <a:r>
              <a:rPr lang="en-IN" b="0" i="0" u="none" strike="noStrike" baseline="0" dirty="0"/>
              <a:t>organizational objectives.</a:t>
            </a:r>
          </a:p>
          <a:p>
            <a:pPr marL="0" indent="0" algn="l">
              <a:buNone/>
            </a:pPr>
            <a:r>
              <a:rPr lang="en-GB" b="1" i="0" u="none" strike="noStrike" baseline="0" dirty="0"/>
              <a:t>Determining Performance Standard and Wage Surveys: </a:t>
            </a:r>
          </a:p>
          <a:p>
            <a:pPr marL="0" indent="0" algn="l">
              <a:buNone/>
            </a:pPr>
            <a:r>
              <a:rPr lang="en-GB" b="1" dirty="0"/>
              <a:t>After job analysis and evaluation</a:t>
            </a:r>
            <a:endParaRPr lang="en-GB" b="1" i="0" u="none" strike="noStrike" baseline="0" dirty="0"/>
          </a:p>
          <a:p>
            <a:pPr algn="l"/>
            <a:r>
              <a:rPr lang="en-GB" b="0" i="0" u="none" strike="noStrike" baseline="0" dirty="0"/>
              <a:t>an organization must survey wage rates prevails in the market for the same job or its similar type, so that attractive compensation package can be designed to induce good quality of candidature to apply for the job in an organization. </a:t>
            </a:r>
          </a:p>
          <a:p>
            <a:pPr algn="l"/>
            <a:r>
              <a:rPr lang="en-GB" b="0" i="0" u="none" strike="noStrike" baseline="0" dirty="0"/>
              <a:t>Here care should be taken that wage structure should be in accordance with the complexity and efforts needed in the performance.</a:t>
            </a:r>
            <a:endParaRPr lang="en-IN" dirty="0"/>
          </a:p>
        </p:txBody>
      </p:sp>
    </p:spTree>
    <p:extLst>
      <p:ext uri="{BB962C8B-B14F-4D97-AF65-F5344CB8AC3E}">
        <p14:creationId xmlns:p14="http://schemas.microsoft.com/office/powerpoint/2010/main" val="88005142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a:xfrm>
            <a:off x="178980" y="273272"/>
            <a:ext cx="11814545" cy="4351338"/>
          </a:xfrm>
        </p:spPr>
        <p:txBody>
          <a:bodyPr>
            <a:noAutofit/>
          </a:bodyPr>
          <a:lstStyle/>
          <a:p>
            <a:pPr marL="0" indent="0" algn="l">
              <a:buNone/>
            </a:pPr>
            <a:r>
              <a:rPr lang="en-GB" sz="3200" b="1" i="0" u="none" strike="noStrike" baseline="0" dirty="0"/>
              <a:t>Deciding Wage Structure and Rules for Its Administration: </a:t>
            </a:r>
          </a:p>
          <a:p>
            <a:pPr algn="l"/>
            <a:r>
              <a:rPr lang="en-GB" sz="3200" b="0" i="0" u="none" strike="noStrike" baseline="0" dirty="0"/>
              <a:t>Based on collection of relevant information and taking in to account some of the influencing factors, an organization should design wage structure which includes slab for basic or minimum wages, incentives, and/or increment over a period of time to gather with other financial and nonfinancial perquisites to be offered to an employee. </a:t>
            </a:r>
          </a:p>
          <a:p>
            <a:pPr algn="l"/>
            <a:r>
              <a:rPr lang="en-GB" sz="3200" b="0" i="0" u="none" strike="noStrike" baseline="0" dirty="0"/>
              <a:t>Attempt should be made to follow principles of fairness, equity and justice to gather with transparency while designing wage structure and deciding rules for its administration. </a:t>
            </a:r>
          </a:p>
          <a:p>
            <a:pPr algn="l"/>
            <a:r>
              <a:rPr lang="en-GB" sz="3200" b="0" i="0" u="none" strike="noStrike" baseline="0" dirty="0"/>
              <a:t>The rules should not provoke unjustified discriminations and exploitation of workers otherwise it may prove counterproductive and may give rise to grievance, and industrial disputes.</a:t>
            </a:r>
          </a:p>
          <a:p>
            <a:pPr marL="0" indent="0" algn="l">
              <a:buNone/>
            </a:pPr>
            <a:endParaRPr lang="en-IN" sz="2000" dirty="0"/>
          </a:p>
        </p:txBody>
      </p:sp>
    </p:spTree>
    <p:extLst>
      <p:ext uri="{BB962C8B-B14F-4D97-AF65-F5344CB8AC3E}">
        <p14:creationId xmlns:p14="http://schemas.microsoft.com/office/powerpoint/2010/main" val="16216342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5393081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162932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5962970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500227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013292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854591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767083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196832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023827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2478781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035408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087162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D15-0D76-BBB0-2E62-7F359092DAF7}"/>
              </a:ext>
            </a:extLst>
          </p:cNvPr>
          <p:cNvSpPr>
            <a:spLocks noGrp="1"/>
          </p:cNvSpPr>
          <p:nvPr>
            <p:ph type="title"/>
          </p:nvPr>
        </p:nvSpPr>
        <p:spPr/>
        <p:txBody>
          <a:bodyPr/>
          <a:lstStyle/>
          <a:p>
            <a:endParaRPr lang="en-IN">
              <a:solidFill>
                <a:srgbClr val="FF0000"/>
              </a:solidFill>
            </a:endParaRPr>
          </a:p>
        </p:txBody>
      </p:sp>
      <p:sp>
        <p:nvSpPr>
          <p:cNvPr id="3" name="Content Placeholder 2">
            <a:extLst>
              <a:ext uri="{FF2B5EF4-FFF2-40B4-BE49-F238E27FC236}">
                <a16:creationId xmlns:a16="http://schemas.microsoft.com/office/drawing/2014/main" id="{7EF1963C-7CFD-111F-8345-8D7E5A51D4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11279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FD6DB73-9A7A-4027-B38B-943BB2586063}">
  <we:reference id="4b785c87-866c-4bad-85d8-5d1ae467ac9a" version="3.12.0.0" store="EXCatalog" storeType="EXCatalog"/>
  <we:alternateReferences>
    <we:reference id="WA104381909" version="3.12.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1543</TotalTime>
  <Words>9203</Words>
  <Application>Microsoft Office PowerPoint</Application>
  <PresentationFormat>Widescreen</PresentationFormat>
  <Paragraphs>653</Paragraphs>
  <Slides>126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126</vt:i4>
      </vt:variant>
    </vt:vector>
  </HeadingPairs>
  <TitlesOfParts>
    <vt:vector size="133" baseType="lpstr">
      <vt:lpstr>Arial</vt:lpstr>
      <vt:lpstr>Calibri</vt:lpstr>
      <vt:lpstr>Calibri Light</vt:lpstr>
      <vt:lpstr>TimesNewRomanPS-BoldMT</vt:lpstr>
      <vt:lpstr>TimesNewRomanPSMT</vt:lpstr>
      <vt:lpstr>Wingdings</vt:lpstr>
      <vt:lpstr>Office Theme</vt:lpstr>
      <vt:lpstr>Human Resource Management</vt:lpstr>
      <vt:lpstr>Human Resource Management  </vt:lpstr>
      <vt:lpstr>Definition of HRM   </vt:lpstr>
      <vt:lpstr>Major functioning of HRM</vt:lpstr>
      <vt:lpstr>The Core of HRM</vt:lpstr>
      <vt:lpstr>The Core of HRM</vt:lpstr>
      <vt:lpstr>The Core of HRM</vt:lpstr>
      <vt:lpstr>Characteristics of HRM</vt:lpstr>
      <vt:lpstr>PowerPoint Presentation</vt:lpstr>
      <vt:lpstr>PowerPoint Presentation</vt:lpstr>
      <vt:lpstr>PowerPoint Presentation</vt:lpstr>
      <vt:lpstr>PowerPoint Presentation</vt:lpstr>
      <vt:lpstr>PowerPoint Presentation</vt:lpstr>
      <vt:lpstr>PowerPoint Presentation</vt:lpstr>
      <vt:lpstr>Objectives of HRM</vt:lpstr>
      <vt:lpstr>Objectives of HRM</vt:lpstr>
      <vt:lpstr>Objectives of HRM</vt:lpstr>
      <vt:lpstr>Objectives of HRM</vt:lpstr>
      <vt:lpstr>Objectives of HRM</vt:lpstr>
      <vt:lpstr>PowerPoint Presentation</vt:lpstr>
      <vt:lpstr>PowerPoint Presentation</vt:lpstr>
      <vt:lpstr>Functions of HRM</vt:lpstr>
      <vt:lpstr>PowerPoint Presentation</vt:lpstr>
      <vt:lpstr>PowerPoint Presentation</vt:lpstr>
      <vt:lpstr>PowerPoint Presentation</vt:lpstr>
      <vt:lpstr>PowerPoint Presentation</vt:lpstr>
      <vt:lpstr>PowerPoint Presentation</vt:lpstr>
      <vt:lpstr>PowerPoint Presentation</vt:lpstr>
      <vt:lpstr>ROLL OF HRM</vt:lpstr>
      <vt:lpstr>PowerPoint Presentation</vt:lpstr>
      <vt:lpstr>PowerPoint Presentation</vt:lpstr>
      <vt:lpstr>PowerPoint Presentation</vt:lpstr>
      <vt:lpstr>PowerPoint Presentation</vt:lpstr>
      <vt:lpstr>PowerPoint Presentation</vt:lpstr>
      <vt:lpstr>Recruitment</vt:lpstr>
      <vt:lpstr>Place of Recruitment in Selection System</vt:lpstr>
      <vt:lpstr>PowerPoint Presentation</vt:lpstr>
      <vt:lpstr>Process of Recruitment</vt:lpstr>
      <vt:lpstr>PowerPoint Presentation</vt:lpstr>
      <vt:lpstr>Elements of Recruitment</vt:lpstr>
      <vt:lpstr>PowerPoint Presentation</vt:lpstr>
      <vt:lpstr>Recruitment Policy</vt:lpstr>
      <vt:lpstr>Recruitment Policy</vt:lpstr>
      <vt:lpstr>PowerPoint Presentation</vt:lpstr>
      <vt:lpstr>Factors are involved in a recruitment policy: </vt:lpstr>
      <vt:lpstr>PowerPoint Presentation</vt:lpstr>
      <vt:lpstr>PowerPoint Presentation</vt:lpstr>
      <vt:lpstr>PowerPoint Presentation</vt:lpstr>
      <vt:lpstr>PowerPoint Presentation</vt:lpstr>
      <vt:lpstr>Factor Affecting Recruitment</vt:lpstr>
      <vt:lpstr>PowerPoint Presentation</vt:lpstr>
      <vt:lpstr>The external factors are:</vt:lpstr>
      <vt:lpstr>Sources of Recruitment</vt:lpstr>
      <vt:lpstr>Internal Sources</vt:lpstr>
      <vt:lpstr>PowerPoint Presentation</vt:lpstr>
      <vt:lpstr>PowerPoint Presentation</vt:lpstr>
      <vt:lpstr>Demerits of Internal Sources</vt:lpstr>
      <vt:lpstr>External Sources</vt:lpstr>
      <vt:lpstr>PowerPoint Presentation</vt:lpstr>
      <vt:lpstr>Advantages of External Recruitment:  </vt:lpstr>
      <vt:lpstr>Disadvantages of External recruitments</vt:lpstr>
      <vt:lpstr>Methods of Recruitment</vt:lpstr>
      <vt:lpstr>PowerPoint Presentation</vt:lpstr>
      <vt:lpstr>PowerPoint Presentation</vt:lpstr>
      <vt:lpstr>Selection </vt:lpstr>
      <vt:lpstr>PowerPoint Presentation</vt:lpstr>
      <vt:lpstr>PowerPoint Presentation</vt:lpstr>
      <vt:lpstr>Selection process </vt:lpstr>
      <vt:lpstr>Steps involved in Selection</vt:lpstr>
      <vt:lpstr>PowerPoint Presentation</vt:lpstr>
      <vt:lpstr>PowerPoint Presentation</vt:lpstr>
      <vt:lpstr>PowerPoint Presentation</vt:lpstr>
      <vt:lpstr>PowerPoint Presentation</vt:lpstr>
      <vt:lpstr>Training</vt:lpstr>
      <vt:lpstr>Types of training    </vt:lpstr>
      <vt:lpstr>PowerPoint Presentation</vt:lpstr>
      <vt:lpstr>PowerPoint Presentation</vt:lpstr>
      <vt:lpstr>PowerPoint Presentation</vt:lpstr>
      <vt:lpstr>PowerPoint Presentation</vt:lpstr>
      <vt:lpstr>Job Instruction Technique (JIT</vt:lpstr>
      <vt:lpstr>PowerPoint Presentation</vt:lpstr>
      <vt:lpstr>PowerPoint Presentation</vt:lpstr>
      <vt:lpstr>Off-the job training</vt:lpstr>
      <vt:lpstr>PowerPoint Presentation</vt:lpstr>
      <vt:lpstr>PowerPoint Presentation</vt:lpstr>
      <vt:lpstr>PowerPoint Presentation</vt:lpstr>
      <vt:lpstr>PowerPoint Presentation</vt:lpstr>
      <vt:lpstr>PowerPoint Presentation</vt:lpstr>
      <vt:lpstr>PowerPoint Presentation</vt:lpstr>
      <vt:lpstr>Wages and Salary administration</vt:lpstr>
      <vt:lpstr>Principles of Wage and Salary Administration</vt:lpstr>
      <vt:lpstr>PowerPoint Presentation</vt:lpstr>
      <vt:lpstr>Essentials of Sound Wage and Salary Administration</vt:lpstr>
      <vt:lpstr>PowerPoint Presentation</vt:lpstr>
      <vt:lpstr>PowerPoint Presentation</vt:lpstr>
      <vt:lpstr>PowerPoint Presentation</vt:lpstr>
      <vt:lpstr>Factors affecting Wage and Salary Administration </vt:lpstr>
      <vt:lpstr>PowerPoint Presentation</vt:lpstr>
      <vt:lpstr>PowerPoint Presentation</vt:lpstr>
      <vt:lpstr>PowerPoint Presentation</vt:lpstr>
      <vt:lpstr>PowerPoint Presentation</vt:lpstr>
      <vt:lpstr>Methods of Wage Payments</vt:lpstr>
      <vt:lpstr>Time Rate Wage System</vt:lpstr>
      <vt:lpstr>PowerPoint Presentation</vt:lpstr>
      <vt:lpstr>PowerPoint Presentation</vt:lpstr>
      <vt:lpstr>PowerPoint Presentation</vt:lpstr>
      <vt:lpstr>Piece Rate Wage System:</vt:lpstr>
      <vt:lpstr>PowerPoint Presentation</vt:lpstr>
      <vt:lpstr>PowerPoint Presentation</vt:lpstr>
      <vt:lpstr>Balance and Debt System</vt:lpstr>
      <vt:lpstr>Process of Wage Determination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dc:title>
  <dc:creator>Sriram K</dc:creator>
  <cp:lastModifiedBy>Sriram K</cp:lastModifiedBy>
  <cp:revision>60</cp:revision>
  <dcterms:created xsi:type="dcterms:W3CDTF">2023-10-10T16:47:38Z</dcterms:created>
  <dcterms:modified xsi:type="dcterms:W3CDTF">2023-11-29T05:09:54Z</dcterms:modified>
</cp:coreProperties>
</file>