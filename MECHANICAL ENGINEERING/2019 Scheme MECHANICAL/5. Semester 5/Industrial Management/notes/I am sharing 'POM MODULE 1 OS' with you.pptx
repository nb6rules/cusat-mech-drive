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9" roundtripDataSignature="AMtx7mgDh16xJJcw+Shp5bxcbBlkPh7x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160bd7b93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160bd7b937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4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4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4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4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5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5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5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5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5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5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5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5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5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5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4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685800" y="1268760"/>
            <a:ext cx="7772400" cy="23316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Times New Roman"/>
              <a:buNone/>
            </a:pPr>
            <a:r>
              <a:rPr b="1" i="1" lang="en-US" sz="4900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Principles of Management</a:t>
            </a:r>
            <a:br>
              <a:rPr b="1" lang="en-US">
                <a:solidFill>
                  <a:srgbClr val="00B050"/>
                </a:solidFill>
                <a:latin typeface="Algerian"/>
                <a:ea typeface="Algerian"/>
                <a:cs typeface="Algerian"/>
                <a:sym typeface="Algerian"/>
              </a:rPr>
            </a:br>
            <a:br>
              <a:rPr b="1" lang="en-US">
                <a:solidFill>
                  <a:srgbClr val="00B050"/>
                </a:solidFill>
                <a:latin typeface="Algerian"/>
                <a:ea typeface="Algerian"/>
                <a:cs typeface="Algerian"/>
                <a:sym typeface="Algerian"/>
              </a:rPr>
            </a:b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Module 1</a:t>
            </a:r>
            <a:br>
              <a:rPr b="1" lang="en-US">
                <a:solidFill>
                  <a:srgbClr val="00B050"/>
                </a:solidFill>
                <a:latin typeface="Algerian"/>
                <a:ea typeface="Algerian"/>
                <a:cs typeface="Algerian"/>
                <a:sym typeface="Algerian"/>
              </a:rPr>
            </a:br>
            <a:endParaRPr/>
          </a:p>
        </p:txBody>
      </p:sp>
      <p:sp>
        <p:nvSpPr>
          <p:cNvPr id="89" name="Google Shape;89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11760" y="3501008"/>
            <a:ext cx="4200508" cy="32476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827584" y="260648"/>
            <a:ext cx="7859216" cy="1008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b="1" lang="en-US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Topics  (Part 3)</a:t>
            </a:r>
            <a:endParaRPr b="1" sz="32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2"/>
          <p:cNvSpPr txBox="1"/>
          <p:nvPr>
            <p:ph idx="1" type="body"/>
          </p:nvPr>
        </p:nvSpPr>
        <p:spPr>
          <a:xfrm>
            <a:off x="755576" y="1412776"/>
            <a:ext cx="7931224" cy="4713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342900" lvl="0" marL="3429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sz="2900">
                <a:latin typeface="Times New Roman"/>
                <a:ea typeface="Times New Roman"/>
                <a:cs typeface="Times New Roman"/>
                <a:sym typeface="Times New Roman"/>
              </a:rPr>
              <a:t>Introduction to Organization</a:t>
            </a:r>
            <a:endParaRPr/>
          </a:p>
          <a:p>
            <a:pPr indent="-342900" lvl="0" marL="342900" rtl="0" algn="l">
              <a:lnSpc>
                <a:spcPct val="180000"/>
              </a:lnSpc>
              <a:spcBef>
                <a:spcPts val="319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sz="2900">
                <a:latin typeface="Times New Roman"/>
                <a:ea typeface="Times New Roman"/>
                <a:cs typeface="Times New Roman"/>
                <a:sym typeface="Times New Roman"/>
              </a:rPr>
              <a:t>Definition</a:t>
            </a:r>
            <a:endParaRPr/>
          </a:p>
          <a:p>
            <a:pPr indent="-342900" lvl="0" marL="342900" rtl="0" algn="l">
              <a:lnSpc>
                <a:spcPct val="180000"/>
              </a:lnSpc>
              <a:spcBef>
                <a:spcPts val="319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sz="2900">
                <a:latin typeface="Times New Roman"/>
                <a:ea typeface="Times New Roman"/>
                <a:cs typeface="Times New Roman"/>
                <a:sym typeface="Times New Roman"/>
              </a:rPr>
              <a:t>System approach applied to Organization</a:t>
            </a:r>
            <a:endParaRPr/>
          </a:p>
          <a:p>
            <a:pPr indent="-342900" lvl="0" marL="342900" rtl="0" algn="l">
              <a:lnSpc>
                <a:spcPct val="180000"/>
              </a:lnSpc>
              <a:spcBef>
                <a:spcPts val="319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sz="2900">
                <a:latin typeface="Times New Roman"/>
                <a:ea typeface="Times New Roman"/>
                <a:cs typeface="Times New Roman"/>
                <a:sym typeface="Times New Roman"/>
              </a:rPr>
              <a:t>Necessity and Elements of Organization</a:t>
            </a:r>
            <a:endParaRPr/>
          </a:p>
          <a:p>
            <a:pPr indent="-342900" lvl="0" marL="342900" rtl="0" algn="l">
              <a:lnSpc>
                <a:spcPct val="180000"/>
              </a:lnSpc>
              <a:spcBef>
                <a:spcPts val="319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sz="2900">
                <a:latin typeface="Times New Roman"/>
                <a:ea typeface="Times New Roman"/>
                <a:cs typeface="Times New Roman"/>
                <a:sym typeface="Times New Roman"/>
              </a:rPr>
              <a:t>Characteristics of Organization</a:t>
            </a:r>
            <a:endParaRPr/>
          </a:p>
          <a:p>
            <a:pPr indent="-342900" lvl="0" marL="342900" rtl="0" algn="l">
              <a:lnSpc>
                <a:spcPct val="180000"/>
              </a:lnSpc>
              <a:spcBef>
                <a:spcPts val="319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sz="2900">
                <a:latin typeface="Times New Roman"/>
                <a:ea typeface="Times New Roman"/>
                <a:cs typeface="Times New Roman"/>
                <a:sym typeface="Times New Roman"/>
              </a:rPr>
              <a:t>Process of Organization</a:t>
            </a:r>
            <a:endParaRPr sz="2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80000"/>
              </a:lnSpc>
              <a:spcBef>
                <a:spcPts val="319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sz="2900">
                <a:latin typeface="Times New Roman"/>
                <a:ea typeface="Times New Roman"/>
                <a:cs typeface="Times New Roman"/>
                <a:sym typeface="Times New Roman"/>
              </a:rPr>
              <a:t>Principles of Organization</a:t>
            </a:r>
            <a:endParaRPr/>
          </a:p>
          <a:p>
            <a:pPr indent="-342900" lvl="0" marL="342900" rtl="0" algn="l">
              <a:lnSpc>
                <a:spcPct val="180000"/>
              </a:lnSpc>
              <a:spcBef>
                <a:spcPts val="319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sz="2900">
                <a:latin typeface="Times New Roman"/>
                <a:ea typeface="Times New Roman"/>
                <a:cs typeface="Times New Roman"/>
                <a:sym typeface="Times New Roman"/>
              </a:rPr>
              <a:t>Formal and Informal Organization</a:t>
            </a:r>
            <a:endParaRPr/>
          </a:p>
          <a:p>
            <a:pPr indent="-342900" lvl="0" marL="342900" rtl="0" algn="l">
              <a:lnSpc>
                <a:spcPct val="180000"/>
              </a:lnSpc>
              <a:spcBef>
                <a:spcPts val="319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sz="2900">
                <a:latin typeface="Times New Roman"/>
                <a:ea typeface="Times New Roman"/>
                <a:cs typeface="Times New Roman"/>
                <a:sym typeface="Times New Roman"/>
              </a:rPr>
              <a:t>Organization structure </a:t>
            </a:r>
            <a:endParaRPr/>
          </a:p>
          <a:p>
            <a:pPr indent="-342900" lvl="0" marL="342900" rtl="0" algn="l">
              <a:lnSpc>
                <a:spcPct val="180000"/>
              </a:lnSpc>
              <a:spcBef>
                <a:spcPts val="319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sz="2900">
                <a:latin typeface="Times New Roman"/>
                <a:ea typeface="Times New Roman"/>
                <a:cs typeface="Times New Roman"/>
                <a:sym typeface="Times New Roman"/>
              </a:rPr>
              <a:t>Types of Organization structure 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9080" lvl="0" marL="342900" rtl="0" algn="l">
              <a:lnSpc>
                <a:spcPct val="150000"/>
              </a:lnSpc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160bd7b937_0_0"/>
          <p:cNvSpPr txBox="1"/>
          <p:nvPr>
            <p:ph type="title"/>
          </p:nvPr>
        </p:nvSpPr>
        <p:spPr>
          <a:xfrm>
            <a:off x="827584" y="260648"/>
            <a:ext cx="7859100" cy="10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b="1" lang="en-US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Topics  (Part 3)</a:t>
            </a:r>
            <a:endParaRPr b="1" sz="32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g3160bd7b937_0_0"/>
          <p:cNvSpPr txBox="1"/>
          <p:nvPr>
            <p:ph idx="1" type="body"/>
          </p:nvPr>
        </p:nvSpPr>
        <p:spPr>
          <a:xfrm>
            <a:off x="755576" y="1412776"/>
            <a:ext cx="7931100" cy="47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10000"/>
          </a:bodyPr>
          <a:lstStyle/>
          <a:p>
            <a:pPr indent="-329088" lvl="0" marL="3429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sz="2900">
                <a:latin typeface="Times New Roman"/>
                <a:ea typeface="Times New Roman"/>
                <a:cs typeface="Times New Roman"/>
                <a:sym typeface="Times New Roman"/>
              </a:rPr>
              <a:t>Introduction to Organization</a:t>
            </a:r>
            <a:endParaRPr/>
          </a:p>
          <a:p>
            <a:pPr indent="-329088" lvl="0" marL="342900" rtl="0" algn="l">
              <a:lnSpc>
                <a:spcPct val="180000"/>
              </a:lnSpc>
              <a:spcBef>
                <a:spcPts val="319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sz="2900">
                <a:latin typeface="Times New Roman"/>
                <a:ea typeface="Times New Roman"/>
                <a:cs typeface="Times New Roman"/>
                <a:sym typeface="Times New Roman"/>
              </a:rPr>
              <a:t>Definition</a:t>
            </a:r>
            <a:endParaRPr/>
          </a:p>
          <a:p>
            <a:pPr indent="-329088" lvl="0" marL="342900" rtl="0" algn="l">
              <a:lnSpc>
                <a:spcPct val="180000"/>
              </a:lnSpc>
              <a:spcBef>
                <a:spcPts val="319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sz="2900">
                <a:latin typeface="Times New Roman"/>
                <a:ea typeface="Times New Roman"/>
                <a:cs typeface="Times New Roman"/>
                <a:sym typeface="Times New Roman"/>
              </a:rPr>
              <a:t>System approach applied to Organization</a:t>
            </a:r>
            <a:endParaRPr/>
          </a:p>
          <a:p>
            <a:pPr indent="-329088" lvl="0" marL="342900" rtl="0" algn="l">
              <a:lnSpc>
                <a:spcPct val="180000"/>
              </a:lnSpc>
              <a:spcBef>
                <a:spcPts val="319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sz="2900">
                <a:latin typeface="Times New Roman"/>
                <a:ea typeface="Times New Roman"/>
                <a:cs typeface="Times New Roman"/>
                <a:sym typeface="Times New Roman"/>
              </a:rPr>
              <a:t>Necessity and Elements of Organization</a:t>
            </a:r>
            <a:endParaRPr/>
          </a:p>
          <a:p>
            <a:pPr indent="-329088" lvl="0" marL="342900" rtl="0" algn="l">
              <a:lnSpc>
                <a:spcPct val="180000"/>
              </a:lnSpc>
              <a:spcBef>
                <a:spcPts val="319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sz="2900">
                <a:latin typeface="Times New Roman"/>
                <a:ea typeface="Times New Roman"/>
                <a:cs typeface="Times New Roman"/>
                <a:sym typeface="Times New Roman"/>
              </a:rPr>
              <a:t>Characteristics of Organization</a:t>
            </a:r>
            <a:endParaRPr/>
          </a:p>
          <a:p>
            <a:pPr indent="-329088" lvl="0" marL="342900" rtl="0" algn="l">
              <a:lnSpc>
                <a:spcPct val="180000"/>
              </a:lnSpc>
              <a:spcBef>
                <a:spcPts val="319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sz="2900">
                <a:latin typeface="Times New Roman"/>
                <a:ea typeface="Times New Roman"/>
                <a:cs typeface="Times New Roman"/>
                <a:sym typeface="Times New Roman"/>
              </a:rPr>
              <a:t>Process of Organization</a:t>
            </a:r>
            <a:endParaRPr sz="2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9088" lvl="0" marL="342900" rtl="0" algn="l">
              <a:lnSpc>
                <a:spcPct val="180000"/>
              </a:lnSpc>
              <a:spcBef>
                <a:spcPts val="319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sz="2900">
                <a:latin typeface="Times New Roman"/>
                <a:ea typeface="Times New Roman"/>
                <a:cs typeface="Times New Roman"/>
                <a:sym typeface="Times New Roman"/>
              </a:rPr>
              <a:t>Principles of Organization</a:t>
            </a:r>
            <a:endParaRPr/>
          </a:p>
          <a:p>
            <a:pPr indent="-329088" lvl="0" marL="342900" rtl="0" algn="l">
              <a:lnSpc>
                <a:spcPct val="180000"/>
              </a:lnSpc>
              <a:spcBef>
                <a:spcPts val="319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sz="2900">
                <a:latin typeface="Times New Roman"/>
                <a:ea typeface="Times New Roman"/>
                <a:cs typeface="Times New Roman"/>
                <a:sym typeface="Times New Roman"/>
              </a:rPr>
              <a:t>Formal and Informal Organization</a:t>
            </a:r>
            <a:endParaRPr/>
          </a:p>
          <a:p>
            <a:pPr indent="-329088" lvl="0" marL="342900" rtl="0" algn="l">
              <a:lnSpc>
                <a:spcPct val="180000"/>
              </a:lnSpc>
              <a:spcBef>
                <a:spcPts val="319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sz="2900">
                <a:latin typeface="Times New Roman"/>
                <a:ea typeface="Times New Roman"/>
                <a:cs typeface="Times New Roman"/>
                <a:sym typeface="Times New Roman"/>
              </a:rPr>
              <a:t>Organization structure </a:t>
            </a:r>
            <a:endParaRPr/>
          </a:p>
          <a:p>
            <a:pPr indent="-329088" lvl="0" marL="342900" rtl="0" algn="l">
              <a:lnSpc>
                <a:spcPct val="180000"/>
              </a:lnSpc>
              <a:spcBef>
                <a:spcPts val="319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sz="2900">
                <a:latin typeface="Times New Roman"/>
                <a:ea typeface="Times New Roman"/>
                <a:cs typeface="Times New Roman"/>
                <a:sym typeface="Times New Roman"/>
              </a:rPr>
              <a:t>Types of Organization structure 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9080" lvl="0" marL="342900" rtl="0" algn="l">
              <a:lnSpc>
                <a:spcPct val="150000"/>
              </a:lnSpc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g3160bd7b937_0_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 txBox="1"/>
          <p:nvPr>
            <p:ph type="title"/>
          </p:nvPr>
        </p:nvSpPr>
        <p:spPr>
          <a:xfrm>
            <a:off x="539552" y="260648"/>
            <a:ext cx="8147248" cy="1152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b="1" lang="en-US" sz="3200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Organization</a:t>
            </a:r>
            <a:endParaRPr b="1" sz="3200" u="sng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3"/>
          <p:cNvSpPr txBox="1"/>
          <p:nvPr>
            <p:ph idx="1" type="body"/>
          </p:nvPr>
        </p:nvSpPr>
        <p:spPr>
          <a:xfrm>
            <a:off x="395536" y="1412776"/>
            <a:ext cx="8424936" cy="50734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None/>
            </a:pPr>
            <a:r>
              <a:rPr lang="en-US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An organization, or organisation is an entity, such as a company, an institution, or an association, comprising one or more people and having a particular purpose.</a:t>
            </a:r>
            <a:endParaRPr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 txBox="1"/>
          <p:nvPr>
            <p:ph type="title"/>
          </p:nvPr>
        </p:nvSpPr>
        <p:spPr>
          <a:xfrm>
            <a:off x="539552" y="116632"/>
            <a:ext cx="8147248" cy="864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b="1" lang="en-US" sz="3200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Definition</a:t>
            </a:r>
            <a:endParaRPr b="1" sz="3200" u="sng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4"/>
          <p:cNvSpPr txBox="1"/>
          <p:nvPr>
            <p:ph idx="1" type="body"/>
          </p:nvPr>
        </p:nvSpPr>
        <p:spPr>
          <a:xfrm>
            <a:off x="395536" y="1052736"/>
            <a:ext cx="8424936" cy="50734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Organization is a pattern of relationships among the individuals working together for a common goal. </a:t>
            </a:r>
            <a:endParaRPr/>
          </a:p>
          <a:p>
            <a:pPr indent="-342900" lvl="0" marL="342900" rtl="0" algn="just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It is a system consisting of men, materials,   machinery and money working for a common goal.</a:t>
            </a:r>
            <a:endParaRPr/>
          </a:p>
          <a:p>
            <a:pPr indent="-342900" lvl="0" marL="342900" rtl="0" algn="just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It is concerned with building, developing and maintaining of effective environment for accomplishing the objectives of the enterprise.</a:t>
            </a:r>
            <a:endParaRPr/>
          </a:p>
          <a:p>
            <a:pPr indent="-342900" lvl="0" marL="342900" rtl="0" algn="just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Eg: Banking system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 txBox="1"/>
          <p:nvPr>
            <p:ph type="title"/>
          </p:nvPr>
        </p:nvSpPr>
        <p:spPr>
          <a:xfrm>
            <a:off x="539552" y="188640"/>
            <a:ext cx="8147248" cy="648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b="1" lang="en-US" sz="3200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approach applied to Organization</a:t>
            </a:r>
            <a:endParaRPr/>
          </a:p>
        </p:txBody>
      </p:sp>
      <p:sp>
        <p:nvSpPr>
          <p:cNvPr id="124" name="Google Shape;124;p5"/>
          <p:cNvSpPr txBox="1"/>
          <p:nvPr>
            <p:ph idx="1" type="body"/>
          </p:nvPr>
        </p:nvSpPr>
        <p:spPr>
          <a:xfrm>
            <a:off x="395536" y="908720"/>
            <a:ext cx="8424936" cy="5217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The systems approach considers organization as a system composed of sub systems that are inter-related. </a:t>
            </a:r>
            <a:endParaRPr/>
          </a:p>
          <a:p>
            <a:pPr indent="-342900" lvl="0" marL="342900" rtl="0" algn="just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Systems have boundaries, but they also interact with external environment. That is, they are open systems.  </a:t>
            </a:r>
            <a:endParaRPr/>
          </a:p>
          <a:p>
            <a:pPr indent="-342900" lvl="0" marL="342900" rtl="0" algn="just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This approach recognizes the importance of studying inter-relationship among planning, organizing, and controlling in an organization as well as the many subsystems.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6" name="Google Shape;12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9632" y="4455352"/>
            <a:ext cx="6429420" cy="2286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 txBox="1"/>
          <p:nvPr>
            <p:ph type="title"/>
          </p:nvPr>
        </p:nvSpPr>
        <p:spPr>
          <a:xfrm>
            <a:off x="539552" y="188640"/>
            <a:ext cx="8147248" cy="648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b="1" lang="en-US" sz="3200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Necessity of Organization</a:t>
            </a:r>
            <a:endParaRPr/>
          </a:p>
        </p:txBody>
      </p:sp>
      <p:sp>
        <p:nvSpPr>
          <p:cNvPr id="132" name="Google Shape;132;p6"/>
          <p:cNvSpPr txBox="1"/>
          <p:nvPr>
            <p:ph idx="1" type="body"/>
          </p:nvPr>
        </p:nvSpPr>
        <p:spPr>
          <a:xfrm>
            <a:off x="395536" y="1196752"/>
            <a:ext cx="8424936" cy="4929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Complexity of Industry</a:t>
            </a:r>
            <a:endParaRPr/>
          </a:p>
          <a:p>
            <a:pPr indent="-457200" lvl="0" marL="4572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Growing Competition</a:t>
            </a:r>
            <a:endParaRPr/>
          </a:p>
          <a:p>
            <a:pPr indent="-457200" lvl="0" marL="4572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Optimum utilization of resources</a:t>
            </a:r>
            <a:endParaRPr/>
          </a:p>
          <a:p>
            <a:pPr indent="-457200" lvl="0" marL="4572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Fixation of authority and responsibility</a:t>
            </a:r>
            <a:endParaRPr/>
          </a:p>
          <a:p>
            <a:pPr indent="-457200" lvl="0" marL="4572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Reduced labour problems</a:t>
            </a:r>
            <a:endParaRPr/>
          </a:p>
          <a:p>
            <a:pPr indent="-457200" lvl="0" marL="4572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Co-ordination and directing efforts</a:t>
            </a:r>
            <a:endParaRPr/>
          </a:p>
          <a:p>
            <a:pPr indent="-457200" lvl="0" marL="4572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Facilitates administration</a:t>
            </a:r>
            <a:endParaRPr/>
          </a:p>
          <a:p>
            <a:pPr indent="-457200" lvl="0" marL="4572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Stimulates creativity and inovation.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 txBox="1"/>
          <p:nvPr>
            <p:ph type="title"/>
          </p:nvPr>
        </p:nvSpPr>
        <p:spPr>
          <a:xfrm>
            <a:off x="539552" y="188640"/>
            <a:ext cx="8147248" cy="72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b="1" lang="en-US" sz="3200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Essential Elements of good Organization</a:t>
            </a:r>
            <a:endParaRPr/>
          </a:p>
        </p:txBody>
      </p:sp>
      <p:sp>
        <p:nvSpPr>
          <p:cNvPr id="139" name="Google Shape;139;p7"/>
          <p:cNvSpPr txBox="1"/>
          <p:nvPr>
            <p:ph idx="1" type="body"/>
          </p:nvPr>
        </p:nvSpPr>
        <p:spPr>
          <a:xfrm>
            <a:off x="395536" y="836712"/>
            <a:ext cx="8424936" cy="5289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It must be helpful in the achievement of objectives.</a:t>
            </a:r>
            <a:endParaRPr/>
          </a:p>
          <a:p>
            <a:pPr indent="-457200" lvl="0" marL="4572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There must be harmonious grouping of activities.</a:t>
            </a:r>
            <a:endParaRPr/>
          </a:p>
          <a:p>
            <a:pPr indent="-457200" lvl="0" marL="4572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The activities of the organization must be co-ordinated properly.</a:t>
            </a:r>
            <a:endParaRPr/>
          </a:p>
          <a:p>
            <a:pPr indent="-457200" lvl="0" marL="4572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Proper division of work and labour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An organization should have an effective communication system.</a:t>
            </a:r>
            <a:endParaRPr/>
          </a:p>
          <a:p>
            <a:pPr indent="-457200" lvl="0" marL="4572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The Span of control should be reasonable.</a:t>
            </a:r>
            <a:endParaRPr/>
          </a:p>
          <a:p>
            <a:pPr indent="-457200" lvl="0" marL="4572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Provision of expansion and flexibility.</a:t>
            </a:r>
            <a:endParaRPr/>
          </a:p>
          <a:p>
            <a:pPr indent="-457200" lvl="0" marL="4572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Clear and well defined policies and procedures.</a:t>
            </a:r>
            <a:endParaRPr/>
          </a:p>
          <a:p>
            <a:pPr indent="-457200" lvl="0" marL="4572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Employees satisfaction is essential</a:t>
            </a:r>
            <a:endParaRPr/>
          </a:p>
          <a:p>
            <a:pPr indent="-457200" lvl="0" marL="4572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Proper division of authority and responsibility.</a:t>
            </a:r>
            <a:endParaRPr/>
          </a:p>
        </p:txBody>
      </p:sp>
      <p:sp>
        <p:nvSpPr>
          <p:cNvPr id="140" name="Google Shape;140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"/>
          <p:cNvSpPr txBox="1"/>
          <p:nvPr>
            <p:ph type="title"/>
          </p:nvPr>
        </p:nvSpPr>
        <p:spPr>
          <a:xfrm>
            <a:off x="539552" y="188640"/>
            <a:ext cx="8147248" cy="864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b="1" lang="en-US" sz="3200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Characteristics of Organization</a:t>
            </a:r>
            <a:endParaRPr b="1" sz="3200" u="sng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8"/>
          <p:cNvSpPr txBox="1"/>
          <p:nvPr>
            <p:ph idx="1" type="body"/>
          </p:nvPr>
        </p:nvSpPr>
        <p:spPr>
          <a:xfrm>
            <a:off x="395536" y="980728"/>
            <a:ext cx="8424936" cy="51454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Organization is made up of a group of people.</a:t>
            </a:r>
            <a:endParaRPr/>
          </a:p>
          <a:p>
            <a:pPr indent="-457200" lvl="0" marL="4572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The group works under an executive head.</a:t>
            </a:r>
            <a:endParaRPr/>
          </a:p>
          <a:p>
            <a:pPr indent="-457200" lvl="0" marL="4572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It leads to division of work and responsibilities</a:t>
            </a:r>
            <a:endParaRPr/>
          </a:p>
          <a:p>
            <a:pPr indent="-457200" lvl="0" marL="4572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It defines and fixes the duties and responsibilities of employees.</a:t>
            </a:r>
            <a:endParaRPr/>
          </a:p>
          <a:p>
            <a:pPr indent="-457200" lvl="0" marL="4572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It establishes a relationship between authority and responsibility and controls the effort of the group</a:t>
            </a:r>
            <a:endParaRPr/>
          </a:p>
          <a:p>
            <a:pPr indent="-457200" lvl="0" marL="4572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Organization is a step towards achievement of established goals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"/>
          <p:cNvSpPr txBox="1"/>
          <p:nvPr>
            <p:ph type="title"/>
          </p:nvPr>
        </p:nvSpPr>
        <p:spPr>
          <a:xfrm>
            <a:off x="539552" y="188640"/>
            <a:ext cx="8147248" cy="144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900"/>
              <a:buFont typeface="Times New Roman"/>
              <a:buNone/>
            </a:pPr>
            <a:r>
              <a:rPr b="1" lang="en-US" sz="2900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 of Organization</a:t>
            </a:r>
            <a:br>
              <a:rPr b="1" lang="en-US" sz="2900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2900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(Steps in </a:t>
            </a:r>
            <a:r>
              <a:rPr b="1" lang="en-US" sz="3200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organizing</a:t>
            </a:r>
            <a:r>
              <a:rPr b="1" lang="en-US" sz="2900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process)</a:t>
            </a:r>
            <a:endParaRPr b="1" sz="2900" u="sng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9"/>
          <p:cNvSpPr txBox="1"/>
          <p:nvPr>
            <p:ph idx="1" type="body"/>
          </p:nvPr>
        </p:nvSpPr>
        <p:spPr>
          <a:xfrm>
            <a:off x="395536" y="1628800"/>
            <a:ext cx="8424936" cy="4497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Determination of objectives, strategies, plans and policies.</a:t>
            </a:r>
            <a:endParaRPr/>
          </a:p>
          <a:p>
            <a:pPr indent="-457200" lvl="0" marL="4572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Determination of activities</a:t>
            </a:r>
            <a:endParaRPr/>
          </a:p>
          <a:p>
            <a:pPr indent="-457200" lvl="0" marL="4572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Separation and grouping of activities</a:t>
            </a:r>
            <a:endParaRPr/>
          </a:p>
          <a:p>
            <a:pPr indent="-457200" lvl="0" marL="4572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Delegation of authority</a:t>
            </a:r>
            <a:endParaRPr/>
          </a:p>
          <a:p>
            <a:pPr indent="-457200" lvl="0" marL="4572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Delegation of responsibility</a:t>
            </a:r>
            <a:endParaRPr/>
          </a:p>
          <a:p>
            <a:pPr indent="-457200" lvl="0" marL="4572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To establish inter-relationships</a:t>
            </a:r>
            <a:endParaRPr/>
          </a:p>
          <a:p>
            <a:pPr indent="-457200" lvl="0" marL="4572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Providing physical facilities and proper environment</a:t>
            </a:r>
            <a:endParaRPr/>
          </a:p>
          <a:p>
            <a:pPr indent="-457200" lvl="0" marL="4572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Preparation of Organisation chart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"/>
          <p:cNvSpPr txBox="1"/>
          <p:nvPr>
            <p:ph type="title"/>
          </p:nvPr>
        </p:nvSpPr>
        <p:spPr>
          <a:xfrm>
            <a:off x="539552" y="188640"/>
            <a:ext cx="8147248" cy="792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b="1" lang="en-US" sz="3200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Organization Chart</a:t>
            </a:r>
            <a:endParaRPr b="1" sz="3200" u="sng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1" name="Google Shape;16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1163" y="1196752"/>
            <a:ext cx="6236454" cy="41610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"/>
          <p:cNvSpPr txBox="1"/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b="1" lang="en-US" sz="3200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Principles of Organization</a:t>
            </a:r>
            <a:endParaRPr b="1" sz="3200" u="sng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11"/>
          <p:cNvSpPr txBox="1"/>
          <p:nvPr>
            <p:ph idx="1" type="body"/>
          </p:nvPr>
        </p:nvSpPr>
        <p:spPr>
          <a:xfrm>
            <a:off x="457200" y="1124744"/>
            <a:ext cx="8229600" cy="5328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14350" lvl="0" marL="51435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b="1" i="1" lang="en-US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Consideration of unity of objectives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: the objectives must be clearly defined for the entire enterprise, for each dept. and even for each position in the organisation structure.</a:t>
            </a:r>
            <a:endParaRPr/>
          </a:p>
          <a:p>
            <a:pPr indent="-514350" lvl="0" marL="51435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b="1" i="1" lang="en-US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Principle of specialization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: Work should be distributed among the persons very carefully on the basis of their skill, experience and ability to do that work.</a:t>
            </a:r>
            <a:endParaRPr/>
          </a:p>
          <a:p>
            <a:pPr indent="-514350" lvl="0" marL="51435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b="1" i="1" lang="en-US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Principle of authority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: Line of authority should be clearly established in the structure of organisation in order to avoid overlapping actions, omission of acts etc.</a:t>
            </a:r>
            <a:endParaRPr/>
          </a:p>
          <a:p>
            <a:pPr indent="-514350" lvl="0" marL="51435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b="1" i="1" lang="en-US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Principle of Co-ordination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: Different depts. should have to co-ordinate with each other to achieve common goals.</a:t>
            </a:r>
            <a:endParaRPr/>
          </a:p>
          <a:p>
            <a:pPr indent="-514350" lvl="0" marL="51435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b="1" i="1" lang="en-US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Principle of unity  of command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: Each subordinate should have only one superior and dual subordination should be avoided.</a:t>
            </a:r>
            <a:endParaRPr/>
          </a:p>
          <a:p>
            <a:pPr indent="-514350" lvl="0" marL="51435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b="1" i="1" lang="en-US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Principle of Span of control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: The no. of persons who are directly responsible to the executive is called span of control. In an average firm SOC range is from 6 to 20.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"/>
          <p:cNvSpPr txBox="1"/>
          <p:nvPr>
            <p:ph type="title"/>
          </p:nvPr>
        </p:nvSpPr>
        <p:spPr>
          <a:xfrm>
            <a:off x="457200" y="188640"/>
            <a:ext cx="8229600" cy="72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b="1" lang="en-US" sz="3200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Principles of Organization</a:t>
            </a:r>
            <a:endParaRPr sz="3200"/>
          </a:p>
        </p:txBody>
      </p:sp>
      <p:sp>
        <p:nvSpPr>
          <p:cNvPr id="174" name="Google Shape;174;p12"/>
          <p:cNvSpPr txBox="1"/>
          <p:nvPr>
            <p:ph idx="1" type="body"/>
          </p:nvPr>
        </p:nvSpPr>
        <p:spPr>
          <a:xfrm>
            <a:off x="428596" y="908720"/>
            <a:ext cx="8229600" cy="57349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14350" lvl="0" marL="51435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 startAt="7"/>
            </a:pPr>
            <a:r>
              <a:rPr b="1" i="1" lang="en-US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Principle of exception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: Only exceptionally complex matters should be referred to the executives for their decision and matters of routine nature should be decided by the sub-ordinate themselves.</a:t>
            </a:r>
            <a:endParaRPr/>
          </a:p>
          <a:p>
            <a:pPr indent="-514350" lvl="0" marL="514350" rtl="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 startAt="7"/>
            </a:pPr>
            <a:r>
              <a:rPr b="1" i="1" lang="en-US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Principle of flexibility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: The organisational structure should be flexible enough to permit slight alterations and expansions whenever needed, due to changed circumstances.</a:t>
            </a:r>
            <a:endParaRPr/>
          </a:p>
          <a:p>
            <a:pPr indent="-514350" lvl="0" marL="514350" rtl="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 startAt="7"/>
            </a:pPr>
            <a:r>
              <a:rPr b="1" i="1" lang="en-US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Principle of simplicity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: The organisational structure should be simple with minimum no. of levels</a:t>
            </a:r>
            <a:endParaRPr/>
          </a:p>
          <a:p>
            <a:pPr indent="-514350" lvl="0" marL="514350" rtl="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 startAt="7"/>
            </a:pPr>
            <a:r>
              <a:rPr b="1" i="1" lang="en-US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Principle of Responsibility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: the superior should be held responsible for the acts of his subordinates to whom he has delegated authority.</a:t>
            </a:r>
            <a:endParaRPr/>
          </a:p>
          <a:p>
            <a:pPr indent="-514350" lvl="0" marL="514350" rtl="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 startAt="7"/>
            </a:pPr>
            <a:r>
              <a:rPr b="1" i="1" lang="en-US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Principle of balance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: There should be balance between;</a:t>
            </a:r>
            <a:endParaRPr/>
          </a:p>
          <a:p>
            <a:pPr indent="-514350" lvl="1" marL="971550" rtl="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- the activities</a:t>
            </a:r>
            <a:endParaRPr/>
          </a:p>
          <a:p>
            <a:pPr indent="-514350" lvl="1" marL="971550" rtl="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- authority and responsibility</a:t>
            </a:r>
            <a:endParaRPr/>
          </a:p>
          <a:p>
            <a:pPr indent="-514350" lvl="1" marL="971550" rtl="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- standardization of procedures and flexibility</a:t>
            </a:r>
            <a:endParaRPr/>
          </a:p>
          <a:p>
            <a:pPr indent="-514350" lvl="1" marL="971550" rtl="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- centralization and decentralization</a:t>
            </a:r>
            <a:endParaRPr/>
          </a:p>
          <a:p>
            <a:pPr indent="-387350" lvl="1" marL="971550" rtl="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1" marL="971550" rtl="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"/>
          <p:cNvSpPr txBox="1"/>
          <p:nvPr>
            <p:ph type="title"/>
          </p:nvPr>
        </p:nvSpPr>
        <p:spPr>
          <a:xfrm>
            <a:off x="457200" y="274638"/>
            <a:ext cx="8229600" cy="634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b="1" lang="en-US" sz="3200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Principles of Organization</a:t>
            </a:r>
            <a:endParaRPr sz="3200"/>
          </a:p>
        </p:txBody>
      </p:sp>
      <p:sp>
        <p:nvSpPr>
          <p:cNvPr id="181" name="Google Shape;181;p13"/>
          <p:cNvSpPr txBox="1"/>
          <p:nvPr>
            <p:ph idx="1" type="body"/>
          </p:nvPr>
        </p:nvSpPr>
        <p:spPr>
          <a:xfrm>
            <a:off x="457200" y="1124744"/>
            <a:ext cx="8229600" cy="50014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514350" lvl="0" marL="51435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 startAt="12"/>
            </a:pPr>
            <a:r>
              <a:rPr b="1" i="1" lang="en-US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Principle of continuity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: The Organization structure should be in such a way that it enables to continue its useful existence for a longer period.</a:t>
            </a:r>
            <a:endParaRPr/>
          </a:p>
          <a:p>
            <a:pPr indent="-514350" lvl="0" marL="514350" rtl="0" algn="just">
              <a:lnSpc>
                <a:spcPct val="15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 startAt="12"/>
            </a:pPr>
            <a:r>
              <a:rPr b="1" i="1" lang="en-US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Scalar principle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: The authority originating from the top should flow below without any interruption.</a:t>
            </a:r>
            <a:endParaRPr/>
          </a:p>
          <a:p>
            <a:pPr indent="-514350" lvl="0" marL="514350" rtl="0" algn="just">
              <a:lnSpc>
                <a:spcPct val="15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 startAt="12"/>
            </a:pPr>
            <a:r>
              <a:rPr b="1" i="1" lang="en-US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Principle of parity between authority and responsibility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: Authority means ability of the superior to command and responsibility means the obligation of the subordinates to a superior to perform the assigned task. Both should go hand in hand.</a:t>
            </a:r>
            <a:endParaRPr/>
          </a:p>
          <a:p>
            <a:pPr indent="-514350" lvl="0" marL="514350" rtl="0" algn="just">
              <a:lnSpc>
                <a:spcPct val="15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 startAt="12"/>
            </a:pPr>
            <a:r>
              <a:rPr b="1" i="1" lang="en-US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Principle of efficiency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: Enabling the enterprise to attain objectives with minimum cost and effort.</a:t>
            </a:r>
            <a:endParaRPr/>
          </a:p>
          <a:p>
            <a:pPr indent="-514350" lvl="0" marL="514350" rtl="0" algn="just">
              <a:lnSpc>
                <a:spcPct val="15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 startAt="12"/>
            </a:pPr>
            <a:r>
              <a:rPr b="1" i="1" lang="en-US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Principle of Communication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: A good communication system is essential for smooth flow of information.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" name="Google Shape;18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4"/>
          <p:cNvSpPr txBox="1"/>
          <p:nvPr>
            <p:ph type="title"/>
          </p:nvPr>
        </p:nvSpPr>
        <p:spPr>
          <a:xfrm>
            <a:off x="457200" y="274638"/>
            <a:ext cx="8229600" cy="634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b="1" lang="en-US" sz="3200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Organization</a:t>
            </a:r>
            <a:endParaRPr b="1" sz="3200" u="sng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p14"/>
          <p:cNvSpPr txBox="1"/>
          <p:nvPr>
            <p:ph idx="1" type="body"/>
          </p:nvPr>
        </p:nvSpPr>
        <p:spPr>
          <a:xfrm>
            <a:off x="457200" y="1124744"/>
            <a:ext cx="8229600" cy="50014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200"/>
              <a:buFont typeface="Noto Sans Symbols"/>
              <a:buChar char="⮚"/>
            </a:pPr>
            <a:r>
              <a:rPr lang="en-US" sz="22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Formal Organization</a:t>
            </a:r>
            <a:endParaRPr/>
          </a:p>
          <a:p>
            <a:pPr indent="-285750" lvl="1" marL="742950" rtl="0" algn="just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FO are those which have a system of well defined positions, authority, responsibility, rules, policies, principles etc. </a:t>
            </a:r>
            <a:endParaRPr/>
          </a:p>
          <a:p>
            <a:pPr indent="-285750" lvl="1" marL="742950" rtl="0" algn="just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They are co-ordinated towards a common objectives.</a:t>
            </a:r>
            <a:endParaRPr/>
          </a:p>
          <a:p>
            <a:pPr indent="-203200" lvl="0" marL="342900" rtl="0" algn="just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just">
              <a:spcBef>
                <a:spcPts val="440"/>
              </a:spcBef>
              <a:spcAft>
                <a:spcPts val="0"/>
              </a:spcAft>
              <a:buClr>
                <a:srgbClr val="7030A0"/>
              </a:buClr>
              <a:buSzPts val="2200"/>
              <a:buFont typeface="Noto Sans Symbols"/>
              <a:buChar char="⮚"/>
            </a:pPr>
            <a:r>
              <a:rPr lang="en-US" sz="22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Informal Organization</a:t>
            </a:r>
            <a:endParaRPr/>
          </a:p>
          <a:p>
            <a:pPr indent="-285750" lvl="1" marL="742950" rtl="0" algn="just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Arises  from the personal and social relations of the people which may or may not be work related.</a:t>
            </a:r>
            <a:endParaRPr/>
          </a:p>
          <a:p>
            <a:pPr indent="-285750" lvl="1" marL="742950" rtl="0" algn="just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Arising spontaneously as people associate with one another.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95" name="Google Shape;195;p1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6513" y="1600200"/>
            <a:ext cx="6930973" cy="4525963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6"/>
          <p:cNvSpPr txBox="1"/>
          <p:nvPr>
            <p:ph type="title"/>
          </p:nvPr>
        </p:nvSpPr>
        <p:spPr>
          <a:xfrm>
            <a:off x="457200" y="274638"/>
            <a:ext cx="8229600" cy="634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b="1" lang="en-US" sz="3200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Organization</a:t>
            </a:r>
            <a:endParaRPr b="1" sz="3200" u="sng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3" name="Google Shape;20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" y="947886"/>
            <a:ext cx="9134475" cy="550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Times New Roman"/>
              <a:buNone/>
            </a:pPr>
            <a:r>
              <a:rPr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Difference between formal and informal organization</a:t>
            </a:r>
            <a:endParaRPr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9" name="Google Shape;209;p1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1719" y="1600200"/>
            <a:ext cx="8116235" cy="47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16" name="Google Shape;216;p1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60648"/>
            <a:ext cx="8229600" cy="2534077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8" name="Google Shape;21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5535" y="3068960"/>
            <a:ext cx="8296519" cy="2250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9"/>
          <p:cNvSpPr txBox="1"/>
          <p:nvPr>
            <p:ph type="title"/>
          </p:nvPr>
        </p:nvSpPr>
        <p:spPr>
          <a:xfrm>
            <a:off x="457200" y="274638"/>
            <a:ext cx="8229600" cy="634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b="1" lang="en-US" sz="3200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Organization Structure</a:t>
            </a:r>
            <a:endParaRPr b="1" sz="3200" u="sng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" name="Google Shape;224;p19"/>
          <p:cNvSpPr txBox="1"/>
          <p:nvPr>
            <p:ph idx="1" type="body"/>
          </p:nvPr>
        </p:nvSpPr>
        <p:spPr>
          <a:xfrm>
            <a:off x="457200" y="1124744"/>
            <a:ext cx="8229600" cy="50014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✔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OS means the systematic arrangement of people working for the organization and their relationship between positions.</a:t>
            </a:r>
            <a:endParaRPr/>
          </a:p>
          <a:p>
            <a:pPr indent="-342900" lvl="0" marL="342900" rtl="0" algn="just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✔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It defines the functions to be performed, objectives to be established, the availability of resources, working relationship of the individual participants etc. </a:t>
            </a:r>
            <a:endParaRPr/>
          </a:p>
          <a:p>
            <a:pPr indent="-203200" lvl="0" marL="342900" rtl="0" algn="just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rgbClr val="7030A0"/>
              </a:buClr>
              <a:buSzPts val="2200"/>
              <a:buFont typeface="Noto Sans Symbols"/>
              <a:buChar char="✔"/>
            </a:pPr>
            <a:r>
              <a:rPr b="1" lang="en-US" sz="22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Factors</a:t>
            </a:r>
            <a:endParaRPr/>
          </a:p>
          <a:p>
            <a:pPr indent="-2032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t/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❖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	Size of Organization.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❖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	Nature of the product being manufactured.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❖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	Complexity of problem being faced.</a:t>
            </a:r>
            <a:endParaRPr/>
          </a:p>
        </p:txBody>
      </p:sp>
      <p:sp>
        <p:nvSpPr>
          <p:cNvPr id="225" name="Google Shape;225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6" name="Google Shape;22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58636" y="4431582"/>
            <a:ext cx="2658086" cy="2426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0"/>
          <p:cNvSpPr txBox="1"/>
          <p:nvPr>
            <p:ph type="title"/>
          </p:nvPr>
        </p:nvSpPr>
        <p:spPr>
          <a:xfrm>
            <a:off x="457200" y="274638"/>
            <a:ext cx="8229600" cy="10661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b="1" lang="en-US" sz="3200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Organization Structure</a:t>
            </a:r>
            <a:endParaRPr b="1" sz="3200" u="sng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2" name="Google Shape;232;p20"/>
          <p:cNvSpPr txBox="1"/>
          <p:nvPr>
            <p:ph idx="1" type="body"/>
          </p:nvPr>
        </p:nvSpPr>
        <p:spPr>
          <a:xfrm>
            <a:off x="457200" y="1124744"/>
            <a:ext cx="8229600" cy="50014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❑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A few commonly known forms of organization structures or types of organization are:</a:t>
            </a:r>
            <a:endParaRPr/>
          </a:p>
          <a:p>
            <a:pPr indent="-228600" lvl="4" marL="2057400" rtl="0" algn="just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1) Line organization</a:t>
            </a:r>
            <a:endParaRPr/>
          </a:p>
          <a:p>
            <a:pPr indent="-228600" lvl="4" marL="2057400" rtl="0" algn="just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2) Line and staff organization</a:t>
            </a:r>
            <a:endParaRPr/>
          </a:p>
          <a:p>
            <a:pPr indent="-228600" lvl="4" marL="2057400" rtl="0" algn="just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3) Functional Organization</a:t>
            </a:r>
            <a:endParaRPr/>
          </a:p>
          <a:p>
            <a:pPr indent="-228600" lvl="4" marL="2057400" rtl="0" algn="just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4) Project Organization, and</a:t>
            </a:r>
            <a:endParaRPr/>
          </a:p>
          <a:p>
            <a:pPr indent="-228600" lvl="4" marL="2057400" rtl="0" algn="just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5) Matrix Organization</a:t>
            </a:r>
            <a:endParaRPr/>
          </a:p>
        </p:txBody>
      </p:sp>
      <p:sp>
        <p:nvSpPr>
          <p:cNvPr id="233" name="Google Shape;23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1"/>
          <p:cNvSpPr txBox="1"/>
          <p:nvPr>
            <p:ph type="title"/>
          </p:nvPr>
        </p:nvSpPr>
        <p:spPr>
          <a:xfrm>
            <a:off x="457200" y="274638"/>
            <a:ext cx="8229600" cy="9941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b="1" lang="en-US" sz="3200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 Organization</a:t>
            </a:r>
            <a:endParaRPr b="1" sz="3200" u="sng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" name="Google Shape;239;p21"/>
          <p:cNvSpPr txBox="1"/>
          <p:nvPr>
            <p:ph idx="1" type="body"/>
          </p:nvPr>
        </p:nvSpPr>
        <p:spPr>
          <a:xfrm>
            <a:off x="457200" y="1124744"/>
            <a:ext cx="8229600" cy="5544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1" marL="74295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Based on similarities of activities, different  departments are created.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Each department is placed under one department head &amp; he/she has the full authority all over them.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Authority flows from top to bottom in a vertical line.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Unity of command is maintained.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Superior will be responsible for the performance of sub-ordinate to his commanding officer.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Line Organization is also called military or scalar organization. 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Line organization is suitable for small concerns and for automatic and continuous process industries such as paper, sugar, cement, textile, etc.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0" name="Google Shape;24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2"/>
          <p:cNvSpPr txBox="1"/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b="1" lang="en-US" sz="3200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 Organization</a:t>
            </a:r>
            <a:endParaRPr b="1" sz="3200" u="sng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6" name="Google Shape;246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47" name="Google Shape;24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5905" y="1096354"/>
            <a:ext cx="3192190" cy="54425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3"/>
          <p:cNvSpPr txBox="1"/>
          <p:nvPr>
            <p:ph type="title"/>
          </p:nvPr>
        </p:nvSpPr>
        <p:spPr>
          <a:xfrm>
            <a:off x="457200" y="274638"/>
            <a:ext cx="8229600" cy="7780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b="1" lang="en-US" sz="3200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 Organization</a:t>
            </a:r>
            <a:endParaRPr b="1" sz="3200" u="sng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" name="Google Shape;25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F:\SOE\POM 2020\Line Structure.jpg" id="254" name="Google Shape;25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9632" y="1340768"/>
            <a:ext cx="6762750" cy="494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4"/>
          <p:cNvSpPr txBox="1"/>
          <p:nvPr>
            <p:ph type="title"/>
          </p:nvPr>
        </p:nvSpPr>
        <p:spPr>
          <a:xfrm>
            <a:off x="457200" y="274638"/>
            <a:ext cx="8229600" cy="9221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b="1" lang="en-US" sz="3200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 of Line structure</a:t>
            </a:r>
            <a:endParaRPr/>
          </a:p>
        </p:txBody>
      </p:sp>
      <p:sp>
        <p:nvSpPr>
          <p:cNvPr id="260" name="Google Shape;260;p24"/>
          <p:cNvSpPr txBox="1"/>
          <p:nvPr>
            <p:ph idx="1" type="body"/>
          </p:nvPr>
        </p:nvSpPr>
        <p:spPr>
          <a:xfrm>
            <a:off x="457200" y="1484784"/>
            <a:ext cx="8229600" cy="51845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1" marL="74295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Simplicity and clarity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Clear cut authority and responsibility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Strong discipline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Capable of developing all round executives at higher levels of authority</a:t>
            </a:r>
            <a:endParaRPr/>
          </a:p>
        </p:txBody>
      </p:sp>
      <p:sp>
        <p:nvSpPr>
          <p:cNvPr id="261" name="Google Shape;261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5"/>
          <p:cNvSpPr txBox="1"/>
          <p:nvPr>
            <p:ph type="title"/>
          </p:nvPr>
        </p:nvSpPr>
        <p:spPr>
          <a:xfrm>
            <a:off x="457200" y="274638"/>
            <a:ext cx="8229600" cy="10661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1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Disadvantages of Line structure</a:t>
            </a:r>
            <a:endParaRPr/>
          </a:p>
        </p:txBody>
      </p:sp>
      <p:sp>
        <p:nvSpPr>
          <p:cNvPr id="267" name="Google Shape;267;p25"/>
          <p:cNvSpPr txBox="1"/>
          <p:nvPr>
            <p:ph idx="1" type="body"/>
          </p:nvPr>
        </p:nvSpPr>
        <p:spPr>
          <a:xfrm>
            <a:off x="457200" y="1124744"/>
            <a:ext cx="8229600" cy="5544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1" marL="74295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just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Neglects specialists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Lack of specialization may lead to wastage of materials as well as man and machine hours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Overloads a few important executives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Encourages dictatorial way of working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Limited to very small concerns</a:t>
            </a:r>
            <a:endParaRPr/>
          </a:p>
        </p:txBody>
      </p:sp>
      <p:sp>
        <p:nvSpPr>
          <p:cNvPr id="268" name="Google Shape;268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6"/>
          <p:cNvSpPr txBox="1"/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1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 and staff organization</a:t>
            </a:r>
            <a:endParaRPr/>
          </a:p>
        </p:txBody>
      </p:sp>
      <p:sp>
        <p:nvSpPr>
          <p:cNvPr id="274" name="Google Shape;274;p26"/>
          <p:cNvSpPr txBox="1"/>
          <p:nvPr>
            <p:ph idx="1" type="body"/>
          </p:nvPr>
        </p:nvSpPr>
        <p:spPr>
          <a:xfrm>
            <a:off x="457200" y="1628800"/>
            <a:ext cx="8229600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1" marL="74295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In a big organization manager will have to do a variety of functions and he may not be expertise in all areas.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Special executives will be employed to assist line executives and they were known as staff, whom to perform specialized function.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Supervisory authority will be given for line executives and the staff executives gives advices and expert opinion, have no direct authority.  </a:t>
            </a:r>
            <a:endParaRPr/>
          </a:p>
        </p:txBody>
      </p:sp>
      <p:sp>
        <p:nvSpPr>
          <p:cNvPr id="275" name="Google Shape;275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7"/>
          <p:cNvSpPr txBox="1"/>
          <p:nvPr>
            <p:ph type="title"/>
          </p:nvPr>
        </p:nvSpPr>
        <p:spPr>
          <a:xfrm>
            <a:off x="457200" y="0"/>
            <a:ext cx="8229600" cy="980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1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 and staff organization</a:t>
            </a:r>
            <a:endParaRPr/>
          </a:p>
        </p:txBody>
      </p:sp>
      <p:sp>
        <p:nvSpPr>
          <p:cNvPr id="281" name="Google Shape;281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2" name="Google Shape;28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29394" y="1196752"/>
            <a:ext cx="4085212" cy="52009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8"/>
          <p:cNvSpPr txBox="1"/>
          <p:nvPr>
            <p:ph type="title"/>
          </p:nvPr>
        </p:nvSpPr>
        <p:spPr>
          <a:xfrm>
            <a:off x="457200" y="274638"/>
            <a:ext cx="8229600" cy="9221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b="1" lang="en-US" sz="3200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 of Line and staff organization</a:t>
            </a:r>
            <a:endParaRPr/>
          </a:p>
        </p:txBody>
      </p:sp>
      <p:sp>
        <p:nvSpPr>
          <p:cNvPr id="288" name="Google Shape;288;p28"/>
          <p:cNvSpPr txBox="1"/>
          <p:nvPr>
            <p:ph idx="1" type="body"/>
          </p:nvPr>
        </p:nvSpPr>
        <p:spPr>
          <a:xfrm>
            <a:off x="457200" y="1484784"/>
            <a:ext cx="8229600" cy="51845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1" marL="74295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Specialization benefits of staff can be profitably utilized to have standard operations.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Line executives are relieved of some of their workloads and are thus able to concentrate on other important matters.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Less wastage of material and labour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just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Improved product quality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Relatively flexible</a:t>
            </a:r>
            <a:endParaRPr/>
          </a:p>
        </p:txBody>
      </p:sp>
      <p:sp>
        <p:nvSpPr>
          <p:cNvPr id="289" name="Google Shape;289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9"/>
          <p:cNvSpPr txBox="1"/>
          <p:nvPr>
            <p:ph type="title"/>
          </p:nvPr>
        </p:nvSpPr>
        <p:spPr>
          <a:xfrm>
            <a:off x="457200" y="274638"/>
            <a:ext cx="8229600" cy="10661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1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Disadvantages of Line and staff organization</a:t>
            </a:r>
            <a:endParaRPr/>
          </a:p>
        </p:txBody>
      </p:sp>
      <p:sp>
        <p:nvSpPr>
          <p:cNvPr id="295" name="Google Shape;295;p29"/>
          <p:cNvSpPr txBox="1"/>
          <p:nvPr>
            <p:ph idx="1" type="body"/>
          </p:nvPr>
        </p:nvSpPr>
        <p:spPr>
          <a:xfrm>
            <a:off x="457200" y="1340768"/>
            <a:ext cx="8229600" cy="5328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1" marL="74295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Staff – line conflict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Paper work may be increased very much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Staff men may dominate over the lower the lower-level line managers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Increased product cost because of high salaries of staff executives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Too much staff activity may complicate a line executive’s job of leadership and control</a:t>
            </a:r>
            <a:endParaRPr/>
          </a:p>
        </p:txBody>
      </p:sp>
      <p:sp>
        <p:nvSpPr>
          <p:cNvPr id="296" name="Google Shape;296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0"/>
          <p:cNvSpPr txBox="1"/>
          <p:nvPr>
            <p:ph type="title"/>
          </p:nvPr>
        </p:nvSpPr>
        <p:spPr>
          <a:xfrm>
            <a:off x="457200" y="0"/>
            <a:ext cx="8229600" cy="980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1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 and staff organization</a:t>
            </a:r>
            <a:endParaRPr/>
          </a:p>
        </p:txBody>
      </p:sp>
      <p:sp>
        <p:nvSpPr>
          <p:cNvPr id="302" name="Google Shape;302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03" name="Google Shape;30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3647" y="885834"/>
            <a:ext cx="6392639" cy="54768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1"/>
          <p:cNvSpPr txBox="1"/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1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Functional organization</a:t>
            </a:r>
            <a:endParaRPr/>
          </a:p>
        </p:txBody>
      </p:sp>
      <p:sp>
        <p:nvSpPr>
          <p:cNvPr id="309" name="Google Shape;309;p31"/>
          <p:cNvSpPr txBox="1"/>
          <p:nvPr>
            <p:ph idx="1" type="body"/>
          </p:nvPr>
        </p:nvSpPr>
        <p:spPr>
          <a:xfrm>
            <a:off x="457200" y="1196752"/>
            <a:ext cx="8229600" cy="547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1" marL="74295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Modified form of line organization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Authority rests with functional heads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Staffs are grouped and located by specialty into functional departments: each headed by a functional manager. Each member of staff has one clear boss.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Functional manager are specialists in their respective areas and is based on high degree of specialization.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This specialization leads to greater efficiency and refinement of particular expertise. 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The functional structure helps to focus on those departments that are critical for the success of the enterprise.</a:t>
            </a:r>
            <a:endParaRPr/>
          </a:p>
        </p:txBody>
      </p:sp>
      <p:sp>
        <p:nvSpPr>
          <p:cNvPr id="310" name="Google Shape;310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2"/>
          <p:cNvSpPr txBox="1"/>
          <p:nvPr>
            <p:ph type="title"/>
          </p:nvPr>
        </p:nvSpPr>
        <p:spPr>
          <a:xfrm>
            <a:off x="457200" y="0"/>
            <a:ext cx="8229600" cy="980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1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Functional organization</a:t>
            </a:r>
            <a:endParaRPr/>
          </a:p>
        </p:txBody>
      </p:sp>
      <p:sp>
        <p:nvSpPr>
          <p:cNvPr id="316" name="Google Shape;316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17" name="Google Shape;31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863" y="1876425"/>
            <a:ext cx="8296275" cy="310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3"/>
          <p:cNvSpPr txBox="1"/>
          <p:nvPr>
            <p:ph type="title"/>
          </p:nvPr>
        </p:nvSpPr>
        <p:spPr>
          <a:xfrm>
            <a:off x="457200" y="274638"/>
            <a:ext cx="8229600" cy="9221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b="1" lang="en-US" sz="3200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 of Functional organization</a:t>
            </a:r>
            <a:endParaRPr/>
          </a:p>
        </p:txBody>
      </p:sp>
      <p:sp>
        <p:nvSpPr>
          <p:cNvPr id="323" name="Google Shape;323;p33"/>
          <p:cNvSpPr txBox="1"/>
          <p:nvPr>
            <p:ph idx="1" type="body"/>
          </p:nvPr>
        </p:nvSpPr>
        <p:spPr>
          <a:xfrm>
            <a:off x="457200" y="1484784"/>
            <a:ext cx="8229600" cy="51845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1" marL="74295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Efficient use of resources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Simplifies training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Promotes professional development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Centralized control of strategic decisions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Improved quality of work</a:t>
            </a:r>
            <a:endParaRPr/>
          </a:p>
        </p:txBody>
      </p:sp>
      <p:sp>
        <p:nvSpPr>
          <p:cNvPr id="324" name="Google Shape;324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4"/>
          <p:cNvSpPr txBox="1"/>
          <p:nvPr>
            <p:ph type="title"/>
          </p:nvPr>
        </p:nvSpPr>
        <p:spPr>
          <a:xfrm>
            <a:off x="457200" y="274638"/>
            <a:ext cx="8229600" cy="10661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1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Disadvantages of Functional organization</a:t>
            </a:r>
            <a:endParaRPr/>
          </a:p>
        </p:txBody>
      </p:sp>
      <p:sp>
        <p:nvSpPr>
          <p:cNvPr id="330" name="Google Shape;330;p34"/>
          <p:cNvSpPr txBox="1"/>
          <p:nvPr>
            <p:ph idx="1" type="body"/>
          </p:nvPr>
        </p:nvSpPr>
        <p:spPr>
          <a:xfrm>
            <a:off x="457200" y="1340768"/>
            <a:ext cx="8229600" cy="4392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1" marL="74295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just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Limits development of general managers or all-round executives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Restricted view of company objectives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Difficulty in multifunctional decision making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Promotes narrow specialization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Makes industrial relationships more complex</a:t>
            </a:r>
            <a:endParaRPr/>
          </a:p>
        </p:txBody>
      </p:sp>
      <p:sp>
        <p:nvSpPr>
          <p:cNvPr id="331" name="Google Shape;331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5"/>
          <p:cNvSpPr txBox="1"/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1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Organization</a:t>
            </a:r>
            <a:endParaRPr/>
          </a:p>
        </p:txBody>
      </p:sp>
      <p:sp>
        <p:nvSpPr>
          <p:cNvPr id="337" name="Google Shape;337;p35"/>
          <p:cNvSpPr txBox="1"/>
          <p:nvPr>
            <p:ph idx="1" type="body"/>
          </p:nvPr>
        </p:nvSpPr>
        <p:spPr>
          <a:xfrm>
            <a:off x="457200" y="1196752"/>
            <a:ext cx="8229600" cy="547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1" marL="74295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Firms dealing with multiple products or different projects usually adopt project organization.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It consist of an autonomous project team, existing independently of the rest of organization.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The emphasis in project organization is on creation of teams for the accomplishment of specific objectives.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The project team is assembled for a specific project under the action of project manager.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The team is thus temporary and will be dispersed when the project is completed.</a:t>
            </a:r>
            <a:endParaRPr/>
          </a:p>
          <a:p>
            <a:pPr indent="-158750" lvl="1" marL="742950" rtl="0" algn="just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8" name="Google Shape;338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6"/>
          <p:cNvSpPr txBox="1"/>
          <p:nvPr>
            <p:ph type="title"/>
          </p:nvPr>
        </p:nvSpPr>
        <p:spPr>
          <a:xfrm>
            <a:off x="457200" y="0"/>
            <a:ext cx="8229600" cy="980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1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Organization</a:t>
            </a:r>
            <a:endParaRPr/>
          </a:p>
        </p:txBody>
      </p:sp>
      <p:sp>
        <p:nvSpPr>
          <p:cNvPr id="344" name="Google Shape;344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45" name="Google Shape;34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958" y="1122040"/>
            <a:ext cx="8744084" cy="4971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7"/>
          <p:cNvSpPr txBox="1"/>
          <p:nvPr>
            <p:ph type="title"/>
          </p:nvPr>
        </p:nvSpPr>
        <p:spPr>
          <a:xfrm>
            <a:off x="457200" y="274638"/>
            <a:ext cx="8229600" cy="9221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b="1" lang="en-US" sz="3200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 of Project Organization</a:t>
            </a:r>
            <a:endParaRPr/>
          </a:p>
        </p:txBody>
      </p:sp>
      <p:sp>
        <p:nvSpPr>
          <p:cNvPr id="351" name="Google Shape;351;p37"/>
          <p:cNvSpPr txBox="1"/>
          <p:nvPr>
            <p:ph idx="1" type="body"/>
          </p:nvPr>
        </p:nvSpPr>
        <p:spPr>
          <a:xfrm>
            <a:off x="457200" y="1484784"/>
            <a:ext cx="8229600" cy="51845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1" marL="74295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Flexibility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Responsive to changing environment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Encourages team work</a:t>
            </a:r>
            <a:endParaRPr/>
          </a:p>
        </p:txBody>
      </p:sp>
      <p:sp>
        <p:nvSpPr>
          <p:cNvPr id="352" name="Google Shape;352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8"/>
          <p:cNvSpPr txBox="1"/>
          <p:nvPr>
            <p:ph type="title"/>
          </p:nvPr>
        </p:nvSpPr>
        <p:spPr>
          <a:xfrm>
            <a:off x="457200" y="274638"/>
            <a:ext cx="8229600" cy="10661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1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Disadvantages of Project Organization</a:t>
            </a:r>
            <a:endParaRPr/>
          </a:p>
        </p:txBody>
      </p:sp>
      <p:sp>
        <p:nvSpPr>
          <p:cNvPr id="358" name="Google Shape;358;p38"/>
          <p:cNvSpPr txBox="1"/>
          <p:nvPr>
            <p:ph idx="1" type="body"/>
          </p:nvPr>
        </p:nvSpPr>
        <p:spPr>
          <a:xfrm>
            <a:off x="457200" y="1340768"/>
            <a:ext cx="8229600" cy="4392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1" marL="74295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just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Projects can be of short duration leading to frequent change in organization structure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Professionals prefer to be allied with their professional group rather than being allied with a project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Trained professionals need not tolerate the insecurity of frequent organization change</a:t>
            </a:r>
            <a:endParaRPr/>
          </a:p>
        </p:txBody>
      </p:sp>
      <p:sp>
        <p:nvSpPr>
          <p:cNvPr id="359" name="Google Shape;359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9"/>
          <p:cNvSpPr txBox="1"/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1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Matrix Organization</a:t>
            </a:r>
            <a:endParaRPr/>
          </a:p>
        </p:txBody>
      </p:sp>
      <p:sp>
        <p:nvSpPr>
          <p:cNvPr id="365" name="Google Shape;365;p39"/>
          <p:cNvSpPr txBox="1"/>
          <p:nvPr>
            <p:ph idx="1" type="body"/>
          </p:nvPr>
        </p:nvSpPr>
        <p:spPr>
          <a:xfrm>
            <a:off x="457200" y="1196752"/>
            <a:ext cx="8229600" cy="547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1" marL="74295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They are those that comes between fully functional and fully project organizational structure.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Staffs are grouped and located by speciality into functional units headed by a functional manager.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The project manager works with the functional manager for timely completion of project.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The matrix organization is an organization structure that establishes two chains of command, one vertical and one horizontal, at the same time.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It is intended to combine the advantages of functional structure and project structure.</a:t>
            </a:r>
            <a:endParaRPr/>
          </a:p>
        </p:txBody>
      </p:sp>
      <p:sp>
        <p:nvSpPr>
          <p:cNvPr id="366" name="Google Shape;366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0"/>
          <p:cNvSpPr txBox="1"/>
          <p:nvPr>
            <p:ph type="title"/>
          </p:nvPr>
        </p:nvSpPr>
        <p:spPr>
          <a:xfrm>
            <a:off x="457200" y="0"/>
            <a:ext cx="8229600" cy="980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1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Matrix Organization</a:t>
            </a:r>
            <a:endParaRPr/>
          </a:p>
        </p:txBody>
      </p:sp>
      <p:sp>
        <p:nvSpPr>
          <p:cNvPr id="372" name="Google Shape;372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73" name="Google Shape;37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538" y="900113"/>
            <a:ext cx="8924925" cy="505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1"/>
          <p:cNvSpPr txBox="1"/>
          <p:nvPr>
            <p:ph type="title"/>
          </p:nvPr>
        </p:nvSpPr>
        <p:spPr>
          <a:xfrm>
            <a:off x="457200" y="274638"/>
            <a:ext cx="8229600" cy="9221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b="1" lang="en-US" sz="3200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 of Matrix Organization</a:t>
            </a:r>
            <a:endParaRPr/>
          </a:p>
        </p:txBody>
      </p:sp>
      <p:sp>
        <p:nvSpPr>
          <p:cNvPr id="379" name="Google Shape;379;p41"/>
          <p:cNvSpPr txBox="1"/>
          <p:nvPr>
            <p:ph idx="1" type="body"/>
          </p:nvPr>
        </p:nvSpPr>
        <p:spPr>
          <a:xfrm>
            <a:off x="457200" y="1484784"/>
            <a:ext cx="8229600" cy="51845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1" marL="74295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Decentralized decision making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Efficient use of functional managers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Capable of adapting to fast environmental changes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Flexibility</a:t>
            </a:r>
            <a:endParaRPr/>
          </a:p>
        </p:txBody>
      </p:sp>
      <p:sp>
        <p:nvSpPr>
          <p:cNvPr id="380" name="Google Shape;380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2"/>
          <p:cNvSpPr txBox="1"/>
          <p:nvPr>
            <p:ph type="title"/>
          </p:nvPr>
        </p:nvSpPr>
        <p:spPr>
          <a:xfrm>
            <a:off x="457200" y="274638"/>
            <a:ext cx="8229600" cy="10661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1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Disadvantages of Matrix Organization</a:t>
            </a:r>
            <a:endParaRPr/>
          </a:p>
        </p:txBody>
      </p:sp>
      <p:sp>
        <p:nvSpPr>
          <p:cNvPr id="386" name="Google Shape;386;p42"/>
          <p:cNvSpPr txBox="1"/>
          <p:nvPr>
            <p:ph idx="1" type="body"/>
          </p:nvPr>
        </p:nvSpPr>
        <p:spPr>
          <a:xfrm>
            <a:off x="457200" y="1340768"/>
            <a:ext cx="8229600" cy="4392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46050" lvl="1" marL="74295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just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Violates the principle of unity of command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High administrative costs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Requires tremendous horizontal and vertical co-ordination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Chances of interpersonal conflicts</a:t>
            </a:r>
            <a:endParaRPr/>
          </a:p>
        </p:txBody>
      </p:sp>
      <p:sp>
        <p:nvSpPr>
          <p:cNvPr id="387" name="Google Shape;387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2016-07-20T05:03:16Z</dcterms:created>
  <dc:creator>Faizal</dc:creator>
</cp:coreProperties>
</file>