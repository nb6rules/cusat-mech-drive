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258" r:id="rId2"/>
    <p:sldId id="290" r:id="rId3"/>
    <p:sldId id="260" r:id="rId4"/>
    <p:sldId id="285" r:id="rId5"/>
    <p:sldId id="286" r:id="rId6"/>
    <p:sldId id="261" r:id="rId7"/>
    <p:sldId id="287" r:id="rId8"/>
    <p:sldId id="262" r:id="rId9"/>
    <p:sldId id="263" r:id="rId10"/>
    <p:sldId id="291" r:id="rId11"/>
    <p:sldId id="288" r:id="rId12"/>
    <p:sldId id="292" r:id="rId13"/>
    <p:sldId id="264" r:id="rId14"/>
    <p:sldId id="293" r:id="rId15"/>
    <p:sldId id="294" r:id="rId16"/>
    <p:sldId id="265" r:id="rId17"/>
    <p:sldId id="295" r:id="rId18"/>
    <p:sldId id="266" r:id="rId19"/>
    <p:sldId id="289" r:id="rId20"/>
    <p:sldId id="267" r:id="rId21"/>
    <p:sldId id="296" r:id="rId22"/>
    <p:sldId id="298" r:id="rId23"/>
    <p:sldId id="299" r:id="rId24"/>
    <p:sldId id="303" r:id="rId25"/>
    <p:sldId id="300" r:id="rId26"/>
    <p:sldId id="301" r:id="rId27"/>
    <p:sldId id="302" r:id="rId28"/>
    <p:sldId id="268" r:id="rId29"/>
    <p:sldId id="269" r:id="rId30"/>
    <p:sldId id="304" r:id="rId31"/>
    <p:sldId id="270" r:id="rId32"/>
    <p:sldId id="271" r:id="rId33"/>
    <p:sldId id="306" r:id="rId34"/>
    <p:sldId id="272" r:id="rId35"/>
    <p:sldId id="308" r:id="rId36"/>
    <p:sldId id="307" r:id="rId37"/>
    <p:sldId id="273" r:id="rId38"/>
    <p:sldId id="309" r:id="rId39"/>
    <p:sldId id="274" r:id="rId40"/>
    <p:sldId id="310" r:id="rId41"/>
    <p:sldId id="311" r:id="rId42"/>
    <p:sldId id="313" r:id="rId43"/>
    <p:sldId id="312" r:id="rId44"/>
    <p:sldId id="314" r:id="rId45"/>
    <p:sldId id="315" r:id="rId46"/>
    <p:sldId id="316" r:id="rId47"/>
    <p:sldId id="317" r:id="rId48"/>
    <p:sldId id="318" r:id="rId49"/>
    <p:sldId id="319" r:id="rId50"/>
    <p:sldId id="320" r:id="rId51"/>
    <p:sldId id="321" r:id="rId52"/>
    <p:sldId id="322" r:id="rId53"/>
    <p:sldId id="349" r:id="rId54"/>
    <p:sldId id="323" r:id="rId55"/>
    <p:sldId id="324" r:id="rId56"/>
    <p:sldId id="325" r:id="rId57"/>
    <p:sldId id="326" r:id="rId58"/>
    <p:sldId id="327" r:id="rId59"/>
    <p:sldId id="328" r:id="rId60"/>
    <p:sldId id="331" r:id="rId61"/>
    <p:sldId id="332" r:id="rId62"/>
    <p:sldId id="333" r:id="rId63"/>
    <p:sldId id="334" r:id="rId64"/>
    <p:sldId id="335" r:id="rId65"/>
    <p:sldId id="336" r:id="rId66"/>
    <p:sldId id="337" r:id="rId67"/>
    <p:sldId id="338" r:id="rId68"/>
    <p:sldId id="339" r:id="rId69"/>
    <p:sldId id="340" r:id="rId70"/>
    <p:sldId id="341" r:id="rId71"/>
    <p:sldId id="342" r:id="rId72"/>
    <p:sldId id="343" r:id="rId73"/>
    <p:sldId id="344" r:id="rId74"/>
    <p:sldId id="345" r:id="rId75"/>
    <p:sldId id="346" r:id="rId76"/>
    <p:sldId id="347" r:id="rId77"/>
    <p:sldId id="348" r:id="rId78"/>
    <p:sldId id="350" r:id="rId79"/>
    <p:sldId id="351" r:id="rId80"/>
    <p:sldId id="352" r:id="rId81"/>
    <p:sldId id="353" r:id="rId82"/>
    <p:sldId id="366" r:id="rId83"/>
    <p:sldId id="367" r:id="rId84"/>
    <p:sldId id="368" r:id="rId85"/>
    <p:sldId id="354" r:id="rId86"/>
    <p:sldId id="369" r:id="rId87"/>
    <p:sldId id="370" r:id="rId88"/>
    <p:sldId id="371" r:id="rId89"/>
    <p:sldId id="355" r:id="rId90"/>
    <p:sldId id="356" r:id="rId91"/>
    <p:sldId id="357" r:id="rId92"/>
    <p:sldId id="358" r:id="rId93"/>
    <p:sldId id="372" r:id="rId94"/>
    <p:sldId id="373" r:id="rId95"/>
    <p:sldId id="359" r:id="rId96"/>
    <p:sldId id="360" r:id="rId97"/>
    <p:sldId id="361" r:id="rId98"/>
    <p:sldId id="374" r:id="rId99"/>
    <p:sldId id="375" r:id="rId100"/>
    <p:sldId id="362" r:id="rId101"/>
    <p:sldId id="376" r:id="rId102"/>
    <p:sldId id="363" r:id="rId103"/>
    <p:sldId id="364" r:id="rId104"/>
    <p:sldId id="365" r:id="rId105"/>
    <p:sldId id="377" r:id="rId106"/>
    <p:sldId id="378" r:id="rId107"/>
    <p:sldId id="381" r:id="rId108"/>
    <p:sldId id="379" r:id="rId109"/>
    <p:sldId id="380"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70" d="100"/>
          <a:sy n="70" d="100"/>
        </p:scale>
        <p:origin x="-1386" y="-90"/>
      </p:cViewPr>
      <p:guideLst>
        <p:guide orient="horz" pos="2160"/>
        <p:guide pos="2880"/>
      </p:guideLst>
    </p:cSldViewPr>
  </p:slideViewPr>
  <p:outlineViewPr>
    <p:cViewPr>
      <p:scale>
        <a:sx n="33" d="100"/>
        <a:sy n="33" d="100"/>
      </p:scale>
      <p:origin x="0" y="1854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presProps" Target="presProps.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slide" Target="slides/slide86.xml" /><Relationship Id="rId102" Type="http://schemas.openxmlformats.org/officeDocument/2006/relationships/slide" Target="slides/slide101.xml" /><Relationship Id="rId110" Type="http://schemas.openxmlformats.org/officeDocument/2006/relationships/slide" Target="slides/slide109.xml" /><Relationship Id="rId115" Type="http://schemas.openxmlformats.org/officeDocument/2006/relationships/tableStyles" Target="tableStyle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theme" Target="theme/theme1.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9E769B-0155-4AB7-94DC-A5C054A458D7}" type="doc">
      <dgm:prSet loTypeId="urn:microsoft.com/office/officeart/2005/8/layout/pyramid1" loCatId="pyramid" qsTypeId="urn:microsoft.com/office/officeart/2005/8/quickstyle/simple1" qsCatId="simple" csTypeId="urn:microsoft.com/office/officeart/2005/8/colors/accent1_2" csCatId="accent1" phldr="1"/>
      <dgm:spPr/>
    </dgm:pt>
    <dgm:pt modelId="{13EEC0BA-8B99-4629-B6B1-BC0F9E302E90}">
      <dgm:prSet phldrT="[Text]" custT="1"/>
      <dgm:spPr/>
      <dgm:t>
        <a:bodyPr/>
        <a:lstStyle/>
        <a:p>
          <a:endParaRPr lang="en-US" sz="2000" dirty="0"/>
        </a:p>
        <a:p>
          <a:r>
            <a:rPr lang="en-US" sz="2000" dirty="0"/>
            <a:t>Top </a:t>
          </a:r>
        </a:p>
        <a:p>
          <a:r>
            <a:rPr lang="en-US" sz="2000" dirty="0"/>
            <a:t>Level</a:t>
          </a:r>
          <a:endParaRPr lang="en-IN" sz="2000" dirty="0"/>
        </a:p>
      </dgm:t>
    </dgm:pt>
    <dgm:pt modelId="{1BBD0A6C-E61F-4972-9D5F-E5F89436874A}" type="parTrans" cxnId="{F7010F78-4A80-4367-A9DE-44FD7ABD2D7E}">
      <dgm:prSet/>
      <dgm:spPr/>
      <dgm:t>
        <a:bodyPr/>
        <a:lstStyle/>
        <a:p>
          <a:endParaRPr lang="en-IN"/>
        </a:p>
      </dgm:t>
    </dgm:pt>
    <dgm:pt modelId="{14135433-5AF4-4375-B2F4-7784E8F68548}" type="sibTrans" cxnId="{F7010F78-4A80-4367-A9DE-44FD7ABD2D7E}">
      <dgm:prSet/>
      <dgm:spPr/>
      <dgm:t>
        <a:bodyPr/>
        <a:lstStyle/>
        <a:p>
          <a:endParaRPr lang="en-IN"/>
        </a:p>
      </dgm:t>
    </dgm:pt>
    <dgm:pt modelId="{B1E2FF18-9D09-40B3-941D-C40650757201}">
      <dgm:prSet phldrT="[Text]" custT="1"/>
      <dgm:spPr/>
      <dgm:t>
        <a:bodyPr/>
        <a:lstStyle/>
        <a:p>
          <a:endParaRPr lang="en-US" sz="2000" dirty="0"/>
        </a:p>
        <a:p>
          <a:r>
            <a:rPr lang="en-US" sz="2000" dirty="0"/>
            <a:t>Middle Level</a:t>
          </a:r>
          <a:endParaRPr lang="en-IN" sz="2000" dirty="0"/>
        </a:p>
      </dgm:t>
    </dgm:pt>
    <dgm:pt modelId="{F6D8BA95-A0C0-4114-9FDE-BFC1D88D7050}" type="parTrans" cxnId="{584EDA72-4AF7-48A6-B721-AA5C7B86F775}">
      <dgm:prSet/>
      <dgm:spPr/>
      <dgm:t>
        <a:bodyPr/>
        <a:lstStyle/>
        <a:p>
          <a:endParaRPr lang="en-IN"/>
        </a:p>
      </dgm:t>
    </dgm:pt>
    <dgm:pt modelId="{D4B6CA8E-EC1C-4336-8892-ADC95176178D}" type="sibTrans" cxnId="{584EDA72-4AF7-48A6-B721-AA5C7B86F775}">
      <dgm:prSet/>
      <dgm:spPr/>
      <dgm:t>
        <a:bodyPr/>
        <a:lstStyle/>
        <a:p>
          <a:endParaRPr lang="en-IN"/>
        </a:p>
      </dgm:t>
    </dgm:pt>
    <dgm:pt modelId="{06599CC7-C478-465F-AE16-4B8CC0CA3A13}">
      <dgm:prSet phldrT="[Text]" custT="1"/>
      <dgm:spPr/>
      <dgm:t>
        <a:bodyPr/>
        <a:lstStyle/>
        <a:p>
          <a:endParaRPr lang="en-US" sz="2000" dirty="0"/>
        </a:p>
        <a:p>
          <a:r>
            <a:rPr lang="en-US" sz="2000" dirty="0"/>
            <a:t>Lowest Level</a:t>
          </a:r>
          <a:endParaRPr lang="en-IN" sz="2000" dirty="0"/>
        </a:p>
      </dgm:t>
    </dgm:pt>
    <dgm:pt modelId="{45380F40-521E-46F3-B09A-5067E82E9EA1}" type="parTrans" cxnId="{6D95A922-2B49-4C81-A9BA-0387AACFAB0B}">
      <dgm:prSet/>
      <dgm:spPr/>
      <dgm:t>
        <a:bodyPr/>
        <a:lstStyle/>
        <a:p>
          <a:endParaRPr lang="en-IN"/>
        </a:p>
      </dgm:t>
    </dgm:pt>
    <dgm:pt modelId="{FE1A784A-B0B9-4778-AA90-E27A87A04D42}" type="sibTrans" cxnId="{6D95A922-2B49-4C81-A9BA-0387AACFAB0B}">
      <dgm:prSet/>
      <dgm:spPr/>
      <dgm:t>
        <a:bodyPr/>
        <a:lstStyle/>
        <a:p>
          <a:endParaRPr lang="en-IN"/>
        </a:p>
      </dgm:t>
    </dgm:pt>
    <dgm:pt modelId="{4AC161E1-1087-4D9A-8924-60D5A10A2FBC}" type="pres">
      <dgm:prSet presAssocID="{D69E769B-0155-4AB7-94DC-A5C054A458D7}" presName="Name0" presStyleCnt="0">
        <dgm:presLayoutVars>
          <dgm:dir/>
          <dgm:animLvl val="lvl"/>
          <dgm:resizeHandles val="exact"/>
        </dgm:presLayoutVars>
      </dgm:prSet>
      <dgm:spPr/>
    </dgm:pt>
    <dgm:pt modelId="{97E00719-5081-4BE9-83CE-3798C2C8D7DA}" type="pres">
      <dgm:prSet presAssocID="{13EEC0BA-8B99-4629-B6B1-BC0F9E302E90}" presName="Name8" presStyleCnt="0"/>
      <dgm:spPr/>
    </dgm:pt>
    <dgm:pt modelId="{4BE91292-99AC-46C1-9A8E-AB7297469F82}" type="pres">
      <dgm:prSet presAssocID="{13EEC0BA-8B99-4629-B6B1-BC0F9E302E90}" presName="level" presStyleLbl="node1" presStyleIdx="0" presStyleCnt="3" custScaleY="156250" custLinFactNeighborX="319">
        <dgm:presLayoutVars>
          <dgm:chMax val="1"/>
          <dgm:bulletEnabled val="1"/>
        </dgm:presLayoutVars>
      </dgm:prSet>
      <dgm:spPr/>
    </dgm:pt>
    <dgm:pt modelId="{D50EB89E-F224-4824-B51E-1FE87E805DC1}" type="pres">
      <dgm:prSet presAssocID="{13EEC0BA-8B99-4629-B6B1-BC0F9E302E90}" presName="levelTx" presStyleLbl="revTx" presStyleIdx="0" presStyleCnt="0">
        <dgm:presLayoutVars>
          <dgm:chMax val="1"/>
          <dgm:bulletEnabled val="1"/>
        </dgm:presLayoutVars>
      </dgm:prSet>
      <dgm:spPr/>
    </dgm:pt>
    <dgm:pt modelId="{F793F537-A512-475C-B79A-EBB89F3355B0}" type="pres">
      <dgm:prSet presAssocID="{B1E2FF18-9D09-40B3-941D-C40650757201}" presName="Name8" presStyleCnt="0"/>
      <dgm:spPr/>
    </dgm:pt>
    <dgm:pt modelId="{396E1E59-294A-42D9-AC0C-79F4AF7604EA}" type="pres">
      <dgm:prSet presAssocID="{B1E2FF18-9D09-40B3-941D-C40650757201}" presName="level" presStyleLbl="node1" presStyleIdx="1" presStyleCnt="3">
        <dgm:presLayoutVars>
          <dgm:chMax val="1"/>
          <dgm:bulletEnabled val="1"/>
        </dgm:presLayoutVars>
      </dgm:prSet>
      <dgm:spPr/>
    </dgm:pt>
    <dgm:pt modelId="{07B94707-8025-41C7-AC2A-660EFA2CB080}" type="pres">
      <dgm:prSet presAssocID="{B1E2FF18-9D09-40B3-941D-C40650757201}" presName="levelTx" presStyleLbl="revTx" presStyleIdx="0" presStyleCnt="0">
        <dgm:presLayoutVars>
          <dgm:chMax val="1"/>
          <dgm:bulletEnabled val="1"/>
        </dgm:presLayoutVars>
      </dgm:prSet>
      <dgm:spPr/>
    </dgm:pt>
    <dgm:pt modelId="{4B922D52-2564-4970-B095-09952E17223D}" type="pres">
      <dgm:prSet presAssocID="{06599CC7-C478-465F-AE16-4B8CC0CA3A13}" presName="Name8" presStyleCnt="0"/>
      <dgm:spPr/>
    </dgm:pt>
    <dgm:pt modelId="{12BA469C-2DF6-425D-B12F-4FEF27543A24}" type="pres">
      <dgm:prSet presAssocID="{06599CC7-C478-465F-AE16-4B8CC0CA3A13}" presName="level" presStyleLbl="node1" presStyleIdx="2" presStyleCnt="3" custLinFactNeighborY="2841">
        <dgm:presLayoutVars>
          <dgm:chMax val="1"/>
          <dgm:bulletEnabled val="1"/>
        </dgm:presLayoutVars>
      </dgm:prSet>
      <dgm:spPr/>
    </dgm:pt>
    <dgm:pt modelId="{EF07CEC2-45D4-43F4-8882-CBA527538EA8}" type="pres">
      <dgm:prSet presAssocID="{06599CC7-C478-465F-AE16-4B8CC0CA3A13}" presName="levelTx" presStyleLbl="revTx" presStyleIdx="0" presStyleCnt="0">
        <dgm:presLayoutVars>
          <dgm:chMax val="1"/>
          <dgm:bulletEnabled val="1"/>
        </dgm:presLayoutVars>
      </dgm:prSet>
      <dgm:spPr/>
    </dgm:pt>
  </dgm:ptLst>
  <dgm:cxnLst>
    <dgm:cxn modelId="{6D95A922-2B49-4C81-A9BA-0387AACFAB0B}" srcId="{D69E769B-0155-4AB7-94DC-A5C054A458D7}" destId="{06599CC7-C478-465F-AE16-4B8CC0CA3A13}" srcOrd="2" destOrd="0" parTransId="{45380F40-521E-46F3-B09A-5067E82E9EA1}" sibTransId="{FE1A784A-B0B9-4778-AA90-E27A87A04D42}"/>
    <dgm:cxn modelId="{627A5B23-4C4D-4D0A-B99E-979A62BDFA00}" type="presOf" srcId="{D69E769B-0155-4AB7-94DC-A5C054A458D7}" destId="{4AC161E1-1087-4D9A-8924-60D5A10A2FBC}" srcOrd="0" destOrd="0" presId="urn:microsoft.com/office/officeart/2005/8/layout/pyramid1"/>
    <dgm:cxn modelId="{ABCAD560-48B7-481A-9CF9-22486902FCE7}" type="presOf" srcId="{13EEC0BA-8B99-4629-B6B1-BC0F9E302E90}" destId="{4BE91292-99AC-46C1-9A8E-AB7297469F82}" srcOrd="0" destOrd="0" presId="urn:microsoft.com/office/officeart/2005/8/layout/pyramid1"/>
    <dgm:cxn modelId="{584EDA72-4AF7-48A6-B721-AA5C7B86F775}" srcId="{D69E769B-0155-4AB7-94DC-A5C054A458D7}" destId="{B1E2FF18-9D09-40B3-941D-C40650757201}" srcOrd="1" destOrd="0" parTransId="{F6D8BA95-A0C0-4114-9FDE-BFC1D88D7050}" sibTransId="{D4B6CA8E-EC1C-4336-8892-ADC95176178D}"/>
    <dgm:cxn modelId="{F7010F78-4A80-4367-A9DE-44FD7ABD2D7E}" srcId="{D69E769B-0155-4AB7-94DC-A5C054A458D7}" destId="{13EEC0BA-8B99-4629-B6B1-BC0F9E302E90}" srcOrd="0" destOrd="0" parTransId="{1BBD0A6C-E61F-4972-9D5F-E5F89436874A}" sibTransId="{14135433-5AF4-4375-B2F4-7784E8F68548}"/>
    <dgm:cxn modelId="{9DDA6CA2-8901-4EC9-B1AC-8DBCDA352844}" type="presOf" srcId="{B1E2FF18-9D09-40B3-941D-C40650757201}" destId="{396E1E59-294A-42D9-AC0C-79F4AF7604EA}" srcOrd="0" destOrd="0" presId="urn:microsoft.com/office/officeart/2005/8/layout/pyramid1"/>
    <dgm:cxn modelId="{77319DA7-0DAC-4022-AA30-2A49CBDD942A}" type="presOf" srcId="{B1E2FF18-9D09-40B3-941D-C40650757201}" destId="{07B94707-8025-41C7-AC2A-660EFA2CB080}" srcOrd="1" destOrd="0" presId="urn:microsoft.com/office/officeart/2005/8/layout/pyramid1"/>
    <dgm:cxn modelId="{1DEB44C9-091A-47D8-B248-1B497080F303}" type="presOf" srcId="{06599CC7-C478-465F-AE16-4B8CC0CA3A13}" destId="{12BA469C-2DF6-425D-B12F-4FEF27543A24}" srcOrd="0" destOrd="0" presId="urn:microsoft.com/office/officeart/2005/8/layout/pyramid1"/>
    <dgm:cxn modelId="{8C4879CD-7482-4B20-B734-CCC59DB06CF9}" type="presOf" srcId="{13EEC0BA-8B99-4629-B6B1-BC0F9E302E90}" destId="{D50EB89E-F224-4824-B51E-1FE87E805DC1}" srcOrd="1" destOrd="0" presId="urn:microsoft.com/office/officeart/2005/8/layout/pyramid1"/>
    <dgm:cxn modelId="{A397D7EB-6EFB-48B8-9570-7E1CC7014387}" type="presOf" srcId="{06599CC7-C478-465F-AE16-4B8CC0CA3A13}" destId="{EF07CEC2-45D4-43F4-8882-CBA527538EA8}" srcOrd="1" destOrd="0" presId="urn:microsoft.com/office/officeart/2005/8/layout/pyramid1"/>
    <dgm:cxn modelId="{AD63224A-9081-4BB0-B893-72512339E95F}" type="presParOf" srcId="{4AC161E1-1087-4D9A-8924-60D5A10A2FBC}" destId="{97E00719-5081-4BE9-83CE-3798C2C8D7DA}" srcOrd="0" destOrd="0" presId="urn:microsoft.com/office/officeart/2005/8/layout/pyramid1"/>
    <dgm:cxn modelId="{17B4532D-186C-4FED-817A-B56758ADFA2B}" type="presParOf" srcId="{97E00719-5081-4BE9-83CE-3798C2C8D7DA}" destId="{4BE91292-99AC-46C1-9A8E-AB7297469F82}" srcOrd="0" destOrd="0" presId="urn:microsoft.com/office/officeart/2005/8/layout/pyramid1"/>
    <dgm:cxn modelId="{F822F182-5DF0-4329-8875-FF9C5457B60C}" type="presParOf" srcId="{97E00719-5081-4BE9-83CE-3798C2C8D7DA}" destId="{D50EB89E-F224-4824-B51E-1FE87E805DC1}" srcOrd="1" destOrd="0" presId="urn:microsoft.com/office/officeart/2005/8/layout/pyramid1"/>
    <dgm:cxn modelId="{66A5E3E0-2B54-4B26-9073-50178F7B9DA1}" type="presParOf" srcId="{4AC161E1-1087-4D9A-8924-60D5A10A2FBC}" destId="{F793F537-A512-475C-B79A-EBB89F3355B0}" srcOrd="1" destOrd="0" presId="urn:microsoft.com/office/officeart/2005/8/layout/pyramid1"/>
    <dgm:cxn modelId="{B13EF07D-40E9-4693-9434-3E662E4F52F0}" type="presParOf" srcId="{F793F537-A512-475C-B79A-EBB89F3355B0}" destId="{396E1E59-294A-42D9-AC0C-79F4AF7604EA}" srcOrd="0" destOrd="0" presId="urn:microsoft.com/office/officeart/2005/8/layout/pyramid1"/>
    <dgm:cxn modelId="{1919D373-392D-478B-8D3A-76115721B69D}" type="presParOf" srcId="{F793F537-A512-475C-B79A-EBB89F3355B0}" destId="{07B94707-8025-41C7-AC2A-660EFA2CB080}" srcOrd="1" destOrd="0" presId="urn:microsoft.com/office/officeart/2005/8/layout/pyramid1"/>
    <dgm:cxn modelId="{016CAD1A-78C0-46CB-8897-1D6A3B420FA0}" type="presParOf" srcId="{4AC161E1-1087-4D9A-8924-60D5A10A2FBC}" destId="{4B922D52-2564-4970-B095-09952E17223D}" srcOrd="2" destOrd="0" presId="urn:microsoft.com/office/officeart/2005/8/layout/pyramid1"/>
    <dgm:cxn modelId="{04C07D57-5968-406D-87AC-57C0AEE2F2B0}" type="presParOf" srcId="{4B922D52-2564-4970-B095-09952E17223D}" destId="{12BA469C-2DF6-425D-B12F-4FEF27543A24}" srcOrd="0" destOrd="0" presId="urn:microsoft.com/office/officeart/2005/8/layout/pyramid1"/>
    <dgm:cxn modelId="{09B7980B-7A5C-421F-B3D5-563A8387D07E}" type="presParOf" srcId="{4B922D52-2564-4970-B095-09952E17223D}" destId="{EF07CEC2-45D4-43F4-8882-CBA527538EA8}"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91292-99AC-46C1-9A8E-AB7297469F82}">
      <dsp:nvSpPr>
        <dsp:cNvPr id="0" name=""/>
        <dsp:cNvSpPr/>
      </dsp:nvSpPr>
      <dsp:spPr>
        <a:xfrm>
          <a:off x="1137557" y="0"/>
          <a:ext cx="1768617" cy="1389628"/>
        </a:xfrm>
        <a:prstGeom prst="trapezoid">
          <a:avLst>
            <a:gd name="adj" fmla="val 6363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dirty="0"/>
        </a:p>
        <a:p>
          <a:pPr marL="0" lvl="0" indent="0" algn="ctr" defTabSz="889000">
            <a:lnSpc>
              <a:spcPct val="90000"/>
            </a:lnSpc>
            <a:spcBef>
              <a:spcPct val="0"/>
            </a:spcBef>
            <a:spcAft>
              <a:spcPct val="35000"/>
            </a:spcAft>
            <a:buNone/>
          </a:pPr>
          <a:r>
            <a:rPr lang="en-US" sz="2000" kern="1200" dirty="0"/>
            <a:t>Top </a:t>
          </a:r>
        </a:p>
        <a:p>
          <a:pPr marL="0" lvl="0" indent="0" algn="ctr" defTabSz="889000">
            <a:lnSpc>
              <a:spcPct val="90000"/>
            </a:lnSpc>
            <a:spcBef>
              <a:spcPct val="0"/>
            </a:spcBef>
            <a:spcAft>
              <a:spcPct val="35000"/>
            </a:spcAft>
            <a:buNone/>
          </a:pPr>
          <a:r>
            <a:rPr lang="en-US" sz="2000" kern="1200" dirty="0"/>
            <a:t>Level</a:t>
          </a:r>
          <a:endParaRPr lang="en-IN" sz="2000" kern="1200" dirty="0"/>
        </a:p>
      </dsp:txBody>
      <dsp:txXfrm>
        <a:off x="1137557" y="0"/>
        <a:ext cx="1768617" cy="1389628"/>
      </dsp:txXfrm>
    </dsp:sp>
    <dsp:sp modelId="{396E1E59-294A-42D9-AC0C-79F4AF7604EA}">
      <dsp:nvSpPr>
        <dsp:cNvPr id="0" name=""/>
        <dsp:cNvSpPr/>
      </dsp:nvSpPr>
      <dsp:spPr>
        <a:xfrm>
          <a:off x="565957" y="1389628"/>
          <a:ext cx="2900532" cy="889361"/>
        </a:xfrm>
        <a:prstGeom prst="trapezoid">
          <a:avLst>
            <a:gd name="adj" fmla="val 6363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dirty="0"/>
        </a:p>
        <a:p>
          <a:pPr marL="0" lvl="0" indent="0" algn="ctr" defTabSz="889000">
            <a:lnSpc>
              <a:spcPct val="90000"/>
            </a:lnSpc>
            <a:spcBef>
              <a:spcPct val="0"/>
            </a:spcBef>
            <a:spcAft>
              <a:spcPct val="35000"/>
            </a:spcAft>
            <a:buNone/>
          </a:pPr>
          <a:r>
            <a:rPr lang="en-US" sz="2000" kern="1200" dirty="0"/>
            <a:t>Middle Level</a:t>
          </a:r>
          <a:endParaRPr lang="en-IN" sz="2000" kern="1200" dirty="0"/>
        </a:p>
      </dsp:txBody>
      <dsp:txXfrm>
        <a:off x="1073550" y="1389628"/>
        <a:ext cx="1885346" cy="889361"/>
      </dsp:txXfrm>
    </dsp:sp>
    <dsp:sp modelId="{12BA469C-2DF6-425D-B12F-4FEF27543A24}">
      <dsp:nvSpPr>
        <dsp:cNvPr id="0" name=""/>
        <dsp:cNvSpPr/>
      </dsp:nvSpPr>
      <dsp:spPr>
        <a:xfrm>
          <a:off x="0" y="2278990"/>
          <a:ext cx="4032448" cy="889361"/>
        </a:xfrm>
        <a:prstGeom prst="trapezoid">
          <a:avLst>
            <a:gd name="adj" fmla="val 6363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dirty="0"/>
        </a:p>
        <a:p>
          <a:pPr marL="0" lvl="0" indent="0" algn="ctr" defTabSz="889000">
            <a:lnSpc>
              <a:spcPct val="90000"/>
            </a:lnSpc>
            <a:spcBef>
              <a:spcPct val="0"/>
            </a:spcBef>
            <a:spcAft>
              <a:spcPct val="35000"/>
            </a:spcAft>
            <a:buNone/>
          </a:pPr>
          <a:r>
            <a:rPr lang="en-US" sz="2000" kern="1200" dirty="0"/>
            <a:t>Lowest Level</a:t>
          </a:r>
          <a:endParaRPr lang="en-IN" sz="2000" kern="1200" dirty="0"/>
        </a:p>
      </dsp:txBody>
      <dsp:txXfrm>
        <a:off x="705678" y="2278990"/>
        <a:ext cx="2621091" cy="88936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6959A0-D7AF-4AD5-8CDC-50076C4CE05E}" type="datetimeFigureOut">
              <a:rPr lang="en-US" smtClean="0"/>
              <a:pPr/>
              <a:t>12/3/2023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36E3FD-6D8C-46FF-AC2F-4917D4B60DD1}" type="slidenum">
              <a:rPr lang="en-IN" smtClean="0"/>
              <a:pPr/>
              <a:t>‹#›</a:t>
            </a:fld>
            <a:endParaRPr lang="en-IN"/>
          </a:p>
        </p:txBody>
      </p:sp>
    </p:spTree>
    <p:extLst>
      <p:ext uri="{BB962C8B-B14F-4D97-AF65-F5344CB8AC3E}">
        <p14:creationId xmlns:p14="http://schemas.microsoft.com/office/powerpoint/2010/main" val="960622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85A2AD3-B36D-449C-B360-DDD158F63779}" type="slidenum">
              <a:rPr lang="en-US" smtClean="0"/>
              <a:pPr/>
              <a:t>24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36E3FD-6D8C-46FF-AC2F-4917D4B60DD1}" type="slidenum">
              <a:rPr lang="en-IN" smtClean="0"/>
              <a:pPr/>
              <a:t>29</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36E3FD-6D8C-46FF-AC2F-4917D4B60DD1}" type="slidenum">
              <a:rPr lang="en-IN" smtClean="0"/>
              <a:pPr/>
              <a:t>32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79DBB1A-1FEB-47D5-AB0B-3B54F177EBBD}"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470FF-B805-4771-9235-962ECC72ADEA}"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03534-7D6C-454A-851B-D2AB72363025}"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A75CCB-1EEC-47B3-86D7-41D4042D5155}"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EE8AA7-411A-4EBE-A8A4-9C7FAE215C98}" type="datetime1">
              <a:rPr lang="en-US" smtClean="0"/>
              <a:pPr/>
              <a:t>12/3/2023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C46707-76B6-4DEA-97FB-028F8461C6F4}" type="datetime1">
              <a:rPr lang="en-US" smtClean="0"/>
              <a:pPr/>
              <a:t>12/3/2023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E7301E-D7A9-449A-90D9-52E583434F58}" type="datetime1">
              <a:rPr lang="en-US" smtClean="0"/>
              <a:pPr/>
              <a:t>12/3/2023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D8FC9C-6DF9-42FD-BCB5-227E0A06EFEE}"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4F78A0-ED48-40BD-A958-C786CD259003}"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25B49A-0D60-4A45-B342-6B952C46299F}"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4729A5-CD6D-46A8-B57D-60159B9E94C6}"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177EF-6467-4FEC-8EDC-D092C09FC836}" type="datetime1">
              <a:rPr lang="en-US" smtClean="0"/>
              <a:pPr/>
              <a:t>12/3/2023</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2A43B-CC61-4C08-A01B-A84C4E0E89A8}"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hemeOverride" Target="../theme/themeOverride1.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hemeOverride" Target="../theme/themeOverride2.xml" /></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hemeOverride" Target="../theme/themeOverride3.xml" /></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hemeOverride" Target="../theme/themeOverride4.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1)</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fontScale="77500" lnSpcReduction="20000"/>
          </a:bodyPr>
          <a:lstStyle/>
          <a:p>
            <a:pPr>
              <a:lnSpc>
                <a:spcPct val="170000"/>
              </a:lnSpc>
              <a:buFont typeface="Wingdings" pitchFamily="2" charset="2"/>
              <a:buChar char="Ø"/>
            </a:pPr>
            <a:r>
              <a:rPr lang="en-IN" sz="2900" dirty="0">
                <a:latin typeface="Times New Roman" pitchFamily="18" charset="0"/>
                <a:cs typeface="Times New Roman" pitchFamily="18" charset="0"/>
              </a:rPr>
              <a:t>Basic concept of management</a:t>
            </a:r>
          </a:p>
          <a:p>
            <a:pPr>
              <a:lnSpc>
                <a:spcPct val="170000"/>
              </a:lnSpc>
              <a:buFont typeface="Wingdings" pitchFamily="2" charset="2"/>
              <a:buChar char="Ø"/>
            </a:pPr>
            <a:r>
              <a:rPr lang="en-IN" sz="2900" dirty="0">
                <a:latin typeface="Times New Roman" pitchFamily="18" charset="0"/>
                <a:cs typeface="Times New Roman" pitchFamily="18" charset="0"/>
              </a:rPr>
              <a:t>Definition</a:t>
            </a:r>
          </a:p>
          <a:p>
            <a:pPr>
              <a:lnSpc>
                <a:spcPct val="170000"/>
              </a:lnSpc>
              <a:buFont typeface="Wingdings" pitchFamily="2" charset="2"/>
              <a:buChar char="Ø"/>
            </a:pPr>
            <a:r>
              <a:rPr lang="en-IN" sz="2900" dirty="0">
                <a:latin typeface="Times New Roman" pitchFamily="18" charset="0"/>
                <a:cs typeface="Times New Roman" pitchFamily="18" charset="0"/>
              </a:rPr>
              <a:t>Importance of management</a:t>
            </a:r>
          </a:p>
          <a:p>
            <a:pPr>
              <a:lnSpc>
                <a:spcPct val="170000"/>
              </a:lnSpc>
              <a:buFont typeface="Wingdings" pitchFamily="2" charset="2"/>
              <a:buChar char="Ø"/>
            </a:pPr>
            <a:r>
              <a:rPr lang="en-IN" sz="2900" dirty="0">
                <a:latin typeface="Times New Roman" pitchFamily="18" charset="0"/>
                <a:cs typeface="Times New Roman" pitchFamily="18" charset="0"/>
              </a:rPr>
              <a:t>Characteristics of management </a:t>
            </a:r>
          </a:p>
          <a:p>
            <a:pPr>
              <a:lnSpc>
                <a:spcPct val="170000"/>
              </a:lnSpc>
              <a:buFont typeface="Wingdings" pitchFamily="2" charset="2"/>
              <a:buChar char="Ø"/>
            </a:pPr>
            <a:r>
              <a:rPr lang="en-IN" sz="2900" dirty="0">
                <a:latin typeface="Times New Roman" pitchFamily="18" charset="0"/>
                <a:cs typeface="Times New Roman" pitchFamily="18" charset="0"/>
              </a:rPr>
              <a:t>Levels of management </a:t>
            </a:r>
          </a:p>
          <a:p>
            <a:pPr>
              <a:lnSpc>
                <a:spcPct val="170000"/>
              </a:lnSpc>
              <a:buFont typeface="Wingdings" pitchFamily="2" charset="2"/>
              <a:buChar char="Ø"/>
            </a:pPr>
            <a:r>
              <a:rPr lang="en-IN" sz="2900" dirty="0">
                <a:latin typeface="Times New Roman" pitchFamily="18" charset="0"/>
                <a:cs typeface="Times New Roman" pitchFamily="18" charset="0"/>
              </a:rPr>
              <a:t>Management skills</a:t>
            </a:r>
          </a:p>
          <a:p>
            <a:pPr>
              <a:lnSpc>
                <a:spcPct val="170000"/>
              </a:lnSpc>
              <a:buFont typeface="Wingdings" pitchFamily="2" charset="2"/>
              <a:buChar char="Ø"/>
            </a:pPr>
            <a:r>
              <a:rPr lang="en-IN" sz="2900" dirty="0">
                <a:latin typeface="Times New Roman" pitchFamily="18" charset="0"/>
                <a:cs typeface="Times New Roman" pitchFamily="18" charset="0"/>
              </a:rPr>
              <a:t>Scientific management</a:t>
            </a:r>
          </a:p>
          <a:p>
            <a:pPr>
              <a:lnSpc>
                <a:spcPct val="170000"/>
              </a:lnSpc>
              <a:buFont typeface="Wingdings" pitchFamily="2" charset="2"/>
              <a:buChar char="Ø"/>
            </a:pPr>
            <a:r>
              <a:rPr lang="en-IN" sz="2900" dirty="0">
                <a:latin typeface="Times New Roman" pitchFamily="18" charset="0"/>
                <a:cs typeface="Times New Roman" pitchFamily="18" charset="0"/>
              </a:rPr>
              <a:t>Contribution of </a:t>
            </a:r>
            <a:r>
              <a:rPr lang="en-IN" sz="2900" dirty="0" err="1">
                <a:latin typeface="Times New Roman" pitchFamily="18" charset="0"/>
                <a:cs typeface="Times New Roman" pitchFamily="18" charset="0"/>
              </a:rPr>
              <a:t>Gilbreth</a:t>
            </a:r>
            <a:r>
              <a:rPr lang="en-IN" sz="2900" dirty="0">
                <a:latin typeface="Times New Roman" pitchFamily="18" charset="0"/>
                <a:cs typeface="Times New Roman" pitchFamily="18" charset="0"/>
              </a:rPr>
              <a:t>-Gantt</a:t>
            </a:r>
          </a:p>
          <a:p>
            <a:pPr>
              <a:lnSpc>
                <a:spcPct val="150000"/>
              </a:lnSpc>
              <a:buNone/>
            </a:pPr>
            <a:endParaRPr lang="en-IN" sz="2400" dirty="0">
              <a:latin typeface="Times New Roman" pitchFamily="18" charset="0"/>
              <a:cs typeface="Times New Roman" pitchFamily="18" charset="0"/>
            </a:endParaRPr>
          </a:p>
          <a:p>
            <a:pPr>
              <a:lnSpc>
                <a:spcPct val="150000"/>
              </a:lnSpc>
            </a:pPr>
            <a:endParaRPr lang="en-IN"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1224136"/>
          </a:xfrm>
        </p:spPr>
        <p:txBody>
          <a:bodyPr>
            <a:normAutofit/>
          </a:bodyPr>
          <a:lstStyle/>
          <a:p>
            <a:r>
              <a:rPr lang="en-IN" sz="3200" dirty="0">
                <a:solidFill>
                  <a:srgbClr val="FF0000"/>
                </a:solidFill>
                <a:latin typeface="Times New Roman" pitchFamily="18" charset="0"/>
                <a:cs typeface="Times New Roman" pitchFamily="18" charset="0"/>
              </a:rPr>
              <a:t>Basic Concept of Management..??</a:t>
            </a:r>
            <a:endParaRPr lang="en-US" sz="32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844824"/>
            <a:ext cx="8229600" cy="4281339"/>
          </a:xfrm>
        </p:spPr>
        <p:txBody>
          <a:bodyPr/>
          <a:lstStyle/>
          <a:p>
            <a:pPr algn="just">
              <a:lnSpc>
                <a:spcPct val="150000"/>
              </a:lnSpc>
              <a:buNone/>
            </a:pPr>
            <a:r>
              <a:rPr lang="en-US" dirty="0"/>
              <a:t>	</a:t>
            </a:r>
            <a:r>
              <a:rPr lang="en-US" sz="2800" i="1" dirty="0">
                <a:latin typeface="Times New Roman" pitchFamily="18" charset="0"/>
                <a:cs typeface="Times New Roman" pitchFamily="18" charset="0"/>
              </a:rPr>
              <a:t>Management is the process of creating an atmosphere, wherein individuals working together in groups, accomplish a given objective with the highest degree of productivity.</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4638"/>
            <a:ext cx="8147248" cy="114300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Definition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340768"/>
            <a:ext cx="8229600" cy="4785395"/>
          </a:xfrm>
        </p:spPr>
        <p:txBody>
          <a:bodyPr>
            <a:noAutofit/>
          </a:bodyPr>
          <a:lstStyle/>
          <a:p>
            <a:pPr algn="just">
              <a:lnSpc>
                <a:spcPct val="160000"/>
              </a:lnSpc>
            </a:pPr>
            <a:r>
              <a:rPr lang="en-US" sz="2000" dirty="0">
                <a:latin typeface="Times New Roman" pitchFamily="18" charset="0"/>
                <a:cs typeface="Times New Roman" pitchFamily="18" charset="0"/>
              </a:rPr>
              <a:t>Management is an </a:t>
            </a:r>
            <a:r>
              <a:rPr lang="en-US" sz="2000" i="1" dirty="0">
                <a:latin typeface="Times New Roman" pitchFamily="18" charset="0"/>
                <a:cs typeface="Times New Roman" pitchFamily="18" charset="0"/>
              </a:rPr>
              <a:t>art</a:t>
            </a:r>
            <a:r>
              <a:rPr lang="en-US" sz="2000" dirty="0">
                <a:latin typeface="Times New Roman" pitchFamily="18" charset="0"/>
                <a:cs typeface="Times New Roman" pitchFamily="18" charset="0"/>
              </a:rPr>
              <a:t> of getting the work done through the efforts of people and by the effective utilisation of resources.</a:t>
            </a:r>
          </a:p>
          <a:p>
            <a:pPr algn="just">
              <a:lnSpc>
                <a:spcPct val="160000"/>
              </a:lnSpc>
            </a:pPr>
            <a:r>
              <a:rPr lang="en-US" sz="2000" dirty="0">
                <a:latin typeface="Times New Roman" pitchFamily="18" charset="0"/>
                <a:cs typeface="Times New Roman" pitchFamily="18" charset="0"/>
              </a:rPr>
              <a:t>Management is the process of creating an atmosphere, wherein individuals working together in groups, accomplish a given objective with the highest degree of productivity.</a:t>
            </a:r>
          </a:p>
          <a:p>
            <a:pPr algn="just">
              <a:lnSpc>
                <a:spcPct val="160000"/>
              </a:lnSpc>
            </a:pPr>
            <a:r>
              <a:rPr lang="en-US" sz="2000" dirty="0">
                <a:latin typeface="Times New Roman" pitchFamily="18" charset="0"/>
                <a:cs typeface="Times New Roman" pitchFamily="18" charset="0"/>
              </a:rPr>
              <a:t>For getting the work done, it is necessary to guide, direct, coordinate and control human efforts for the fulfillment of the goals of the enterprise.</a:t>
            </a:r>
          </a:p>
          <a:p>
            <a:pPr algn="just">
              <a:lnSpc>
                <a:spcPct val="160000"/>
              </a:lnSpc>
            </a:pPr>
            <a:r>
              <a:rPr lang="en-US" sz="2000" dirty="0">
                <a:latin typeface="Times New Roman" pitchFamily="18" charset="0"/>
                <a:cs typeface="Times New Roman" pitchFamily="18" charset="0"/>
              </a:rPr>
              <a:t>Management does not frame policies, it only implements/executes the policies laid down by the administration.</a:t>
            </a:r>
          </a:p>
        </p:txBody>
      </p:sp>
      <p:sp>
        <p:nvSpPr>
          <p:cNvPr id="5" name="Slide Number Placeholder 4"/>
          <p:cNvSpPr>
            <a:spLocks noGrp="1"/>
          </p:cNvSpPr>
          <p:nvPr>
            <p:ph type="sldNum" sz="quarter" idx="12"/>
          </p:nvPr>
        </p:nvSpPr>
        <p:spPr/>
        <p:txBody>
          <a:bodyPr/>
          <a:lstStyle/>
          <a:p>
            <a:fld id="{9852A43B-CC61-4C08-A01B-A84C4E0E89A8}" type="slidenum">
              <a:rPr lang="en-IN" smtClean="0"/>
              <a:pPr/>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2776"/>
            <a:ext cx="8229600" cy="4713387"/>
          </a:xfrm>
        </p:spPr>
        <p:txBody>
          <a:bodyPr>
            <a:normAutofit/>
          </a:bodyPr>
          <a:lstStyle/>
          <a:p>
            <a:pPr algn="ctr">
              <a:lnSpc>
                <a:spcPct val="200000"/>
              </a:lnSpc>
              <a:buNone/>
            </a:pPr>
            <a:r>
              <a:rPr lang="en-US" sz="2400" b="1" dirty="0">
                <a:solidFill>
                  <a:schemeClr val="accent4">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i="1" dirty="0">
                <a:solidFill>
                  <a:schemeClr val="accent4">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Management is a set of principles relating to the functions of planning, organizing, directing and controlling, and the application of these principles in harnessing physical, financial, human, and informational resources efficiently and effectively to achieve organizational goals.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Importance of management</a:t>
            </a:r>
          </a:p>
        </p:txBody>
      </p:sp>
      <p:sp>
        <p:nvSpPr>
          <p:cNvPr id="3" name="Content Placeholder 2"/>
          <p:cNvSpPr>
            <a:spLocks noGrp="1"/>
          </p:cNvSpPr>
          <p:nvPr>
            <p:ph idx="1"/>
          </p:nvPr>
        </p:nvSpPr>
        <p:spPr>
          <a:xfrm>
            <a:off x="457200" y="1484784"/>
            <a:ext cx="8435280" cy="4824536"/>
          </a:xfrm>
        </p:spPr>
        <p:txBody>
          <a:bodyPr>
            <a:noAutofit/>
          </a:bodyPr>
          <a:lstStyle/>
          <a:p>
            <a:pPr algn="just">
              <a:lnSpc>
                <a:spcPct val="150000"/>
              </a:lnSpc>
              <a:buFont typeface="Wingdings" pitchFamily="2" charset="2"/>
              <a:buChar char="Ø"/>
            </a:pPr>
            <a:r>
              <a:rPr lang="en-US" sz="2400" dirty="0">
                <a:latin typeface="Times New Roman" pitchFamily="18" charset="0"/>
                <a:cs typeface="Times New Roman" pitchFamily="18" charset="0"/>
              </a:rPr>
              <a:t> Increasing the effectiveness and efficiency</a:t>
            </a:r>
          </a:p>
          <a:p>
            <a:pPr algn="just">
              <a:lnSpc>
                <a:spcPct val="150000"/>
              </a:lnSpc>
              <a:buFont typeface="Wingdings" pitchFamily="2" charset="2"/>
              <a:buChar char="Ø"/>
            </a:pPr>
            <a:r>
              <a:rPr lang="en-US" sz="2400" dirty="0">
                <a:latin typeface="Times New Roman" pitchFamily="18" charset="0"/>
                <a:cs typeface="Times New Roman" pitchFamily="18" charset="0"/>
              </a:rPr>
              <a:t> Development of full human potential</a:t>
            </a:r>
          </a:p>
          <a:p>
            <a:pPr algn="just">
              <a:lnSpc>
                <a:spcPct val="150000"/>
              </a:lnSpc>
              <a:buFont typeface="Wingdings" pitchFamily="2" charset="2"/>
              <a:buChar char="Ø"/>
            </a:pPr>
            <a:r>
              <a:rPr lang="en-US" sz="2400" dirty="0">
                <a:latin typeface="Times New Roman" pitchFamily="18" charset="0"/>
                <a:cs typeface="Times New Roman" pitchFamily="18" charset="0"/>
              </a:rPr>
              <a:t> Raising the worker morale</a:t>
            </a:r>
          </a:p>
          <a:p>
            <a:pPr algn="just">
              <a:lnSpc>
                <a:spcPct val="150000"/>
              </a:lnSpc>
              <a:buFont typeface="Wingdings" pitchFamily="2" charset="2"/>
              <a:buChar char="Ø"/>
            </a:pPr>
            <a:r>
              <a:rPr lang="en-US" sz="2400" dirty="0">
                <a:latin typeface="Times New Roman" pitchFamily="18" charset="0"/>
                <a:cs typeface="Times New Roman" pitchFamily="18" charset="0"/>
              </a:rPr>
              <a:t> Building mutual trust</a:t>
            </a:r>
          </a:p>
          <a:p>
            <a:pPr algn="just">
              <a:lnSpc>
                <a:spcPct val="150000"/>
              </a:lnSpc>
              <a:buFont typeface="Wingdings" pitchFamily="2" charset="2"/>
              <a:buChar char="Ø"/>
            </a:pPr>
            <a:r>
              <a:rPr lang="en-US" sz="2400" dirty="0">
                <a:latin typeface="Times New Roman" pitchFamily="18" charset="0"/>
                <a:cs typeface="Times New Roman" pitchFamily="18" charset="0"/>
              </a:rPr>
              <a:t> Developing teamwork</a:t>
            </a:r>
          </a:p>
          <a:p>
            <a:pPr algn="just">
              <a:lnSpc>
                <a:spcPct val="150000"/>
              </a:lnSpc>
              <a:buFont typeface="Wingdings" pitchFamily="2" charset="2"/>
              <a:buChar char="Ø"/>
            </a:pPr>
            <a:r>
              <a:rPr lang="en-US" sz="2400" dirty="0">
                <a:latin typeface="Times New Roman" pitchFamily="18" charset="0"/>
                <a:cs typeface="Times New Roman" pitchFamily="18" charset="0"/>
              </a:rPr>
              <a:t> Providing a stable livelihood for all employees</a:t>
            </a:r>
          </a:p>
          <a:p>
            <a:pPr algn="just">
              <a:lnSpc>
                <a:spcPct val="150000"/>
              </a:lnSpc>
              <a:buFont typeface="Wingdings" pitchFamily="2" charset="2"/>
              <a:buChar char="Ø"/>
            </a:pPr>
            <a:r>
              <a:rPr lang="en-US" sz="2400" dirty="0">
                <a:latin typeface="Times New Roman" pitchFamily="18" charset="0"/>
                <a:cs typeface="Times New Roman" pitchFamily="18" charset="0"/>
              </a:rPr>
              <a:t> Constantly and forever improving the system of production and   service.</a:t>
            </a:r>
          </a:p>
        </p:txBody>
      </p:sp>
      <p:sp>
        <p:nvSpPr>
          <p:cNvPr id="5" name="Slide Number Placeholder 4"/>
          <p:cNvSpPr>
            <a:spLocks noGrp="1"/>
          </p:cNvSpPr>
          <p:nvPr>
            <p:ph type="sldNum" sz="quarter" idx="12"/>
          </p:nvPr>
        </p:nvSpPr>
        <p:spPr/>
        <p:txBody>
          <a:bodyPr/>
          <a:lstStyle/>
          <a:p>
            <a:fld id="{9852A43B-CC61-4C08-A01B-A84C4E0E89A8}" type="slidenum">
              <a:rPr lang="en-IN" smtClean="0"/>
              <a:pPr/>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864096"/>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of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435280" cy="4680520"/>
          </a:xfrm>
        </p:spPr>
        <p:txBody>
          <a:bodyPr>
            <a:normAutofit/>
          </a:bodyPr>
          <a:lstStyle/>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a purposeful activity: Objectives differ from organisation to organisation</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Efficient management of economic resources</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a distinct process</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universal: applicable to all group of activities</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applies to managers at all organizational levels </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The aim of all managers is the same: to be productive.</a:t>
            </a:r>
          </a:p>
        </p:txBody>
      </p:sp>
      <p:sp>
        <p:nvSpPr>
          <p:cNvPr id="5" name="Slide Number Placeholder 4"/>
          <p:cNvSpPr>
            <a:spLocks noGrp="1"/>
          </p:cNvSpPr>
          <p:nvPr>
            <p:ph type="sldNum" sz="quarter" idx="12"/>
          </p:nvPr>
        </p:nvSpPr>
        <p:spPr/>
        <p:txBody>
          <a:bodyPr/>
          <a:lstStyle/>
          <a:p>
            <a:fld id="{9852A43B-CC61-4C08-A01B-A84C4E0E89A8}" type="slidenum">
              <a:rPr lang="en-IN" smtClean="0"/>
              <a:pPr/>
              <a:t>6</a:t>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52128"/>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of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484784"/>
            <a:ext cx="8507288" cy="4824536"/>
          </a:xfrm>
        </p:spPr>
        <p:txBody>
          <a:bodyPr>
            <a:normAutofit/>
          </a:bodyPr>
          <a:lstStyle/>
          <a:p>
            <a:pPr marL="457200" indent="-457200">
              <a:lnSpc>
                <a:spcPct val="150000"/>
              </a:lnSpc>
              <a:buFont typeface="Wingdings" pitchFamily="2" charset="2"/>
              <a:buChar char="Ø"/>
            </a:pPr>
            <a:r>
              <a:rPr lang="en-US" sz="2400" dirty="0">
                <a:latin typeface="Times New Roman" pitchFamily="18" charset="0"/>
                <a:cs typeface="Times New Roman" pitchFamily="18" charset="0"/>
              </a:rPr>
              <a:t>Co-ordination is the soul of management</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dynamic </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attempts to create a desirable future, keeping the past and present in mind.</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decision making</a:t>
            </a:r>
          </a:p>
          <a:p>
            <a:pPr marL="457200" indent="-457200">
              <a:lnSpc>
                <a:spcPct val="150000"/>
              </a:lnSpc>
              <a:buFont typeface="Wingdings" pitchFamily="2" charset="2"/>
              <a:buChar char="Ø"/>
            </a:pPr>
            <a:r>
              <a:rPr lang="en-US" sz="2400" dirty="0">
                <a:latin typeface="Times New Roman" pitchFamily="18" charset="0"/>
                <a:cs typeface="Times New Roman" pitchFamily="18" charset="0"/>
              </a:rPr>
              <a:t>Management is a profession</a:t>
            </a:r>
            <a:endParaRPr lang="en-IN"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7</a:t>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229600" cy="114300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Levels of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196752"/>
            <a:ext cx="8190652" cy="5346908"/>
          </a:xfrm>
        </p:spPr>
        <p:txBody>
          <a:bodyPr>
            <a:normAutofit/>
          </a:bodyPr>
          <a:lstStyle/>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The 3 levels of management that are commonly found in an organisation are:</a:t>
            </a:r>
          </a:p>
          <a:p>
            <a:pPr marL="857250" lvl="1" indent="-457200">
              <a:buFont typeface="+mj-lt"/>
              <a:buAutoNum type="alphaLcPeriod"/>
            </a:pPr>
            <a:r>
              <a:rPr lang="en-US" sz="2000" dirty="0">
                <a:latin typeface="Times New Roman" pitchFamily="18" charset="0"/>
                <a:cs typeface="Times New Roman" pitchFamily="18" charset="0"/>
              </a:rPr>
              <a:t>Top management</a:t>
            </a:r>
          </a:p>
          <a:p>
            <a:pPr marL="857250" lvl="1" indent="-457200">
              <a:buFont typeface="+mj-lt"/>
              <a:buAutoNum type="alphaLcPeriod"/>
            </a:pPr>
            <a:r>
              <a:rPr lang="en-US" sz="2000" dirty="0">
                <a:latin typeface="Times New Roman" pitchFamily="18" charset="0"/>
                <a:cs typeface="Times New Roman" pitchFamily="18" charset="0"/>
              </a:rPr>
              <a:t>Middle management</a:t>
            </a:r>
          </a:p>
          <a:p>
            <a:pPr marL="857250" lvl="1" indent="-457200">
              <a:buFont typeface="+mj-lt"/>
              <a:buAutoNum type="alphaLcPeriod"/>
            </a:pPr>
            <a:r>
              <a:rPr lang="en-US" sz="2000" dirty="0">
                <a:latin typeface="Times New Roman" pitchFamily="18" charset="0"/>
                <a:cs typeface="Times New Roman" pitchFamily="18" charset="0"/>
              </a:rPr>
              <a:t>Lowest or supervisory management</a:t>
            </a:r>
          </a:p>
          <a:p>
            <a:pPr marL="457200" indent="-457200">
              <a:buNone/>
            </a:pPr>
            <a:endParaRPr lang="en-US" sz="2000" dirty="0">
              <a:latin typeface="Times New Roman" pitchFamily="18" charset="0"/>
              <a:cs typeface="Times New Roman" pitchFamily="18" charset="0"/>
            </a:endParaRPr>
          </a:p>
          <a:p>
            <a:pPr marL="457200" indent="-457200">
              <a:buNone/>
            </a:pPr>
            <a:r>
              <a:rPr lang="en-US" sz="2000" dirty="0">
                <a:latin typeface="Times New Roman" pitchFamily="18" charset="0"/>
                <a:cs typeface="Times New Roman" pitchFamily="18" charset="0"/>
              </a:rPr>
              <a:t>	Board of Directors, MD, CEO, GM</a:t>
            </a: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None/>
            </a:pPr>
            <a:r>
              <a:rPr lang="en-US" sz="2000" dirty="0">
                <a:latin typeface="Times New Roman" pitchFamily="18" charset="0"/>
                <a:cs typeface="Times New Roman" pitchFamily="18" charset="0"/>
              </a:rPr>
              <a:t>	Departmental heads, Superintendents</a:t>
            </a: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None/>
            </a:pPr>
            <a:r>
              <a:rPr lang="en-US" sz="2000" dirty="0">
                <a:latin typeface="Times New Roman" pitchFamily="18" charset="0"/>
                <a:cs typeface="Times New Roman" pitchFamily="18" charset="0"/>
              </a:rPr>
              <a:t>	Foreman, supervisors etc</a:t>
            </a: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Font typeface="+mj-lt"/>
              <a:buAutoNum type="alphaLcPeriod"/>
            </a:pPr>
            <a:endParaRPr lang="en-US" sz="2000" dirty="0">
              <a:latin typeface="Times New Roman" pitchFamily="18" charset="0"/>
              <a:cs typeface="Times New Roman" pitchFamily="18" charset="0"/>
            </a:endParaRPr>
          </a:p>
          <a:p>
            <a:pPr marL="457200" indent="-457200">
              <a:buFont typeface="+mj-lt"/>
              <a:buAutoNum type="alphaLcPeriod"/>
            </a:pPr>
            <a:endParaRPr lang="en-IN" sz="2000" dirty="0">
              <a:latin typeface="Times New Roman" pitchFamily="18" charset="0"/>
              <a:cs typeface="Times New Roman" pitchFamily="18" charset="0"/>
            </a:endParaRPr>
          </a:p>
        </p:txBody>
      </p:sp>
      <p:graphicFrame>
        <p:nvGraphicFramePr>
          <p:cNvPr id="9" name="Diagram 8"/>
          <p:cNvGraphicFramePr/>
          <p:nvPr/>
        </p:nvGraphicFramePr>
        <p:xfrm>
          <a:off x="4932040" y="2924944"/>
          <a:ext cx="4032448" cy="3168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1" name="Straight Arrow Connector 10"/>
          <p:cNvCxnSpPr/>
          <p:nvPr/>
        </p:nvCxnSpPr>
        <p:spPr>
          <a:xfrm flipH="1">
            <a:off x="4932040" y="3573016"/>
            <a:ext cx="1656184" cy="0"/>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flipH="1">
            <a:off x="4932040" y="4653136"/>
            <a:ext cx="1080120" cy="0"/>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flipH="1">
            <a:off x="3779912" y="5805264"/>
            <a:ext cx="1584176" cy="0"/>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10" name="Slide Number Placeholder 9"/>
          <p:cNvSpPr>
            <a:spLocks noGrp="1"/>
          </p:cNvSpPr>
          <p:nvPr>
            <p:ph type="sldNum" sz="quarter" idx="12"/>
          </p:nvPr>
        </p:nvSpPr>
        <p:spPr/>
        <p:txBody>
          <a:bodyPr/>
          <a:lstStyle/>
          <a:p>
            <a:fld id="{9852A43B-CC61-4C08-A01B-A84C4E0E89A8}" type="slidenum">
              <a:rPr lang="en-IN" smtClean="0"/>
              <a:pPr/>
              <a:t>8</a:t>
            </a:fld>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a:bodyPr>
          <a:lstStyle/>
          <a:p>
            <a:pPr marL="457200" indent="-457200" algn="just">
              <a:buAutoNum type="alphaLcPeriod"/>
            </a:pPr>
            <a:r>
              <a:rPr lang="en-IN"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Top level Management</a:t>
            </a:r>
          </a:p>
          <a:p>
            <a:pPr marL="457200" indent="-457200" algn="just">
              <a:buNone/>
            </a:pPr>
            <a:endParaRPr lang="en-IN" sz="2200"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algn="just">
              <a:lnSpc>
                <a:spcPct val="150000"/>
              </a:lnSpc>
              <a:buFont typeface="Wingdings" pitchFamily="2" charset="2"/>
              <a:buChar char="ü"/>
            </a:pPr>
            <a:r>
              <a:rPr lang="en-IN" sz="2200" dirty="0">
                <a:latin typeface="Times New Roman" pitchFamily="18" charset="0"/>
                <a:cs typeface="Times New Roman" pitchFamily="18" charset="0"/>
              </a:rPr>
              <a:t>Top level management is responsible for framing policies of the organization. </a:t>
            </a:r>
          </a:p>
          <a:p>
            <a:pPr algn="just">
              <a:lnSpc>
                <a:spcPct val="150000"/>
              </a:lnSpc>
              <a:buFont typeface="Wingdings" pitchFamily="2" charset="2"/>
              <a:buChar char="ü"/>
            </a:pPr>
            <a:r>
              <a:rPr lang="en-IN" sz="2200" dirty="0">
                <a:latin typeface="Times New Roman" pitchFamily="18" charset="0"/>
                <a:cs typeface="Times New Roman" pitchFamily="18" charset="0"/>
              </a:rPr>
              <a:t>All critical decisions are also made at this level. </a:t>
            </a:r>
          </a:p>
          <a:p>
            <a:pPr algn="just">
              <a:lnSpc>
                <a:spcPct val="150000"/>
              </a:lnSpc>
              <a:buFont typeface="Wingdings" pitchFamily="2" charset="2"/>
              <a:buChar char="ü"/>
            </a:pPr>
            <a:r>
              <a:rPr lang="en-IN" sz="2200" dirty="0">
                <a:latin typeface="Times New Roman" pitchFamily="18" charset="0"/>
                <a:cs typeface="Times New Roman" pitchFamily="18" charset="0"/>
              </a:rPr>
              <a:t>Top level management consists of board of directors, managing director, general manager and senior most managers. </a:t>
            </a:r>
          </a:p>
          <a:p>
            <a:pPr algn="just">
              <a:lnSpc>
                <a:spcPct val="150000"/>
              </a:lnSpc>
              <a:buFont typeface="Wingdings" pitchFamily="2" charset="2"/>
              <a:buChar char="ü"/>
            </a:pPr>
            <a:r>
              <a:rPr lang="en-IN" sz="2200" dirty="0">
                <a:latin typeface="Times New Roman" pitchFamily="18" charset="0"/>
                <a:cs typeface="Times New Roman" pitchFamily="18" charset="0"/>
              </a:rPr>
              <a:t>Top level management is administrative in nature.</a:t>
            </a:r>
          </a:p>
          <a:p>
            <a:pPr algn="just">
              <a:buNone/>
            </a:pPr>
            <a:endParaRPr lang="en-US"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9</a:t>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073427"/>
          </a:xfrm>
        </p:spPr>
        <p:txBody>
          <a:bodyPr>
            <a:normAutofit/>
          </a:bodyPr>
          <a:lstStyle/>
          <a:p>
            <a:pPr marL="457200" indent="-457200" algn="just">
              <a:buNone/>
            </a:pPr>
            <a:r>
              <a:rPr lang="en-IN" sz="2800" b="1" i="1" u="sng" dirty="0">
                <a:solidFill>
                  <a:srgbClr val="FF0000"/>
                </a:solidFill>
                <a:latin typeface="Times New Roman" pitchFamily="18" charset="0"/>
                <a:cs typeface="Times New Roman" pitchFamily="18" charset="0"/>
              </a:rPr>
              <a:t>Functions</a:t>
            </a:r>
          </a:p>
          <a:p>
            <a:pPr algn="just">
              <a:lnSpc>
                <a:spcPct val="150000"/>
              </a:lnSpc>
              <a:buFont typeface="Wingdings" pitchFamily="2" charset="2"/>
              <a:buChar char="ü"/>
            </a:pPr>
            <a:r>
              <a:rPr lang="en-US" sz="2200" dirty="0">
                <a:latin typeface="Times New Roman" pitchFamily="18" charset="0"/>
                <a:cs typeface="Times New Roman" pitchFamily="18" charset="0"/>
              </a:rPr>
              <a:t>Develops long - range plans and strategies</a:t>
            </a:r>
          </a:p>
          <a:p>
            <a:pPr algn="just">
              <a:lnSpc>
                <a:spcPct val="150000"/>
              </a:lnSpc>
              <a:buFont typeface="Wingdings" pitchFamily="2" charset="2"/>
              <a:buChar char="ü"/>
            </a:pPr>
            <a:r>
              <a:rPr lang="en-US" sz="2200" dirty="0">
                <a:latin typeface="Times New Roman" pitchFamily="18" charset="0"/>
                <a:cs typeface="Times New Roman" pitchFamily="18" charset="0"/>
              </a:rPr>
              <a:t>Top management lays down the objectives and broad policies of the enterprise.</a:t>
            </a:r>
          </a:p>
          <a:p>
            <a:pPr algn="just">
              <a:lnSpc>
                <a:spcPct val="150000"/>
              </a:lnSpc>
              <a:buFont typeface="Wingdings" pitchFamily="2" charset="2"/>
              <a:buChar char="ü"/>
            </a:pPr>
            <a:r>
              <a:rPr lang="en-US" sz="2200" dirty="0">
                <a:latin typeface="Times New Roman" pitchFamily="18" charset="0"/>
                <a:cs typeface="Times New Roman" pitchFamily="18" charset="0"/>
              </a:rPr>
              <a:t>Issues necessary instructions for preparation of department budgets</a:t>
            </a:r>
          </a:p>
          <a:p>
            <a:pPr algn="just">
              <a:lnSpc>
                <a:spcPct val="150000"/>
              </a:lnSpc>
              <a:buFont typeface="Wingdings" pitchFamily="2" charset="2"/>
              <a:buChar char="ü"/>
            </a:pPr>
            <a:r>
              <a:rPr lang="en-US" sz="2200" dirty="0">
                <a:latin typeface="Times New Roman" pitchFamily="18" charset="0"/>
                <a:cs typeface="Times New Roman" pitchFamily="18" charset="0"/>
              </a:rPr>
              <a:t>Consults subordinate managers on subjects or problems of general scope</a:t>
            </a:r>
          </a:p>
          <a:p>
            <a:pPr algn="just">
              <a:lnSpc>
                <a:spcPct val="150000"/>
              </a:lnSpc>
              <a:buFont typeface="Wingdings" pitchFamily="2" charset="2"/>
              <a:buChar char="ü"/>
            </a:pPr>
            <a:r>
              <a:rPr lang="en-US" sz="2200" dirty="0">
                <a:latin typeface="Times New Roman" pitchFamily="18" charset="0"/>
                <a:cs typeface="Times New Roman" pitchFamily="18" charset="0"/>
              </a:rPr>
              <a:t>Involved in selection of key personnel</a:t>
            </a:r>
          </a:p>
          <a:p>
            <a:pPr algn="just">
              <a:lnSpc>
                <a:spcPct val="150000"/>
              </a:lnSpc>
              <a:buFont typeface="Wingdings" pitchFamily="2" charset="2"/>
              <a:buChar char="ü"/>
            </a:pPr>
            <a:r>
              <a:rPr lang="en-US" sz="2200" dirty="0">
                <a:latin typeface="Times New Roman" pitchFamily="18" charset="0"/>
                <a:cs typeface="Times New Roman" pitchFamily="18" charset="0"/>
              </a:rPr>
              <a:t>Controls and coordinates the activities of all the departments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10</a:t>
            </a:fld>
            <a:endParaRPr lang="en-IN" dirty="0"/>
          </a:p>
        </p:txBody>
      </p:sp>
      <p:sp>
        <p:nvSpPr>
          <p:cNvPr id="6" name="TextBox 5"/>
          <p:cNvSpPr txBox="1"/>
          <p:nvPr/>
        </p:nvSpPr>
        <p:spPr>
          <a:xfrm>
            <a:off x="539552" y="260648"/>
            <a:ext cx="8280920" cy="584775"/>
          </a:xfrm>
          <a:prstGeom prst="rect">
            <a:avLst/>
          </a:prstGeom>
          <a:noFill/>
        </p:spPr>
        <p:txBody>
          <a:bodyPr wrap="square" rtlCol="0">
            <a:spAutoFit/>
          </a:bodyPr>
          <a:lstStyle/>
          <a:p>
            <a:pPr marL="457200" indent="-457200" algn="ctr"/>
            <a:r>
              <a:rPr lang="en-IN" sz="3200"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Top level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marL="457200" indent="-457200" algn="just">
              <a:buFont typeface="Arial" pitchFamily="34" charset="0"/>
              <a:buAutoNum type="alphaLcPeriod"/>
            </a:pPr>
            <a:endParaRPr lang="en-US"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marL="514350" indent="-514350" algn="just">
              <a:buAutoNum type="alphaLcPeriod" startAt="2"/>
            </a:pPr>
            <a:r>
              <a:rPr lang="en-IN"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Middle level Management</a:t>
            </a:r>
          </a:p>
          <a:p>
            <a:pPr marL="514350" indent="-514350" algn="just">
              <a:buNone/>
            </a:pPr>
            <a:endParaRPr lang="en-IN"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algn="just">
              <a:lnSpc>
                <a:spcPct val="150000"/>
              </a:lnSpc>
              <a:buFont typeface="Wingdings" pitchFamily="2" charset="2"/>
              <a:buChar char="ü"/>
            </a:pPr>
            <a:r>
              <a:rPr lang="en-IN" sz="2200" dirty="0">
                <a:latin typeface="Times New Roman" pitchFamily="18" charset="0"/>
                <a:cs typeface="Times New Roman" pitchFamily="18" charset="0"/>
              </a:rPr>
              <a:t>Middle level management is the link between top level and low level management. </a:t>
            </a:r>
          </a:p>
          <a:p>
            <a:pPr algn="just">
              <a:lnSpc>
                <a:spcPct val="150000"/>
              </a:lnSpc>
              <a:buFont typeface="Wingdings" pitchFamily="2" charset="2"/>
              <a:buChar char="ü"/>
            </a:pPr>
            <a:r>
              <a:rPr lang="en-IN" sz="2200" dirty="0">
                <a:latin typeface="Times New Roman" pitchFamily="18" charset="0"/>
                <a:cs typeface="Times New Roman" pitchFamily="18" charset="0"/>
              </a:rPr>
              <a:t>They devote more time to organizational and directional functions. </a:t>
            </a:r>
          </a:p>
          <a:p>
            <a:pPr algn="just">
              <a:lnSpc>
                <a:spcPct val="150000"/>
              </a:lnSpc>
              <a:buFont typeface="Wingdings" pitchFamily="2" charset="2"/>
              <a:buChar char="ü"/>
            </a:pPr>
            <a:r>
              <a:rPr lang="en-IN" sz="2200" dirty="0">
                <a:latin typeface="Times New Roman" pitchFamily="18" charset="0"/>
                <a:cs typeface="Times New Roman" pitchFamily="18" charset="0"/>
              </a:rPr>
              <a:t>These managers supervise, direct and control the activities of foremen, inspectors and supervisors.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11</a:t>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435280" cy="5472608"/>
          </a:xfrm>
        </p:spPr>
        <p:txBody>
          <a:bodyPr>
            <a:normAutofit fontScale="62500" lnSpcReduction="20000"/>
          </a:bodyPr>
          <a:lstStyle/>
          <a:p>
            <a:pPr algn="just">
              <a:lnSpc>
                <a:spcPct val="160000"/>
              </a:lnSpc>
              <a:buNone/>
            </a:pPr>
            <a:r>
              <a:rPr lang="en-IN" sz="4500" b="1" i="1" u="sng" dirty="0">
                <a:solidFill>
                  <a:srgbClr val="FF0000"/>
                </a:solidFill>
                <a:latin typeface="Times New Roman" pitchFamily="18" charset="0"/>
                <a:cs typeface="Times New Roman" pitchFamily="18" charset="0"/>
              </a:rPr>
              <a:t>Functions</a:t>
            </a:r>
            <a:endParaRPr lang="en-IN" sz="4500" dirty="0">
              <a:latin typeface="Times New Roman" pitchFamily="18" charset="0"/>
              <a:cs typeface="Times New Roman" pitchFamily="18" charset="0"/>
            </a:endParaRPr>
          </a:p>
          <a:p>
            <a:pPr algn="just">
              <a:lnSpc>
                <a:spcPct val="160000"/>
              </a:lnSpc>
              <a:buFont typeface="Wingdings" pitchFamily="2" charset="2"/>
              <a:buChar char="ü"/>
            </a:pPr>
            <a:r>
              <a:rPr lang="en-US" sz="2900" dirty="0">
                <a:latin typeface="Times New Roman" pitchFamily="18" charset="0"/>
                <a:cs typeface="Times New Roman" pitchFamily="18" charset="0"/>
              </a:rPr>
              <a:t>Makes plan of intermediate range and prepares long - range plans for review by top level management</a:t>
            </a:r>
          </a:p>
          <a:p>
            <a:pPr algn="just">
              <a:lnSpc>
                <a:spcPct val="160000"/>
              </a:lnSpc>
              <a:buFont typeface="Wingdings" pitchFamily="2" charset="2"/>
              <a:buChar char="ü"/>
            </a:pPr>
            <a:r>
              <a:rPr lang="en-US" sz="2900" dirty="0">
                <a:latin typeface="Times New Roman" pitchFamily="18" charset="0"/>
                <a:cs typeface="Times New Roman" pitchFamily="18" charset="0"/>
              </a:rPr>
              <a:t>Establishes departmental policies</a:t>
            </a:r>
          </a:p>
          <a:p>
            <a:pPr algn="just">
              <a:lnSpc>
                <a:spcPct val="160000"/>
              </a:lnSpc>
              <a:buFont typeface="Wingdings" pitchFamily="2" charset="2"/>
              <a:buChar char="ü"/>
            </a:pPr>
            <a:r>
              <a:rPr lang="en-US" sz="2900" dirty="0">
                <a:latin typeface="Times New Roman" pitchFamily="18" charset="0"/>
                <a:cs typeface="Times New Roman" pitchFamily="18" charset="0"/>
              </a:rPr>
              <a:t>Counsels subordinates on production, personal or other problems</a:t>
            </a:r>
          </a:p>
          <a:p>
            <a:pPr algn="just">
              <a:lnSpc>
                <a:spcPct val="160000"/>
              </a:lnSpc>
              <a:buFont typeface="Wingdings" pitchFamily="2" charset="2"/>
              <a:buChar char="ü"/>
            </a:pPr>
            <a:r>
              <a:rPr lang="en-US" sz="2900" dirty="0">
                <a:latin typeface="Times New Roman" pitchFamily="18" charset="0"/>
                <a:cs typeface="Times New Roman" pitchFamily="18" charset="0"/>
              </a:rPr>
              <a:t>Selection and recruitment of personnel</a:t>
            </a:r>
          </a:p>
          <a:p>
            <a:pPr algn="just">
              <a:lnSpc>
                <a:spcPct val="160000"/>
              </a:lnSpc>
              <a:buFont typeface="Wingdings" pitchFamily="2" charset="2"/>
              <a:buChar char="ü"/>
            </a:pPr>
            <a:r>
              <a:rPr lang="en-US" sz="2900" dirty="0">
                <a:latin typeface="Times New Roman" pitchFamily="18" charset="0"/>
                <a:cs typeface="Times New Roman" pitchFamily="18" charset="0"/>
              </a:rPr>
              <a:t>Training of lower level management</a:t>
            </a:r>
          </a:p>
          <a:p>
            <a:pPr algn="just">
              <a:lnSpc>
                <a:spcPct val="160000"/>
              </a:lnSpc>
              <a:buFont typeface="Wingdings" pitchFamily="2" charset="2"/>
              <a:buChar char="ü"/>
            </a:pPr>
            <a:r>
              <a:rPr lang="en-US" sz="2900" dirty="0">
                <a:latin typeface="Times New Roman" pitchFamily="18" charset="0"/>
                <a:cs typeface="Times New Roman" pitchFamily="18" charset="0"/>
              </a:rPr>
              <a:t>Interpret and explain policies from top level management to lower level</a:t>
            </a:r>
          </a:p>
          <a:p>
            <a:pPr algn="just">
              <a:lnSpc>
                <a:spcPct val="160000"/>
              </a:lnSpc>
              <a:buFont typeface="Wingdings" pitchFamily="2" charset="2"/>
              <a:buChar char="ü"/>
            </a:pPr>
            <a:r>
              <a:rPr lang="en-US" sz="2900" dirty="0">
                <a:latin typeface="Times New Roman" pitchFamily="18" charset="0"/>
                <a:cs typeface="Times New Roman" pitchFamily="18" charset="0"/>
              </a:rPr>
              <a:t>Coordinating activities within the division or department</a:t>
            </a:r>
          </a:p>
          <a:p>
            <a:pPr algn="just">
              <a:lnSpc>
                <a:spcPct val="160000"/>
              </a:lnSpc>
              <a:buFont typeface="Wingdings" pitchFamily="2" charset="2"/>
              <a:buChar char="ü"/>
            </a:pPr>
            <a:r>
              <a:rPr lang="en-US" sz="2900" dirty="0">
                <a:latin typeface="Times New Roman" pitchFamily="18" charset="0"/>
                <a:cs typeface="Times New Roman" pitchFamily="18" charset="0"/>
              </a:rPr>
              <a:t>Sends important reports and other relevant data to top level management</a:t>
            </a:r>
          </a:p>
          <a:p>
            <a:pPr algn="just">
              <a:lnSpc>
                <a:spcPct val="160000"/>
              </a:lnSpc>
              <a:buFont typeface="Wingdings" pitchFamily="2" charset="2"/>
              <a:buChar char="ü"/>
            </a:pPr>
            <a:r>
              <a:rPr lang="en-US" sz="2900" dirty="0">
                <a:latin typeface="Times New Roman" pitchFamily="18" charset="0"/>
                <a:cs typeface="Times New Roman" pitchFamily="18" charset="0"/>
              </a:rPr>
              <a:t>Evaluate performance of junior managers</a:t>
            </a:r>
          </a:p>
          <a:p>
            <a:pPr algn="just">
              <a:lnSpc>
                <a:spcPct val="160000"/>
              </a:lnSpc>
              <a:buFont typeface="Wingdings" pitchFamily="2" charset="2"/>
              <a:buChar char="ü"/>
            </a:pPr>
            <a:r>
              <a:rPr lang="en-US" sz="2900" dirty="0">
                <a:latin typeface="Times New Roman" pitchFamily="18" charset="0"/>
                <a:cs typeface="Times New Roman" pitchFamily="18" charset="0"/>
              </a:rPr>
              <a:t>Motivate lower level managers towards better performance</a:t>
            </a:r>
            <a:endParaRPr lang="en-IN" sz="29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12</a:t>
            </a:fld>
            <a:endParaRPr lang="en-IN" dirty="0"/>
          </a:p>
        </p:txBody>
      </p:sp>
      <p:sp>
        <p:nvSpPr>
          <p:cNvPr id="6" name="TextBox 5"/>
          <p:cNvSpPr txBox="1"/>
          <p:nvPr/>
        </p:nvSpPr>
        <p:spPr>
          <a:xfrm>
            <a:off x="395536" y="188640"/>
            <a:ext cx="8424936" cy="584775"/>
          </a:xfrm>
          <a:prstGeom prst="rect">
            <a:avLst/>
          </a:prstGeom>
          <a:noFill/>
        </p:spPr>
        <p:txBody>
          <a:bodyPr wrap="square" rtlCol="0">
            <a:spAutoFit/>
          </a:bodyPr>
          <a:lstStyle/>
          <a:p>
            <a:pPr marL="514350" indent="-514350" algn="ctr"/>
            <a:r>
              <a:rPr lang="en-IN" sz="3200"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Middle level Management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rmAutofit/>
          </a:bodyPr>
          <a:lstStyle/>
          <a:p>
            <a:pPr marL="514350" indent="-514350" algn="just">
              <a:buAutoNum type="alphaLcPeriod" startAt="3"/>
            </a:pPr>
            <a:r>
              <a:rPr lang="en-IN"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Lower level Management</a:t>
            </a:r>
          </a:p>
          <a:p>
            <a:pPr marL="514350" indent="-514350" algn="just">
              <a:buAutoNum type="alphaLcPeriod" startAt="3"/>
            </a:pPr>
            <a:endParaRPr lang="en-IN"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algn="just">
              <a:lnSpc>
                <a:spcPct val="150000"/>
              </a:lnSpc>
              <a:buFont typeface="Wingdings" pitchFamily="2" charset="2"/>
              <a:buChar char="ü"/>
            </a:pPr>
            <a:r>
              <a:rPr lang="en-IN" sz="2200" dirty="0">
                <a:latin typeface="Times New Roman" pitchFamily="18" charset="0"/>
                <a:cs typeface="Times New Roman" pitchFamily="18" charset="0"/>
              </a:rPr>
              <a:t>Lower level is also known as supervisory / operative level of management. It consists of foremen, inspectors, supervisors etc. </a:t>
            </a:r>
          </a:p>
          <a:p>
            <a:pPr algn="just">
              <a:lnSpc>
                <a:spcPct val="150000"/>
              </a:lnSpc>
              <a:buFont typeface="Wingdings" pitchFamily="2" charset="2"/>
              <a:buChar char="ü"/>
            </a:pPr>
            <a:r>
              <a:rPr lang="en-IN" sz="2200" dirty="0">
                <a:latin typeface="Times New Roman" pitchFamily="18" charset="0"/>
                <a:cs typeface="Times New Roman" pitchFamily="18" charset="0"/>
              </a:rPr>
              <a:t>They will be mainly concerned with direction of operative employees.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13</a:t>
            </a:fld>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363272" cy="5073427"/>
          </a:xfrm>
        </p:spPr>
        <p:txBody>
          <a:bodyPr>
            <a:normAutofit/>
          </a:bodyPr>
          <a:lstStyle/>
          <a:p>
            <a:pPr algn="just">
              <a:lnSpc>
                <a:spcPct val="150000"/>
              </a:lnSpc>
              <a:buNone/>
            </a:pPr>
            <a:r>
              <a:rPr lang="en-IN" sz="3300" b="1" i="1" u="sng" dirty="0">
                <a:solidFill>
                  <a:srgbClr val="FF0000"/>
                </a:solidFill>
                <a:latin typeface="Times New Roman" pitchFamily="18" charset="0"/>
                <a:cs typeface="Times New Roman" pitchFamily="18" charset="0"/>
              </a:rPr>
              <a:t>Functions</a:t>
            </a:r>
            <a:endParaRPr lang="en-US" sz="3300" dirty="0">
              <a:latin typeface="Times New Roman" pitchFamily="18" charset="0"/>
              <a:cs typeface="Times New Roman" pitchFamily="18" charset="0"/>
            </a:endParaRPr>
          </a:p>
          <a:p>
            <a:pPr algn="just">
              <a:lnSpc>
                <a:spcPct val="150000"/>
              </a:lnSpc>
              <a:buFont typeface="Wingdings" pitchFamily="2" charset="2"/>
              <a:buChar char="ü"/>
            </a:pPr>
            <a:r>
              <a:rPr lang="en-US" sz="2200" dirty="0">
                <a:latin typeface="Times New Roman" pitchFamily="18" charset="0"/>
                <a:cs typeface="Times New Roman" pitchFamily="18" charset="0"/>
              </a:rPr>
              <a:t>Makes detailed, short - range operating plans</a:t>
            </a:r>
          </a:p>
          <a:p>
            <a:pPr algn="just">
              <a:lnSpc>
                <a:spcPct val="150000"/>
              </a:lnSpc>
              <a:buFont typeface="Wingdings" pitchFamily="2" charset="2"/>
              <a:buChar char="ü"/>
            </a:pPr>
            <a:r>
              <a:rPr lang="en-US" sz="2200" dirty="0">
                <a:latin typeface="Times New Roman" pitchFamily="18" charset="0"/>
                <a:cs typeface="Times New Roman" pitchFamily="18" charset="0"/>
              </a:rPr>
              <a:t>Assigning of jobs and tasks to various workers</a:t>
            </a:r>
          </a:p>
          <a:p>
            <a:pPr algn="just">
              <a:lnSpc>
                <a:spcPct val="150000"/>
              </a:lnSpc>
              <a:buFont typeface="Wingdings" pitchFamily="2" charset="2"/>
              <a:buChar char="ü"/>
            </a:pPr>
            <a:r>
              <a:rPr lang="en-US" sz="2200" dirty="0">
                <a:latin typeface="Times New Roman" pitchFamily="18" charset="0"/>
                <a:cs typeface="Times New Roman" pitchFamily="18" charset="0"/>
              </a:rPr>
              <a:t>Supervise and guide the sub-ordinates</a:t>
            </a:r>
          </a:p>
          <a:p>
            <a:pPr algn="just">
              <a:lnSpc>
                <a:spcPct val="150000"/>
              </a:lnSpc>
              <a:buFont typeface="Wingdings" pitchFamily="2" charset="2"/>
              <a:buChar char="ü"/>
            </a:pPr>
            <a:r>
              <a:rPr lang="en-US" sz="2200" dirty="0">
                <a:latin typeface="Times New Roman" pitchFamily="18" charset="0"/>
                <a:cs typeface="Times New Roman" pitchFamily="18" charset="0"/>
              </a:rPr>
              <a:t>Reviews performance of subordinates</a:t>
            </a:r>
          </a:p>
          <a:p>
            <a:pPr algn="just">
              <a:lnSpc>
                <a:spcPct val="150000"/>
              </a:lnSpc>
              <a:buFont typeface="Wingdings" pitchFamily="2" charset="2"/>
              <a:buChar char="ü"/>
            </a:pPr>
            <a:r>
              <a:rPr lang="en-US" sz="2200" dirty="0">
                <a:latin typeface="Times New Roman" pitchFamily="18" charset="0"/>
                <a:cs typeface="Times New Roman" pitchFamily="18" charset="0"/>
              </a:rPr>
              <a:t>Supervises day - to - day operations</a:t>
            </a:r>
          </a:p>
          <a:p>
            <a:pPr algn="just">
              <a:lnSpc>
                <a:spcPct val="150000"/>
              </a:lnSpc>
              <a:buFont typeface="Wingdings" pitchFamily="2" charset="2"/>
              <a:buChar char="ü"/>
            </a:pPr>
            <a:r>
              <a:rPr lang="en-US" sz="2200" dirty="0">
                <a:latin typeface="Times New Roman" pitchFamily="18" charset="0"/>
                <a:cs typeface="Times New Roman" pitchFamily="18" charset="0"/>
              </a:rPr>
              <a:t>Responsible for the quality as well as quantity of production</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14</a:t>
            </a:fld>
            <a:endParaRPr lang="en-IN" dirty="0"/>
          </a:p>
        </p:txBody>
      </p:sp>
      <p:sp>
        <p:nvSpPr>
          <p:cNvPr id="7" name="TextBox 6"/>
          <p:cNvSpPr txBox="1"/>
          <p:nvPr/>
        </p:nvSpPr>
        <p:spPr>
          <a:xfrm>
            <a:off x="755576" y="332656"/>
            <a:ext cx="8208912" cy="861774"/>
          </a:xfrm>
          <a:prstGeom prst="rect">
            <a:avLst/>
          </a:prstGeom>
          <a:noFill/>
        </p:spPr>
        <p:txBody>
          <a:bodyPr wrap="square" rtlCol="0">
            <a:spAutoFit/>
          </a:bodyPr>
          <a:lstStyle/>
          <a:p>
            <a:pPr algn="ctr"/>
            <a:r>
              <a:rPr lang="en-IN" sz="3200"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Lower level Management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363272" cy="5256584"/>
          </a:xfrm>
        </p:spPr>
        <p:txBody>
          <a:bodyPr>
            <a:normAutofit lnSpcReduction="10000"/>
          </a:bodyPr>
          <a:lstStyle/>
          <a:p>
            <a:pPr algn="just">
              <a:lnSpc>
                <a:spcPct val="150000"/>
              </a:lnSpc>
              <a:buNone/>
            </a:pPr>
            <a:r>
              <a:rPr lang="en-IN" sz="3300" b="1" i="1" u="sng" dirty="0">
                <a:solidFill>
                  <a:srgbClr val="FF0000"/>
                </a:solidFill>
                <a:latin typeface="Times New Roman" pitchFamily="18" charset="0"/>
                <a:cs typeface="Times New Roman" pitchFamily="18" charset="0"/>
              </a:rPr>
              <a:t>Functions</a:t>
            </a:r>
            <a:endParaRPr lang="en-US" sz="2000" dirty="0"/>
          </a:p>
          <a:p>
            <a:pPr algn="just">
              <a:lnSpc>
                <a:spcPct val="150000"/>
              </a:lnSpc>
              <a:buFont typeface="Wingdings" pitchFamily="2" charset="2"/>
              <a:buChar char="ü"/>
            </a:pPr>
            <a:r>
              <a:rPr lang="en-US" sz="2000" dirty="0">
                <a:latin typeface="Times New Roman" pitchFamily="18" charset="0"/>
                <a:cs typeface="Times New Roman" pitchFamily="18" charset="0"/>
              </a:rPr>
              <a:t>Communicate workers problems, suggestions, and recommendatory appeals etc. to the higher level and higher level goals and objectives to the workers</a:t>
            </a:r>
          </a:p>
          <a:p>
            <a:pPr algn="just">
              <a:lnSpc>
                <a:spcPct val="150000"/>
              </a:lnSpc>
              <a:buFont typeface="Wingdings" pitchFamily="2" charset="2"/>
              <a:buChar char="ü"/>
            </a:pPr>
            <a:r>
              <a:rPr lang="en-US" sz="2000" dirty="0">
                <a:latin typeface="Times New Roman" pitchFamily="18" charset="0"/>
                <a:cs typeface="Times New Roman" pitchFamily="18" charset="0"/>
              </a:rPr>
              <a:t>Solve the grievances of the workers.</a:t>
            </a:r>
            <a:endParaRPr lang="en-IN" sz="2000" dirty="0">
              <a:latin typeface="Times New Roman" pitchFamily="18" charset="0"/>
              <a:cs typeface="Times New Roman" pitchFamily="18" charset="0"/>
            </a:endParaRPr>
          </a:p>
          <a:p>
            <a:pPr algn="just">
              <a:lnSpc>
                <a:spcPct val="150000"/>
              </a:lnSpc>
              <a:buFont typeface="Wingdings" pitchFamily="2" charset="2"/>
              <a:buChar char="ü"/>
            </a:pPr>
            <a:r>
              <a:rPr lang="en-US" sz="2000" dirty="0">
                <a:latin typeface="Times New Roman" pitchFamily="18" charset="0"/>
                <a:cs typeface="Times New Roman" pitchFamily="18" charset="0"/>
              </a:rPr>
              <a:t>Training of workers</a:t>
            </a:r>
          </a:p>
          <a:p>
            <a:pPr algn="just">
              <a:lnSpc>
                <a:spcPct val="150000"/>
              </a:lnSpc>
              <a:buFont typeface="Wingdings" pitchFamily="2" charset="2"/>
              <a:buChar char="ü"/>
            </a:pPr>
            <a:r>
              <a:rPr lang="en-US" sz="2000" dirty="0">
                <a:latin typeface="Times New Roman" pitchFamily="18" charset="0"/>
                <a:cs typeface="Times New Roman" pitchFamily="18" charset="0"/>
              </a:rPr>
              <a:t>Arrange necessary materials, machines, tools etc. for day - to – day operations</a:t>
            </a:r>
          </a:p>
          <a:p>
            <a:pPr algn="just">
              <a:lnSpc>
                <a:spcPct val="150000"/>
              </a:lnSpc>
              <a:buFont typeface="Wingdings" pitchFamily="2" charset="2"/>
              <a:buChar char="ü"/>
            </a:pPr>
            <a:r>
              <a:rPr lang="en-US" sz="2000" dirty="0">
                <a:latin typeface="Times New Roman" pitchFamily="18" charset="0"/>
                <a:cs typeface="Times New Roman" pitchFamily="18" charset="0"/>
              </a:rPr>
              <a:t>Prepare periodical reports about the performance of the workers</a:t>
            </a:r>
          </a:p>
          <a:p>
            <a:pPr algn="just">
              <a:lnSpc>
                <a:spcPct val="150000"/>
              </a:lnSpc>
              <a:buFont typeface="Wingdings" pitchFamily="2" charset="2"/>
              <a:buChar char="ü"/>
            </a:pPr>
            <a:r>
              <a:rPr lang="en-US" sz="2000" dirty="0">
                <a:latin typeface="Times New Roman" pitchFamily="18" charset="0"/>
                <a:cs typeface="Times New Roman" pitchFamily="18" charset="0"/>
              </a:rPr>
              <a:t>Ensure discipline in the enterprise</a:t>
            </a:r>
          </a:p>
          <a:p>
            <a:pPr algn="just">
              <a:lnSpc>
                <a:spcPct val="150000"/>
              </a:lnSpc>
              <a:buFont typeface="Wingdings" pitchFamily="2" charset="2"/>
              <a:buChar char="ü"/>
            </a:pPr>
            <a:r>
              <a:rPr lang="en-US" sz="2000" dirty="0">
                <a:latin typeface="Times New Roman" pitchFamily="18" charset="0"/>
                <a:cs typeface="Times New Roman" pitchFamily="18" charset="0"/>
              </a:rPr>
              <a:t>Motivate workers</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15</a:t>
            </a:fld>
            <a:endParaRPr lang="en-IN" dirty="0"/>
          </a:p>
        </p:txBody>
      </p:sp>
      <p:sp>
        <p:nvSpPr>
          <p:cNvPr id="7" name="TextBox 6"/>
          <p:cNvSpPr txBox="1"/>
          <p:nvPr/>
        </p:nvSpPr>
        <p:spPr>
          <a:xfrm>
            <a:off x="755576" y="332656"/>
            <a:ext cx="8208912" cy="861774"/>
          </a:xfrm>
          <a:prstGeom prst="rect">
            <a:avLst/>
          </a:prstGeom>
          <a:noFill/>
        </p:spPr>
        <p:txBody>
          <a:bodyPr wrap="square" rtlCol="0">
            <a:spAutoFit/>
          </a:bodyPr>
          <a:lstStyle/>
          <a:p>
            <a:pPr algn="ctr"/>
            <a:r>
              <a:rPr lang="en-IN" sz="3200"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Lower level Management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Managerial Skills/ Management Skills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endParaRPr lang="en-US" sz="2200" dirty="0">
              <a:latin typeface="Times New Roman" pitchFamily="18" charset="0"/>
              <a:cs typeface="Times New Roman" pitchFamily="18" charset="0"/>
            </a:endParaRPr>
          </a:p>
          <a:p>
            <a:pPr algn="just">
              <a:lnSpc>
                <a:spcPct val="150000"/>
              </a:lnSpc>
              <a:buFont typeface="Wingdings" pitchFamily="2" charset="2"/>
              <a:buChar char="Ø"/>
            </a:pPr>
            <a:r>
              <a:rPr lang="en-US" sz="2200" dirty="0">
                <a:latin typeface="Times New Roman" pitchFamily="18" charset="0"/>
                <a:cs typeface="Times New Roman" pitchFamily="18" charset="0"/>
              </a:rPr>
              <a:t>It’s the ability of a manager to make a smooth functioning team of people working under him.</a:t>
            </a:r>
          </a:p>
          <a:p>
            <a:pPr algn="just">
              <a:lnSpc>
                <a:spcPct val="150000"/>
              </a:lnSpc>
              <a:buFont typeface="Wingdings" pitchFamily="2" charset="2"/>
              <a:buChar char="Ø"/>
            </a:pPr>
            <a:r>
              <a:rPr lang="en-US" sz="2200" dirty="0">
                <a:latin typeface="Times New Roman" pitchFamily="18" charset="0"/>
                <a:cs typeface="Times New Roman" pitchFamily="18" charset="0"/>
              </a:rPr>
              <a:t>It involves obligation to make effective utilization of human and material resources.</a:t>
            </a:r>
          </a:p>
          <a:p>
            <a:pPr algn="just"/>
            <a:endParaRPr lang="en-US" sz="2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852A43B-CC61-4C08-A01B-A84C4E0E89A8}" type="slidenum">
              <a:rPr lang="en-IN" smtClean="0"/>
              <a:pPr/>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86409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Managerial Skills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328592"/>
          </a:xfrm>
        </p:spPr>
        <p:txBody>
          <a:bodyPr>
            <a:normAutofit/>
          </a:bodyPr>
          <a:lstStyle/>
          <a:p>
            <a:pPr algn="just">
              <a:buFont typeface="Wingdings" pitchFamily="2" charset="2"/>
              <a:buChar char="q"/>
            </a:pPr>
            <a:r>
              <a:rPr lang="en-US" sz="2200" dirty="0">
                <a:latin typeface="Times New Roman" pitchFamily="18" charset="0"/>
                <a:cs typeface="Times New Roman" pitchFamily="18" charset="0"/>
              </a:rPr>
              <a:t>Types</a:t>
            </a:r>
          </a:p>
          <a:p>
            <a:pPr marL="914400" lvl="1" indent="-457200" algn="just">
              <a:buFont typeface="+mj-lt"/>
              <a:buAutoNum type="arabicPeriod"/>
            </a:pPr>
            <a:r>
              <a:rPr lang="en-US" sz="2200" dirty="0">
                <a:latin typeface="Times New Roman" pitchFamily="18" charset="0"/>
                <a:cs typeface="Times New Roman" pitchFamily="18" charset="0"/>
              </a:rPr>
              <a:t>Technical skills</a:t>
            </a:r>
          </a:p>
          <a:p>
            <a:pPr marL="914400" lvl="1" indent="-457200" algn="just">
              <a:buFont typeface="+mj-lt"/>
              <a:buAutoNum type="arabicPeriod"/>
            </a:pPr>
            <a:r>
              <a:rPr lang="en-US" sz="2200" dirty="0">
                <a:latin typeface="Times New Roman" pitchFamily="18" charset="0"/>
                <a:cs typeface="Times New Roman" pitchFamily="18" charset="0"/>
              </a:rPr>
              <a:t>Conceptual skills</a:t>
            </a:r>
          </a:p>
          <a:p>
            <a:pPr marL="914400" lvl="1" indent="-457200" algn="just">
              <a:buFont typeface="+mj-lt"/>
              <a:buAutoNum type="arabicPeriod"/>
            </a:pPr>
            <a:r>
              <a:rPr lang="en-US" sz="2200" dirty="0">
                <a:latin typeface="Times New Roman" pitchFamily="18" charset="0"/>
                <a:cs typeface="Times New Roman" pitchFamily="18" charset="0"/>
              </a:rPr>
              <a:t>Human relational skills</a:t>
            </a:r>
            <a:endParaRPr lang="en-IN" sz="22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2267744" y="2924944"/>
            <a:ext cx="5472608" cy="371207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9852A43B-CC61-4C08-A01B-A84C4E0E89A8}" type="slidenum">
              <a:rPr lang="en-IN" smtClean="0"/>
              <a:pPr/>
              <a:t>17</a:t>
            </a:fld>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289451"/>
          </a:xfrm>
        </p:spPr>
        <p:txBody>
          <a:bodyPr>
            <a:normAutofit/>
          </a:bodyPr>
          <a:lstStyle/>
          <a:p>
            <a:pPr marL="514350" indent="-514350" algn="just">
              <a:buAutoNum type="arabicPeriod"/>
            </a:pPr>
            <a:r>
              <a:rPr lang="en-US"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Technical skills</a:t>
            </a:r>
          </a:p>
          <a:p>
            <a:pPr marL="514350" indent="-514350" algn="just">
              <a:buNone/>
            </a:pPr>
            <a:endParaRPr lang="en-US"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ct val="150000"/>
              </a:lnSpc>
              <a:buFont typeface="Wingdings" pitchFamily="2" charset="2"/>
              <a:buChar char="ü"/>
            </a:pPr>
            <a:r>
              <a:rPr lang="en-US" sz="2200" dirty="0">
                <a:latin typeface="Times New Roman" pitchFamily="18" charset="0"/>
                <a:cs typeface="Times New Roman" pitchFamily="18" charset="0"/>
              </a:rPr>
              <a:t>Technical skill is the ability to perform a manger’s job. </a:t>
            </a:r>
          </a:p>
          <a:p>
            <a:pPr>
              <a:lnSpc>
                <a:spcPct val="150000"/>
              </a:lnSpc>
              <a:buFont typeface="Wingdings" pitchFamily="2" charset="2"/>
              <a:buChar char="ü"/>
            </a:pPr>
            <a:r>
              <a:rPr lang="en-US" sz="2200" dirty="0">
                <a:latin typeface="Times New Roman" pitchFamily="18" charset="0"/>
                <a:cs typeface="Times New Roman" pitchFamily="18" charset="0"/>
              </a:rPr>
              <a:t>An accountant, doctor, engineer or a musician all have technical skills in their respective fields of specialization. </a:t>
            </a:r>
          </a:p>
          <a:p>
            <a:pPr>
              <a:lnSpc>
                <a:spcPct val="150000"/>
              </a:lnSpc>
              <a:buFont typeface="Wingdings" pitchFamily="2" charset="2"/>
              <a:buChar char="ü"/>
            </a:pPr>
            <a:r>
              <a:rPr lang="en-US" sz="2200" dirty="0">
                <a:latin typeface="Times New Roman" pitchFamily="18" charset="0"/>
                <a:cs typeface="Times New Roman" pitchFamily="18" charset="0"/>
              </a:rPr>
              <a:t>A manager must possess technical skill.</a:t>
            </a:r>
          </a:p>
          <a:p>
            <a:pPr algn="just">
              <a:lnSpc>
                <a:spcPct val="150000"/>
              </a:lnSpc>
              <a:buFont typeface="Wingdings" pitchFamily="2" charset="2"/>
              <a:buChar char="ü"/>
            </a:pPr>
            <a:r>
              <a:rPr lang="en-US" sz="2200" dirty="0">
                <a:latin typeface="Times New Roman" pitchFamily="18" charset="0"/>
                <a:cs typeface="Times New Roman" pitchFamily="18" charset="0"/>
              </a:rPr>
              <a:t>It refers to the proficiency in handling methods &amp; techniques to perform particular tasks.</a:t>
            </a:r>
          </a:p>
          <a:p>
            <a:pPr algn="just"/>
            <a:endParaRPr lang="en-US"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18</a:t>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616624"/>
          </a:xfrm>
        </p:spPr>
        <p:txBody>
          <a:bodyPr>
            <a:normAutofit fontScale="92500" lnSpcReduction="20000"/>
          </a:bodyPr>
          <a:lstStyle/>
          <a:p>
            <a:pPr marL="514350" indent="-514350" algn="just">
              <a:lnSpc>
                <a:spcPct val="160000"/>
              </a:lnSpc>
              <a:buAutoNum type="arabicPeriod" startAt="2"/>
            </a:pPr>
            <a:r>
              <a:rPr lang="en-US"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Conceptual skills</a:t>
            </a:r>
          </a:p>
          <a:p>
            <a:pPr algn="just">
              <a:lnSpc>
                <a:spcPct val="160000"/>
              </a:lnSpc>
              <a:buFont typeface="Wingdings" pitchFamily="2" charset="2"/>
              <a:buChar char="ü"/>
            </a:pPr>
            <a:r>
              <a:rPr lang="en-IN" sz="2200" dirty="0">
                <a:latin typeface="Times New Roman" pitchFamily="18" charset="0"/>
                <a:cs typeface="Times New Roman" pitchFamily="18" charset="0"/>
              </a:rPr>
              <a:t>It is the ability to coordinate and integrate the entire organizational interests and activities.</a:t>
            </a:r>
          </a:p>
          <a:p>
            <a:pPr algn="just">
              <a:lnSpc>
                <a:spcPct val="160000"/>
              </a:lnSpc>
              <a:buNone/>
            </a:pPr>
            <a:r>
              <a:rPr lang="en-US" sz="2200" dirty="0">
                <a:latin typeface="Times New Roman" pitchFamily="18" charset="0"/>
                <a:cs typeface="Times New Roman" pitchFamily="18" charset="0"/>
              </a:rPr>
              <a:t>		a) </a:t>
            </a:r>
            <a:r>
              <a:rPr lang="en-US" sz="2200" b="1" i="1" dirty="0">
                <a:latin typeface="Times New Roman" pitchFamily="18" charset="0"/>
                <a:cs typeface="Times New Roman" pitchFamily="18" charset="0"/>
              </a:rPr>
              <a:t>Decision making skill</a:t>
            </a:r>
            <a:r>
              <a:rPr lang="en-US" sz="2200" dirty="0">
                <a:latin typeface="Times New Roman" pitchFamily="18" charset="0"/>
                <a:cs typeface="Times New Roman" pitchFamily="18" charset="0"/>
              </a:rPr>
              <a:t>: ability to make accurate and right 		decisions at the right time.</a:t>
            </a:r>
          </a:p>
          <a:p>
            <a:pPr algn="just">
              <a:lnSpc>
                <a:spcPct val="160000"/>
              </a:lnSpc>
              <a:buNone/>
            </a:pPr>
            <a:r>
              <a:rPr lang="en-US" sz="2200" dirty="0">
                <a:latin typeface="Times New Roman" pitchFamily="18" charset="0"/>
                <a:cs typeface="Times New Roman" pitchFamily="18" charset="0"/>
              </a:rPr>
              <a:t>		b) </a:t>
            </a:r>
            <a:r>
              <a:rPr lang="en-US" sz="2200" b="1" i="1" dirty="0">
                <a:latin typeface="Times New Roman" pitchFamily="18" charset="0"/>
                <a:cs typeface="Times New Roman" pitchFamily="18" charset="0"/>
              </a:rPr>
              <a:t>Organizational skill</a:t>
            </a:r>
            <a:r>
              <a:rPr lang="en-US" sz="2200" dirty="0">
                <a:latin typeface="Times New Roman" pitchFamily="18" charset="0"/>
                <a:cs typeface="Times New Roman" pitchFamily="18" charset="0"/>
              </a:rPr>
              <a:t>: ability to recruit and allocate right 		person for the right job.</a:t>
            </a:r>
          </a:p>
          <a:p>
            <a:pPr>
              <a:lnSpc>
                <a:spcPct val="160000"/>
              </a:lnSpc>
              <a:buFont typeface="Wingdings" pitchFamily="2" charset="2"/>
              <a:buChar char="ü"/>
            </a:pPr>
            <a:r>
              <a:rPr lang="en-US" sz="2200" dirty="0">
                <a:latin typeface="Times New Roman" pitchFamily="18" charset="0"/>
                <a:cs typeface="Times New Roman" pitchFamily="18" charset="0"/>
              </a:rPr>
              <a:t>A manager must have the ability to see the organization as a whole and not make decisions from his own departmental point of view.</a:t>
            </a:r>
          </a:p>
          <a:p>
            <a:pPr>
              <a:lnSpc>
                <a:spcPct val="160000"/>
              </a:lnSpc>
              <a:buFont typeface="Wingdings" pitchFamily="2" charset="2"/>
              <a:buChar char="ü"/>
            </a:pPr>
            <a:r>
              <a:rPr lang="en-US" sz="2200" dirty="0">
                <a:latin typeface="Times New Roman" pitchFamily="18" charset="0"/>
                <a:cs typeface="Times New Roman" pitchFamily="18" charset="0"/>
              </a:rPr>
              <a:t>He must be able to see how his department is affected by the decisions of others.</a:t>
            </a:r>
          </a:p>
          <a:p>
            <a:pPr algn="just">
              <a:lnSpc>
                <a:spcPct val="160000"/>
              </a:lnSpc>
              <a:buNone/>
            </a:pPr>
            <a:endParaRPr lang="en-US" sz="2200" dirty="0">
              <a:latin typeface="Times New Roman" pitchFamily="18" charset="0"/>
              <a:cs typeface="Times New Roman" pitchFamily="18" charset="0"/>
            </a:endParaRPr>
          </a:p>
          <a:p>
            <a:pPr algn="just">
              <a:lnSpc>
                <a:spcPct val="160000"/>
              </a:lnSpc>
              <a:buNone/>
            </a:pPr>
            <a:endParaRPr lang="en-IN"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19</a:t>
            </a:fld>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616624"/>
          </a:xfrm>
        </p:spPr>
        <p:txBody>
          <a:bodyPr>
            <a:normAutofit fontScale="92500"/>
          </a:bodyPr>
          <a:lstStyle/>
          <a:p>
            <a:pPr marL="514350" indent="-514350" algn="just">
              <a:buAutoNum type="arabicPeriod" startAt="3"/>
            </a:pPr>
            <a:r>
              <a:rPr lang="en-US" b="1" i="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Human relational skills</a:t>
            </a:r>
          </a:p>
          <a:p>
            <a:pPr algn="just">
              <a:lnSpc>
                <a:spcPct val="160000"/>
              </a:lnSpc>
              <a:buFont typeface="Wingdings" pitchFamily="2" charset="2"/>
              <a:buChar char="ü"/>
            </a:pPr>
            <a:r>
              <a:rPr lang="en-US" sz="2200" dirty="0">
                <a:latin typeface="Times New Roman" pitchFamily="18" charset="0"/>
                <a:cs typeface="Times New Roman" pitchFamily="18" charset="0"/>
              </a:rPr>
              <a:t>It is the ability to build cooperative workgroups to achieve organizational goals.</a:t>
            </a:r>
          </a:p>
          <a:p>
            <a:pPr algn="just">
              <a:lnSpc>
                <a:spcPct val="160000"/>
              </a:lnSpc>
              <a:buNone/>
            </a:pPr>
            <a:r>
              <a:rPr lang="en-US" sz="2200" i="1" dirty="0">
                <a:latin typeface="Times New Roman" pitchFamily="18" charset="0"/>
                <a:cs typeface="Times New Roman" pitchFamily="18" charset="0"/>
              </a:rPr>
              <a:t>	a)	Communication skills</a:t>
            </a:r>
            <a:r>
              <a:rPr lang="en-US" sz="2200" dirty="0">
                <a:latin typeface="Times New Roman" pitchFamily="18" charset="0"/>
                <a:cs typeface="Times New Roman" pitchFamily="18" charset="0"/>
              </a:rPr>
              <a:t>: ability to pass on information to others.</a:t>
            </a:r>
          </a:p>
          <a:p>
            <a:pPr algn="just">
              <a:lnSpc>
                <a:spcPct val="160000"/>
              </a:lnSpc>
              <a:buNone/>
            </a:pPr>
            <a:r>
              <a:rPr lang="en-US" sz="2200" i="1" dirty="0">
                <a:latin typeface="Times New Roman" pitchFamily="18" charset="0"/>
                <a:cs typeface="Times New Roman" pitchFamily="18" charset="0"/>
              </a:rPr>
              <a:t>	b)	Motivating skills</a:t>
            </a:r>
            <a:r>
              <a:rPr lang="en-US" sz="2200" dirty="0">
                <a:latin typeface="Times New Roman" pitchFamily="18" charset="0"/>
                <a:cs typeface="Times New Roman" pitchFamily="18" charset="0"/>
              </a:rPr>
              <a:t>: ability to encourage the subordinates.</a:t>
            </a:r>
          </a:p>
          <a:p>
            <a:pPr algn="just">
              <a:lnSpc>
                <a:spcPct val="160000"/>
              </a:lnSpc>
              <a:buNone/>
            </a:pPr>
            <a:r>
              <a:rPr lang="en-US" sz="2200" i="1" dirty="0">
                <a:latin typeface="Times New Roman" pitchFamily="18" charset="0"/>
                <a:cs typeface="Times New Roman" pitchFamily="18" charset="0"/>
              </a:rPr>
              <a:t>	c)	Leadership skills</a:t>
            </a:r>
            <a:r>
              <a:rPr lang="en-US" sz="2200" dirty="0">
                <a:latin typeface="Times New Roman" pitchFamily="18" charset="0"/>
                <a:cs typeface="Times New Roman" pitchFamily="18" charset="0"/>
              </a:rPr>
              <a:t>: ability to inspire confidence and trust in 	subordinates in order to have maximum cooperation from them 	for getting work done.</a:t>
            </a:r>
          </a:p>
          <a:p>
            <a:pPr algn="just">
              <a:lnSpc>
                <a:spcPct val="160000"/>
              </a:lnSpc>
              <a:buFont typeface="Wingdings" pitchFamily="2" charset="2"/>
              <a:buChar char="ü"/>
            </a:pPr>
            <a:r>
              <a:rPr lang="en-US" sz="2200" dirty="0">
                <a:latin typeface="Times New Roman" pitchFamily="18" charset="0"/>
                <a:cs typeface="Times New Roman" pitchFamily="18" charset="0"/>
              </a:rPr>
              <a:t>The manager must focus his attention on improving his interpersonal relations with peers, subordinates, and his own supervisors.</a:t>
            </a:r>
            <a:endParaRPr lang="en-IN"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20</a:t>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Scientific management</a:t>
            </a:r>
          </a:p>
        </p:txBody>
      </p:sp>
      <p:sp>
        <p:nvSpPr>
          <p:cNvPr id="3" name="Content Placeholder 2"/>
          <p:cNvSpPr>
            <a:spLocks noGrp="1"/>
          </p:cNvSpPr>
          <p:nvPr>
            <p:ph idx="1"/>
          </p:nvPr>
        </p:nvSpPr>
        <p:spPr/>
        <p:txBody>
          <a:bodyPr>
            <a:normAutofit lnSpcReduction="10000"/>
          </a:bodyPr>
          <a:lstStyle/>
          <a:p>
            <a:pPr algn="just">
              <a:lnSpc>
                <a:spcPct val="150000"/>
              </a:lnSpc>
            </a:pPr>
            <a:r>
              <a:rPr lang="en-US" sz="2200" dirty="0">
                <a:latin typeface="Times New Roman" pitchFamily="18" charset="0"/>
                <a:cs typeface="Times New Roman" pitchFamily="18" charset="0"/>
              </a:rPr>
              <a:t>“Art of knowing exactly what is to be done and the best way of doing it”.</a:t>
            </a:r>
          </a:p>
          <a:p>
            <a:pPr algn="just">
              <a:lnSpc>
                <a:spcPct val="150000"/>
              </a:lnSpc>
            </a:pPr>
            <a:r>
              <a:rPr lang="en-US" sz="2200" dirty="0">
                <a:latin typeface="Times New Roman" pitchFamily="18" charset="0"/>
                <a:cs typeface="Times New Roman" pitchFamily="18" charset="0"/>
              </a:rPr>
              <a:t>Scientific management is a theory of management that analyzes and synthesizes workflows, with the objective of improving labor productivity.</a:t>
            </a:r>
          </a:p>
          <a:p>
            <a:pPr algn="just">
              <a:lnSpc>
                <a:spcPct val="150000"/>
              </a:lnSpc>
            </a:pPr>
            <a:r>
              <a:rPr lang="en-US" sz="2200" dirty="0">
                <a:latin typeface="Times New Roman" pitchFamily="18" charset="0"/>
                <a:cs typeface="Times New Roman" pitchFamily="18" charset="0"/>
              </a:rPr>
              <a:t>It’s the result of applying scientific knowledge and the scientific methods to the various aspects of management and the problems that arise from them.</a:t>
            </a:r>
          </a:p>
          <a:p>
            <a:pPr algn="just">
              <a:lnSpc>
                <a:spcPct val="150000"/>
              </a:lnSpc>
            </a:pPr>
            <a:r>
              <a:rPr lang="en-US" sz="2200" dirty="0">
                <a:latin typeface="Times New Roman" pitchFamily="18" charset="0"/>
                <a:cs typeface="Times New Roman" pitchFamily="18" charset="0"/>
              </a:rPr>
              <a:t>Helps to improve productivity and standardize human efforts.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21</a:t>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Contributions of F.W. Taylor (1856 – 1915)</a:t>
            </a:r>
          </a:p>
        </p:txBody>
      </p:sp>
      <p:sp>
        <p:nvSpPr>
          <p:cNvPr id="3" name="Content Placeholder 2"/>
          <p:cNvSpPr>
            <a:spLocks noGrp="1"/>
          </p:cNvSpPr>
          <p:nvPr>
            <p:ph idx="1"/>
          </p:nvPr>
        </p:nvSpPr>
        <p:spPr>
          <a:xfrm>
            <a:off x="457200" y="1052736"/>
            <a:ext cx="8229600" cy="5073427"/>
          </a:xfrm>
        </p:spPr>
        <p:txBody>
          <a:bodyPr>
            <a:noAutofit/>
          </a:bodyPr>
          <a:lstStyle/>
          <a:p>
            <a:pPr algn="just">
              <a:lnSpc>
                <a:spcPct val="160000"/>
              </a:lnSpc>
              <a:buFont typeface="Wingdings" pitchFamily="2" charset="2"/>
              <a:buChar char="Ø"/>
            </a:pPr>
            <a:r>
              <a:rPr lang="en-US" sz="2000" dirty="0">
                <a:latin typeface="Times New Roman" pitchFamily="18" charset="0"/>
                <a:cs typeface="Times New Roman" pitchFamily="18" charset="0"/>
              </a:rPr>
              <a:t>The core ideas of the theory were developed by Frederick Winslow Taylor (1856 – 1915) in the 1880s and 1890s.</a:t>
            </a:r>
          </a:p>
          <a:p>
            <a:pPr algn="just">
              <a:lnSpc>
                <a:spcPct val="160000"/>
              </a:lnSpc>
              <a:buFont typeface="Wingdings" pitchFamily="2" charset="2"/>
              <a:buChar char="Ø"/>
            </a:pPr>
            <a:r>
              <a:rPr lang="en-US" sz="2000" dirty="0">
                <a:latin typeface="Times New Roman" pitchFamily="18" charset="0"/>
                <a:cs typeface="Times New Roman" pitchFamily="18" charset="0"/>
              </a:rPr>
              <a:t>Known as father of scientific management.</a:t>
            </a:r>
          </a:p>
          <a:p>
            <a:pPr algn="just">
              <a:lnSpc>
                <a:spcPct val="160000"/>
              </a:lnSpc>
              <a:buFont typeface="Wingdings" pitchFamily="2" charset="2"/>
              <a:buChar char="Ø"/>
            </a:pPr>
            <a:r>
              <a:rPr lang="en-US" sz="2000" dirty="0">
                <a:latin typeface="Times New Roman" pitchFamily="18" charset="0"/>
                <a:cs typeface="Times New Roman" pitchFamily="18" charset="0"/>
              </a:rPr>
              <a:t>Scientific management's application is contingent on a high level of managerial control over employee work practices.</a:t>
            </a:r>
          </a:p>
          <a:p>
            <a:pPr algn="just">
              <a:lnSpc>
                <a:spcPct val="160000"/>
              </a:lnSpc>
              <a:buFont typeface="Wingdings" pitchFamily="2" charset="2"/>
              <a:buChar char="Ø"/>
            </a:pPr>
            <a:r>
              <a:rPr lang="en-US" sz="2000" dirty="0">
                <a:latin typeface="Times New Roman" pitchFamily="18" charset="0"/>
                <a:cs typeface="Times New Roman" pitchFamily="18" charset="0"/>
              </a:rPr>
              <a:t>“A complete mental revolution” on the part of management and </a:t>
            </a:r>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a:t>
            </a:r>
          </a:p>
          <a:p>
            <a:pPr algn="just">
              <a:lnSpc>
                <a:spcPct val="160000"/>
              </a:lnSpc>
              <a:buFont typeface="Wingdings" pitchFamily="2" charset="2"/>
              <a:buChar char="Ø"/>
            </a:pPr>
            <a:r>
              <a:rPr lang="en-US" sz="2000" dirty="0">
                <a:latin typeface="Times New Roman" pitchFamily="18" charset="0"/>
                <a:cs typeface="Times New Roman" pitchFamily="18" charset="0"/>
              </a:rPr>
              <a:t>Stressed the importance of “time and motion study” to increase efficiency of men and machines.</a:t>
            </a:r>
          </a:p>
          <a:p>
            <a:pPr algn="just">
              <a:lnSpc>
                <a:spcPct val="160000"/>
              </a:lnSpc>
              <a:buFont typeface="Wingdings" pitchFamily="2" charset="2"/>
              <a:buChar char="Ø"/>
            </a:pPr>
            <a:r>
              <a:rPr lang="en-US" sz="2000" dirty="0">
                <a:latin typeface="Times New Roman" pitchFamily="18" charset="0"/>
                <a:cs typeface="Times New Roman" pitchFamily="18" charset="0"/>
              </a:rPr>
              <a:t>Introduced a wage incentive plan known as differential rate system, which involves payment of higher wages to more efficient workers.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22</a:t>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Four basic principles of F.W. Taylor</a:t>
            </a:r>
          </a:p>
        </p:txBody>
      </p:sp>
      <p:sp>
        <p:nvSpPr>
          <p:cNvPr id="3" name="Content Placeholder 2"/>
          <p:cNvSpPr>
            <a:spLocks noGrp="1"/>
          </p:cNvSpPr>
          <p:nvPr>
            <p:ph idx="1"/>
          </p:nvPr>
        </p:nvSpPr>
        <p:spPr>
          <a:xfrm>
            <a:off x="457200" y="908720"/>
            <a:ext cx="8229600" cy="5217443"/>
          </a:xfrm>
        </p:spPr>
        <p:txBody>
          <a:bodyPr>
            <a:noAutofit/>
          </a:bodyPr>
          <a:lstStyle/>
          <a:p>
            <a:pPr algn="just">
              <a:lnSpc>
                <a:spcPct val="150000"/>
              </a:lnSpc>
              <a:buFont typeface="Wingdings" pitchFamily="2" charset="2"/>
              <a:buChar char="ü"/>
            </a:pPr>
            <a:r>
              <a:rPr lang="en-US" sz="2000" dirty="0">
                <a:latin typeface="Times New Roman" pitchFamily="18" charset="0"/>
                <a:cs typeface="Times New Roman" pitchFamily="18" charset="0"/>
              </a:rPr>
              <a:t>Develop a science for each element of a man’s work, which replaces the old rule of thumb method.</a:t>
            </a:r>
          </a:p>
          <a:p>
            <a:pPr algn="just">
              <a:lnSpc>
                <a:spcPct val="150000"/>
              </a:lnSpc>
              <a:buFont typeface="Wingdings" pitchFamily="2" charset="2"/>
              <a:buChar char="ü"/>
            </a:pPr>
            <a:r>
              <a:rPr lang="en-US" sz="2000" dirty="0">
                <a:latin typeface="Times New Roman" pitchFamily="18" charset="0"/>
                <a:cs typeface="Times New Roman" pitchFamily="18" charset="0"/>
              </a:rPr>
              <a:t>Scientifically select and then train, teach, and develop the work man, where as in the past he chose his own work and trained himself as best as he could.</a:t>
            </a:r>
          </a:p>
          <a:p>
            <a:pPr algn="just">
              <a:lnSpc>
                <a:spcPct val="150000"/>
              </a:lnSpc>
              <a:buFont typeface="Wingdings" pitchFamily="2" charset="2"/>
              <a:buChar char="ü"/>
            </a:pPr>
            <a:r>
              <a:rPr lang="en-US" sz="2000" dirty="0">
                <a:latin typeface="Times New Roman" pitchFamily="18" charset="0"/>
                <a:cs typeface="Times New Roman" pitchFamily="18" charset="0"/>
              </a:rPr>
              <a:t>Heartily cooperate with the men so as to ensure all of the work being done is in accordance with the principles of science, which has been developed.</a:t>
            </a:r>
          </a:p>
          <a:p>
            <a:pPr algn="just">
              <a:lnSpc>
                <a:spcPct val="150000"/>
              </a:lnSpc>
              <a:buFont typeface="Wingdings" pitchFamily="2" charset="2"/>
              <a:buChar char="ü"/>
            </a:pPr>
            <a:r>
              <a:rPr lang="en-US" sz="2000" dirty="0">
                <a:latin typeface="Times New Roman" pitchFamily="18" charset="0"/>
                <a:cs typeface="Times New Roman" pitchFamily="18" charset="0"/>
              </a:rPr>
              <a:t>There is an almost equal division of the work and responsibility between management and workmen. The management takes over all work for which they are better fitted than the workmen, while in the past almost all of the work and the greater part of the responsibility were thrown upon the men.</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23</a:t>
            </a:fld>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Scientific Management (</a:t>
            </a:r>
            <a:r>
              <a:rPr lang="en-US" sz="28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F.W. Taylor)</a:t>
            </a:r>
            <a:endPar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836712"/>
            <a:ext cx="8640960" cy="5760640"/>
          </a:xfrm>
        </p:spPr>
        <p:txBody>
          <a:bodyPr>
            <a:noAutofit/>
          </a:bodyPr>
          <a:lstStyle/>
          <a:p>
            <a:pPr marL="514350" indent="-514350" algn="just">
              <a:lnSpc>
                <a:spcPct val="150000"/>
              </a:lnSpc>
              <a:buFont typeface="+mj-lt"/>
              <a:buAutoNum type="arabicPeriod"/>
            </a:pPr>
            <a:r>
              <a:rPr lang="en-US" sz="2000" dirty="0">
                <a:latin typeface="Times New Roman" pitchFamily="18" charset="0"/>
                <a:cs typeface="Times New Roman" pitchFamily="18" charset="0"/>
              </a:rPr>
              <a:t>Development of science for each element of work:- </a:t>
            </a:r>
            <a:r>
              <a:rPr lang="en-US" sz="2000" dirty="0">
                <a:solidFill>
                  <a:srgbClr val="FF0000"/>
                </a:solidFill>
                <a:latin typeface="Times New Roman" pitchFamily="18" charset="0"/>
                <a:cs typeface="Times New Roman" pitchFamily="18" charset="0"/>
              </a:rPr>
              <a:t>analyze the work scientifically (what, when, who, how.??)</a:t>
            </a:r>
          </a:p>
          <a:p>
            <a:pPr marL="514350" indent="-514350" algn="just">
              <a:lnSpc>
                <a:spcPct val="150000"/>
              </a:lnSpc>
              <a:buFont typeface="+mj-lt"/>
              <a:buAutoNum type="arabicPeriod"/>
            </a:pPr>
            <a:r>
              <a:rPr lang="en-US" sz="2000" dirty="0">
                <a:latin typeface="Times New Roman" pitchFamily="18" charset="0"/>
                <a:cs typeface="Times New Roman" pitchFamily="18" charset="0"/>
              </a:rPr>
              <a:t>Scientific selection, placement and training of workers.</a:t>
            </a:r>
          </a:p>
          <a:p>
            <a:pPr marL="514350" indent="-514350" algn="just">
              <a:lnSpc>
                <a:spcPct val="150000"/>
              </a:lnSpc>
              <a:buFont typeface="+mj-lt"/>
              <a:buAutoNum type="arabicPeriod"/>
            </a:pPr>
            <a:r>
              <a:rPr lang="en-US" sz="2000" dirty="0">
                <a:latin typeface="Times New Roman" pitchFamily="18" charset="0"/>
                <a:cs typeface="Times New Roman" pitchFamily="18" charset="0"/>
              </a:rPr>
              <a:t>Division of  </a:t>
            </a:r>
            <a:r>
              <a:rPr lang="en-US" sz="2000" dirty="0" err="1">
                <a:latin typeface="Times New Roman" pitchFamily="18" charset="0"/>
                <a:cs typeface="Times New Roman" pitchFamily="18" charset="0"/>
              </a:rPr>
              <a:t>Labour</a:t>
            </a:r>
            <a:endParaRPr lang="en-US" sz="2000" dirty="0">
              <a:latin typeface="Times New Roman" pitchFamily="18" charset="0"/>
              <a:cs typeface="Times New Roman" pitchFamily="18" charset="0"/>
            </a:endParaRPr>
          </a:p>
          <a:p>
            <a:pPr marL="514350" indent="-514350" algn="just">
              <a:lnSpc>
                <a:spcPct val="150000"/>
              </a:lnSpc>
              <a:buFont typeface="+mj-lt"/>
              <a:buAutoNum type="arabicPeriod"/>
            </a:pPr>
            <a:r>
              <a:rPr lang="en-US" sz="2000" dirty="0">
                <a:latin typeface="Times New Roman" pitchFamily="18" charset="0"/>
                <a:cs typeface="Times New Roman" pitchFamily="18" charset="0"/>
              </a:rPr>
              <a:t>Standardization of methods, procedures, tools and equipment.</a:t>
            </a:r>
          </a:p>
          <a:p>
            <a:pPr marL="514350" indent="-514350" algn="just">
              <a:lnSpc>
                <a:spcPct val="150000"/>
              </a:lnSpc>
              <a:buFont typeface="+mj-lt"/>
              <a:buAutoNum type="arabicPeriod"/>
            </a:pPr>
            <a:r>
              <a:rPr lang="en-US" sz="2000" dirty="0">
                <a:latin typeface="Times New Roman" pitchFamily="18" charset="0"/>
                <a:cs typeface="Times New Roman" pitchFamily="18" charset="0"/>
              </a:rPr>
              <a:t>Use of Time and motion study.</a:t>
            </a:r>
          </a:p>
          <a:p>
            <a:pPr marL="514350" indent="-514350" algn="just">
              <a:lnSpc>
                <a:spcPct val="150000"/>
              </a:lnSpc>
              <a:buFont typeface="+mj-lt"/>
              <a:buAutoNum type="arabicPeriod"/>
            </a:pPr>
            <a:r>
              <a:rPr lang="en-US" sz="2000" dirty="0">
                <a:latin typeface="Times New Roman" pitchFamily="18" charset="0"/>
                <a:cs typeface="Times New Roman" pitchFamily="18" charset="0"/>
              </a:rPr>
              <a:t>Differential wage system:- </a:t>
            </a:r>
            <a:r>
              <a:rPr lang="en-US" sz="2000" dirty="0">
                <a:solidFill>
                  <a:srgbClr val="FF0000"/>
                </a:solidFill>
                <a:latin typeface="Times New Roman" pitchFamily="18" charset="0"/>
                <a:cs typeface="Times New Roman" pitchFamily="18" charset="0"/>
              </a:rPr>
              <a:t>Doesn’t guarantee a min: wage</a:t>
            </a:r>
          </a:p>
          <a:p>
            <a:pPr marL="514350" indent="-514350" algn="just">
              <a:lnSpc>
                <a:spcPct val="150000"/>
              </a:lnSpc>
              <a:buFont typeface="+mj-lt"/>
              <a:buAutoNum type="arabicPeriod"/>
            </a:pPr>
            <a:r>
              <a:rPr lang="en-US" sz="2000" dirty="0">
                <a:latin typeface="Times New Roman" pitchFamily="18" charset="0"/>
                <a:cs typeface="Times New Roman" pitchFamily="18" charset="0"/>
              </a:rPr>
              <a:t>Co-operation between Labour and management.</a:t>
            </a:r>
          </a:p>
          <a:p>
            <a:pPr marL="514350" indent="-514350" algn="just">
              <a:lnSpc>
                <a:spcPct val="150000"/>
              </a:lnSpc>
              <a:buFont typeface="+mj-lt"/>
              <a:buAutoNum type="arabicPeriod"/>
            </a:pPr>
            <a:r>
              <a:rPr lang="en-US" sz="2000" dirty="0">
                <a:latin typeface="Times New Roman" pitchFamily="18" charset="0"/>
                <a:cs typeface="Times New Roman" pitchFamily="18" charset="0"/>
              </a:rPr>
              <a:t>Principle of management by Exception:- </a:t>
            </a:r>
            <a:r>
              <a:rPr lang="en-US" sz="2000" dirty="0">
                <a:solidFill>
                  <a:srgbClr val="FF0000"/>
                </a:solidFill>
                <a:latin typeface="Times New Roman" pitchFamily="18" charset="0"/>
                <a:cs typeface="Times New Roman" pitchFamily="18" charset="0"/>
              </a:rPr>
              <a:t>Only significant deviations b/w actual performance and standard performance should be reported to top managers.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24</a:t>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Contributions of Henry L Gantt (1861-1919)</a:t>
            </a:r>
          </a:p>
        </p:txBody>
      </p:sp>
      <p:sp>
        <p:nvSpPr>
          <p:cNvPr id="3" name="Content Placeholder 2"/>
          <p:cNvSpPr>
            <a:spLocks noGrp="1"/>
          </p:cNvSpPr>
          <p:nvPr>
            <p:ph idx="1"/>
          </p:nvPr>
        </p:nvSpPr>
        <p:spPr>
          <a:xfrm>
            <a:off x="457200" y="908720"/>
            <a:ext cx="8229600" cy="5217443"/>
          </a:xfrm>
        </p:spPr>
        <p:txBody>
          <a:bodyPr>
            <a:noAutofit/>
          </a:bodyPr>
          <a:lstStyle/>
          <a:p>
            <a:pPr algn="just">
              <a:lnSpc>
                <a:spcPct val="150000"/>
              </a:lnSpc>
              <a:buFont typeface="Wingdings" pitchFamily="2" charset="2"/>
              <a:buChar char="Ø"/>
            </a:pPr>
            <a:r>
              <a:rPr lang="en-US" sz="2100" dirty="0">
                <a:latin typeface="Times New Roman" pitchFamily="18" charset="0"/>
                <a:cs typeface="Times New Roman" pitchFamily="18" charset="0"/>
              </a:rPr>
              <a:t>Improved Taylor’s differential piece rate system and came up with a new idea - every worker who finished a day’s assigned workload would win a 50% bonus. </a:t>
            </a:r>
          </a:p>
          <a:p>
            <a:pPr algn="just">
              <a:lnSpc>
                <a:spcPct val="150000"/>
              </a:lnSpc>
              <a:buFont typeface="Wingdings" pitchFamily="2" charset="2"/>
              <a:buChar char="Ø"/>
            </a:pPr>
            <a:r>
              <a:rPr lang="en-US" sz="2100" dirty="0">
                <a:latin typeface="Times New Roman" pitchFamily="18" charset="0"/>
                <a:cs typeface="Times New Roman" pitchFamily="18" charset="0"/>
              </a:rPr>
              <a:t>The supervisor would also earn a bonus for each worker who reached the daily standard, plus an extra bonus if all the workers reached it. This would motivate the supervisors to train their workers to do a better job.</a:t>
            </a:r>
          </a:p>
          <a:p>
            <a:pPr algn="just">
              <a:lnSpc>
                <a:spcPct val="150000"/>
              </a:lnSpc>
              <a:buFont typeface="Wingdings" pitchFamily="2" charset="2"/>
              <a:buChar char="Ø"/>
            </a:pPr>
            <a:r>
              <a:rPr lang="en-US" sz="2100" dirty="0">
                <a:latin typeface="Times New Roman" pitchFamily="18" charset="0"/>
                <a:cs typeface="Times New Roman" pitchFamily="18" charset="0"/>
              </a:rPr>
              <a:t>Devised a charting system for production scheduling, now known as Gantt chart. The Gantt chart is still in use today – basis of the Critical path Method (CPM) and Program Evaluation and Review Technique (PERT).</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25</a:t>
            </a:fld>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normAutofit fontScale="90000"/>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Contributions of Frank B and Lillian M </a:t>
            </a:r>
            <a:r>
              <a:rPr lang="en-US"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Gilbreth</a:t>
            </a: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(1868-1924 and 1878-1972)</a:t>
            </a:r>
          </a:p>
        </p:txBody>
      </p:sp>
      <p:sp>
        <p:nvSpPr>
          <p:cNvPr id="3" name="Content Placeholder 2"/>
          <p:cNvSpPr>
            <a:spLocks noGrp="1"/>
          </p:cNvSpPr>
          <p:nvPr>
            <p:ph idx="1"/>
          </p:nvPr>
        </p:nvSpPr>
        <p:spPr>
          <a:xfrm>
            <a:off x="251520" y="1268760"/>
            <a:ext cx="8640960" cy="4857403"/>
          </a:xfrm>
        </p:spPr>
        <p:txBody>
          <a:bodyPr>
            <a:noAutofit/>
          </a:bodyPr>
          <a:lstStyle/>
          <a:p>
            <a:pPr algn="just">
              <a:lnSpc>
                <a:spcPct val="150000"/>
              </a:lnSpc>
              <a:buFont typeface="Wingdings" pitchFamily="2" charset="2"/>
              <a:buChar char="Ø"/>
            </a:pPr>
            <a:r>
              <a:rPr lang="en-US" sz="1800" dirty="0">
                <a:latin typeface="Times New Roman" pitchFamily="18" charset="0"/>
                <a:cs typeface="Times New Roman" pitchFamily="18" charset="0"/>
              </a:rPr>
              <a:t>Did a lot of research in order to improve work methods and thus to discover one best way of accomplishing a task. </a:t>
            </a:r>
          </a:p>
          <a:p>
            <a:pPr algn="just">
              <a:lnSpc>
                <a:spcPct val="150000"/>
              </a:lnSpc>
              <a:buFont typeface="Wingdings" pitchFamily="2" charset="2"/>
              <a:buChar char="Ø"/>
            </a:pPr>
            <a:r>
              <a:rPr lang="en-US" sz="1800" dirty="0">
                <a:latin typeface="Times New Roman" pitchFamily="18" charset="0"/>
                <a:cs typeface="Times New Roman" pitchFamily="18" charset="0"/>
              </a:rPr>
              <a:t>Main field of interest was fatigue and motion studies and focused on ways of promoting the individual worker’s welfare. </a:t>
            </a:r>
          </a:p>
          <a:p>
            <a:pPr algn="just">
              <a:lnSpc>
                <a:spcPct val="150000"/>
              </a:lnSpc>
              <a:buFont typeface="Wingdings" pitchFamily="2" charset="2"/>
              <a:buChar char="Ø"/>
            </a:pPr>
            <a:r>
              <a:rPr lang="en-US" sz="1800" dirty="0">
                <a:latin typeface="Times New Roman" pitchFamily="18" charset="0"/>
                <a:cs typeface="Times New Roman" pitchFamily="18" charset="0"/>
              </a:rPr>
              <a:t>The ultimate aim of scientific management was to help workers reach their full potential as human beings.</a:t>
            </a:r>
          </a:p>
          <a:p>
            <a:pPr algn="just">
              <a:lnSpc>
                <a:spcPct val="150000"/>
              </a:lnSpc>
              <a:buFont typeface="Wingdings" pitchFamily="2" charset="2"/>
              <a:buChar char="Ø"/>
            </a:pPr>
            <a:r>
              <a:rPr lang="en-US" sz="1800" dirty="0">
                <a:latin typeface="Times New Roman" pitchFamily="18" charset="0"/>
                <a:cs typeface="Times New Roman" pitchFamily="18" charset="0"/>
              </a:rPr>
              <a:t>Motion and fatigue were intertwined – every motion that was eliminated reduced fatigue. </a:t>
            </a:r>
          </a:p>
          <a:p>
            <a:pPr algn="just">
              <a:lnSpc>
                <a:spcPct val="150000"/>
              </a:lnSpc>
              <a:buFont typeface="Wingdings" pitchFamily="2" charset="2"/>
              <a:buChar char="Ø"/>
            </a:pPr>
            <a:r>
              <a:rPr lang="en-US" sz="1800" dirty="0">
                <a:latin typeface="Times New Roman" pitchFamily="18" charset="0"/>
                <a:cs typeface="Times New Roman" pitchFamily="18" charset="0"/>
              </a:rPr>
              <a:t>Using motion picture cameras, they tried to find the most economical ways of doing jobs. They concluded that fatigue could be considerably reduced by lightening the load, spacing the work and by introducing rest periods.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26</a:t>
            </a:fld>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Dr. Lillian </a:t>
            </a:r>
            <a:r>
              <a:rPr lang="en-US" sz="29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Gilbreth</a:t>
            </a:r>
            <a:endPar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Known as the first lady of management. </a:t>
            </a:r>
          </a:p>
          <a:p>
            <a:pPr algn="just">
              <a:lnSpc>
                <a:spcPct val="150000"/>
              </a:lnSpc>
              <a:buFont typeface="Wingdings" pitchFamily="2" charset="2"/>
              <a:buChar char="Ø"/>
            </a:pPr>
            <a:r>
              <a:rPr lang="en-US" sz="2200" dirty="0">
                <a:latin typeface="Times New Roman" pitchFamily="18" charset="0"/>
                <a:cs typeface="Times New Roman" pitchFamily="18" charset="0"/>
              </a:rPr>
              <a:t>Lillian's thesis turned - book, The Psychology of Management, is one of the earliest contributions to understanding the human side of management.</a:t>
            </a:r>
          </a:p>
          <a:p>
            <a:pPr algn="just">
              <a:lnSpc>
                <a:spcPct val="150000"/>
              </a:lnSpc>
              <a:buFont typeface="Wingdings" pitchFamily="2" charset="2"/>
              <a:buChar char="Ø"/>
            </a:pPr>
            <a:r>
              <a:rPr lang="en-US" sz="2200" dirty="0">
                <a:latin typeface="Times New Roman" pitchFamily="18" charset="0"/>
                <a:cs typeface="Times New Roman" pitchFamily="18" charset="0"/>
              </a:rPr>
              <a:t>Her work illustrated concern for the worker and attempted to show how scientific management would benefit the individual worker, as well as the organization.</a:t>
            </a:r>
          </a:p>
          <a:p>
            <a:pPr algn="just">
              <a:lnSpc>
                <a:spcPct val="150000"/>
              </a:lnSpc>
              <a:buFont typeface="Wingdings" pitchFamily="2" charset="2"/>
              <a:buChar char="Ø"/>
            </a:pPr>
            <a:r>
              <a:rPr lang="en-US" sz="2200" dirty="0">
                <a:latin typeface="Times New Roman" pitchFamily="18" charset="0"/>
                <a:cs typeface="Times New Roman" pitchFamily="18" charset="0"/>
              </a:rPr>
              <a:t>Lillian wrote about reduction of worker fatigue, how to retool for disabled veteran workers returning to the workplace, and how to apply principles of scientific management to the home.</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27</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72008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2)</a:t>
            </a:r>
            <a:endParaRPr lang="en-IN" sz="3200" dirty="0">
              <a:latin typeface="Algerian" pitchFamily="82" charset="0"/>
            </a:endParaRPr>
          </a:p>
        </p:txBody>
      </p:sp>
      <p:sp>
        <p:nvSpPr>
          <p:cNvPr id="5" name="Content Placeholder 4"/>
          <p:cNvSpPr>
            <a:spLocks noGrp="1"/>
          </p:cNvSpPr>
          <p:nvPr>
            <p:ph idx="1"/>
          </p:nvPr>
        </p:nvSpPr>
        <p:spPr>
          <a:xfrm>
            <a:off x="457200" y="1340768"/>
            <a:ext cx="8229600" cy="4785395"/>
          </a:xfrm>
        </p:spPr>
        <p:txBody>
          <a:bodyPr>
            <a:normAutofit/>
          </a:bodyPr>
          <a:lstStyle/>
          <a:p>
            <a:pPr marL="514350" indent="-514350">
              <a:buNone/>
            </a:pPr>
            <a:r>
              <a:rPr lang="en-US" sz="3600" u="sng"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Functions of management</a:t>
            </a:r>
          </a:p>
          <a:p>
            <a:pPr marL="514350" indent="-514350">
              <a:buFont typeface="+mj-lt"/>
              <a:buAutoNum type="arabicPeriod"/>
            </a:pPr>
            <a:r>
              <a:rPr lang="en-US" sz="2200" dirty="0">
                <a:latin typeface="Times New Roman" pitchFamily="18" charset="0"/>
                <a:cs typeface="Times New Roman" pitchFamily="18" charset="0"/>
              </a:rPr>
              <a:t>Planning</a:t>
            </a:r>
          </a:p>
          <a:p>
            <a:pPr marL="514350" indent="-514350">
              <a:buFont typeface="+mj-lt"/>
              <a:buAutoNum type="arabicPeriod"/>
            </a:pPr>
            <a:r>
              <a:rPr lang="en-US" sz="2200" dirty="0">
                <a:latin typeface="Times New Roman" pitchFamily="18" charset="0"/>
                <a:cs typeface="Times New Roman" pitchFamily="18" charset="0"/>
              </a:rPr>
              <a:t>Forecasting</a:t>
            </a:r>
          </a:p>
          <a:p>
            <a:pPr marL="514350" indent="-514350">
              <a:buFont typeface="+mj-lt"/>
              <a:buAutoNum type="arabicPeriod"/>
            </a:pPr>
            <a:r>
              <a:rPr lang="en-US" sz="2200" dirty="0">
                <a:latin typeface="Times New Roman" pitchFamily="18" charset="0"/>
                <a:cs typeface="Times New Roman" pitchFamily="18" charset="0"/>
              </a:rPr>
              <a:t>Organizing</a:t>
            </a:r>
          </a:p>
          <a:p>
            <a:pPr marL="514350" indent="-514350">
              <a:buFont typeface="+mj-lt"/>
              <a:buAutoNum type="arabicPeriod"/>
            </a:pPr>
            <a:r>
              <a:rPr lang="en-US" sz="2200" dirty="0">
                <a:latin typeface="Times New Roman" pitchFamily="18" charset="0"/>
                <a:cs typeface="Times New Roman" pitchFamily="18" charset="0"/>
              </a:rPr>
              <a:t>Staffing</a:t>
            </a:r>
          </a:p>
          <a:p>
            <a:pPr marL="514350" indent="-514350">
              <a:buFont typeface="+mj-lt"/>
              <a:buAutoNum type="arabicPeriod"/>
            </a:pPr>
            <a:r>
              <a:rPr lang="en-US" sz="2200" dirty="0">
                <a:latin typeface="Times New Roman" pitchFamily="18" charset="0"/>
                <a:cs typeface="Times New Roman" pitchFamily="18" charset="0"/>
              </a:rPr>
              <a:t>Directing</a:t>
            </a:r>
          </a:p>
          <a:p>
            <a:pPr marL="514350" indent="-514350">
              <a:buFont typeface="+mj-lt"/>
              <a:buAutoNum type="arabicPeriod"/>
            </a:pPr>
            <a:r>
              <a:rPr lang="en-US" sz="2200" dirty="0">
                <a:latin typeface="Times New Roman" pitchFamily="18" charset="0"/>
                <a:cs typeface="Times New Roman" pitchFamily="18" charset="0"/>
              </a:rPr>
              <a:t>Motivating</a:t>
            </a:r>
          </a:p>
          <a:p>
            <a:pPr marL="514350" indent="-514350">
              <a:buFont typeface="+mj-lt"/>
              <a:buAutoNum type="arabicPeriod"/>
            </a:pPr>
            <a:r>
              <a:rPr lang="en-US" sz="2200" dirty="0">
                <a:latin typeface="Times New Roman" pitchFamily="18" charset="0"/>
                <a:cs typeface="Times New Roman" pitchFamily="18" charset="0"/>
              </a:rPr>
              <a:t>Controlling</a:t>
            </a:r>
          </a:p>
          <a:p>
            <a:pPr marL="514350" indent="-514350">
              <a:buFont typeface="+mj-lt"/>
              <a:buAutoNum type="arabicPeriod"/>
            </a:pPr>
            <a:r>
              <a:rPr lang="en-US" sz="2200" dirty="0">
                <a:latin typeface="Times New Roman" pitchFamily="18" charset="0"/>
                <a:cs typeface="Times New Roman" pitchFamily="18" charset="0"/>
              </a:rPr>
              <a:t>Coordinating</a:t>
            </a:r>
          </a:p>
          <a:p>
            <a:pPr marL="514350" indent="-514350">
              <a:buFont typeface="+mj-lt"/>
              <a:buAutoNum type="arabicPeriod"/>
            </a:pPr>
            <a:r>
              <a:rPr lang="en-US" sz="2200" dirty="0">
                <a:latin typeface="Times New Roman" pitchFamily="18" charset="0"/>
                <a:cs typeface="Times New Roman" pitchFamily="18" charset="0"/>
              </a:rPr>
              <a:t>Communicating</a:t>
            </a:r>
          </a:p>
          <a:p>
            <a:pPr marL="514350" indent="-514350">
              <a:buFont typeface="+mj-lt"/>
              <a:buAutoNum type="arabicPeriod"/>
            </a:pPr>
            <a:r>
              <a:rPr lang="en-US" sz="2200" dirty="0">
                <a:latin typeface="Times New Roman" pitchFamily="18" charset="0"/>
                <a:cs typeface="Times New Roman" pitchFamily="18" charset="0"/>
              </a:rPr>
              <a:t>Decision making</a:t>
            </a:r>
          </a:p>
          <a:p>
            <a:pPr marL="514350" indent="-514350">
              <a:buFont typeface="+mj-lt"/>
              <a:buAutoNum type="arabicPeriod"/>
            </a:pPr>
            <a:endParaRPr lang="en-IN" sz="2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852A43B-CC61-4C08-A01B-A84C4E0E89A8}" type="slidenum">
              <a:rPr lang="en-IN" smtClean="0"/>
              <a:pPr/>
              <a:t>28</a:t>
            </a:fld>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88640"/>
            <a:ext cx="8463314" cy="6192688"/>
          </a:xfrm>
        </p:spPr>
        <p:txBody>
          <a:bodyPr>
            <a:noAutofit/>
          </a:bodyPr>
          <a:lstStyle/>
          <a:p>
            <a:pPr algn="ctr">
              <a:buNone/>
            </a:pPr>
            <a:r>
              <a:rPr lang="en-US" sz="2800" b="1" i="1" dirty="0">
                <a:solidFill>
                  <a:srgbClr val="FF0000"/>
                </a:solidFill>
                <a:latin typeface="Times New Roman" pitchFamily="18" charset="0"/>
                <a:cs typeface="Times New Roman" pitchFamily="18" charset="0"/>
              </a:rPr>
              <a:t>1.	Planning</a:t>
            </a:r>
          </a:p>
          <a:p>
            <a:pPr algn="just">
              <a:buFont typeface="Wingdings" pitchFamily="2" charset="2"/>
              <a:buChar char="Ø"/>
            </a:pPr>
            <a:r>
              <a:rPr lang="en-US" sz="2200" dirty="0">
                <a:latin typeface="Times New Roman" pitchFamily="18" charset="0"/>
                <a:cs typeface="Times New Roman" pitchFamily="18" charset="0"/>
              </a:rPr>
              <a:t>It is the most important and prerequisite of all the other functions.</a:t>
            </a:r>
          </a:p>
          <a:p>
            <a:pPr algn="just">
              <a:buFont typeface="Wingdings" pitchFamily="2" charset="2"/>
              <a:buChar char="Ø"/>
            </a:pPr>
            <a:r>
              <a:rPr lang="en-US" sz="2200" dirty="0">
                <a:latin typeface="Times New Roman" pitchFamily="18" charset="0"/>
                <a:cs typeface="Times New Roman" pitchFamily="18" charset="0"/>
              </a:rPr>
              <a:t>It is the process of establishing goals and suitable course of action to achieve that goals.</a:t>
            </a:r>
          </a:p>
          <a:p>
            <a:pPr algn="just">
              <a:buFont typeface="Wingdings" pitchFamily="2" charset="2"/>
              <a:buChar char="Ø"/>
            </a:pPr>
            <a:r>
              <a:rPr lang="en-US" sz="2200" dirty="0">
                <a:latin typeface="Times New Roman" pitchFamily="18" charset="0"/>
                <a:cs typeface="Times New Roman" pitchFamily="18" charset="0"/>
              </a:rPr>
              <a:t>It consists of goals, policies, procedures, rules, strategies etc.</a:t>
            </a:r>
          </a:p>
          <a:p>
            <a:pPr algn="just">
              <a:buFont typeface="Wingdings" pitchFamily="2" charset="2"/>
              <a:buChar char="Ø"/>
            </a:pPr>
            <a:r>
              <a:rPr lang="en-US" sz="2200" dirty="0">
                <a:latin typeface="Times New Roman" pitchFamily="18" charset="0"/>
                <a:cs typeface="Times New Roman" pitchFamily="18" charset="0"/>
              </a:rPr>
              <a:t>Plans made by top-level management may cover periods as long as five or ten years. On the other hand, the middle and lower level managers focus on short-range and day-to-day plans. </a:t>
            </a:r>
          </a:p>
          <a:p>
            <a:pPr algn="just">
              <a:buFont typeface="Wingdings" pitchFamily="2" charset="2"/>
              <a:buChar char="Ø"/>
            </a:pPr>
            <a:r>
              <a:rPr lang="en-US" sz="2200" dirty="0">
                <a:latin typeface="Times New Roman" pitchFamily="18" charset="0"/>
                <a:cs typeface="Times New Roman" pitchFamily="18" charset="0"/>
              </a:rPr>
              <a:t>It is done in accordance with past events and forecasting events in the future.</a:t>
            </a:r>
          </a:p>
          <a:p>
            <a:pPr algn="just">
              <a:buFont typeface="Wingdings" pitchFamily="2" charset="2"/>
              <a:buChar char="Ø"/>
            </a:pPr>
            <a:r>
              <a:rPr lang="en-US" sz="2200" dirty="0">
                <a:latin typeface="Times New Roman" pitchFamily="18" charset="0"/>
                <a:cs typeface="Times New Roman" pitchFamily="18" charset="0"/>
              </a:rPr>
              <a:t>The elements included in the planning function are:</a:t>
            </a:r>
          </a:p>
          <a:p>
            <a:pPr marL="1257300" lvl="2" indent="-457200" algn="just">
              <a:buFont typeface="+mj-lt"/>
              <a:buAutoNum type="arabicPeriod"/>
            </a:pPr>
            <a:r>
              <a:rPr lang="en-US" sz="2000" i="1" dirty="0">
                <a:solidFill>
                  <a:srgbClr val="C00000"/>
                </a:solidFill>
                <a:latin typeface="Times New Roman" pitchFamily="18" charset="0"/>
                <a:cs typeface="Times New Roman" pitchFamily="18" charset="0"/>
              </a:rPr>
              <a:t>The policies that will help to achieve objectives.</a:t>
            </a:r>
          </a:p>
          <a:p>
            <a:pPr marL="1257300" lvl="2" indent="-457200" algn="just">
              <a:buFont typeface="+mj-lt"/>
              <a:buAutoNum type="arabicPeriod"/>
            </a:pPr>
            <a:r>
              <a:rPr lang="en-US" sz="2000" i="1" dirty="0">
                <a:solidFill>
                  <a:srgbClr val="C00000"/>
                </a:solidFill>
                <a:latin typeface="Times New Roman" pitchFamily="18" charset="0"/>
                <a:cs typeface="Times New Roman" pitchFamily="18" charset="0"/>
              </a:rPr>
              <a:t>The </a:t>
            </a:r>
            <a:r>
              <a:rPr lang="en-US" sz="2000" i="1" dirty="0" err="1">
                <a:solidFill>
                  <a:srgbClr val="C00000"/>
                </a:solidFill>
                <a:latin typeface="Times New Roman" pitchFamily="18" charset="0"/>
                <a:cs typeface="Times New Roman" pitchFamily="18" charset="0"/>
              </a:rPr>
              <a:t>programmes</a:t>
            </a:r>
            <a:r>
              <a:rPr lang="en-US" sz="2000" i="1" dirty="0">
                <a:solidFill>
                  <a:srgbClr val="C00000"/>
                </a:solidFill>
                <a:latin typeface="Times New Roman" pitchFamily="18" charset="0"/>
                <a:cs typeface="Times New Roman" pitchFamily="18" charset="0"/>
              </a:rPr>
              <a:t> that a manager will carry out</a:t>
            </a:r>
          </a:p>
          <a:p>
            <a:pPr marL="1257300" lvl="2" indent="-457200" algn="just">
              <a:buFont typeface="+mj-lt"/>
              <a:buAutoNum type="arabicPeriod"/>
            </a:pPr>
            <a:r>
              <a:rPr lang="en-US" sz="2000" i="1" dirty="0">
                <a:solidFill>
                  <a:srgbClr val="C00000"/>
                </a:solidFill>
                <a:latin typeface="Times New Roman" pitchFamily="18" charset="0"/>
                <a:cs typeface="Times New Roman" pitchFamily="18" charset="0"/>
              </a:rPr>
              <a:t>The time schedules that a manager will have to meet</a:t>
            </a:r>
          </a:p>
          <a:p>
            <a:pPr marL="1257300" lvl="2" indent="-457200" algn="just">
              <a:buFont typeface="+mj-lt"/>
              <a:buAutoNum type="arabicPeriod"/>
            </a:pPr>
            <a:r>
              <a:rPr lang="en-US" sz="2000" i="1" dirty="0">
                <a:solidFill>
                  <a:srgbClr val="C00000"/>
                </a:solidFill>
                <a:latin typeface="Times New Roman" pitchFamily="18" charset="0"/>
                <a:cs typeface="Times New Roman" pitchFamily="18" charset="0"/>
              </a:rPr>
              <a:t>The budgetary considerations that will be involved</a:t>
            </a:r>
            <a:r>
              <a:rPr lang="en-US" sz="1400" dirty="0">
                <a:latin typeface="Times New Roman" pitchFamily="18" charset="0"/>
                <a:cs typeface="Times New Roman" pitchFamily="18" charset="0"/>
              </a:rPr>
              <a:t>		</a:t>
            </a:r>
          </a:p>
          <a:p>
            <a:pPr algn="just">
              <a:buFont typeface="Wingdings" pitchFamily="2" charset="2"/>
              <a:buChar char="Ø"/>
            </a:pPr>
            <a:endParaRPr lang="en-IN"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29</a:t>
            </a:fld>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85728"/>
            <a:ext cx="8535322" cy="6023592"/>
          </a:xfrm>
        </p:spPr>
        <p:txBody>
          <a:bodyPr>
            <a:noAutofit/>
          </a:bodyPr>
          <a:lstStyle/>
          <a:p>
            <a:pPr algn="just"/>
            <a:endParaRPr lang="en-US" sz="2200" dirty="0">
              <a:latin typeface="Times New Roman" pitchFamily="18" charset="0"/>
              <a:cs typeface="Times New Roman" pitchFamily="18" charset="0"/>
            </a:endParaRPr>
          </a:p>
          <a:p>
            <a:pPr algn="ctr">
              <a:buNone/>
            </a:pPr>
            <a:r>
              <a:rPr lang="en-US" sz="2800" b="1" i="1" dirty="0">
                <a:solidFill>
                  <a:srgbClr val="FF0000"/>
                </a:solidFill>
                <a:latin typeface="Times New Roman" pitchFamily="18" charset="0"/>
                <a:cs typeface="Times New Roman" pitchFamily="18" charset="0"/>
              </a:rPr>
              <a:t>2.	Forecasting</a:t>
            </a:r>
          </a:p>
          <a:p>
            <a:pPr algn="just">
              <a:lnSpc>
                <a:spcPct val="150000"/>
              </a:lnSpc>
              <a:buFont typeface="Wingdings" pitchFamily="2" charset="2"/>
              <a:buChar char="Ø"/>
            </a:pPr>
            <a:r>
              <a:rPr lang="en-US" sz="2200" dirty="0">
                <a:latin typeface="Times New Roman" pitchFamily="18" charset="0"/>
                <a:cs typeface="Times New Roman" pitchFamily="18" charset="0"/>
              </a:rPr>
              <a:t>It is defined as an estimate of future events, by systematically combining past and present data.</a:t>
            </a:r>
          </a:p>
          <a:p>
            <a:pPr algn="just">
              <a:lnSpc>
                <a:spcPct val="150000"/>
              </a:lnSpc>
              <a:buFont typeface="Wingdings" pitchFamily="2" charset="2"/>
              <a:buChar char="Ø"/>
            </a:pPr>
            <a:r>
              <a:rPr lang="en-US" sz="2200" dirty="0">
                <a:latin typeface="Times New Roman" pitchFamily="18" charset="0"/>
                <a:cs typeface="Times New Roman" pitchFamily="18" charset="0"/>
              </a:rPr>
              <a:t>It forms the basis of planning of activities of an organization.</a:t>
            </a:r>
          </a:p>
          <a:p>
            <a:pPr algn="just">
              <a:lnSpc>
                <a:spcPct val="150000"/>
              </a:lnSpc>
              <a:buFont typeface="Wingdings" pitchFamily="2" charset="2"/>
              <a:buChar char="Ø"/>
            </a:pPr>
            <a:r>
              <a:rPr lang="en-US" sz="2200" dirty="0">
                <a:latin typeface="Times New Roman" pitchFamily="18" charset="0"/>
                <a:cs typeface="Times New Roman" pitchFamily="18" charset="0"/>
              </a:rPr>
              <a:t>The survival of any manufacturing enterprise depends on its ability to assess, with reasonable accuracy, the market trends several years ahead.</a:t>
            </a:r>
          </a:p>
          <a:p>
            <a:pPr algn="just">
              <a:lnSpc>
                <a:spcPct val="150000"/>
              </a:lnSpc>
              <a:buFont typeface="Wingdings" pitchFamily="2" charset="2"/>
              <a:buChar char="Ø"/>
            </a:pPr>
            <a:r>
              <a:rPr lang="en-US" sz="2200" dirty="0">
                <a:latin typeface="Times New Roman" pitchFamily="18" charset="0"/>
                <a:cs typeface="Times New Roman" pitchFamily="18" charset="0"/>
              </a:rPr>
              <a:t>Forecasting begins with sales forecast and is followed by production forecast and forecast for costs, finance, purchase, profit etc.</a:t>
            </a:r>
            <a:endParaRPr lang="en-IN"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30</a:t>
            </a:fld>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363272" cy="5760640"/>
          </a:xfrm>
        </p:spPr>
        <p:txBody>
          <a:bodyPr>
            <a:normAutofit lnSpcReduction="10000"/>
          </a:bodyPr>
          <a:lstStyle/>
          <a:p>
            <a:pPr marL="514350" indent="-514350" algn="ctr">
              <a:buAutoNum type="arabicPeriod" startAt="3"/>
            </a:pPr>
            <a:r>
              <a:rPr lang="en-IN" sz="2800" b="1" i="1" dirty="0">
                <a:solidFill>
                  <a:srgbClr val="FF0000"/>
                </a:solidFill>
                <a:latin typeface="Times New Roman" pitchFamily="18" charset="0"/>
                <a:cs typeface="Times New Roman" pitchFamily="18" charset="0"/>
              </a:rPr>
              <a:t>Organizing</a:t>
            </a:r>
          </a:p>
          <a:p>
            <a:pPr marL="514350" indent="-514350" algn="ctr">
              <a:buNone/>
            </a:pPr>
            <a:endParaRPr lang="en-IN" sz="2800" b="1" i="1" dirty="0">
              <a:solidFill>
                <a:srgbClr val="FF0000"/>
              </a:solidFill>
              <a:latin typeface="Times New Roman" pitchFamily="18" charset="0"/>
              <a:cs typeface="Times New Roman" pitchFamily="18" charset="0"/>
            </a:endParaRPr>
          </a:p>
          <a:p>
            <a:pPr algn="just">
              <a:lnSpc>
                <a:spcPct val="150000"/>
              </a:lnSpc>
              <a:buFont typeface="Wingdings" pitchFamily="2" charset="2"/>
              <a:buChar char="Ø"/>
            </a:pPr>
            <a:r>
              <a:rPr lang="en-IN" sz="2200" dirty="0">
                <a:latin typeface="Times New Roman" pitchFamily="18" charset="0"/>
                <a:cs typeface="Times New Roman" pitchFamily="18" charset="0"/>
              </a:rPr>
              <a:t>Organizing is the process of arranging and allocating work, authority, and resources among an organization’s members so that they can achieve organization’s goals.</a:t>
            </a:r>
          </a:p>
          <a:p>
            <a:pPr algn="just">
              <a:lnSpc>
                <a:spcPct val="150000"/>
              </a:lnSpc>
              <a:buFont typeface="Wingdings" pitchFamily="2" charset="2"/>
              <a:buChar char="Ø"/>
            </a:pPr>
            <a:r>
              <a:rPr lang="en-IN" sz="2200" dirty="0">
                <a:latin typeface="Times New Roman" pitchFamily="18" charset="0"/>
                <a:cs typeface="Times New Roman" pitchFamily="18" charset="0"/>
              </a:rPr>
              <a:t>The process of organizing involves:</a:t>
            </a:r>
          </a:p>
          <a:p>
            <a:pPr marL="1257300" lvl="2" indent="-457200" algn="just">
              <a:lnSpc>
                <a:spcPct val="150000"/>
              </a:lnSpc>
              <a:buFont typeface="+mj-lt"/>
              <a:buAutoNum type="arabicPeriod"/>
            </a:pPr>
            <a:r>
              <a:rPr lang="en-US" sz="2000" i="1" dirty="0" err="1">
                <a:solidFill>
                  <a:srgbClr val="C00000"/>
                </a:solidFill>
                <a:latin typeface="Times New Roman" pitchFamily="18" charset="0"/>
                <a:cs typeface="Times New Roman" pitchFamily="18" charset="0"/>
              </a:rPr>
              <a:t>Identifying the works to be performed</a:t>
            </a:r>
          </a:p>
          <a:p>
            <a:pPr marL="1257300" lvl="2" indent="-457200" algn="just">
              <a:lnSpc>
                <a:spcPct val="150000"/>
              </a:lnSpc>
              <a:buFont typeface="+mj-lt"/>
              <a:buAutoNum type="arabicPeriod"/>
            </a:pPr>
            <a:r>
              <a:rPr lang="en-US" sz="2000" i="1" dirty="0" err="1">
                <a:solidFill>
                  <a:srgbClr val="C00000"/>
                </a:solidFill>
                <a:latin typeface="Times New Roman" pitchFamily="18" charset="0"/>
                <a:cs typeface="Times New Roman" pitchFamily="18" charset="0"/>
              </a:rPr>
              <a:t>Classify the work or group the work</a:t>
            </a:r>
          </a:p>
          <a:p>
            <a:pPr marL="1257300" lvl="2" indent="-457200" algn="just">
              <a:lnSpc>
                <a:spcPct val="150000"/>
              </a:lnSpc>
              <a:buFont typeface="+mj-lt"/>
              <a:buAutoNum type="arabicPeriod"/>
            </a:pPr>
            <a:r>
              <a:rPr lang="en-US" sz="2000" i="1" dirty="0" err="1">
                <a:solidFill>
                  <a:srgbClr val="C00000"/>
                </a:solidFill>
                <a:latin typeface="Times New Roman" pitchFamily="18" charset="0"/>
                <a:cs typeface="Times New Roman" pitchFamily="18" charset="0"/>
              </a:rPr>
              <a:t>Assigning activities to the groups or work to individuals</a:t>
            </a:r>
          </a:p>
          <a:p>
            <a:pPr marL="1257300" lvl="2" indent="-457200" algn="just">
              <a:lnSpc>
                <a:spcPct val="150000"/>
              </a:lnSpc>
              <a:buFont typeface="+mj-lt"/>
              <a:buAutoNum type="arabicPeriod"/>
            </a:pPr>
            <a:r>
              <a:rPr lang="en-US" sz="2000" i="1" dirty="0" err="1">
                <a:solidFill>
                  <a:srgbClr val="C00000"/>
                </a:solidFill>
                <a:latin typeface="Times New Roman" pitchFamily="18" charset="0"/>
                <a:cs typeface="Times New Roman" pitchFamily="18" charset="0"/>
              </a:rPr>
              <a:t>Fixing responsibilities</a:t>
            </a:r>
          </a:p>
          <a:p>
            <a:pPr marL="1257300" lvl="2" indent="-457200" algn="just">
              <a:lnSpc>
                <a:spcPct val="150000"/>
              </a:lnSpc>
              <a:buFont typeface="+mj-lt"/>
              <a:buAutoNum type="arabicPeriod"/>
            </a:pPr>
            <a:r>
              <a:rPr lang="en-US" sz="2000" i="1" dirty="0" err="1">
                <a:solidFill>
                  <a:srgbClr val="C00000"/>
                </a:solidFill>
                <a:latin typeface="Times New Roman" pitchFamily="18" charset="0"/>
                <a:cs typeface="Times New Roman" pitchFamily="18" charset="0"/>
              </a:rPr>
              <a:t>Deciding the hierarchy of authority</a:t>
            </a:r>
            <a:endParaRPr lang="en-IN" sz="2000" i="1" dirty="0" err="1">
              <a:solidFill>
                <a:srgbClr val="C00000"/>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31</a:t>
            </a:fld>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357166"/>
            <a:ext cx="8229600" cy="6024162"/>
          </a:xfrm>
        </p:spPr>
        <p:txBody>
          <a:bodyPr>
            <a:noAutofit/>
          </a:bodyPr>
          <a:lstStyle/>
          <a:p>
            <a:pPr marL="514350" indent="-514350" algn="ctr">
              <a:buAutoNum type="arabicPeriod" startAt="4"/>
            </a:pPr>
            <a:r>
              <a:rPr lang="en-US" sz="2800" b="1" i="1" dirty="0">
                <a:solidFill>
                  <a:srgbClr val="FF0000"/>
                </a:solidFill>
                <a:latin typeface="Times New Roman" pitchFamily="18" charset="0"/>
                <a:cs typeface="Times New Roman" pitchFamily="18" charset="0"/>
              </a:rPr>
              <a:t>Staffing</a:t>
            </a:r>
          </a:p>
          <a:p>
            <a:pPr marL="514350" indent="-514350" algn="ctr">
              <a:buNone/>
            </a:pPr>
            <a:endParaRPr lang="en-US" sz="2800" b="1" i="1" dirty="0">
              <a:solidFill>
                <a:srgbClr val="FF0000"/>
              </a:solidFill>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The main purpose of staffing is to put right man on right job.</a:t>
            </a:r>
          </a:p>
          <a:p>
            <a:pPr algn="just">
              <a:buFont typeface="Wingdings" pitchFamily="2" charset="2"/>
              <a:buChar char="Ø"/>
            </a:pPr>
            <a:r>
              <a:rPr lang="en-US" sz="2200" dirty="0">
                <a:latin typeface="Times New Roman" pitchFamily="18" charset="0"/>
                <a:cs typeface="Times New Roman" pitchFamily="18" charset="0"/>
              </a:rPr>
              <a:t>It involves manning the positions created by organization process.</a:t>
            </a:r>
          </a:p>
          <a:p>
            <a:pPr algn="just">
              <a:buFont typeface="Wingdings" pitchFamily="2" charset="2"/>
              <a:buChar char="Ø"/>
            </a:pPr>
            <a:r>
              <a:rPr lang="en-US" sz="2200" dirty="0">
                <a:latin typeface="Times New Roman" pitchFamily="18" charset="0"/>
                <a:cs typeface="Times New Roman" pitchFamily="18" charset="0"/>
              </a:rPr>
              <a:t>It is a process of filling or keeping filled the various positions in the organizational structure.</a:t>
            </a:r>
          </a:p>
          <a:p>
            <a:pPr algn="just">
              <a:buFont typeface="Wingdings" pitchFamily="2" charset="2"/>
              <a:buChar char="Ø"/>
            </a:pPr>
            <a:r>
              <a:rPr lang="en-US" sz="2200" dirty="0">
                <a:latin typeface="Times New Roman" pitchFamily="18" charset="0"/>
                <a:cs typeface="Times New Roman" pitchFamily="18" charset="0"/>
              </a:rPr>
              <a:t>It involves:</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Manpower Planning (estimating man power in terms of searching, choose the person and giving the right place)</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Recruitment, selection &amp; placement</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Training &amp; development.</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Remuneration</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Performance appraisal</a:t>
            </a:r>
          </a:p>
          <a:p>
            <a:pPr marL="1257300" lvl="2" indent="-457200" algn="just">
              <a:lnSpc>
                <a:spcPct val="120000"/>
              </a:lnSpc>
              <a:buFont typeface="+mj-lt"/>
              <a:buAutoNum type="arabicPeriod"/>
            </a:pPr>
            <a:r>
              <a:rPr lang="en-US" sz="2000" i="1" dirty="0">
                <a:solidFill>
                  <a:srgbClr val="C00000"/>
                </a:solidFill>
                <a:latin typeface="Times New Roman" pitchFamily="18" charset="0"/>
                <a:cs typeface="Times New Roman" pitchFamily="18" charset="0"/>
              </a:rPr>
              <a:t>Promotions &amp; transfer</a:t>
            </a:r>
          </a:p>
          <a:p>
            <a:pPr marL="514350" indent="-514350" algn="just">
              <a:buFont typeface="+mj-lt"/>
              <a:buAutoNum type="alphaLcPeriod"/>
            </a:pPr>
            <a:endParaRPr lang="en-US" sz="2100" dirty="0">
              <a:latin typeface="Times New Roman" pitchFamily="18" charset="0"/>
              <a:cs typeface="Times New Roman" pitchFamily="18" charset="0"/>
            </a:endParaRPr>
          </a:p>
          <a:p>
            <a:pPr algn="just">
              <a:buNone/>
            </a:pPr>
            <a:r>
              <a:rPr lang="en-US" sz="2100" dirty="0">
                <a:latin typeface="Times New Roman" pitchFamily="18" charset="0"/>
                <a:cs typeface="Times New Roman" pitchFamily="18" charset="0"/>
              </a:rPr>
              <a:t>		</a:t>
            </a:r>
          </a:p>
          <a:p>
            <a:pPr algn="just"/>
            <a:endParaRPr lang="en-IN" sz="21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32</a:t>
            </a:fld>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0"/>
            <a:ext cx="8496944" cy="6309320"/>
          </a:xfrm>
        </p:spPr>
        <p:txBody>
          <a:bodyPr>
            <a:noAutofit/>
          </a:bodyPr>
          <a:lstStyle/>
          <a:p>
            <a:pPr marL="514350" indent="-514350" algn="ctr">
              <a:buNone/>
            </a:pPr>
            <a:r>
              <a:rPr lang="en-US" sz="2800" b="1" i="1" dirty="0">
                <a:solidFill>
                  <a:srgbClr val="FF0000"/>
                </a:solidFill>
                <a:latin typeface="Times New Roman" pitchFamily="18" charset="0"/>
                <a:cs typeface="Times New Roman" pitchFamily="18" charset="0"/>
              </a:rPr>
              <a:t>5.	Directing</a:t>
            </a:r>
          </a:p>
          <a:p>
            <a:pPr algn="just">
              <a:buFont typeface="Wingdings" pitchFamily="2" charset="2"/>
              <a:buChar char="Ø"/>
            </a:pPr>
            <a:r>
              <a:rPr lang="en-IN" sz="2000" dirty="0">
                <a:latin typeface="Times New Roman" pitchFamily="18" charset="0"/>
                <a:cs typeface="Times New Roman" pitchFamily="18" charset="0"/>
              </a:rPr>
              <a:t>Directing is said to be a process in which the managers instruct, guide and oversee the performance of the workers to achieve predetermined goals. </a:t>
            </a:r>
          </a:p>
          <a:p>
            <a:pPr algn="just">
              <a:buFont typeface="Wingdings" pitchFamily="2" charset="2"/>
              <a:buChar char="Ø"/>
            </a:pPr>
            <a:r>
              <a:rPr lang="en-US" sz="2000" dirty="0">
                <a:latin typeface="Times New Roman" pitchFamily="18" charset="0"/>
                <a:cs typeface="Times New Roman" pitchFamily="18" charset="0"/>
              </a:rPr>
              <a:t>Directing is said to be the heart of management process. Planning, organizing, staffing has got no importance if direction does not take place.</a:t>
            </a:r>
          </a:p>
          <a:p>
            <a:pPr algn="just">
              <a:buFont typeface="Wingdings" pitchFamily="2" charset="2"/>
              <a:buChar char="Ø"/>
            </a:pPr>
            <a:r>
              <a:rPr lang="en-US" sz="2000" dirty="0">
                <a:latin typeface="Times New Roman" pitchFamily="18" charset="0"/>
                <a:cs typeface="Times New Roman" pitchFamily="18" charset="0"/>
              </a:rPr>
              <a:t>Directing initiates action and it is from here actual work starts. Therefore, </a:t>
            </a:r>
            <a:r>
              <a:rPr lang="en-US" sz="2000">
                <a:latin typeface="Times New Roman" pitchFamily="18" charset="0"/>
                <a:cs typeface="Times New Roman" pitchFamily="18" charset="0"/>
              </a:rPr>
              <a:t>Directing is guiding</a:t>
            </a:r>
            <a:r>
              <a:rPr lang="en-US" sz="2000" dirty="0">
                <a:latin typeface="Times New Roman" pitchFamily="18" charset="0"/>
                <a:cs typeface="Times New Roman" pitchFamily="18" charset="0"/>
              </a:rPr>
              <a:t>, inspiring, overseeing and instructing people towards accomplishment of organizational goals.</a:t>
            </a:r>
            <a:endParaRPr lang="en-IN" sz="2000" dirty="0">
              <a:latin typeface="Times New Roman" pitchFamily="18" charset="0"/>
              <a:cs typeface="Times New Roman" pitchFamily="18" charset="0"/>
            </a:endParaRPr>
          </a:p>
          <a:p>
            <a:pPr algn="just">
              <a:buFont typeface="Wingdings" pitchFamily="2" charset="2"/>
              <a:buChar char="Ø"/>
            </a:pPr>
            <a:r>
              <a:rPr lang="en-US" sz="2000" dirty="0">
                <a:latin typeface="Times New Roman" pitchFamily="18" charset="0"/>
                <a:cs typeface="Times New Roman" pitchFamily="18" charset="0"/>
              </a:rPr>
              <a:t>It includes:</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Issuing orders that are clear, complete and within the capabilities of subordinates to accomplish.</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Suggesting an incessant training activity in which subordinates are given instructions to enable them to carry out the particular assignment in the existing situation.</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Motivating the workers to meet the expectations of the manager</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Maintaining discipline and rewarding those who perform well</a:t>
            </a:r>
          </a:p>
          <a:p>
            <a:pPr marL="1257300" lvl="2" indent="-457200" algn="just">
              <a:lnSpc>
                <a:spcPct val="150000"/>
              </a:lnSpc>
              <a:buFont typeface="+mj-lt"/>
              <a:buAutoNum type="arabicPeriod"/>
            </a:pPr>
            <a:endParaRPr lang="en-IN" sz="2000" i="1" dirty="0">
              <a:solidFill>
                <a:srgbClr val="C00000"/>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33</a:t>
            </a:fld>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332656"/>
            <a:ext cx="8391876" cy="6048672"/>
          </a:xfrm>
        </p:spPr>
        <p:txBody>
          <a:bodyPr>
            <a:noAutofit/>
          </a:bodyPr>
          <a:lstStyle/>
          <a:p>
            <a:pPr marL="514350" indent="-514350" algn="ctr">
              <a:buAutoNum type="arabicPeriod" startAt="6"/>
            </a:pPr>
            <a:r>
              <a:rPr lang="en-US" sz="2800" b="1" i="1" dirty="0">
                <a:solidFill>
                  <a:srgbClr val="FF0000"/>
                </a:solidFill>
                <a:latin typeface="Times New Roman" pitchFamily="18" charset="0"/>
                <a:cs typeface="Times New Roman" pitchFamily="18" charset="0"/>
              </a:rPr>
              <a:t>Motivating</a:t>
            </a:r>
          </a:p>
          <a:p>
            <a:pPr algn="just">
              <a:lnSpc>
                <a:spcPct val="150000"/>
              </a:lnSpc>
              <a:buFont typeface="Wingdings" pitchFamily="2" charset="2"/>
              <a:buChar char="Ø"/>
            </a:pPr>
            <a:r>
              <a:rPr lang="en-US" sz="2000" dirty="0">
                <a:latin typeface="Times New Roman" pitchFamily="18" charset="0"/>
                <a:cs typeface="Times New Roman" pitchFamily="18" charset="0"/>
              </a:rPr>
              <a:t>It means inspiring people to intensify their desire and willingness to perform their duties effectively and co-operate for the achievement of common objectives of the business.</a:t>
            </a:r>
          </a:p>
          <a:p>
            <a:pPr algn="just">
              <a:lnSpc>
                <a:spcPct val="150000"/>
              </a:lnSpc>
              <a:buFont typeface="Wingdings" pitchFamily="2" charset="2"/>
              <a:buChar char="Ø"/>
            </a:pPr>
            <a:r>
              <a:rPr lang="en-IN" sz="2000" dirty="0">
                <a:latin typeface="Times New Roman" pitchFamily="18" charset="0"/>
                <a:cs typeface="Times New Roman" pitchFamily="18" charset="0"/>
              </a:rPr>
              <a:t>Motivation is a human psychological characteristic. </a:t>
            </a:r>
          </a:p>
          <a:p>
            <a:pPr algn="just">
              <a:lnSpc>
                <a:spcPct val="150000"/>
              </a:lnSpc>
              <a:buFont typeface="Wingdings" pitchFamily="2" charset="2"/>
              <a:buChar char="Ø"/>
            </a:pPr>
            <a:r>
              <a:rPr lang="en-IN" sz="2000" dirty="0">
                <a:latin typeface="Times New Roman" pitchFamily="18" charset="0"/>
                <a:cs typeface="Times New Roman" pitchFamily="18" charset="0"/>
              </a:rPr>
              <a:t>It pertains to various drives, desires, needs, wishes and other forces.</a:t>
            </a:r>
          </a:p>
          <a:p>
            <a:pPr algn="just">
              <a:lnSpc>
                <a:spcPct val="150000"/>
              </a:lnSpc>
              <a:buFont typeface="Wingdings" pitchFamily="2" charset="2"/>
              <a:buChar char="Ø"/>
            </a:pPr>
            <a:r>
              <a:rPr lang="en-US" sz="2000" dirty="0">
                <a:latin typeface="Times New Roman" pitchFamily="18" charset="0"/>
                <a:cs typeface="Times New Roman" pitchFamily="18" charset="0"/>
              </a:rPr>
              <a:t>Motivation is not easy to achieve and what a manager can try to do is to create a working climate in which all members may contribute to the limits of their ability. </a:t>
            </a:r>
          </a:p>
          <a:p>
            <a:pPr algn="just">
              <a:lnSpc>
                <a:spcPct val="150000"/>
              </a:lnSpc>
              <a:buFont typeface="Wingdings" pitchFamily="2" charset="2"/>
              <a:buChar char="Ø"/>
            </a:pPr>
            <a:r>
              <a:rPr lang="en-US" sz="2000" dirty="0">
                <a:latin typeface="Times New Roman" pitchFamily="18" charset="0"/>
                <a:cs typeface="Times New Roman" pitchFamily="18" charset="0"/>
              </a:rPr>
              <a:t>Motivational function provides a great deal of challenge to a manager. He must have the ability to identify the needs of his subordinates and the methods and techniques to satisfy those needs.</a:t>
            </a:r>
            <a:endParaRPr lang="en-IN" sz="2000" dirty="0">
              <a:latin typeface="Times New Roman" pitchFamily="18" charset="0"/>
              <a:cs typeface="Times New Roman" pitchFamily="18" charset="0"/>
            </a:endParaRPr>
          </a:p>
          <a:p>
            <a:pPr algn="just">
              <a:lnSpc>
                <a:spcPct val="150000"/>
              </a:lnSpc>
              <a:buFont typeface="Wingdings" pitchFamily="2" charset="2"/>
              <a:buChar char="Ø"/>
            </a:pPr>
            <a:endParaRPr lang="en-US"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34</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88640"/>
            <a:ext cx="8391876" cy="6048672"/>
          </a:xfrm>
        </p:spPr>
        <p:txBody>
          <a:bodyPr>
            <a:noAutofit/>
          </a:bodyPr>
          <a:lstStyle/>
          <a:p>
            <a:pPr marL="514350" indent="-514350" algn="ctr">
              <a:buAutoNum type="arabicPeriod" startAt="6"/>
            </a:pPr>
            <a:r>
              <a:rPr lang="en-US" sz="2800" b="1" i="1" dirty="0">
                <a:solidFill>
                  <a:srgbClr val="FF0000"/>
                </a:solidFill>
                <a:latin typeface="Times New Roman" pitchFamily="18" charset="0"/>
                <a:cs typeface="Times New Roman" pitchFamily="18" charset="0"/>
              </a:rPr>
              <a:t>Motivating</a:t>
            </a:r>
          </a:p>
          <a:p>
            <a:pPr algn="just">
              <a:lnSpc>
                <a:spcPct val="150000"/>
              </a:lnSpc>
              <a:buFont typeface="Wingdings" pitchFamily="2" charset="2"/>
              <a:buChar char="Ø"/>
            </a:pPr>
            <a:r>
              <a:rPr lang="en-US" sz="2000" dirty="0">
                <a:latin typeface="Times New Roman" pitchFamily="18" charset="0"/>
                <a:cs typeface="Times New Roman" pitchFamily="18" charset="0"/>
              </a:rPr>
              <a:t>The key elements in such a work situation and its effect on the employee are known to be:</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The degree to which the employee feels his goals and those of the organization are similar.</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The employee’s relationships with his coworkers and especially with his supervisor.</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The way in which his job helps him meet his needs for present income and future security and does so in a manner that seems fair.</a:t>
            </a:r>
          </a:p>
          <a:p>
            <a:pPr marL="1257300" lvl="2"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The extend to which it enables him to feel adequate to his tasks and to gain a sense of accomplishment for jobs well done.</a:t>
            </a:r>
          </a:p>
        </p:txBody>
      </p:sp>
      <p:sp>
        <p:nvSpPr>
          <p:cNvPr id="5" name="Slide Number Placeholder 4"/>
          <p:cNvSpPr>
            <a:spLocks noGrp="1"/>
          </p:cNvSpPr>
          <p:nvPr>
            <p:ph type="sldNum" sz="quarter" idx="12"/>
          </p:nvPr>
        </p:nvSpPr>
        <p:spPr/>
        <p:txBody>
          <a:bodyPr/>
          <a:lstStyle/>
          <a:p>
            <a:fld id="{9852A43B-CC61-4C08-A01B-A84C4E0E89A8}" type="slidenum">
              <a:rPr lang="en-IN" smtClean="0"/>
              <a:pPr/>
              <a:t>35</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214290"/>
            <a:ext cx="8391876" cy="5697559"/>
          </a:xfrm>
        </p:spPr>
        <p:txBody>
          <a:bodyPr>
            <a:noAutofit/>
          </a:bodyPr>
          <a:lstStyle/>
          <a:p>
            <a:pPr marL="514350" indent="-514350" algn="ctr">
              <a:buNone/>
            </a:pPr>
            <a:r>
              <a:rPr lang="en-US" sz="2800" b="1" i="1" dirty="0">
                <a:solidFill>
                  <a:srgbClr val="FF0000"/>
                </a:solidFill>
                <a:latin typeface="Times New Roman" pitchFamily="18" charset="0"/>
                <a:cs typeface="Times New Roman" pitchFamily="18" charset="0"/>
              </a:rPr>
              <a:t>7.	Controlling</a:t>
            </a:r>
          </a:p>
          <a:p>
            <a:pPr algn="just">
              <a:lnSpc>
                <a:spcPct val="150000"/>
              </a:lnSpc>
              <a:buFont typeface="Wingdings" pitchFamily="2" charset="2"/>
              <a:buChar char="Ø"/>
            </a:pPr>
            <a:r>
              <a:rPr lang="en-IN" sz="2000" dirty="0">
                <a:latin typeface="Times New Roman" pitchFamily="18" charset="0"/>
                <a:cs typeface="Times New Roman" pitchFamily="18" charset="0"/>
              </a:rPr>
              <a:t>Controlling is the process of ensuring that actual activities conform to plan activities. </a:t>
            </a:r>
            <a:r>
              <a:rPr lang="en-US" sz="2000" dirty="0">
                <a:latin typeface="Times New Roman" pitchFamily="18" charset="0"/>
                <a:cs typeface="Times New Roman" pitchFamily="18" charset="0"/>
              </a:rPr>
              <a:t>It measures the progress of operations and making sure that things are proceeding in the right direction as planned</a:t>
            </a:r>
          </a:p>
          <a:p>
            <a:pPr algn="just">
              <a:lnSpc>
                <a:spcPct val="150000"/>
              </a:lnSpc>
              <a:buFont typeface="Wingdings" pitchFamily="2" charset="2"/>
              <a:buChar char="Ø"/>
            </a:pPr>
            <a:r>
              <a:rPr lang="en-US" sz="2000" dirty="0">
                <a:latin typeface="Times New Roman" pitchFamily="18" charset="0"/>
                <a:cs typeface="Times New Roman" pitchFamily="18" charset="0"/>
              </a:rPr>
              <a:t>For the control to be effective, a system of communications or reports is required to inform the manager of the facts on which to base measurements, comparisons and corrective action. </a:t>
            </a:r>
          </a:p>
          <a:p>
            <a:pPr algn="just">
              <a:lnSpc>
                <a:spcPct val="150000"/>
              </a:lnSpc>
              <a:buFont typeface="Wingdings" pitchFamily="2" charset="2"/>
              <a:buChar char="Ø"/>
            </a:pPr>
            <a:r>
              <a:rPr lang="en-US" sz="2000" dirty="0">
                <a:latin typeface="Times New Roman" pitchFamily="18" charset="0"/>
                <a:cs typeface="Times New Roman" pitchFamily="18" charset="0"/>
              </a:rPr>
              <a:t>A great deal of the manager’s time is involved in controlling</a:t>
            </a:r>
          </a:p>
          <a:p>
            <a:pPr algn="just">
              <a:lnSpc>
                <a:spcPct val="150000"/>
              </a:lnSpc>
              <a:buFont typeface="Wingdings" pitchFamily="2" charset="2"/>
              <a:buChar char="Ø"/>
            </a:pPr>
            <a:r>
              <a:rPr lang="en-US" sz="2000" dirty="0">
                <a:latin typeface="Times New Roman" pitchFamily="18" charset="0"/>
                <a:cs typeface="Times New Roman" pitchFamily="18" charset="0"/>
              </a:rPr>
              <a:t>It involves:</a:t>
            </a:r>
          </a:p>
          <a:p>
            <a:pPr marL="2628900" lvl="5" indent="-457200" algn="just">
              <a:lnSpc>
                <a:spcPct val="150000"/>
              </a:lnSpc>
              <a:buFont typeface="+mj-lt"/>
              <a:buAutoNum type="arabicPeriod"/>
            </a:pPr>
            <a:r>
              <a:rPr lang="en-IN" sz="1800" i="1" dirty="0">
                <a:solidFill>
                  <a:srgbClr val="C00000"/>
                </a:solidFill>
                <a:latin typeface="Times New Roman" pitchFamily="18" charset="0"/>
                <a:cs typeface="Times New Roman" pitchFamily="18" charset="0"/>
              </a:rPr>
              <a:t>Establishing standards of performance.</a:t>
            </a:r>
          </a:p>
          <a:p>
            <a:pPr marL="2628900" lvl="5" indent="-457200" algn="just">
              <a:lnSpc>
                <a:spcPct val="150000"/>
              </a:lnSpc>
              <a:buFont typeface="+mj-lt"/>
              <a:buAutoNum type="arabicPeriod"/>
            </a:pPr>
            <a:r>
              <a:rPr lang="en-IN" sz="1800" i="1" dirty="0">
                <a:solidFill>
                  <a:srgbClr val="C00000"/>
                </a:solidFill>
                <a:latin typeface="Times New Roman" pitchFamily="18" charset="0"/>
                <a:cs typeface="Times New Roman" pitchFamily="18" charset="0"/>
              </a:rPr>
              <a:t>Measuring actual performance.</a:t>
            </a:r>
          </a:p>
          <a:p>
            <a:pPr marL="2628900" lvl="5" indent="-457200" algn="just">
              <a:lnSpc>
                <a:spcPct val="150000"/>
              </a:lnSpc>
              <a:buFont typeface="+mj-lt"/>
              <a:buAutoNum type="arabicPeriod"/>
            </a:pPr>
            <a:r>
              <a:rPr lang="en-IN" sz="1800" i="1" dirty="0">
                <a:solidFill>
                  <a:srgbClr val="C00000"/>
                </a:solidFill>
                <a:latin typeface="Times New Roman" pitchFamily="18" charset="0"/>
                <a:cs typeface="Times New Roman" pitchFamily="18" charset="0"/>
              </a:rPr>
              <a:t>Comparing actual performance to the established standards.</a:t>
            </a:r>
          </a:p>
          <a:p>
            <a:pPr marL="2628900" lvl="5" indent="-457200" algn="just">
              <a:lnSpc>
                <a:spcPct val="150000"/>
              </a:lnSpc>
              <a:buFont typeface="+mj-lt"/>
              <a:buAutoNum type="arabicPeriod"/>
            </a:pPr>
            <a:r>
              <a:rPr lang="en-IN" sz="1800" i="1" dirty="0">
                <a:solidFill>
                  <a:srgbClr val="C00000"/>
                </a:solidFill>
                <a:latin typeface="Times New Roman" pitchFamily="18" charset="0"/>
                <a:cs typeface="Times New Roman" pitchFamily="18" charset="0"/>
              </a:rPr>
              <a:t>Taking corrective action if deviations are detected.</a:t>
            </a:r>
          </a:p>
        </p:txBody>
      </p:sp>
      <p:sp>
        <p:nvSpPr>
          <p:cNvPr id="5" name="Slide Number Placeholder 4"/>
          <p:cNvSpPr>
            <a:spLocks noGrp="1"/>
          </p:cNvSpPr>
          <p:nvPr>
            <p:ph type="sldNum" sz="quarter" idx="12"/>
          </p:nvPr>
        </p:nvSpPr>
        <p:spPr/>
        <p:txBody>
          <a:bodyPr/>
          <a:lstStyle/>
          <a:p>
            <a:fld id="{9852A43B-CC61-4C08-A01B-A84C4E0E89A8}" type="slidenum">
              <a:rPr lang="en-IN" smtClean="0"/>
              <a:pPr/>
              <a:t>36</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68178"/>
          </a:xfrm>
        </p:spPr>
        <p:txBody>
          <a:bodyPr>
            <a:noAutofit/>
          </a:bodyPr>
          <a:lstStyle/>
          <a:p>
            <a:pPr algn="ctr">
              <a:buNone/>
            </a:pPr>
            <a:r>
              <a:rPr lang="en-IN" sz="2800" b="1" i="1" dirty="0">
                <a:solidFill>
                  <a:srgbClr val="FF0000"/>
                </a:solidFill>
                <a:latin typeface="Times New Roman" pitchFamily="18" charset="0"/>
                <a:cs typeface="Times New Roman" pitchFamily="18" charset="0"/>
              </a:rPr>
              <a:t>8. Coordinating</a:t>
            </a:r>
          </a:p>
          <a:p>
            <a:pPr algn="just">
              <a:lnSpc>
                <a:spcPct val="150000"/>
              </a:lnSpc>
              <a:buFont typeface="Wingdings" pitchFamily="2" charset="2"/>
              <a:buChar char="Ø"/>
            </a:pPr>
            <a:r>
              <a:rPr lang="en-IN" sz="2100" dirty="0">
                <a:latin typeface="Times New Roman" pitchFamily="18" charset="0"/>
                <a:cs typeface="Times New Roman" pitchFamily="18" charset="0"/>
              </a:rPr>
              <a:t>Coordination is the process of integration of the activities of separate departments of an organization to accomplish organizational goals. </a:t>
            </a:r>
          </a:p>
          <a:p>
            <a:pPr algn="just">
              <a:lnSpc>
                <a:spcPct val="150000"/>
              </a:lnSpc>
              <a:buFont typeface="Wingdings" pitchFamily="2" charset="2"/>
              <a:buChar char="Ø"/>
            </a:pPr>
            <a:r>
              <a:rPr lang="en-US" sz="2100" dirty="0">
                <a:latin typeface="Times New Roman" pitchFamily="18" charset="0"/>
                <a:cs typeface="Times New Roman" pitchFamily="18" charset="0"/>
              </a:rPr>
              <a:t>It involves harmonizing the individual goals of the subordinates with the goals of the organization.</a:t>
            </a:r>
          </a:p>
          <a:p>
            <a:pPr algn="just">
              <a:lnSpc>
                <a:spcPct val="150000"/>
              </a:lnSpc>
              <a:buFont typeface="Wingdings" pitchFamily="2" charset="2"/>
              <a:buChar char="Ø"/>
            </a:pPr>
            <a:r>
              <a:rPr lang="en-US" sz="2100" dirty="0">
                <a:latin typeface="Times New Roman" pitchFamily="18" charset="0"/>
                <a:cs typeface="Times New Roman" pitchFamily="18" charset="0"/>
              </a:rPr>
              <a:t>Coordination is needed both up and down the organization structure and laterally as well. </a:t>
            </a:r>
          </a:p>
          <a:p>
            <a:pPr algn="just">
              <a:lnSpc>
                <a:spcPct val="150000"/>
              </a:lnSpc>
              <a:buFont typeface="Wingdings" pitchFamily="2" charset="2"/>
              <a:buChar char="Ø"/>
            </a:pPr>
            <a:r>
              <a:rPr lang="en-US" sz="2100" dirty="0">
                <a:latin typeface="Times New Roman" pitchFamily="18" charset="0"/>
                <a:cs typeface="Times New Roman" pitchFamily="18" charset="0"/>
              </a:rPr>
              <a:t>It can also occur among people working at different organizations.</a:t>
            </a:r>
            <a:endParaRPr lang="en-IN" sz="2100" dirty="0">
              <a:latin typeface="Times New Roman" pitchFamily="18" charset="0"/>
              <a:cs typeface="Times New Roman" pitchFamily="18" charset="0"/>
            </a:endParaRPr>
          </a:p>
          <a:p>
            <a:pPr algn="just">
              <a:lnSpc>
                <a:spcPct val="150000"/>
              </a:lnSpc>
              <a:buFont typeface="Wingdings" pitchFamily="2" charset="2"/>
              <a:buChar char="Ø"/>
            </a:pPr>
            <a:r>
              <a:rPr lang="en-IN" sz="2100" dirty="0">
                <a:latin typeface="Times New Roman" pitchFamily="18" charset="0"/>
                <a:cs typeface="Times New Roman" pitchFamily="18" charset="0"/>
              </a:rPr>
              <a:t>The extent of coordination depends on the nature of activities performed and the type of organization structure.</a:t>
            </a:r>
          </a:p>
          <a:p>
            <a:pPr algn="just">
              <a:lnSpc>
                <a:spcPct val="150000"/>
              </a:lnSpc>
              <a:buFont typeface="Wingdings" pitchFamily="2" charset="2"/>
              <a:buChar char="Ø"/>
            </a:pPr>
            <a:endParaRPr lang="en-IN" sz="2100" dirty="0">
              <a:latin typeface="Times New Roman" pitchFamily="18" charset="0"/>
              <a:cs typeface="Times New Roman" pitchFamily="18" charset="0"/>
            </a:endParaRPr>
          </a:p>
          <a:p>
            <a:endParaRPr lang="en-IN" sz="21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37</a:t>
            </a:fld>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240186"/>
          </a:xfrm>
        </p:spPr>
        <p:txBody>
          <a:bodyPr>
            <a:noAutofit/>
          </a:bodyPr>
          <a:lstStyle/>
          <a:p>
            <a:pPr marL="514350" indent="-514350">
              <a:buAutoNum type="arabicPeriod" startAt="8"/>
            </a:pPr>
            <a:endParaRPr lang="en-US" sz="2100" b="1" i="1" dirty="0">
              <a:latin typeface="Times New Roman" pitchFamily="18" charset="0"/>
              <a:cs typeface="Times New Roman" pitchFamily="18" charset="0"/>
            </a:endParaRPr>
          </a:p>
          <a:p>
            <a:pPr algn="ctr">
              <a:buNone/>
            </a:pPr>
            <a:r>
              <a:rPr lang="en-US" sz="2800" b="1" i="1" dirty="0">
                <a:solidFill>
                  <a:srgbClr val="FF0000"/>
                </a:solidFill>
                <a:latin typeface="Times New Roman" pitchFamily="18" charset="0"/>
                <a:cs typeface="Times New Roman" pitchFamily="18" charset="0"/>
              </a:rPr>
              <a:t>9. Communicating</a:t>
            </a:r>
          </a:p>
          <a:p>
            <a:pPr algn="just">
              <a:lnSpc>
                <a:spcPct val="150000"/>
              </a:lnSpc>
              <a:buFont typeface="Wingdings" pitchFamily="2" charset="2"/>
              <a:buChar char="Ø"/>
            </a:pPr>
            <a:r>
              <a:rPr lang="en-US" sz="2000" dirty="0">
                <a:latin typeface="Times New Roman" pitchFamily="18" charset="0"/>
                <a:cs typeface="Times New Roman" pitchFamily="18" charset="0"/>
              </a:rPr>
              <a:t>It’s a process by which instructions, ideas, thoughts or information are transmitted, received and understand by persons working in organization.</a:t>
            </a:r>
          </a:p>
          <a:p>
            <a:pPr algn="just">
              <a:lnSpc>
                <a:spcPct val="150000"/>
              </a:lnSpc>
              <a:buFont typeface="Wingdings" pitchFamily="2" charset="2"/>
              <a:buChar char="Ø"/>
            </a:pPr>
            <a:r>
              <a:rPr lang="en-US" sz="2000" dirty="0">
                <a:latin typeface="Times New Roman" pitchFamily="18" charset="0"/>
                <a:cs typeface="Times New Roman" pitchFamily="18" charset="0"/>
              </a:rPr>
              <a:t>Methods of communication are:</a:t>
            </a:r>
          </a:p>
          <a:p>
            <a:pPr marL="2628900" lvl="5"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	Verbal or written communication</a:t>
            </a:r>
          </a:p>
          <a:p>
            <a:pPr marL="2628900" lvl="5" indent="-457200" algn="just">
              <a:lnSpc>
                <a:spcPct val="150000"/>
              </a:lnSpc>
              <a:buFont typeface="+mj-lt"/>
              <a:buAutoNum type="arabicPeriod"/>
            </a:pPr>
            <a:r>
              <a:rPr lang="en-US" sz="1800" i="1" dirty="0">
                <a:solidFill>
                  <a:srgbClr val="C00000"/>
                </a:solidFill>
                <a:latin typeface="Times New Roman" pitchFamily="18" charset="0"/>
                <a:cs typeface="Times New Roman" pitchFamily="18" charset="0"/>
              </a:rPr>
              <a:t>	Formal or informal communication</a:t>
            </a:r>
            <a:endParaRPr lang="en-IN" sz="1800" i="1" dirty="0">
              <a:solidFill>
                <a:srgbClr val="C00000"/>
              </a:solidFill>
              <a:latin typeface="Times New Roman" pitchFamily="18" charset="0"/>
              <a:cs typeface="Times New Roman" pitchFamily="18" charset="0"/>
            </a:endParaRPr>
          </a:p>
          <a:p>
            <a:endParaRPr lang="en-IN" sz="2100" dirty="0">
              <a:latin typeface="Times New Roman" pitchFamily="18" charset="0"/>
              <a:cs typeface="Times New Roman" pitchFamily="18" charset="0"/>
            </a:endParaRPr>
          </a:p>
          <a:p>
            <a:endParaRPr lang="en-IN" sz="21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38</a:t>
            </a:fld>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760640"/>
          </a:xfrm>
        </p:spPr>
        <p:txBody>
          <a:bodyPr>
            <a:normAutofit/>
          </a:bodyPr>
          <a:lstStyle/>
          <a:p>
            <a:pPr algn="ctr">
              <a:buNone/>
            </a:pPr>
            <a:r>
              <a:rPr lang="en-US" sz="2800" b="1" i="1" dirty="0">
                <a:solidFill>
                  <a:srgbClr val="FF0000"/>
                </a:solidFill>
                <a:latin typeface="Times New Roman" pitchFamily="18" charset="0"/>
                <a:cs typeface="Times New Roman" pitchFamily="18" charset="0"/>
              </a:rPr>
              <a:t>10. Decision making</a:t>
            </a:r>
          </a:p>
          <a:p>
            <a:pPr algn="just">
              <a:lnSpc>
                <a:spcPct val="160000"/>
              </a:lnSpc>
              <a:buFont typeface="Wingdings" pitchFamily="2" charset="2"/>
              <a:buChar char="Ø"/>
            </a:pPr>
            <a:r>
              <a:rPr lang="en-IN" sz="2000" dirty="0">
                <a:latin typeface="Times New Roman" pitchFamily="18" charset="0"/>
                <a:cs typeface="Times New Roman" pitchFamily="18" charset="0"/>
              </a:rPr>
              <a:t>Decision-making is the process of identifying and selecting a course of action from among alternatives.</a:t>
            </a:r>
          </a:p>
          <a:p>
            <a:pPr algn="just">
              <a:lnSpc>
                <a:spcPct val="160000"/>
              </a:lnSpc>
              <a:buFont typeface="Wingdings" pitchFamily="2" charset="2"/>
              <a:buChar char="Ø"/>
            </a:pPr>
            <a:r>
              <a:rPr lang="en-IN" sz="2000" dirty="0">
                <a:latin typeface="Times New Roman" pitchFamily="18" charset="0"/>
                <a:cs typeface="Times New Roman" pitchFamily="18" charset="0"/>
              </a:rPr>
              <a:t>Decision-making is an important part of every manager’s job and it requires all the skill and judgment a manager accumulates over the years.</a:t>
            </a:r>
          </a:p>
          <a:p>
            <a:pPr algn="just">
              <a:lnSpc>
                <a:spcPct val="160000"/>
              </a:lnSpc>
              <a:buFont typeface="Wingdings" pitchFamily="2" charset="2"/>
              <a:buChar char="Ø"/>
            </a:pPr>
            <a:r>
              <a:rPr lang="en-US" sz="2000" dirty="0">
                <a:latin typeface="Times New Roman" pitchFamily="18" charset="0"/>
                <a:cs typeface="Times New Roman" pitchFamily="18" charset="0"/>
              </a:rPr>
              <a:t>The manager constantly seeks to make correct decisions involving the use of the various types of resources at his disposal to attain the various objectives. </a:t>
            </a:r>
          </a:p>
          <a:p>
            <a:pPr algn="just">
              <a:lnSpc>
                <a:spcPct val="160000"/>
              </a:lnSpc>
              <a:buFont typeface="Wingdings" pitchFamily="2" charset="2"/>
              <a:buChar char="Ø"/>
            </a:pPr>
            <a:r>
              <a:rPr lang="en-US" sz="2000" dirty="0">
                <a:latin typeface="Times New Roman" pitchFamily="18" charset="0"/>
                <a:cs typeface="Times New Roman" pitchFamily="18" charset="0"/>
              </a:rPr>
              <a:t>A manager decides on the utilization of men, materials and machines to achieve such goals as quality, low cost, quick delivery, safety and so on.</a:t>
            </a:r>
            <a:endParaRPr lang="en-IN" sz="2000" dirty="0">
              <a:latin typeface="Times New Roman" pitchFamily="18" charset="0"/>
              <a:cs typeface="Times New Roman" pitchFamily="18" charset="0"/>
            </a:endParaRPr>
          </a:p>
          <a:p>
            <a:pPr algn="just">
              <a:buNone/>
            </a:pP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39</a:t>
            </a:fld>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3)</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fontScale="55000" lnSpcReduction="20000"/>
          </a:bodyPr>
          <a:lstStyle/>
          <a:p>
            <a:pPr>
              <a:lnSpc>
                <a:spcPct val="180000"/>
              </a:lnSpc>
              <a:buFont typeface="Wingdings" pitchFamily="2" charset="2"/>
              <a:buChar char="Ø"/>
            </a:pPr>
            <a:r>
              <a:rPr lang="en-US" sz="2900" dirty="0">
                <a:latin typeface="Times New Roman" pitchFamily="18" charset="0"/>
                <a:cs typeface="Times New Roman" pitchFamily="18" charset="0"/>
              </a:rPr>
              <a:t>Introduction to Organization</a:t>
            </a:r>
          </a:p>
          <a:p>
            <a:pPr>
              <a:lnSpc>
                <a:spcPct val="180000"/>
              </a:lnSpc>
              <a:buFont typeface="Wingdings" pitchFamily="2" charset="2"/>
              <a:buChar char="Ø"/>
            </a:pPr>
            <a:r>
              <a:rPr lang="en-US" sz="2900" dirty="0">
                <a:latin typeface="Times New Roman" pitchFamily="18" charset="0"/>
                <a:cs typeface="Times New Roman" pitchFamily="18" charset="0"/>
              </a:rPr>
              <a:t>Definition</a:t>
            </a:r>
          </a:p>
          <a:p>
            <a:pPr>
              <a:lnSpc>
                <a:spcPct val="180000"/>
              </a:lnSpc>
              <a:buFont typeface="Wingdings" pitchFamily="2" charset="2"/>
              <a:buChar char="Ø"/>
            </a:pPr>
            <a:r>
              <a:rPr lang="en-IN" sz="2900" dirty="0">
                <a:latin typeface="Times New Roman" pitchFamily="18" charset="0"/>
                <a:cs typeface="Times New Roman" pitchFamily="18" charset="0"/>
              </a:rPr>
              <a:t>System approach applied to Organization</a:t>
            </a:r>
          </a:p>
          <a:p>
            <a:pPr>
              <a:lnSpc>
                <a:spcPct val="180000"/>
              </a:lnSpc>
              <a:buFont typeface="Wingdings" pitchFamily="2" charset="2"/>
              <a:buChar char="Ø"/>
            </a:pPr>
            <a:r>
              <a:rPr lang="en-IN" sz="2900" dirty="0">
                <a:latin typeface="Times New Roman" pitchFamily="18" charset="0"/>
                <a:cs typeface="Times New Roman" pitchFamily="18" charset="0"/>
              </a:rPr>
              <a:t>Necessity and Elements of Organization</a:t>
            </a:r>
          </a:p>
          <a:p>
            <a:pPr>
              <a:lnSpc>
                <a:spcPct val="180000"/>
              </a:lnSpc>
              <a:buFont typeface="Wingdings" pitchFamily="2" charset="2"/>
              <a:buChar char="Ø"/>
            </a:pPr>
            <a:r>
              <a:rPr lang="en-US" sz="2900" dirty="0">
                <a:latin typeface="Times New Roman" pitchFamily="18" charset="0"/>
                <a:cs typeface="Times New Roman" pitchFamily="18" charset="0"/>
              </a:rPr>
              <a:t>Characteristics of Organization</a:t>
            </a:r>
          </a:p>
          <a:p>
            <a:pPr>
              <a:lnSpc>
                <a:spcPct val="180000"/>
              </a:lnSpc>
              <a:buFont typeface="Wingdings" pitchFamily="2" charset="2"/>
              <a:buChar char="Ø"/>
            </a:pPr>
            <a:r>
              <a:rPr lang="en-US" sz="2900" dirty="0">
                <a:latin typeface="Times New Roman" pitchFamily="18" charset="0"/>
                <a:cs typeface="Times New Roman" pitchFamily="18" charset="0"/>
              </a:rPr>
              <a:t>Process of Organization</a:t>
            </a:r>
            <a:endParaRPr lang="en-IN" sz="2900" dirty="0">
              <a:latin typeface="Times New Roman" pitchFamily="18" charset="0"/>
              <a:cs typeface="Times New Roman" pitchFamily="18" charset="0"/>
            </a:endParaRPr>
          </a:p>
          <a:p>
            <a:pPr>
              <a:lnSpc>
                <a:spcPct val="180000"/>
              </a:lnSpc>
              <a:buFont typeface="Wingdings" pitchFamily="2" charset="2"/>
              <a:buChar char="Ø"/>
            </a:pPr>
            <a:r>
              <a:rPr lang="en-IN" sz="2900" dirty="0">
                <a:latin typeface="Times New Roman" pitchFamily="18" charset="0"/>
                <a:cs typeface="Times New Roman" pitchFamily="18" charset="0"/>
              </a:rPr>
              <a:t>Principles of Organization</a:t>
            </a:r>
          </a:p>
          <a:p>
            <a:pPr>
              <a:lnSpc>
                <a:spcPct val="180000"/>
              </a:lnSpc>
              <a:buFont typeface="Wingdings" pitchFamily="2" charset="2"/>
              <a:buChar char="Ø"/>
            </a:pPr>
            <a:r>
              <a:rPr lang="en-IN" sz="2900" dirty="0">
                <a:latin typeface="Times New Roman" pitchFamily="18" charset="0"/>
                <a:cs typeface="Times New Roman" pitchFamily="18" charset="0"/>
              </a:rPr>
              <a:t>Formal and Informal Organization</a:t>
            </a:r>
          </a:p>
          <a:p>
            <a:pPr>
              <a:lnSpc>
                <a:spcPct val="180000"/>
              </a:lnSpc>
              <a:buFont typeface="Wingdings" pitchFamily="2" charset="2"/>
              <a:buChar char="Ø"/>
            </a:pPr>
            <a:r>
              <a:rPr lang="en-IN" sz="2900" dirty="0">
                <a:latin typeface="Times New Roman" pitchFamily="18" charset="0"/>
                <a:cs typeface="Times New Roman" pitchFamily="18" charset="0"/>
              </a:rPr>
              <a:t>Organization structure </a:t>
            </a:r>
          </a:p>
          <a:p>
            <a:pPr>
              <a:lnSpc>
                <a:spcPct val="180000"/>
              </a:lnSpc>
              <a:buFont typeface="Wingdings" pitchFamily="2" charset="2"/>
              <a:buChar char="Ø"/>
            </a:pPr>
            <a:r>
              <a:rPr lang="en-IN" sz="2900" dirty="0">
                <a:latin typeface="Times New Roman" pitchFamily="18" charset="0"/>
                <a:cs typeface="Times New Roman" pitchFamily="18" charset="0"/>
              </a:rPr>
              <a:t>Types of Organization structure </a:t>
            </a:r>
          </a:p>
          <a:p>
            <a:pPr>
              <a:lnSpc>
                <a:spcPct val="150000"/>
              </a:lnSpc>
              <a:buNone/>
            </a:pPr>
            <a:endParaRPr lang="en-IN" sz="2400" dirty="0">
              <a:latin typeface="Times New Roman" pitchFamily="18" charset="0"/>
              <a:cs typeface="Times New Roman" pitchFamily="18" charset="0"/>
            </a:endParaRPr>
          </a:p>
          <a:p>
            <a:pPr>
              <a:lnSpc>
                <a:spcPct val="150000"/>
              </a:lnSpc>
            </a:pPr>
            <a:endParaRPr lang="en-IN"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40</a:t>
            </a:fld>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147248" cy="115212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Introduction to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412776"/>
            <a:ext cx="8424936" cy="5073427"/>
          </a:xfrm>
        </p:spPr>
        <p:txBody>
          <a:bodyPr>
            <a:noAutofit/>
          </a:bodyPr>
          <a:lstStyle/>
          <a:p>
            <a:pPr algn="ctr">
              <a:lnSpc>
                <a:spcPct val="150000"/>
              </a:lnSpc>
              <a:buNone/>
            </a:pPr>
            <a:r>
              <a:rPr lang="en-US"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	An organization, or </a:t>
            </a:r>
            <a:r>
              <a:rPr lang="en-US" dirty="0" err="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organisation</a:t>
            </a:r>
            <a:r>
              <a:rPr lang="en-US"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 is an entity, such as a company, an institution, or an association, comprising one or more people and having a particular purpose.</a:t>
            </a:r>
            <a:endParaRPr lang="en-IN"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41</a:t>
            </a:fld>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16632"/>
            <a:ext cx="8147248" cy="86409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Definition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052736"/>
            <a:ext cx="8424936" cy="5073427"/>
          </a:xfrm>
        </p:spPr>
        <p:txBody>
          <a:bodyPr>
            <a:noAutofit/>
          </a:bodyPr>
          <a:lstStyle/>
          <a:p>
            <a:pPr algn="just">
              <a:lnSpc>
                <a:spcPct val="150000"/>
              </a:lnSpc>
              <a:buFont typeface="Wingdings" pitchFamily="2" charset="2"/>
              <a:buChar char="ü"/>
            </a:pPr>
            <a:r>
              <a:rPr lang="en-IN" sz="2000" dirty="0">
                <a:latin typeface="Times New Roman" pitchFamily="18" charset="0"/>
                <a:cs typeface="Times New Roman" pitchFamily="18" charset="0"/>
              </a:rPr>
              <a:t>Organization is a pattern of relationships among the individuals working together for a common goal. </a:t>
            </a:r>
          </a:p>
          <a:p>
            <a:pPr algn="just">
              <a:lnSpc>
                <a:spcPct val="150000"/>
              </a:lnSpc>
              <a:buFont typeface="Wingdings" pitchFamily="2" charset="2"/>
              <a:buChar char="ü"/>
            </a:pPr>
            <a:r>
              <a:rPr lang="en-US" sz="2000" dirty="0">
                <a:latin typeface="Times New Roman" pitchFamily="18" charset="0"/>
                <a:cs typeface="Times New Roman" pitchFamily="18" charset="0"/>
              </a:rPr>
              <a:t>It is a system consisting of men, materials,   machinery and money working for a common goal.</a:t>
            </a:r>
          </a:p>
          <a:p>
            <a:pPr algn="just">
              <a:lnSpc>
                <a:spcPct val="150000"/>
              </a:lnSpc>
              <a:buFont typeface="Wingdings" pitchFamily="2" charset="2"/>
              <a:buChar char="ü"/>
            </a:pPr>
            <a:r>
              <a:rPr lang="en-US" sz="2000" dirty="0">
                <a:latin typeface="Times New Roman" pitchFamily="18" charset="0"/>
                <a:cs typeface="Times New Roman" pitchFamily="18" charset="0"/>
              </a:rPr>
              <a:t>It is concerned with building, developing and maintaining of effective machinery for accomplishing the objectives of the enterprise.</a:t>
            </a:r>
          </a:p>
          <a:p>
            <a:pPr algn="just">
              <a:lnSpc>
                <a:spcPct val="150000"/>
              </a:lnSpc>
              <a:buFont typeface="Wingdings" pitchFamily="2" charset="2"/>
              <a:buChar char="ü"/>
            </a:pPr>
            <a:r>
              <a:rPr lang="en-US" sz="2000" dirty="0" err="1">
                <a:latin typeface="Times New Roman" pitchFamily="18" charset="0"/>
                <a:cs typeface="Times New Roman" pitchFamily="18" charset="0"/>
              </a:rPr>
              <a:t>Eg</a:t>
            </a:r>
            <a:r>
              <a:rPr lang="en-US" sz="2000" dirty="0">
                <a:latin typeface="Times New Roman" pitchFamily="18" charset="0"/>
                <a:cs typeface="Times New Roman" pitchFamily="18" charset="0"/>
              </a:rPr>
              <a:t>: Banking system</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42</a:t>
            </a:fld>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648072"/>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System approach applied to Organization</a:t>
            </a:r>
          </a:p>
        </p:txBody>
      </p:sp>
      <p:sp>
        <p:nvSpPr>
          <p:cNvPr id="3" name="Content Placeholder 2"/>
          <p:cNvSpPr>
            <a:spLocks noGrp="1"/>
          </p:cNvSpPr>
          <p:nvPr>
            <p:ph idx="1"/>
          </p:nvPr>
        </p:nvSpPr>
        <p:spPr>
          <a:xfrm>
            <a:off x="395536" y="908720"/>
            <a:ext cx="8424936" cy="5217443"/>
          </a:xfrm>
        </p:spPr>
        <p:txBody>
          <a:bodyPr>
            <a:noAutofit/>
          </a:bodyPr>
          <a:lstStyle/>
          <a:p>
            <a:pPr algn="just">
              <a:lnSpc>
                <a:spcPct val="150000"/>
              </a:lnSpc>
              <a:buFont typeface="Wingdings" pitchFamily="2" charset="2"/>
              <a:buChar char="ü"/>
            </a:pPr>
            <a:r>
              <a:rPr lang="en-US" sz="2000" dirty="0">
                <a:latin typeface="Times New Roman" pitchFamily="18" charset="0"/>
                <a:cs typeface="Times New Roman" pitchFamily="18" charset="0"/>
              </a:rPr>
              <a:t>The systems approach considers organization as a system composed of sub systems that are inter-related. </a:t>
            </a:r>
          </a:p>
          <a:p>
            <a:pPr algn="just">
              <a:lnSpc>
                <a:spcPct val="150000"/>
              </a:lnSpc>
              <a:buFont typeface="Wingdings" pitchFamily="2" charset="2"/>
              <a:buChar char="ü"/>
            </a:pPr>
            <a:r>
              <a:rPr lang="en-US" sz="2000" dirty="0">
                <a:latin typeface="Times New Roman" pitchFamily="18" charset="0"/>
                <a:cs typeface="Times New Roman" pitchFamily="18" charset="0"/>
              </a:rPr>
              <a:t>Systems have boundaries, but they also interact with external environment. That is, they are open systems.  This approach recognizes the importance of studying inter-relatedness of planning, organizing, and controlling in an organization as well as the many subsystems.</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43</a:t>
            </a:fld>
            <a:endParaRPr lang="en-IN" dirty="0"/>
          </a:p>
        </p:txBody>
      </p:sp>
      <p:pic>
        <p:nvPicPr>
          <p:cNvPr id="6" name="Picture 2"/>
          <p:cNvPicPr>
            <a:picLocks noChangeAspect="1" noChangeArrowheads="1"/>
          </p:cNvPicPr>
          <p:nvPr/>
        </p:nvPicPr>
        <p:blipFill>
          <a:blip r:embed="rId2" cstate="print"/>
          <a:srcRect/>
          <a:stretch>
            <a:fillRect/>
          </a:stretch>
        </p:blipFill>
        <p:spPr bwMode="auto">
          <a:xfrm>
            <a:off x="1259632" y="3933056"/>
            <a:ext cx="6429420" cy="2286016"/>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648072"/>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Necessity of Organization</a:t>
            </a:r>
          </a:p>
        </p:txBody>
      </p:sp>
      <p:sp>
        <p:nvSpPr>
          <p:cNvPr id="3" name="Content Placeholder 2"/>
          <p:cNvSpPr>
            <a:spLocks noGrp="1"/>
          </p:cNvSpPr>
          <p:nvPr>
            <p:ph idx="1"/>
          </p:nvPr>
        </p:nvSpPr>
        <p:spPr>
          <a:xfrm>
            <a:off x="395536" y="1196752"/>
            <a:ext cx="8424936" cy="4929411"/>
          </a:xfrm>
        </p:spPr>
        <p:txBody>
          <a:bodyPr>
            <a:noAutofit/>
          </a:bodyPr>
          <a:lstStyle/>
          <a:p>
            <a:pPr marL="457200" indent="-457200">
              <a:lnSpc>
                <a:spcPct val="150000"/>
              </a:lnSpc>
              <a:buFont typeface="Wingdings" pitchFamily="2" charset="2"/>
              <a:buChar char="Ø"/>
            </a:pPr>
            <a:r>
              <a:rPr lang="en-US" sz="2000" dirty="0">
                <a:latin typeface="Times New Roman" pitchFamily="18" charset="0"/>
                <a:cs typeface="Times New Roman" pitchFamily="18" charset="0"/>
              </a:rPr>
              <a:t>Complexity of Industry</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Growing Competition</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Optimum utilization of resources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Fixation of authority and responsibility</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Reduced </a:t>
            </a:r>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problems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Co-ordination and directing efforts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Facilitates administration</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Stimulates creativity.</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44</a:t>
            </a:fld>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Essential Elements of good </a:t>
            </a:r>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Organization</a:t>
            </a:r>
          </a:p>
        </p:txBody>
      </p:sp>
      <p:sp>
        <p:nvSpPr>
          <p:cNvPr id="3" name="Content Placeholder 2"/>
          <p:cNvSpPr>
            <a:spLocks noGrp="1"/>
          </p:cNvSpPr>
          <p:nvPr>
            <p:ph idx="1"/>
          </p:nvPr>
        </p:nvSpPr>
        <p:spPr>
          <a:xfrm>
            <a:off x="395536" y="836712"/>
            <a:ext cx="8424936" cy="5289451"/>
          </a:xfrm>
        </p:spPr>
        <p:txBody>
          <a:bodyPr>
            <a:noAutofit/>
          </a:bodyPr>
          <a:lstStyle/>
          <a:p>
            <a:pPr marL="457200" indent="-457200">
              <a:lnSpc>
                <a:spcPct val="150000"/>
              </a:lnSpc>
              <a:buFont typeface="Wingdings" pitchFamily="2" charset="2"/>
              <a:buChar char="Ø"/>
            </a:pPr>
            <a:r>
              <a:rPr lang="en-US" sz="2000" dirty="0">
                <a:latin typeface="Times New Roman" pitchFamily="18" charset="0"/>
                <a:cs typeface="Times New Roman" pitchFamily="18" charset="0"/>
              </a:rPr>
              <a:t>It must be helpful in the achievement of objectives.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There must be harmonious grouping of activities.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The activities of the organization must be co-</a:t>
            </a:r>
            <a:r>
              <a:rPr lang="en-US" sz="2000" dirty="0" err="1">
                <a:latin typeface="Times New Roman" pitchFamily="18" charset="0"/>
                <a:cs typeface="Times New Roman" pitchFamily="18" charset="0"/>
              </a:rPr>
              <a:t>ordinated</a:t>
            </a:r>
            <a:r>
              <a:rPr lang="en-US" sz="2000" dirty="0">
                <a:latin typeface="Times New Roman" pitchFamily="18" charset="0"/>
                <a:cs typeface="Times New Roman" pitchFamily="18" charset="0"/>
              </a:rPr>
              <a:t> properly.</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An organization must be complete in all respects.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Proper division of work and </a:t>
            </a:r>
            <a:r>
              <a:rPr lang="en-US" sz="2000" dirty="0" err="1">
                <a:latin typeface="Times New Roman" pitchFamily="18" charset="0"/>
                <a:cs typeface="Times New Roman" pitchFamily="18" charset="0"/>
              </a:rPr>
              <a:t>labour</a:t>
            </a:r>
            <a:endParaRPr lang="en-US" sz="2000" dirty="0">
              <a:latin typeface="Times New Roman" pitchFamily="18" charset="0"/>
              <a:cs typeface="Times New Roman" pitchFamily="18" charset="0"/>
            </a:endParaRP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An organization should have an effective communication system.</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The Span of control should be reasonable.</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Provision of expansion</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Clear and well defined policies and procedures</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Employees satisfaction is essential</a:t>
            </a:r>
          </a:p>
          <a:p>
            <a:pPr marL="457200" indent="-457200">
              <a:lnSpc>
                <a:spcPct val="150000"/>
              </a:lnSpc>
              <a:buFont typeface="Wingdings" pitchFamily="2" charset="2"/>
              <a:buChar char="Ø"/>
            </a:pPr>
            <a:r>
              <a:rPr lang="en-US" sz="2000" dirty="0">
                <a:latin typeface="Times New Roman" pitchFamily="18" charset="0"/>
                <a:cs typeface="Times New Roman" pitchFamily="18" charset="0"/>
              </a:rPr>
              <a:t>Proper division of authority and responsibility.</a:t>
            </a:r>
          </a:p>
        </p:txBody>
      </p:sp>
      <p:sp>
        <p:nvSpPr>
          <p:cNvPr id="5" name="Slide Number Placeholder 4"/>
          <p:cNvSpPr>
            <a:spLocks noGrp="1"/>
          </p:cNvSpPr>
          <p:nvPr>
            <p:ph type="sldNum" sz="quarter" idx="12"/>
          </p:nvPr>
        </p:nvSpPr>
        <p:spPr/>
        <p:txBody>
          <a:bodyPr/>
          <a:lstStyle/>
          <a:p>
            <a:fld id="{9852A43B-CC61-4C08-A01B-A84C4E0E89A8}" type="slidenum">
              <a:rPr lang="en-IN" smtClean="0"/>
              <a:pPr/>
              <a:t>45</a:t>
            </a:fld>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864096"/>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of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980728"/>
            <a:ext cx="8424936" cy="5145435"/>
          </a:xfrm>
        </p:spPr>
        <p:txBody>
          <a:bodyPr>
            <a:noAutofit/>
          </a:bodyPr>
          <a:lstStyle/>
          <a:p>
            <a:pPr marL="457200" indent="-457200">
              <a:lnSpc>
                <a:spcPct val="150000"/>
              </a:lnSpc>
              <a:buFont typeface="+mj-lt"/>
              <a:buAutoNum type="arabicPeriod"/>
            </a:pPr>
            <a:r>
              <a:rPr lang="en-US" sz="2000" dirty="0">
                <a:latin typeface="Times New Roman" pitchFamily="18" charset="0"/>
                <a:cs typeface="Times New Roman" pitchFamily="18" charset="0"/>
              </a:rPr>
              <a:t>Organization is made up of a group of people</a:t>
            </a:r>
          </a:p>
          <a:p>
            <a:pPr marL="457200" indent="-457200">
              <a:lnSpc>
                <a:spcPct val="150000"/>
              </a:lnSpc>
              <a:buFont typeface="+mj-lt"/>
              <a:buAutoNum type="arabicPeriod"/>
            </a:pPr>
            <a:r>
              <a:rPr lang="en-US" sz="2000" dirty="0">
                <a:latin typeface="Times New Roman" pitchFamily="18" charset="0"/>
                <a:cs typeface="Times New Roman" pitchFamily="18" charset="0"/>
              </a:rPr>
              <a:t>The group works under an executive head</a:t>
            </a:r>
          </a:p>
          <a:p>
            <a:pPr marL="457200" indent="-457200">
              <a:lnSpc>
                <a:spcPct val="150000"/>
              </a:lnSpc>
              <a:buFont typeface="+mj-lt"/>
              <a:buAutoNum type="arabicPeriod"/>
            </a:pPr>
            <a:r>
              <a:rPr lang="en-US" sz="2000" dirty="0">
                <a:latin typeface="Times New Roman" pitchFamily="18" charset="0"/>
                <a:cs typeface="Times New Roman" pitchFamily="18" charset="0"/>
              </a:rPr>
              <a:t>Organization is a tool of management</a:t>
            </a:r>
          </a:p>
          <a:p>
            <a:pPr marL="457200" indent="-457200">
              <a:lnSpc>
                <a:spcPct val="150000"/>
              </a:lnSpc>
              <a:buFont typeface="+mj-lt"/>
              <a:buAutoNum type="arabicPeriod"/>
            </a:pPr>
            <a:r>
              <a:rPr lang="en-US" sz="2000" dirty="0">
                <a:latin typeface="Times New Roman" pitchFamily="18" charset="0"/>
                <a:cs typeface="Times New Roman" pitchFamily="18" charset="0"/>
              </a:rPr>
              <a:t>It leads to division of work and responsibilities</a:t>
            </a:r>
          </a:p>
          <a:p>
            <a:pPr marL="457200" indent="-457200">
              <a:lnSpc>
                <a:spcPct val="150000"/>
              </a:lnSpc>
              <a:buFont typeface="+mj-lt"/>
              <a:buAutoNum type="arabicPeriod"/>
            </a:pPr>
            <a:r>
              <a:rPr lang="en-US" sz="2000" dirty="0">
                <a:latin typeface="Times New Roman" pitchFamily="18" charset="0"/>
                <a:cs typeface="Times New Roman" pitchFamily="18" charset="0"/>
              </a:rPr>
              <a:t>It defines and fixes the duties and responsibilities of employees</a:t>
            </a:r>
          </a:p>
          <a:p>
            <a:pPr marL="457200" indent="-457200">
              <a:lnSpc>
                <a:spcPct val="150000"/>
              </a:lnSpc>
              <a:buFont typeface="+mj-lt"/>
              <a:buAutoNum type="arabicPeriod"/>
            </a:pPr>
            <a:r>
              <a:rPr lang="en-US" sz="2000" dirty="0">
                <a:latin typeface="Times New Roman" pitchFamily="18" charset="0"/>
                <a:cs typeface="Times New Roman" pitchFamily="18" charset="0"/>
              </a:rPr>
              <a:t>It establishes a relationship between authority and responsibility and controls the effort of the group</a:t>
            </a:r>
          </a:p>
          <a:p>
            <a:pPr marL="457200" indent="-457200">
              <a:lnSpc>
                <a:spcPct val="150000"/>
              </a:lnSpc>
              <a:buFont typeface="+mj-lt"/>
              <a:buAutoNum type="arabicPeriod"/>
            </a:pPr>
            <a:r>
              <a:rPr lang="en-US" sz="2000" dirty="0">
                <a:latin typeface="Times New Roman" pitchFamily="18" charset="0"/>
                <a:cs typeface="Times New Roman" pitchFamily="18" charset="0"/>
              </a:rPr>
              <a:t>Organization is a step towards achievement of established goals</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46</a:t>
            </a:fld>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1440160"/>
          </a:xfrm>
        </p:spPr>
        <p:txBody>
          <a:bodyPr>
            <a:noAutofit/>
          </a:bodyPr>
          <a:lstStyle/>
          <a:p>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Process of Organization</a:t>
            </a:r>
            <a:b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(Steps in </a:t>
            </a: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organizing</a:t>
            </a: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process)</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628800"/>
            <a:ext cx="8424936" cy="4497363"/>
          </a:xfrm>
        </p:spPr>
        <p:txBody>
          <a:bodyPr>
            <a:noAutofit/>
          </a:bodyPr>
          <a:lstStyle/>
          <a:p>
            <a:pPr marL="457200" indent="-457200">
              <a:lnSpc>
                <a:spcPct val="150000"/>
              </a:lnSpc>
              <a:buFont typeface="+mj-lt"/>
              <a:buAutoNum type="arabicPeriod"/>
            </a:pPr>
            <a:r>
              <a:rPr lang="en-US" sz="2000" dirty="0">
                <a:latin typeface="Times New Roman" pitchFamily="18" charset="0"/>
                <a:cs typeface="Times New Roman" pitchFamily="18" charset="0"/>
              </a:rPr>
              <a:t>Determination of objectives, strategies, plans and policies.</a:t>
            </a:r>
          </a:p>
          <a:p>
            <a:pPr marL="457200" indent="-457200">
              <a:lnSpc>
                <a:spcPct val="150000"/>
              </a:lnSpc>
              <a:buFont typeface="+mj-lt"/>
              <a:buAutoNum type="arabicPeriod"/>
            </a:pPr>
            <a:r>
              <a:rPr lang="en-US" sz="2000" dirty="0">
                <a:latin typeface="Times New Roman" pitchFamily="18" charset="0"/>
                <a:cs typeface="Times New Roman" pitchFamily="18" charset="0"/>
              </a:rPr>
              <a:t>Determination of activities</a:t>
            </a:r>
          </a:p>
          <a:p>
            <a:pPr marL="457200" indent="-457200">
              <a:lnSpc>
                <a:spcPct val="150000"/>
              </a:lnSpc>
              <a:buFont typeface="+mj-lt"/>
              <a:buAutoNum type="arabicPeriod"/>
            </a:pPr>
            <a:r>
              <a:rPr lang="en-US" sz="2000" dirty="0">
                <a:latin typeface="Times New Roman" pitchFamily="18" charset="0"/>
                <a:cs typeface="Times New Roman" pitchFamily="18" charset="0"/>
              </a:rPr>
              <a:t>Separation and grouping of activities</a:t>
            </a:r>
          </a:p>
          <a:p>
            <a:pPr marL="457200" indent="-457200">
              <a:lnSpc>
                <a:spcPct val="150000"/>
              </a:lnSpc>
              <a:buFont typeface="+mj-lt"/>
              <a:buAutoNum type="arabicPeriod"/>
            </a:pPr>
            <a:r>
              <a:rPr lang="en-US" sz="2000" dirty="0">
                <a:latin typeface="Times New Roman" pitchFamily="18" charset="0"/>
                <a:cs typeface="Times New Roman" pitchFamily="18" charset="0"/>
              </a:rPr>
              <a:t>Delegation of authority</a:t>
            </a:r>
          </a:p>
          <a:p>
            <a:pPr marL="457200" indent="-457200">
              <a:lnSpc>
                <a:spcPct val="150000"/>
              </a:lnSpc>
              <a:buFont typeface="+mj-lt"/>
              <a:buAutoNum type="arabicPeriod"/>
            </a:pPr>
            <a:r>
              <a:rPr lang="en-US" sz="2000" dirty="0">
                <a:latin typeface="Times New Roman" pitchFamily="18" charset="0"/>
                <a:cs typeface="Times New Roman" pitchFamily="18" charset="0"/>
              </a:rPr>
              <a:t>Delegation of responsibility</a:t>
            </a:r>
          </a:p>
          <a:p>
            <a:pPr marL="457200" indent="-457200">
              <a:lnSpc>
                <a:spcPct val="150000"/>
              </a:lnSpc>
              <a:buFont typeface="+mj-lt"/>
              <a:buAutoNum type="arabicPeriod"/>
            </a:pPr>
            <a:r>
              <a:rPr lang="en-US" sz="2000" dirty="0">
                <a:latin typeface="Times New Roman" pitchFamily="18" charset="0"/>
                <a:cs typeface="Times New Roman" pitchFamily="18" charset="0"/>
              </a:rPr>
              <a:t>To establish inter-relationships</a:t>
            </a:r>
          </a:p>
          <a:p>
            <a:pPr marL="457200" indent="-457200">
              <a:lnSpc>
                <a:spcPct val="150000"/>
              </a:lnSpc>
              <a:buFont typeface="+mj-lt"/>
              <a:buAutoNum type="arabicPeriod"/>
            </a:pPr>
            <a:r>
              <a:rPr lang="en-US" sz="2000" dirty="0">
                <a:latin typeface="Times New Roman" pitchFamily="18" charset="0"/>
                <a:cs typeface="Times New Roman" pitchFamily="18" charset="0"/>
              </a:rPr>
              <a:t>Providing physical facilities and proper environment</a:t>
            </a:r>
          </a:p>
          <a:p>
            <a:pPr marL="457200" indent="-457200">
              <a:lnSpc>
                <a:spcPct val="150000"/>
              </a:lnSpc>
              <a:buFont typeface="+mj-lt"/>
              <a:buAutoNum type="arabicPeriod"/>
            </a:pPr>
            <a:r>
              <a:rPr lang="en-US" sz="2000" dirty="0">
                <a:latin typeface="Times New Roman" pitchFamily="18" charset="0"/>
                <a:cs typeface="Times New Roman" pitchFamily="18" charset="0"/>
              </a:rPr>
              <a:t>Preparation of </a:t>
            </a:r>
            <a:r>
              <a:rPr lang="en-US" sz="2000" dirty="0" err="1">
                <a:latin typeface="Times New Roman" pitchFamily="18" charset="0"/>
                <a:cs typeface="Times New Roman" pitchFamily="18" charset="0"/>
              </a:rPr>
              <a:t>Organisation</a:t>
            </a:r>
            <a:r>
              <a:rPr lang="en-US" sz="2000" dirty="0">
                <a:latin typeface="Times New Roman" pitchFamily="18" charset="0"/>
                <a:cs typeface="Times New Roman" pitchFamily="18" charset="0"/>
              </a:rPr>
              <a:t> chart</a:t>
            </a:r>
            <a:endParaRPr lang="en-IN"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47</a:t>
            </a:fld>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792088"/>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Organization Chart</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48</a:t>
            </a:fld>
            <a:endParaRPr lang="en-IN" dirty="0"/>
          </a:p>
        </p:txBody>
      </p:sp>
      <p:pic>
        <p:nvPicPr>
          <p:cNvPr id="1027" name="Picture 3"/>
          <p:cNvPicPr>
            <a:picLocks noChangeAspect="1" noChangeArrowheads="1"/>
          </p:cNvPicPr>
          <p:nvPr/>
        </p:nvPicPr>
        <p:blipFill>
          <a:blip r:embed="rId2" cstate="print"/>
          <a:srcRect/>
          <a:stretch>
            <a:fillRect/>
          </a:stretch>
        </p:blipFill>
        <p:spPr bwMode="auto">
          <a:xfrm>
            <a:off x="1681163" y="1196752"/>
            <a:ext cx="6236454" cy="4161061"/>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328592"/>
          </a:xfrm>
        </p:spPr>
        <p:txBody>
          <a:bodyPr>
            <a:noAutofit/>
          </a:bodyPr>
          <a:lstStyle/>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Consideration of unity of objectives</a:t>
            </a:r>
            <a:r>
              <a:rPr lang="en-US" sz="2000" dirty="0">
                <a:latin typeface="Times New Roman" pitchFamily="18" charset="0"/>
                <a:cs typeface="Times New Roman" pitchFamily="18" charset="0"/>
              </a:rPr>
              <a:t>: the objectives must be clearly defined for the entire enterprise, for each dept. and even for each position in the organisation structure.</a:t>
            </a:r>
          </a:p>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Principle of specialization</a:t>
            </a:r>
            <a:r>
              <a:rPr lang="en-US" sz="2000" dirty="0">
                <a:latin typeface="Times New Roman" pitchFamily="18" charset="0"/>
                <a:cs typeface="Times New Roman" pitchFamily="18" charset="0"/>
              </a:rPr>
              <a:t>: Work should be distributed among the persons very carefully on the basis of their skill, experience and ability to do that work.</a:t>
            </a:r>
          </a:p>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Principle of authority</a:t>
            </a:r>
            <a:r>
              <a:rPr lang="en-US" sz="2000" dirty="0">
                <a:latin typeface="Times New Roman" pitchFamily="18" charset="0"/>
                <a:cs typeface="Times New Roman" pitchFamily="18" charset="0"/>
              </a:rPr>
              <a:t>: Line of authority should be clearly established in the structure of organisation in order to avoid overlapping actions, omission of acts etc.</a:t>
            </a:r>
          </a:p>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Principle of Co-ordination</a:t>
            </a:r>
            <a:r>
              <a:rPr lang="en-US" sz="2000" dirty="0">
                <a:latin typeface="Times New Roman" pitchFamily="18" charset="0"/>
                <a:cs typeface="Times New Roman" pitchFamily="18" charset="0"/>
              </a:rPr>
              <a:t>: Different depts. should have to co-ordinate with each other to achieve common goals.</a:t>
            </a:r>
          </a:p>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Principle of unity  of command</a:t>
            </a:r>
            <a:r>
              <a:rPr lang="en-US" sz="2000" dirty="0">
                <a:latin typeface="Times New Roman" pitchFamily="18" charset="0"/>
                <a:cs typeface="Times New Roman" pitchFamily="18" charset="0"/>
              </a:rPr>
              <a:t>: Each subordinate should have only one superior and dual subordination should be avoided.</a:t>
            </a:r>
          </a:p>
          <a:p>
            <a:pPr marL="514350" indent="-514350" algn="just">
              <a:spcBef>
                <a:spcPts val="0"/>
              </a:spcBef>
              <a:buClr>
                <a:schemeClr val="tx1"/>
              </a:buClr>
              <a:buFont typeface="+mj-lt"/>
              <a:buAutoNum type="arabicPeriod"/>
            </a:pPr>
            <a:r>
              <a:rPr lang="en-US" sz="2000" b="1" i="1" dirty="0">
                <a:solidFill>
                  <a:srgbClr val="FF0000"/>
                </a:solidFill>
                <a:latin typeface="Times New Roman" pitchFamily="18" charset="0"/>
                <a:cs typeface="Times New Roman" pitchFamily="18" charset="0"/>
              </a:rPr>
              <a:t>Principle of Span of control</a:t>
            </a:r>
            <a:r>
              <a:rPr lang="en-US" sz="2000" dirty="0">
                <a:latin typeface="Times New Roman" pitchFamily="18" charset="0"/>
                <a:cs typeface="Times New Roman" pitchFamily="18" charset="0"/>
              </a:rPr>
              <a:t>: The no. of persons who are directly responsible to the executive is called span of control. In an average firm SOC range is from 6 to 20.</a:t>
            </a:r>
            <a:endParaRPr lang="en-IN"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49</a:t>
            </a:fld>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Organization</a:t>
            </a:r>
            <a:endParaRPr lang="en-IN" sz="3200" dirty="0"/>
          </a:p>
        </p:txBody>
      </p:sp>
      <p:sp>
        <p:nvSpPr>
          <p:cNvPr id="3" name="Content Placeholder 2"/>
          <p:cNvSpPr>
            <a:spLocks noGrp="1"/>
          </p:cNvSpPr>
          <p:nvPr>
            <p:ph idx="1"/>
          </p:nvPr>
        </p:nvSpPr>
        <p:spPr>
          <a:xfrm>
            <a:off x="428596" y="908720"/>
            <a:ext cx="8229600" cy="5734990"/>
          </a:xfrm>
        </p:spPr>
        <p:txBody>
          <a:bodyPr>
            <a:noAutofit/>
          </a:bodyPr>
          <a:lstStyle/>
          <a:p>
            <a:pPr marL="514350" indent="-514350" algn="just">
              <a:buClr>
                <a:schemeClr val="tx1"/>
              </a:buClr>
              <a:buFont typeface="+mj-lt"/>
              <a:buAutoNum type="arabicPeriod" startAt="7"/>
            </a:pPr>
            <a:r>
              <a:rPr lang="en-US" sz="2000" b="1" i="1" dirty="0">
                <a:solidFill>
                  <a:srgbClr val="FF0000"/>
                </a:solidFill>
                <a:latin typeface="Times New Roman" pitchFamily="18" charset="0"/>
                <a:cs typeface="Times New Roman" pitchFamily="18" charset="0"/>
              </a:rPr>
              <a:t>Principle of exception</a:t>
            </a:r>
            <a:r>
              <a:rPr lang="en-US" sz="2000" dirty="0">
                <a:latin typeface="Times New Roman" pitchFamily="18" charset="0"/>
                <a:cs typeface="Times New Roman" pitchFamily="18" charset="0"/>
              </a:rPr>
              <a:t>: Only exceptionally complex matters should be referred to the executives for their decision and matters of routine nature should be decided by the sub-ordinate themselves.</a:t>
            </a:r>
          </a:p>
          <a:p>
            <a:pPr marL="514350" indent="-514350" algn="just">
              <a:buClr>
                <a:schemeClr val="tx1"/>
              </a:buClr>
              <a:buFont typeface="+mj-lt"/>
              <a:buAutoNum type="arabicPeriod" startAt="7"/>
            </a:pPr>
            <a:r>
              <a:rPr lang="en-US" sz="2000" b="1" i="1" dirty="0">
                <a:solidFill>
                  <a:srgbClr val="FF0000"/>
                </a:solidFill>
                <a:latin typeface="Times New Roman" pitchFamily="18" charset="0"/>
                <a:cs typeface="Times New Roman" pitchFamily="18" charset="0"/>
              </a:rPr>
              <a:t>Principle of flexibility</a:t>
            </a:r>
            <a:r>
              <a:rPr lang="en-US" sz="2000" dirty="0">
                <a:latin typeface="Times New Roman" pitchFamily="18" charset="0"/>
                <a:cs typeface="Times New Roman" pitchFamily="18" charset="0"/>
              </a:rPr>
              <a:t>: The organisational structure should be flexible enough to permit slight alterations and expansions whenever needed, due to changed circumstances.</a:t>
            </a:r>
          </a:p>
          <a:p>
            <a:pPr marL="514350" indent="-514350" algn="just">
              <a:buClr>
                <a:schemeClr val="tx1"/>
              </a:buClr>
              <a:buFont typeface="+mj-lt"/>
              <a:buAutoNum type="arabicPeriod" startAt="7"/>
            </a:pPr>
            <a:r>
              <a:rPr lang="en-US" sz="2000" b="1" i="1" dirty="0">
                <a:solidFill>
                  <a:srgbClr val="FF0000"/>
                </a:solidFill>
                <a:latin typeface="Times New Roman" pitchFamily="18" charset="0"/>
                <a:cs typeface="Times New Roman" pitchFamily="18" charset="0"/>
              </a:rPr>
              <a:t>Principle of simplicity</a:t>
            </a:r>
            <a:r>
              <a:rPr lang="en-US" sz="2000" dirty="0">
                <a:latin typeface="Times New Roman" pitchFamily="18" charset="0"/>
                <a:cs typeface="Times New Roman" pitchFamily="18" charset="0"/>
              </a:rPr>
              <a:t>: The organisational structure should be simple with minimum no. of levels</a:t>
            </a:r>
          </a:p>
          <a:p>
            <a:pPr marL="514350" indent="-514350" algn="just">
              <a:buClr>
                <a:schemeClr val="tx1"/>
              </a:buClr>
              <a:buFont typeface="+mj-lt"/>
              <a:buAutoNum type="arabicPeriod" startAt="7"/>
            </a:pPr>
            <a:r>
              <a:rPr lang="en-US" sz="2000" b="1" i="1" dirty="0">
                <a:solidFill>
                  <a:srgbClr val="FF0000"/>
                </a:solidFill>
                <a:latin typeface="Times New Roman" pitchFamily="18" charset="0"/>
                <a:cs typeface="Times New Roman" pitchFamily="18" charset="0"/>
              </a:rPr>
              <a:t>Principle of Responsibility</a:t>
            </a:r>
            <a:r>
              <a:rPr lang="en-US" sz="2000" dirty="0">
                <a:latin typeface="Times New Roman" pitchFamily="18" charset="0"/>
                <a:cs typeface="Times New Roman" pitchFamily="18" charset="0"/>
              </a:rPr>
              <a:t>: the superior should be held responsible for the acts of his subordinates to whom he has delegated authority.</a:t>
            </a:r>
          </a:p>
          <a:p>
            <a:pPr marL="514350" indent="-514350" algn="just">
              <a:buClr>
                <a:schemeClr val="tx1"/>
              </a:buClr>
              <a:buFont typeface="+mj-lt"/>
              <a:buAutoNum type="arabicPeriod" startAt="7"/>
            </a:pPr>
            <a:r>
              <a:rPr lang="en-US" sz="2000" b="1" i="1" dirty="0">
                <a:solidFill>
                  <a:srgbClr val="FF0000"/>
                </a:solidFill>
                <a:latin typeface="Times New Roman" pitchFamily="18" charset="0"/>
                <a:cs typeface="Times New Roman" pitchFamily="18" charset="0"/>
              </a:rPr>
              <a:t>Principle of balance</a:t>
            </a:r>
            <a:r>
              <a:rPr lang="en-US" sz="2000" dirty="0">
                <a:latin typeface="Times New Roman" pitchFamily="18" charset="0"/>
                <a:cs typeface="Times New Roman" pitchFamily="18" charset="0"/>
              </a:rPr>
              <a:t>: There should be balance between;</a:t>
            </a:r>
          </a:p>
          <a:p>
            <a:pPr marL="971550" lvl="1" indent="-514350" algn="just">
              <a:buClr>
                <a:schemeClr val="tx1"/>
              </a:buClr>
              <a:buNone/>
            </a:pPr>
            <a:r>
              <a:rPr lang="en-US" sz="2000" dirty="0">
                <a:latin typeface="Times New Roman" pitchFamily="18" charset="0"/>
                <a:cs typeface="Times New Roman" pitchFamily="18" charset="0"/>
              </a:rPr>
              <a:t>	- the activities</a:t>
            </a:r>
          </a:p>
          <a:p>
            <a:pPr marL="971550" lvl="1" indent="-514350" algn="just">
              <a:buClr>
                <a:schemeClr val="tx1"/>
              </a:buClr>
              <a:buNone/>
            </a:pPr>
            <a:r>
              <a:rPr lang="en-US" sz="2000" dirty="0">
                <a:latin typeface="Times New Roman" pitchFamily="18" charset="0"/>
                <a:cs typeface="Times New Roman" pitchFamily="18" charset="0"/>
              </a:rPr>
              <a:t>	- authority and responsibility</a:t>
            </a:r>
          </a:p>
          <a:p>
            <a:pPr marL="971550" lvl="1" indent="-514350" algn="just">
              <a:buClr>
                <a:schemeClr val="tx1"/>
              </a:buClr>
              <a:buNone/>
            </a:pPr>
            <a:r>
              <a:rPr lang="en-US" sz="2000" dirty="0">
                <a:latin typeface="Times New Roman" pitchFamily="18" charset="0"/>
                <a:cs typeface="Times New Roman" pitchFamily="18" charset="0"/>
              </a:rPr>
              <a:t>	- standardization of procedures and flexibility</a:t>
            </a:r>
          </a:p>
          <a:p>
            <a:pPr marL="971550" lvl="1" indent="-514350" algn="just">
              <a:buClr>
                <a:schemeClr val="tx1"/>
              </a:buClr>
              <a:buNone/>
            </a:pPr>
            <a:r>
              <a:rPr lang="en-US" sz="2000" dirty="0">
                <a:latin typeface="Times New Roman" pitchFamily="18" charset="0"/>
                <a:cs typeface="Times New Roman" pitchFamily="18" charset="0"/>
              </a:rPr>
              <a:t>	- centralization and decentralization</a:t>
            </a:r>
          </a:p>
          <a:p>
            <a:pPr marL="971550" lvl="1" indent="-514350" algn="just">
              <a:buClr>
                <a:schemeClr val="tx1"/>
              </a:buClr>
              <a:buFont typeface="+mj-lt"/>
              <a:buAutoNum type="arabicPeriod" startAt="7"/>
            </a:pPr>
            <a:endParaRPr lang="en-US" sz="2000" dirty="0">
              <a:latin typeface="Times New Roman" pitchFamily="18" charset="0"/>
              <a:cs typeface="Times New Roman" pitchFamily="18" charset="0"/>
            </a:endParaRPr>
          </a:p>
          <a:p>
            <a:pPr marL="971550" lvl="1" indent="-514350" algn="just">
              <a:buClr>
                <a:schemeClr val="tx1"/>
              </a:buClr>
              <a:buFont typeface="+mj-lt"/>
              <a:buAutoNum type="arabicPeriod" startAt="7"/>
            </a:pPr>
            <a:endParaRPr lang="en-IN"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50</a:t>
            </a:fld>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Organization</a:t>
            </a:r>
            <a:endParaRPr lang="en-IN" sz="3200" dirty="0"/>
          </a:p>
        </p:txBody>
      </p:sp>
      <p:sp>
        <p:nvSpPr>
          <p:cNvPr id="3" name="Content Placeholder 2"/>
          <p:cNvSpPr>
            <a:spLocks noGrp="1"/>
          </p:cNvSpPr>
          <p:nvPr>
            <p:ph idx="1"/>
          </p:nvPr>
        </p:nvSpPr>
        <p:spPr>
          <a:xfrm>
            <a:off x="457200" y="1124744"/>
            <a:ext cx="8229600" cy="5001419"/>
          </a:xfrm>
        </p:spPr>
        <p:txBody>
          <a:bodyPr>
            <a:normAutofit fontScale="92500" lnSpcReduction="20000"/>
          </a:bodyPr>
          <a:lstStyle/>
          <a:p>
            <a:pPr marL="514350" indent="-514350" algn="just">
              <a:lnSpc>
                <a:spcPct val="150000"/>
              </a:lnSpc>
              <a:buClr>
                <a:schemeClr val="tx1"/>
              </a:buClr>
              <a:buFont typeface="+mj-lt"/>
              <a:buAutoNum type="arabicPeriod" startAt="12"/>
            </a:pPr>
            <a:r>
              <a:rPr lang="en-US" sz="2000" b="1" i="1" dirty="0">
                <a:solidFill>
                  <a:srgbClr val="FF0000"/>
                </a:solidFill>
                <a:latin typeface="Times New Roman" pitchFamily="18" charset="0"/>
                <a:cs typeface="Times New Roman" pitchFamily="18" charset="0"/>
              </a:rPr>
              <a:t>Principle of continuity</a:t>
            </a:r>
            <a:r>
              <a:rPr lang="en-US" sz="2000" dirty="0">
                <a:latin typeface="Times New Roman" pitchFamily="18" charset="0"/>
                <a:cs typeface="Times New Roman" pitchFamily="18" charset="0"/>
              </a:rPr>
              <a:t>: The Organization structure should be in such a way that it enables to continue its useful existence for a longer period.</a:t>
            </a:r>
          </a:p>
          <a:p>
            <a:pPr marL="514350" indent="-514350" algn="just">
              <a:lnSpc>
                <a:spcPct val="150000"/>
              </a:lnSpc>
              <a:buClr>
                <a:schemeClr val="tx1"/>
              </a:buClr>
              <a:buFont typeface="+mj-lt"/>
              <a:buAutoNum type="arabicPeriod" startAt="12"/>
            </a:pPr>
            <a:r>
              <a:rPr lang="en-US" sz="2000" b="1" i="1" dirty="0">
                <a:solidFill>
                  <a:srgbClr val="FF0000"/>
                </a:solidFill>
                <a:latin typeface="Times New Roman" pitchFamily="18" charset="0"/>
                <a:cs typeface="Times New Roman" pitchFamily="18" charset="0"/>
              </a:rPr>
              <a:t>Scalar principle</a:t>
            </a:r>
            <a:r>
              <a:rPr lang="en-US" sz="2000" dirty="0">
                <a:latin typeface="Times New Roman" pitchFamily="18" charset="0"/>
                <a:cs typeface="Times New Roman" pitchFamily="18" charset="0"/>
              </a:rPr>
              <a:t>: The authority originating from the top should flow below without any interruption.</a:t>
            </a:r>
          </a:p>
          <a:p>
            <a:pPr marL="514350" indent="-514350" algn="just">
              <a:lnSpc>
                <a:spcPct val="150000"/>
              </a:lnSpc>
              <a:buClr>
                <a:schemeClr val="tx1"/>
              </a:buClr>
              <a:buFont typeface="+mj-lt"/>
              <a:buAutoNum type="arabicPeriod" startAt="12"/>
            </a:pPr>
            <a:r>
              <a:rPr lang="en-US" sz="2000" b="1" i="1" dirty="0">
                <a:solidFill>
                  <a:srgbClr val="FF0000"/>
                </a:solidFill>
                <a:latin typeface="Times New Roman" pitchFamily="18" charset="0"/>
                <a:cs typeface="Times New Roman" pitchFamily="18" charset="0"/>
              </a:rPr>
              <a:t>Principle of parity between authority and responsibility</a:t>
            </a:r>
            <a:r>
              <a:rPr lang="en-US" sz="2000" dirty="0">
                <a:latin typeface="Times New Roman" pitchFamily="18" charset="0"/>
                <a:cs typeface="Times New Roman" pitchFamily="18" charset="0"/>
              </a:rPr>
              <a:t>: Authority means ability of the superior to command and responsibility means the obligation of the subordinates to a superior to perform the assigned task. Both should go hand in hand.</a:t>
            </a:r>
          </a:p>
          <a:p>
            <a:pPr marL="514350" indent="-514350" algn="just">
              <a:lnSpc>
                <a:spcPct val="150000"/>
              </a:lnSpc>
              <a:buClr>
                <a:schemeClr val="tx1"/>
              </a:buClr>
              <a:buFont typeface="+mj-lt"/>
              <a:buAutoNum type="arabicPeriod" startAt="12"/>
            </a:pPr>
            <a:r>
              <a:rPr lang="en-US" sz="2000" b="1" i="1" dirty="0">
                <a:solidFill>
                  <a:srgbClr val="FF0000"/>
                </a:solidFill>
                <a:latin typeface="Times New Roman" pitchFamily="18" charset="0"/>
                <a:cs typeface="Times New Roman" pitchFamily="18" charset="0"/>
              </a:rPr>
              <a:t>Principle of efficiency</a:t>
            </a:r>
            <a:r>
              <a:rPr lang="en-US" sz="2000" dirty="0">
                <a:latin typeface="Times New Roman" pitchFamily="18" charset="0"/>
                <a:cs typeface="Times New Roman" pitchFamily="18" charset="0"/>
              </a:rPr>
              <a:t>: Enabling the enterprise to attain objectives with minimum cost and effort.</a:t>
            </a:r>
          </a:p>
          <a:p>
            <a:pPr marL="514350" indent="-514350" algn="just">
              <a:lnSpc>
                <a:spcPct val="150000"/>
              </a:lnSpc>
              <a:buClr>
                <a:schemeClr val="tx1"/>
              </a:buClr>
              <a:buFont typeface="+mj-lt"/>
              <a:buAutoNum type="arabicPeriod" startAt="12"/>
            </a:pPr>
            <a:r>
              <a:rPr lang="en-US" sz="2000" b="1" i="1" dirty="0">
                <a:solidFill>
                  <a:srgbClr val="FF0000"/>
                </a:solidFill>
                <a:latin typeface="Times New Roman" pitchFamily="18" charset="0"/>
                <a:cs typeface="Times New Roman" pitchFamily="18" charset="0"/>
              </a:rPr>
              <a:t>Principle of Communication</a:t>
            </a:r>
            <a:r>
              <a:rPr lang="en-US" sz="2000" dirty="0">
                <a:latin typeface="Times New Roman" pitchFamily="18" charset="0"/>
                <a:cs typeface="Times New Roman" pitchFamily="18" charset="0"/>
              </a:rPr>
              <a:t>: A good communication system is essential for smooth flow of information.</a:t>
            </a:r>
            <a:endParaRPr lang="en-IN"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51</a:t>
            </a:fld>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 of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001419"/>
          </a:xfrm>
        </p:spPr>
        <p:txBody>
          <a:bodyPr>
            <a:normAutofit/>
          </a:bodyPr>
          <a:lstStyle/>
          <a:p>
            <a:pPr algn="just">
              <a:buFont typeface="Wingdings" pitchFamily="2" charset="2"/>
              <a:buChar char="Ø"/>
            </a:pPr>
            <a:r>
              <a:rPr lang="en-US" sz="2200" dirty="0">
                <a:solidFill>
                  <a:srgbClr val="7030A0"/>
                </a:solidFill>
                <a:latin typeface="Times New Roman" pitchFamily="18" charset="0"/>
                <a:cs typeface="Times New Roman" pitchFamily="18" charset="0"/>
              </a:rPr>
              <a:t>Formal Organization</a:t>
            </a:r>
          </a:p>
          <a:p>
            <a:pPr lvl="1" algn="just"/>
            <a:r>
              <a:rPr lang="en-US" sz="2200" dirty="0">
                <a:latin typeface="Times New Roman" pitchFamily="18" charset="0"/>
                <a:cs typeface="Times New Roman" pitchFamily="18" charset="0"/>
              </a:rPr>
              <a:t>FO are those which have a system of well defined positions, authority, responsibility, rules, policies, principles etc. </a:t>
            </a:r>
          </a:p>
          <a:p>
            <a:pPr lvl="1" algn="just"/>
            <a:r>
              <a:rPr lang="en-US" sz="2200" dirty="0">
                <a:latin typeface="Times New Roman" pitchFamily="18" charset="0"/>
                <a:cs typeface="Times New Roman" pitchFamily="18" charset="0"/>
              </a:rPr>
              <a:t>They are co-</a:t>
            </a:r>
            <a:r>
              <a:rPr lang="en-US" sz="2200" dirty="0" err="1">
                <a:latin typeface="Times New Roman" pitchFamily="18" charset="0"/>
                <a:cs typeface="Times New Roman" pitchFamily="18" charset="0"/>
              </a:rPr>
              <a:t>ordinated</a:t>
            </a:r>
            <a:r>
              <a:rPr lang="en-US" sz="2200" dirty="0">
                <a:latin typeface="Times New Roman" pitchFamily="18" charset="0"/>
                <a:cs typeface="Times New Roman" pitchFamily="18" charset="0"/>
              </a:rPr>
              <a:t> towards a common objectives.</a:t>
            </a:r>
          </a:p>
          <a:p>
            <a:pPr algn="just"/>
            <a:endParaRPr lang="en-US" sz="2200" dirty="0">
              <a:latin typeface="Times New Roman" pitchFamily="18" charset="0"/>
              <a:cs typeface="Times New Roman" pitchFamily="18" charset="0"/>
            </a:endParaRPr>
          </a:p>
          <a:p>
            <a:pPr algn="just">
              <a:buFont typeface="Wingdings" pitchFamily="2" charset="2"/>
              <a:buChar char="Ø"/>
            </a:pPr>
            <a:r>
              <a:rPr lang="en-US" sz="2200" dirty="0">
                <a:solidFill>
                  <a:srgbClr val="7030A0"/>
                </a:solidFill>
                <a:latin typeface="Times New Roman" pitchFamily="18" charset="0"/>
                <a:cs typeface="Times New Roman" pitchFamily="18" charset="0"/>
              </a:rPr>
              <a:t>Informal Organization</a:t>
            </a:r>
          </a:p>
          <a:p>
            <a:pPr lvl="1" algn="just"/>
            <a:r>
              <a:rPr lang="en-US" sz="2200" dirty="0">
                <a:latin typeface="Times New Roman" pitchFamily="18" charset="0"/>
                <a:cs typeface="Times New Roman" pitchFamily="18" charset="0"/>
              </a:rPr>
              <a:t>Arises  from the personal and social relations of the people which may or may not be work related.</a:t>
            </a:r>
          </a:p>
          <a:p>
            <a:pPr lvl="1" algn="just"/>
            <a:r>
              <a:rPr lang="en-US" sz="2200" dirty="0">
                <a:latin typeface="Times New Roman" pitchFamily="18" charset="0"/>
                <a:cs typeface="Times New Roman" pitchFamily="18" charset="0"/>
              </a:rPr>
              <a:t>Arising spontaneously as people associate with one another.</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52</a:t>
            </a:fld>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 of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53</a:t>
            </a:fld>
            <a:endParaRPr lang="en-IN" dirty="0"/>
          </a:p>
        </p:txBody>
      </p:sp>
      <p:pic>
        <p:nvPicPr>
          <p:cNvPr id="8194" name="Picture 2"/>
          <p:cNvPicPr>
            <a:picLocks noChangeAspect="1" noChangeArrowheads="1"/>
          </p:cNvPicPr>
          <p:nvPr/>
        </p:nvPicPr>
        <p:blipFill>
          <a:blip r:embed="rId2" cstate="print"/>
          <a:srcRect/>
          <a:stretch>
            <a:fillRect/>
          </a:stretch>
        </p:blipFill>
        <p:spPr bwMode="auto">
          <a:xfrm>
            <a:off x="9525" y="947886"/>
            <a:ext cx="9134475" cy="550545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Organization Structure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001419"/>
          </a:xfrm>
        </p:spPr>
        <p:txBody>
          <a:bodyPr>
            <a:normAutofit/>
          </a:bodyPr>
          <a:lstStyle/>
          <a:p>
            <a:pPr algn="just">
              <a:buFont typeface="Wingdings" pitchFamily="2" charset="2"/>
              <a:buChar char="ü"/>
            </a:pPr>
            <a:r>
              <a:rPr lang="en-US" sz="2200" dirty="0">
                <a:latin typeface="Times New Roman" pitchFamily="18" charset="0"/>
                <a:cs typeface="Times New Roman" pitchFamily="18" charset="0"/>
              </a:rPr>
              <a:t>OS means the systematic arrangement of people working for the organization and their relationship between positions.</a:t>
            </a:r>
          </a:p>
          <a:p>
            <a:pPr algn="just">
              <a:buFont typeface="Wingdings" pitchFamily="2" charset="2"/>
              <a:buChar char="ü"/>
            </a:pPr>
            <a:r>
              <a:rPr lang="en-US" sz="2200" dirty="0">
                <a:latin typeface="Times New Roman" pitchFamily="18" charset="0"/>
                <a:cs typeface="Times New Roman" pitchFamily="18" charset="0"/>
              </a:rPr>
              <a:t>It defines the functions to be performed, objectives to be established, the availability of resources, working relationship of the individual participants etc. </a:t>
            </a:r>
          </a:p>
          <a:p>
            <a:pPr algn="just">
              <a:buFont typeface="Wingdings" pitchFamily="2" charset="2"/>
              <a:buChar char="ü"/>
            </a:pPr>
            <a:endParaRPr lang="en-US" sz="2200" dirty="0">
              <a:latin typeface="Times New Roman" pitchFamily="18" charset="0"/>
              <a:cs typeface="Times New Roman" pitchFamily="18" charset="0"/>
            </a:endParaRPr>
          </a:p>
          <a:p>
            <a:pPr>
              <a:buFont typeface="Wingdings" pitchFamily="2" charset="2"/>
              <a:buChar char="ü"/>
            </a:pPr>
            <a:r>
              <a:rPr lang="en-US" sz="2200" b="1" dirty="0">
                <a:solidFill>
                  <a:srgbClr val="7030A0"/>
                </a:solidFill>
                <a:latin typeface="Times New Roman" pitchFamily="18" charset="0"/>
                <a:cs typeface="Times New Roman" pitchFamily="18" charset="0"/>
              </a:rPr>
              <a:t>Factors</a:t>
            </a:r>
          </a:p>
          <a:p>
            <a:pPr>
              <a:buFont typeface="Wingdings" pitchFamily="2" charset="2"/>
              <a:buChar char="ü"/>
            </a:pPr>
            <a:endParaRPr lang="en-US" sz="2200" b="1" dirty="0">
              <a:latin typeface="Times New Roman" pitchFamily="18" charset="0"/>
              <a:cs typeface="Times New Roman" pitchFamily="18" charset="0"/>
            </a:endParaRPr>
          </a:p>
          <a:p>
            <a:pPr lvl="1">
              <a:buFont typeface="Wingdings" pitchFamily="2" charset="2"/>
              <a:buChar char="v"/>
            </a:pPr>
            <a:r>
              <a:rPr lang="en-US" sz="2200" dirty="0">
                <a:latin typeface="Times New Roman" pitchFamily="18" charset="0"/>
                <a:cs typeface="Times New Roman" pitchFamily="18" charset="0"/>
              </a:rPr>
              <a:t> 	Size of Org.</a:t>
            </a:r>
          </a:p>
          <a:p>
            <a:pPr lvl="1">
              <a:buFont typeface="Wingdings" pitchFamily="2" charset="2"/>
              <a:buChar char="v"/>
            </a:pPr>
            <a:r>
              <a:rPr lang="en-US" sz="2200" dirty="0">
                <a:latin typeface="Times New Roman" pitchFamily="18" charset="0"/>
                <a:cs typeface="Times New Roman" pitchFamily="18" charset="0"/>
              </a:rPr>
              <a:t> 	Nature of the product being manufactured.</a:t>
            </a:r>
          </a:p>
          <a:p>
            <a:pPr lvl="1">
              <a:buFont typeface="Wingdings" pitchFamily="2" charset="2"/>
              <a:buChar char="v"/>
            </a:pPr>
            <a:r>
              <a:rPr lang="en-US" sz="2200" dirty="0">
                <a:latin typeface="Times New Roman" pitchFamily="18" charset="0"/>
                <a:cs typeface="Times New Roman" pitchFamily="18" charset="0"/>
              </a:rPr>
              <a:t> 	Complexity of problem being faced.</a:t>
            </a:r>
          </a:p>
        </p:txBody>
      </p:sp>
      <p:sp>
        <p:nvSpPr>
          <p:cNvPr id="4" name="Slide Number Placeholder 3"/>
          <p:cNvSpPr>
            <a:spLocks noGrp="1"/>
          </p:cNvSpPr>
          <p:nvPr>
            <p:ph type="sldNum" sz="quarter" idx="12"/>
          </p:nvPr>
        </p:nvSpPr>
        <p:spPr/>
        <p:txBody>
          <a:bodyPr/>
          <a:lstStyle/>
          <a:p>
            <a:fld id="{9852A43B-CC61-4C08-A01B-A84C4E0E89A8}" type="slidenum">
              <a:rPr lang="en-IN" smtClean="0"/>
              <a:pPr/>
              <a:t>54</a:t>
            </a:fld>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 of Organization Structure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001419"/>
          </a:xfrm>
        </p:spPr>
        <p:txBody>
          <a:bodyPr>
            <a:normAutofit/>
          </a:bodyPr>
          <a:lstStyle/>
          <a:p>
            <a:pPr algn="just">
              <a:lnSpc>
                <a:spcPct val="150000"/>
              </a:lnSpc>
              <a:buFont typeface="Wingdings" pitchFamily="2" charset="2"/>
              <a:buChar char="q"/>
            </a:pPr>
            <a:r>
              <a:rPr lang="en-US" sz="2200" dirty="0">
                <a:latin typeface="Times New Roman" pitchFamily="18" charset="0"/>
                <a:cs typeface="Times New Roman" pitchFamily="18" charset="0"/>
              </a:rPr>
              <a:t>A few commonly known forms of organization structures or types of organization are:</a:t>
            </a:r>
          </a:p>
          <a:p>
            <a:pPr lvl="4" algn="just">
              <a:lnSpc>
                <a:spcPct val="150000"/>
              </a:lnSpc>
              <a:buNone/>
            </a:pPr>
            <a:r>
              <a:rPr lang="en-US" sz="2200" dirty="0">
                <a:latin typeface="Times New Roman" pitchFamily="18" charset="0"/>
                <a:cs typeface="Times New Roman" pitchFamily="18" charset="0"/>
              </a:rPr>
              <a:t>1) Line organization</a:t>
            </a:r>
          </a:p>
          <a:p>
            <a:pPr lvl="4" algn="just">
              <a:lnSpc>
                <a:spcPct val="150000"/>
              </a:lnSpc>
              <a:buNone/>
            </a:pPr>
            <a:r>
              <a:rPr lang="en-US" sz="2200" dirty="0">
                <a:latin typeface="Times New Roman" pitchFamily="18" charset="0"/>
                <a:cs typeface="Times New Roman" pitchFamily="18" charset="0"/>
              </a:rPr>
              <a:t>2) Line and staff organization</a:t>
            </a:r>
          </a:p>
          <a:p>
            <a:pPr lvl="4" algn="just">
              <a:lnSpc>
                <a:spcPct val="150000"/>
              </a:lnSpc>
              <a:buNone/>
            </a:pPr>
            <a:r>
              <a:rPr lang="en-US" sz="2200" dirty="0">
                <a:latin typeface="Times New Roman" pitchFamily="18" charset="0"/>
                <a:cs typeface="Times New Roman" pitchFamily="18" charset="0"/>
              </a:rPr>
              <a:t>3) Functional Organization</a:t>
            </a:r>
          </a:p>
          <a:p>
            <a:pPr lvl="4" algn="just">
              <a:lnSpc>
                <a:spcPct val="150000"/>
              </a:lnSpc>
              <a:buNone/>
            </a:pPr>
            <a:r>
              <a:rPr lang="en-US" sz="2200" dirty="0">
                <a:latin typeface="Times New Roman" pitchFamily="18" charset="0"/>
                <a:cs typeface="Times New Roman" pitchFamily="18" charset="0"/>
              </a:rPr>
              <a:t>4) Project Organization, and</a:t>
            </a:r>
          </a:p>
          <a:p>
            <a:pPr lvl="4" algn="just">
              <a:lnSpc>
                <a:spcPct val="150000"/>
              </a:lnSpc>
              <a:buNone/>
            </a:pPr>
            <a:r>
              <a:rPr lang="en-US" sz="2200" dirty="0">
                <a:latin typeface="Times New Roman" pitchFamily="18" charset="0"/>
                <a:cs typeface="Times New Roman" pitchFamily="18" charset="0"/>
              </a:rPr>
              <a:t>5) Matrix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55</a:t>
            </a:fld>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544616"/>
          </a:xfrm>
        </p:spPr>
        <p:txBody>
          <a:bodyPr>
            <a:noAutofit/>
          </a:bodyPr>
          <a:lstStyle/>
          <a:p>
            <a:pPr lvl="1" algn="just">
              <a:lnSpc>
                <a:spcPct val="150000"/>
              </a:lnSpc>
              <a:buFont typeface="Wingdings" pitchFamily="2" charset="2"/>
              <a:buChar char="Ø"/>
            </a:pPr>
            <a:r>
              <a:rPr lang="en-US" sz="2000" dirty="0">
                <a:latin typeface="Times New Roman" pitchFamily="18" charset="0"/>
                <a:cs typeface="Times New Roman" pitchFamily="18" charset="0"/>
              </a:rPr>
              <a:t>Based on similarities of activities, different  departments are created.</a:t>
            </a:r>
          </a:p>
          <a:p>
            <a:pPr lvl="1" algn="just">
              <a:lnSpc>
                <a:spcPct val="150000"/>
              </a:lnSpc>
              <a:buFont typeface="Wingdings" pitchFamily="2" charset="2"/>
              <a:buChar char="Ø"/>
            </a:pPr>
            <a:r>
              <a:rPr lang="en-US" sz="2000" dirty="0">
                <a:latin typeface="Times New Roman" pitchFamily="18" charset="0"/>
                <a:cs typeface="Times New Roman" pitchFamily="18" charset="0"/>
              </a:rPr>
              <a:t>Each department is placed under one department head &amp; he/she has the full authority all over them.</a:t>
            </a:r>
          </a:p>
          <a:p>
            <a:pPr lvl="1" algn="just">
              <a:lnSpc>
                <a:spcPct val="150000"/>
              </a:lnSpc>
              <a:buFont typeface="Wingdings" pitchFamily="2" charset="2"/>
              <a:buChar char="Ø"/>
            </a:pPr>
            <a:r>
              <a:rPr lang="en-US" sz="2000" dirty="0">
                <a:latin typeface="Times New Roman" pitchFamily="18" charset="0"/>
                <a:cs typeface="Times New Roman" pitchFamily="18" charset="0"/>
              </a:rPr>
              <a:t>Authority flows from top to bottom in a vertical line.</a:t>
            </a:r>
          </a:p>
          <a:p>
            <a:pPr lvl="1" algn="just">
              <a:lnSpc>
                <a:spcPct val="150000"/>
              </a:lnSpc>
              <a:buFont typeface="Wingdings" pitchFamily="2" charset="2"/>
              <a:buChar char="Ø"/>
            </a:pPr>
            <a:r>
              <a:rPr lang="en-US" sz="2000" dirty="0">
                <a:latin typeface="Times New Roman" pitchFamily="18" charset="0"/>
                <a:cs typeface="Times New Roman" pitchFamily="18" charset="0"/>
              </a:rPr>
              <a:t>Unity of command is maintained.</a:t>
            </a:r>
          </a:p>
          <a:p>
            <a:pPr lvl="1" algn="just">
              <a:lnSpc>
                <a:spcPct val="150000"/>
              </a:lnSpc>
              <a:buFont typeface="Wingdings" pitchFamily="2" charset="2"/>
              <a:buChar char="Ø"/>
            </a:pPr>
            <a:r>
              <a:rPr lang="en-US" sz="2000" dirty="0">
                <a:latin typeface="Times New Roman" pitchFamily="18" charset="0"/>
                <a:cs typeface="Times New Roman" pitchFamily="18" charset="0"/>
              </a:rPr>
              <a:t>Superior will be responsible for the performance of sub-ordinate to his commanding officer.</a:t>
            </a:r>
          </a:p>
          <a:p>
            <a:pPr lvl="1" algn="just">
              <a:lnSpc>
                <a:spcPct val="150000"/>
              </a:lnSpc>
              <a:buFont typeface="Wingdings" pitchFamily="2" charset="2"/>
              <a:buChar char="Ø"/>
            </a:pPr>
            <a:r>
              <a:rPr lang="en-US" sz="2000" dirty="0">
                <a:latin typeface="Times New Roman" pitchFamily="18" charset="0"/>
                <a:cs typeface="Times New Roman" pitchFamily="18" charset="0"/>
              </a:rPr>
              <a:t>Line Organization is also called military or scalar organization. </a:t>
            </a:r>
          </a:p>
          <a:p>
            <a:pPr lvl="1" algn="just">
              <a:lnSpc>
                <a:spcPct val="150000"/>
              </a:lnSpc>
              <a:buFont typeface="Wingdings" pitchFamily="2" charset="2"/>
              <a:buChar char="Ø"/>
            </a:pPr>
            <a:r>
              <a:rPr lang="en-US" sz="2000" dirty="0">
                <a:latin typeface="Times New Roman" pitchFamily="18" charset="0"/>
                <a:cs typeface="Times New Roman" pitchFamily="18" charset="0"/>
              </a:rPr>
              <a:t>Line organization is suitable for small concerns and for automatic and continuous process industries such as </a:t>
            </a:r>
            <a:r>
              <a:rPr lang="fr-FR" sz="2000" dirty="0" err="1">
                <a:latin typeface="Times New Roman" pitchFamily="18" charset="0"/>
                <a:cs typeface="Times New Roman" pitchFamily="18" charset="0"/>
              </a:rPr>
              <a:t>paper</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sugar</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cement</a:t>
            </a:r>
            <a:r>
              <a:rPr lang="fr-FR" sz="2000" dirty="0">
                <a:latin typeface="Times New Roman" pitchFamily="18" charset="0"/>
                <a:cs typeface="Times New Roman" pitchFamily="18" charset="0"/>
              </a:rPr>
              <a:t>, textile, etc.</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56</a:t>
            </a:fld>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57</a:t>
            </a:fld>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975905" y="1096354"/>
            <a:ext cx="3192190" cy="5442559"/>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Organization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58</a:t>
            </a:fld>
            <a:endParaRPr lang="en-IN" dirty="0"/>
          </a:p>
        </p:txBody>
      </p:sp>
      <p:pic>
        <p:nvPicPr>
          <p:cNvPr id="1028" name="Picture 4" descr="F:\SOE\POM 2020\Line Structure.jpg"/>
          <p:cNvPicPr>
            <a:picLocks noChangeAspect="1" noChangeArrowheads="1"/>
          </p:cNvPicPr>
          <p:nvPr/>
        </p:nvPicPr>
        <p:blipFill>
          <a:blip r:embed="rId2" cstate="print"/>
          <a:srcRect/>
          <a:stretch>
            <a:fillRect/>
          </a:stretch>
        </p:blipFill>
        <p:spPr bwMode="auto">
          <a:xfrm>
            <a:off x="1259632" y="1340768"/>
            <a:ext cx="6762750" cy="4943475"/>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Line structure</a:t>
            </a:r>
          </a:p>
        </p:txBody>
      </p:sp>
      <p:sp>
        <p:nvSpPr>
          <p:cNvPr id="3" name="Content Placeholder 2"/>
          <p:cNvSpPr>
            <a:spLocks noGrp="1"/>
          </p:cNvSpPr>
          <p:nvPr>
            <p:ph idx="1"/>
          </p:nvPr>
        </p:nvSpPr>
        <p:spPr>
          <a:xfrm>
            <a:off x="457200" y="1484784"/>
            <a:ext cx="8229600" cy="5184576"/>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Simplicity and clarity</a:t>
            </a:r>
          </a:p>
          <a:p>
            <a:pPr lvl="1" algn="just">
              <a:lnSpc>
                <a:spcPct val="150000"/>
              </a:lnSpc>
              <a:buFont typeface="Wingdings" pitchFamily="2" charset="2"/>
              <a:buChar char="Ø"/>
            </a:pPr>
            <a:r>
              <a:rPr lang="en-US" sz="2200" dirty="0">
                <a:latin typeface="Times New Roman" pitchFamily="18" charset="0"/>
                <a:cs typeface="Times New Roman" pitchFamily="18" charset="0"/>
              </a:rPr>
              <a:t>Clear cut authority and responsibility</a:t>
            </a:r>
          </a:p>
          <a:p>
            <a:pPr lvl="1" algn="just">
              <a:lnSpc>
                <a:spcPct val="150000"/>
              </a:lnSpc>
              <a:buFont typeface="Wingdings" pitchFamily="2" charset="2"/>
              <a:buChar char="Ø"/>
            </a:pPr>
            <a:r>
              <a:rPr lang="en-US" sz="2200" dirty="0">
                <a:latin typeface="Times New Roman" pitchFamily="18" charset="0"/>
                <a:cs typeface="Times New Roman" pitchFamily="18" charset="0"/>
              </a:rPr>
              <a:t>Strong discipline</a:t>
            </a:r>
          </a:p>
          <a:p>
            <a:pPr lvl="1" algn="just">
              <a:lnSpc>
                <a:spcPct val="150000"/>
              </a:lnSpc>
              <a:buFont typeface="Wingdings" pitchFamily="2" charset="2"/>
              <a:buChar char="Ø"/>
            </a:pPr>
            <a:r>
              <a:rPr lang="en-US" sz="2200" dirty="0">
                <a:latin typeface="Times New Roman" pitchFamily="18" charset="0"/>
                <a:cs typeface="Times New Roman" pitchFamily="18" charset="0"/>
              </a:rPr>
              <a:t>Capable of developing all round executives at higher levels of authority</a:t>
            </a:r>
          </a:p>
        </p:txBody>
      </p:sp>
      <p:sp>
        <p:nvSpPr>
          <p:cNvPr id="4" name="Slide Number Placeholder 3"/>
          <p:cNvSpPr>
            <a:spLocks noGrp="1"/>
          </p:cNvSpPr>
          <p:nvPr>
            <p:ph type="sldNum" sz="quarter" idx="12"/>
          </p:nvPr>
        </p:nvSpPr>
        <p:spPr/>
        <p:txBody>
          <a:bodyPr/>
          <a:lstStyle/>
          <a:p>
            <a:fld id="{9852A43B-CC61-4C08-A01B-A84C4E0E89A8}" type="slidenum">
              <a:rPr lang="en-IN" smtClean="0"/>
              <a:pPr/>
              <a:t>59</a:t>
            </a:fld>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Line structure</a:t>
            </a:r>
          </a:p>
        </p:txBody>
      </p:sp>
      <p:sp>
        <p:nvSpPr>
          <p:cNvPr id="3" name="Content Placeholder 2"/>
          <p:cNvSpPr>
            <a:spLocks noGrp="1"/>
          </p:cNvSpPr>
          <p:nvPr>
            <p:ph idx="1"/>
          </p:nvPr>
        </p:nvSpPr>
        <p:spPr>
          <a:xfrm>
            <a:off x="457200" y="1124744"/>
            <a:ext cx="8229600" cy="5544616"/>
          </a:xfrm>
        </p:spPr>
        <p:txBody>
          <a:bodyPr>
            <a:noAutofit/>
          </a:bodyPr>
          <a:lstStyle/>
          <a:p>
            <a:pPr lvl="1" algn="just">
              <a:lnSpc>
                <a:spcPct val="150000"/>
              </a:lnSpc>
              <a:buNone/>
            </a:pPr>
            <a:endParaRPr lang="en-US" sz="2200" dirty="0">
              <a:latin typeface="Times New Roman" pitchFamily="18" charset="0"/>
              <a:cs typeface="Times New Roman" pitchFamily="18" charset="0"/>
            </a:endParaRPr>
          </a:p>
          <a:p>
            <a:pPr lvl="1" algn="just">
              <a:lnSpc>
                <a:spcPct val="150000"/>
              </a:lnSpc>
              <a:buFont typeface="Wingdings" pitchFamily="2" charset="2"/>
              <a:buChar char="Ø"/>
            </a:pPr>
            <a:r>
              <a:rPr lang="en-US" sz="2200" dirty="0">
                <a:latin typeface="Times New Roman" pitchFamily="18" charset="0"/>
                <a:cs typeface="Times New Roman" pitchFamily="18" charset="0"/>
              </a:rPr>
              <a:t> Neglects specialists</a:t>
            </a:r>
          </a:p>
          <a:p>
            <a:pPr lvl="1" algn="just">
              <a:lnSpc>
                <a:spcPct val="150000"/>
              </a:lnSpc>
              <a:buFont typeface="Wingdings" pitchFamily="2" charset="2"/>
              <a:buChar char="Ø"/>
            </a:pPr>
            <a:r>
              <a:rPr lang="en-US" sz="2200" dirty="0">
                <a:latin typeface="Times New Roman" pitchFamily="18" charset="0"/>
                <a:cs typeface="Times New Roman" pitchFamily="18" charset="0"/>
              </a:rPr>
              <a:t>Lack of specialization may lead to wastage of materials as well as man and machine hours</a:t>
            </a:r>
          </a:p>
          <a:p>
            <a:pPr lvl="1" algn="just">
              <a:lnSpc>
                <a:spcPct val="150000"/>
              </a:lnSpc>
              <a:buFont typeface="Wingdings" pitchFamily="2" charset="2"/>
              <a:buChar char="Ø"/>
            </a:pPr>
            <a:r>
              <a:rPr lang="en-US" sz="2200" dirty="0">
                <a:latin typeface="Times New Roman" pitchFamily="18" charset="0"/>
                <a:cs typeface="Times New Roman" pitchFamily="18" charset="0"/>
              </a:rPr>
              <a:t>Overloads a few important executives</a:t>
            </a:r>
          </a:p>
          <a:p>
            <a:pPr lvl="1" algn="just">
              <a:lnSpc>
                <a:spcPct val="150000"/>
              </a:lnSpc>
              <a:buFont typeface="Wingdings" pitchFamily="2" charset="2"/>
              <a:buChar char="Ø"/>
            </a:pPr>
            <a:r>
              <a:rPr lang="en-US" sz="2200" dirty="0">
                <a:latin typeface="Times New Roman" pitchFamily="18" charset="0"/>
                <a:cs typeface="Times New Roman" pitchFamily="18" charset="0"/>
              </a:rPr>
              <a:t>Encourages dictatorial way of working</a:t>
            </a:r>
          </a:p>
          <a:p>
            <a:pPr lvl="1" algn="just">
              <a:lnSpc>
                <a:spcPct val="150000"/>
              </a:lnSpc>
              <a:buFont typeface="Wingdings" pitchFamily="2" charset="2"/>
              <a:buChar char="Ø"/>
            </a:pPr>
            <a:r>
              <a:rPr lang="en-US" sz="2200" dirty="0">
                <a:latin typeface="Times New Roman" pitchFamily="18" charset="0"/>
                <a:cs typeface="Times New Roman" pitchFamily="18" charset="0"/>
              </a:rPr>
              <a:t>Limited to very small concerns</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60</a:t>
            </a:fld>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and staff organization</a:t>
            </a:r>
          </a:p>
        </p:txBody>
      </p:sp>
      <p:sp>
        <p:nvSpPr>
          <p:cNvPr id="3" name="Content Placeholder 2"/>
          <p:cNvSpPr>
            <a:spLocks noGrp="1"/>
          </p:cNvSpPr>
          <p:nvPr>
            <p:ph idx="1"/>
          </p:nvPr>
        </p:nvSpPr>
        <p:spPr>
          <a:xfrm>
            <a:off x="457200" y="1628800"/>
            <a:ext cx="8229600" cy="5040560"/>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In a big organization manager will have to do a variety of functions and he may not be expertise in all areas.</a:t>
            </a:r>
          </a:p>
          <a:p>
            <a:pPr lvl="1" algn="just">
              <a:lnSpc>
                <a:spcPct val="150000"/>
              </a:lnSpc>
              <a:buFont typeface="Wingdings" pitchFamily="2" charset="2"/>
              <a:buChar char="Ø"/>
            </a:pPr>
            <a:r>
              <a:rPr lang="en-US" sz="2200" dirty="0">
                <a:latin typeface="Times New Roman" pitchFamily="18" charset="0"/>
                <a:cs typeface="Times New Roman" pitchFamily="18" charset="0"/>
              </a:rPr>
              <a:t>Special executives will be employed to assist line executives and they were known as staff, whom to perform specialized function.</a:t>
            </a:r>
          </a:p>
          <a:p>
            <a:pPr lvl="1" algn="just">
              <a:lnSpc>
                <a:spcPct val="150000"/>
              </a:lnSpc>
              <a:buFont typeface="Wingdings" pitchFamily="2" charset="2"/>
              <a:buChar char="Ø"/>
            </a:pPr>
            <a:r>
              <a:rPr lang="en-US" sz="2200" dirty="0">
                <a:latin typeface="Times New Roman" pitchFamily="18" charset="0"/>
                <a:cs typeface="Times New Roman" pitchFamily="18" charset="0"/>
              </a:rPr>
              <a:t>Supervisory authority will be given for line executives and the staff executives gives advices and expert opinion, have no direct authority.  </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61</a:t>
            </a:fld>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and staff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62</a:t>
            </a:fld>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2529394" y="1196752"/>
            <a:ext cx="4085212" cy="5200997"/>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Line and staff organization</a:t>
            </a:r>
          </a:p>
        </p:txBody>
      </p:sp>
      <p:sp>
        <p:nvSpPr>
          <p:cNvPr id="3" name="Content Placeholder 2"/>
          <p:cNvSpPr>
            <a:spLocks noGrp="1"/>
          </p:cNvSpPr>
          <p:nvPr>
            <p:ph idx="1"/>
          </p:nvPr>
        </p:nvSpPr>
        <p:spPr>
          <a:xfrm>
            <a:off x="457200" y="1484784"/>
            <a:ext cx="8229600" cy="5184576"/>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Specialization benefits of staff can be profitably utilized to have standard operations.</a:t>
            </a:r>
          </a:p>
          <a:p>
            <a:pPr lvl="1" algn="just">
              <a:lnSpc>
                <a:spcPct val="150000"/>
              </a:lnSpc>
              <a:buFont typeface="Wingdings" pitchFamily="2" charset="2"/>
              <a:buChar char="Ø"/>
            </a:pPr>
            <a:r>
              <a:rPr lang="en-US" sz="2200" dirty="0">
                <a:latin typeface="Times New Roman" pitchFamily="18" charset="0"/>
                <a:cs typeface="Times New Roman" pitchFamily="18" charset="0"/>
              </a:rPr>
              <a:t>Line executives are relieved of some of their workloads and are thus able to concentrate on other important matters.</a:t>
            </a:r>
          </a:p>
          <a:p>
            <a:pPr lvl="1" algn="just">
              <a:lnSpc>
                <a:spcPct val="150000"/>
              </a:lnSpc>
              <a:buFont typeface="Wingdings" pitchFamily="2" charset="2"/>
              <a:buChar char="Ø"/>
            </a:pPr>
            <a:r>
              <a:rPr lang="en-US" sz="2200" dirty="0">
                <a:latin typeface="Times New Roman" pitchFamily="18" charset="0"/>
                <a:cs typeface="Times New Roman" pitchFamily="18" charset="0"/>
              </a:rPr>
              <a:t>Less wastage of material and </a:t>
            </a:r>
            <a:r>
              <a:rPr lang="en-US" sz="2200" dirty="0" err="1">
                <a:latin typeface="Times New Roman" pitchFamily="18" charset="0"/>
                <a:cs typeface="Times New Roman" pitchFamily="18" charset="0"/>
              </a:rPr>
              <a:t>labour</a:t>
            </a:r>
            <a:endParaRPr lang="en-US" sz="2200" dirty="0">
              <a:latin typeface="Times New Roman" pitchFamily="18" charset="0"/>
              <a:cs typeface="Times New Roman" pitchFamily="18" charset="0"/>
            </a:endParaRPr>
          </a:p>
          <a:p>
            <a:pPr lvl="1" algn="just">
              <a:lnSpc>
                <a:spcPct val="150000"/>
              </a:lnSpc>
              <a:buFont typeface="Wingdings" pitchFamily="2" charset="2"/>
              <a:buChar char="Ø"/>
            </a:pPr>
            <a:r>
              <a:rPr lang="en-US" sz="2200" dirty="0">
                <a:latin typeface="Times New Roman" pitchFamily="18" charset="0"/>
                <a:cs typeface="Times New Roman" pitchFamily="18" charset="0"/>
              </a:rPr>
              <a:t>Improved product quality</a:t>
            </a:r>
          </a:p>
          <a:p>
            <a:pPr lvl="1" algn="just">
              <a:lnSpc>
                <a:spcPct val="150000"/>
              </a:lnSpc>
              <a:buFont typeface="Wingdings" pitchFamily="2" charset="2"/>
              <a:buChar char="Ø"/>
            </a:pPr>
            <a:r>
              <a:rPr lang="en-US" sz="2200" dirty="0">
                <a:latin typeface="Times New Roman" pitchFamily="18" charset="0"/>
                <a:cs typeface="Times New Roman" pitchFamily="18" charset="0"/>
              </a:rPr>
              <a:t>Relatively flexible</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63</a:t>
            </a:fld>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Line and staff organization</a:t>
            </a:r>
          </a:p>
        </p:txBody>
      </p:sp>
      <p:sp>
        <p:nvSpPr>
          <p:cNvPr id="3" name="Content Placeholder 2"/>
          <p:cNvSpPr>
            <a:spLocks noGrp="1"/>
          </p:cNvSpPr>
          <p:nvPr>
            <p:ph idx="1"/>
          </p:nvPr>
        </p:nvSpPr>
        <p:spPr>
          <a:xfrm>
            <a:off x="457200" y="1340768"/>
            <a:ext cx="8229600" cy="5328592"/>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 Staff – line conflict</a:t>
            </a:r>
          </a:p>
          <a:p>
            <a:pPr lvl="1" algn="just">
              <a:lnSpc>
                <a:spcPct val="150000"/>
              </a:lnSpc>
              <a:buFont typeface="Wingdings" pitchFamily="2" charset="2"/>
              <a:buChar char="Ø"/>
            </a:pPr>
            <a:r>
              <a:rPr lang="en-US" sz="2200" dirty="0">
                <a:latin typeface="Times New Roman" pitchFamily="18" charset="0"/>
                <a:cs typeface="Times New Roman" pitchFamily="18" charset="0"/>
              </a:rPr>
              <a:t>Paper work may be increased very much</a:t>
            </a:r>
          </a:p>
          <a:p>
            <a:pPr lvl="1" algn="just">
              <a:lnSpc>
                <a:spcPct val="150000"/>
              </a:lnSpc>
              <a:buFont typeface="Wingdings" pitchFamily="2" charset="2"/>
              <a:buChar char="Ø"/>
            </a:pPr>
            <a:r>
              <a:rPr lang="en-US" sz="2200" dirty="0">
                <a:latin typeface="Times New Roman" pitchFamily="18" charset="0"/>
                <a:cs typeface="Times New Roman" pitchFamily="18" charset="0"/>
              </a:rPr>
              <a:t>Staff men may dominate over the lower the lower-level line managers</a:t>
            </a:r>
          </a:p>
          <a:p>
            <a:pPr lvl="1" algn="just">
              <a:lnSpc>
                <a:spcPct val="150000"/>
              </a:lnSpc>
              <a:buFont typeface="Wingdings" pitchFamily="2" charset="2"/>
              <a:buChar char="Ø"/>
            </a:pPr>
            <a:r>
              <a:rPr lang="en-US" sz="2200" dirty="0">
                <a:latin typeface="Times New Roman" pitchFamily="18" charset="0"/>
                <a:cs typeface="Times New Roman" pitchFamily="18" charset="0"/>
              </a:rPr>
              <a:t>Increased product cost because of high salaries of staff executives</a:t>
            </a:r>
          </a:p>
          <a:p>
            <a:pPr lvl="1" algn="just">
              <a:lnSpc>
                <a:spcPct val="150000"/>
              </a:lnSpc>
              <a:buFont typeface="Wingdings" pitchFamily="2" charset="2"/>
              <a:buChar char="Ø"/>
            </a:pPr>
            <a:r>
              <a:rPr lang="en-US" sz="2200" dirty="0">
                <a:latin typeface="Times New Roman" pitchFamily="18" charset="0"/>
                <a:cs typeface="Times New Roman" pitchFamily="18" charset="0"/>
              </a:rPr>
              <a:t>Too much staff activity may complicate a line executive’s job of leadership and control</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64</a:t>
            </a:fld>
            <a:endParaRPr lang="en-I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Line and staff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65</a:t>
            </a:fld>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1403647" y="885834"/>
            <a:ext cx="6392639" cy="5476865"/>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Functional organization</a:t>
            </a:r>
          </a:p>
        </p:txBody>
      </p:sp>
      <p:sp>
        <p:nvSpPr>
          <p:cNvPr id="3" name="Content Placeholder 2"/>
          <p:cNvSpPr>
            <a:spLocks noGrp="1"/>
          </p:cNvSpPr>
          <p:nvPr>
            <p:ph idx="1"/>
          </p:nvPr>
        </p:nvSpPr>
        <p:spPr>
          <a:xfrm>
            <a:off x="457200" y="1196752"/>
            <a:ext cx="8229600" cy="5472608"/>
          </a:xfrm>
        </p:spPr>
        <p:txBody>
          <a:bodyPr>
            <a:noAutofit/>
          </a:bodyPr>
          <a:lstStyle/>
          <a:p>
            <a:pPr lvl="1" algn="just">
              <a:lnSpc>
                <a:spcPct val="150000"/>
              </a:lnSpc>
              <a:buFont typeface="Wingdings" pitchFamily="2" charset="2"/>
              <a:buChar char="Ø"/>
            </a:pPr>
            <a:r>
              <a:rPr lang="en-US" sz="2000" dirty="0">
                <a:latin typeface="Times New Roman" pitchFamily="18" charset="0"/>
                <a:cs typeface="Times New Roman" pitchFamily="18" charset="0"/>
              </a:rPr>
              <a:t>Modified form of line organization</a:t>
            </a:r>
          </a:p>
          <a:p>
            <a:pPr lvl="1" algn="just">
              <a:lnSpc>
                <a:spcPct val="150000"/>
              </a:lnSpc>
              <a:buFont typeface="Wingdings" pitchFamily="2" charset="2"/>
              <a:buChar char="Ø"/>
            </a:pPr>
            <a:r>
              <a:rPr lang="en-US" sz="2000" dirty="0">
                <a:latin typeface="Times New Roman" pitchFamily="18" charset="0"/>
                <a:cs typeface="Times New Roman" pitchFamily="18" charset="0"/>
              </a:rPr>
              <a:t>Authority rests with functional heads</a:t>
            </a:r>
          </a:p>
          <a:p>
            <a:pPr lvl="1" algn="just">
              <a:lnSpc>
                <a:spcPct val="150000"/>
              </a:lnSpc>
              <a:buFont typeface="Wingdings" pitchFamily="2" charset="2"/>
              <a:buChar char="Ø"/>
            </a:pPr>
            <a:r>
              <a:rPr lang="en-US" sz="2000" dirty="0">
                <a:latin typeface="Times New Roman" pitchFamily="18" charset="0"/>
                <a:cs typeface="Times New Roman" pitchFamily="18" charset="0"/>
              </a:rPr>
              <a:t>Staffs are grouped and located by specialty into functional departments: each headed by a functional manager. Each member of staff has one clear boss.</a:t>
            </a:r>
          </a:p>
          <a:p>
            <a:pPr lvl="1" algn="just">
              <a:lnSpc>
                <a:spcPct val="150000"/>
              </a:lnSpc>
              <a:buFont typeface="Wingdings" pitchFamily="2" charset="2"/>
              <a:buChar char="Ø"/>
            </a:pPr>
            <a:r>
              <a:rPr lang="en-US" sz="2000" dirty="0">
                <a:latin typeface="Times New Roman" pitchFamily="18" charset="0"/>
                <a:cs typeface="Times New Roman" pitchFamily="18" charset="0"/>
              </a:rPr>
              <a:t>Functional manager are specialists in their respective areas and is based on high degree of specialization.</a:t>
            </a:r>
          </a:p>
          <a:p>
            <a:pPr lvl="1" algn="just">
              <a:lnSpc>
                <a:spcPct val="150000"/>
              </a:lnSpc>
              <a:buFont typeface="Wingdings" pitchFamily="2" charset="2"/>
              <a:buChar char="Ø"/>
            </a:pPr>
            <a:r>
              <a:rPr lang="en-US" sz="2000" dirty="0">
                <a:latin typeface="Times New Roman" pitchFamily="18" charset="0"/>
                <a:cs typeface="Times New Roman" pitchFamily="18" charset="0"/>
              </a:rPr>
              <a:t>This specialization leads to greater efficiency and refinement of particular expertise. </a:t>
            </a:r>
          </a:p>
          <a:p>
            <a:pPr lvl="1" algn="just">
              <a:lnSpc>
                <a:spcPct val="150000"/>
              </a:lnSpc>
              <a:buFont typeface="Wingdings" pitchFamily="2" charset="2"/>
              <a:buChar char="Ø"/>
            </a:pPr>
            <a:r>
              <a:rPr lang="en-US" sz="2000" dirty="0">
                <a:latin typeface="Times New Roman" pitchFamily="18" charset="0"/>
                <a:cs typeface="Times New Roman" pitchFamily="18" charset="0"/>
              </a:rPr>
              <a:t>The functional structure helps to focus on those departments that are critical for the success of the enterprise.</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66</a:t>
            </a:fld>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Functional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67</a:t>
            </a:fld>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423863" y="1876425"/>
            <a:ext cx="8296275" cy="310515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Functional organization</a:t>
            </a:r>
          </a:p>
        </p:txBody>
      </p:sp>
      <p:sp>
        <p:nvSpPr>
          <p:cNvPr id="3" name="Content Placeholder 2"/>
          <p:cNvSpPr>
            <a:spLocks noGrp="1"/>
          </p:cNvSpPr>
          <p:nvPr>
            <p:ph idx="1"/>
          </p:nvPr>
        </p:nvSpPr>
        <p:spPr>
          <a:xfrm>
            <a:off x="457200" y="1484784"/>
            <a:ext cx="8229600" cy="5184576"/>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Efficient use of resources</a:t>
            </a:r>
          </a:p>
          <a:p>
            <a:pPr lvl="1" algn="just">
              <a:lnSpc>
                <a:spcPct val="150000"/>
              </a:lnSpc>
              <a:buFont typeface="Wingdings" pitchFamily="2" charset="2"/>
              <a:buChar char="Ø"/>
            </a:pPr>
            <a:r>
              <a:rPr lang="en-US" sz="2200" dirty="0">
                <a:latin typeface="Times New Roman" pitchFamily="18" charset="0"/>
                <a:cs typeface="Times New Roman" pitchFamily="18" charset="0"/>
              </a:rPr>
              <a:t>Simplifies training</a:t>
            </a:r>
          </a:p>
          <a:p>
            <a:pPr lvl="1" algn="just">
              <a:lnSpc>
                <a:spcPct val="150000"/>
              </a:lnSpc>
              <a:buFont typeface="Wingdings" pitchFamily="2" charset="2"/>
              <a:buChar char="Ø"/>
            </a:pPr>
            <a:r>
              <a:rPr lang="en-US" sz="2200" dirty="0">
                <a:latin typeface="Times New Roman" pitchFamily="18" charset="0"/>
                <a:cs typeface="Times New Roman" pitchFamily="18" charset="0"/>
              </a:rPr>
              <a:t>Promotes professional development</a:t>
            </a:r>
          </a:p>
          <a:p>
            <a:pPr lvl="1" algn="just">
              <a:lnSpc>
                <a:spcPct val="150000"/>
              </a:lnSpc>
              <a:buFont typeface="Wingdings" pitchFamily="2" charset="2"/>
              <a:buChar char="Ø"/>
            </a:pPr>
            <a:r>
              <a:rPr lang="en-US" sz="2200" dirty="0">
                <a:latin typeface="Times New Roman" pitchFamily="18" charset="0"/>
                <a:cs typeface="Times New Roman" pitchFamily="18" charset="0"/>
              </a:rPr>
              <a:t>Centralized control of strategic decisions</a:t>
            </a:r>
          </a:p>
          <a:p>
            <a:pPr lvl="1" algn="just">
              <a:lnSpc>
                <a:spcPct val="150000"/>
              </a:lnSpc>
              <a:buFont typeface="Wingdings" pitchFamily="2" charset="2"/>
              <a:buChar char="Ø"/>
            </a:pPr>
            <a:r>
              <a:rPr lang="en-US" sz="2200" dirty="0">
                <a:latin typeface="Times New Roman" pitchFamily="18" charset="0"/>
                <a:cs typeface="Times New Roman" pitchFamily="18" charset="0"/>
              </a:rPr>
              <a:t>Improved quality of work</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68</a:t>
            </a:fld>
            <a:endParaRPr lang="en-I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Functional organization</a:t>
            </a:r>
          </a:p>
        </p:txBody>
      </p:sp>
      <p:sp>
        <p:nvSpPr>
          <p:cNvPr id="3" name="Content Placeholder 2"/>
          <p:cNvSpPr>
            <a:spLocks noGrp="1"/>
          </p:cNvSpPr>
          <p:nvPr>
            <p:ph idx="1"/>
          </p:nvPr>
        </p:nvSpPr>
        <p:spPr>
          <a:xfrm>
            <a:off x="457200" y="1340768"/>
            <a:ext cx="8229600" cy="4392488"/>
          </a:xfrm>
        </p:spPr>
        <p:txBody>
          <a:bodyPr>
            <a:noAutofit/>
          </a:bodyPr>
          <a:lstStyle/>
          <a:p>
            <a:pPr lvl="1" algn="just">
              <a:lnSpc>
                <a:spcPct val="150000"/>
              </a:lnSpc>
              <a:buNone/>
            </a:pPr>
            <a:endParaRPr lang="en-US" sz="2200" dirty="0">
              <a:latin typeface="Times New Roman" pitchFamily="18" charset="0"/>
              <a:cs typeface="Times New Roman" pitchFamily="18" charset="0"/>
            </a:endParaRPr>
          </a:p>
          <a:p>
            <a:pPr lvl="1" algn="just">
              <a:lnSpc>
                <a:spcPct val="150000"/>
              </a:lnSpc>
              <a:buFont typeface="Wingdings" pitchFamily="2" charset="2"/>
              <a:buChar char="Ø"/>
            </a:pPr>
            <a:r>
              <a:rPr lang="en-US" sz="2200" dirty="0">
                <a:latin typeface="Times New Roman" pitchFamily="18" charset="0"/>
                <a:cs typeface="Times New Roman" pitchFamily="18" charset="0"/>
              </a:rPr>
              <a:t>Limits development of general managers or all-round executives</a:t>
            </a:r>
          </a:p>
          <a:p>
            <a:pPr lvl="1" algn="just">
              <a:lnSpc>
                <a:spcPct val="150000"/>
              </a:lnSpc>
              <a:buFont typeface="Wingdings" pitchFamily="2" charset="2"/>
              <a:buChar char="Ø"/>
            </a:pPr>
            <a:r>
              <a:rPr lang="en-US" sz="2200" dirty="0">
                <a:latin typeface="Times New Roman" pitchFamily="18" charset="0"/>
                <a:cs typeface="Times New Roman" pitchFamily="18" charset="0"/>
              </a:rPr>
              <a:t>Restricted view of company objectives</a:t>
            </a:r>
          </a:p>
          <a:p>
            <a:pPr lvl="1" algn="just">
              <a:lnSpc>
                <a:spcPct val="150000"/>
              </a:lnSpc>
              <a:buFont typeface="Wingdings" pitchFamily="2" charset="2"/>
              <a:buChar char="Ø"/>
            </a:pPr>
            <a:r>
              <a:rPr lang="en-US" sz="2200" dirty="0">
                <a:latin typeface="Times New Roman" pitchFamily="18" charset="0"/>
                <a:cs typeface="Times New Roman" pitchFamily="18" charset="0"/>
              </a:rPr>
              <a:t>Difficulty in multifunctional decision making</a:t>
            </a:r>
          </a:p>
          <a:p>
            <a:pPr lvl="1" algn="just">
              <a:lnSpc>
                <a:spcPct val="150000"/>
              </a:lnSpc>
              <a:buFont typeface="Wingdings" pitchFamily="2" charset="2"/>
              <a:buChar char="Ø"/>
            </a:pPr>
            <a:r>
              <a:rPr lang="en-US" sz="2200" dirty="0">
                <a:latin typeface="Times New Roman" pitchFamily="18" charset="0"/>
                <a:cs typeface="Times New Roman" pitchFamily="18" charset="0"/>
              </a:rPr>
              <a:t>Promotes narrow specialization</a:t>
            </a:r>
          </a:p>
          <a:p>
            <a:pPr lvl="1" algn="just">
              <a:lnSpc>
                <a:spcPct val="150000"/>
              </a:lnSpc>
              <a:buFont typeface="Wingdings" pitchFamily="2" charset="2"/>
              <a:buChar char="Ø"/>
            </a:pPr>
            <a:r>
              <a:rPr lang="en-US" sz="2200" dirty="0">
                <a:latin typeface="Times New Roman" pitchFamily="18" charset="0"/>
                <a:cs typeface="Times New Roman" pitchFamily="18" charset="0"/>
              </a:rPr>
              <a:t>Makes industrial relationships more complex</a:t>
            </a:r>
          </a:p>
        </p:txBody>
      </p:sp>
      <p:sp>
        <p:nvSpPr>
          <p:cNvPr id="4" name="Slide Number Placeholder 3"/>
          <p:cNvSpPr>
            <a:spLocks noGrp="1"/>
          </p:cNvSpPr>
          <p:nvPr>
            <p:ph type="sldNum" sz="quarter" idx="12"/>
          </p:nvPr>
        </p:nvSpPr>
        <p:spPr/>
        <p:txBody>
          <a:bodyPr/>
          <a:lstStyle/>
          <a:p>
            <a:fld id="{9852A43B-CC61-4C08-A01B-A84C4E0E89A8}" type="slidenum">
              <a:rPr lang="en-IN" smtClean="0"/>
              <a:pPr/>
              <a:t>69</a:t>
            </a:fld>
            <a:endParaRPr lang="en-I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Project Organization</a:t>
            </a:r>
          </a:p>
        </p:txBody>
      </p:sp>
      <p:sp>
        <p:nvSpPr>
          <p:cNvPr id="3" name="Content Placeholder 2"/>
          <p:cNvSpPr>
            <a:spLocks noGrp="1"/>
          </p:cNvSpPr>
          <p:nvPr>
            <p:ph idx="1"/>
          </p:nvPr>
        </p:nvSpPr>
        <p:spPr>
          <a:xfrm>
            <a:off x="457200" y="1196752"/>
            <a:ext cx="8229600" cy="5472608"/>
          </a:xfrm>
        </p:spPr>
        <p:txBody>
          <a:bodyPr>
            <a:noAutofit/>
          </a:bodyPr>
          <a:lstStyle/>
          <a:p>
            <a:pPr lvl="1" algn="just">
              <a:lnSpc>
                <a:spcPct val="150000"/>
              </a:lnSpc>
              <a:buFont typeface="Wingdings" pitchFamily="2" charset="2"/>
              <a:buChar char="Ø"/>
            </a:pPr>
            <a:r>
              <a:rPr lang="en-US" sz="2000" dirty="0">
                <a:latin typeface="Times New Roman" pitchFamily="18" charset="0"/>
                <a:cs typeface="Times New Roman" pitchFamily="18" charset="0"/>
              </a:rPr>
              <a:t>Firms dealing with multiple products or different projects usually adopt project organization.</a:t>
            </a:r>
          </a:p>
          <a:p>
            <a:pPr lvl="1" algn="just">
              <a:lnSpc>
                <a:spcPct val="150000"/>
              </a:lnSpc>
              <a:buFont typeface="Wingdings" pitchFamily="2" charset="2"/>
              <a:buChar char="Ø"/>
            </a:pPr>
            <a:r>
              <a:rPr lang="en-US" sz="2000" dirty="0">
                <a:latin typeface="Times New Roman" pitchFamily="18" charset="0"/>
                <a:cs typeface="Times New Roman" pitchFamily="18" charset="0"/>
              </a:rPr>
              <a:t>It consist of an autonomous project team, existing independently of the rest of organization.</a:t>
            </a:r>
          </a:p>
          <a:p>
            <a:pPr lvl="1" algn="just">
              <a:lnSpc>
                <a:spcPct val="150000"/>
              </a:lnSpc>
              <a:buFont typeface="Wingdings" pitchFamily="2" charset="2"/>
              <a:buChar char="Ø"/>
            </a:pPr>
            <a:r>
              <a:rPr lang="en-US" sz="2000" dirty="0">
                <a:latin typeface="Times New Roman" pitchFamily="18" charset="0"/>
                <a:cs typeface="Times New Roman" pitchFamily="18" charset="0"/>
              </a:rPr>
              <a:t>The emphasis in project organization is on creation of teams for the accomplishment of specific objectives.</a:t>
            </a:r>
          </a:p>
          <a:p>
            <a:pPr lvl="1" algn="just">
              <a:lnSpc>
                <a:spcPct val="150000"/>
              </a:lnSpc>
              <a:buFont typeface="Wingdings" pitchFamily="2" charset="2"/>
              <a:buChar char="Ø"/>
            </a:pPr>
            <a:r>
              <a:rPr lang="en-US" sz="2000" dirty="0">
                <a:latin typeface="Times New Roman" pitchFamily="18" charset="0"/>
                <a:cs typeface="Times New Roman" pitchFamily="18" charset="0"/>
              </a:rPr>
              <a:t>The project team is assembled for a specific project under the action of project manager.</a:t>
            </a:r>
          </a:p>
          <a:p>
            <a:pPr lvl="1" algn="just">
              <a:lnSpc>
                <a:spcPct val="150000"/>
              </a:lnSpc>
              <a:buFont typeface="Wingdings" pitchFamily="2" charset="2"/>
              <a:buChar char="Ø"/>
            </a:pPr>
            <a:r>
              <a:rPr lang="en-US" sz="2000" dirty="0">
                <a:latin typeface="Times New Roman" pitchFamily="18" charset="0"/>
                <a:cs typeface="Times New Roman" pitchFamily="18" charset="0"/>
              </a:rPr>
              <a:t>The team is thus temporary and will be dispersed when the project is completed.</a:t>
            </a:r>
          </a:p>
          <a:p>
            <a:pPr lvl="1" algn="just">
              <a:lnSpc>
                <a:spcPct val="150000"/>
              </a:lnSpc>
              <a:buFont typeface="Wingdings" pitchFamily="2" charset="2"/>
              <a:buChar char="Ø"/>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852A43B-CC61-4C08-A01B-A84C4E0E89A8}" type="slidenum">
              <a:rPr lang="en-IN" smtClean="0"/>
              <a:pPr/>
              <a:t>70</a:t>
            </a:fld>
            <a:endParaRPr lang="en-I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Project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71</a:t>
            </a:fld>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199958" y="1122040"/>
            <a:ext cx="8744084" cy="4971256"/>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Project Organization</a:t>
            </a:r>
          </a:p>
        </p:txBody>
      </p:sp>
      <p:sp>
        <p:nvSpPr>
          <p:cNvPr id="3" name="Content Placeholder 2"/>
          <p:cNvSpPr>
            <a:spLocks noGrp="1"/>
          </p:cNvSpPr>
          <p:nvPr>
            <p:ph idx="1"/>
          </p:nvPr>
        </p:nvSpPr>
        <p:spPr>
          <a:xfrm>
            <a:off x="457200" y="1484784"/>
            <a:ext cx="8229600" cy="5184576"/>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Flexibility</a:t>
            </a:r>
          </a:p>
          <a:p>
            <a:pPr lvl="1" algn="just">
              <a:lnSpc>
                <a:spcPct val="150000"/>
              </a:lnSpc>
              <a:buFont typeface="Wingdings" pitchFamily="2" charset="2"/>
              <a:buChar char="Ø"/>
            </a:pPr>
            <a:r>
              <a:rPr lang="en-US" sz="2200" dirty="0">
                <a:latin typeface="Times New Roman" pitchFamily="18" charset="0"/>
                <a:cs typeface="Times New Roman" pitchFamily="18" charset="0"/>
              </a:rPr>
              <a:t>Responsive to changing environment</a:t>
            </a:r>
          </a:p>
          <a:p>
            <a:pPr lvl="1" algn="just">
              <a:lnSpc>
                <a:spcPct val="150000"/>
              </a:lnSpc>
              <a:buFont typeface="Wingdings" pitchFamily="2" charset="2"/>
              <a:buChar char="Ø"/>
            </a:pPr>
            <a:r>
              <a:rPr lang="en-US" sz="2200" dirty="0">
                <a:latin typeface="Times New Roman" pitchFamily="18" charset="0"/>
                <a:cs typeface="Times New Roman" pitchFamily="18" charset="0"/>
              </a:rPr>
              <a:t>Encourages team work</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72</a:t>
            </a:fld>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Project Organization</a:t>
            </a:r>
          </a:p>
        </p:txBody>
      </p:sp>
      <p:sp>
        <p:nvSpPr>
          <p:cNvPr id="3" name="Content Placeholder 2"/>
          <p:cNvSpPr>
            <a:spLocks noGrp="1"/>
          </p:cNvSpPr>
          <p:nvPr>
            <p:ph idx="1"/>
          </p:nvPr>
        </p:nvSpPr>
        <p:spPr>
          <a:xfrm>
            <a:off x="457200" y="1340768"/>
            <a:ext cx="8229600" cy="4392488"/>
          </a:xfrm>
        </p:spPr>
        <p:txBody>
          <a:bodyPr>
            <a:noAutofit/>
          </a:bodyPr>
          <a:lstStyle/>
          <a:p>
            <a:pPr lvl="1" algn="just">
              <a:lnSpc>
                <a:spcPct val="150000"/>
              </a:lnSpc>
              <a:buNone/>
            </a:pPr>
            <a:endParaRPr lang="en-US" sz="2200" dirty="0">
              <a:latin typeface="Times New Roman" pitchFamily="18" charset="0"/>
              <a:cs typeface="Times New Roman" pitchFamily="18" charset="0"/>
            </a:endParaRPr>
          </a:p>
          <a:p>
            <a:pPr lvl="1" algn="just">
              <a:lnSpc>
                <a:spcPct val="150000"/>
              </a:lnSpc>
              <a:buFont typeface="Wingdings" pitchFamily="2" charset="2"/>
              <a:buChar char="Ø"/>
            </a:pPr>
            <a:r>
              <a:rPr lang="en-US" sz="2200" dirty="0">
                <a:latin typeface="Times New Roman" pitchFamily="18" charset="0"/>
                <a:cs typeface="Times New Roman" pitchFamily="18" charset="0"/>
              </a:rPr>
              <a:t>Projects can be of short duration leading to frequent change in organization structure</a:t>
            </a:r>
          </a:p>
          <a:p>
            <a:pPr lvl="1" algn="just">
              <a:lnSpc>
                <a:spcPct val="150000"/>
              </a:lnSpc>
              <a:buFont typeface="Wingdings" pitchFamily="2" charset="2"/>
              <a:buChar char="Ø"/>
            </a:pPr>
            <a:r>
              <a:rPr lang="en-US" sz="2200" dirty="0">
                <a:latin typeface="Times New Roman" pitchFamily="18" charset="0"/>
                <a:cs typeface="Times New Roman" pitchFamily="18" charset="0"/>
              </a:rPr>
              <a:t>Professionals prefer to be allied with their professional group rather than being allied with a project</a:t>
            </a:r>
          </a:p>
          <a:p>
            <a:pPr lvl="1" algn="just">
              <a:lnSpc>
                <a:spcPct val="150000"/>
              </a:lnSpc>
              <a:buFont typeface="Wingdings" pitchFamily="2" charset="2"/>
              <a:buChar char="Ø"/>
            </a:pPr>
            <a:r>
              <a:rPr lang="en-US" sz="2200" dirty="0">
                <a:latin typeface="Times New Roman" pitchFamily="18" charset="0"/>
                <a:cs typeface="Times New Roman" pitchFamily="18" charset="0"/>
              </a:rPr>
              <a:t>Trained professionals need not tolerate the insecurity of frequent organization change</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73</a:t>
            </a:fld>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Matrix Organization</a:t>
            </a:r>
          </a:p>
        </p:txBody>
      </p:sp>
      <p:sp>
        <p:nvSpPr>
          <p:cNvPr id="3" name="Content Placeholder 2"/>
          <p:cNvSpPr>
            <a:spLocks noGrp="1"/>
          </p:cNvSpPr>
          <p:nvPr>
            <p:ph idx="1"/>
          </p:nvPr>
        </p:nvSpPr>
        <p:spPr>
          <a:xfrm>
            <a:off x="457200" y="1196752"/>
            <a:ext cx="8229600" cy="5472608"/>
          </a:xfrm>
        </p:spPr>
        <p:txBody>
          <a:bodyPr>
            <a:noAutofit/>
          </a:bodyPr>
          <a:lstStyle/>
          <a:p>
            <a:pPr lvl="1" algn="just">
              <a:lnSpc>
                <a:spcPct val="150000"/>
              </a:lnSpc>
              <a:buFont typeface="Wingdings" pitchFamily="2" charset="2"/>
              <a:buChar char="Ø"/>
            </a:pPr>
            <a:r>
              <a:rPr lang="en-US" sz="2000" dirty="0">
                <a:latin typeface="Times New Roman" pitchFamily="18" charset="0"/>
                <a:cs typeface="Times New Roman" pitchFamily="18" charset="0"/>
              </a:rPr>
              <a:t>They are those that comes between fully functional and fully project organizational structure.</a:t>
            </a:r>
          </a:p>
          <a:p>
            <a:pPr lvl="1" algn="just">
              <a:lnSpc>
                <a:spcPct val="150000"/>
              </a:lnSpc>
              <a:buFont typeface="Wingdings" pitchFamily="2" charset="2"/>
              <a:buChar char="Ø"/>
            </a:pPr>
            <a:r>
              <a:rPr lang="en-US" sz="2000" dirty="0">
                <a:latin typeface="Times New Roman" pitchFamily="18" charset="0"/>
                <a:cs typeface="Times New Roman" pitchFamily="18" charset="0"/>
              </a:rPr>
              <a:t>Staffs are grouped and located by </a:t>
            </a:r>
            <a:r>
              <a:rPr lang="en-US" sz="2000" dirty="0" err="1">
                <a:latin typeface="Times New Roman" pitchFamily="18" charset="0"/>
                <a:cs typeface="Times New Roman" pitchFamily="18" charset="0"/>
              </a:rPr>
              <a:t>speciality</a:t>
            </a:r>
            <a:r>
              <a:rPr lang="en-US" sz="2000" dirty="0">
                <a:latin typeface="Times New Roman" pitchFamily="18" charset="0"/>
                <a:cs typeface="Times New Roman" pitchFamily="18" charset="0"/>
              </a:rPr>
              <a:t> into functional units headed by a functional manager.</a:t>
            </a:r>
          </a:p>
          <a:p>
            <a:pPr lvl="1" algn="just">
              <a:lnSpc>
                <a:spcPct val="150000"/>
              </a:lnSpc>
              <a:buFont typeface="Wingdings" pitchFamily="2" charset="2"/>
              <a:buChar char="Ø"/>
            </a:pPr>
            <a:r>
              <a:rPr lang="en-US" sz="2000" dirty="0">
                <a:latin typeface="Times New Roman" pitchFamily="18" charset="0"/>
                <a:cs typeface="Times New Roman" pitchFamily="18" charset="0"/>
              </a:rPr>
              <a:t>The project manager works with the functional manager for timely completion of project.</a:t>
            </a:r>
          </a:p>
          <a:p>
            <a:pPr lvl="1" algn="just">
              <a:lnSpc>
                <a:spcPct val="150000"/>
              </a:lnSpc>
              <a:buFont typeface="Wingdings" pitchFamily="2" charset="2"/>
              <a:buChar char="Ø"/>
            </a:pPr>
            <a:r>
              <a:rPr lang="en-US" sz="2000" dirty="0">
                <a:latin typeface="Times New Roman" pitchFamily="18" charset="0"/>
                <a:cs typeface="Times New Roman" pitchFamily="18" charset="0"/>
              </a:rPr>
              <a:t>The matrix organization is an organization structure that establishes two chains of command, one vertical and one horizontal, at the same time.</a:t>
            </a:r>
          </a:p>
          <a:p>
            <a:pPr lvl="1" algn="just">
              <a:lnSpc>
                <a:spcPct val="150000"/>
              </a:lnSpc>
              <a:buFont typeface="Wingdings" pitchFamily="2" charset="2"/>
              <a:buChar char="Ø"/>
            </a:pPr>
            <a:r>
              <a:rPr lang="en-US" sz="2000" dirty="0">
                <a:latin typeface="Times New Roman" pitchFamily="18" charset="0"/>
                <a:cs typeface="Times New Roman" pitchFamily="18" charset="0"/>
              </a:rPr>
              <a:t> It is intended to combine the advantages of functional structure and project structure.</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74</a:t>
            </a:fld>
            <a:endParaRPr lang="en-I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Matrix Organization</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75</a:t>
            </a:fld>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109538" y="900113"/>
            <a:ext cx="8924925" cy="5057775"/>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Matrix Organization</a:t>
            </a:r>
          </a:p>
        </p:txBody>
      </p:sp>
      <p:sp>
        <p:nvSpPr>
          <p:cNvPr id="3" name="Content Placeholder 2"/>
          <p:cNvSpPr>
            <a:spLocks noGrp="1"/>
          </p:cNvSpPr>
          <p:nvPr>
            <p:ph idx="1"/>
          </p:nvPr>
        </p:nvSpPr>
        <p:spPr>
          <a:xfrm>
            <a:off x="457200" y="1484784"/>
            <a:ext cx="8229600" cy="5184576"/>
          </a:xfrm>
        </p:spPr>
        <p:txBody>
          <a:bodyPr>
            <a:noAutofit/>
          </a:bodyPr>
          <a:lstStyle/>
          <a:p>
            <a:pPr lvl="1" algn="just">
              <a:lnSpc>
                <a:spcPct val="150000"/>
              </a:lnSpc>
              <a:buFont typeface="Wingdings" pitchFamily="2" charset="2"/>
              <a:buChar char="Ø"/>
            </a:pPr>
            <a:r>
              <a:rPr lang="en-US" sz="2200" dirty="0">
                <a:latin typeface="Times New Roman" pitchFamily="18" charset="0"/>
                <a:cs typeface="Times New Roman" pitchFamily="18" charset="0"/>
              </a:rPr>
              <a:t>Decentralized decision making</a:t>
            </a:r>
          </a:p>
          <a:p>
            <a:pPr lvl="1" algn="just">
              <a:lnSpc>
                <a:spcPct val="150000"/>
              </a:lnSpc>
              <a:buFont typeface="Wingdings" pitchFamily="2" charset="2"/>
              <a:buChar char="Ø"/>
            </a:pPr>
            <a:r>
              <a:rPr lang="en-US" sz="2200" dirty="0">
                <a:latin typeface="Times New Roman" pitchFamily="18" charset="0"/>
                <a:cs typeface="Times New Roman" pitchFamily="18" charset="0"/>
              </a:rPr>
              <a:t>Efficient use of functional managers</a:t>
            </a:r>
          </a:p>
          <a:p>
            <a:pPr lvl="1" algn="just">
              <a:lnSpc>
                <a:spcPct val="150000"/>
              </a:lnSpc>
              <a:buFont typeface="Wingdings" pitchFamily="2" charset="2"/>
              <a:buChar char="Ø"/>
            </a:pPr>
            <a:r>
              <a:rPr lang="en-US" sz="2200" dirty="0">
                <a:latin typeface="Times New Roman" pitchFamily="18" charset="0"/>
                <a:cs typeface="Times New Roman" pitchFamily="18" charset="0"/>
              </a:rPr>
              <a:t>Capable of adapting to fast environmental changes</a:t>
            </a:r>
          </a:p>
          <a:p>
            <a:pPr lvl="1" algn="just">
              <a:lnSpc>
                <a:spcPct val="150000"/>
              </a:lnSpc>
              <a:buFont typeface="Wingdings" pitchFamily="2" charset="2"/>
              <a:buChar char="Ø"/>
            </a:pPr>
            <a:r>
              <a:rPr lang="en-US" sz="2200" dirty="0">
                <a:latin typeface="Times New Roman" pitchFamily="18" charset="0"/>
                <a:cs typeface="Times New Roman" pitchFamily="18" charset="0"/>
              </a:rPr>
              <a:t>Flexibility</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76</a:t>
            </a:fld>
            <a:endParaRPr lang="en-I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Matrix Organization</a:t>
            </a:r>
          </a:p>
        </p:txBody>
      </p:sp>
      <p:sp>
        <p:nvSpPr>
          <p:cNvPr id="3" name="Content Placeholder 2"/>
          <p:cNvSpPr>
            <a:spLocks noGrp="1"/>
          </p:cNvSpPr>
          <p:nvPr>
            <p:ph idx="1"/>
          </p:nvPr>
        </p:nvSpPr>
        <p:spPr>
          <a:xfrm>
            <a:off x="457200" y="1340768"/>
            <a:ext cx="8229600" cy="4392488"/>
          </a:xfrm>
        </p:spPr>
        <p:txBody>
          <a:bodyPr>
            <a:noAutofit/>
          </a:bodyPr>
          <a:lstStyle/>
          <a:p>
            <a:pPr lvl="1" algn="just">
              <a:lnSpc>
                <a:spcPct val="150000"/>
              </a:lnSpc>
              <a:buFont typeface="Wingdings" pitchFamily="2" charset="2"/>
              <a:buChar char="Ø"/>
            </a:pPr>
            <a:endParaRPr lang="en-US" sz="2200" dirty="0">
              <a:latin typeface="Times New Roman" pitchFamily="18" charset="0"/>
              <a:cs typeface="Times New Roman" pitchFamily="18" charset="0"/>
            </a:endParaRPr>
          </a:p>
          <a:p>
            <a:pPr lvl="1" algn="just">
              <a:lnSpc>
                <a:spcPct val="150000"/>
              </a:lnSpc>
              <a:buFont typeface="Wingdings" pitchFamily="2" charset="2"/>
              <a:buChar char="Ø"/>
            </a:pPr>
            <a:r>
              <a:rPr lang="en-US" sz="2200" dirty="0">
                <a:latin typeface="Times New Roman" pitchFamily="18" charset="0"/>
                <a:cs typeface="Times New Roman" pitchFamily="18" charset="0"/>
              </a:rPr>
              <a:t>Violates the principle of unity of command</a:t>
            </a:r>
          </a:p>
          <a:p>
            <a:pPr lvl="1" algn="just">
              <a:lnSpc>
                <a:spcPct val="150000"/>
              </a:lnSpc>
              <a:buFont typeface="Wingdings" pitchFamily="2" charset="2"/>
              <a:buChar char="Ø"/>
            </a:pPr>
            <a:r>
              <a:rPr lang="en-US" sz="2200" dirty="0">
                <a:latin typeface="Times New Roman" pitchFamily="18" charset="0"/>
                <a:cs typeface="Times New Roman" pitchFamily="18" charset="0"/>
              </a:rPr>
              <a:t>High administrative costs</a:t>
            </a:r>
          </a:p>
          <a:p>
            <a:pPr lvl="1" algn="just">
              <a:lnSpc>
                <a:spcPct val="150000"/>
              </a:lnSpc>
              <a:buFont typeface="Wingdings" pitchFamily="2" charset="2"/>
              <a:buChar char="Ø"/>
            </a:pPr>
            <a:r>
              <a:rPr lang="en-US" sz="2200" dirty="0">
                <a:latin typeface="Times New Roman" pitchFamily="18" charset="0"/>
                <a:cs typeface="Times New Roman" pitchFamily="18" charset="0"/>
              </a:rPr>
              <a:t>Requires tremendous horizontal and vertical co-ordination</a:t>
            </a:r>
          </a:p>
          <a:p>
            <a:pPr lvl="1" algn="just">
              <a:lnSpc>
                <a:spcPct val="150000"/>
              </a:lnSpc>
              <a:buFont typeface="Wingdings" pitchFamily="2" charset="2"/>
              <a:buChar char="Ø"/>
            </a:pPr>
            <a:r>
              <a:rPr lang="en-US" sz="2200" dirty="0">
                <a:latin typeface="Times New Roman" pitchFamily="18" charset="0"/>
                <a:cs typeface="Times New Roman" pitchFamily="18" charset="0"/>
              </a:rPr>
              <a:t>Chances of interpersonal conflicts</a:t>
            </a:r>
          </a:p>
        </p:txBody>
      </p:sp>
      <p:sp>
        <p:nvSpPr>
          <p:cNvPr id="4" name="Slide Number Placeholder 3"/>
          <p:cNvSpPr>
            <a:spLocks noGrp="1"/>
          </p:cNvSpPr>
          <p:nvPr>
            <p:ph type="sldNum" sz="quarter" idx="12"/>
          </p:nvPr>
        </p:nvSpPr>
        <p:spPr/>
        <p:txBody>
          <a:bodyPr/>
          <a:lstStyle/>
          <a:p>
            <a:fld id="{9852A43B-CC61-4C08-A01B-A84C4E0E89A8}" type="slidenum">
              <a:rPr lang="en-IN" smtClean="0"/>
              <a:pPr/>
              <a:t>77</a:t>
            </a:fld>
            <a:endParaRPr lang="en-I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224136"/>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4)</a:t>
            </a:r>
            <a:br>
              <a:rPr lang="en-US" sz="3200" dirty="0">
                <a:latin typeface="Algerian" pitchFamily="82" charset="0"/>
              </a:rPr>
            </a:br>
            <a:r>
              <a:rPr lang="en-US" sz="3200" b="1" i="1" u="sng" dirty="0">
                <a:solidFill>
                  <a:srgbClr val="7030A0"/>
                </a:solidFill>
                <a:latin typeface="Times New Roman" pitchFamily="18" charset="0"/>
                <a:cs typeface="Times New Roman" pitchFamily="18" charset="0"/>
              </a:rPr>
              <a:t>FORMS OF BUSINESS ORGANIZATION</a:t>
            </a:r>
            <a:endParaRPr lang="en-IN" sz="3200" b="1" i="1" u="sng" dirty="0">
              <a:solidFill>
                <a:srgbClr val="7030A0"/>
              </a:solidFill>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a:bodyPr>
          <a:lstStyle/>
          <a:p>
            <a:pPr>
              <a:buFont typeface="Wingdings" pitchFamily="2" charset="2"/>
              <a:buChar char="Ø"/>
            </a:pPr>
            <a:r>
              <a:rPr lang="en-IN" sz="2200" dirty="0">
                <a:latin typeface="Times New Roman" pitchFamily="18" charset="0"/>
                <a:cs typeface="Times New Roman" pitchFamily="18" charset="0"/>
              </a:rPr>
              <a:t>Concept of Ownership organization</a:t>
            </a:r>
          </a:p>
          <a:p>
            <a:pPr>
              <a:buFont typeface="Wingdings" pitchFamily="2" charset="2"/>
              <a:buChar char="Ø"/>
            </a:pPr>
            <a:r>
              <a:rPr lang="en-IN" sz="2200" dirty="0">
                <a:latin typeface="Times New Roman" pitchFamily="18" charset="0"/>
                <a:cs typeface="Times New Roman" pitchFamily="18" charset="0"/>
              </a:rPr>
              <a:t>Types of ownership</a:t>
            </a:r>
          </a:p>
          <a:p>
            <a:pPr marL="914400" lvl="1" indent="-457200">
              <a:buFont typeface="+mj-lt"/>
              <a:buAutoNum type="arabicPeriod"/>
            </a:pPr>
            <a:r>
              <a:rPr lang="en-IN" sz="2200" dirty="0">
                <a:latin typeface="Times New Roman" pitchFamily="18" charset="0"/>
                <a:cs typeface="Times New Roman" pitchFamily="18" charset="0"/>
              </a:rPr>
              <a:t>Individual ownership</a:t>
            </a:r>
          </a:p>
          <a:p>
            <a:pPr marL="914400" lvl="1" indent="-457200">
              <a:buFont typeface="+mj-lt"/>
              <a:buAutoNum type="arabicPeriod"/>
            </a:pPr>
            <a:r>
              <a:rPr lang="en-IN" sz="2200" dirty="0">
                <a:latin typeface="Times New Roman" pitchFamily="18" charset="0"/>
                <a:cs typeface="Times New Roman" pitchFamily="18" charset="0"/>
              </a:rPr>
              <a:t>Partnership</a:t>
            </a:r>
          </a:p>
          <a:p>
            <a:pPr marL="914400" lvl="1" indent="-457200">
              <a:buFont typeface="+mj-lt"/>
              <a:buAutoNum type="arabicPeriod"/>
            </a:pPr>
            <a:r>
              <a:rPr lang="en-IN" sz="2200" dirty="0">
                <a:latin typeface="Times New Roman" pitchFamily="18" charset="0"/>
                <a:cs typeface="Times New Roman" pitchFamily="18" charset="0"/>
              </a:rPr>
              <a:t>Joint stock company</a:t>
            </a:r>
          </a:p>
          <a:p>
            <a:pPr lvl="2">
              <a:buFont typeface="Wingdings" pitchFamily="2" charset="2"/>
              <a:buChar char="ü"/>
            </a:pPr>
            <a:r>
              <a:rPr lang="en-IN" sz="2200" dirty="0">
                <a:latin typeface="Times New Roman" pitchFamily="18" charset="0"/>
                <a:cs typeface="Times New Roman" pitchFamily="18" charset="0"/>
              </a:rPr>
              <a:t>Private and public limited company, </a:t>
            </a:r>
          </a:p>
          <a:p>
            <a:pPr marL="914400" lvl="1" indent="-457200">
              <a:buFont typeface="+mj-lt"/>
              <a:buAutoNum type="arabicPeriod"/>
            </a:pPr>
            <a:r>
              <a:rPr lang="en-IN" sz="2200" dirty="0">
                <a:latin typeface="Times New Roman" pitchFamily="18" charset="0"/>
                <a:cs typeface="Times New Roman" pitchFamily="18" charset="0"/>
              </a:rPr>
              <a:t>Co-operative organizations</a:t>
            </a:r>
          </a:p>
          <a:p>
            <a:pPr marL="914400" lvl="1" indent="-457200">
              <a:buFont typeface="+mj-lt"/>
              <a:buAutoNum type="arabicPeriod"/>
            </a:pPr>
            <a:r>
              <a:rPr lang="en-IN" sz="2200" dirty="0">
                <a:latin typeface="Times New Roman" pitchFamily="18" charset="0"/>
                <a:cs typeface="Times New Roman" pitchFamily="18" charset="0"/>
              </a:rPr>
              <a:t>State ownership</a:t>
            </a:r>
          </a:p>
          <a:p>
            <a:pPr>
              <a:buFont typeface="Wingdings" pitchFamily="2" charset="2"/>
              <a:buChar char="Ø"/>
            </a:pPr>
            <a:r>
              <a:rPr lang="en-IN" sz="2200" dirty="0">
                <a:latin typeface="Times New Roman" pitchFamily="18" charset="0"/>
                <a:cs typeface="Times New Roman" pitchFamily="18" charset="0"/>
              </a:rPr>
              <a:t>Public corporation </a:t>
            </a:r>
          </a:p>
          <a:p>
            <a:pPr>
              <a:lnSpc>
                <a:spcPct val="150000"/>
              </a:lnSpc>
              <a:buNone/>
            </a:pPr>
            <a:endParaRPr lang="en-IN" sz="2400" dirty="0">
              <a:latin typeface="Times New Roman" pitchFamily="18" charset="0"/>
              <a:cs typeface="Times New Roman" pitchFamily="18" charset="0"/>
            </a:endParaRPr>
          </a:p>
          <a:p>
            <a:pPr>
              <a:lnSpc>
                <a:spcPct val="150000"/>
              </a:lnSpc>
            </a:pPr>
            <a:endParaRPr lang="en-IN"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78</a:t>
            </a:fld>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Ownership Organisation</a:t>
            </a:r>
          </a:p>
        </p:txBody>
      </p:sp>
      <p:sp>
        <p:nvSpPr>
          <p:cNvPr id="3" name="Content Placeholder 2"/>
          <p:cNvSpPr>
            <a:spLocks noGrp="1"/>
          </p:cNvSpPr>
          <p:nvPr>
            <p:ph idx="1"/>
          </p:nvPr>
        </p:nvSpPr>
        <p:spPr>
          <a:xfrm>
            <a:off x="457200" y="836712"/>
            <a:ext cx="8507288" cy="5289451"/>
          </a:xfrm>
        </p:spPr>
        <p:txBody>
          <a:bodyPr>
            <a:normAutofit/>
          </a:bodyPr>
          <a:lstStyle/>
          <a:p>
            <a:pPr lvl="1" algn="just">
              <a:lnSpc>
                <a:spcPct val="110000"/>
              </a:lnSpc>
              <a:buNone/>
            </a:pPr>
            <a:r>
              <a:rPr lang="en-US" sz="2200" dirty="0">
                <a:latin typeface="Times New Roman" pitchFamily="18" charset="0"/>
                <a:cs typeface="Times New Roman" pitchFamily="18" charset="0"/>
              </a:rPr>
              <a:t>			A firm is an Ownership organisation which combine the factors of production in a plant for the purpose of producing goods or services and selling them at profit.</a:t>
            </a:r>
          </a:p>
          <a:p>
            <a:r>
              <a:rPr lang="en-US" sz="2200" b="1" dirty="0">
                <a:latin typeface="Times New Roman" pitchFamily="18" charset="0"/>
                <a:cs typeface="Times New Roman" pitchFamily="18" charset="0"/>
              </a:rPr>
              <a:t>Business</a:t>
            </a:r>
          </a:p>
          <a:p>
            <a:pPr>
              <a:buNone/>
            </a:pPr>
            <a:r>
              <a:rPr lang="en-US" sz="2200" dirty="0">
                <a:latin typeface="Times New Roman" pitchFamily="18" charset="0"/>
                <a:cs typeface="Times New Roman" pitchFamily="18" charset="0"/>
              </a:rPr>
              <a:t>			Business may be defined as an activity in which different 	persons exchange something of value, whether goods or service, 	for mutual gain or profit.</a:t>
            </a:r>
          </a:p>
          <a:p>
            <a:r>
              <a:rPr lang="en-US" sz="2200" b="1" dirty="0">
                <a:latin typeface="Times New Roman" pitchFamily="18" charset="0"/>
                <a:cs typeface="Times New Roman" pitchFamily="18" charset="0"/>
              </a:rPr>
              <a:t>Factors</a:t>
            </a:r>
          </a:p>
          <a:p>
            <a:pPr lvl="1">
              <a:buFont typeface="Wingdings" pitchFamily="2" charset="2"/>
              <a:buChar char="ü"/>
            </a:pPr>
            <a:r>
              <a:rPr lang="en-IN" sz="2200" dirty="0">
                <a:latin typeface="Times New Roman" pitchFamily="18" charset="0"/>
                <a:cs typeface="Times New Roman" pitchFamily="18" charset="0"/>
              </a:rPr>
              <a:t>Size and nature of organisation</a:t>
            </a:r>
          </a:p>
          <a:p>
            <a:pPr lvl="1">
              <a:buFont typeface="Wingdings" pitchFamily="2" charset="2"/>
              <a:buChar char="ü"/>
            </a:pPr>
            <a:r>
              <a:rPr lang="en-IN" sz="2200" dirty="0">
                <a:latin typeface="Times New Roman" pitchFamily="18" charset="0"/>
                <a:cs typeface="Times New Roman" pitchFamily="18" charset="0"/>
              </a:rPr>
              <a:t>Technical difficulties</a:t>
            </a:r>
          </a:p>
          <a:p>
            <a:pPr lvl="1">
              <a:buFont typeface="Wingdings" pitchFamily="2" charset="2"/>
              <a:buChar char="ü"/>
            </a:pPr>
            <a:r>
              <a:rPr lang="en-IN" sz="2200" dirty="0">
                <a:latin typeface="Times New Roman" pitchFamily="18" charset="0"/>
                <a:cs typeface="Times New Roman" pitchFamily="18" charset="0"/>
              </a:rPr>
              <a:t>Market competition and scope of articles in markets</a:t>
            </a:r>
          </a:p>
          <a:p>
            <a:pPr lvl="1">
              <a:buFont typeface="Wingdings" pitchFamily="2" charset="2"/>
              <a:buChar char="ü"/>
            </a:pPr>
            <a:r>
              <a:rPr lang="en-IN" sz="2200" dirty="0">
                <a:latin typeface="Times New Roman" pitchFamily="18" charset="0"/>
                <a:cs typeface="Times New Roman" pitchFamily="18" charset="0"/>
              </a:rPr>
              <a:t>Capital required</a:t>
            </a:r>
          </a:p>
          <a:p>
            <a:pPr lvl="1">
              <a:buFont typeface="Wingdings" pitchFamily="2" charset="2"/>
              <a:buChar char="ü"/>
            </a:pPr>
            <a:r>
              <a:rPr lang="en-IN" sz="2200" dirty="0">
                <a:latin typeface="Times New Roman" pitchFamily="18" charset="0"/>
                <a:cs typeface="Times New Roman" pitchFamily="18" charset="0"/>
              </a:rPr>
              <a:t>Limitations and restriction put forth by govt.</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IN" dirty="0"/>
          </a:p>
        </p:txBody>
      </p:sp>
      <p:sp>
        <p:nvSpPr>
          <p:cNvPr id="4" name="Rounded Rectangle 3"/>
          <p:cNvSpPr/>
          <p:nvPr/>
        </p:nvSpPr>
        <p:spPr>
          <a:xfrm>
            <a:off x="2786050" y="1000108"/>
            <a:ext cx="2971800" cy="762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sz="2000" b="1" i="1" dirty="0">
                <a:solidFill>
                  <a:schemeClr val="tx1"/>
                </a:solidFill>
                <a:latin typeface="Times New Roman" pitchFamily="18" charset="0"/>
                <a:cs typeface="Times New Roman" pitchFamily="18" charset="0"/>
              </a:rPr>
              <a:t>Types of Ownership</a:t>
            </a:r>
          </a:p>
        </p:txBody>
      </p:sp>
      <p:sp>
        <p:nvSpPr>
          <p:cNvPr id="6" name="Rounded Rectangle 5"/>
          <p:cNvSpPr/>
          <p:nvPr/>
        </p:nvSpPr>
        <p:spPr>
          <a:xfrm>
            <a:off x="285720" y="2500306"/>
            <a:ext cx="3422184" cy="18647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lvl="0" algn="ctr"/>
            <a:endParaRPr lang="en-US" b="1" i="1" dirty="0">
              <a:solidFill>
                <a:schemeClr val="tx1"/>
              </a:solidFill>
              <a:latin typeface="Times New Roman" pitchFamily="18" charset="0"/>
              <a:cs typeface="Times New Roman" pitchFamily="18" charset="0"/>
            </a:endParaRPr>
          </a:p>
          <a:p>
            <a:pPr lvl="0" algn="ctr"/>
            <a:r>
              <a:rPr lang="en-US" b="1" i="1" dirty="0">
                <a:solidFill>
                  <a:schemeClr val="tx1"/>
                </a:solidFill>
                <a:latin typeface="Times New Roman" pitchFamily="18" charset="0"/>
                <a:cs typeface="Times New Roman" pitchFamily="18" charset="0"/>
              </a:rPr>
              <a:t>Private Sector</a:t>
            </a:r>
          </a:p>
          <a:p>
            <a:pPr lvl="0" algn="ctr"/>
            <a:endParaRPr lang="en-US" b="1" i="1" dirty="0">
              <a:solidFill>
                <a:schemeClr val="tx1"/>
              </a:solidFill>
              <a:latin typeface="Times New Roman" pitchFamily="18" charset="0"/>
              <a:cs typeface="Times New Roman" pitchFamily="18" charset="0"/>
            </a:endParaRPr>
          </a:p>
          <a:p>
            <a:pPr lvl="0"/>
            <a:r>
              <a:rPr lang="en-US" dirty="0">
                <a:solidFill>
                  <a:schemeClr val="tx1"/>
                </a:solidFill>
                <a:latin typeface="Times New Roman" pitchFamily="18" charset="0"/>
                <a:cs typeface="Times New Roman" pitchFamily="18" charset="0"/>
              </a:rPr>
              <a:t>1. Individual Ownership</a:t>
            </a:r>
          </a:p>
          <a:p>
            <a:pPr lvl="0"/>
            <a:r>
              <a:rPr lang="en-US" dirty="0">
                <a:solidFill>
                  <a:schemeClr val="tx1"/>
                </a:solidFill>
                <a:latin typeface="Times New Roman" pitchFamily="18" charset="0"/>
                <a:cs typeface="Times New Roman" pitchFamily="18" charset="0"/>
              </a:rPr>
              <a:t>2. Partnership</a:t>
            </a:r>
          </a:p>
          <a:p>
            <a:pPr lvl="0"/>
            <a:r>
              <a:rPr lang="en-US" dirty="0">
                <a:solidFill>
                  <a:schemeClr val="tx1"/>
                </a:solidFill>
                <a:latin typeface="Times New Roman" pitchFamily="18" charset="0"/>
                <a:cs typeface="Times New Roman" pitchFamily="18" charset="0"/>
              </a:rPr>
              <a:t>3. Joint Stock Company</a:t>
            </a:r>
          </a:p>
          <a:p>
            <a:r>
              <a:rPr lang="en-US" dirty="0">
                <a:solidFill>
                  <a:schemeClr val="tx1"/>
                </a:solidFill>
                <a:latin typeface="Times New Roman" pitchFamily="18" charset="0"/>
                <a:cs typeface="Times New Roman" pitchFamily="18" charset="0"/>
              </a:rPr>
              <a:t>4. Co-operative organization</a:t>
            </a:r>
          </a:p>
          <a:p>
            <a:pPr lvl="0"/>
            <a:endParaRPr lang="en-US" dirty="0">
              <a:solidFill>
                <a:schemeClr val="tx1"/>
              </a:solidFill>
              <a:latin typeface="Times New Roman" pitchFamily="18" charset="0"/>
              <a:cs typeface="Times New Roman" pitchFamily="18" charset="0"/>
            </a:endParaRPr>
          </a:p>
        </p:txBody>
      </p:sp>
      <p:sp>
        <p:nvSpPr>
          <p:cNvPr id="7" name="Rounded Rectangle 6"/>
          <p:cNvSpPr/>
          <p:nvPr/>
        </p:nvSpPr>
        <p:spPr>
          <a:xfrm>
            <a:off x="5357818" y="2500306"/>
            <a:ext cx="3276600" cy="179279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lvl="0" algn="ctr"/>
            <a:r>
              <a:rPr lang="en-US" b="1" i="1" dirty="0">
                <a:solidFill>
                  <a:schemeClr val="tx1"/>
                </a:solidFill>
                <a:latin typeface="Times New Roman" pitchFamily="18" charset="0"/>
                <a:cs typeface="Times New Roman" pitchFamily="18" charset="0"/>
              </a:rPr>
              <a:t>Public Sector</a:t>
            </a:r>
          </a:p>
          <a:p>
            <a:pPr lvl="0" algn="ctr"/>
            <a:endParaRPr lang="en-US" b="1" i="1" dirty="0">
              <a:solidFill>
                <a:schemeClr val="tx1"/>
              </a:solidFill>
              <a:latin typeface="Times New Roman" pitchFamily="18" charset="0"/>
              <a:cs typeface="Times New Roman" pitchFamily="18" charset="0"/>
            </a:endParaRPr>
          </a:p>
          <a:p>
            <a:pPr lvl="0"/>
            <a:r>
              <a:rPr lang="en-US" dirty="0">
                <a:solidFill>
                  <a:schemeClr val="tx1"/>
                </a:solidFill>
                <a:latin typeface="Times New Roman" pitchFamily="18" charset="0"/>
                <a:cs typeface="Times New Roman" pitchFamily="18" charset="0"/>
              </a:rPr>
              <a:t>1. Departmental Organisations</a:t>
            </a:r>
          </a:p>
          <a:p>
            <a:pPr lvl="0"/>
            <a:r>
              <a:rPr lang="en-US" dirty="0">
                <a:solidFill>
                  <a:schemeClr val="tx1"/>
                </a:solidFill>
                <a:latin typeface="Times New Roman" pitchFamily="18" charset="0"/>
                <a:cs typeface="Times New Roman" pitchFamily="18" charset="0"/>
              </a:rPr>
              <a:t>2. Public corporations</a:t>
            </a:r>
          </a:p>
          <a:p>
            <a:pPr lvl="0"/>
            <a:r>
              <a:rPr lang="en-US" dirty="0">
                <a:solidFill>
                  <a:schemeClr val="tx1"/>
                </a:solidFill>
                <a:latin typeface="Times New Roman" pitchFamily="18" charset="0"/>
                <a:cs typeface="Times New Roman" pitchFamily="18" charset="0"/>
              </a:rPr>
              <a:t>3. Government Companies</a:t>
            </a:r>
          </a:p>
        </p:txBody>
      </p:sp>
      <p:sp>
        <p:nvSpPr>
          <p:cNvPr id="8" name="Rounded Rectangle 7"/>
          <p:cNvSpPr/>
          <p:nvPr/>
        </p:nvSpPr>
        <p:spPr>
          <a:xfrm>
            <a:off x="3347864" y="5229200"/>
            <a:ext cx="1944216" cy="86409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i="1" dirty="0">
                <a:solidFill>
                  <a:schemeClr val="tx1"/>
                </a:solidFill>
                <a:latin typeface="Times New Roman" pitchFamily="18" charset="0"/>
                <a:cs typeface="Times New Roman" pitchFamily="18" charset="0"/>
              </a:rPr>
              <a:t>Joint Sector</a:t>
            </a:r>
          </a:p>
        </p:txBody>
      </p:sp>
      <p:cxnSp>
        <p:nvCxnSpPr>
          <p:cNvPr id="16" name="Elbow Connector 15"/>
          <p:cNvCxnSpPr>
            <a:endCxn id="7" idx="0"/>
          </p:cNvCxnSpPr>
          <p:nvPr/>
        </p:nvCxnSpPr>
        <p:spPr>
          <a:xfrm>
            <a:off x="4286248" y="2071678"/>
            <a:ext cx="2709870" cy="428628"/>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25" name="Elbow Connector 24"/>
          <p:cNvCxnSpPr>
            <a:endCxn id="6" idx="0"/>
          </p:cNvCxnSpPr>
          <p:nvPr/>
        </p:nvCxnSpPr>
        <p:spPr>
          <a:xfrm rot="10800000" flipV="1">
            <a:off x="1996812" y="2073266"/>
            <a:ext cx="2289436" cy="42704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a:endCxn id="8" idx="0"/>
          </p:cNvCxnSpPr>
          <p:nvPr/>
        </p:nvCxnSpPr>
        <p:spPr>
          <a:xfrm>
            <a:off x="4286248" y="1785926"/>
            <a:ext cx="33724" cy="344327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229600" cy="714380"/>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PRIVATE SECTOR</a:t>
            </a:r>
          </a:p>
        </p:txBody>
      </p:sp>
      <p:sp>
        <p:nvSpPr>
          <p:cNvPr id="3" name="Content Placeholder 2"/>
          <p:cNvSpPr>
            <a:spLocks noGrp="1"/>
          </p:cNvSpPr>
          <p:nvPr>
            <p:ph idx="1"/>
          </p:nvPr>
        </p:nvSpPr>
        <p:spPr>
          <a:xfrm>
            <a:off x="539552" y="980728"/>
            <a:ext cx="8047206" cy="5472608"/>
          </a:xfrm>
        </p:spPr>
        <p:txBody>
          <a:bodyPr>
            <a:noAutofit/>
          </a:bodyPr>
          <a:lstStyle/>
          <a:p>
            <a:pPr>
              <a:lnSpc>
                <a:spcPct val="150000"/>
              </a:lnSpc>
              <a:buFont typeface="Wingdings" pitchFamily="2" charset="2"/>
              <a:buChar char="Ø"/>
            </a:pPr>
            <a:r>
              <a:rPr lang="en-IN" sz="2200" dirty="0">
                <a:latin typeface="Times New Roman" pitchFamily="18" charset="0"/>
                <a:cs typeface="Times New Roman" pitchFamily="18" charset="0"/>
              </a:rPr>
              <a:t>Private sector organizations, as the name indicates, are exclusively owned by private individuals. </a:t>
            </a:r>
          </a:p>
          <a:p>
            <a:pPr>
              <a:lnSpc>
                <a:spcPct val="150000"/>
              </a:lnSpc>
              <a:buFont typeface="Wingdings" pitchFamily="2" charset="2"/>
              <a:buChar char="Ø"/>
            </a:pPr>
            <a:r>
              <a:rPr lang="en-IN" sz="2200" dirty="0">
                <a:latin typeface="Times New Roman" pitchFamily="18" charset="0"/>
                <a:cs typeface="Times New Roman" pitchFamily="18" charset="0"/>
              </a:rPr>
              <a:t>The efficiency of the private sector organizations is usually very high compared to organizations from any other sector.</a:t>
            </a:r>
          </a:p>
          <a:p>
            <a:pPr>
              <a:lnSpc>
                <a:spcPct val="150000"/>
              </a:lnSpc>
              <a:buFont typeface="Wingdings" pitchFamily="2" charset="2"/>
              <a:buChar char="Ø"/>
            </a:pPr>
            <a:r>
              <a:rPr lang="en-US" sz="2200" dirty="0">
                <a:latin typeface="Times New Roman" pitchFamily="18" charset="0"/>
                <a:cs typeface="Times New Roman" pitchFamily="18" charset="0"/>
              </a:rPr>
              <a:t>The important forms of the private sector organizations are:</a:t>
            </a:r>
          </a:p>
          <a:p>
            <a:pPr marL="1714500" lvl="3" indent="-457200">
              <a:buFont typeface="+mj-lt"/>
              <a:buAutoNum type="arabicPeriod"/>
            </a:pPr>
            <a:r>
              <a:rPr lang="en-US" sz="2200" dirty="0">
                <a:latin typeface="Times New Roman" pitchFamily="18" charset="0"/>
                <a:cs typeface="Times New Roman" pitchFamily="18" charset="0"/>
              </a:rPr>
              <a:t>Individual/Single ownership</a:t>
            </a:r>
          </a:p>
          <a:p>
            <a:pPr marL="1714500" lvl="3" indent="-457200">
              <a:buFont typeface="+mj-lt"/>
              <a:buAutoNum type="arabicPeriod"/>
            </a:pPr>
            <a:r>
              <a:rPr lang="en-US" sz="2200" dirty="0">
                <a:latin typeface="Times New Roman" pitchFamily="18" charset="0"/>
                <a:cs typeface="Times New Roman" pitchFamily="18" charset="0"/>
              </a:rPr>
              <a:t>Partnership</a:t>
            </a:r>
          </a:p>
          <a:p>
            <a:pPr marL="1714500" lvl="3" indent="-457200">
              <a:buFont typeface="+mj-lt"/>
              <a:buAutoNum type="arabicPeriod"/>
            </a:pPr>
            <a:r>
              <a:rPr lang="en-US" sz="2200" dirty="0">
                <a:latin typeface="Times New Roman" pitchFamily="18" charset="0"/>
                <a:cs typeface="Times New Roman" pitchFamily="18" charset="0"/>
              </a:rPr>
              <a:t>Joint stock companies</a:t>
            </a:r>
          </a:p>
          <a:p>
            <a:pPr marL="1714500" lvl="3" indent="-457200">
              <a:buFont typeface="+mj-lt"/>
              <a:buAutoNum type="arabicPeriod"/>
            </a:pPr>
            <a:r>
              <a:rPr lang="en-US" sz="2200" dirty="0">
                <a:latin typeface="Times New Roman" pitchFamily="18" charset="0"/>
                <a:cs typeface="Times New Roman" pitchFamily="18" charset="0"/>
              </a:rPr>
              <a:t>Cooperative organization</a:t>
            </a:r>
            <a:endParaRPr lang="en-IN" sz="2200"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836712"/>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1. Individual/single Ownership</a:t>
            </a:r>
          </a:p>
        </p:txBody>
      </p:sp>
      <p:sp>
        <p:nvSpPr>
          <p:cNvPr id="3" name="Content Placeholder 2"/>
          <p:cNvSpPr>
            <a:spLocks noGrp="1"/>
          </p:cNvSpPr>
          <p:nvPr>
            <p:ph idx="1"/>
          </p:nvPr>
        </p:nvSpPr>
        <p:spPr>
          <a:xfrm>
            <a:off x="357158" y="908720"/>
            <a:ext cx="8535322" cy="5400600"/>
          </a:xfrm>
        </p:spPr>
        <p:txBody>
          <a:bodyPr>
            <a:noAutofit/>
          </a:bodyPr>
          <a:lstStyle/>
          <a:p>
            <a:pPr algn="just">
              <a:buFont typeface="Wingdings" pitchFamily="2" charset="2"/>
              <a:buChar char="Ø"/>
            </a:pPr>
            <a:r>
              <a:rPr lang="en-US" sz="2200" dirty="0">
                <a:latin typeface="Times New Roman" pitchFamily="18" charset="0"/>
                <a:cs typeface="Times New Roman" pitchFamily="18" charset="0"/>
              </a:rPr>
              <a:t>Simplest and oldest form of Organisation.</a:t>
            </a:r>
          </a:p>
          <a:p>
            <a:pPr algn="just">
              <a:buFont typeface="Wingdings" pitchFamily="2" charset="2"/>
              <a:buChar char="Ø"/>
            </a:pPr>
            <a:r>
              <a:rPr lang="en-US" sz="2200" dirty="0">
                <a:latin typeface="Times New Roman" pitchFamily="18" charset="0"/>
                <a:cs typeface="Times New Roman" pitchFamily="18" charset="0"/>
              </a:rPr>
              <a:t>Individual entrepreneur supplies the entire capital,  also known as sole proprietorship.</a:t>
            </a:r>
          </a:p>
          <a:p>
            <a:pPr algn="just">
              <a:buFont typeface="Wingdings" pitchFamily="2" charset="2"/>
              <a:buChar char="Ø"/>
            </a:pPr>
            <a:r>
              <a:rPr lang="en-US" sz="2200" dirty="0">
                <a:latin typeface="Times New Roman" pitchFamily="18" charset="0"/>
                <a:cs typeface="Times New Roman" pitchFamily="18" charset="0"/>
              </a:rPr>
              <a:t>Entire Authority &amp; responsibility belongs to him and also the profit and loss.</a:t>
            </a:r>
          </a:p>
          <a:p>
            <a:pPr algn="just">
              <a:buFont typeface="Wingdings" pitchFamily="2" charset="2"/>
              <a:buChar char="Ø"/>
            </a:pPr>
            <a:r>
              <a:rPr lang="en-US" sz="2200" dirty="0">
                <a:latin typeface="Times New Roman" pitchFamily="18" charset="0"/>
                <a:cs typeface="Times New Roman" pitchFamily="18" charset="0"/>
              </a:rPr>
              <a:t>An individual introduces his own capital, uses his own skill and intelligence in the management of its affairs and is solely responsible for the results of its operation.</a:t>
            </a:r>
          </a:p>
          <a:p>
            <a:pPr algn="just">
              <a:buFont typeface="Wingdings" pitchFamily="2" charset="2"/>
              <a:buChar char="Ø"/>
            </a:pPr>
            <a:r>
              <a:rPr lang="en-US" sz="2200" dirty="0">
                <a:latin typeface="Times New Roman" pitchFamily="18" charset="0"/>
                <a:cs typeface="Times New Roman" pitchFamily="18" charset="0"/>
              </a:rPr>
              <a:t>In Short it’s a “one man business”, if need he can employ a person to assist him.</a:t>
            </a:r>
          </a:p>
          <a:p>
            <a:pPr algn="just">
              <a:buFont typeface="Wingdings" pitchFamily="2" charset="2"/>
              <a:buChar char="Ø"/>
            </a:pPr>
            <a:r>
              <a:rPr lang="en-US" sz="2200" dirty="0">
                <a:latin typeface="Times New Roman" pitchFamily="18" charset="0"/>
                <a:cs typeface="Times New Roman" pitchFamily="18" charset="0"/>
              </a:rPr>
              <a:t>His liabilities will be unlimited.</a:t>
            </a:r>
          </a:p>
          <a:p>
            <a:pPr lvl="1" algn="just"/>
            <a:r>
              <a:rPr lang="en-US" sz="2200" dirty="0">
                <a:latin typeface="Times New Roman" pitchFamily="18" charset="0"/>
                <a:cs typeface="Times New Roman" pitchFamily="18" charset="0"/>
              </a:rPr>
              <a:t>Applications.</a:t>
            </a:r>
          </a:p>
          <a:p>
            <a:pPr lvl="2" algn="just">
              <a:buFont typeface="Wingdings" pitchFamily="2" charset="2"/>
              <a:buChar char="ü"/>
            </a:pPr>
            <a:r>
              <a:rPr lang="en-US" sz="2200" dirty="0">
                <a:latin typeface="Times New Roman" pitchFamily="18" charset="0"/>
                <a:cs typeface="Times New Roman" pitchFamily="18" charset="0"/>
              </a:rPr>
              <a:t>Small scale industries</a:t>
            </a:r>
          </a:p>
          <a:p>
            <a:pPr lvl="2" algn="just">
              <a:buFont typeface="Wingdings" pitchFamily="2" charset="2"/>
              <a:buChar char="ü"/>
            </a:pPr>
            <a:r>
              <a:rPr lang="en-US" sz="2200" dirty="0">
                <a:latin typeface="Times New Roman" pitchFamily="18" charset="0"/>
                <a:cs typeface="Times New Roman" pitchFamily="18" charset="0"/>
              </a:rPr>
              <a:t>Risk covered is not too heavy</a:t>
            </a:r>
          </a:p>
          <a:p>
            <a:pPr lvl="2" algn="just">
              <a:buFont typeface="Wingdings" pitchFamily="2" charset="2"/>
              <a:buChar char="ü"/>
            </a:pPr>
            <a:r>
              <a:rPr lang="en-US" sz="2200" dirty="0">
                <a:latin typeface="Times New Roman" pitchFamily="18" charset="0"/>
                <a:cs typeface="Times New Roman" pitchFamily="18" charset="0"/>
              </a:rPr>
              <a:t>Management by one man is possible</a:t>
            </a:r>
          </a:p>
          <a:p>
            <a:pPr lvl="2" algn="just">
              <a:buNone/>
            </a:pPr>
            <a:endParaRPr lang="en-US" sz="2000"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88640"/>
            <a:ext cx="8229600" cy="792088"/>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Individual/single Ownership</a:t>
            </a:r>
          </a:p>
        </p:txBody>
      </p:sp>
      <p:sp>
        <p:nvSpPr>
          <p:cNvPr id="3" name="Content Placeholder 2"/>
          <p:cNvSpPr>
            <a:spLocks noGrp="1"/>
          </p:cNvSpPr>
          <p:nvPr>
            <p:ph idx="1"/>
          </p:nvPr>
        </p:nvSpPr>
        <p:spPr>
          <a:xfrm>
            <a:off x="357158" y="908720"/>
            <a:ext cx="8535322" cy="5400600"/>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Ease of formation and dissolution.</a:t>
            </a:r>
          </a:p>
          <a:p>
            <a:pPr algn="just">
              <a:lnSpc>
                <a:spcPct val="150000"/>
              </a:lnSpc>
              <a:buFont typeface="Wingdings" pitchFamily="2" charset="2"/>
              <a:buChar char="Ø"/>
            </a:pPr>
            <a:r>
              <a:rPr lang="en-US" sz="2200" dirty="0">
                <a:latin typeface="Times New Roman" pitchFamily="18" charset="0"/>
                <a:cs typeface="Times New Roman" pitchFamily="18" charset="0"/>
              </a:rPr>
              <a:t>Direct relationship between effort and reward serves as a powerful incentive to the proprietor to manage the concern efficiently</a:t>
            </a:r>
          </a:p>
          <a:p>
            <a:pPr algn="just">
              <a:lnSpc>
                <a:spcPct val="150000"/>
              </a:lnSpc>
              <a:buFont typeface="Wingdings" pitchFamily="2" charset="2"/>
              <a:buChar char="Ø"/>
            </a:pPr>
            <a:r>
              <a:rPr lang="en-US" sz="2200" dirty="0">
                <a:latin typeface="Times New Roman" pitchFamily="18" charset="0"/>
                <a:cs typeface="Times New Roman" pitchFamily="18" charset="0"/>
              </a:rPr>
              <a:t>Ease of coordination</a:t>
            </a:r>
          </a:p>
          <a:p>
            <a:pPr algn="just">
              <a:lnSpc>
                <a:spcPct val="150000"/>
              </a:lnSpc>
              <a:buFont typeface="Wingdings" pitchFamily="2" charset="2"/>
              <a:buChar char="Ø"/>
            </a:pPr>
            <a:r>
              <a:rPr lang="en-US" sz="2200" dirty="0">
                <a:latin typeface="Times New Roman" pitchFamily="18" charset="0"/>
                <a:cs typeface="Times New Roman" pitchFamily="18" charset="0"/>
              </a:rPr>
              <a:t>Promptness in decision-making</a:t>
            </a:r>
          </a:p>
          <a:p>
            <a:pPr algn="just">
              <a:lnSpc>
                <a:spcPct val="150000"/>
              </a:lnSpc>
              <a:buFont typeface="Wingdings" pitchFamily="2" charset="2"/>
              <a:buChar char="Ø"/>
            </a:pPr>
            <a:r>
              <a:rPr lang="en-US" sz="2200" dirty="0">
                <a:latin typeface="Times New Roman" pitchFamily="18" charset="0"/>
                <a:cs typeface="Times New Roman" pitchFamily="18" charset="0"/>
              </a:rPr>
              <a:t>Flexibility in management</a:t>
            </a:r>
          </a:p>
          <a:p>
            <a:pPr algn="just">
              <a:lnSpc>
                <a:spcPct val="150000"/>
              </a:lnSpc>
              <a:buFont typeface="Wingdings" pitchFamily="2" charset="2"/>
              <a:buChar char="Ø"/>
            </a:pPr>
            <a:r>
              <a:rPr lang="en-US" sz="2200" dirty="0">
                <a:latin typeface="Times New Roman" pitchFamily="18" charset="0"/>
                <a:cs typeface="Times New Roman" pitchFamily="18" charset="0"/>
              </a:rPr>
              <a:t>Secrecy of the affairs of business can be maintained</a:t>
            </a:r>
          </a:p>
          <a:p>
            <a:pPr algn="just">
              <a:lnSpc>
                <a:spcPct val="150000"/>
              </a:lnSpc>
              <a:buFont typeface="Wingdings" pitchFamily="2" charset="2"/>
              <a:buChar char="Ø"/>
            </a:pPr>
            <a:r>
              <a:rPr lang="en-US" sz="2200" dirty="0">
                <a:latin typeface="Times New Roman" pitchFamily="18" charset="0"/>
                <a:cs typeface="Times New Roman" pitchFamily="18" charset="0"/>
              </a:rPr>
              <a:t>Freedom from government regulations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88640"/>
            <a:ext cx="8229600" cy="864096"/>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Disadvantages of Individual/single Ownership</a:t>
            </a:r>
          </a:p>
        </p:txBody>
      </p:sp>
      <p:sp>
        <p:nvSpPr>
          <p:cNvPr id="3" name="Content Placeholder 2"/>
          <p:cNvSpPr>
            <a:spLocks noGrp="1"/>
          </p:cNvSpPr>
          <p:nvPr>
            <p:ph idx="1"/>
          </p:nvPr>
        </p:nvSpPr>
        <p:spPr>
          <a:xfrm>
            <a:off x="357158" y="1340768"/>
            <a:ext cx="8535322" cy="4968552"/>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amount of capital that can be invested is limited, therefore, rendering it unsuitable for modern business</a:t>
            </a:r>
          </a:p>
          <a:p>
            <a:pPr algn="just">
              <a:lnSpc>
                <a:spcPct val="150000"/>
              </a:lnSpc>
              <a:buFont typeface="Wingdings" pitchFamily="2" charset="2"/>
              <a:buChar char="Ø"/>
            </a:pPr>
            <a:r>
              <a:rPr lang="en-US" sz="2200" dirty="0">
                <a:latin typeface="Times New Roman" pitchFamily="18" charset="0"/>
                <a:cs typeface="Times New Roman" pitchFamily="18" charset="0"/>
              </a:rPr>
              <a:t>All the qualities required for success in business are rarely found in a single person</a:t>
            </a:r>
          </a:p>
          <a:p>
            <a:pPr algn="just">
              <a:lnSpc>
                <a:spcPct val="150000"/>
              </a:lnSpc>
              <a:buFont typeface="Wingdings" pitchFamily="2" charset="2"/>
              <a:buChar char="Ø"/>
            </a:pPr>
            <a:r>
              <a:rPr lang="en-US" sz="2200" dirty="0">
                <a:latin typeface="Times New Roman" pitchFamily="18" charset="0"/>
                <a:cs typeface="Times New Roman" pitchFamily="18" charset="0"/>
              </a:rPr>
              <a:t>The liability of the sole proprietor will be unlimited</a:t>
            </a:r>
          </a:p>
          <a:p>
            <a:pPr algn="just">
              <a:lnSpc>
                <a:spcPct val="150000"/>
              </a:lnSpc>
              <a:buFont typeface="Wingdings" pitchFamily="2" charset="2"/>
              <a:buChar char="Ø"/>
            </a:pPr>
            <a:r>
              <a:rPr lang="en-US" sz="2200" dirty="0">
                <a:latin typeface="Times New Roman" pitchFamily="18" charset="0"/>
                <a:cs typeface="Times New Roman" pitchFamily="18" charset="0"/>
              </a:rPr>
              <a:t>Uncertainty of duration as the firm may cease to exist with the death of the proprietor</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Partnership Organization</a:t>
            </a:r>
            <a:b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endPar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908720"/>
            <a:ext cx="8229600" cy="5217443"/>
          </a:xfrm>
        </p:spPr>
        <p:txBody>
          <a:bodyPr>
            <a:normAutofit lnSpcReduction="10000"/>
          </a:bodyPr>
          <a:lstStyle/>
          <a:p>
            <a:pPr algn="just">
              <a:lnSpc>
                <a:spcPct val="150000"/>
              </a:lnSpc>
              <a:buFont typeface="Wingdings" pitchFamily="2" charset="2"/>
              <a:buChar char="Ø"/>
            </a:pPr>
            <a:r>
              <a:rPr lang="en-US" sz="2200" dirty="0">
                <a:latin typeface="Times New Roman" pitchFamily="18" charset="0"/>
                <a:cs typeface="Times New Roman" pitchFamily="18" charset="0"/>
              </a:rPr>
              <a:t>Owned by 2 or more persons who share the power, responsibilities and profits according to an agreement reached amongst themselves.</a:t>
            </a:r>
          </a:p>
          <a:p>
            <a:pPr algn="just">
              <a:lnSpc>
                <a:spcPct val="150000"/>
              </a:lnSpc>
              <a:buFont typeface="Wingdings" pitchFamily="2" charset="2"/>
              <a:buChar char="Ø"/>
            </a:pPr>
            <a:r>
              <a:rPr lang="en-US" sz="2200" dirty="0">
                <a:latin typeface="Times New Roman" pitchFamily="18" charset="0"/>
                <a:cs typeface="Times New Roman" pitchFamily="18" charset="0"/>
              </a:rPr>
              <a:t>Person may possess exceptional business ability, experience, talent but no capital, then he can have a financing partner (vice versa).</a:t>
            </a:r>
          </a:p>
          <a:p>
            <a:pPr algn="just">
              <a:lnSpc>
                <a:spcPct val="150000"/>
              </a:lnSpc>
              <a:buFont typeface="Wingdings" pitchFamily="2" charset="2"/>
              <a:buChar char="Ø"/>
            </a:pPr>
            <a:r>
              <a:rPr lang="en-US" sz="2200" dirty="0">
                <a:latin typeface="Times New Roman" pitchFamily="18" charset="0"/>
                <a:cs typeface="Times New Roman" pitchFamily="18" charset="0"/>
              </a:rPr>
              <a:t>“Partnership deed” – written agreement</a:t>
            </a:r>
          </a:p>
          <a:p>
            <a:pPr algn="just">
              <a:lnSpc>
                <a:spcPct val="150000"/>
              </a:lnSpc>
              <a:buFont typeface="Wingdings" pitchFamily="2" charset="2"/>
              <a:buChar char="Ø"/>
            </a:pPr>
            <a:r>
              <a:rPr lang="en-US" sz="2200" dirty="0">
                <a:latin typeface="Times New Roman" pitchFamily="18" charset="0"/>
                <a:cs typeface="Times New Roman" pitchFamily="18" charset="0"/>
              </a:rPr>
              <a:t>Indian partnership act defines partnership as the relation between persons who have agreed to share profits of a business carried on by all or any of them acting for all.</a:t>
            </a:r>
          </a:p>
          <a:p>
            <a:pPr algn="just">
              <a:lnSpc>
                <a:spcPct val="150000"/>
              </a:lnSpc>
              <a:buFont typeface="Wingdings" pitchFamily="2" charset="2"/>
              <a:buChar char="Ø"/>
            </a:pPr>
            <a:r>
              <a:rPr lang="en-US" sz="2200" dirty="0">
                <a:latin typeface="Times New Roman" pitchFamily="18" charset="0"/>
                <a:cs typeface="Times New Roman" pitchFamily="18" charset="0"/>
              </a:rPr>
              <a:t>The contribution of the partners in running the business need not be same.</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Partnership Organization</a:t>
            </a:r>
          </a:p>
        </p:txBody>
      </p:sp>
      <p:sp>
        <p:nvSpPr>
          <p:cNvPr id="3" name="Content Placeholder 2"/>
          <p:cNvSpPr>
            <a:spLocks noGrp="1"/>
          </p:cNvSpPr>
          <p:nvPr>
            <p:ph idx="1"/>
          </p:nvPr>
        </p:nvSpPr>
        <p:spPr>
          <a:xfrm>
            <a:off x="457200" y="836712"/>
            <a:ext cx="8229600" cy="5760640"/>
          </a:xfrm>
        </p:spPr>
        <p:txBody>
          <a:bodyPr>
            <a:normAutofit fontScale="92500" lnSpcReduction="10000"/>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partnership is created by mutual consent and voluntary agreement.</a:t>
            </a:r>
          </a:p>
          <a:p>
            <a:pPr algn="just">
              <a:lnSpc>
                <a:spcPct val="150000"/>
              </a:lnSpc>
              <a:buFont typeface="Wingdings" pitchFamily="2" charset="2"/>
              <a:buChar char="Ø"/>
            </a:pPr>
            <a:r>
              <a:rPr lang="en-US" sz="2200" dirty="0">
                <a:latin typeface="Times New Roman" pitchFamily="18" charset="0"/>
                <a:cs typeface="Times New Roman" pitchFamily="18" charset="0"/>
              </a:rPr>
              <a:t>Registration of a business under partnership is essential under shops and establishment act in order to take legal help in enforcing the terms of agreement on the partners. </a:t>
            </a:r>
          </a:p>
          <a:p>
            <a:pPr algn="just">
              <a:lnSpc>
                <a:spcPct val="150000"/>
              </a:lnSpc>
              <a:buFont typeface="Wingdings" pitchFamily="2" charset="2"/>
              <a:buChar char="Ø"/>
            </a:pPr>
            <a:r>
              <a:rPr lang="en-US" sz="2200" dirty="0">
                <a:latin typeface="Times New Roman" pitchFamily="18" charset="0"/>
                <a:cs typeface="Times New Roman" pitchFamily="18" charset="0"/>
              </a:rPr>
              <a:t>Every partner has an unlimited liability in respect of the firm’s debt and limitation of the liability through mutual agreement is not possible legally under partnership.</a:t>
            </a:r>
          </a:p>
          <a:p>
            <a:pPr lvl="2" algn="just">
              <a:lnSpc>
                <a:spcPct val="150000"/>
              </a:lnSpc>
              <a:buFont typeface="Wingdings" pitchFamily="2" charset="2"/>
              <a:buChar char="Ø"/>
            </a:pPr>
            <a:r>
              <a:rPr lang="en-US" sz="2200" i="1" dirty="0">
                <a:latin typeface="Times New Roman" pitchFamily="18" charset="0"/>
                <a:cs typeface="Times New Roman" pitchFamily="18" charset="0"/>
              </a:rPr>
              <a:t>active partners</a:t>
            </a:r>
          </a:p>
          <a:p>
            <a:pPr lvl="2" algn="just">
              <a:lnSpc>
                <a:spcPct val="150000"/>
              </a:lnSpc>
              <a:buFont typeface="Wingdings" pitchFamily="2" charset="2"/>
              <a:buChar char="Ø"/>
            </a:pPr>
            <a:r>
              <a:rPr lang="en-US" sz="2200" i="1" dirty="0">
                <a:latin typeface="Times New Roman" pitchFamily="18" charset="0"/>
                <a:cs typeface="Times New Roman" pitchFamily="18" charset="0"/>
              </a:rPr>
              <a:t>sleeping partners</a:t>
            </a:r>
          </a:p>
          <a:p>
            <a:pPr lvl="2" algn="just">
              <a:lnSpc>
                <a:spcPct val="150000"/>
              </a:lnSpc>
              <a:buFont typeface="Wingdings" pitchFamily="2" charset="2"/>
              <a:buChar char="Ø"/>
            </a:pPr>
            <a:r>
              <a:rPr lang="en-US" sz="2200" i="1" dirty="0">
                <a:latin typeface="Times New Roman" pitchFamily="18" charset="0"/>
                <a:cs typeface="Times New Roman" pitchFamily="18" charset="0"/>
              </a:rPr>
              <a:t>nominal partners</a:t>
            </a:r>
          </a:p>
          <a:p>
            <a:pPr lvl="2" algn="just">
              <a:lnSpc>
                <a:spcPct val="150000"/>
              </a:lnSpc>
              <a:buFont typeface="Wingdings" pitchFamily="2" charset="2"/>
              <a:buChar char="Ø"/>
            </a:pPr>
            <a:r>
              <a:rPr lang="en-US" sz="2200" i="1" dirty="0">
                <a:latin typeface="Times New Roman" pitchFamily="18" charset="0"/>
                <a:cs typeface="Times New Roman" pitchFamily="18" charset="0"/>
              </a:rPr>
              <a:t>secret partners</a:t>
            </a:r>
          </a:p>
          <a:p>
            <a:pPr lvl="2" algn="just">
              <a:lnSpc>
                <a:spcPct val="150000"/>
              </a:lnSpc>
              <a:buFont typeface="Wingdings" pitchFamily="2" charset="2"/>
              <a:buChar char="Ø"/>
            </a:pPr>
            <a:r>
              <a:rPr lang="en-US" sz="2200" i="1" dirty="0">
                <a:latin typeface="Times New Roman" pitchFamily="18" charset="0"/>
                <a:cs typeface="Times New Roman" pitchFamily="18" charset="0"/>
              </a:rPr>
              <a:t>minor partners</a:t>
            </a:r>
            <a:endParaRPr lang="en-US" sz="2200" dirty="0">
              <a:latin typeface="Times New Roman" pitchFamily="18" charset="0"/>
              <a:cs typeface="Times New Roman" pitchFamily="18" charset="0"/>
            </a:endParaRPr>
          </a:p>
          <a:p>
            <a:pPr lvl="3" algn="just">
              <a:lnSpc>
                <a:spcPct val="150000"/>
              </a:lnSpc>
              <a:buFont typeface="Wingdings" pitchFamily="2" charset="2"/>
              <a:buChar char="Ø"/>
            </a:pPr>
            <a:endParaRPr lang="en-US" sz="1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Partnership Organization</a:t>
            </a:r>
          </a:p>
        </p:txBody>
      </p:sp>
      <p:sp>
        <p:nvSpPr>
          <p:cNvPr id="3" name="Content Placeholder 2"/>
          <p:cNvSpPr>
            <a:spLocks noGrp="1"/>
          </p:cNvSpPr>
          <p:nvPr>
            <p:ph idx="1"/>
          </p:nvPr>
        </p:nvSpPr>
        <p:spPr>
          <a:xfrm>
            <a:off x="457200" y="980728"/>
            <a:ext cx="8229600" cy="5616624"/>
          </a:xfrm>
        </p:spPr>
        <p:txBody>
          <a:bodyPr>
            <a:normAutofit/>
          </a:bodyPr>
          <a:lstStyle/>
          <a:p>
            <a:pPr algn="just">
              <a:lnSpc>
                <a:spcPct val="140000"/>
              </a:lnSpc>
              <a:buFont typeface="Wingdings" pitchFamily="2" charset="2"/>
              <a:buChar char="Ø"/>
            </a:pPr>
            <a:r>
              <a:rPr lang="en-US" sz="2200" dirty="0">
                <a:latin typeface="Times New Roman" pitchFamily="18" charset="0"/>
                <a:cs typeface="Times New Roman" pitchFamily="18" charset="0"/>
              </a:rPr>
              <a:t>Ease of formation as there are very little legal formalities</a:t>
            </a:r>
          </a:p>
          <a:p>
            <a:pPr algn="just">
              <a:lnSpc>
                <a:spcPct val="140000"/>
              </a:lnSpc>
              <a:buFont typeface="Wingdings" pitchFamily="2" charset="2"/>
              <a:buChar char="Ø"/>
            </a:pPr>
            <a:r>
              <a:rPr lang="en-US" sz="2200" dirty="0">
                <a:latin typeface="Times New Roman" pitchFamily="18" charset="0"/>
                <a:cs typeface="Times New Roman" pitchFamily="18" charset="0"/>
              </a:rPr>
              <a:t>Larger financial resources as compared to single ownership</a:t>
            </a:r>
          </a:p>
          <a:p>
            <a:pPr algn="just">
              <a:lnSpc>
                <a:spcPct val="140000"/>
              </a:lnSpc>
              <a:buFont typeface="Wingdings" pitchFamily="2" charset="2"/>
              <a:buChar char="Ø"/>
            </a:pPr>
            <a:r>
              <a:rPr lang="en-US" sz="2200" dirty="0">
                <a:latin typeface="Times New Roman" pitchFamily="18" charset="0"/>
                <a:cs typeface="Times New Roman" pitchFamily="18" charset="0"/>
              </a:rPr>
              <a:t>Balanced judgment as the partners possesses various sorts of talent, expertise and experience</a:t>
            </a:r>
          </a:p>
          <a:p>
            <a:pPr algn="just">
              <a:lnSpc>
                <a:spcPct val="140000"/>
              </a:lnSpc>
              <a:buFont typeface="Wingdings" pitchFamily="2" charset="2"/>
              <a:buChar char="Ø"/>
            </a:pPr>
            <a:r>
              <a:rPr lang="en-US" sz="2200" dirty="0">
                <a:latin typeface="Times New Roman" pitchFamily="18" charset="0"/>
                <a:cs typeface="Times New Roman" pitchFamily="18" charset="0"/>
              </a:rPr>
              <a:t>Adequate credit availability because of unlimited liabilities of the partners</a:t>
            </a:r>
          </a:p>
          <a:p>
            <a:pPr algn="just">
              <a:lnSpc>
                <a:spcPct val="140000"/>
              </a:lnSpc>
              <a:buFont typeface="Wingdings" pitchFamily="2" charset="2"/>
              <a:buChar char="Ø"/>
            </a:pPr>
            <a:r>
              <a:rPr lang="en-US" sz="2200" dirty="0">
                <a:latin typeface="Times New Roman" pitchFamily="18" charset="0"/>
                <a:cs typeface="Times New Roman" pitchFamily="18" charset="0"/>
              </a:rPr>
              <a:t>Flexibility of operation</a:t>
            </a:r>
          </a:p>
          <a:p>
            <a:pPr algn="just">
              <a:lnSpc>
                <a:spcPct val="140000"/>
              </a:lnSpc>
              <a:buFont typeface="Wingdings" pitchFamily="2" charset="2"/>
              <a:buChar char="Ø"/>
            </a:pPr>
            <a:r>
              <a:rPr lang="en-US" sz="2200" dirty="0">
                <a:latin typeface="Times New Roman" pitchFamily="18" charset="0"/>
                <a:cs typeface="Times New Roman" pitchFamily="18" charset="0"/>
              </a:rPr>
              <a:t>Secrecy in business</a:t>
            </a:r>
          </a:p>
          <a:p>
            <a:pPr algn="just">
              <a:lnSpc>
                <a:spcPct val="140000"/>
              </a:lnSpc>
              <a:buFont typeface="Wingdings" pitchFamily="2" charset="2"/>
              <a:buChar char="Ø"/>
            </a:pPr>
            <a:r>
              <a:rPr lang="en-US" sz="2200" dirty="0">
                <a:latin typeface="Times New Roman" pitchFamily="18" charset="0"/>
                <a:cs typeface="Times New Roman" pitchFamily="18" charset="0"/>
              </a:rPr>
              <a:t>Losses, if any, are shared by the partners</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Partnership Organization</a:t>
            </a:r>
          </a:p>
        </p:txBody>
      </p:sp>
      <p:sp>
        <p:nvSpPr>
          <p:cNvPr id="3" name="Content Placeholder 2"/>
          <p:cNvSpPr>
            <a:spLocks noGrp="1"/>
          </p:cNvSpPr>
          <p:nvPr>
            <p:ph idx="1"/>
          </p:nvPr>
        </p:nvSpPr>
        <p:spPr>
          <a:xfrm>
            <a:off x="457200" y="1124744"/>
            <a:ext cx="8229600" cy="5472608"/>
          </a:xfrm>
        </p:spPr>
        <p:txBody>
          <a:bodyPr>
            <a:normAutofit/>
          </a:bodyPr>
          <a:lstStyle/>
          <a:p>
            <a:pPr algn="just">
              <a:lnSpc>
                <a:spcPct val="140000"/>
              </a:lnSpc>
              <a:buFont typeface="Wingdings" pitchFamily="2" charset="2"/>
              <a:buChar char="Ø"/>
            </a:pPr>
            <a:r>
              <a:rPr lang="en-US" sz="2000" dirty="0">
                <a:latin typeface="Times New Roman" pitchFamily="18" charset="0"/>
                <a:cs typeface="Times New Roman" pitchFamily="18" charset="0"/>
              </a:rPr>
              <a:t>Unlimited liabilities of each partner</a:t>
            </a:r>
          </a:p>
          <a:p>
            <a:pPr algn="just">
              <a:lnSpc>
                <a:spcPct val="140000"/>
              </a:lnSpc>
              <a:buFont typeface="Wingdings" pitchFamily="2" charset="2"/>
              <a:buChar char="Ø"/>
            </a:pPr>
            <a:r>
              <a:rPr lang="en-US" sz="2000" dirty="0">
                <a:latin typeface="Times New Roman" pitchFamily="18" charset="0"/>
                <a:cs typeface="Times New Roman" pitchFamily="18" charset="0"/>
              </a:rPr>
              <a:t>All partners suffer because of the wrong steps taken by any of the partners</a:t>
            </a:r>
          </a:p>
          <a:p>
            <a:pPr algn="just">
              <a:lnSpc>
                <a:spcPct val="140000"/>
              </a:lnSpc>
              <a:buFont typeface="Wingdings" pitchFamily="2" charset="2"/>
              <a:buChar char="Ø"/>
            </a:pPr>
            <a:r>
              <a:rPr lang="en-US" sz="2000" dirty="0">
                <a:latin typeface="Times New Roman" pitchFamily="18" charset="0"/>
                <a:cs typeface="Times New Roman" pitchFamily="18" charset="0"/>
              </a:rPr>
              <a:t>Uncertain life as partnership may dissolve by death or insolvency of a partner</a:t>
            </a:r>
          </a:p>
          <a:p>
            <a:pPr algn="just">
              <a:lnSpc>
                <a:spcPct val="140000"/>
              </a:lnSpc>
              <a:buFont typeface="Wingdings" pitchFamily="2" charset="2"/>
              <a:buChar char="Ø"/>
            </a:pPr>
            <a:r>
              <a:rPr lang="en-US" sz="2000" dirty="0">
                <a:latin typeface="Times New Roman" pitchFamily="18" charset="0"/>
                <a:cs typeface="Times New Roman" pitchFamily="18" charset="0"/>
              </a:rPr>
              <a:t>Lack of public confidence as the affairs of the business are kept secret and the accounts is not published</a:t>
            </a:r>
          </a:p>
          <a:p>
            <a:pPr algn="just">
              <a:lnSpc>
                <a:spcPct val="140000"/>
              </a:lnSpc>
              <a:buFont typeface="Wingdings" pitchFamily="2" charset="2"/>
              <a:buChar char="Ø"/>
            </a:pPr>
            <a:r>
              <a:rPr lang="en-US" sz="2000" dirty="0">
                <a:latin typeface="Times New Roman" pitchFamily="18" charset="0"/>
                <a:cs typeface="Times New Roman" pitchFamily="18" charset="0"/>
              </a:rPr>
              <a:t>Non-transferability or restricted transferability of the partners’ interest in the business</a:t>
            </a:r>
          </a:p>
          <a:p>
            <a:pPr algn="just">
              <a:lnSpc>
                <a:spcPct val="140000"/>
              </a:lnSpc>
              <a:buFont typeface="Wingdings" pitchFamily="2" charset="2"/>
              <a:buChar char="Ø"/>
            </a:pPr>
            <a:endParaRPr lang="en-US" sz="2000" dirty="0">
              <a:latin typeface="Times New Roman" pitchFamily="18" charset="0"/>
              <a:cs typeface="Times New Roman"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  Joint Stock Company</a:t>
            </a:r>
          </a:p>
        </p:txBody>
      </p:sp>
      <p:sp>
        <p:nvSpPr>
          <p:cNvPr id="3" name="Content Placeholder 2"/>
          <p:cNvSpPr>
            <a:spLocks noGrp="1"/>
          </p:cNvSpPr>
          <p:nvPr>
            <p:ph idx="1"/>
          </p:nvPr>
        </p:nvSpPr>
        <p:spPr>
          <a:xfrm>
            <a:off x="251520" y="908720"/>
            <a:ext cx="8640960" cy="5688632"/>
          </a:xfrm>
        </p:spPr>
        <p:txBody>
          <a:bodyPr>
            <a:noAutofit/>
          </a:bodyPr>
          <a:lstStyle/>
          <a:p>
            <a:pPr algn="just">
              <a:lnSpc>
                <a:spcPct val="140000"/>
              </a:lnSpc>
              <a:buFont typeface="Wingdings" pitchFamily="2" charset="2"/>
              <a:buChar char="Ø"/>
            </a:pPr>
            <a:r>
              <a:rPr lang="en-US" sz="2000" dirty="0">
                <a:latin typeface="Times New Roman" pitchFamily="18" charset="0"/>
                <a:cs typeface="Times New Roman" pitchFamily="18" charset="0"/>
              </a:rPr>
              <a:t>It is a voluntary association of individuals for profit, having a capital divided into transferable shares of different values.</a:t>
            </a:r>
          </a:p>
          <a:p>
            <a:pPr algn="just">
              <a:lnSpc>
                <a:spcPct val="140000"/>
              </a:lnSpc>
              <a:buFont typeface="Wingdings" pitchFamily="2" charset="2"/>
              <a:buChar char="Ø"/>
            </a:pPr>
            <a:r>
              <a:rPr lang="en-US" sz="2000" dirty="0">
                <a:latin typeface="Times New Roman" pitchFamily="18" charset="0"/>
                <a:cs typeface="Times New Roman" pitchFamily="18" charset="0"/>
              </a:rPr>
              <a:t>Persons who purchase shares are called Share Holders and managing body is known as Board of Directors, whom elected by the Share  Holders.</a:t>
            </a:r>
          </a:p>
          <a:p>
            <a:pPr algn="just">
              <a:lnSpc>
                <a:spcPct val="140000"/>
              </a:lnSpc>
              <a:buFont typeface="Wingdings" pitchFamily="2" charset="2"/>
              <a:buChar char="Ø"/>
            </a:pPr>
            <a:r>
              <a:rPr lang="en-US" sz="2000" dirty="0">
                <a:latin typeface="Times New Roman" pitchFamily="18" charset="0"/>
                <a:cs typeface="Times New Roman" pitchFamily="18" charset="0"/>
              </a:rPr>
              <a:t>Legal business owned by the shareholders having limited liability and managed by an elected Board of Directors.</a:t>
            </a:r>
          </a:p>
          <a:p>
            <a:pPr algn="just">
              <a:lnSpc>
                <a:spcPct val="140000"/>
              </a:lnSpc>
              <a:buFont typeface="Wingdings" pitchFamily="2" charset="2"/>
              <a:buChar char="Ø"/>
            </a:pPr>
            <a:r>
              <a:rPr lang="en-US" sz="2000" dirty="0">
                <a:latin typeface="Times New Roman" pitchFamily="18" charset="0"/>
                <a:cs typeface="Times New Roman" pitchFamily="18" charset="0"/>
              </a:rPr>
              <a:t>Capital is contributed by large number of persons in the form of shares of different values.</a:t>
            </a:r>
          </a:p>
          <a:p>
            <a:pPr algn="just">
              <a:lnSpc>
                <a:spcPct val="140000"/>
              </a:lnSpc>
              <a:buFont typeface="Wingdings" pitchFamily="2" charset="2"/>
              <a:buChar char="Ø"/>
            </a:pPr>
            <a:r>
              <a:rPr lang="en-US" sz="2000" dirty="0">
                <a:latin typeface="Times New Roman" pitchFamily="18" charset="0"/>
                <a:cs typeface="Times New Roman" pitchFamily="18" charset="0"/>
              </a:rPr>
              <a:t>In this form of organization liability of the shareholder is limited to the amount of shares held by him and he is free from the responsibility of the debts and claims of the company beyond the value of shares.</a:t>
            </a:r>
          </a:p>
          <a:p>
            <a:pPr marL="342900" lvl="1" indent="-342900" algn="just">
              <a:lnSpc>
                <a:spcPct val="140000"/>
              </a:lnSpc>
              <a:buFont typeface="Wingdings" pitchFamily="2" charset="2"/>
              <a:buChar char="Ø"/>
            </a:pPr>
            <a:r>
              <a:rPr lang="en-US" sz="2000" dirty="0">
                <a:latin typeface="Times New Roman" pitchFamily="18" charset="0"/>
                <a:cs typeface="Times New Roman" pitchFamily="18" charset="0"/>
              </a:rPr>
              <a:t>Types:- 	a) Private Ltd. Company 		b) Public Ltd Company</a:t>
            </a:r>
          </a:p>
          <a:p>
            <a:pPr marL="342900" lvl="1" indent="-342900" algn="just">
              <a:lnSpc>
                <a:spcPct val="140000"/>
              </a:lnSpc>
              <a:buFont typeface="Wingdings" pitchFamily="2" charset="2"/>
              <a:buChar char="Ø"/>
            </a:pPr>
            <a:endParaRPr lang="en-US" sz="2000" dirty="0">
              <a:latin typeface="Times New Roman" pitchFamily="18" charset="0"/>
              <a:cs typeface="Times New Roman"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i="1" dirty="0">
                <a:solidFill>
                  <a:srgbClr val="7030A0"/>
                </a:solidFill>
                <a:latin typeface="Times New Roman" pitchFamily="18" charset="0"/>
                <a:cs typeface="Times New Roman" pitchFamily="18" charset="0"/>
              </a:rPr>
              <a:t>a) Private Ltd. Company</a:t>
            </a:r>
            <a:endParaRPr lang="en-US" sz="3200" i="1" dirty="0">
              <a:solidFill>
                <a:srgbClr val="7030A0"/>
              </a:solidFill>
            </a:endParaRPr>
          </a:p>
        </p:txBody>
      </p:sp>
      <p:sp>
        <p:nvSpPr>
          <p:cNvPr id="3" name="Content Placeholder 2"/>
          <p:cNvSpPr>
            <a:spLocks noGrp="1"/>
          </p:cNvSpPr>
          <p:nvPr>
            <p:ph idx="1"/>
          </p:nvPr>
        </p:nvSpPr>
        <p:spPr>
          <a:xfrm>
            <a:off x="251520" y="908720"/>
            <a:ext cx="8640960" cy="554461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Owned and managed by a group of members from family, relatives or friends.</a:t>
            </a:r>
          </a:p>
          <a:p>
            <a:pPr algn="just">
              <a:lnSpc>
                <a:spcPct val="150000"/>
              </a:lnSpc>
              <a:buFont typeface="Wingdings" pitchFamily="2" charset="2"/>
              <a:buChar char="Ø"/>
            </a:pPr>
            <a:r>
              <a:rPr lang="en-US" sz="2200" dirty="0">
                <a:latin typeface="Times New Roman" pitchFamily="18" charset="0"/>
                <a:cs typeface="Times New Roman" pitchFamily="18" charset="0"/>
              </a:rPr>
              <a:t>Formed by 2 or more members &amp; maximum is limited to 50.</a:t>
            </a:r>
          </a:p>
          <a:p>
            <a:pPr algn="just">
              <a:lnSpc>
                <a:spcPct val="150000"/>
              </a:lnSpc>
              <a:buFont typeface="Wingdings" pitchFamily="2" charset="2"/>
              <a:buChar char="Ø"/>
            </a:pPr>
            <a:r>
              <a:rPr lang="en-US" sz="2200" dirty="0">
                <a:latin typeface="Times New Roman" pitchFamily="18" charset="0"/>
                <a:cs typeface="Times New Roman" pitchFamily="18" charset="0"/>
              </a:rPr>
              <a:t>Transfer of share is limited to members only and general public cannot be invited to purchase shares. </a:t>
            </a:r>
          </a:p>
          <a:p>
            <a:pPr algn="just">
              <a:lnSpc>
                <a:spcPct val="150000"/>
              </a:lnSpc>
              <a:buFont typeface="Wingdings" pitchFamily="2" charset="2"/>
              <a:buChar char="Ø"/>
            </a:pPr>
            <a:r>
              <a:rPr lang="en-US" sz="2200" dirty="0">
                <a:latin typeface="Times New Roman" pitchFamily="18" charset="0"/>
                <a:cs typeface="Times New Roman" pitchFamily="18" charset="0"/>
              </a:rPr>
              <a:t>A private limited company need not make the prospectus, accounts and other particulars open to public.</a:t>
            </a:r>
          </a:p>
          <a:p>
            <a:pPr algn="just">
              <a:lnSpc>
                <a:spcPct val="150000"/>
              </a:lnSpc>
              <a:buFont typeface="Wingdings" pitchFamily="2" charset="2"/>
              <a:buChar char="Ø"/>
            </a:pPr>
            <a:r>
              <a:rPr lang="en-US" sz="2200" dirty="0">
                <a:latin typeface="Times New Roman" pitchFamily="18" charset="0"/>
                <a:cs typeface="Times New Roman" pitchFamily="18" charset="0"/>
              </a:rPr>
              <a:t>The government also does not interfere on the working of the company. A private limited company, while conferring the advantage of limited liability, allows a business to be privately owned and managed.</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normAutofit/>
          </a:bodyPr>
          <a:lstStyle/>
          <a:p>
            <a:r>
              <a:rPr lang="en-US" sz="3200" b="1" i="1" dirty="0">
                <a:solidFill>
                  <a:srgbClr val="7030A0"/>
                </a:solidFill>
                <a:latin typeface="Times New Roman" pitchFamily="18" charset="0"/>
                <a:cs typeface="Times New Roman" pitchFamily="18" charset="0"/>
              </a:rPr>
              <a:t>b) Public Ltd company</a:t>
            </a:r>
            <a:endParaRPr lang="en-US" sz="3200" dirty="0"/>
          </a:p>
        </p:txBody>
      </p:sp>
      <p:sp>
        <p:nvSpPr>
          <p:cNvPr id="3" name="Content Placeholder 2"/>
          <p:cNvSpPr>
            <a:spLocks noGrp="1"/>
          </p:cNvSpPr>
          <p:nvPr>
            <p:ph idx="1"/>
          </p:nvPr>
        </p:nvSpPr>
        <p:spPr>
          <a:xfrm>
            <a:off x="323528" y="836712"/>
            <a:ext cx="8568952" cy="5760640"/>
          </a:xfrm>
        </p:spPr>
        <p:txBody>
          <a:bodyPr>
            <a:normAutofit fontScale="92500"/>
          </a:bodyPr>
          <a:lstStyle/>
          <a:p>
            <a:pPr algn="just">
              <a:lnSpc>
                <a:spcPct val="150000"/>
              </a:lnSpc>
              <a:buFont typeface="Wingdings" pitchFamily="2" charset="2"/>
              <a:buChar char="Ø"/>
            </a:pPr>
            <a:r>
              <a:rPr lang="en-US" sz="2200" dirty="0">
                <a:latin typeface="Times New Roman" pitchFamily="18" charset="0"/>
                <a:cs typeface="Times New Roman" pitchFamily="18" charset="0"/>
              </a:rPr>
              <a:t>It is opened to general public</a:t>
            </a:r>
          </a:p>
          <a:p>
            <a:pPr algn="just">
              <a:lnSpc>
                <a:spcPct val="150000"/>
              </a:lnSpc>
              <a:buFont typeface="Wingdings" pitchFamily="2" charset="2"/>
              <a:buChar char="Ø"/>
            </a:pPr>
            <a:r>
              <a:rPr lang="en-US" sz="2200" dirty="0">
                <a:latin typeface="Times New Roman" pitchFamily="18" charset="0"/>
                <a:cs typeface="Times New Roman" pitchFamily="18" charset="0"/>
              </a:rPr>
              <a:t>Minimum number of persons are 7 and there is no upper limit.</a:t>
            </a:r>
          </a:p>
          <a:p>
            <a:pPr algn="just">
              <a:lnSpc>
                <a:spcPct val="150000"/>
              </a:lnSpc>
              <a:buFont typeface="Wingdings" pitchFamily="2" charset="2"/>
              <a:buChar char="Ø"/>
            </a:pPr>
            <a:r>
              <a:rPr lang="en-US" sz="2200" dirty="0">
                <a:latin typeface="Times New Roman" pitchFamily="18" charset="0"/>
                <a:cs typeface="Times New Roman" pitchFamily="18" charset="0"/>
              </a:rPr>
              <a:t>They are subjected to greater control and supervision of the govt.</a:t>
            </a:r>
          </a:p>
          <a:p>
            <a:pPr algn="just">
              <a:lnSpc>
                <a:spcPct val="150000"/>
              </a:lnSpc>
              <a:buFont typeface="Wingdings" pitchFamily="2" charset="2"/>
              <a:buChar char="Ø"/>
            </a:pPr>
            <a:r>
              <a:rPr lang="en-US" sz="2200" dirty="0">
                <a:latin typeface="Times New Roman" pitchFamily="18" charset="0"/>
                <a:cs typeface="Times New Roman" pitchFamily="18" charset="0"/>
              </a:rPr>
              <a:t>This control is necessary to protect the interest of the shareholders and the members of the public. </a:t>
            </a:r>
          </a:p>
          <a:p>
            <a:pPr algn="just">
              <a:lnSpc>
                <a:spcPct val="150000"/>
              </a:lnSpc>
              <a:buFont typeface="Wingdings" pitchFamily="2" charset="2"/>
              <a:buChar char="Ø"/>
            </a:pPr>
            <a:r>
              <a:rPr lang="en-US" sz="2200" dirty="0">
                <a:latin typeface="Times New Roman" pitchFamily="18" charset="0"/>
                <a:cs typeface="Times New Roman" pitchFamily="18" charset="0"/>
              </a:rPr>
              <a:t>The affairs of the public limited company should be made open to public by publishing in leading newspapers.</a:t>
            </a:r>
          </a:p>
          <a:p>
            <a:pPr algn="just">
              <a:lnSpc>
                <a:spcPct val="150000"/>
              </a:lnSpc>
              <a:buFont typeface="Wingdings" pitchFamily="2" charset="2"/>
              <a:buChar char="Ø"/>
            </a:pPr>
            <a:r>
              <a:rPr lang="en-US" sz="2200" dirty="0">
                <a:latin typeface="Times New Roman" pitchFamily="18" charset="0"/>
                <a:cs typeface="Times New Roman" pitchFamily="18" charset="0"/>
              </a:rPr>
              <a:t>Shares are transferable without any prior approval.</a:t>
            </a:r>
          </a:p>
          <a:p>
            <a:pPr algn="just">
              <a:lnSpc>
                <a:spcPct val="150000"/>
              </a:lnSpc>
              <a:buFont typeface="Wingdings" pitchFamily="2" charset="2"/>
              <a:buChar char="Ø"/>
            </a:pPr>
            <a:r>
              <a:rPr lang="en-US" sz="2200" dirty="0">
                <a:latin typeface="Times New Roman" pitchFamily="18" charset="0"/>
                <a:cs typeface="Times New Roman" pitchFamily="18" charset="0"/>
              </a:rPr>
              <a:t>The affairs of company are managed by BOD</a:t>
            </a:r>
          </a:p>
          <a:p>
            <a:pPr algn="just">
              <a:lnSpc>
                <a:spcPct val="150000"/>
              </a:lnSpc>
              <a:buFont typeface="Wingdings" pitchFamily="2" charset="2"/>
              <a:buChar char="Ø"/>
            </a:pPr>
            <a:r>
              <a:rPr lang="en-US" sz="2200" dirty="0">
                <a:latin typeface="Times New Roman" pitchFamily="18" charset="0"/>
                <a:cs typeface="Times New Roman" pitchFamily="18" charset="0"/>
              </a:rPr>
              <a:t>The public limited companies can advertise to offer its share to general public through a prospectus and there is no restriction on the transfer of shares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4096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Private Ltd Company Vs Public Ltd Company</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617720"/>
        </p:xfrm>
        <a:graphic>
          <a:graphicData uri="http://schemas.openxmlformats.org/drawingml/2006/table">
            <a:tbl>
              <a:tblPr firstRow="1" bandRow="1">
                <a:tableStyleId>{F5AB1C69-6EDB-4FF4-983F-18BD219EF322}</a:tableStyleId>
              </a:tblPr>
              <a:tblGrid>
                <a:gridCol w="900090">
                  <a:extLst>
                    <a:ext uri="{9D8B030D-6E8A-4147-A177-3AD203B41FA5}">
                      <a16:colId xmlns:a16="http://schemas.microsoft.com/office/drawing/2014/main" val="20000"/>
                    </a:ext>
                  </a:extLst>
                </a:gridCol>
                <a:gridCol w="321471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ctr"/>
                      <a:r>
                        <a:rPr lang="en-US" dirty="0">
                          <a:solidFill>
                            <a:srgbClr val="002060"/>
                          </a:solidFill>
                          <a:latin typeface="Times New Roman" pitchFamily="18" charset="0"/>
                          <a:cs typeface="Times New Roman" pitchFamily="18" charset="0"/>
                        </a:rPr>
                        <a:t>Sl.</a:t>
                      </a:r>
                      <a:r>
                        <a:rPr lang="en-US" baseline="0" dirty="0">
                          <a:solidFill>
                            <a:srgbClr val="002060"/>
                          </a:solidFill>
                          <a:latin typeface="Times New Roman" pitchFamily="18" charset="0"/>
                          <a:cs typeface="Times New Roman" pitchFamily="18" charset="0"/>
                        </a:rPr>
                        <a:t> No</a:t>
                      </a:r>
                      <a:endParaRPr lang="en-IN" dirty="0">
                        <a:solidFill>
                          <a:srgbClr val="002060"/>
                        </a:solidFill>
                        <a:latin typeface="Times New Roman" pitchFamily="18" charset="0"/>
                        <a:cs typeface="Times New Roman" pitchFamily="18" charset="0"/>
                      </a:endParaRPr>
                    </a:p>
                  </a:txBody>
                  <a:tcPr/>
                </a:tc>
                <a:tc>
                  <a:txBody>
                    <a:bodyPr/>
                    <a:lstStyle/>
                    <a:p>
                      <a:pPr algn="ctr"/>
                      <a:r>
                        <a:rPr lang="en-US" dirty="0">
                          <a:solidFill>
                            <a:srgbClr val="002060"/>
                          </a:solidFill>
                          <a:latin typeface="Times New Roman" pitchFamily="18" charset="0"/>
                          <a:cs typeface="Times New Roman" pitchFamily="18" charset="0"/>
                        </a:rPr>
                        <a:t>Basis of Description</a:t>
                      </a:r>
                      <a:endParaRPr lang="en-IN" dirty="0">
                        <a:solidFill>
                          <a:srgbClr val="002060"/>
                        </a:solidFill>
                        <a:latin typeface="Times New Roman" pitchFamily="18" charset="0"/>
                        <a:cs typeface="Times New Roman" pitchFamily="18" charset="0"/>
                      </a:endParaRPr>
                    </a:p>
                  </a:txBody>
                  <a:tcPr/>
                </a:tc>
                <a:tc>
                  <a:txBody>
                    <a:bodyPr/>
                    <a:lstStyle/>
                    <a:p>
                      <a:pPr algn="ctr"/>
                      <a:r>
                        <a:rPr lang="en-US" dirty="0">
                          <a:solidFill>
                            <a:srgbClr val="002060"/>
                          </a:solidFill>
                          <a:latin typeface="Times New Roman" pitchFamily="18" charset="0"/>
                          <a:cs typeface="Times New Roman" pitchFamily="18" charset="0"/>
                        </a:rPr>
                        <a:t>Private</a:t>
                      </a:r>
                      <a:r>
                        <a:rPr lang="en-US" baseline="0" dirty="0">
                          <a:solidFill>
                            <a:srgbClr val="002060"/>
                          </a:solidFill>
                          <a:latin typeface="Times New Roman" pitchFamily="18" charset="0"/>
                          <a:cs typeface="Times New Roman" pitchFamily="18" charset="0"/>
                        </a:rPr>
                        <a:t> Ltd</a:t>
                      </a:r>
                      <a:endParaRPr lang="en-IN" dirty="0">
                        <a:solidFill>
                          <a:srgbClr val="002060"/>
                        </a:solidFill>
                        <a:latin typeface="Times New Roman" pitchFamily="18" charset="0"/>
                        <a:cs typeface="Times New Roman" pitchFamily="18" charset="0"/>
                      </a:endParaRPr>
                    </a:p>
                  </a:txBody>
                  <a:tcPr/>
                </a:tc>
                <a:tc>
                  <a:txBody>
                    <a:bodyPr/>
                    <a:lstStyle/>
                    <a:p>
                      <a:pPr algn="ctr"/>
                      <a:r>
                        <a:rPr lang="en-US" dirty="0">
                          <a:solidFill>
                            <a:srgbClr val="002060"/>
                          </a:solidFill>
                          <a:latin typeface="Times New Roman" pitchFamily="18" charset="0"/>
                          <a:cs typeface="Times New Roman" pitchFamily="18" charset="0"/>
                        </a:rPr>
                        <a:t>Public Ltd</a:t>
                      </a:r>
                      <a:endParaRPr lang="en-IN"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pPr algn="ctr"/>
                      <a:r>
                        <a:rPr lang="en-US" dirty="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Minimum no: of members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Two</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Seven</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pPr algn="ctr"/>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Maximum no: members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Fifty </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Unlimited</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pPr algn="ctr"/>
                      <a:r>
                        <a:rPr lang="en-US" dirty="0">
                          <a:latin typeface="Times New Roman" pitchFamily="18" charset="0"/>
                          <a:cs typeface="Times New Roman" pitchFamily="18" charset="0"/>
                        </a:rPr>
                        <a:t>3</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Invitation of</a:t>
                      </a:r>
                      <a:r>
                        <a:rPr lang="en-US" baseline="0" dirty="0">
                          <a:latin typeface="Times New Roman" pitchFamily="18" charset="0"/>
                          <a:cs typeface="Times New Roman" pitchFamily="18" charset="0"/>
                        </a:rPr>
                        <a:t> public for capital</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No</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Yes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pPr algn="ctr"/>
                      <a:r>
                        <a:rPr lang="en-US" dirty="0">
                          <a:latin typeface="Times New Roman" pitchFamily="18" charset="0"/>
                          <a:cs typeface="Times New Roman" pitchFamily="18" charset="0"/>
                        </a:rPr>
                        <a:t>4</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Transferability</a:t>
                      </a:r>
                      <a:r>
                        <a:rPr lang="en-US" baseline="0" dirty="0">
                          <a:latin typeface="Times New Roman" pitchFamily="18" charset="0"/>
                          <a:cs typeface="Times New Roman" pitchFamily="18" charset="0"/>
                        </a:rPr>
                        <a:t> of shares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Restricted to members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Free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pPr algn="ctr"/>
                      <a:r>
                        <a:rPr lang="en-US" dirty="0">
                          <a:latin typeface="Times New Roman" pitchFamily="18" charset="0"/>
                          <a:cs typeface="Times New Roman" pitchFamily="18" charset="0"/>
                        </a:rPr>
                        <a:t>5</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Secrecy</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Possible</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Not possible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pPr algn="ctr"/>
                      <a:r>
                        <a:rPr lang="en-US" dirty="0">
                          <a:latin typeface="Times New Roman" pitchFamily="18" charset="0"/>
                          <a:cs typeface="Times New Roman" pitchFamily="18" charset="0"/>
                        </a:rPr>
                        <a:t>6</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Prospectus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Not necessary</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Yes, necessary</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370840">
                <a:tc>
                  <a:txBody>
                    <a:bodyPr/>
                    <a:lstStyle/>
                    <a:p>
                      <a:pPr algn="ctr"/>
                      <a:r>
                        <a:rPr lang="en-US" dirty="0">
                          <a:latin typeface="Times New Roman" pitchFamily="18" charset="0"/>
                          <a:cs typeface="Times New Roman" pitchFamily="18" charset="0"/>
                        </a:rPr>
                        <a:t>7</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Minimum no: of directors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Two</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Three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370840">
                <a:tc>
                  <a:txBody>
                    <a:bodyPr/>
                    <a:lstStyle/>
                    <a:p>
                      <a:pPr algn="ctr"/>
                      <a:r>
                        <a:rPr lang="en-US" dirty="0">
                          <a:latin typeface="Times New Roman" pitchFamily="18" charset="0"/>
                          <a:cs typeface="Times New Roman" pitchFamily="18" charset="0"/>
                        </a:rPr>
                        <a:t>8</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Exemption from legal restrictions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Yes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No</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370840">
                <a:tc>
                  <a:txBody>
                    <a:bodyPr/>
                    <a:lstStyle/>
                    <a:p>
                      <a:pPr algn="ctr"/>
                      <a:r>
                        <a:rPr lang="en-US" dirty="0">
                          <a:latin typeface="Times New Roman" pitchFamily="18" charset="0"/>
                          <a:cs typeface="Times New Roman" pitchFamily="18" charset="0"/>
                        </a:rPr>
                        <a:t>9</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Quick Decision</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Possible</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Not</a:t>
                      </a:r>
                      <a:r>
                        <a:rPr lang="en-US" baseline="0" dirty="0">
                          <a:latin typeface="Times New Roman" pitchFamily="18" charset="0"/>
                          <a:cs typeface="Times New Roman" pitchFamily="18" charset="0"/>
                        </a:rPr>
                        <a:t> Possible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9"/>
                  </a:ext>
                </a:extLst>
              </a:tr>
              <a:tr h="370840">
                <a:tc>
                  <a:txBody>
                    <a:bodyPr/>
                    <a:lstStyle/>
                    <a:p>
                      <a:pPr algn="ctr"/>
                      <a:r>
                        <a:rPr lang="en-US" dirty="0">
                          <a:latin typeface="Times New Roman" pitchFamily="18" charset="0"/>
                          <a:cs typeface="Times New Roman" pitchFamily="18" charset="0"/>
                        </a:rPr>
                        <a:t>10</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Protection to members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Less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More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Joint Stock Company</a:t>
            </a:r>
          </a:p>
        </p:txBody>
      </p:sp>
      <p:sp>
        <p:nvSpPr>
          <p:cNvPr id="3" name="Content Placeholder 2"/>
          <p:cNvSpPr>
            <a:spLocks noGrp="1"/>
          </p:cNvSpPr>
          <p:nvPr>
            <p:ph idx="1"/>
          </p:nvPr>
        </p:nvSpPr>
        <p:spPr>
          <a:xfrm>
            <a:off x="395536" y="1124744"/>
            <a:ext cx="8496944" cy="5472608"/>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Availability of large capital</a:t>
            </a:r>
          </a:p>
          <a:p>
            <a:pPr algn="just">
              <a:lnSpc>
                <a:spcPct val="150000"/>
              </a:lnSpc>
              <a:buFont typeface="Wingdings" pitchFamily="2" charset="2"/>
              <a:buChar char="Ø"/>
            </a:pPr>
            <a:r>
              <a:rPr lang="en-US" sz="2200" dirty="0">
                <a:latin typeface="Times New Roman" pitchFamily="18" charset="0"/>
                <a:cs typeface="Times New Roman" pitchFamily="18" charset="0"/>
              </a:rPr>
              <a:t>Limited liability</a:t>
            </a:r>
          </a:p>
          <a:p>
            <a:pPr algn="just">
              <a:lnSpc>
                <a:spcPct val="150000"/>
              </a:lnSpc>
              <a:buFont typeface="Wingdings" pitchFamily="2" charset="2"/>
              <a:buChar char="Ø"/>
            </a:pPr>
            <a:r>
              <a:rPr lang="en-US" sz="2200" dirty="0">
                <a:latin typeface="Times New Roman" pitchFamily="18" charset="0"/>
                <a:cs typeface="Times New Roman" pitchFamily="18" charset="0"/>
              </a:rPr>
              <a:t>Not affected by the death or retirement</a:t>
            </a:r>
          </a:p>
          <a:p>
            <a:pPr algn="just">
              <a:lnSpc>
                <a:spcPct val="150000"/>
              </a:lnSpc>
              <a:buFont typeface="Wingdings" pitchFamily="2" charset="2"/>
              <a:buChar char="Ø"/>
            </a:pPr>
            <a:r>
              <a:rPr lang="en-US" sz="2200" dirty="0">
                <a:latin typeface="Times New Roman" pitchFamily="18" charset="0"/>
                <a:cs typeface="Times New Roman" pitchFamily="18" charset="0"/>
              </a:rPr>
              <a:t>Risk of loss is divided among the shareholders</a:t>
            </a:r>
          </a:p>
          <a:p>
            <a:pPr algn="just">
              <a:lnSpc>
                <a:spcPct val="150000"/>
              </a:lnSpc>
              <a:buFont typeface="Wingdings" pitchFamily="2" charset="2"/>
              <a:buChar char="Ø"/>
            </a:pPr>
            <a:r>
              <a:rPr lang="en-US" sz="2200" dirty="0">
                <a:latin typeface="Times New Roman" pitchFamily="18" charset="0"/>
                <a:cs typeface="Times New Roman" pitchFamily="18" charset="0"/>
              </a:rPr>
              <a:t>Ease of expansion</a:t>
            </a:r>
          </a:p>
          <a:p>
            <a:pPr algn="just">
              <a:lnSpc>
                <a:spcPct val="150000"/>
              </a:lnSpc>
              <a:buFont typeface="Wingdings" pitchFamily="2" charset="2"/>
              <a:buChar char="Ø"/>
            </a:pPr>
            <a:r>
              <a:rPr lang="en-US" sz="2200" dirty="0">
                <a:latin typeface="Times New Roman" pitchFamily="18" charset="0"/>
                <a:cs typeface="Times New Roman" pitchFamily="18" charset="0"/>
              </a:rPr>
              <a:t>Services of specialists can be obtained</a:t>
            </a:r>
          </a:p>
          <a:p>
            <a:pPr algn="just">
              <a:lnSpc>
                <a:spcPct val="150000"/>
              </a:lnSpc>
              <a:buFont typeface="Wingdings" pitchFamily="2" charset="2"/>
              <a:buChar char="Ø"/>
            </a:pPr>
            <a:r>
              <a:rPr lang="en-US" sz="2200" dirty="0">
                <a:latin typeface="Times New Roman" pitchFamily="18" charset="0"/>
                <a:cs typeface="Times New Roman" pitchFamily="18" charset="0"/>
              </a:rPr>
              <a:t>Cheaper and better production because of large-scale production with the use of modern technology, which the company can afford</a:t>
            </a:r>
          </a:p>
          <a:p>
            <a:pPr marL="342900" lvl="1" indent="-342900" algn="just">
              <a:lnSpc>
                <a:spcPct val="150000"/>
              </a:lnSpc>
              <a:buFont typeface="Wingdings" pitchFamily="2" charset="2"/>
              <a:buChar char="Ø"/>
            </a:pPr>
            <a:endParaRPr lang="en-US" sz="2200" dirty="0">
              <a:latin typeface="Times New Roman" pitchFamily="18" charset="0"/>
              <a:cs typeface="Times New Roman"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Joint Stock Company</a:t>
            </a:r>
          </a:p>
        </p:txBody>
      </p:sp>
      <p:sp>
        <p:nvSpPr>
          <p:cNvPr id="3" name="Content Placeholder 2"/>
          <p:cNvSpPr>
            <a:spLocks noGrp="1"/>
          </p:cNvSpPr>
          <p:nvPr>
            <p:ph idx="1"/>
          </p:nvPr>
        </p:nvSpPr>
        <p:spPr>
          <a:xfrm>
            <a:off x="323528" y="908720"/>
            <a:ext cx="8568952" cy="5688632"/>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Lack of personal interest on the part of the salaried manager can lead to inefficiency and waste.</a:t>
            </a:r>
          </a:p>
          <a:p>
            <a:pPr algn="just">
              <a:lnSpc>
                <a:spcPct val="150000"/>
              </a:lnSpc>
              <a:buFont typeface="Wingdings" pitchFamily="2" charset="2"/>
              <a:buChar char="Ø"/>
            </a:pPr>
            <a:r>
              <a:rPr lang="en-US" sz="2200" dirty="0">
                <a:latin typeface="Times New Roman" pitchFamily="18" charset="0"/>
                <a:cs typeface="Times New Roman" pitchFamily="18" charset="0"/>
              </a:rPr>
              <a:t>Board of directors and managers who have intimate knowledge of the financial position of the company may purchase or sell the shares accordingly for their personal profits</a:t>
            </a:r>
          </a:p>
          <a:p>
            <a:pPr algn="just">
              <a:lnSpc>
                <a:spcPct val="150000"/>
              </a:lnSpc>
              <a:buFont typeface="Wingdings" pitchFamily="2" charset="2"/>
              <a:buChar char="Ø"/>
            </a:pPr>
            <a:r>
              <a:rPr lang="en-US" sz="2200" dirty="0">
                <a:latin typeface="Times New Roman" pitchFamily="18" charset="0"/>
                <a:cs typeface="Times New Roman" pitchFamily="18" charset="0"/>
              </a:rPr>
              <a:t>Requires a great deal of legal formalities to be observed</a:t>
            </a:r>
          </a:p>
          <a:p>
            <a:pPr algn="just">
              <a:lnSpc>
                <a:spcPct val="150000"/>
              </a:lnSpc>
              <a:buFont typeface="Wingdings" pitchFamily="2" charset="2"/>
              <a:buChar char="Ø"/>
            </a:pPr>
            <a:r>
              <a:rPr lang="en-US" sz="2200" dirty="0">
                <a:latin typeface="Times New Roman" pitchFamily="18" charset="0"/>
                <a:cs typeface="Times New Roman" pitchFamily="18" charset="0"/>
              </a:rPr>
              <a:t>Difficult to maintain secrecy</a:t>
            </a:r>
          </a:p>
          <a:p>
            <a:pPr algn="just">
              <a:lnSpc>
                <a:spcPct val="150000"/>
              </a:lnSpc>
              <a:buFont typeface="Wingdings" pitchFamily="2" charset="2"/>
              <a:buChar char="Ø"/>
            </a:pPr>
            <a:r>
              <a:rPr lang="en-US" sz="2200" dirty="0">
                <a:latin typeface="Times New Roman" pitchFamily="18" charset="0"/>
                <a:cs typeface="Times New Roman" pitchFamily="18" charset="0"/>
              </a:rPr>
              <a:t>Few shareholders having greater number of shares may secure control over the company</a:t>
            </a:r>
          </a:p>
          <a:p>
            <a:pPr algn="just">
              <a:lnSpc>
                <a:spcPct val="150000"/>
              </a:lnSpc>
              <a:buFont typeface="Wingdings" pitchFamily="2" charset="2"/>
              <a:buChar char="Ø"/>
            </a:pPr>
            <a:r>
              <a:rPr lang="en-US" sz="2200" dirty="0">
                <a:latin typeface="Times New Roman" pitchFamily="18" charset="0"/>
                <a:cs typeface="Times New Roman" pitchFamily="18" charset="0"/>
              </a:rPr>
              <a:t>Slow decision-making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4. Co-operative Organization</a:t>
            </a:r>
          </a:p>
        </p:txBody>
      </p:sp>
      <p:sp>
        <p:nvSpPr>
          <p:cNvPr id="3" name="Content Placeholder 2"/>
          <p:cNvSpPr>
            <a:spLocks noGrp="1"/>
          </p:cNvSpPr>
          <p:nvPr>
            <p:ph idx="1"/>
          </p:nvPr>
        </p:nvSpPr>
        <p:spPr>
          <a:xfrm>
            <a:off x="467544" y="1196752"/>
            <a:ext cx="8208912" cy="5400600"/>
          </a:xfrm>
        </p:spPr>
        <p:txBody>
          <a:bodyPr>
            <a:noAutofit/>
          </a:bodyPr>
          <a:lstStyle/>
          <a:p>
            <a:pPr algn="just">
              <a:buFont typeface="Wingdings" pitchFamily="2" charset="2"/>
              <a:buChar char="Ø"/>
            </a:pPr>
            <a:r>
              <a:rPr lang="en-US" sz="2000" dirty="0">
                <a:latin typeface="Times New Roman" pitchFamily="18" charset="0"/>
                <a:cs typeface="Times New Roman" pitchFamily="18" charset="0"/>
              </a:rPr>
              <a:t>Its an Organisation where in persons voluntarily associate as human beings for the fulfillment of their common economic interests.</a:t>
            </a:r>
          </a:p>
          <a:p>
            <a:pPr algn="just">
              <a:buFont typeface="Wingdings" pitchFamily="2" charset="2"/>
              <a:buChar char="Ø"/>
            </a:pPr>
            <a:r>
              <a:rPr lang="en-US" sz="2000" dirty="0">
                <a:latin typeface="Times New Roman" pitchFamily="18" charset="0"/>
                <a:cs typeface="Times New Roman" pitchFamily="18" charset="0"/>
              </a:rPr>
              <a:t>Set up with a primary objective of helping its members rather than making profit.</a:t>
            </a:r>
          </a:p>
          <a:p>
            <a:pPr algn="just">
              <a:buFont typeface="Wingdings" pitchFamily="2" charset="2"/>
              <a:buChar char="Ø"/>
            </a:pPr>
            <a:r>
              <a:rPr lang="en-US" sz="2000" dirty="0">
                <a:latin typeface="Times New Roman" pitchFamily="18" charset="0"/>
                <a:cs typeface="Times New Roman" pitchFamily="18" charset="0"/>
              </a:rPr>
              <a:t>The primary motive of a cooperative society is to provide maximum service to its members and not to make profits. </a:t>
            </a:r>
          </a:p>
          <a:p>
            <a:pPr algn="just">
              <a:buFont typeface="Wingdings" pitchFamily="2" charset="2"/>
              <a:buChar char="Ø"/>
            </a:pPr>
            <a:r>
              <a:rPr lang="en-US" sz="2000" dirty="0">
                <a:latin typeface="Times New Roman" pitchFamily="18" charset="0"/>
                <a:cs typeface="Times New Roman" pitchFamily="18" charset="0"/>
              </a:rPr>
              <a:t>This does not, however, mean that a co-operative does not work for profit at all.</a:t>
            </a:r>
          </a:p>
          <a:p>
            <a:pPr algn="just">
              <a:buFont typeface="Wingdings" pitchFamily="2" charset="2"/>
              <a:buChar char="Ø"/>
            </a:pPr>
            <a:r>
              <a:rPr lang="en-US" sz="2000" dirty="0">
                <a:latin typeface="Times New Roman" pitchFamily="18" charset="0"/>
                <a:cs typeface="Times New Roman" pitchFamily="18" charset="0"/>
              </a:rPr>
              <a:t>Whatever is the profit, it will be partly distributed as bonus to its members.</a:t>
            </a:r>
          </a:p>
          <a:p>
            <a:pPr lvl="2" algn="just">
              <a:buFont typeface="Wingdings" pitchFamily="2" charset="2"/>
              <a:buChar char="v"/>
            </a:pPr>
            <a:r>
              <a:rPr lang="en-US" sz="2000" dirty="0">
                <a:latin typeface="Times New Roman" pitchFamily="18" charset="0"/>
                <a:cs typeface="Times New Roman" pitchFamily="18" charset="0"/>
              </a:rPr>
              <a:t>Types</a:t>
            </a:r>
          </a:p>
          <a:p>
            <a:pPr lvl="0">
              <a:buNone/>
            </a:pPr>
            <a:r>
              <a:rPr lang="en-US" sz="2000" dirty="0">
                <a:latin typeface="Times New Roman" pitchFamily="18" charset="0"/>
                <a:cs typeface="Times New Roman" pitchFamily="18" charset="0"/>
              </a:rPr>
              <a:t>			1. Producers Co-operative society</a:t>
            </a:r>
          </a:p>
          <a:p>
            <a:pPr lvl="0">
              <a:buNone/>
            </a:pPr>
            <a:r>
              <a:rPr lang="en-US" sz="2000" dirty="0">
                <a:latin typeface="Times New Roman" pitchFamily="18" charset="0"/>
                <a:cs typeface="Times New Roman" pitchFamily="18" charset="0"/>
              </a:rPr>
              <a:t>			2. Consumers Co-operative society</a:t>
            </a:r>
          </a:p>
          <a:p>
            <a:pPr lvl="0">
              <a:buNone/>
            </a:pPr>
            <a:r>
              <a:rPr lang="en-US" sz="2000" dirty="0">
                <a:latin typeface="Times New Roman" pitchFamily="18" charset="0"/>
                <a:cs typeface="Times New Roman" pitchFamily="18" charset="0"/>
              </a:rPr>
              <a:t>			3. Housing Co-operative society</a:t>
            </a:r>
          </a:p>
          <a:p>
            <a:pPr lvl="0">
              <a:buNone/>
            </a:pPr>
            <a:r>
              <a:rPr lang="en-US" sz="2000" dirty="0">
                <a:latin typeface="Times New Roman" pitchFamily="18" charset="0"/>
                <a:cs typeface="Times New Roman" pitchFamily="18" charset="0"/>
              </a:rPr>
              <a:t>			4. Co-operative Credit society</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332656"/>
            <a:ext cx="8136904" cy="5793507"/>
          </a:xfrm>
        </p:spPr>
        <p:txBody>
          <a:bodyPr>
            <a:normAutofit lnSpcReduction="10000"/>
          </a:bodyPr>
          <a:lstStyle/>
          <a:p>
            <a:pPr marL="457200" indent="-457200" algn="just">
              <a:lnSpc>
                <a:spcPct val="150000"/>
              </a:lnSpc>
              <a:buAutoNum type="arabicPeriod"/>
            </a:pPr>
            <a:r>
              <a:rPr lang="en-US" sz="2200" b="1" dirty="0">
                <a:solidFill>
                  <a:srgbClr val="FF0000"/>
                </a:solidFill>
                <a:latin typeface="Times New Roman" pitchFamily="18" charset="0"/>
                <a:cs typeface="Times New Roman" pitchFamily="18" charset="0"/>
              </a:rPr>
              <a:t>Producer’s Co-operative society</a:t>
            </a:r>
            <a:endParaRPr lang="en-US" sz="2200" dirty="0">
              <a:latin typeface="Times New Roman" pitchFamily="18" charset="0"/>
              <a:cs typeface="Times New Roman" pitchFamily="18" charset="0"/>
            </a:endParaRPr>
          </a:p>
          <a:p>
            <a:pPr algn="just">
              <a:lnSpc>
                <a:spcPct val="150000"/>
              </a:lnSpc>
              <a:buFont typeface="Wingdings" pitchFamily="2" charset="2"/>
              <a:buChar char="v"/>
            </a:pPr>
            <a:r>
              <a:rPr lang="en-US" sz="2200" dirty="0">
                <a:latin typeface="Times New Roman" pitchFamily="18" charset="0"/>
                <a:cs typeface="Times New Roman" pitchFamily="18" charset="0"/>
              </a:rPr>
              <a:t>They are formed to protect the interest of small producers by making available items of their need for production (like raw materials, tools etc)</a:t>
            </a:r>
          </a:p>
          <a:p>
            <a:pPr algn="just">
              <a:lnSpc>
                <a:spcPct val="150000"/>
              </a:lnSpc>
              <a:buFont typeface="Wingdings" pitchFamily="2" charset="2"/>
              <a:buChar char="v"/>
            </a:pPr>
            <a:r>
              <a:rPr lang="en-US" sz="2200" dirty="0">
                <a:latin typeface="Times New Roman" pitchFamily="18" charset="0"/>
                <a:cs typeface="Times New Roman" pitchFamily="18" charset="0"/>
              </a:rPr>
              <a:t>For buying and selling the products, produced/cultivated by the members to eliminate middlemen and get better prices.</a:t>
            </a:r>
          </a:p>
          <a:p>
            <a:pPr algn="just">
              <a:lnSpc>
                <a:spcPct val="150000"/>
              </a:lnSpc>
              <a:buFont typeface="Wingdings" pitchFamily="2" charset="2"/>
              <a:buChar char="v"/>
            </a:pPr>
            <a:r>
              <a:rPr lang="en-US" sz="2200" dirty="0">
                <a:latin typeface="Times New Roman" pitchFamily="18" charset="0"/>
                <a:cs typeface="Times New Roman" pitchFamily="18" charset="0"/>
              </a:rPr>
              <a:t>Eg: handlooms, coir, handicrafts etc.</a:t>
            </a:r>
          </a:p>
          <a:p>
            <a:pPr algn="just">
              <a:lnSpc>
                <a:spcPct val="150000"/>
              </a:lnSpc>
            </a:pPr>
            <a:endParaRPr lang="en-US" sz="2200" dirty="0">
              <a:latin typeface="Times New Roman" pitchFamily="18" charset="0"/>
              <a:cs typeface="Times New Roman" pitchFamily="18" charset="0"/>
            </a:endParaRPr>
          </a:p>
          <a:p>
            <a:pPr algn="just">
              <a:lnSpc>
                <a:spcPct val="150000"/>
              </a:lnSpc>
              <a:buNone/>
            </a:pPr>
            <a:r>
              <a:rPr lang="en-US" sz="2200" b="1" dirty="0">
                <a:solidFill>
                  <a:srgbClr val="FF0000"/>
                </a:solidFill>
                <a:latin typeface="Times New Roman" pitchFamily="18" charset="0"/>
                <a:cs typeface="Times New Roman" pitchFamily="18" charset="0"/>
              </a:rPr>
              <a:t>2. Consumer’s Co-operative society</a:t>
            </a:r>
            <a:endParaRPr lang="en-US" sz="2200" dirty="0">
              <a:latin typeface="Times New Roman" pitchFamily="18" charset="0"/>
              <a:cs typeface="Times New Roman" pitchFamily="18" charset="0"/>
            </a:endParaRPr>
          </a:p>
          <a:p>
            <a:pPr algn="just">
              <a:lnSpc>
                <a:spcPct val="150000"/>
              </a:lnSpc>
              <a:buFont typeface="Wingdings" pitchFamily="2" charset="2"/>
              <a:buChar char="v"/>
            </a:pPr>
            <a:r>
              <a:rPr lang="en-US" sz="2200" dirty="0">
                <a:latin typeface="Times New Roman" pitchFamily="18" charset="0"/>
                <a:cs typeface="Times New Roman" pitchFamily="18" charset="0"/>
              </a:rPr>
              <a:t>For the retail trade of household and consumable items.</a:t>
            </a:r>
          </a:p>
          <a:p>
            <a:pPr lvl="1" algn="just">
              <a:lnSpc>
                <a:spcPct val="150000"/>
              </a:lnSpc>
              <a:buFont typeface="Wingdings" pitchFamily="2" charset="2"/>
              <a:buChar char="v"/>
            </a:pPr>
            <a:r>
              <a:rPr lang="en-US" sz="2200" dirty="0">
                <a:latin typeface="Times New Roman" pitchFamily="18" charset="0"/>
                <a:cs typeface="Times New Roman" pitchFamily="18" charset="0"/>
              </a:rPr>
              <a:t>Eg: Stores in School &amp; Colleges.</a:t>
            </a:r>
          </a:p>
          <a:p>
            <a:pPr algn="just">
              <a:lnSpc>
                <a:spcPct val="150000"/>
              </a:lnSpc>
            </a:pPr>
            <a:endParaRPr lang="en-US" sz="2200" dirty="0">
              <a:latin typeface="Times New Roman" pitchFamily="18" charset="0"/>
              <a:cs typeface="Times New Roman"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8075240" cy="5361459"/>
          </a:xfrm>
        </p:spPr>
        <p:txBody>
          <a:bodyPr>
            <a:normAutofit fontScale="92500"/>
          </a:bodyPr>
          <a:lstStyle/>
          <a:p>
            <a:pPr algn="just">
              <a:lnSpc>
                <a:spcPct val="150000"/>
              </a:lnSpc>
              <a:buNone/>
            </a:pPr>
            <a:r>
              <a:rPr lang="en-US" sz="2200" b="1" dirty="0">
                <a:solidFill>
                  <a:srgbClr val="FF0000"/>
                </a:solidFill>
                <a:latin typeface="Times New Roman" pitchFamily="18" charset="0"/>
                <a:cs typeface="Times New Roman" pitchFamily="18" charset="0"/>
              </a:rPr>
              <a:t>3. Housing Co-operative society</a:t>
            </a:r>
          </a:p>
          <a:p>
            <a:pPr algn="just">
              <a:lnSpc>
                <a:spcPct val="150000"/>
              </a:lnSpc>
              <a:buFont typeface="Wingdings" pitchFamily="2" charset="2"/>
              <a:buChar char="v"/>
            </a:pPr>
            <a:r>
              <a:rPr lang="en-US" sz="2200" dirty="0">
                <a:latin typeface="Times New Roman" pitchFamily="18" charset="0"/>
                <a:cs typeface="Times New Roman" pitchFamily="18" charset="0"/>
              </a:rPr>
              <a:t>Formed for the purpose of getting plots or constructing houses for needy persons by providing loans, reducing cost of construction etc.</a:t>
            </a:r>
          </a:p>
          <a:p>
            <a:pPr algn="just">
              <a:lnSpc>
                <a:spcPct val="150000"/>
              </a:lnSpc>
            </a:pPr>
            <a:endParaRPr lang="en-US" sz="2200" dirty="0">
              <a:latin typeface="Times New Roman" pitchFamily="18" charset="0"/>
              <a:cs typeface="Times New Roman" pitchFamily="18" charset="0"/>
            </a:endParaRPr>
          </a:p>
          <a:p>
            <a:pPr algn="just">
              <a:lnSpc>
                <a:spcPct val="150000"/>
              </a:lnSpc>
              <a:buNone/>
            </a:pPr>
            <a:r>
              <a:rPr lang="en-US" sz="2200" b="1" dirty="0">
                <a:solidFill>
                  <a:srgbClr val="FF0000"/>
                </a:solidFill>
                <a:latin typeface="Times New Roman" pitchFamily="18" charset="0"/>
                <a:cs typeface="Times New Roman" pitchFamily="18" charset="0"/>
              </a:rPr>
              <a:t>4. Co-operative credit Society</a:t>
            </a:r>
          </a:p>
          <a:p>
            <a:pPr algn="just">
              <a:lnSpc>
                <a:spcPct val="150000"/>
              </a:lnSpc>
              <a:buFont typeface="Wingdings" pitchFamily="2" charset="2"/>
              <a:buChar char="v"/>
            </a:pPr>
            <a:r>
              <a:rPr lang="en-US" sz="2200" dirty="0">
                <a:latin typeface="Times New Roman" pitchFamily="18" charset="0"/>
                <a:cs typeface="Times New Roman" pitchFamily="18" charset="0"/>
              </a:rPr>
              <a:t>It’s objective is to finance the poor cultivators by providing loans at low Rate of  </a:t>
            </a:r>
            <a:r>
              <a:rPr lang="en-US" sz="2200">
                <a:latin typeface="Times New Roman" pitchFamily="18" charset="0"/>
                <a:cs typeface="Times New Roman" pitchFamily="18" charset="0"/>
              </a:rPr>
              <a:t>Interest (</a:t>
            </a:r>
            <a:r>
              <a:rPr lang="en-US" sz="2200" dirty="0">
                <a:latin typeface="Times New Roman" pitchFamily="18" charset="0"/>
                <a:cs typeface="Times New Roman" pitchFamily="18" charset="0"/>
              </a:rPr>
              <a:t>ROI) for developing land, buying agro machineries etc.</a:t>
            </a:r>
          </a:p>
          <a:p>
            <a:pPr algn="just">
              <a:lnSpc>
                <a:spcPct val="150000"/>
              </a:lnSpc>
              <a:buFont typeface="Wingdings" pitchFamily="2" charset="2"/>
              <a:buChar char="v"/>
            </a:pPr>
            <a:r>
              <a:rPr lang="en-US" sz="2200" dirty="0">
                <a:latin typeface="Times New Roman" pitchFamily="18" charset="0"/>
                <a:cs typeface="Times New Roman" pitchFamily="18" charset="0"/>
              </a:rPr>
              <a:t>Formed by persons working in the same organisation to provide loans to the members in case of financial difficulties etc.</a:t>
            </a:r>
          </a:p>
          <a:p>
            <a:pPr algn="just">
              <a:lnSpc>
                <a:spcPct val="150000"/>
              </a:lnSpc>
            </a:pPr>
            <a:endParaRPr lang="en-US" sz="2200" dirty="0">
              <a:latin typeface="Times New Roman" pitchFamily="18" charset="0"/>
              <a:cs typeface="Times New Roman"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Co-operative Organization</a:t>
            </a:r>
          </a:p>
        </p:txBody>
      </p:sp>
      <p:sp>
        <p:nvSpPr>
          <p:cNvPr id="3" name="Content Placeholder 2"/>
          <p:cNvSpPr>
            <a:spLocks noGrp="1"/>
          </p:cNvSpPr>
          <p:nvPr>
            <p:ph idx="1"/>
          </p:nvPr>
        </p:nvSpPr>
        <p:spPr>
          <a:xfrm>
            <a:off x="395536" y="1124744"/>
            <a:ext cx="8496944" cy="5472608"/>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Democratic management</a:t>
            </a:r>
          </a:p>
          <a:p>
            <a:pPr algn="just">
              <a:lnSpc>
                <a:spcPct val="150000"/>
              </a:lnSpc>
              <a:buFont typeface="Wingdings" pitchFamily="2" charset="2"/>
              <a:buChar char="Ø"/>
            </a:pPr>
            <a:r>
              <a:rPr lang="en-US" sz="2200" dirty="0">
                <a:latin typeface="Times New Roman" pitchFamily="18" charset="0"/>
                <a:cs typeface="Times New Roman" pitchFamily="18" charset="0"/>
              </a:rPr>
              <a:t>Limited liability</a:t>
            </a:r>
          </a:p>
          <a:p>
            <a:pPr algn="just">
              <a:lnSpc>
                <a:spcPct val="150000"/>
              </a:lnSpc>
              <a:buFont typeface="Wingdings" pitchFamily="2" charset="2"/>
              <a:buChar char="Ø"/>
            </a:pPr>
            <a:r>
              <a:rPr lang="en-US" sz="2200" dirty="0">
                <a:latin typeface="Times New Roman" pitchFamily="18" charset="0"/>
                <a:cs typeface="Times New Roman" pitchFamily="18" charset="0"/>
              </a:rPr>
              <a:t>The life of a cooperative society is not affected by the death or insolvency of a member</a:t>
            </a:r>
          </a:p>
          <a:p>
            <a:pPr algn="just">
              <a:lnSpc>
                <a:spcPct val="150000"/>
              </a:lnSpc>
              <a:buFont typeface="Wingdings" pitchFamily="2" charset="2"/>
              <a:buChar char="Ø"/>
            </a:pPr>
            <a:r>
              <a:rPr lang="en-US" sz="2200" dirty="0">
                <a:latin typeface="Times New Roman" pitchFamily="18" charset="0"/>
                <a:cs typeface="Times New Roman" pitchFamily="18" charset="0"/>
              </a:rPr>
              <a:t>Ease of coordination because of the cooperation among the members of the society</a:t>
            </a:r>
          </a:p>
          <a:p>
            <a:pPr algn="just">
              <a:lnSpc>
                <a:spcPct val="150000"/>
              </a:lnSpc>
              <a:buFont typeface="Wingdings" pitchFamily="2" charset="2"/>
              <a:buChar char="Ø"/>
            </a:pPr>
            <a:r>
              <a:rPr lang="en-US" sz="2200" dirty="0">
                <a:latin typeface="Times New Roman" pitchFamily="18" charset="0"/>
                <a:cs typeface="Times New Roman" pitchFamily="18" charset="0"/>
              </a:rPr>
              <a:t>Monetary help can be secured from government</a:t>
            </a:r>
          </a:p>
          <a:p>
            <a:pPr algn="just">
              <a:lnSpc>
                <a:spcPct val="150000"/>
              </a:lnSpc>
              <a:buFont typeface="Wingdings" pitchFamily="2" charset="2"/>
              <a:buChar char="Ø"/>
            </a:pPr>
            <a:r>
              <a:rPr lang="en-US" sz="2200" dirty="0">
                <a:latin typeface="Times New Roman" pitchFamily="18" charset="0"/>
                <a:cs typeface="Times New Roman" pitchFamily="18" charset="0"/>
              </a:rPr>
              <a:t>Helps development of moral character</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Co-operative Organization</a:t>
            </a:r>
          </a:p>
        </p:txBody>
      </p:sp>
      <p:sp>
        <p:nvSpPr>
          <p:cNvPr id="3" name="Content Placeholder 2"/>
          <p:cNvSpPr>
            <a:spLocks noGrp="1"/>
          </p:cNvSpPr>
          <p:nvPr>
            <p:ph idx="1"/>
          </p:nvPr>
        </p:nvSpPr>
        <p:spPr>
          <a:xfrm>
            <a:off x="395536" y="908720"/>
            <a:ext cx="8352928" cy="5688632"/>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Limitation of capital</a:t>
            </a:r>
          </a:p>
          <a:p>
            <a:pPr algn="just">
              <a:lnSpc>
                <a:spcPct val="150000"/>
              </a:lnSpc>
              <a:buFont typeface="Wingdings" pitchFamily="2" charset="2"/>
              <a:buChar char="Ø"/>
            </a:pPr>
            <a:r>
              <a:rPr lang="en-US" sz="2200" dirty="0">
                <a:latin typeface="Times New Roman" pitchFamily="18" charset="0"/>
                <a:cs typeface="Times New Roman" pitchFamily="18" charset="0"/>
              </a:rPr>
              <a:t>Excessive government regulation</a:t>
            </a:r>
          </a:p>
          <a:p>
            <a:pPr algn="just">
              <a:lnSpc>
                <a:spcPct val="150000"/>
              </a:lnSpc>
              <a:buFont typeface="Wingdings" pitchFamily="2" charset="2"/>
              <a:buChar char="Ø"/>
            </a:pPr>
            <a:r>
              <a:rPr lang="en-US" sz="2200" dirty="0">
                <a:latin typeface="Times New Roman" pitchFamily="18" charset="0"/>
                <a:cs typeface="Times New Roman" pitchFamily="18" charset="0"/>
              </a:rPr>
              <a:t>Lack of secrecy</a:t>
            </a:r>
          </a:p>
          <a:p>
            <a:pPr algn="just">
              <a:lnSpc>
                <a:spcPct val="150000"/>
              </a:lnSpc>
              <a:buFont typeface="Wingdings" pitchFamily="2" charset="2"/>
              <a:buChar char="Ø"/>
            </a:pPr>
            <a:r>
              <a:rPr lang="en-US" sz="2200" dirty="0">
                <a:latin typeface="Times New Roman" pitchFamily="18" charset="0"/>
                <a:cs typeface="Times New Roman" pitchFamily="18" charset="0"/>
              </a:rPr>
              <a:t>Insufficient motivation</a:t>
            </a:r>
          </a:p>
          <a:p>
            <a:pPr algn="just">
              <a:lnSpc>
                <a:spcPct val="150000"/>
              </a:lnSpc>
              <a:buFont typeface="Wingdings" pitchFamily="2" charset="2"/>
              <a:buChar char="Ø"/>
            </a:pPr>
            <a:r>
              <a:rPr lang="en-US" sz="2200" dirty="0">
                <a:latin typeface="Times New Roman" pitchFamily="18" charset="0"/>
                <a:cs typeface="Times New Roman" pitchFamily="18" charset="0"/>
              </a:rPr>
              <a:t>Inefficiency of management as the members generally lacks technical knowledge and may not be competent enough</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PUBLIC SECTOR</a:t>
            </a:r>
          </a:p>
        </p:txBody>
      </p:sp>
      <p:sp>
        <p:nvSpPr>
          <p:cNvPr id="3" name="Content Placeholder 2"/>
          <p:cNvSpPr>
            <a:spLocks noGrp="1"/>
          </p:cNvSpPr>
          <p:nvPr>
            <p:ph idx="1"/>
          </p:nvPr>
        </p:nvSpPr>
        <p:spPr>
          <a:xfrm>
            <a:off x="457200" y="980728"/>
            <a:ext cx="8229600" cy="5688632"/>
          </a:xfrm>
        </p:spPr>
        <p:txBody>
          <a:bodyPr>
            <a:norm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Owned and managed by Central or State government.</a:t>
            </a:r>
          </a:p>
          <a:p>
            <a:pPr algn="just">
              <a:lnSpc>
                <a:spcPct val="150000"/>
              </a:lnSpc>
              <a:buFont typeface="Wingdings" pitchFamily="2" charset="2"/>
              <a:buChar char="Ø"/>
            </a:pPr>
            <a:r>
              <a:rPr lang="en-US" sz="2000" dirty="0">
                <a:latin typeface="Times New Roman" pitchFamily="18" charset="0"/>
                <a:cs typeface="Times New Roman" pitchFamily="18" charset="0"/>
              </a:rPr>
              <a:t>Controlled and operated by the govt. or in association with private enterprises.</a:t>
            </a:r>
          </a:p>
          <a:p>
            <a:pPr algn="just">
              <a:lnSpc>
                <a:spcPct val="150000"/>
              </a:lnSpc>
              <a:buFont typeface="Wingdings" pitchFamily="2" charset="2"/>
              <a:buChar char="Ø"/>
            </a:pPr>
            <a:r>
              <a:rPr lang="en-US" sz="2000" dirty="0">
                <a:latin typeface="Times New Roman" pitchFamily="18" charset="0"/>
                <a:cs typeface="Times New Roman" pitchFamily="18" charset="0"/>
              </a:rPr>
              <a:t>Public sector companies are established by the government to produce and supply goods and services required by the society. </a:t>
            </a:r>
          </a:p>
          <a:p>
            <a:pPr algn="just">
              <a:lnSpc>
                <a:spcPct val="150000"/>
              </a:lnSpc>
              <a:buFont typeface="Wingdings" pitchFamily="2" charset="2"/>
              <a:buChar char="Ø"/>
            </a:pPr>
            <a:r>
              <a:rPr lang="en-US" sz="2000" dirty="0">
                <a:latin typeface="Times New Roman" pitchFamily="18" charset="0"/>
                <a:cs typeface="Times New Roman" pitchFamily="18" charset="0"/>
              </a:rPr>
              <a:t>Public sector prevents the economic unbalance in the nation. </a:t>
            </a:r>
          </a:p>
          <a:p>
            <a:pPr algn="just">
              <a:lnSpc>
                <a:spcPct val="150000"/>
              </a:lnSpc>
              <a:buFont typeface="Wingdings" pitchFamily="2" charset="2"/>
              <a:buChar char="Ø"/>
            </a:pPr>
            <a:r>
              <a:rPr lang="en-US" sz="2000" dirty="0">
                <a:latin typeface="Times New Roman" pitchFamily="18" charset="0"/>
                <a:cs typeface="Times New Roman" pitchFamily="18" charset="0"/>
              </a:rPr>
              <a:t>It also serves as a means to obstruct the monopolistic tendencies.</a:t>
            </a:r>
          </a:p>
          <a:p>
            <a:pPr algn="just">
              <a:lnSpc>
                <a:spcPct val="150000"/>
              </a:lnSpc>
              <a:buFont typeface="Wingdings" pitchFamily="2" charset="2"/>
              <a:buChar char="Ø"/>
            </a:pPr>
            <a:r>
              <a:rPr lang="en-US" sz="2000" dirty="0">
                <a:latin typeface="Times New Roman" pitchFamily="18" charset="0"/>
                <a:cs typeface="Times New Roman" pitchFamily="18" charset="0"/>
              </a:rPr>
              <a:t>Capital is invested by the govt. or govt. controlled financial institutions like LIC, UTI, Public sector banks etc.</a:t>
            </a:r>
          </a:p>
          <a:p>
            <a:pPr algn="just">
              <a:lnSpc>
                <a:spcPct val="150000"/>
              </a:lnSpc>
              <a:buFont typeface="Wingdings" pitchFamily="2" charset="2"/>
              <a:buChar char="Ø"/>
            </a:pPr>
            <a:r>
              <a:rPr lang="en-US" sz="2000" dirty="0">
                <a:latin typeface="Times New Roman" pitchFamily="18" charset="0"/>
                <a:cs typeface="Times New Roman" pitchFamily="18" charset="0"/>
              </a:rPr>
              <a:t>Public Sector Undertaking (PSU) is a term used to refer companies in which the govt: owned a majority (51% or more) of the company equity.</a:t>
            </a:r>
          </a:p>
          <a:p>
            <a:pPr>
              <a:lnSpc>
                <a:spcPct val="120000"/>
              </a:lnSpc>
            </a:pPr>
            <a:endParaRPr lang="en-US" sz="2000" dirty="0">
              <a:latin typeface="Times New Roman" pitchFamily="18" charset="0"/>
              <a:cs typeface="Times New Roman"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PUBLIC SECTOR</a:t>
            </a:r>
          </a:p>
        </p:txBody>
      </p:sp>
      <p:sp>
        <p:nvSpPr>
          <p:cNvPr id="3" name="Content Placeholder 2"/>
          <p:cNvSpPr>
            <a:spLocks noGrp="1"/>
          </p:cNvSpPr>
          <p:nvPr>
            <p:ph idx="1"/>
          </p:nvPr>
        </p:nvSpPr>
        <p:spPr>
          <a:xfrm>
            <a:off x="467544" y="1340768"/>
            <a:ext cx="8229600" cy="4248472"/>
          </a:xfrm>
        </p:spPr>
        <p:txBody>
          <a:bodyPr>
            <a:norm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important forms of public sector organizations are:</a:t>
            </a:r>
          </a:p>
          <a:p>
            <a:pPr marL="1257300" lvl="2" indent="-342900" algn="just">
              <a:lnSpc>
                <a:spcPct val="150000"/>
              </a:lnSpc>
              <a:buFont typeface="+mj-lt"/>
              <a:buAutoNum type="arabicPeriod"/>
            </a:pPr>
            <a:r>
              <a:rPr lang="en-US" sz="2200" dirty="0">
                <a:latin typeface="Times New Roman" pitchFamily="18" charset="0"/>
                <a:cs typeface="Times New Roman" pitchFamily="18" charset="0"/>
              </a:rPr>
              <a:t>Departmental organizations</a:t>
            </a:r>
          </a:p>
          <a:p>
            <a:pPr marL="1257300" lvl="2" indent="-342900" algn="just">
              <a:lnSpc>
                <a:spcPct val="150000"/>
              </a:lnSpc>
              <a:buFont typeface="+mj-lt"/>
              <a:buAutoNum type="arabicPeriod"/>
            </a:pPr>
            <a:r>
              <a:rPr lang="en-US" sz="2200" dirty="0">
                <a:latin typeface="Times New Roman" pitchFamily="18" charset="0"/>
                <a:cs typeface="Times New Roman" pitchFamily="18" charset="0"/>
              </a:rPr>
              <a:t>Public corporations</a:t>
            </a:r>
          </a:p>
          <a:p>
            <a:pPr marL="1257300" lvl="2" indent="-342900" algn="just">
              <a:lnSpc>
                <a:spcPct val="150000"/>
              </a:lnSpc>
              <a:buFont typeface="+mj-lt"/>
              <a:buAutoNum type="arabicPeriod"/>
            </a:pPr>
            <a:r>
              <a:rPr lang="en-US" sz="2200" dirty="0">
                <a:latin typeface="Times New Roman" pitchFamily="18" charset="0"/>
                <a:cs typeface="Times New Roman" pitchFamily="18" charset="0"/>
              </a:rPr>
              <a:t>Government companies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72008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 Departmental Organizations</a:t>
            </a:r>
            <a:endParaRPr lang="en-US" sz="3200" b="1" dirty="0"/>
          </a:p>
        </p:txBody>
      </p:sp>
      <p:sp>
        <p:nvSpPr>
          <p:cNvPr id="3" name="Content Placeholder 2"/>
          <p:cNvSpPr>
            <a:spLocks noGrp="1"/>
          </p:cNvSpPr>
          <p:nvPr>
            <p:ph idx="1"/>
          </p:nvPr>
        </p:nvSpPr>
        <p:spPr>
          <a:xfrm>
            <a:off x="467544" y="836712"/>
            <a:ext cx="8352928" cy="5760640"/>
          </a:xfrm>
        </p:spPr>
        <p:txBody>
          <a:bodyPr>
            <a:no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It’s the business organisation which are owned, managed and run by the govt: or local bodies like municipality, district board etc.</a:t>
            </a:r>
          </a:p>
          <a:p>
            <a:pPr algn="just">
              <a:lnSpc>
                <a:spcPct val="150000"/>
              </a:lnSpc>
              <a:buFont typeface="Wingdings" pitchFamily="2" charset="2"/>
              <a:buChar char="Ø"/>
            </a:pPr>
            <a:r>
              <a:rPr lang="en-US" sz="2000" dirty="0">
                <a:latin typeface="Times New Roman" pitchFamily="18" charset="0"/>
                <a:cs typeface="Times New Roman" pitchFamily="18" charset="0"/>
              </a:rPr>
              <a:t>Generally done in the case of water supply, electricity, gas, bus, railways, navigation etc.</a:t>
            </a:r>
          </a:p>
          <a:p>
            <a:pPr algn="just">
              <a:lnSpc>
                <a:spcPct val="150000"/>
              </a:lnSpc>
              <a:buFont typeface="Wingdings" pitchFamily="2" charset="2"/>
              <a:buChar char="Ø"/>
            </a:pPr>
            <a:r>
              <a:rPr lang="en-US" sz="2000" dirty="0">
                <a:latin typeface="Times New Roman" pitchFamily="18" charset="0"/>
                <a:cs typeface="Times New Roman" pitchFamily="18" charset="0"/>
              </a:rPr>
              <a:t>A top executive appointed by the ministry concerned will manage the organization.</a:t>
            </a:r>
          </a:p>
          <a:p>
            <a:pPr algn="just">
              <a:lnSpc>
                <a:spcPct val="150000"/>
              </a:lnSpc>
              <a:buFont typeface="Wingdings" pitchFamily="2" charset="2"/>
              <a:buChar char="Ø"/>
            </a:pPr>
            <a:r>
              <a:rPr lang="en-US" sz="2000" dirty="0">
                <a:latin typeface="Times New Roman" pitchFamily="18" charset="0"/>
                <a:cs typeface="Times New Roman" pitchFamily="18" charset="0"/>
              </a:rPr>
              <a:t>In certain organizations cooperation from several ministries may be required and in such cases a board or committee of representatives from the ministries concerned will manage the organization.</a:t>
            </a:r>
          </a:p>
          <a:p>
            <a:pPr algn="just">
              <a:lnSpc>
                <a:spcPct val="150000"/>
              </a:lnSpc>
              <a:buFont typeface="Wingdings" pitchFamily="2" charset="2"/>
              <a:buChar char="Ø"/>
            </a:pPr>
            <a:r>
              <a:rPr lang="en-US" sz="2000" dirty="0">
                <a:latin typeface="Times New Roman" pitchFamily="18" charset="0"/>
                <a:cs typeface="Times New Roman" pitchFamily="18" charset="0"/>
              </a:rPr>
              <a:t>Social benefit is of primary importance while profit motive is given as secondary consideration.</a:t>
            </a:r>
          </a:p>
          <a:p>
            <a:pPr algn="just">
              <a:lnSpc>
                <a:spcPct val="150000"/>
              </a:lnSpc>
              <a:buFont typeface="Wingdings" pitchFamily="2" charset="2"/>
              <a:buChar char="Ø"/>
            </a:pPr>
            <a:r>
              <a:rPr lang="en-US" sz="2000" dirty="0">
                <a:latin typeface="Times New Roman" pitchFamily="18" charset="0"/>
                <a:cs typeface="Times New Roman" pitchFamily="18" charset="0"/>
              </a:rPr>
              <a:t>Eg: Railways, Posts and Telegraphs etc.</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Public Corporations</a:t>
            </a:r>
          </a:p>
        </p:txBody>
      </p:sp>
      <p:sp>
        <p:nvSpPr>
          <p:cNvPr id="3" name="Content Placeholder 2"/>
          <p:cNvSpPr>
            <a:spLocks noGrp="1"/>
          </p:cNvSpPr>
          <p:nvPr>
            <p:ph idx="1"/>
          </p:nvPr>
        </p:nvSpPr>
        <p:spPr>
          <a:xfrm>
            <a:off x="457200" y="980728"/>
            <a:ext cx="8229600" cy="5472608"/>
          </a:xfrm>
        </p:spPr>
        <p:txBody>
          <a:bodyPr>
            <a:norm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Owned by the govt-either Central, State or local bodies.</a:t>
            </a:r>
          </a:p>
          <a:p>
            <a:pPr algn="just">
              <a:lnSpc>
                <a:spcPct val="150000"/>
              </a:lnSpc>
              <a:buFont typeface="Wingdings" pitchFamily="2" charset="2"/>
              <a:buChar char="Ø"/>
            </a:pPr>
            <a:r>
              <a:rPr lang="en-US" sz="2000" dirty="0">
                <a:latin typeface="Times New Roman" pitchFamily="18" charset="0"/>
                <a:cs typeface="Times New Roman" pitchFamily="18" charset="0"/>
              </a:rPr>
              <a:t>It is managed by the Board of Directors nominated by the government.</a:t>
            </a:r>
          </a:p>
          <a:p>
            <a:pPr algn="just">
              <a:lnSpc>
                <a:spcPct val="150000"/>
              </a:lnSpc>
              <a:buFont typeface="Wingdings" pitchFamily="2" charset="2"/>
              <a:buChar char="Ø"/>
            </a:pPr>
            <a:r>
              <a:rPr lang="en-US" sz="2000" dirty="0">
                <a:latin typeface="Times New Roman" pitchFamily="18" charset="0"/>
                <a:cs typeface="Times New Roman" pitchFamily="18" charset="0"/>
              </a:rPr>
              <a:t>It combines the public interest of the govt. body &amp; autonomous management of the public sector.</a:t>
            </a:r>
          </a:p>
          <a:p>
            <a:pPr algn="just">
              <a:lnSpc>
                <a:spcPct val="150000"/>
              </a:lnSpc>
              <a:buFont typeface="Wingdings" pitchFamily="2" charset="2"/>
              <a:buChar char="Ø"/>
            </a:pPr>
            <a:r>
              <a:rPr lang="en-US" sz="2000" dirty="0">
                <a:latin typeface="Times New Roman" pitchFamily="18" charset="0"/>
                <a:cs typeface="Times New Roman" pitchFamily="18" charset="0"/>
              </a:rPr>
              <a:t>Though the total capital is provided by the government, they have separate entity and enjoy independence in matters related to appointment, promotions etc. </a:t>
            </a:r>
          </a:p>
          <a:p>
            <a:pPr algn="just">
              <a:lnSpc>
                <a:spcPct val="150000"/>
              </a:lnSpc>
              <a:buFont typeface="Wingdings" pitchFamily="2" charset="2"/>
              <a:buChar char="Ø"/>
            </a:pPr>
            <a:r>
              <a:rPr lang="en-US" sz="2000" dirty="0">
                <a:latin typeface="Times New Roman" pitchFamily="18" charset="0"/>
                <a:cs typeface="Times New Roman" pitchFamily="18" charset="0"/>
              </a:rPr>
              <a:t>Public service rather than profit maximization becomes the main aim of such corporations.</a:t>
            </a:r>
          </a:p>
          <a:p>
            <a:pPr lvl="2" algn="just">
              <a:lnSpc>
                <a:spcPct val="150000"/>
              </a:lnSpc>
              <a:buFont typeface="Wingdings" pitchFamily="2" charset="2"/>
              <a:buChar char="v"/>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t>
            </a:r>
            <a:r>
              <a:rPr lang="en-US" sz="2000" dirty="0">
                <a:latin typeface="Times New Roman" pitchFamily="18" charset="0"/>
                <a:cs typeface="Times New Roman" pitchFamily="18" charset="0"/>
              </a:rPr>
              <a:t>: FCI, ONGC, Financial corporation, Industrial development   	corporation etc.</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 Government Companies</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A govt. company is any company in which not less than 51% of the share capital is held by the Central or State govt: or partly by both.</a:t>
            </a:r>
          </a:p>
          <a:p>
            <a:pPr algn="just">
              <a:lnSpc>
                <a:spcPct val="150000"/>
              </a:lnSpc>
              <a:buFont typeface="Wingdings" pitchFamily="2" charset="2"/>
              <a:buChar char="Ø"/>
            </a:pPr>
            <a:r>
              <a:rPr lang="en-US" sz="2000" dirty="0">
                <a:latin typeface="Times New Roman" pitchFamily="18" charset="0"/>
                <a:cs typeface="Times New Roman" pitchFamily="18" charset="0"/>
              </a:rPr>
              <a:t>Managed by elected Board of Directors.</a:t>
            </a:r>
          </a:p>
          <a:p>
            <a:pPr algn="just">
              <a:lnSpc>
                <a:spcPct val="150000"/>
              </a:lnSpc>
              <a:buFont typeface="Wingdings" pitchFamily="2" charset="2"/>
              <a:buChar char="Ø"/>
            </a:pPr>
            <a:r>
              <a:rPr lang="en-US" sz="2000" dirty="0">
                <a:latin typeface="Times New Roman" pitchFamily="18" charset="0"/>
                <a:cs typeface="Times New Roman" pitchFamily="18" charset="0"/>
              </a:rPr>
              <a:t>Eg: FACT, HAL, HLL, HMT etc.</a:t>
            </a:r>
            <a:endParaRPr lang="en-IN" sz="2000" dirty="0">
              <a:latin typeface="Times New Roman" pitchFamily="18" charset="0"/>
              <a:cs typeface="Times New Roman"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Public Sector</a:t>
            </a:r>
          </a:p>
        </p:txBody>
      </p:sp>
      <p:sp>
        <p:nvSpPr>
          <p:cNvPr id="3" name="Content Placeholder 2"/>
          <p:cNvSpPr>
            <a:spLocks noGrp="1"/>
          </p:cNvSpPr>
          <p:nvPr>
            <p:ph idx="1"/>
          </p:nvPr>
        </p:nvSpPr>
        <p:spPr>
          <a:xfrm>
            <a:off x="395536" y="1124744"/>
            <a:ext cx="8424936" cy="5472608"/>
          </a:xfrm>
        </p:spPr>
        <p:txBody>
          <a:bodyPr>
            <a:noAutofit/>
          </a:bodyPr>
          <a:lstStyle/>
          <a:p>
            <a:pPr algn="just">
              <a:buFont typeface="Wingdings" pitchFamily="2" charset="2"/>
              <a:buChar char="Ø"/>
            </a:pPr>
            <a:r>
              <a:rPr lang="en-US" sz="2200" dirty="0">
                <a:latin typeface="Times New Roman" pitchFamily="18" charset="0"/>
                <a:cs typeface="Times New Roman" pitchFamily="18" charset="0"/>
              </a:rPr>
              <a:t>Helps for the betterment of the community and for the welfare of the people</a:t>
            </a:r>
          </a:p>
          <a:p>
            <a:pPr algn="just">
              <a:buFont typeface="Wingdings" pitchFamily="2" charset="2"/>
              <a:buChar char="Ø"/>
            </a:pPr>
            <a:r>
              <a:rPr lang="en-US" sz="2200" dirty="0">
                <a:latin typeface="Times New Roman" pitchFamily="18" charset="0"/>
                <a:cs typeface="Times New Roman" pitchFamily="18" charset="0"/>
              </a:rPr>
              <a:t>Facilities like power, transport, credit, and insurance, etc are easily made available to public sector units</a:t>
            </a:r>
          </a:p>
          <a:p>
            <a:pPr algn="just">
              <a:buFont typeface="Wingdings" pitchFamily="2" charset="2"/>
              <a:buChar char="Ø"/>
            </a:pPr>
            <a:r>
              <a:rPr lang="en-US" sz="2200" dirty="0">
                <a:latin typeface="Times New Roman" pitchFamily="18" charset="0"/>
                <a:cs typeface="Times New Roman" pitchFamily="18" charset="0"/>
              </a:rPr>
              <a:t>Because of the government control economical and social objectives can easily be achieved</a:t>
            </a:r>
          </a:p>
          <a:p>
            <a:pPr algn="just">
              <a:buFont typeface="Wingdings" pitchFamily="2" charset="2"/>
              <a:buChar char="Ø"/>
            </a:pPr>
            <a:r>
              <a:rPr lang="en-US" sz="2200" dirty="0">
                <a:latin typeface="Times New Roman" pitchFamily="18" charset="0"/>
                <a:cs typeface="Times New Roman" pitchFamily="18" charset="0"/>
              </a:rPr>
              <a:t>Provides better working conditions to the employees and cheaper and better products and services to the customers</a:t>
            </a:r>
          </a:p>
          <a:p>
            <a:pPr algn="just">
              <a:buFont typeface="Wingdings" pitchFamily="2" charset="2"/>
              <a:buChar char="Ø"/>
            </a:pPr>
            <a:r>
              <a:rPr lang="en-US" sz="2200" dirty="0">
                <a:latin typeface="Times New Roman" pitchFamily="18" charset="0"/>
                <a:cs typeface="Times New Roman" pitchFamily="18" charset="0"/>
              </a:rPr>
              <a:t>Encourages industrial growth of under-developed regions in the country</a:t>
            </a:r>
          </a:p>
          <a:p>
            <a:pPr algn="just">
              <a:buFont typeface="Wingdings" pitchFamily="2" charset="2"/>
              <a:buChar char="Ø"/>
            </a:pPr>
            <a:r>
              <a:rPr lang="en-US" sz="2200" dirty="0">
                <a:latin typeface="Times New Roman" pitchFamily="18" charset="0"/>
                <a:cs typeface="Times New Roman" pitchFamily="18" charset="0"/>
              </a:rPr>
              <a:t>Provides employment opportunities to all sections of the people</a:t>
            </a:r>
          </a:p>
          <a:p>
            <a:pPr algn="just">
              <a:buFont typeface="Wingdings" pitchFamily="2" charset="2"/>
              <a:buChar char="Ø"/>
            </a:pPr>
            <a:r>
              <a:rPr lang="en-US" sz="2200" dirty="0">
                <a:latin typeface="Times New Roman" pitchFamily="18" charset="0"/>
                <a:cs typeface="Times New Roman" pitchFamily="18" charset="0"/>
              </a:rPr>
              <a:t>Prevents monopolistic tendencies and paves the way for equitable distribution of wealth among different sections of the community</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Public Sector</a:t>
            </a:r>
          </a:p>
        </p:txBody>
      </p:sp>
      <p:sp>
        <p:nvSpPr>
          <p:cNvPr id="3" name="Content Placeholder 2"/>
          <p:cNvSpPr>
            <a:spLocks noGrp="1"/>
          </p:cNvSpPr>
          <p:nvPr>
            <p:ph idx="1"/>
          </p:nvPr>
        </p:nvSpPr>
        <p:spPr>
          <a:xfrm>
            <a:off x="395536" y="908720"/>
            <a:ext cx="8352928" cy="5688632"/>
          </a:xfrm>
        </p:spPr>
        <p:txBody>
          <a:bodyPr>
            <a:noAutofit/>
          </a:bodyPr>
          <a:lstStyle/>
          <a:p>
            <a:pPr algn="just">
              <a:buFont typeface="Wingdings" pitchFamily="2" charset="2"/>
              <a:buChar char="Ø"/>
            </a:pPr>
            <a:r>
              <a:rPr lang="en-US" sz="2200" dirty="0">
                <a:latin typeface="Times New Roman" pitchFamily="18" charset="0"/>
                <a:cs typeface="Times New Roman" pitchFamily="18" charset="0"/>
              </a:rPr>
              <a:t>Because of bureaucratic control generally timely decisions are not taken</a:t>
            </a:r>
          </a:p>
          <a:p>
            <a:pPr algn="just">
              <a:buFont typeface="Wingdings" pitchFamily="2" charset="2"/>
              <a:buChar char="Ø"/>
            </a:pPr>
            <a:r>
              <a:rPr lang="en-US" sz="2200" dirty="0">
                <a:latin typeface="Times New Roman" pitchFamily="18" charset="0"/>
                <a:cs typeface="Times New Roman" pitchFamily="18" charset="0"/>
              </a:rPr>
              <a:t>Lack of initiative among workers because promotions are seniority based rather than merit based</a:t>
            </a:r>
          </a:p>
          <a:p>
            <a:pPr algn="just">
              <a:buFont typeface="Wingdings" pitchFamily="2" charset="2"/>
              <a:buChar char="Ø"/>
            </a:pPr>
            <a:r>
              <a:rPr lang="en-US" sz="2200" dirty="0">
                <a:latin typeface="Times New Roman" pitchFamily="18" charset="0"/>
                <a:cs typeface="Times New Roman" pitchFamily="18" charset="0"/>
              </a:rPr>
              <a:t>Too much of interference by the political leaders and government in the internal affairs of public sector units</a:t>
            </a:r>
          </a:p>
          <a:p>
            <a:pPr algn="just">
              <a:buFont typeface="Wingdings" pitchFamily="2" charset="2"/>
              <a:buChar char="Ø"/>
            </a:pPr>
            <a:r>
              <a:rPr lang="en-US" sz="2200" dirty="0">
                <a:latin typeface="Times New Roman" pitchFamily="18" charset="0"/>
                <a:cs typeface="Times New Roman" pitchFamily="18" charset="0"/>
              </a:rPr>
              <a:t>Misuse of excessive freedom (compared to private concerns) cannot be ruled out</a:t>
            </a:r>
          </a:p>
          <a:p>
            <a:pPr algn="just">
              <a:buFont typeface="Wingdings" pitchFamily="2" charset="2"/>
              <a:buChar char="Ø"/>
            </a:pPr>
            <a:r>
              <a:rPr lang="en-US" sz="2200" dirty="0">
                <a:latin typeface="Times New Roman" pitchFamily="18" charset="0"/>
                <a:cs typeface="Times New Roman" pitchFamily="18" charset="0"/>
              </a:rPr>
              <a:t>Inadequate accountability</a:t>
            </a:r>
          </a:p>
          <a:p>
            <a:pPr algn="just">
              <a:buFont typeface="Wingdings" pitchFamily="2" charset="2"/>
              <a:buChar char="Ø"/>
            </a:pPr>
            <a:r>
              <a:rPr lang="en-US" sz="2200" dirty="0">
                <a:latin typeface="Times New Roman" pitchFamily="18" charset="0"/>
                <a:cs typeface="Times New Roman" pitchFamily="18" charset="0"/>
              </a:rPr>
              <a:t>Government officials prefer to work according to certain rules and regulations and therefore lesser flexibility</a:t>
            </a:r>
          </a:p>
          <a:p>
            <a:pPr algn="just">
              <a:buFont typeface="Wingdings" pitchFamily="2" charset="2"/>
              <a:buChar char="Ø"/>
            </a:pPr>
            <a:r>
              <a:rPr lang="en-US" sz="2200" dirty="0">
                <a:latin typeface="Times New Roman" pitchFamily="18" charset="0"/>
                <a:cs typeface="Times New Roman" pitchFamily="18" charset="0"/>
              </a:rPr>
              <a:t>Incompetent persons may occupy high levels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JOINT SECTOR</a:t>
            </a:r>
          </a:p>
        </p:txBody>
      </p:sp>
      <p:sp>
        <p:nvSpPr>
          <p:cNvPr id="3" name="Content Placeholder 2"/>
          <p:cNvSpPr>
            <a:spLocks noGrp="1"/>
          </p:cNvSpPr>
          <p:nvPr>
            <p:ph idx="1"/>
          </p:nvPr>
        </p:nvSpPr>
        <p:spPr>
          <a:xfrm>
            <a:off x="467544" y="1052736"/>
            <a:ext cx="8229600" cy="554461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concept of joint-sector implies the participation of both the government and the private sector in the share capital and general management of the business. </a:t>
            </a:r>
          </a:p>
          <a:p>
            <a:pPr algn="just">
              <a:lnSpc>
                <a:spcPct val="150000"/>
              </a:lnSpc>
              <a:buFont typeface="Wingdings" pitchFamily="2" charset="2"/>
              <a:buChar char="Ø"/>
            </a:pPr>
            <a:r>
              <a:rPr lang="en-US" sz="2200" dirty="0">
                <a:latin typeface="Times New Roman" pitchFamily="18" charset="0"/>
                <a:cs typeface="Times New Roman" pitchFamily="18" charset="0"/>
              </a:rPr>
              <a:t>It combines the best aspects of both private sector and public sector organizations and aims at achieving the task of social justice through efficient use of resources. </a:t>
            </a:r>
          </a:p>
          <a:p>
            <a:pPr algn="just">
              <a:lnSpc>
                <a:spcPct val="150000"/>
              </a:lnSpc>
              <a:buFont typeface="Wingdings" pitchFamily="2" charset="2"/>
              <a:buChar char="Ø"/>
            </a:pPr>
            <a:r>
              <a:rPr lang="en-US" sz="2200" dirty="0">
                <a:latin typeface="Times New Roman" pitchFamily="18" charset="0"/>
                <a:cs typeface="Times New Roman" pitchFamily="18" charset="0"/>
              </a:rPr>
              <a:t>Joint sector firms can be a pure Indian firm or an Indian firm with foreign collaboration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Joint Sector</a:t>
            </a:r>
          </a:p>
        </p:txBody>
      </p:sp>
      <p:sp>
        <p:nvSpPr>
          <p:cNvPr id="3" name="Content Placeholder 2"/>
          <p:cNvSpPr>
            <a:spLocks noGrp="1"/>
          </p:cNvSpPr>
          <p:nvPr>
            <p:ph idx="1"/>
          </p:nvPr>
        </p:nvSpPr>
        <p:spPr>
          <a:xfrm>
            <a:off x="395536" y="1124744"/>
            <a:ext cx="8424936" cy="5472608"/>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Helps to foster the industrial development with social justice</a:t>
            </a:r>
          </a:p>
          <a:p>
            <a:pPr algn="just">
              <a:lnSpc>
                <a:spcPct val="150000"/>
              </a:lnSpc>
              <a:buFont typeface="Wingdings" pitchFamily="2" charset="2"/>
              <a:buChar char="Ø"/>
            </a:pPr>
            <a:r>
              <a:rPr lang="en-US" sz="2200" dirty="0">
                <a:latin typeface="Times New Roman" pitchFamily="18" charset="0"/>
                <a:cs typeface="Times New Roman" pitchFamily="18" charset="0"/>
              </a:rPr>
              <a:t>Checks business malpractices</a:t>
            </a:r>
          </a:p>
          <a:p>
            <a:pPr algn="just">
              <a:lnSpc>
                <a:spcPct val="150000"/>
              </a:lnSpc>
              <a:buFont typeface="Wingdings" pitchFamily="2" charset="2"/>
              <a:buChar char="Ø"/>
            </a:pPr>
            <a:r>
              <a:rPr lang="en-US" sz="2200" dirty="0">
                <a:latin typeface="Times New Roman" pitchFamily="18" charset="0"/>
                <a:cs typeface="Times New Roman" pitchFamily="18" charset="0"/>
              </a:rPr>
              <a:t>Antidote to monopoly and concentration of economic power</a:t>
            </a:r>
          </a:p>
          <a:p>
            <a:pPr algn="just">
              <a:lnSpc>
                <a:spcPct val="150000"/>
              </a:lnSpc>
              <a:buFont typeface="Wingdings" pitchFamily="2" charset="2"/>
              <a:buChar char="Ø"/>
            </a:pPr>
            <a:r>
              <a:rPr lang="en-US" sz="2200" dirty="0">
                <a:latin typeface="Times New Roman" pitchFamily="18" charset="0"/>
                <a:cs typeface="Times New Roman" pitchFamily="18" charset="0"/>
              </a:rPr>
              <a:t>Combines the best aspects of both private sector and public sector organizations.</a:t>
            </a:r>
          </a:p>
          <a:p>
            <a:pPr algn="just">
              <a:lnSpc>
                <a:spcPct val="150000"/>
              </a:lnSpc>
              <a:buFont typeface="Wingdings" pitchFamily="2" charset="2"/>
              <a:buChar char="Ø"/>
            </a:pPr>
            <a:r>
              <a:rPr lang="en-US" sz="2200" dirty="0">
                <a:latin typeface="Times New Roman" pitchFamily="18" charset="0"/>
                <a:cs typeface="Times New Roman" pitchFamily="18" charset="0"/>
              </a:rPr>
              <a:t>Makes nationalization unnecessary</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Disadvantages of Joint Sector</a:t>
            </a:r>
          </a:p>
        </p:txBody>
      </p:sp>
      <p:sp>
        <p:nvSpPr>
          <p:cNvPr id="3" name="Content Placeholder 2"/>
          <p:cNvSpPr>
            <a:spLocks noGrp="1"/>
          </p:cNvSpPr>
          <p:nvPr>
            <p:ph idx="1"/>
          </p:nvPr>
        </p:nvSpPr>
        <p:spPr>
          <a:xfrm>
            <a:off x="395536" y="1412776"/>
            <a:ext cx="8352928" cy="518457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Lack of confidence between two sectors</a:t>
            </a:r>
          </a:p>
          <a:p>
            <a:pPr algn="just">
              <a:lnSpc>
                <a:spcPct val="150000"/>
              </a:lnSpc>
              <a:buFont typeface="Wingdings" pitchFamily="2" charset="2"/>
              <a:buChar char="Ø"/>
            </a:pPr>
            <a:r>
              <a:rPr lang="en-US" sz="2200" dirty="0">
                <a:latin typeface="Times New Roman" pitchFamily="18" charset="0"/>
                <a:cs typeface="Times New Roman" pitchFamily="18" charset="0"/>
              </a:rPr>
              <a:t>Managerial autonomy making the owners passive in business</a:t>
            </a:r>
          </a:p>
          <a:p>
            <a:pPr algn="just">
              <a:lnSpc>
                <a:spcPct val="150000"/>
              </a:lnSpc>
              <a:buFont typeface="Wingdings" pitchFamily="2" charset="2"/>
              <a:buChar char="Ø"/>
            </a:pPr>
            <a:r>
              <a:rPr lang="en-US" sz="2200" dirty="0">
                <a:latin typeface="Times New Roman" pitchFamily="18" charset="0"/>
                <a:cs typeface="Times New Roman" pitchFamily="18" charset="0"/>
              </a:rPr>
              <a:t>Inadequate accountability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9507</TotalTime>
  <Words>6284</Words>
  <Application>Microsoft Office PowerPoint</Application>
  <PresentationFormat>On-screen Show (4:3)</PresentationFormat>
  <Paragraphs>846</Paragraphs>
  <Slides>109</Slides>
  <Notes>3</Notes>
  <HiddenSlides>0</HiddenSlides>
  <MMClips>0</MMClips>
  <ScaleCrop>false</ScaleCrop>
  <HeadingPairs>
    <vt:vector size="4" baseType="variant">
      <vt:variant>
        <vt:lpstr>Theme</vt:lpstr>
      </vt:variant>
      <vt:variant>
        <vt:i4>1</vt:i4>
      </vt:variant>
      <vt:variant>
        <vt:lpstr>Slide Titles</vt:lpstr>
      </vt:variant>
      <vt:variant>
        <vt:i4>109</vt:i4>
      </vt:variant>
    </vt:vector>
  </HeadingPairs>
  <TitlesOfParts>
    <vt:vector size="110" baseType="lpstr">
      <vt:lpstr>Office Theme</vt:lpstr>
      <vt:lpstr>Topics  (Part 1)</vt:lpstr>
      <vt:lpstr>Basic Concept of Management..??</vt:lpstr>
      <vt:lpstr>Definition</vt:lpstr>
      <vt:lpstr>PowerPoint Presentation</vt:lpstr>
      <vt:lpstr>Importance of management</vt:lpstr>
      <vt:lpstr>Characteristics of Management</vt:lpstr>
      <vt:lpstr>Characteristics of Management</vt:lpstr>
      <vt:lpstr>Levels of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Managerial Skills/ Management Skills</vt:lpstr>
      <vt:lpstr>Managerial Skills</vt:lpstr>
      <vt:lpstr>PowerPoint Presentation</vt:lpstr>
      <vt:lpstr>PowerPoint Presentation</vt:lpstr>
      <vt:lpstr>PowerPoint Presentation</vt:lpstr>
      <vt:lpstr>Scientific management</vt:lpstr>
      <vt:lpstr>Contributions of F.W. Taylor (1856 – 1915)</vt:lpstr>
      <vt:lpstr>Four basic principles of F.W. Taylor</vt:lpstr>
      <vt:lpstr>Principles of Scientific Management (F.W. Taylor)</vt:lpstr>
      <vt:lpstr>Contributions of Henry L Gantt (1861-1919)</vt:lpstr>
      <vt:lpstr>Contributions of Frank B and Lillian M Gilbreth (1868-1924 and 1878-1972)</vt:lpstr>
      <vt:lpstr>Dr. Lillian Gilbreth</vt:lpstr>
      <vt:lpstr>Topics  (Part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Topics  (Part 3)</vt:lpstr>
      <vt:lpstr>Introduction to Organization</vt:lpstr>
      <vt:lpstr>Definition</vt:lpstr>
      <vt:lpstr>System approach applied to Organization</vt:lpstr>
      <vt:lpstr>Necessity of Organization</vt:lpstr>
      <vt:lpstr>Essential Elements of good Organization</vt:lpstr>
      <vt:lpstr>Characteristics of Organization</vt:lpstr>
      <vt:lpstr>Process of Organization (Steps in organizing process)</vt:lpstr>
      <vt:lpstr>Organization Chart</vt:lpstr>
      <vt:lpstr>Principles of Organization</vt:lpstr>
      <vt:lpstr>Principles of Organization</vt:lpstr>
      <vt:lpstr>Principles of Organization</vt:lpstr>
      <vt:lpstr>Types of Organization</vt:lpstr>
      <vt:lpstr>Types of Organization</vt:lpstr>
      <vt:lpstr>Organization Structure</vt:lpstr>
      <vt:lpstr>Types of Organization Structure</vt:lpstr>
      <vt:lpstr>Line Organization</vt:lpstr>
      <vt:lpstr>Line Organization</vt:lpstr>
      <vt:lpstr>Line Organization</vt:lpstr>
      <vt:lpstr>Advantages of Line structure</vt:lpstr>
      <vt:lpstr>Disadvantages of Line structure</vt:lpstr>
      <vt:lpstr>Line and staff organization</vt:lpstr>
      <vt:lpstr>Line and staff organization</vt:lpstr>
      <vt:lpstr>Advantages of Line and staff organization</vt:lpstr>
      <vt:lpstr>Disadvantages of Line and staff organization</vt:lpstr>
      <vt:lpstr>Line and staff organization</vt:lpstr>
      <vt:lpstr>Functional organization</vt:lpstr>
      <vt:lpstr>Functional organization</vt:lpstr>
      <vt:lpstr>Advantages of Functional organization</vt:lpstr>
      <vt:lpstr>Disadvantages of Functional organization</vt:lpstr>
      <vt:lpstr>Project Organization</vt:lpstr>
      <vt:lpstr>Project Organization</vt:lpstr>
      <vt:lpstr>Advantages of Project Organization</vt:lpstr>
      <vt:lpstr>Disadvantages of Project Organization</vt:lpstr>
      <vt:lpstr>Matrix Organization</vt:lpstr>
      <vt:lpstr>Matrix Organization</vt:lpstr>
      <vt:lpstr>Advantages of Matrix Organization</vt:lpstr>
      <vt:lpstr>Disadvantages of Matrix Organization</vt:lpstr>
      <vt:lpstr>Topics  (Part 4) FORMS OF BUSINESS ORGANIZATION</vt:lpstr>
      <vt:lpstr>Ownership Organisation</vt:lpstr>
      <vt:lpstr>PowerPoint Presentation</vt:lpstr>
      <vt:lpstr>PRIVATE SECTOR</vt:lpstr>
      <vt:lpstr> 1. Individual/single Ownership</vt:lpstr>
      <vt:lpstr>Advantages of Individual/single Ownership</vt:lpstr>
      <vt:lpstr> Disadvantages of Individual/single Ownership</vt:lpstr>
      <vt:lpstr>2. Partnership Organization </vt:lpstr>
      <vt:lpstr>2. Partnership Organization</vt:lpstr>
      <vt:lpstr>Advantages of Partnership Organization</vt:lpstr>
      <vt:lpstr>Disadvantages of Partnership Organization</vt:lpstr>
      <vt:lpstr>3.  Joint Stock Company</vt:lpstr>
      <vt:lpstr>a) Private Ltd. Company</vt:lpstr>
      <vt:lpstr>b) Public Ltd company</vt:lpstr>
      <vt:lpstr>Private Ltd Company Vs Public Ltd Company</vt:lpstr>
      <vt:lpstr>Advantages of Joint Stock Company</vt:lpstr>
      <vt:lpstr>Disadvantages of Joint Stock Company</vt:lpstr>
      <vt:lpstr>4. Co-operative Organization</vt:lpstr>
      <vt:lpstr>PowerPoint Presentation</vt:lpstr>
      <vt:lpstr>PowerPoint Presentation</vt:lpstr>
      <vt:lpstr>Advantages of Co-operative Organization</vt:lpstr>
      <vt:lpstr>Disadvantages of Co-operative Organization</vt:lpstr>
      <vt:lpstr>PUBLIC SECTOR</vt:lpstr>
      <vt:lpstr>PUBLIC SECTOR</vt:lpstr>
      <vt:lpstr>1. Departmental Organizations</vt:lpstr>
      <vt:lpstr>2. Public Corporations</vt:lpstr>
      <vt:lpstr>3. Government Companies</vt:lpstr>
      <vt:lpstr>Advantages of Public Sector</vt:lpstr>
      <vt:lpstr>Disadvantages of Public Sector</vt:lpstr>
      <vt:lpstr>JOINT SECTOR</vt:lpstr>
      <vt:lpstr>Advantages of Joint Sector</vt:lpstr>
      <vt:lpstr>Disadvantages of Joint Sector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Faizal</dc:creator>
  <cp:lastModifiedBy>Febin Suresh</cp:lastModifiedBy>
  <cp:revision>420</cp:revision>
  <dcterms:created xsi:type="dcterms:W3CDTF">2016-07-20T05:03:16Z</dcterms:created>
  <dcterms:modified xsi:type="dcterms:W3CDTF">2023-12-03T18:08:13Z</dcterms:modified>
</cp:coreProperties>
</file>