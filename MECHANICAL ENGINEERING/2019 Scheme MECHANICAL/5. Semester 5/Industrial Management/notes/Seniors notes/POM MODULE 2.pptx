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8" r:id="rId2"/>
    <p:sldId id="260" r:id="rId3"/>
    <p:sldId id="262" r:id="rId4"/>
    <p:sldId id="263" r:id="rId5"/>
    <p:sldId id="264" r:id="rId6"/>
    <p:sldId id="265" r:id="rId7"/>
    <p:sldId id="261" r:id="rId8"/>
    <p:sldId id="266" r:id="rId9"/>
    <p:sldId id="267" r:id="rId10"/>
    <p:sldId id="268" r:id="rId11"/>
    <p:sldId id="269" r:id="rId12"/>
    <p:sldId id="271" r:id="rId13"/>
    <p:sldId id="272" r:id="rId14"/>
    <p:sldId id="278" r:id="rId15"/>
    <p:sldId id="273" r:id="rId16"/>
    <p:sldId id="277" r:id="rId17"/>
    <p:sldId id="279" r:id="rId18"/>
    <p:sldId id="280" r:id="rId19"/>
    <p:sldId id="281" r:id="rId20"/>
    <p:sldId id="274" r:id="rId21"/>
    <p:sldId id="275" r:id="rId22"/>
    <p:sldId id="276" r:id="rId23"/>
    <p:sldId id="282" r:id="rId24"/>
    <p:sldId id="288" r:id="rId25"/>
    <p:sldId id="289" r:id="rId26"/>
    <p:sldId id="290" r:id="rId27"/>
    <p:sldId id="291" r:id="rId28"/>
    <p:sldId id="292" r:id="rId29"/>
    <p:sldId id="283" r:id="rId30"/>
    <p:sldId id="293" r:id="rId31"/>
    <p:sldId id="284" r:id="rId32"/>
    <p:sldId id="295" r:id="rId33"/>
    <p:sldId id="285" r:id="rId34"/>
    <p:sldId id="296" r:id="rId35"/>
    <p:sldId id="294" r:id="rId36"/>
    <p:sldId id="286" r:id="rId37"/>
    <p:sldId id="287" r:id="rId38"/>
    <p:sldId id="297" r:id="rId39"/>
    <p:sldId id="308" r:id="rId40"/>
    <p:sldId id="298" r:id="rId41"/>
    <p:sldId id="299" r:id="rId42"/>
    <p:sldId id="300" r:id="rId43"/>
    <p:sldId id="301" r:id="rId44"/>
    <p:sldId id="302" r:id="rId45"/>
    <p:sldId id="303" r:id="rId46"/>
    <p:sldId id="304" r:id="rId47"/>
    <p:sldId id="305" r:id="rId48"/>
    <p:sldId id="306" r:id="rId49"/>
    <p:sldId id="307" r:id="rId50"/>
    <p:sldId id="309" r:id="rId51"/>
    <p:sldId id="310" r:id="rId52"/>
    <p:sldId id="311" r:id="rId53"/>
    <p:sldId id="312" r:id="rId54"/>
    <p:sldId id="313" r:id="rId55"/>
    <p:sldId id="314" r:id="rId56"/>
    <p:sldId id="315" r:id="rId57"/>
    <p:sldId id="316" r:id="rId58"/>
    <p:sldId id="317" r:id="rId59"/>
    <p:sldId id="320" r:id="rId60"/>
    <p:sldId id="318" r:id="rId61"/>
    <p:sldId id="321" r:id="rId62"/>
    <p:sldId id="322" r:id="rId63"/>
    <p:sldId id="323" r:id="rId64"/>
    <p:sldId id="324" r:id="rId65"/>
    <p:sldId id="325" r:id="rId66"/>
    <p:sldId id="326" r:id="rId67"/>
    <p:sldId id="327" r:id="rId68"/>
    <p:sldId id="328" r:id="rId69"/>
    <p:sldId id="334" r:id="rId70"/>
    <p:sldId id="335" r:id="rId71"/>
    <p:sldId id="329" r:id="rId72"/>
    <p:sldId id="330" r:id="rId73"/>
    <p:sldId id="331" r:id="rId74"/>
    <p:sldId id="332" r:id="rId75"/>
    <p:sldId id="333" r:id="rId76"/>
    <p:sldId id="336" r:id="rId77"/>
    <p:sldId id="337" r:id="rId78"/>
    <p:sldId id="338" r:id="rId79"/>
    <p:sldId id="339" r:id="rId80"/>
    <p:sldId id="340" r:id="rId81"/>
    <p:sldId id="341" r:id="rId82"/>
    <p:sldId id="343" r:id="rId83"/>
    <p:sldId id="342" r:id="rId84"/>
    <p:sldId id="345" r:id="rId85"/>
    <p:sldId id="346" r:id="rId86"/>
    <p:sldId id="347" r:id="rId87"/>
    <p:sldId id="348"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70" d="100"/>
          <a:sy n="70" d="100"/>
        </p:scale>
        <p:origin x="-1386" y="-90"/>
      </p:cViewPr>
      <p:guideLst>
        <p:guide orient="horz" pos="2160"/>
        <p:guide pos="2880"/>
      </p:guideLst>
    </p:cSldViewPr>
  </p:slideViewPr>
  <p:outlineViewPr>
    <p:cViewPr>
      <p:scale>
        <a:sx n="33" d="100"/>
        <a:sy n="33" d="100"/>
      </p:scale>
      <p:origin x="0" y="1854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84" Type="http://schemas.openxmlformats.org/officeDocument/2006/relationships/slide" Target="slides/slide83.xml" /><Relationship Id="rId89" Type="http://schemas.openxmlformats.org/officeDocument/2006/relationships/notesMaster" Target="notesMasters/notesMaster1.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slide" Target="slides/slide86.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90" Type="http://schemas.openxmlformats.org/officeDocument/2006/relationships/presProps" Target="presProps.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tableStyles" Target="tableStyles.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4" Type="http://schemas.openxmlformats.org/officeDocument/2006/relationships/slide" Target="slides/slide3.xml" /><Relationship Id="rId9" Type="http://schemas.openxmlformats.org/officeDocument/2006/relationships/slide" Target="slides/slide8.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145EA2-9F2A-47B4-9FA3-75C53D58395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DBC35AEB-1EE5-42EA-A811-DC67BACC2C2E}">
      <dgm:prSet phldrT="[Text]" custT="1"/>
      <dgm:spPr/>
      <dgm:t>
        <a:bodyPr/>
        <a:lstStyle/>
        <a:p>
          <a:r>
            <a:rPr lang="en-US" sz="2200" dirty="0">
              <a:latin typeface="Times New Roman" pitchFamily="18" charset="0"/>
              <a:cs typeface="Times New Roman" pitchFamily="18" charset="0"/>
            </a:rPr>
            <a:t>Productivity</a:t>
          </a:r>
          <a:endParaRPr lang="en-IN" sz="2200" dirty="0">
            <a:latin typeface="Times New Roman" pitchFamily="18" charset="0"/>
            <a:cs typeface="Times New Roman" pitchFamily="18" charset="0"/>
          </a:endParaRPr>
        </a:p>
      </dgm:t>
    </dgm:pt>
    <dgm:pt modelId="{F1B3E6C4-F54C-4E06-B3AA-9B59A108A878}" type="parTrans" cxnId="{7BD09B11-1BD4-44A8-981C-C8BA699D9784}">
      <dgm:prSet/>
      <dgm:spPr/>
      <dgm:t>
        <a:bodyPr/>
        <a:lstStyle/>
        <a:p>
          <a:endParaRPr lang="en-IN" sz="2200"/>
        </a:p>
      </dgm:t>
    </dgm:pt>
    <dgm:pt modelId="{5AF4826E-42F8-4BA0-A2DF-E6EDA432F987}" type="sibTrans" cxnId="{7BD09B11-1BD4-44A8-981C-C8BA699D9784}">
      <dgm:prSet/>
      <dgm:spPr/>
      <dgm:t>
        <a:bodyPr/>
        <a:lstStyle/>
        <a:p>
          <a:endParaRPr lang="en-IN" sz="2200"/>
        </a:p>
      </dgm:t>
    </dgm:pt>
    <dgm:pt modelId="{B0FBD989-E55E-47B1-856F-3AAED4AB354E}">
      <dgm:prSet phldrT="[Text]" custT="1"/>
      <dgm:spPr/>
      <dgm:t>
        <a:bodyPr/>
        <a:lstStyle/>
        <a:p>
          <a:r>
            <a:rPr lang="en-US" sz="2200" dirty="0">
              <a:latin typeface="Times New Roman" pitchFamily="18" charset="0"/>
              <a:cs typeface="Times New Roman" pitchFamily="18" charset="0"/>
            </a:rPr>
            <a:t>Relative term</a:t>
          </a:r>
          <a:endParaRPr lang="en-IN" sz="2200" dirty="0">
            <a:latin typeface="Times New Roman" pitchFamily="18" charset="0"/>
            <a:cs typeface="Times New Roman" pitchFamily="18" charset="0"/>
          </a:endParaRPr>
        </a:p>
      </dgm:t>
    </dgm:pt>
    <dgm:pt modelId="{828B640D-1B6E-40F5-A2EE-5A93E6AEAC3B}" type="parTrans" cxnId="{3C3E7D8B-7F69-4971-A581-D21A63147612}">
      <dgm:prSet/>
      <dgm:spPr/>
      <dgm:t>
        <a:bodyPr/>
        <a:lstStyle/>
        <a:p>
          <a:endParaRPr lang="en-IN" sz="2200"/>
        </a:p>
      </dgm:t>
    </dgm:pt>
    <dgm:pt modelId="{843A9E3B-82B4-419C-8D52-78D8FA179F3F}" type="sibTrans" cxnId="{3C3E7D8B-7F69-4971-A581-D21A63147612}">
      <dgm:prSet/>
      <dgm:spPr/>
      <dgm:t>
        <a:bodyPr/>
        <a:lstStyle/>
        <a:p>
          <a:endParaRPr lang="en-IN" sz="2200"/>
        </a:p>
      </dgm:t>
    </dgm:pt>
    <dgm:pt modelId="{743A6E74-F794-4985-9025-1E1A53B4EE9A}">
      <dgm:prSet phldrT="[Text]" custT="1"/>
      <dgm:spPr/>
      <dgm:t>
        <a:bodyPr/>
        <a:lstStyle/>
        <a:p>
          <a:r>
            <a:rPr lang="en-US" sz="2200" dirty="0">
              <a:latin typeface="Times New Roman" pitchFamily="18" charset="0"/>
              <a:cs typeface="Times New Roman" pitchFamily="18" charset="0"/>
            </a:rPr>
            <a:t>Production</a:t>
          </a:r>
          <a:endParaRPr lang="en-IN" sz="2200" dirty="0">
            <a:latin typeface="Times New Roman" pitchFamily="18" charset="0"/>
            <a:cs typeface="Times New Roman" pitchFamily="18" charset="0"/>
          </a:endParaRPr>
        </a:p>
      </dgm:t>
    </dgm:pt>
    <dgm:pt modelId="{E519176C-0E4F-4126-B530-773F3F8010FE}" type="parTrans" cxnId="{49910DD2-B9AA-44C9-8D70-F0562DB90722}">
      <dgm:prSet/>
      <dgm:spPr/>
      <dgm:t>
        <a:bodyPr/>
        <a:lstStyle/>
        <a:p>
          <a:endParaRPr lang="en-IN" sz="2200"/>
        </a:p>
      </dgm:t>
    </dgm:pt>
    <dgm:pt modelId="{8CEF56BC-335A-4C66-9FB5-D160A28788C9}" type="sibTrans" cxnId="{49910DD2-B9AA-44C9-8D70-F0562DB90722}">
      <dgm:prSet/>
      <dgm:spPr/>
      <dgm:t>
        <a:bodyPr/>
        <a:lstStyle/>
        <a:p>
          <a:endParaRPr lang="en-IN" sz="2200"/>
        </a:p>
      </dgm:t>
    </dgm:pt>
    <dgm:pt modelId="{B459095B-FF17-4087-A455-0D931DA4BC1F}">
      <dgm:prSet phldrT="[Text]" custT="1"/>
      <dgm:spPr/>
      <dgm:t>
        <a:bodyPr/>
        <a:lstStyle/>
        <a:p>
          <a:r>
            <a:rPr lang="en-US" sz="2200" dirty="0">
              <a:latin typeface="Times New Roman" pitchFamily="18" charset="0"/>
              <a:cs typeface="Times New Roman" pitchFamily="18" charset="0"/>
            </a:rPr>
            <a:t>Absolute term</a:t>
          </a:r>
          <a:endParaRPr lang="en-IN" sz="2200" dirty="0">
            <a:latin typeface="Times New Roman" pitchFamily="18" charset="0"/>
            <a:cs typeface="Times New Roman" pitchFamily="18" charset="0"/>
          </a:endParaRPr>
        </a:p>
      </dgm:t>
    </dgm:pt>
    <dgm:pt modelId="{B2B6BC5E-2B66-4A0B-971C-1D57A4269E65}" type="parTrans" cxnId="{3F31AAD7-4460-426E-AEEE-3846140348FA}">
      <dgm:prSet/>
      <dgm:spPr/>
      <dgm:t>
        <a:bodyPr/>
        <a:lstStyle/>
        <a:p>
          <a:endParaRPr lang="en-IN" sz="2200"/>
        </a:p>
      </dgm:t>
    </dgm:pt>
    <dgm:pt modelId="{02A2F15F-11B5-4DD2-BCFF-0F2FD457E15B}" type="sibTrans" cxnId="{3F31AAD7-4460-426E-AEEE-3846140348FA}">
      <dgm:prSet/>
      <dgm:spPr/>
      <dgm:t>
        <a:bodyPr/>
        <a:lstStyle/>
        <a:p>
          <a:endParaRPr lang="en-IN" sz="2200"/>
        </a:p>
      </dgm:t>
    </dgm:pt>
    <dgm:pt modelId="{04129E6C-7712-48EA-87A3-76D7A7712EBB}">
      <dgm:prSet phldrT="[Text]" custT="1"/>
      <dgm:spPr/>
      <dgm:t>
        <a:bodyPr/>
        <a:lstStyle/>
        <a:p>
          <a:r>
            <a:rPr lang="en-US" sz="2200" dirty="0">
              <a:latin typeface="Times New Roman" pitchFamily="18" charset="0"/>
              <a:cs typeface="Times New Roman" pitchFamily="18" charset="0"/>
            </a:rPr>
            <a:t>A measure of capacity of system</a:t>
          </a:r>
          <a:endParaRPr lang="en-IN" sz="2200" dirty="0">
            <a:latin typeface="Times New Roman" pitchFamily="18" charset="0"/>
            <a:cs typeface="Times New Roman" pitchFamily="18" charset="0"/>
          </a:endParaRPr>
        </a:p>
      </dgm:t>
    </dgm:pt>
    <dgm:pt modelId="{A607194F-B397-4A3E-9D8E-143A829F6A03}" type="parTrans" cxnId="{9510268E-7D10-427D-A162-6F8DAE502D51}">
      <dgm:prSet/>
      <dgm:spPr/>
      <dgm:t>
        <a:bodyPr/>
        <a:lstStyle/>
        <a:p>
          <a:endParaRPr lang="en-IN" sz="2200"/>
        </a:p>
      </dgm:t>
    </dgm:pt>
    <dgm:pt modelId="{7F35421F-B417-4100-9F0E-28F6166552A1}" type="sibTrans" cxnId="{9510268E-7D10-427D-A162-6F8DAE502D51}">
      <dgm:prSet/>
      <dgm:spPr/>
      <dgm:t>
        <a:bodyPr/>
        <a:lstStyle/>
        <a:p>
          <a:endParaRPr lang="en-IN" sz="2200"/>
        </a:p>
      </dgm:t>
    </dgm:pt>
    <dgm:pt modelId="{40D35425-7A32-43CF-BBC6-EE9A3B9D219F}">
      <dgm:prSet phldrT="[Text]" custT="1"/>
      <dgm:spPr/>
      <dgm:t>
        <a:bodyPr/>
        <a:lstStyle/>
        <a:p>
          <a:r>
            <a:rPr lang="en-US" sz="2200" dirty="0">
              <a:latin typeface="Times New Roman" pitchFamily="18" charset="0"/>
              <a:cs typeface="Times New Roman" pitchFamily="18" charset="0"/>
            </a:rPr>
            <a:t>Increases by utilizing more inputs.</a:t>
          </a:r>
          <a:endParaRPr lang="en-IN" sz="2200" dirty="0">
            <a:latin typeface="Times New Roman" pitchFamily="18" charset="0"/>
            <a:cs typeface="Times New Roman" pitchFamily="18" charset="0"/>
          </a:endParaRPr>
        </a:p>
      </dgm:t>
    </dgm:pt>
    <dgm:pt modelId="{5F762AD5-F036-48D4-95BA-FE48274D59B7}" type="parTrans" cxnId="{FE31AD0B-E260-4021-84F0-29C808EF28ED}">
      <dgm:prSet/>
      <dgm:spPr/>
      <dgm:t>
        <a:bodyPr/>
        <a:lstStyle/>
        <a:p>
          <a:endParaRPr lang="en-IN" sz="2200"/>
        </a:p>
      </dgm:t>
    </dgm:pt>
    <dgm:pt modelId="{9CFC25F3-0CB3-475A-B088-CEEACC166DDD}" type="sibTrans" cxnId="{FE31AD0B-E260-4021-84F0-29C808EF28ED}">
      <dgm:prSet/>
      <dgm:spPr/>
      <dgm:t>
        <a:bodyPr/>
        <a:lstStyle/>
        <a:p>
          <a:endParaRPr lang="en-IN" sz="2200"/>
        </a:p>
      </dgm:t>
    </dgm:pt>
    <dgm:pt modelId="{97324FAB-CF31-45EB-B344-BD91A2FF0AD3}">
      <dgm:prSet phldrT="[Text]" custT="1"/>
      <dgm:spPr/>
      <dgm:t>
        <a:bodyPr/>
        <a:lstStyle/>
        <a:p>
          <a:r>
            <a:rPr lang="en-US" sz="2200" dirty="0">
              <a:latin typeface="Times New Roman" pitchFamily="18" charset="0"/>
              <a:cs typeface="Times New Roman" pitchFamily="18" charset="0"/>
            </a:rPr>
            <a:t>It is expressed in terms of a unit ( No of units or monetary terms)</a:t>
          </a:r>
          <a:endParaRPr lang="en-IN" sz="2200" dirty="0">
            <a:latin typeface="Times New Roman" pitchFamily="18" charset="0"/>
            <a:cs typeface="Times New Roman" pitchFamily="18" charset="0"/>
          </a:endParaRPr>
        </a:p>
      </dgm:t>
    </dgm:pt>
    <dgm:pt modelId="{0DDEBC15-CE04-44F3-84B6-9388937B0230}" type="parTrans" cxnId="{A1DB68F2-D841-4AB2-92FE-B491918BE0DF}">
      <dgm:prSet/>
      <dgm:spPr/>
      <dgm:t>
        <a:bodyPr/>
        <a:lstStyle/>
        <a:p>
          <a:endParaRPr lang="en-IN" sz="2200"/>
        </a:p>
      </dgm:t>
    </dgm:pt>
    <dgm:pt modelId="{999F9F35-DE5B-4D17-98AC-3004626009B3}" type="sibTrans" cxnId="{A1DB68F2-D841-4AB2-92FE-B491918BE0DF}">
      <dgm:prSet/>
      <dgm:spPr/>
      <dgm:t>
        <a:bodyPr/>
        <a:lstStyle/>
        <a:p>
          <a:endParaRPr lang="en-IN" sz="2200"/>
        </a:p>
      </dgm:t>
    </dgm:pt>
    <dgm:pt modelId="{07BBEFE0-D5BC-48C2-A131-839837CCC860}">
      <dgm:prSet phldrT="[Text]" custT="1"/>
      <dgm:spPr/>
      <dgm:t>
        <a:bodyPr/>
        <a:lstStyle/>
        <a:p>
          <a:r>
            <a:rPr lang="en-US" sz="2200" dirty="0">
              <a:latin typeface="Times New Roman" pitchFamily="18" charset="0"/>
              <a:cs typeface="Times New Roman" pitchFamily="18" charset="0"/>
            </a:rPr>
            <a:t>It may or may not  have a unit </a:t>
          </a:r>
          <a:endParaRPr lang="en-IN" sz="2200" dirty="0">
            <a:latin typeface="Times New Roman" pitchFamily="18" charset="0"/>
            <a:cs typeface="Times New Roman" pitchFamily="18" charset="0"/>
          </a:endParaRPr>
        </a:p>
      </dgm:t>
    </dgm:pt>
    <dgm:pt modelId="{05BBB5E8-519E-4F52-A73F-1C503B329EBD}" type="sibTrans" cxnId="{C0569081-0353-43FC-ACB0-795624E154EF}">
      <dgm:prSet/>
      <dgm:spPr/>
      <dgm:t>
        <a:bodyPr/>
        <a:lstStyle/>
        <a:p>
          <a:endParaRPr lang="en-IN" sz="2200"/>
        </a:p>
      </dgm:t>
    </dgm:pt>
    <dgm:pt modelId="{1FBDDB6D-EA6F-4157-BF1A-505D13F7CF45}" type="parTrans" cxnId="{C0569081-0353-43FC-ACB0-795624E154EF}">
      <dgm:prSet/>
      <dgm:spPr/>
      <dgm:t>
        <a:bodyPr/>
        <a:lstStyle/>
        <a:p>
          <a:endParaRPr lang="en-IN" sz="2200"/>
        </a:p>
      </dgm:t>
    </dgm:pt>
    <dgm:pt modelId="{E7F09F08-AD09-41C8-AD93-ADD2394A2A9D}">
      <dgm:prSet phldrT="[Text]" custT="1"/>
      <dgm:spPr/>
      <dgm:t>
        <a:bodyPr/>
        <a:lstStyle/>
        <a:p>
          <a:r>
            <a:rPr lang="en-US" sz="2200" dirty="0">
              <a:latin typeface="Times New Roman" pitchFamily="18" charset="0"/>
              <a:cs typeface="Times New Roman" pitchFamily="18" charset="0"/>
            </a:rPr>
            <a:t>Increases by efficient utilization of inputs (4 M’s *)</a:t>
          </a:r>
          <a:endParaRPr lang="en-IN" sz="2200" dirty="0">
            <a:latin typeface="Times New Roman" pitchFamily="18" charset="0"/>
            <a:cs typeface="Times New Roman" pitchFamily="18" charset="0"/>
          </a:endParaRPr>
        </a:p>
      </dgm:t>
    </dgm:pt>
    <dgm:pt modelId="{84419EF6-FE31-4192-AB3F-4E1DE0E0BC11}" type="sibTrans" cxnId="{47226602-6E6C-4ED0-8625-481662603361}">
      <dgm:prSet/>
      <dgm:spPr/>
      <dgm:t>
        <a:bodyPr/>
        <a:lstStyle/>
        <a:p>
          <a:endParaRPr lang="en-IN" sz="2200"/>
        </a:p>
      </dgm:t>
    </dgm:pt>
    <dgm:pt modelId="{7E407CE3-69B2-4DFC-8E5F-7E28931E121D}" type="parTrans" cxnId="{47226602-6E6C-4ED0-8625-481662603361}">
      <dgm:prSet/>
      <dgm:spPr/>
      <dgm:t>
        <a:bodyPr/>
        <a:lstStyle/>
        <a:p>
          <a:endParaRPr lang="en-IN" sz="2200"/>
        </a:p>
      </dgm:t>
    </dgm:pt>
    <dgm:pt modelId="{8C6E9AD2-3987-4F28-86CE-17557EE0C4B1}">
      <dgm:prSet phldrT="[Text]" custT="1"/>
      <dgm:spPr/>
      <dgm:t>
        <a:bodyPr/>
        <a:lstStyle/>
        <a:p>
          <a:r>
            <a:rPr lang="en-US" sz="2200" dirty="0">
              <a:latin typeface="Times New Roman" pitchFamily="18" charset="0"/>
              <a:cs typeface="Times New Roman" pitchFamily="18" charset="0"/>
            </a:rPr>
            <a:t>A measure of efficiency of system</a:t>
          </a:r>
          <a:endParaRPr lang="en-IN" sz="2200" dirty="0">
            <a:latin typeface="Times New Roman" pitchFamily="18" charset="0"/>
            <a:cs typeface="Times New Roman" pitchFamily="18" charset="0"/>
          </a:endParaRPr>
        </a:p>
      </dgm:t>
    </dgm:pt>
    <dgm:pt modelId="{D9032A97-5CD4-4BA5-8BD1-5F629CE4FA8F}" type="sibTrans" cxnId="{0619C8A8-84DD-4DB3-ADB4-1A072BAA4BDA}">
      <dgm:prSet/>
      <dgm:spPr/>
      <dgm:t>
        <a:bodyPr/>
        <a:lstStyle/>
        <a:p>
          <a:endParaRPr lang="en-IN" sz="2200"/>
        </a:p>
      </dgm:t>
    </dgm:pt>
    <dgm:pt modelId="{701BDF88-BDF1-4821-9A03-E89D9F44D88B}" type="parTrans" cxnId="{0619C8A8-84DD-4DB3-ADB4-1A072BAA4BDA}">
      <dgm:prSet/>
      <dgm:spPr/>
      <dgm:t>
        <a:bodyPr/>
        <a:lstStyle/>
        <a:p>
          <a:endParaRPr lang="en-IN" sz="2200"/>
        </a:p>
      </dgm:t>
    </dgm:pt>
    <dgm:pt modelId="{D75F340A-D147-4C41-9F74-14A35FC6A000}" type="pres">
      <dgm:prSet presAssocID="{C1145EA2-9F2A-47B4-9FA3-75C53D583953}" presName="Name0" presStyleCnt="0">
        <dgm:presLayoutVars>
          <dgm:dir/>
          <dgm:animLvl val="lvl"/>
          <dgm:resizeHandles val="exact"/>
        </dgm:presLayoutVars>
      </dgm:prSet>
      <dgm:spPr/>
    </dgm:pt>
    <dgm:pt modelId="{AE0396C9-1D54-4F18-9C58-B71D014F2D6A}" type="pres">
      <dgm:prSet presAssocID="{DBC35AEB-1EE5-42EA-A811-DC67BACC2C2E}" presName="composite" presStyleCnt="0"/>
      <dgm:spPr/>
    </dgm:pt>
    <dgm:pt modelId="{BE221FC1-9577-4A15-9708-B4BCECFE8ED4}" type="pres">
      <dgm:prSet presAssocID="{DBC35AEB-1EE5-42EA-A811-DC67BACC2C2E}" presName="parTx" presStyleLbl="alignNode1" presStyleIdx="0" presStyleCnt="2">
        <dgm:presLayoutVars>
          <dgm:chMax val="0"/>
          <dgm:chPref val="0"/>
          <dgm:bulletEnabled val="1"/>
        </dgm:presLayoutVars>
      </dgm:prSet>
      <dgm:spPr/>
    </dgm:pt>
    <dgm:pt modelId="{823F83E8-7EFA-4A4C-BDE4-783E4269DEFE}" type="pres">
      <dgm:prSet presAssocID="{DBC35AEB-1EE5-42EA-A811-DC67BACC2C2E}" presName="desTx" presStyleLbl="alignAccFollowNode1" presStyleIdx="0" presStyleCnt="2">
        <dgm:presLayoutVars>
          <dgm:bulletEnabled val="1"/>
        </dgm:presLayoutVars>
      </dgm:prSet>
      <dgm:spPr/>
    </dgm:pt>
    <dgm:pt modelId="{9C4CCACE-A0B0-4577-8830-0023194AA73F}" type="pres">
      <dgm:prSet presAssocID="{5AF4826E-42F8-4BA0-A2DF-E6EDA432F987}" presName="space" presStyleCnt="0"/>
      <dgm:spPr/>
    </dgm:pt>
    <dgm:pt modelId="{7003BCD7-B58D-42E3-AE06-07FDA4217AD9}" type="pres">
      <dgm:prSet presAssocID="{743A6E74-F794-4985-9025-1E1A53B4EE9A}" presName="composite" presStyleCnt="0"/>
      <dgm:spPr/>
    </dgm:pt>
    <dgm:pt modelId="{4AE3D516-D1DC-4F4D-AD4E-5E0E3F9B70C9}" type="pres">
      <dgm:prSet presAssocID="{743A6E74-F794-4985-9025-1E1A53B4EE9A}" presName="parTx" presStyleLbl="alignNode1" presStyleIdx="1" presStyleCnt="2">
        <dgm:presLayoutVars>
          <dgm:chMax val="0"/>
          <dgm:chPref val="0"/>
          <dgm:bulletEnabled val="1"/>
        </dgm:presLayoutVars>
      </dgm:prSet>
      <dgm:spPr/>
    </dgm:pt>
    <dgm:pt modelId="{DE637D18-2D35-435B-8396-A527EF04CB1B}" type="pres">
      <dgm:prSet presAssocID="{743A6E74-F794-4985-9025-1E1A53B4EE9A}" presName="desTx" presStyleLbl="alignAccFollowNode1" presStyleIdx="1" presStyleCnt="2">
        <dgm:presLayoutVars>
          <dgm:bulletEnabled val="1"/>
        </dgm:presLayoutVars>
      </dgm:prSet>
      <dgm:spPr/>
    </dgm:pt>
  </dgm:ptLst>
  <dgm:cxnLst>
    <dgm:cxn modelId="{47226602-6E6C-4ED0-8625-481662603361}" srcId="{DBC35AEB-1EE5-42EA-A811-DC67BACC2C2E}" destId="{E7F09F08-AD09-41C8-AD93-ADD2394A2A9D}" srcOrd="2" destOrd="0" parTransId="{7E407CE3-69B2-4DFC-8E5F-7E28931E121D}" sibTransId="{84419EF6-FE31-4192-AB3F-4E1DE0E0BC11}"/>
    <dgm:cxn modelId="{E069290B-7580-4986-8123-94F37F61319F}" type="presOf" srcId="{B0FBD989-E55E-47B1-856F-3AAED4AB354E}" destId="{823F83E8-7EFA-4A4C-BDE4-783E4269DEFE}" srcOrd="0" destOrd="0" presId="urn:microsoft.com/office/officeart/2005/8/layout/hList1"/>
    <dgm:cxn modelId="{FE31AD0B-E260-4021-84F0-29C808EF28ED}" srcId="{743A6E74-F794-4985-9025-1E1A53B4EE9A}" destId="{40D35425-7A32-43CF-BBC6-EE9A3B9D219F}" srcOrd="2" destOrd="0" parTransId="{5F762AD5-F036-48D4-95BA-FE48274D59B7}" sibTransId="{9CFC25F3-0CB3-475A-B088-CEEACC166DDD}"/>
    <dgm:cxn modelId="{A523090D-6E53-41E7-A451-103A86F1F326}" type="presOf" srcId="{743A6E74-F794-4985-9025-1E1A53B4EE9A}" destId="{4AE3D516-D1DC-4F4D-AD4E-5E0E3F9B70C9}" srcOrd="0" destOrd="0" presId="urn:microsoft.com/office/officeart/2005/8/layout/hList1"/>
    <dgm:cxn modelId="{9C25EE0F-A9D3-4DC5-B61A-E3FB73DADC30}" type="presOf" srcId="{E7F09F08-AD09-41C8-AD93-ADD2394A2A9D}" destId="{823F83E8-7EFA-4A4C-BDE4-783E4269DEFE}" srcOrd="0" destOrd="2" presId="urn:microsoft.com/office/officeart/2005/8/layout/hList1"/>
    <dgm:cxn modelId="{7BD09B11-1BD4-44A8-981C-C8BA699D9784}" srcId="{C1145EA2-9F2A-47B4-9FA3-75C53D583953}" destId="{DBC35AEB-1EE5-42EA-A811-DC67BACC2C2E}" srcOrd="0" destOrd="0" parTransId="{F1B3E6C4-F54C-4E06-B3AA-9B59A108A878}" sibTransId="{5AF4826E-42F8-4BA0-A2DF-E6EDA432F987}"/>
    <dgm:cxn modelId="{6F61A867-88D3-4A0C-8E8C-9E6B82D1266C}" type="presOf" srcId="{40D35425-7A32-43CF-BBC6-EE9A3B9D219F}" destId="{DE637D18-2D35-435B-8396-A527EF04CB1B}" srcOrd="0" destOrd="2" presId="urn:microsoft.com/office/officeart/2005/8/layout/hList1"/>
    <dgm:cxn modelId="{D5FFB56D-0969-4D9F-911D-2735D263FAA0}" type="presOf" srcId="{DBC35AEB-1EE5-42EA-A811-DC67BACC2C2E}" destId="{BE221FC1-9577-4A15-9708-B4BCECFE8ED4}" srcOrd="0" destOrd="0" presId="urn:microsoft.com/office/officeart/2005/8/layout/hList1"/>
    <dgm:cxn modelId="{5BEB8F79-39B1-4178-A29A-302B16BAD6AB}" type="presOf" srcId="{B459095B-FF17-4087-A455-0D931DA4BC1F}" destId="{DE637D18-2D35-435B-8396-A527EF04CB1B}" srcOrd="0" destOrd="0" presId="urn:microsoft.com/office/officeart/2005/8/layout/hList1"/>
    <dgm:cxn modelId="{064DAD7B-FE58-430B-9033-ECFD25A6888E}" type="presOf" srcId="{04129E6C-7712-48EA-87A3-76D7A7712EBB}" destId="{DE637D18-2D35-435B-8396-A527EF04CB1B}" srcOrd="0" destOrd="1" presId="urn:microsoft.com/office/officeart/2005/8/layout/hList1"/>
    <dgm:cxn modelId="{C0569081-0353-43FC-ACB0-795624E154EF}" srcId="{DBC35AEB-1EE5-42EA-A811-DC67BACC2C2E}" destId="{07BBEFE0-D5BC-48C2-A131-839837CCC860}" srcOrd="3" destOrd="0" parTransId="{1FBDDB6D-EA6F-4157-BF1A-505D13F7CF45}" sibTransId="{05BBB5E8-519E-4F52-A73F-1C503B329EBD}"/>
    <dgm:cxn modelId="{3F58478A-9DE8-4FE1-8E86-E491D8EC60B6}" type="presOf" srcId="{97324FAB-CF31-45EB-B344-BD91A2FF0AD3}" destId="{DE637D18-2D35-435B-8396-A527EF04CB1B}" srcOrd="0" destOrd="3" presId="urn:microsoft.com/office/officeart/2005/8/layout/hList1"/>
    <dgm:cxn modelId="{3C3E7D8B-7F69-4971-A581-D21A63147612}" srcId="{DBC35AEB-1EE5-42EA-A811-DC67BACC2C2E}" destId="{B0FBD989-E55E-47B1-856F-3AAED4AB354E}" srcOrd="0" destOrd="0" parTransId="{828B640D-1B6E-40F5-A2EE-5A93E6AEAC3B}" sibTransId="{843A9E3B-82B4-419C-8D52-78D8FA179F3F}"/>
    <dgm:cxn modelId="{9510268E-7D10-427D-A162-6F8DAE502D51}" srcId="{743A6E74-F794-4985-9025-1E1A53B4EE9A}" destId="{04129E6C-7712-48EA-87A3-76D7A7712EBB}" srcOrd="1" destOrd="0" parTransId="{A607194F-B397-4A3E-9D8E-143A829F6A03}" sibTransId="{7F35421F-B417-4100-9F0E-28F6166552A1}"/>
    <dgm:cxn modelId="{0619C8A8-84DD-4DB3-ADB4-1A072BAA4BDA}" srcId="{DBC35AEB-1EE5-42EA-A811-DC67BACC2C2E}" destId="{8C6E9AD2-3987-4F28-86CE-17557EE0C4B1}" srcOrd="1" destOrd="0" parTransId="{701BDF88-BDF1-4821-9A03-E89D9F44D88B}" sibTransId="{D9032A97-5CD4-4BA5-8BD1-5F629CE4FA8F}"/>
    <dgm:cxn modelId="{6E6108AF-5E0C-4A38-ADBA-E6C66DB72414}" type="presOf" srcId="{C1145EA2-9F2A-47B4-9FA3-75C53D583953}" destId="{D75F340A-D147-4C41-9F74-14A35FC6A000}" srcOrd="0" destOrd="0" presId="urn:microsoft.com/office/officeart/2005/8/layout/hList1"/>
    <dgm:cxn modelId="{466F88C2-19EC-47F9-AE7B-8B96BBB15CD8}" type="presOf" srcId="{8C6E9AD2-3987-4F28-86CE-17557EE0C4B1}" destId="{823F83E8-7EFA-4A4C-BDE4-783E4269DEFE}" srcOrd="0" destOrd="1" presId="urn:microsoft.com/office/officeart/2005/8/layout/hList1"/>
    <dgm:cxn modelId="{02EFA0D0-372C-4199-8454-99CBACC29562}" type="presOf" srcId="{07BBEFE0-D5BC-48C2-A131-839837CCC860}" destId="{823F83E8-7EFA-4A4C-BDE4-783E4269DEFE}" srcOrd="0" destOrd="3" presId="urn:microsoft.com/office/officeart/2005/8/layout/hList1"/>
    <dgm:cxn modelId="{49910DD2-B9AA-44C9-8D70-F0562DB90722}" srcId="{C1145EA2-9F2A-47B4-9FA3-75C53D583953}" destId="{743A6E74-F794-4985-9025-1E1A53B4EE9A}" srcOrd="1" destOrd="0" parTransId="{E519176C-0E4F-4126-B530-773F3F8010FE}" sibTransId="{8CEF56BC-335A-4C66-9FB5-D160A28788C9}"/>
    <dgm:cxn modelId="{3F31AAD7-4460-426E-AEEE-3846140348FA}" srcId="{743A6E74-F794-4985-9025-1E1A53B4EE9A}" destId="{B459095B-FF17-4087-A455-0D931DA4BC1F}" srcOrd="0" destOrd="0" parTransId="{B2B6BC5E-2B66-4A0B-971C-1D57A4269E65}" sibTransId="{02A2F15F-11B5-4DD2-BCFF-0F2FD457E15B}"/>
    <dgm:cxn modelId="{A1DB68F2-D841-4AB2-92FE-B491918BE0DF}" srcId="{743A6E74-F794-4985-9025-1E1A53B4EE9A}" destId="{97324FAB-CF31-45EB-B344-BD91A2FF0AD3}" srcOrd="3" destOrd="0" parTransId="{0DDEBC15-CE04-44F3-84B6-9388937B0230}" sibTransId="{999F9F35-DE5B-4D17-98AC-3004626009B3}"/>
    <dgm:cxn modelId="{D59B6B3B-323C-4C45-B2F8-F21C7CF5D8FC}" type="presParOf" srcId="{D75F340A-D147-4C41-9F74-14A35FC6A000}" destId="{AE0396C9-1D54-4F18-9C58-B71D014F2D6A}" srcOrd="0" destOrd="0" presId="urn:microsoft.com/office/officeart/2005/8/layout/hList1"/>
    <dgm:cxn modelId="{AA86B1E7-DB05-4C0A-A8EF-FC16E6063492}" type="presParOf" srcId="{AE0396C9-1D54-4F18-9C58-B71D014F2D6A}" destId="{BE221FC1-9577-4A15-9708-B4BCECFE8ED4}" srcOrd="0" destOrd="0" presId="urn:microsoft.com/office/officeart/2005/8/layout/hList1"/>
    <dgm:cxn modelId="{9DE14261-070D-4EF9-86E9-C7BDAB42295F}" type="presParOf" srcId="{AE0396C9-1D54-4F18-9C58-B71D014F2D6A}" destId="{823F83E8-7EFA-4A4C-BDE4-783E4269DEFE}" srcOrd="1" destOrd="0" presId="urn:microsoft.com/office/officeart/2005/8/layout/hList1"/>
    <dgm:cxn modelId="{6C7A3200-62DB-453F-B486-C290292AECCE}" type="presParOf" srcId="{D75F340A-D147-4C41-9F74-14A35FC6A000}" destId="{9C4CCACE-A0B0-4577-8830-0023194AA73F}" srcOrd="1" destOrd="0" presId="urn:microsoft.com/office/officeart/2005/8/layout/hList1"/>
    <dgm:cxn modelId="{B7F393D7-AD54-45A1-90BC-3304D81D2B60}" type="presParOf" srcId="{D75F340A-D147-4C41-9F74-14A35FC6A000}" destId="{7003BCD7-B58D-42E3-AE06-07FDA4217AD9}" srcOrd="2" destOrd="0" presId="urn:microsoft.com/office/officeart/2005/8/layout/hList1"/>
    <dgm:cxn modelId="{3CB3971B-4349-4889-B939-8FAF0F84311F}" type="presParOf" srcId="{7003BCD7-B58D-42E3-AE06-07FDA4217AD9}" destId="{4AE3D516-D1DC-4F4D-AD4E-5E0E3F9B70C9}" srcOrd="0" destOrd="0" presId="urn:microsoft.com/office/officeart/2005/8/layout/hList1"/>
    <dgm:cxn modelId="{73BC0712-FA20-4963-ACA5-77D11933D38A}" type="presParOf" srcId="{7003BCD7-B58D-42E3-AE06-07FDA4217AD9}" destId="{DE637D18-2D35-435B-8396-A527EF04CB1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221FC1-9577-4A15-9708-B4BCECFE8ED4}">
      <dsp:nvSpPr>
        <dsp:cNvPr id="0" name=""/>
        <dsp:cNvSpPr/>
      </dsp:nvSpPr>
      <dsp:spPr>
        <a:xfrm>
          <a:off x="40" y="240232"/>
          <a:ext cx="3903198" cy="1561279"/>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itchFamily="18" charset="0"/>
              <a:cs typeface="Times New Roman" pitchFamily="18" charset="0"/>
            </a:rPr>
            <a:t>Productivity</a:t>
          </a:r>
          <a:endParaRPr lang="en-IN" sz="2200" kern="1200" dirty="0">
            <a:latin typeface="Times New Roman" pitchFamily="18" charset="0"/>
            <a:cs typeface="Times New Roman" pitchFamily="18" charset="0"/>
          </a:endParaRPr>
        </a:p>
      </dsp:txBody>
      <dsp:txXfrm>
        <a:off x="40" y="240232"/>
        <a:ext cx="3903198" cy="1561279"/>
      </dsp:txXfrm>
    </dsp:sp>
    <dsp:sp modelId="{823F83E8-7EFA-4A4C-BDE4-783E4269DEFE}">
      <dsp:nvSpPr>
        <dsp:cNvPr id="0" name=""/>
        <dsp:cNvSpPr/>
      </dsp:nvSpPr>
      <dsp:spPr>
        <a:xfrm>
          <a:off x="40" y="1801511"/>
          <a:ext cx="3903198" cy="28548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Relative term</a:t>
          </a:r>
          <a:endParaRPr lang="en-IN" sz="2200" kern="1200" dirty="0">
            <a:latin typeface="Times New Roman" pitchFamily="18" charset="0"/>
            <a:cs typeface="Times New Roman" pitchFamily="18" charset="0"/>
          </a:endParaRPr>
        </a:p>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A measure of efficiency of system</a:t>
          </a:r>
          <a:endParaRPr lang="en-IN" sz="2200" kern="1200" dirty="0">
            <a:latin typeface="Times New Roman" pitchFamily="18" charset="0"/>
            <a:cs typeface="Times New Roman" pitchFamily="18" charset="0"/>
          </a:endParaRPr>
        </a:p>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Increases by efficient utilization of inputs (4 M’s *)</a:t>
          </a:r>
          <a:endParaRPr lang="en-IN" sz="2200" kern="1200" dirty="0">
            <a:latin typeface="Times New Roman" pitchFamily="18" charset="0"/>
            <a:cs typeface="Times New Roman" pitchFamily="18" charset="0"/>
          </a:endParaRPr>
        </a:p>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It may or may not  have a unit </a:t>
          </a:r>
          <a:endParaRPr lang="en-IN" sz="2200" kern="1200" dirty="0">
            <a:latin typeface="Times New Roman" pitchFamily="18" charset="0"/>
            <a:cs typeface="Times New Roman" pitchFamily="18" charset="0"/>
          </a:endParaRPr>
        </a:p>
      </dsp:txBody>
      <dsp:txXfrm>
        <a:off x="40" y="1801511"/>
        <a:ext cx="3903198" cy="2854800"/>
      </dsp:txXfrm>
    </dsp:sp>
    <dsp:sp modelId="{4AE3D516-D1DC-4F4D-AD4E-5E0E3F9B70C9}">
      <dsp:nvSpPr>
        <dsp:cNvPr id="0" name=""/>
        <dsp:cNvSpPr/>
      </dsp:nvSpPr>
      <dsp:spPr>
        <a:xfrm>
          <a:off x="4449687" y="240232"/>
          <a:ext cx="3903198" cy="1561279"/>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itchFamily="18" charset="0"/>
              <a:cs typeface="Times New Roman" pitchFamily="18" charset="0"/>
            </a:rPr>
            <a:t>Production</a:t>
          </a:r>
          <a:endParaRPr lang="en-IN" sz="2200" kern="1200" dirty="0">
            <a:latin typeface="Times New Roman" pitchFamily="18" charset="0"/>
            <a:cs typeface="Times New Roman" pitchFamily="18" charset="0"/>
          </a:endParaRPr>
        </a:p>
      </dsp:txBody>
      <dsp:txXfrm>
        <a:off x="4449687" y="240232"/>
        <a:ext cx="3903198" cy="1561279"/>
      </dsp:txXfrm>
    </dsp:sp>
    <dsp:sp modelId="{DE637D18-2D35-435B-8396-A527EF04CB1B}">
      <dsp:nvSpPr>
        <dsp:cNvPr id="0" name=""/>
        <dsp:cNvSpPr/>
      </dsp:nvSpPr>
      <dsp:spPr>
        <a:xfrm>
          <a:off x="4449687" y="1801511"/>
          <a:ext cx="3903198" cy="28548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Absolute term</a:t>
          </a:r>
          <a:endParaRPr lang="en-IN" sz="2200" kern="1200" dirty="0">
            <a:latin typeface="Times New Roman" pitchFamily="18" charset="0"/>
            <a:cs typeface="Times New Roman" pitchFamily="18" charset="0"/>
          </a:endParaRPr>
        </a:p>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A measure of capacity of system</a:t>
          </a:r>
          <a:endParaRPr lang="en-IN" sz="2200" kern="1200" dirty="0">
            <a:latin typeface="Times New Roman" pitchFamily="18" charset="0"/>
            <a:cs typeface="Times New Roman" pitchFamily="18" charset="0"/>
          </a:endParaRPr>
        </a:p>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Increases by utilizing more inputs.</a:t>
          </a:r>
          <a:endParaRPr lang="en-IN" sz="2200" kern="1200" dirty="0">
            <a:latin typeface="Times New Roman" pitchFamily="18" charset="0"/>
            <a:cs typeface="Times New Roman" pitchFamily="18" charset="0"/>
          </a:endParaRPr>
        </a:p>
        <a:p>
          <a:pPr marL="228600" lvl="1" indent="-228600" algn="l" defTabSz="977900">
            <a:lnSpc>
              <a:spcPct val="90000"/>
            </a:lnSpc>
            <a:spcBef>
              <a:spcPct val="0"/>
            </a:spcBef>
            <a:spcAft>
              <a:spcPct val="15000"/>
            </a:spcAft>
            <a:buChar char="•"/>
          </a:pPr>
          <a:r>
            <a:rPr lang="en-US" sz="2200" kern="1200" dirty="0">
              <a:latin typeface="Times New Roman" pitchFamily="18" charset="0"/>
              <a:cs typeface="Times New Roman" pitchFamily="18" charset="0"/>
            </a:rPr>
            <a:t>It is expressed in terms of a unit ( No of units or monetary terms)</a:t>
          </a:r>
          <a:endParaRPr lang="en-IN" sz="2200" kern="1200" dirty="0">
            <a:latin typeface="Times New Roman" pitchFamily="18" charset="0"/>
            <a:cs typeface="Times New Roman" pitchFamily="18" charset="0"/>
          </a:endParaRPr>
        </a:p>
      </dsp:txBody>
      <dsp:txXfrm>
        <a:off x="4449687" y="1801511"/>
        <a:ext cx="3903198" cy="28548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6959A0-D7AF-4AD5-8CDC-50076C4CE05E}" type="datetimeFigureOut">
              <a:rPr lang="en-US" smtClean="0"/>
              <a:pPr/>
              <a:t>12/3/2023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36E3FD-6D8C-46FF-AC2F-4917D4B60DD1}" type="slidenum">
              <a:rPr lang="en-IN" smtClean="0"/>
              <a:pPr/>
              <a:t>‹#›</a:t>
            </a:fld>
            <a:endParaRPr lang="en-IN"/>
          </a:p>
        </p:txBody>
      </p:sp>
    </p:spTree>
    <p:extLst>
      <p:ext uri="{BB962C8B-B14F-4D97-AF65-F5344CB8AC3E}">
        <p14:creationId xmlns:p14="http://schemas.microsoft.com/office/powerpoint/2010/main" val="1301390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36E3FD-6D8C-46FF-AC2F-4917D4B60DD1}" type="slidenum">
              <a:rPr lang="en-IN" smtClean="0"/>
              <a:pPr/>
              <a:t>34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79DBB1A-1FEB-47D5-AB0B-3B54F177EBBD}"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9470FF-B805-4771-9235-962ECC72ADEA}"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003534-7D6C-454A-851B-D2AB72363025}"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CA75CCB-1EEC-47B3-86D7-41D4042D5155}"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5EE8AA7-411A-4EBE-A8A4-9C7FAE215C98}" type="datetime1">
              <a:rPr lang="en-US" smtClean="0"/>
              <a:pPr/>
              <a:t>12/3/2023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3C46707-76B6-4DEA-97FB-028F8461C6F4}" type="datetime1">
              <a:rPr lang="en-US" smtClean="0"/>
              <a:pPr/>
              <a:t>12/3/2023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E7301E-D7A9-449A-90D9-52E583434F58}" type="datetime1">
              <a:rPr lang="en-US" smtClean="0"/>
              <a:pPr/>
              <a:t>12/3/2023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D8FC9C-6DF9-42FD-BCB5-227E0A06EFEE}"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4F78A0-ED48-40BD-A958-C786CD259003}"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25B49A-0D60-4A45-B342-6B952C46299F}"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4729A5-CD6D-46A8-B57D-60159B9E94C6}"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1177EF-6467-4FEC-8EDC-D092C09FC836}" type="datetime1">
              <a:rPr lang="en-US" smtClean="0"/>
              <a:pPr/>
              <a:t>12/3/2023</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52A43B-CC61-4C08-A01B-A84C4E0E89A8}"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859216" cy="100811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1)</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1412776"/>
            <a:ext cx="7931224" cy="4713387"/>
          </a:xfrm>
        </p:spPr>
        <p:txBody>
          <a:bodyPr>
            <a:normAutofit/>
          </a:bodyPr>
          <a:lstStyle/>
          <a:p>
            <a:pPr algn="just">
              <a:lnSpc>
                <a:spcPct val="160000"/>
              </a:lnSpc>
              <a:buFont typeface="Wingdings" pitchFamily="2" charset="2"/>
              <a:buChar char="Ø"/>
            </a:pPr>
            <a:r>
              <a:rPr lang="en-US" sz="2400" b="1" dirty="0">
                <a:effectLst>
                  <a:outerShdw blurRad="38100" dist="38100" dir="2700000" algn="tl">
                    <a:srgbClr val="000000">
                      <a:alpha val="43137"/>
                    </a:srgbClr>
                  </a:outerShdw>
                </a:effectLst>
                <a:latin typeface="Times New Roman" pitchFamily="18" charset="0"/>
                <a:cs typeface="Times New Roman" pitchFamily="18" charset="0"/>
              </a:rPr>
              <a:t>Productivity and Production</a:t>
            </a:r>
          </a:p>
          <a:p>
            <a:pPr lvl="2" algn="just">
              <a:lnSpc>
                <a:spcPct val="160000"/>
              </a:lnSpc>
              <a:buFont typeface="Wingdings" pitchFamily="2" charset="2"/>
              <a:buChar char="ü"/>
            </a:pPr>
            <a:r>
              <a:rPr lang="en-IN" sz="2200" dirty="0">
                <a:latin typeface="Times New Roman" pitchFamily="18" charset="0"/>
                <a:cs typeface="Times New Roman" pitchFamily="18" charset="0"/>
              </a:rPr>
              <a:t>Measurement of Productivity </a:t>
            </a:r>
          </a:p>
          <a:p>
            <a:pPr lvl="2" algn="just">
              <a:lnSpc>
                <a:spcPct val="160000"/>
              </a:lnSpc>
              <a:buFont typeface="Wingdings" pitchFamily="2" charset="2"/>
              <a:buChar char="ü"/>
            </a:pPr>
            <a:r>
              <a:rPr lang="en-IN" sz="2200" dirty="0">
                <a:latin typeface="Times New Roman" pitchFamily="18" charset="0"/>
                <a:cs typeface="Times New Roman" pitchFamily="18" charset="0"/>
              </a:rPr>
              <a:t>Productivity Index</a:t>
            </a:r>
          </a:p>
          <a:p>
            <a:pPr lvl="2" algn="just">
              <a:lnSpc>
                <a:spcPct val="160000"/>
              </a:lnSpc>
              <a:buFont typeface="Wingdings" pitchFamily="2" charset="2"/>
              <a:buChar char="ü"/>
            </a:pPr>
            <a:r>
              <a:rPr lang="en-IN" sz="2200" dirty="0">
                <a:latin typeface="Times New Roman" pitchFamily="18" charset="0"/>
                <a:cs typeface="Times New Roman" pitchFamily="18" charset="0"/>
              </a:rPr>
              <a:t>Productivity Improvement Procedure</a:t>
            </a:r>
          </a:p>
          <a:p>
            <a:pPr lvl="2" algn="just">
              <a:lnSpc>
                <a:spcPct val="160000"/>
              </a:lnSpc>
              <a:buFont typeface="Wingdings" pitchFamily="2" charset="2"/>
              <a:buChar char="ü"/>
            </a:pPr>
            <a:r>
              <a:rPr lang="en-IN" sz="2200" dirty="0">
                <a:latin typeface="Times New Roman" pitchFamily="18" charset="0"/>
                <a:cs typeface="Times New Roman" pitchFamily="18" charset="0"/>
              </a:rPr>
              <a:t>Organization by Product Function</a:t>
            </a:r>
          </a:p>
        </p:txBody>
      </p:sp>
      <p:sp>
        <p:nvSpPr>
          <p:cNvPr id="5" name="Slide Number Placeholder 4"/>
          <p:cNvSpPr>
            <a:spLocks noGrp="1"/>
          </p:cNvSpPr>
          <p:nvPr>
            <p:ph type="sldNum" sz="quarter" idx="12"/>
          </p:nvPr>
        </p:nvSpPr>
        <p:spPr/>
        <p:txBody>
          <a:bodyPr/>
          <a:lstStyle/>
          <a:p>
            <a:fld id="{9852A43B-CC61-4C08-A01B-A84C4E0E89A8}" type="slidenum">
              <a:rPr lang="en-IN" smtClean="0"/>
              <a:pPr/>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and Production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764704"/>
            <a:ext cx="8640960" cy="5760640"/>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Productivity is a measure of how much input is required to produce a given output </a:t>
            </a:r>
          </a:p>
          <a:p>
            <a:pPr lvl="1" algn="just">
              <a:buFont typeface="Wingdings" pitchFamily="2" charset="2"/>
              <a:buChar char="Ø"/>
            </a:pPr>
            <a:r>
              <a:rPr lang="en-US" sz="2200" b="1" dirty="0">
                <a:latin typeface="Times New Roman" pitchFamily="18" charset="0"/>
                <a:cs typeface="Times New Roman" pitchFamily="18" charset="0"/>
              </a:rPr>
              <a:t>Productivity = output/input</a:t>
            </a:r>
          </a:p>
          <a:p>
            <a:pPr lvl="1" algn="just">
              <a:buFont typeface="Wingdings" pitchFamily="2" charset="2"/>
              <a:buChar char="Ø"/>
            </a:pPr>
            <a:r>
              <a:rPr lang="en-US" sz="2200" b="1" dirty="0">
                <a:solidFill>
                  <a:prstClr val="black"/>
                </a:solidFill>
                <a:latin typeface="Times New Roman" pitchFamily="18" charset="0"/>
                <a:cs typeface="Times New Roman" pitchFamily="18" charset="0"/>
              </a:rPr>
              <a:t>Productivity = Value of goods &amp; services produced / Value of 		           resources utilized for this production.</a:t>
            </a:r>
          </a:p>
          <a:p>
            <a:pPr algn="just">
              <a:lnSpc>
                <a:spcPct val="150000"/>
              </a:lnSpc>
              <a:buFont typeface="Wingdings" pitchFamily="2" charset="2"/>
              <a:buChar char="Ø"/>
            </a:pPr>
            <a:r>
              <a:rPr lang="en-US" sz="2200" dirty="0">
                <a:latin typeface="Times New Roman" pitchFamily="18" charset="0"/>
                <a:cs typeface="Times New Roman" pitchFamily="18" charset="0"/>
              </a:rPr>
              <a:t>Productivity is the measure of how well the resources are brought together in an organization and utilized for accomplishing a given set of objectives. </a:t>
            </a:r>
          </a:p>
          <a:p>
            <a:pPr algn="just">
              <a:lnSpc>
                <a:spcPct val="150000"/>
              </a:lnSpc>
              <a:buFont typeface="Wingdings" pitchFamily="2" charset="2"/>
              <a:buChar char="Ø"/>
            </a:pPr>
            <a:r>
              <a:rPr lang="en-US" sz="2200" dirty="0">
                <a:latin typeface="Times New Roman" pitchFamily="18" charset="0"/>
                <a:cs typeface="Times New Roman" pitchFamily="18" charset="0"/>
              </a:rPr>
              <a:t>It can be defined as the output – input ratio within a time period with due consideration for quality.</a:t>
            </a:r>
          </a:p>
          <a:p>
            <a:pPr algn="just">
              <a:lnSpc>
                <a:spcPct val="150000"/>
              </a:lnSpc>
              <a:buFont typeface="Wingdings" pitchFamily="2" charset="2"/>
              <a:buChar char="Ø"/>
            </a:pPr>
            <a:r>
              <a:rPr lang="en-US" sz="2200" dirty="0">
                <a:latin typeface="Times New Roman" pitchFamily="18" charset="0"/>
                <a:cs typeface="Times New Roman" pitchFamily="18" charset="0"/>
              </a:rPr>
              <a:t>It is applicable to all production systems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and Production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3</a:t>
            </a:fld>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899592" y="836712"/>
            <a:ext cx="7889572" cy="5184576"/>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and Production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764704"/>
            <a:ext cx="8640960" cy="5760640"/>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formula indicates that productivity can be improved by:</a:t>
            </a:r>
          </a:p>
          <a:p>
            <a:pPr marL="1257300" lvl="2" indent="-457200" algn="just">
              <a:lnSpc>
                <a:spcPct val="150000"/>
              </a:lnSpc>
              <a:buFont typeface="+mj-lt"/>
              <a:buAutoNum type="arabicPeriod"/>
            </a:pPr>
            <a:r>
              <a:rPr lang="en-US" sz="2000" dirty="0">
                <a:latin typeface="Times New Roman" pitchFamily="18" charset="0"/>
                <a:cs typeface="Times New Roman" pitchFamily="18" charset="0"/>
              </a:rPr>
              <a:t>Increasing the outputs with the same inputs</a:t>
            </a:r>
          </a:p>
          <a:p>
            <a:pPr marL="1257300" lvl="2" indent="-457200" algn="just">
              <a:lnSpc>
                <a:spcPct val="150000"/>
              </a:lnSpc>
              <a:buFont typeface="+mj-lt"/>
              <a:buAutoNum type="arabicPeriod"/>
            </a:pPr>
            <a:r>
              <a:rPr lang="en-US" sz="2000" dirty="0">
                <a:latin typeface="Times New Roman" pitchFamily="18" charset="0"/>
                <a:cs typeface="Times New Roman" pitchFamily="18" charset="0"/>
              </a:rPr>
              <a:t>Decreasing the inputs by maintaining the same outputs or</a:t>
            </a:r>
          </a:p>
          <a:p>
            <a:pPr marL="1257300" lvl="2" indent="-457200" algn="just">
              <a:lnSpc>
                <a:spcPct val="150000"/>
              </a:lnSpc>
              <a:buFont typeface="+mj-lt"/>
              <a:buAutoNum type="arabicPeriod"/>
            </a:pPr>
            <a:r>
              <a:rPr lang="en-US" sz="2000" dirty="0">
                <a:latin typeface="Times New Roman" pitchFamily="18" charset="0"/>
                <a:cs typeface="Times New Roman" pitchFamily="18" charset="0"/>
              </a:rPr>
              <a:t>Increasing the outputs and decreasing the inputs to change the ratio </a:t>
            </a:r>
            <a:r>
              <a:rPr lang="en-US" sz="2000" dirty="0" err="1">
                <a:latin typeface="Times New Roman" pitchFamily="18" charset="0"/>
                <a:cs typeface="Times New Roman" pitchFamily="18" charset="0"/>
              </a:rPr>
              <a:t>favourably</a:t>
            </a:r>
            <a:r>
              <a:rPr lang="en-US" sz="2000" dirty="0">
                <a:latin typeface="Times New Roman" pitchFamily="18" charset="0"/>
                <a:cs typeface="Times New Roman" pitchFamily="18" charset="0"/>
              </a:rPr>
              <a:t>.</a:t>
            </a:r>
            <a:endParaRPr lang="en-US" sz="2200" dirty="0">
              <a:latin typeface="Times New Roman" pitchFamily="18" charset="0"/>
              <a:cs typeface="Times New Roman" pitchFamily="18" charset="0"/>
            </a:endParaRPr>
          </a:p>
          <a:p>
            <a:pPr algn="just">
              <a:lnSpc>
                <a:spcPct val="150000"/>
              </a:lnSpc>
              <a:buFont typeface="Wingdings" pitchFamily="2" charset="2"/>
              <a:buChar char="Ø"/>
            </a:pPr>
            <a:r>
              <a:rPr lang="en-US" sz="2200" dirty="0">
                <a:latin typeface="Times New Roman" pitchFamily="18" charset="0"/>
                <a:cs typeface="Times New Roman" pitchFamily="18" charset="0"/>
              </a:rPr>
              <a:t>Production and productivity are different terms and implies different meaning. It should be noted that higher production need not necessarily lead to higher productivity and vice versa.</a:t>
            </a:r>
          </a:p>
        </p:txBody>
      </p:sp>
      <p:sp>
        <p:nvSpPr>
          <p:cNvPr id="5" name="Slide Number Placeholder 4"/>
          <p:cNvSpPr>
            <a:spLocks noGrp="1"/>
          </p:cNvSpPr>
          <p:nvPr>
            <p:ph type="sldNum" sz="quarter" idx="12"/>
          </p:nvPr>
        </p:nvSpPr>
        <p:spPr/>
        <p:txBody>
          <a:bodyPr/>
          <a:lstStyle/>
          <a:p>
            <a:fld id="{9852A43B-CC61-4C08-A01B-A84C4E0E89A8}" type="slidenum">
              <a:rPr lang="en-IN" smtClean="0"/>
              <a:pPr/>
              <a:t>4</a:t>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980728"/>
            <a:ext cx="8640960" cy="5544616"/>
          </a:xfrm>
        </p:spPr>
        <p:txBody>
          <a:bodyPr>
            <a:no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Productivity implies effectiveness and efficiency in individual and organizational performance. </a:t>
            </a:r>
          </a:p>
          <a:p>
            <a:pPr algn="just">
              <a:lnSpc>
                <a:spcPct val="200000"/>
              </a:lnSpc>
              <a:buFont typeface="Wingdings" pitchFamily="2" charset="2"/>
              <a:buChar char="Ø"/>
            </a:pPr>
            <a:r>
              <a:rPr lang="en-US" sz="2200" dirty="0">
                <a:latin typeface="Times New Roman" pitchFamily="18" charset="0"/>
                <a:cs typeface="Times New Roman" pitchFamily="18" charset="0"/>
              </a:rPr>
              <a:t>Effectiveness is the achievement of objectives whereas efficiency is the achievement of ends with the least amount of resources.</a:t>
            </a:r>
          </a:p>
          <a:p>
            <a:pPr algn="just">
              <a:lnSpc>
                <a:spcPct val="200000"/>
              </a:lnSpc>
              <a:buFont typeface="Wingdings" pitchFamily="2" charset="2"/>
              <a:buChar char="Ø"/>
            </a:pPr>
            <a:r>
              <a:rPr lang="en-US" sz="2200" dirty="0">
                <a:latin typeface="Times New Roman" pitchFamily="18" charset="0"/>
                <a:cs typeface="Times New Roman" pitchFamily="18" charset="0"/>
              </a:rPr>
              <a:t>Managers cannot know whether they are productive unless they first know their objectives and goals and those of the organization.</a:t>
            </a:r>
          </a:p>
          <a:p>
            <a:pPr algn="just">
              <a:lnSpc>
                <a:spcPct val="200000"/>
              </a:lnSpc>
              <a:buFont typeface="Wingdings" pitchFamily="2" charset="2"/>
              <a:buChar char="Ø"/>
            </a:pPr>
            <a:endParaRPr lang="en-US"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5</a:t>
            </a:fld>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764704"/>
            <a:ext cx="8640960" cy="5760640"/>
          </a:xfrm>
        </p:spPr>
        <p:txBody>
          <a:bodyPr>
            <a:no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Production is a process (or system) of converting input into some useful, value added output. </a:t>
            </a:r>
          </a:p>
          <a:p>
            <a:pPr algn="just">
              <a:lnSpc>
                <a:spcPct val="200000"/>
              </a:lnSpc>
              <a:buFont typeface="Wingdings" pitchFamily="2" charset="2"/>
              <a:buChar char="Ø"/>
            </a:pPr>
            <a:r>
              <a:rPr lang="en-US" sz="2200" dirty="0">
                <a:latin typeface="Times New Roman" pitchFamily="18" charset="0"/>
                <a:cs typeface="Times New Roman" pitchFamily="18" charset="0"/>
              </a:rPr>
              <a:t>Production is a measure of output produced. The emphasis is not on how well the input-resources are utilized. </a:t>
            </a:r>
          </a:p>
          <a:p>
            <a:pPr algn="just">
              <a:lnSpc>
                <a:spcPct val="200000"/>
              </a:lnSpc>
              <a:buFont typeface="Wingdings" pitchFamily="2" charset="2"/>
              <a:buChar char="Ø"/>
            </a:pPr>
            <a:r>
              <a:rPr lang="en-US" sz="2200" dirty="0">
                <a:latin typeface="Times New Roman" pitchFamily="18" charset="0"/>
                <a:cs typeface="Times New Roman" pitchFamily="18" charset="0"/>
              </a:rPr>
              <a:t>Productivity, on the other hand, puts emphasis on the ratio of output produced to the input used.  That is, here the focus is on how well the input resource is used for conversion into output.</a:t>
            </a:r>
          </a:p>
        </p:txBody>
      </p:sp>
      <p:sp>
        <p:nvSpPr>
          <p:cNvPr id="5" name="Slide Number Placeholder 4"/>
          <p:cNvSpPr>
            <a:spLocks noGrp="1"/>
          </p:cNvSpPr>
          <p:nvPr>
            <p:ph type="sldNum" sz="quarter" idx="12"/>
          </p:nvPr>
        </p:nvSpPr>
        <p:spPr/>
        <p:txBody>
          <a:bodyPr/>
          <a:lstStyle/>
          <a:p>
            <a:fld id="{9852A43B-CC61-4C08-A01B-A84C4E0E89A8}" type="slidenum">
              <a:rPr lang="en-IN" smtClean="0"/>
              <a:pPr/>
              <a:t>6</a:t>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Vs  Production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7</a:t>
            </a:fld>
            <a:endParaRPr lang="en-IN" dirty="0"/>
          </a:p>
        </p:txBody>
      </p:sp>
      <p:graphicFrame>
        <p:nvGraphicFramePr>
          <p:cNvPr id="6" name="Content Placeholder 3"/>
          <p:cNvGraphicFramePr>
            <a:graphicFrameLocks noGrp="1"/>
          </p:cNvGraphicFramePr>
          <p:nvPr>
            <p:ph idx="1"/>
          </p:nvPr>
        </p:nvGraphicFramePr>
        <p:xfrm>
          <a:off x="467545" y="836712"/>
          <a:ext cx="8352927" cy="4896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1187624" y="5733256"/>
            <a:ext cx="6840760" cy="369332"/>
          </a:xfrm>
          <a:prstGeom prst="rect">
            <a:avLst/>
          </a:prstGeom>
          <a:noFill/>
        </p:spPr>
        <p:txBody>
          <a:bodyPr wrap="square" rtlCol="0">
            <a:spAutoFit/>
          </a:bodyPr>
          <a:lstStyle/>
          <a:p>
            <a:pPr algn="ctr"/>
            <a:r>
              <a:rPr lang="en-US" i="1" dirty="0">
                <a:solidFill>
                  <a:srgbClr val="FF0000"/>
                </a:solidFill>
                <a:latin typeface="Times New Roman" pitchFamily="18" charset="0"/>
                <a:cs typeface="Times New Roman" pitchFamily="18" charset="0"/>
              </a:rPr>
              <a:t>* </a:t>
            </a:r>
            <a:r>
              <a:rPr lang="en-US" b="1" i="1" dirty="0">
                <a:solidFill>
                  <a:srgbClr val="FF0000"/>
                </a:solidFill>
                <a:latin typeface="Times New Roman" pitchFamily="18" charset="0"/>
                <a:cs typeface="Times New Roman" pitchFamily="18" charset="0"/>
              </a:rPr>
              <a:t>Money, material, machine </a:t>
            </a:r>
            <a:r>
              <a:rPr lang="en-US" i="1" dirty="0">
                <a:solidFill>
                  <a:srgbClr val="FF0000"/>
                </a:solidFill>
                <a:latin typeface="Times New Roman" pitchFamily="18" charset="0"/>
                <a:cs typeface="Times New Roman" pitchFamily="18" charset="0"/>
              </a:rPr>
              <a:t>and </a:t>
            </a:r>
            <a:r>
              <a:rPr lang="en-US" b="1" i="1" dirty="0">
                <a:solidFill>
                  <a:srgbClr val="FF0000"/>
                </a:solidFill>
                <a:latin typeface="Times New Roman" pitchFamily="18" charset="0"/>
                <a:cs typeface="Times New Roman" pitchFamily="18" charset="0"/>
              </a:rPr>
              <a:t>manpower </a:t>
            </a:r>
            <a:r>
              <a:rPr lang="en-US" i="1" dirty="0">
                <a:solidFill>
                  <a:srgbClr val="FF0000"/>
                </a:solidFill>
                <a:latin typeface="Times New Roman" pitchFamily="18" charset="0"/>
                <a:cs typeface="Times New Roman" pitchFamily="18" charset="0"/>
              </a:rPr>
              <a:t>are the 4 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Problem</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764704"/>
            <a:ext cx="8640960" cy="5760640"/>
          </a:xfrm>
        </p:spPr>
        <p:txBody>
          <a:bodyPr>
            <a:noAutofit/>
          </a:bodyPr>
          <a:lstStyle/>
          <a:p>
            <a:pPr algn="just">
              <a:lnSpc>
                <a:spcPct val="150000"/>
              </a:lnSpc>
              <a:buFont typeface="Wingdings" pitchFamily="2" charset="2"/>
              <a:buChar char="Ø"/>
            </a:pPr>
            <a:r>
              <a:rPr lang="en-US" sz="2200" i="1" dirty="0">
                <a:solidFill>
                  <a:srgbClr val="002060"/>
                </a:solidFill>
                <a:latin typeface="Times New Roman" pitchFamily="18" charset="0"/>
                <a:cs typeface="Times New Roman" pitchFamily="18" charset="0"/>
              </a:rPr>
              <a:t>A company is manufacturing 24,000 components per month by employing 100 workers in 8 hours shift. Calculate the productivity?</a:t>
            </a:r>
          </a:p>
          <a:p>
            <a:pPr>
              <a:buNone/>
            </a:pPr>
            <a:r>
              <a:rPr lang="en-US" sz="2200" dirty="0">
                <a:solidFill>
                  <a:srgbClr val="FF0000"/>
                </a:solidFill>
                <a:latin typeface="Times New Roman" pitchFamily="18" charset="0"/>
                <a:cs typeface="Times New Roman" pitchFamily="18" charset="0"/>
              </a:rPr>
              <a:t>Answer</a:t>
            </a:r>
          </a:p>
          <a:p>
            <a:pPr>
              <a:buNone/>
            </a:pPr>
            <a:r>
              <a:rPr lang="en-US" sz="2200" dirty="0">
                <a:latin typeface="Times New Roman" pitchFamily="18" charset="0"/>
                <a:cs typeface="Times New Roman" pitchFamily="18" charset="0"/>
              </a:rPr>
              <a:t>		Output in terms of production 	= 24000 components</a:t>
            </a:r>
          </a:p>
          <a:p>
            <a:pPr>
              <a:buNone/>
            </a:pPr>
            <a:r>
              <a:rPr lang="en-US" sz="2200" dirty="0">
                <a:latin typeface="Times New Roman" pitchFamily="18" charset="0"/>
                <a:cs typeface="Times New Roman" pitchFamily="18" charset="0"/>
              </a:rPr>
              <a:t>		Input in terms of man-hours	= 100worker s × 8hours × 30days</a:t>
            </a:r>
          </a:p>
          <a:p>
            <a:pPr>
              <a:buNone/>
            </a:pPr>
            <a:r>
              <a:rPr lang="en-US" sz="2200" dirty="0">
                <a:latin typeface="Times New Roman" pitchFamily="18" charset="0"/>
                <a:cs typeface="Times New Roman" pitchFamily="18" charset="0"/>
              </a:rPr>
              <a:t>						</a:t>
            </a:r>
            <a:r>
              <a:rPr lang="en-US" sz="1800" i="1" dirty="0">
                <a:latin typeface="Times New Roman" pitchFamily="18" charset="0"/>
                <a:cs typeface="Times New Roman" pitchFamily="18" charset="0"/>
              </a:rPr>
              <a:t>(assuming 30 days in a month)</a:t>
            </a:r>
          </a:p>
          <a:p>
            <a:pPr>
              <a:buNone/>
            </a:pPr>
            <a:r>
              <a:rPr lang="en-US" sz="2200" dirty="0">
                <a:latin typeface="Times New Roman" pitchFamily="18" charset="0"/>
                <a:cs typeface="Times New Roman" pitchFamily="18" charset="0"/>
              </a:rPr>
              <a:t>						= 24,000 man-hours</a:t>
            </a:r>
          </a:p>
          <a:p>
            <a:pPr>
              <a:buNone/>
            </a:pPr>
            <a:r>
              <a:rPr lang="en-US" sz="2200" dirty="0">
                <a:latin typeface="Times New Roman" pitchFamily="18" charset="0"/>
                <a:cs typeface="Times New Roman" pitchFamily="18" charset="0"/>
              </a:rPr>
              <a:t>		Productivity 	=		24,000 components</a:t>
            </a:r>
          </a:p>
          <a:p>
            <a:pPr>
              <a:buNone/>
            </a:pPr>
            <a:r>
              <a:rPr lang="en-US" sz="2200" dirty="0">
                <a:latin typeface="Times New Roman" pitchFamily="18" charset="0"/>
                <a:cs typeface="Times New Roman" pitchFamily="18" charset="0"/>
              </a:rPr>
              <a:t>				 		24,000 − man hours</a:t>
            </a:r>
          </a:p>
          <a:p>
            <a:pPr>
              <a:buNone/>
            </a:pPr>
            <a:r>
              <a:rPr lang="en-US" sz="2200" dirty="0">
                <a:latin typeface="Times New Roman" pitchFamily="18" charset="0"/>
                <a:cs typeface="Times New Roman" pitchFamily="18" charset="0"/>
              </a:rPr>
              <a:t>					</a:t>
            </a:r>
          </a:p>
          <a:p>
            <a:pPr>
              <a:buNone/>
            </a:pPr>
            <a:r>
              <a:rPr lang="en-US" sz="2200" dirty="0">
                <a:latin typeface="Times New Roman" pitchFamily="18" charset="0"/>
                <a:cs typeface="Times New Roman" pitchFamily="18" charset="0"/>
              </a:rPr>
              <a:t>				= 1 component/man hour</a:t>
            </a:r>
          </a:p>
        </p:txBody>
      </p:sp>
      <p:sp>
        <p:nvSpPr>
          <p:cNvPr id="5" name="Slide Number Placeholder 4"/>
          <p:cNvSpPr>
            <a:spLocks noGrp="1"/>
          </p:cNvSpPr>
          <p:nvPr>
            <p:ph type="sldNum" sz="quarter" idx="12"/>
          </p:nvPr>
        </p:nvSpPr>
        <p:spPr/>
        <p:txBody>
          <a:bodyPr/>
          <a:lstStyle/>
          <a:p>
            <a:fld id="{9852A43B-CC61-4C08-A01B-A84C4E0E89A8}" type="slidenum">
              <a:rPr lang="en-IN" smtClean="0"/>
              <a:pPr/>
              <a:t>8</a:t>
            </a:fld>
            <a:endParaRPr lang="en-IN" dirty="0"/>
          </a:p>
        </p:txBody>
      </p:sp>
      <p:cxnSp>
        <p:nvCxnSpPr>
          <p:cNvPr id="7" name="Straight Connector 6"/>
          <p:cNvCxnSpPr/>
          <p:nvPr/>
        </p:nvCxnSpPr>
        <p:spPr>
          <a:xfrm>
            <a:off x="4788024" y="4293096"/>
            <a:ext cx="266429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Problem</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764704"/>
            <a:ext cx="8640960" cy="5760640"/>
          </a:xfrm>
        </p:spPr>
        <p:txBody>
          <a:bodyPr>
            <a:noAutofit/>
          </a:bodyPr>
          <a:lstStyle/>
          <a:p>
            <a:pPr>
              <a:buFont typeface="Wingdings" pitchFamily="2" charset="2"/>
              <a:buChar char="Ø"/>
            </a:pPr>
            <a:r>
              <a:rPr lang="en-US" sz="2200" i="1" dirty="0">
                <a:solidFill>
                  <a:srgbClr val="002060"/>
                </a:solidFill>
                <a:latin typeface="Times New Roman" pitchFamily="18" charset="0"/>
                <a:cs typeface="Times New Roman" pitchFamily="18" charset="0"/>
              </a:rPr>
              <a:t>Suppose the company gets additional order to supply 6000 more components and the management decides to employ additional workers, calculate the productivity when the number of additional workers employed are </a:t>
            </a:r>
            <a:r>
              <a:rPr lang="en-US" sz="2200" b="1" i="1" dirty="0">
                <a:solidFill>
                  <a:srgbClr val="002060"/>
                </a:solidFill>
                <a:latin typeface="Times New Roman" pitchFamily="18" charset="0"/>
                <a:cs typeface="Times New Roman" pitchFamily="18" charset="0"/>
              </a:rPr>
              <a:t>(</a:t>
            </a:r>
            <a:r>
              <a:rPr lang="en-US" sz="2200" b="1" i="1" dirty="0" err="1">
                <a:solidFill>
                  <a:srgbClr val="002060"/>
                </a:solidFill>
                <a:latin typeface="Times New Roman" pitchFamily="18" charset="0"/>
                <a:cs typeface="Times New Roman" pitchFamily="18" charset="0"/>
              </a:rPr>
              <a:t>i</a:t>
            </a:r>
            <a:r>
              <a:rPr lang="en-US" sz="2200" b="1" i="1" dirty="0">
                <a:solidFill>
                  <a:srgbClr val="002060"/>
                </a:solidFill>
                <a:latin typeface="Times New Roman" pitchFamily="18" charset="0"/>
                <a:cs typeface="Times New Roman" pitchFamily="18" charset="0"/>
              </a:rPr>
              <a:t>) 30 (ii) 25 and (iii) 20.</a:t>
            </a:r>
          </a:p>
          <a:p>
            <a:pPr>
              <a:buNone/>
            </a:pPr>
            <a:r>
              <a:rPr lang="en-US" sz="2200" dirty="0">
                <a:solidFill>
                  <a:srgbClr val="FF0000"/>
                </a:solidFill>
                <a:latin typeface="Times New Roman" pitchFamily="18" charset="0"/>
                <a:cs typeface="Times New Roman" pitchFamily="18" charset="0"/>
              </a:rPr>
              <a:t>Answers</a:t>
            </a:r>
          </a:p>
          <a:p>
            <a:pPr>
              <a:buNone/>
            </a:pPr>
            <a:r>
              <a:rPr lang="en-US" sz="2200" dirty="0">
                <a:latin typeface="Times New Roman" pitchFamily="18" charset="0"/>
                <a:cs typeface="Times New Roman" pitchFamily="18" charset="0"/>
              </a:rPr>
              <a:t>		</a:t>
            </a:r>
          </a:p>
        </p:txBody>
      </p:sp>
      <p:sp>
        <p:nvSpPr>
          <p:cNvPr id="5" name="Slide Number Placeholder 4"/>
          <p:cNvSpPr>
            <a:spLocks noGrp="1"/>
          </p:cNvSpPr>
          <p:nvPr>
            <p:ph type="sldNum" sz="quarter" idx="12"/>
          </p:nvPr>
        </p:nvSpPr>
        <p:spPr/>
        <p:txBody>
          <a:bodyPr/>
          <a:lstStyle/>
          <a:p>
            <a:fld id="{9852A43B-CC61-4C08-A01B-A84C4E0E89A8}" type="slidenum">
              <a:rPr lang="en-IN" smtClean="0"/>
              <a:pPr/>
              <a:t>9</a:t>
            </a:fld>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539552" y="2852936"/>
            <a:ext cx="8026491" cy="2736304"/>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147248"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Problem</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852A43B-CC61-4C08-A01B-A84C4E0E89A8}" type="slidenum">
              <a:rPr lang="en-IN" smtClean="0"/>
              <a:pPr/>
              <a:t>10</a:t>
            </a:fld>
            <a:endParaRPr lang="en-IN"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331640" y="836712"/>
            <a:ext cx="6768752" cy="4332001"/>
          </a:xfrm>
          <a:prstGeom prst="rect">
            <a:avLst/>
          </a:prstGeom>
          <a:noFill/>
          <a:ln w="9525">
            <a:noFill/>
            <a:miter lim="800000"/>
            <a:headEnd/>
            <a:tailEnd/>
          </a:ln>
        </p:spPr>
      </p:pic>
      <p:sp>
        <p:nvSpPr>
          <p:cNvPr id="7" name="TextBox 6"/>
          <p:cNvSpPr txBox="1"/>
          <p:nvPr/>
        </p:nvSpPr>
        <p:spPr>
          <a:xfrm>
            <a:off x="395536" y="5157192"/>
            <a:ext cx="8568952" cy="1200329"/>
          </a:xfrm>
          <a:prstGeom prst="rect">
            <a:avLst/>
          </a:prstGeom>
          <a:noFill/>
        </p:spPr>
        <p:txBody>
          <a:bodyPr wrap="square" rtlCol="0">
            <a:spAutoFit/>
          </a:bodyPr>
          <a:lstStyle/>
          <a:p>
            <a:pPr marL="342900" indent="-342900" algn="just"/>
            <a:r>
              <a:rPr lang="en-US" i="1" dirty="0">
                <a:solidFill>
                  <a:srgbClr val="FF0000"/>
                </a:solidFill>
                <a:latin typeface="Times New Roman" pitchFamily="18" charset="0"/>
                <a:cs typeface="Times New Roman" pitchFamily="18" charset="0"/>
              </a:rPr>
              <a:t>Note:-</a:t>
            </a:r>
          </a:p>
          <a:p>
            <a:pPr marL="342900" indent="-342900" algn="just">
              <a:buFont typeface="+mj-lt"/>
              <a:buAutoNum type="arabicPeriod"/>
            </a:pPr>
            <a:r>
              <a:rPr lang="en-US" i="1" dirty="0">
                <a:solidFill>
                  <a:srgbClr val="FF0000"/>
                </a:solidFill>
                <a:latin typeface="Times New Roman" pitchFamily="18" charset="0"/>
                <a:cs typeface="Times New Roman" pitchFamily="18" charset="0"/>
              </a:rPr>
              <a:t>Increase in production does not necessarily mean increase in productivity</a:t>
            </a:r>
          </a:p>
          <a:p>
            <a:pPr marL="342900" indent="-342900" algn="just">
              <a:buFont typeface="+mj-lt"/>
              <a:buAutoNum type="arabicPeriod"/>
            </a:pPr>
            <a:r>
              <a:rPr lang="en-US" i="1" dirty="0">
                <a:solidFill>
                  <a:srgbClr val="FF0000"/>
                </a:solidFill>
                <a:latin typeface="Times New Roman" pitchFamily="18" charset="0"/>
                <a:cs typeface="Times New Roman" pitchFamily="18" charset="0"/>
              </a:rPr>
              <a:t>Productivity is always associated with the context in which it is calculated. For example,   we have calculated </a:t>
            </a:r>
            <a:r>
              <a:rPr lang="en-US" i="1" dirty="0" err="1">
                <a:solidFill>
                  <a:srgbClr val="FF0000"/>
                </a:solidFill>
                <a:latin typeface="Times New Roman" pitchFamily="18" charset="0"/>
                <a:cs typeface="Times New Roman" pitchFamily="18" charset="0"/>
              </a:rPr>
              <a:t>labour</a:t>
            </a:r>
            <a:r>
              <a:rPr lang="en-US" i="1" dirty="0">
                <a:solidFill>
                  <a:srgbClr val="FF0000"/>
                </a:solidFill>
                <a:latin typeface="Times New Roman" pitchFamily="18" charset="0"/>
                <a:cs typeface="Times New Roman" pitchFamily="18" charset="0"/>
              </a:rPr>
              <a:t> productivity</a:t>
            </a:r>
            <a:endParaRPr lang="en-US" dirty="0">
              <a:solidFill>
                <a:srgbClr val="FF0000"/>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8229600" cy="792088"/>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Measurement of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052736"/>
            <a:ext cx="8229600" cy="5073427"/>
          </a:xfrm>
        </p:spPr>
        <p:txBody>
          <a:bodyPr>
            <a:normAutofit lnSpcReduction="10000"/>
          </a:bodyPr>
          <a:lstStyle/>
          <a:p>
            <a:pPr>
              <a:lnSpc>
                <a:spcPct val="170000"/>
              </a:lnSpc>
              <a:buFont typeface="Wingdings" pitchFamily="2" charset="2"/>
              <a:buChar char="v"/>
            </a:pPr>
            <a:r>
              <a:rPr lang="en-US" sz="2200" b="1" dirty="0">
                <a:solidFill>
                  <a:srgbClr val="002060"/>
                </a:solidFill>
                <a:latin typeface="Times New Roman" pitchFamily="18" charset="0"/>
                <a:cs typeface="Times New Roman" pitchFamily="18" charset="0"/>
              </a:rPr>
              <a:t>Total productivity </a:t>
            </a:r>
          </a:p>
          <a:p>
            <a:pPr lvl="1">
              <a:lnSpc>
                <a:spcPct val="170000"/>
              </a:lnSpc>
              <a:buFont typeface="Wingdings" pitchFamily="2" charset="2"/>
              <a:buChar char="Ø"/>
            </a:pPr>
            <a:r>
              <a:rPr lang="en-US" sz="2200" dirty="0">
                <a:latin typeface="Times New Roman" pitchFamily="18" charset="0"/>
                <a:cs typeface="Times New Roman" pitchFamily="18" charset="0"/>
              </a:rPr>
              <a:t>It’s the ratio of aggregate out put to aggregate input </a:t>
            </a:r>
          </a:p>
          <a:p>
            <a:pPr>
              <a:lnSpc>
                <a:spcPct val="170000"/>
              </a:lnSpc>
              <a:buFont typeface="Wingdings" pitchFamily="2" charset="2"/>
              <a:buChar char="v"/>
            </a:pPr>
            <a:r>
              <a:rPr lang="en-US" sz="2200" b="1" dirty="0">
                <a:solidFill>
                  <a:srgbClr val="002060"/>
                </a:solidFill>
                <a:latin typeface="Times New Roman" pitchFamily="18" charset="0"/>
                <a:cs typeface="Times New Roman" pitchFamily="18" charset="0"/>
              </a:rPr>
              <a:t>Partial productivity </a:t>
            </a:r>
          </a:p>
          <a:p>
            <a:pPr lvl="1">
              <a:lnSpc>
                <a:spcPct val="170000"/>
              </a:lnSpc>
              <a:buFont typeface="Wingdings" pitchFamily="2" charset="2"/>
              <a:buChar char="Ø"/>
            </a:pPr>
            <a:r>
              <a:rPr lang="en-US" sz="2200" dirty="0">
                <a:latin typeface="Times New Roman" pitchFamily="18" charset="0"/>
                <a:cs typeface="Times New Roman" pitchFamily="18" charset="0"/>
              </a:rPr>
              <a:t>It’s the ratio of the aggregate output to any single input</a:t>
            </a:r>
          </a:p>
          <a:p>
            <a:pPr lvl="2">
              <a:lnSpc>
                <a:spcPct val="170000"/>
              </a:lnSpc>
              <a:buFont typeface="Wingdings" pitchFamily="2" charset="2"/>
              <a:buChar char="q"/>
            </a:pPr>
            <a:r>
              <a:rPr lang="en-US" sz="2200" dirty="0">
                <a:latin typeface="Times New Roman" pitchFamily="18" charset="0"/>
                <a:cs typeface="Times New Roman" pitchFamily="18" charset="0"/>
              </a:rPr>
              <a:t>  Land and building</a:t>
            </a:r>
          </a:p>
          <a:p>
            <a:pPr lvl="2">
              <a:lnSpc>
                <a:spcPct val="170000"/>
              </a:lnSpc>
              <a:buFont typeface="Wingdings" pitchFamily="2" charset="2"/>
              <a:buChar char="q"/>
            </a:pPr>
            <a:r>
              <a:rPr lang="en-US" sz="2200" dirty="0">
                <a:latin typeface="Times New Roman" pitchFamily="18" charset="0"/>
                <a:cs typeface="Times New Roman" pitchFamily="18" charset="0"/>
              </a:rPr>
              <a:t>  Materials</a:t>
            </a:r>
          </a:p>
          <a:p>
            <a:pPr lvl="2">
              <a:lnSpc>
                <a:spcPct val="170000"/>
              </a:lnSpc>
              <a:buFont typeface="Wingdings" pitchFamily="2" charset="2"/>
              <a:buChar char="q"/>
            </a:pPr>
            <a:r>
              <a:rPr lang="en-US" sz="2200" dirty="0">
                <a:latin typeface="Times New Roman" pitchFamily="18" charset="0"/>
                <a:cs typeface="Times New Roman" pitchFamily="18" charset="0"/>
              </a:rPr>
              <a:t>  Machines</a:t>
            </a:r>
          </a:p>
          <a:p>
            <a:pPr lvl="2">
              <a:lnSpc>
                <a:spcPct val="170000"/>
              </a:lnSpc>
              <a:buFont typeface="Wingdings" pitchFamily="2" charset="2"/>
              <a:buChar char="q"/>
            </a:pPr>
            <a:r>
              <a:rPr lang="en-US" sz="2200" dirty="0">
                <a:latin typeface="Times New Roman" pitchFamily="18" charset="0"/>
                <a:cs typeface="Times New Roman" pitchFamily="18" charset="0"/>
              </a:rPr>
              <a:t>  Man power</a:t>
            </a:r>
            <a:endParaRPr lang="en-IN" sz="22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Objectives of measurement of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179512" y="1600200"/>
            <a:ext cx="8712968" cy="4525963"/>
          </a:xfrm>
        </p:spPr>
        <p:txBody>
          <a:bodyPr>
            <a:normAutofit/>
          </a:bodyPr>
          <a:lstStyle/>
          <a:p>
            <a:pPr lvl="1">
              <a:lnSpc>
                <a:spcPct val="170000"/>
              </a:lnSpc>
              <a:buFont typeface="Wingdings" pitchFamily="2" charset="2"/>
              <a:buChar char="Ø"/>
            </a:pPr>
            <a:r>
              <a:rPr lang="en-US" sz="2200" dirty="0">
                <a:latin typeface="Times New Roman" pitchFamily="18" charset="0"/>
                <a:cs typeface="Times New Roman" pitchFamily="18" charset="0"/>
              </a:rPr>
              <a:t>To study performance of a system over time.</a:t>
            </a:r>
          </a:p>
          <a:p>
            <a:pPr lvl="1">
              <a:lnSpc>
                <a:spcPct val="170000"/>
              </a:lnSpc>
              <a:buFont typeface="Wingdings" pitchFamily="2" charset="2"/>
              <a:buChar char="Ø"/>
            </a:pPr>
            <a:r>
              <a:rPr lang="en-US" sz="2200" dirty="0">
                <a:latin typeface="Times New Roman" pitchFamily="18" charset="0"/>
                <a:cs typeface="Times New Roman" pitchFamily="18" charset="0"/>
              </a:rPr>
              <a:t>To have relative comparison of different systems for a given level.</a:t>
            </a:r>
          </a:p>
          <a:p>
            <a:pPr lvl="1">
              <a:lnSpc>
                <a:spcPct val="170000"/>
              </a:lnSpc>
              <a:buFont typeface="Wingdings" pitchFamily="2" charset="2"/>
              <a:buChar char="Ø"/>
            </a:pPr>
            <a:r>
              <a:rPr lang="en-US" sz="2200" dirty="0">
                <a:latin typeface="Times New Roman" pitchFamily="18" charset="0"/>
                <a:cs typeface="Times New Roman" pitchFamily="18" charset="0"/>
              </a:rPr>
              <a:t>To compare the actual productivity of the system with its planned productivity.</a:t>
            </a:r>
            <a:endParaRPr lang="en-IN" sz="22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Relation of productivity and profit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268760"/>
            <a:ext cx="8229600" cy="4968552"/>
          </a:xfrm>
        </p:spPr>
        <p:txBody>
          <a:bodyPr>
            <a:normAutofit fontScale="77500" lnSpcReduction="20000"/>
          </a:bodyPr>
          <a:lstStyle/>
          <a:p>
            <a:pPr algn="just">
              <a:lnSpc>
                <a:spcPct val="120000"/>
              </a:lnSpc>
              <a:buFont typeface="Wingdings" pitchFamily="2" charset="2"/>
              <a:buChar char="ü"/>
            </a:pPr>
            <a:r>
              <a:rPr lang="en-US" sz="2800" dirty="0">
                <a:latin typeface="Times New Roman" pitchFamily="18" charset="0"/>
                <a:cs typeface="Times New Roman" pitchFamily="18" charset="0"/>
              </a:rPr>
              <a:t> Aggregate output = Gross sales = G (in Rs)</a:t>
            </a:r>
          </a:p>
          <a:p>
            <a:pPr algn="just">
              <a:lnSpc>
                <a:spcPct val="120000"/>
              </a:lnSpc>
              <a:buFont typeface="Wingdings" pitchFamily="2" charset="2"/>
              <a:buChar char="ü"/>
            </a:pPr>
            <a:r>
              <a:rPr lang="en-US" sz="2800" dirty="0">
                <a:latin typeface="Times New Roman" pitchFamily="18" charset="0"/>
                <a:cs typeface="Times New Roman" pitchFamily="18" charset="0"/>
              </a:rPr>
              <a:t> Aggregate input = cost = C (in Rs)</a:t>
            </a:r>
          </a:p>
          <a:p>
            <a:pPr algn="just">
              <a:lnSpc>
                <a:spcPct val="120000"/>
              </a:lnSpc>
              <a:buFont typeface="Wingdings" pitchFamily="2" charset="2"/>
              <a:buChar char="ü"/>
            </a:pPr>
            <a:endParaRPr lang="en-US" sz="2800" dirty="0">
              <a:latin typeface="Times New Roman" pitchFamily="18" charset="0"/>
              <a:cs typeface="Times New Roman" pitchFamily="18" charset="0"/>
            </a:endParaRPr>
          </a:p>
          <a:p>
            <a:pPr algn="just">
              <a:lnSpc>
                <a:spcPct val="120000"/>
              </a:lnSpc>
              <a:buFont typeface="Wingdings" pitchFamily="2" charset="2"/>
              <a:buChar char="ü"/>
            </a:pPr>
            <a:r>
              <a:rPr lang="en-US" sz="2800" dirty="0">
                <a:latin typeface="Times New Roman" pitchFamily="18" charset="0"/>
                <a:cs typeface="Times New Roman" pitchFamily="18" charset="0"/>
              </a:rPr>
              <a:t>Total productivity T</a:t>
            </a:r>
            <a:r>
              <a:rPr lang="en-US" sz="2800" baseline="-25000" dirty="0">
                <a:latin typeface="Times New Roman" pitchFamily="18" charset="0"/>
                <a:cs typeface="Times New Roman" pitchFamily="18" charset="0"/>
              </a:rPr>
              <a:t>P</a:t>
            </a:r>
            <a:r>
              <a:rPr lang="en-US" sz="2800" dirty="0">
                <a:latin typeface="Times New Roman" pitchFamily="18" charset="0"/>
                <a:cs typeface="Times New Roman" pitchFamily="18" charset="0"/>
              </a:rPr>
              <a:t> = </a:t>
            </a:r>
          </a:p>
          <a:p>
            <a:pPr algn="just">
              <a:lnSpc>
                <a:spcPct val="120000"/>
              </a:lnSpc>
              <a:buNone/>
            </a:pPr>
            <a:r>
              <a:rPr lang="en-US" sz="2800" dirty="0">
                <a:latin typeface="Times New Roman" pitchFamily="18" charset="0"/>
                <a:cs typeface="Times New Roman" pitchFamily="18" charset="0"/>
              </a:rPr>
              <a:t>                        </a:t>
            </a:r>
          </a:p>
          <a:p>
            <a:pPr algn="just">
              <a:lnSpc>
                <a:spcPct val="120000"/>
              </a:lnSpc>
              <a:buFont typeface="Wingdings" pitchFamily="2" charset="2"/>
              <a:buChar char="ü"/>
            </a:pPr>
            <a:r>
              <a:rPr lang="en-US" sz="2800" dirty="0">
                <a:latin typeface="Times New Roman" pitchFamily="18" charset="0"/>
                <a:cs typeface="Times New Roman" pitchFamily="18" charset="0"/>
              </a:rPr>
              <a:t>Profit = P = G − C</a:t>
            </a:r>
          </a:p>
          <a:p>
            <a:pPr algn="just">
              <a:lnSpc>
                <a:spcPct val="120000"/>
              </a:lnSpc>
              <a:buNone/>
            </a:pPr>
            <a:endParaRPr lang="en-US" sz="2800" dirty="0">
              <a:latin typeface="Times New Roman" pitchFamily="18" charset="0"/>
              <a:cs typeface="Times New Roman" pitchFamily="18" charset="0"/>
            </a:endParaRPr>
          </a:p>
          <a:p>
            <a:pPr algn="just">
              <a:lnSpc>
                <a:spcPct val="120000"/>
              </a:lnSpc>
              <a:buFont typeface="Wingdings" pitchFamily="2" charset="2"/>
              <a:buChar char="ü"/>
            </a:pPr>
            <a:r>
              <a:rPr lang="en-US" sz="2800" dirty="0">
                <a:latin typeface="Times New Roman" pitchFamily="18" charset="0"/>
                <a:cs typeface="Times New Roman" pitchFamily="18" charset="0"/>
              </a:rPr>
              <a:t>T</a:t>
            </a:r>
            <a:r>
              <a:rPr lang="en-US" sz="2800" baseline="-25000" dirty="0">
                <a:latin typeface="Times New Roman" pitchFamily="18" charset="0"/>
                <a:cs typeface="Times New Roman" pitchFamily="18" charset="0"/>
              </a:rPr>
              <a:t>P</a:t>
            </a:r>
            <a:r>
              <a:rPr lang="en-US" sz="2800" dirty="0">
                <a:latin typeface="Times New Roman" pitchFamily="18" charset="0"/>
                <a:cs typeface="Times New Roman" pitchFamily="18" charset="0"/>
              </a:rPr>
              <a:t>  = 1 +        </a:t>
            </a:r>
          </a:p>
          <a:p>
            <a:pPr algn="just">
              <a:lnSpc>
                <a:spcPct val="120000"/>
              </a:lnSpc>
              <a:buFont typeface="Wingdings" pitchFamily="2" charset="2"/>
              <a:buChar char="ü"/>
            </a:pPr>
            <a:endParaRPr lang="en-US" sz="2800" dirty="0">
              <a:latin typeface="Times New Roman" pitchFamily="18" charset="0"/>
              <a:cs typeface="Times New Roman" pitchFamily="18" charset="0"/>
            </a:endParaRPr>
          </a:p>
          <a:p>
            <a:pPr algn="just">
              <a:lnSpc>
                <a:spcPct val="120000"/>
              </a:lnSpc>
              <a:buFont typeface="Wingdings" pitchFamily="2" charset="2"/>
              <a:buChar char="ü"/>
            </a:pPr>
            <a:r>
              <a:rPr lang="en-US" sz="2800" dirty="0">
                <a:latin typeface="Times New Roman" pitchFamily="18" charset="0"/>
                <a:cs typeface="Times New Roman" pitchFamily="18" charset="0"/>
              </a:rPr>
              <a:t>when P= 0 , T</a:t>
            </a:r>
            <a:r>
              <a:rPr lang="en-US" sz="2800" baseline="-25000" dirty="0">
                <a:latin typeface="Times New Roman" pitchFamily="18" charset="0"/>
                <a:cs typeface="Times New Roman" pitchFamily="18" charset="0"/>
              </a:rPr>
              <a:t>P</a:t>
            </a:r>
            <a:r>
              <a:rPr lang="en-US" sz="2800" dirty="0">
                <a:latin typeface="Times New Roman" pitchFamily="18" charset="0"/>
                <a:cs typeface="Times New Roman" pitchFamily="18" charset="0"/>
              </a:rPr>
              <a:t> =1  </a:t>
            </a:r>
          </a:p>
          <a:p>
            <a:pPr algn="just">
              <a:lnSpc>
                <a:spcPct val="120000"/>
              </a:lnSpc>
              <a:buFont typeface="Wingdings" pitchFamily="2" charset="2"/>
              <a:buChar char="ü"/>
            </a:pPr>
            <a:r>
              <a:rPr lang="en-US" sz="2800" dirty="0">
                <a:latin typeface="Times New Roman" pitchFamily="18" charset="0"/>
                <a:cs typeface="Times New Roman" pitchFamily="18" charset="0"/>
              </a:rPr>
              <a:t>when P&lt; 0 , T</a:t>
            </a:r>
            <a:r>
              <a:rPr lang="en-US" sz="2800" baseline="-25000" dirty="0">
                <a:latin typeface="Times New Roman" pitchFamily="18" charset="0"/>
                <a:cs typeface="Times New Roman" pitchFamily="18" charset="0"/>
              </a:rPr>
              <a:t>P</a:t>
            </a:r>
            <a:r>
              <a:rPr lang="en-US" sz="2800" dirty="0">
                <a:latin typeface="Times New Roman" pitchFamily="18" charset="0"/>
                <a:cs typeface="Times New Roman" pitchFamily="18" charset="0"/>
              </a:rPr>
              <a:t> &lt;1            </a:t>
            </a:r>
          </a:p>
          <a:p>
            <a:pPr algn="just">
              <a:buNone/>
            </a:pPr>
            <a:r>
              <a:rPr lang="en-US"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pic>
        <p:nvPicPr>
          <p:cNvPr id="102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635896" y="2348880"/>
            <a:ext cx="214314" cy="771531"/>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pic>
        <p:nvPicPr>
          <p:cNvPr id="102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79712" y="3867888"/>
            <a:ext cx="214314" cy="857256"/>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65403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Calculation of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251520" y="692696"/>
            <a:ext cx="8712968" cy="5688632"/>
          </a:xfrm>
        </p:spPr>
        <p:txBody>
          <a:bodyPr>
            <a:noAutofit/>
          </a:bodyPr>
          <a:lstStyle/>
          <a:p>
            <a:pPr algn="just">
              <a:lnSpc>
                <a:spcPct val="150000"/>
              </a:lnSpc>
              <a:buFont typeface="Wingdings" pitchFamily="2" charset="2"/>
              <a:buChar char="q"/>
            </a:pPr>
            <a:r>
              <a:rPr lang="en-US" sz="2000" b="1" dirty="0">
                <a:latin typeface="Times New Roman" pitchFamily="18" charset="0"/>
                <a:cs typeface="Times New Roman" pitchFamily="18" charset="0"/>
              </a:rPr>
              <a:t>Total Productivity Measure (TPM) – </a:t>
            </a:r>
            <a:r>
              <a:rPr lang="en-US" sz="2000" dirty="0">
                <a:latin typeface="Times New Roman" pitchFamily="18" charset="0"/>
                <a:cs typeface="Times New Roman" pitchFamily="18" charset="0"/>
              </a:rPr>
              <a:t>Total outputs to the sum of all tangible input factors (</a:t>
            </a:r>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 materials, capital, energy, other expenses, etc.)</a:t>
            </a:r>
          </a:p>
          <a:p>
            <a:pPr algn="just">
              <a:lnSpc>
                <a:spcPct val="150000"/>
              </a:lnSpc>
              <a:buNone/>
            </a:pPr>
            <a:r>
              <a:rPr lang="en-US" sz="2000" i="1" dirty="0">
                <a:latin typeface="Times New Roman" pitchFamily="18" charset="0"/>
                <a:cs typeface="Times New Roman" pitchFamily="18" charset="0"/>
              </a:rPr>
              <a:t>	Total Productivity Measure (TPM) = Total outputs / Sum of all Inputs</a:t>
            </a:r>
            <a:endParaRPr lang="en-US" sz="2000" b="1" dirty="0">
              <a:latin typeface="Times New Roman" pitchFamily="18" charset="0"/>
              <a:cs typeface="Times New Roman" pitchFamily="18" charset="0"/>
            </a:endParaRPr>
          </a:p>
          <a:p>
            <a:pPr algn="just">
              <a:lnSpc>
                <a:spcPct val="150000"/>
              </a:lnSpc>
              <a:buFont typeface="Wingdings" pitchFamily="2" charset="2"/>
              <a:buChar char="q"/>
            </a:pPr>
            <a:r>
              <a:rPr lang="en-US" sz="2000" b="1" dirty="0">
                <a:latin typeface="Times New Roman" pitchFamily="18" charset="0"/>
                <a:cs typeface="Times New Roman" pitchFamily="18" charset="0"/>
              </a:rPr>
              <a:t>Partial Productivity Measure (PPM) </a:t>
            </a:r>
            <a:r>
              <a:rPr lang="en-US" sz="2000" dirty="0">
                <a:latin typeface="Times New Roman" pitchFamily="18" charset="0"/>
                <a:cs typeface="Times New Roman" pitchFamily="18" charset="0"/>
              </a:rPr>
              <a:t>- Total output to one class of input.</a:t>
            </a:r>
          </a:p>
          <a:p>
            <a:pPr algn="just">
              <a:lnSpc>
                <a:spcPct val="150000"/>
              </a:lnSpc>
              <a:buNone/>
            </a:pPr>
            <a:endParaRPr lang="en-US" sz="2000" dirty="0">
              <a:latin typeface="Times New Roman" pitchFamily="18" charset="0"/>
              <a:cs typeface="Times New Roman" pitchFamily="18" charset="0"/>
            </a:endParaRPr>
          </a:p>
          <a:p>
            <a:pPr algn="just">
              <a:lnSpc>
                <a:spcPct val="150000"/>
              </a:lnSpc>
              <a:buNone/>
            </a:pPr>
            <a:endParaRPr lang="en-US" sz="2000" dirty="0">
              <a:latin typeface="Times New Roman" pitchFamily="18" charset="0"/>
              <a:cs typeface="Times New Roman" pitchFamily="18" charset="0"/>
            </a:endParaRPr>
          </a:p>
          <a:p>
            <a:pPr algn="just">
              <a:lnSpc>
                <a:spcPct val="150000"/>
              </a:lnSpc>
              <a:buNone/>
            </a:pPr>
            <a:endParaRPr lang="en-US" sz="2000" dirty="0">
              <a:latin typeface="Times New Roman" pitchFamily="18" charset="0"/>
              <a:cs typeface="Times New Roman" pitchFamily="18" charset="0"/>
            </a:endParaRPr>
          </a:p>
          <a:p>
            <a:pPr algn="just">
              <a:lnSpc>
                <a:spcPct val="150000"/>
              </a:lnSpc>
              <a:buNone/>
            </a:pPr>
            <a:endParaRPr lang="en-US" sz="2000" dirty="0">
              <a:latin typeface="Times New Roman" pitchFamily="18" charset="0"/>
              <a:cs typeface="Times New Roman" pitchFamily="18" charset="0"/>
            </a:endParaRPr>
          </a:p>
          <a:p>
            <a:pPr algn="just">
              <a:lnSpc>
                <a:spcPct val="150000"/>
              </a:lnSpc>
              <a:buFont typeface="Wingdings" pitchFamily="2" charset="2"/>
              <a:buChar char="q"/>
            </a:pPr>
            <a:r>
              <a:rPr lang="en-US" sz="2000" b="1" dirty="0">
                <a:latin typeface="Times New Roman" pitchFamily="18" charset="0"/>
                <a:cs typeface="Times New Roman" pitchFamily="18" charset="0"/>
              </a:rPr>
              <a:t>Total Factor Productivity (TFP) </a:t>
            </a:r>
            <a:r>
              <a:rPr lang="en-US" sz="2000" dirty="0">
                <a:latin typeface="Times New Roman" pitchFamily="18" charset="0"/>
                <a:cs typeface="Times New Roman" pitchFamily="18" charset="0"/>
              </a:rPr>
              <a:t>- total output to the sum of associated labor and capital inputs. </a:t>
            </a:r>
          </a:p>
          <a:p>
            <a:pPr algn="just">
              <a:lnSpc>
                <a:spcPct val="150000"/>
              </a:lnSpc>
              <a:buNone/>
            </a:pPr>
            <a:r>
              <a:rPr lang="en-US" sz="2000" i="1" dirty="0">
                <a:latin typeface="Times New Roman" pitchFamily="18" charset="0"/>
                <a:cs typeface="Times New Roman" pitchFamily="18" charset="0"/>
              </a:rPr>
              <a:t>	Total Factor Productivity (TFP) = Total Output / (</a:t>
            </a:r>
            <a:r>
              <a:rPr lang="en-US" sz="2000" i="1" dirty="0" err="1">
                <a:latin typeface="Times New Roman" pitchFamily="18" charset="0"/>
                <a:cs typeface="Times New Roman" pitchFamily="18" charset="0"/>
              </a:rPr>
              <a:t>Labour</a:t>
            </a:r>
            <a:r>
              <a:rPr lang="en-US" sz="2000" i="1" dirty="0">
                <a:latin typeface="Times New Roman" pitchFamily="18" charset="0"/>
                <a:cs typeface="Times New Roman" pitchFamily="18" charset="0"/>
              </a:rPr>
              <a:t> + Capital Inputs)</a:t>
            </a:r>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pic>
        <p:nvPicPr>
          <p:cNvPr id="9" name="Picture 8" descr="PPM.png"/>
          <p:cNvPicPr>
            <a:picLocks noChangeAspect="1"/>
          </p:cNvPicPr>
          <p:nvPr/>
        </p:nvPicPr>
        <p:blipFill>
          <a:blip r:embed="rId2" cstate="print">
            <a:grayscl/>
            <a:lum/>
          </a:blip>
          <a:stretch>
            <a:fillRect/>
          </a:stretch>
        </p:blipFill>
        <p:spPr>
          <a:xfrm>
            <a:off x="611560" y="2708920"/>
            <a:ext cx="7872476" cy="20162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65403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Calculation of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28596" y="836712"/>
            <a:ext cx="8463884" cy="5544616"/>
          </a:xfrm>
        </p:spPr>
        <p:txBody>
          <a:bodyPr>
            <a:noAutofit/>
          </a:bodyPr>
          <a:lstStyle/>
          <a:p>
            <a:pPr algn="just">
              <a:buFont typeface="Wingdings" pitchFamily="2" charset="2"/>
              <a:buChar char="q"/>
            </a:pPr>
            <a:r>
              <a:rPr lang="en-US" sz="2400" b="1" dirty="0">
                <a:latin typeface="Times New Roman" pitchFamily="18" charset="0"/>
                <a:cs typeface="Times New Roman" pitchFamily="18" charset="0"/>
              </a:rPr>
              <a:t>Aggregate  output (Z)</a:t>
            </a:r>
          </a:p>
          <a:p>
            <a:pPr algn="just">
              <a:buNone/>
            </a:pPr>
            <a:r>
              <a:rPr lang="en-US" sz="2200" dirty="0">
                <a:latin typeface="Times New Roman" pitchFamily="18" charset="0"/>
                <a:cs typeface="Times New Roman" pitchFamily="18" charset="0"/>
              </a:rPr>
              <a:t>	Let    X</a:t>
            </a:r>
            <a:r>
              <a:rPr lang="en-US" sz="2200" baseline="-25000" dirty="0">
                <a:latin typeface="Times New Roman" pitchFamily="18" charset="0"/>
                <a:cs typeface="Times New Roman" pitchFamily="18" charset="0"/>
              </a:rPr>
              <a:t>i </a:t>
            </a:r>
            <a:r>
              <a:rPr lang="en-US" sz="2200" dirty="0">
                <a:latin typeface="Times New Roman" pitchFamily="18" charset="0"/>
                <a:cs typeface="Times New Roman" pitchFamily="18" charset="0"/>
              </a:rPr>
              <a:t>= number of units of product ‘i’ produced during the period.</a:t>
            </a:r>
          </a:p>
          <a:p>
            <a:pPr algn="just">
              <a:buNone/>
            </a:pPr>
            <a:r>
              <a:rPr lang="en-US" sz="2200" dirty="0">
                <a:latin typeface="Times New Roman" pitchFamily="18" charset="0"/>
                <a:cs typeface="Times New Roman" pitchFamily="18" charset="0"/>
              </a:rPr>
              <a:t>    	          Y</a:t>
            </a:r>
            <a:r>
              <a:rPr lang="en-US" sz="2200" baseline="-25000" dirty="0">
                <a:latin typeface="Times New Roman" pitchFamily="18" charset="0"/>
                <a:cs typeface="Times New Roman" pitchFamily="18" charset="0"/>
              </a:rPr>
              <a:t>i</a:t>
            </a:r>
            <a:r>
              <a:rPr lang="en-US" sz="2200" dirty="0">
                <a:latin typeface="Times New Roman" pitchFamily="18" charset="0"/>
                <a:cs typeface="Times New Roman" pitchFamily="18" charset="0"/>
              </a:rPr>
              <a:t> = the basic period price for product ‘i’ ( in Rs)</a:t>
            </a:r>
          </a:p>
          <a:p>
            <a:pPr algn="just">
              <a:buNone/>
            </a:pPr>
            <a:r>
              <a:rPr lang="en-US" sz="2200" dirty="0">
                <a:latin typeface="Times New Roman" pitchFamily="18" charset="0"/>
                <a:cs typeface="Times New Roman" pitchFamily="18" charset="0"/>
              </a:rPr>
              <a:t>    	 Aggregate output Z= ∑ X</a:t>
            </a:r>
            <a:r>
              <a:rPr lang="en-US" sz="2200" baseline="-25000" dirty="0">
                <a:latin typeface="Times New Roman" pitchFamily="18" charset="0"/>
                <a:cs typeface="Times New Roman" pitchFamily="18" charset="0"/>
              </a:rPr>
              <a:t>i</a:t>
            </a:r>
            <a:r>
              <a:rPr lang="en-US" sz="2200" dirty="0">
                <a:latin typeface="Times New Roman" pitchFamily="18" charset="0"/>
                <a:cs typeface="Times New Roman" pitchFamily="18" charset="0"/>
              </a:rPr>
              <a:t> Y</a:t>
            </a:r>
            <a:r>
              <a:rPr lang="en-US" sz="2200" baseline="-25000" dirty="0">
                <a:latin typeface="Times New Roman" pitchFamily="18" charset="0"/>
                <a:cs typeface="Times New Roman" pitchFamily="18" charset="0"/>
              </a:rPr>
              <a:t>i</a:t>
            </a:r>
          </a:p>
          <a:p>
            <a:pPr algn="just">
              <a:buFont typeface="Wingdings" pitchFamily="2" charset="2"/>
              <a:buChar char="q"/>
            </a:pPr>
            <a:r>
              <a:rPr lang="en-US" sz="2400" b="1" dirty="0">
                <a:latin typeface="Times New Roman" pitchFamily="18" charset="0"/>
                <a:cs typeface="Times New Roman" pitchFamily="18" charset="0"/>
              </a:rPr>
              <a:t>Material input (M)</a:t>
            </a:r>
          </a:p>
          <a:p>
            <a:pPr algn="just">
              <a:buNone/>
            </a:pPr>
            <a:r>
              <a:rPr lang="en-US" sz="2200" dirty="0">
                <a:latin typeface="Times New Roman" pitchFamily="18" charset="0"/>
                <a:cs typeface="Times New Roman" pitchFamily="18" charset="0"/>
              </a:rPr>
              <a:t>	Let M</a:t>
            </a:r>
            <a:r>
              <a:rPr lang="en-US" sz="2200" baseline="-25000" dirty="0">
                <a:latin typeface="Times New Roman" pitchFamily="18" charset="0"/>
                <a:cs typeface="Times New Roman" pitchFamily="18" charset="0"/>
              </a:rPr>
              <a:t>i</a:t>
            </a:r>
            <a:r>
              <a:rPr lang="en-US" sz="2200" dirty="0">
                <a:latin typeface="Times New Roman" pitchFamily="18" charset="0"/>
                <a:cs typeface="Times New Roman" pitchFamily="18" charset="0"/>
              </a:rPr>
              <a:t> = quantity of material ‘i’ used during the period for producing  			the products</a:t>
            </a:r>
          </a:p>
          <a:p>
            <a:pPr algn="just">
              <a:buNone/>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a:t>
            </a:r>
            <a:r>
              <a:rPr lang="en-US" sz="2200" baseline="-25000" dirty="0" err="1">
                <a:latin typeface="Times New Roman" pitchFamily="18" charset="0"/>
                <a:cs typeface="Times New Roman" pitchFamily="18" charset="0"/>
              </a:rPr>
              <a:t>i</a:t>
            </a:r>
            <a:r>
              <a:rPr lang="en-US" sz="2200" dirty="0">
                <a:latin typeface="Times New Roman" pitchFamily="18" charset="0"/>
                <a:cs typeface="Times New Roman" pitchFamily="18" charset="0"/>
              </a:rPr>
              <a:t>= cost per unit of raw material ‘i’ in the same base year</a:t>
            </a:r>
          </a:p>
          <a:p>
            <a:pPr algn="just">
              <a:buNone/>
            </a:pPr>
            <a:r>
              <a:rPr lang="en-US" sz="2200" dirty="0">
                <a:latin typeface="Times New Roman" pitchFamily="18" charset="0"/>
                <a:cs typeface="Times New Roman" pitchFamily="18" charset="0"/>
              </a:rPr>
              <a:t>    	Material input, M= ∑ M</a:t>
            </a:r>
            <a:r>
              <a:rPr lang="en-US" sz="2200" baseline="-25000" dirty="0">
                <a:latin typeface="Times New Roman" pitchFamily="18" charset="0"/>
                <a:cs typeface="Times New Roman" pitchFamily="18" charset="0"/>
              </a:rPr>
              <a:t>i</a:t>
            </a:r>
            <a:r>
              <a:rPr lang="en-US" sz="2200" dirty="0">
                <a:latin typeface="Times New Roman" pitchFamily="18" charset="0"/>
                <a:cs typeface="Times New Roman" pitchFamily="18" charset="0"/>
              </a:rPr>
              <a:t> C</a:t>
            </a:r>
            <a:r>
              <a:rPr lang="en-US" sz="2200" baseline="-25000" dirty="0">
                <a:latin typeface="Times New Roman" pitchFamily="18" charset="0"/>
                <a:cs typeface="Times New Roman" pitchFamily="18" charset="0"/>
              </a:rPr>
              <a:t>i</a:t>
            </a:r>
          </a:p>
          <a:p>
            <a:pPr algn="just">
              <a:buFont typeface="Wingdings" pitchFamily="2" charset="2"/>
              <a:buChar char="q"/>
            </a:pPr>
            <a:r>
              <a:rPr lang="en-US" sz="2400" b="1" dirty="0">
                <a:latin typeface="Times New Roman" pitchFamily="18" charset="0"/>
                <a:cs typeface="Times New Roman" pitchFamily="18" charset="0"/>
              </a:rPr>
              <a:t>Labour input (L)</a:t>
            </a:r>
          </a:p>
          <a:p>
            <a:pPr algn="just">
              <a:buNone/>
            </a:pPr>
            <a:r>
              <a:rPr lang="en-US" sz="2200" dirty="0">
                <a:latin typeface="Times New Roman" pitchFamily="18" charset="0"/>
                <a:cs typeface="Times New Roman" pitchFamily="18" charset="0"/>
              </a:rPr>
              <a:t>	Let </a:t>
            </a:r>
            <a:r>
              <a:rPr lang="en-US" sz="2200" dirty="0" err="1">
                <a:latin typeface="Times New Roman" pitchFamily="18" charset="0"/>
                <a:cs typeface="Times New Roman" pitchFamily="18" charset="0"/>
              </a:rPr>
              <a:t>l</a:t>
            </a:r>
            <a:r>
              <a:rPr lang="en-US" sz="2200" baseline="-25000" dirty="0" err="1">
                <a:latin typeface="Times New Roman" pitchFamily="18" charset="0"/>
                <a:cs typeface="Times New Roman" pitchFamily="18" charset="0"/>
              </a:rPr>
              <a:t>i</a:t>
            </a:r>
            <a:r>
              <a:rPr lang="en-US" sz="2200" baseline="-25000" dirty="0">
                <a:latin typeface="Times New Roman" pitchFamily="18" charset="0"/>
                <a:cs typeface="Times New Roman" pitchFamily="18" charset="0"/>
              </a:rPr>
              <a:t> </a:t>
            </a:r>
            <a:r>
              <a:rPr lang="en-US" sz="2200" dirty="0">
                <a:latin typeface="Times New Roman" pitchFamily="18" charset="0"/>
                <a:cs typeface="Times New Roman" pitchFamily="18" charset="0"/>
              </a:rPr>
              <a:t> = number of man hours put by labour category ‘i’ during the 		period under consideration</a:t>
            </a:r>
          </a:p>
          <a:p>
            <a:pPr algn="just">
              <a:buNone/>
            </a:pPr>
            <a:r>
              <a:rPr lang="en-US" sz="2200" dirty="0">
                <a:latin typeface="Times New Roman" pitchFamily="18" charset="0"/>
                <a:cs typeface="Times New Roman" pitchFamily="18" charset="0"/>
              </a:rPr>
              <a:t>            h</a:t>
            </a:r>
            <a:r>
              <a:rPr lang="en-US" sz="2200" baseline="-25000" dirty="0">
                <a:latin typeface="Times New Roman" pitchFamily="18" charset="0"/>
                <a:cs typeface="Times New Roman" pitchFamily="18" charset="0"/>
              </a:rPr>
              <a:t>i </a:t>
            </a:r>
            <a:r>
              <a:rPr lang="en-US" sz="2200" dirty="0">
                <a:latin typeface="Times New Roman" pitchFamily="18" charset="0"/>
                <a:cs typeface="Times New Roman" pitchFamily="18" charset="0"/>
              </a:rPr>
              <a:t> =hourly wage rate</a:t>
            </a:r>
          </a:p>
          <a:p>
            <a:pPr algn="just">
              <a:buNone/>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Labour</a:t>
            </a:r>
            <a:r>
              <a:rPr lang="en-US" sz="2200" dirty="0">
                <a:latin typeface="Times New Roman" pitchFamily="18" charset="0"/>
                <a:cs typeface="Times New Roman" pitchFamily="18" charset="0"/>
              </a:rPr>
              <a:t> input  L = ∑ l</a:t>
            </a:r>
            <a:r>
              <a:rPr lang="en-US" sz="2200" baseline="-25000" dirty="0">
                <a:latin typeface="Times New Roman" pitchFamily="18" charset="0"/>
                <a:cs typeface="Times New Roman" pitchFamily="18" charset="0"/>
              </a:rPr>
              <a:t>i</a:t>
            </a:r>
            <a:r>
              <a:rPr lang="en-US" sz="2200" dirty="0">
                <a:latin typeface="Times New Roman" pitchFamily="18" charset="0"/>
                <a:cs typeface="Times New Roman" pitchFamily="18" charset="0"/>
              </a:rPr>
              <a:t> h</a:t>
            </a:r>
            <a:r>
              <a:rPr lang="en-US" sz="2200" baseline="-25000" dirty="0">
                <a:latin typeface="Times New Roman" pitchFamily="18" charset="0"/>
                <a:cs typeface="Times New Roman" pitchFamily="18" charset="0"/>
              </a:rPr>
              <a:t>i </a:t>
            </a:r>
            <a:r>
              <a:rPr lang="en-US" sz="2200" dirty="0">
                <a:latin typeface="Times New Roman" pitchFamily="18" charset="0"/>
                <a:cs typeface="Times New Roman" pitchFamily="18" charset="0"/>
              </a:rPr>
              <a:t> </a:t>
            </a:r>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65403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Calculation of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28596" y="642918"/>
            <a:ext cx="8535892" cy="5286412"/>
          </a:xfrm>
        </p:spPr>
        <p:txBody>
          <a:bodyPr>
            <a:noAutofit/>
          </a:bodyPr>
          <a:lstStyle/>
          <a:p>
            <a:pPr algn="just">
              <a:buFont typeface="Wingdings" pitchFamily="2" charset="2"/>
              <a:buChar char="q"/>
            </a:pPr>
            <a:r>
              <a:rPr lang="en-US" sz="2400" b="1" dirty="0">
                <a:latin typeface="Times New Roman" pitchFamily="18" charset="0"/>
                <a:cs typeface="Times New Roman" pitchFamily="18" charset="0"/>
              </a:rPr>
              <a:t>Capital and land input (K)</a:t>
            </a:r>
          </a:p>
          <a:p>
            <a:pPr algn="just">
              <a:buNone/>
            </a:pPr>
            <a:r>
              <a:rPr lang="en-US" sz="2200" dirty="0">
                <a:latin typeface="Times New Roman" pitchFamily="18" charset="0"/>
                <a:cs typeface="Times New Roman" pitchFamily="18" charset="0"/>
              </a:rPr>
              <a:t>	It can be divided into two parts : Fixed assets and the Current assets</a:t>
            </a:r>
          </a:p>
          <a:p>
            <a:pPr algn="just">
              <a:buNone/>
            </a:pPr>
            <a:r>
              <a:rPr lang="en-US" sz="2200" dirty="0">
                <a:latin typeface="Times New Roman" pitchFamily="18" charset="0"/>
                <a:cs typeface="Times New Roman" pitchFamily="18" charset="0"/>
              </a:rPr>
              <a:t>	Let Di = Depreciation (Rs) for the fixed asset ‘i’</a:t>
            </a:r>
          </a:p>
          <a:p>
            <a:pPr algn="just">
              <a:buNone/>
            </a:pPr>
            <a:r>
              <a:rPr lang="en-US" sz="2200" dirty="0">
                <a:latin typeface="Times New Roman" pitchFamily="18" charset="0"/>
                <a:cs typeface="Times New Roman" pitchFamily="18" charset="0"/>
              </a:rPr>
              <a:t>            I   = Cost of capital in base period  ( percentage)</a:t>
            </a:r>
          </a:p>
          <a:p>
            <a:pPr algn="just">
              <a:buNone/>
            </a:pPr>
            <a:r>
              <a:rPr lang="en-US" sz="2200" dirty="0">
                <a:latin typeface="Times New Roman" pitchFamily="18" charset="0"/>
                <a:cs typeface="Times New Roman" pitchFamily="18" charset="0"/>
              </a:rPr>
              <a:t>            A  = Total working capital in the period ( Rs)</a:t>
            </a:r>
          </a:p>
          <a:p>
            <a:pPr algn="just">
              <a:buNone/>
            </a:pPr>
            <a:r>
              <a:rPr lang="en-US" sz="2200" dirty="0">
                <a:latin typeface="Times New Roman" pitchFamily="18" charset="0"/>
                <a:cs typeface="Times New Roman" pitchFamily="18" charset="0"/>
              </a:rPr>
              <a:t>    	       R  = Rental or equivalent of the value of land in base period (Rs)</a:t>
            </a:r>
          </a:p>
          <a:p>
            <a:pPr algn="just">
              <a:buNone/>
            </a:pPr>
            <a:r>
              <a:rPr lang="en-US" sz="2200" dirty="0">
                <a:latin typeface="Times New Roman" pitchFamily="18" charset="0"/>
                <a:cs typeface="Times New Roman" pitchFamily="18" charset="0"/>
              </a:rPr>
              <a:t>	The capital and land input, K = ∑ Di +AI +R</a:t>
            </a:r>
          </a:p>
          <a:p>
            <a:pPr algn="just">
              <a:buNone/>
            </a:pPr>
            <a:endParaRPr lang="en-US" sz="2200" dirty="0">
              <a:latin typeface="Times New Roman" pitchFamily="18" charset="0"/>
              <a:cs typeface="Times New Roman" pitchFamily="18" charset="0"/>
            </a:endParaRPr>
          </a:p>
          <a:p>
            <a:pPr algn="just">
              <a:buFont typeface="Wingdings" pitchFamily="2" charset="2"/>
              <a:buChar char="q"/>
            </a:pPr>
            <a:r>
              <a:rPr lang="en-US" sz="2400" b="1" dirty="0">
                <a:latin typeface="Times New Roman" pitchFamily="18" charset="0"/>
                <a:cs typeface="Times New Roman" pitchFamily="18" charset="0"/>
              </a:rPr>
              <a:t>Total productivity</a:t>
            </a:r>
            <a:r>
              <a:rPr lang="en-US" sz="2200" dirty="0">
                <a:latin typeface="Times New Roman" pitchFamily="18" charset="0"/>
                <a:cs typeface="Times New Roman" pitchFamily="18" charset="0"/>
              </a:rPr>
              <a:t> = aggregate output /aggregate input</a:t>
            </a:r>
          </a:p>
          <a:p>
            <a:pPr algn="just">
              <a:buNone/>
            </a:pPr>
            <a:r>
              <a:rPr lang="en-US" sz="2200" dirty="0">
                <a:latin typeface="Times New Roman" pitchFamily="18" charset="0"/>
                <a:cs typeface="Times New Roman" pitchFamily="18" charset="0"/>
              </a:rPr>
              <a:t>                                  </a:t>
            </a:r>
          </a:p>
          <a:p>
            <a:pPr algn="just">
              <a:buNone/>
            </a:pPr>
            <a:r>
              <a:rPr lang="en-US" sz="2200" dirty="0">
                <a:latin typeface="Times New Roman" pitchFamily="18" charset="0"/>
                <a:cs typeface="Times New Roman" pitchFamily="18" charset="0"/>
              </a:rPr>
              <a:t>                                    =                                = </a:t>
            </a:r>
            <a:endParaRPr lang="en-IN" sz="2200" dirty="0">
              <a:latin typeface="Times New Roman" pitchFamily="18" charset="0"/>
              <a:cs typeface="Times New Roman" pitchFamily="18" charset="0"/>
            </a:endParaRPr>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pic>
        <p:nvPicPr>
          <p:cNvPr id="20481" name="Picture 1"/>
          <p:cNvPicPr>
            <a:picLocks noChangeAspect="1" noChangeArrowheads="1"/>
          </p:cNvPicPr>
          <p:nvPr/>
        </p:nvPicPr>
        <p:blipFill>
          <a:blip r:embed="rId2" cstate="print">
            <a:clrChange>
              <a:clrFrom>
                <a:srgbClr val="FFFFFF"/>
              </a:clrFrom>
              <a:clrTo>
                <a:srgbClr val="FFFFFF">
                  <a:alpha val="0"/>
                </a:srgbClr>
              </a:clrTo>
            </a:clrChange>
            <a:duotone>
              <a:prstClr val="black"/>
              <a:schemeClr val="tx2">
                <a:tint val="45000"/>
                <a:satMod val="400000"/>
              </a:schemeClr>
            </a:duotone>
          </a:blip>
          <a:srcRect/>
          <a:stretch>
            <a:fillRect/>
          </a:stretch>
        </p:blipFill>
        <p:spPr bwMode="auto">
          <a:xfrm>
            <a:off x="3707904" y="4845158"/>
            <a:ext cx="1152128" cy="672074"/>
          </a:xfrm>
          <a:prstGeom prst="rect">
            <a:avLst/>
          </a:prstGeom>
          <a:noFill/>
        </p:spPr>
      </p:pic>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pic>
        <p:nvPicPr>
          <p:cNvPr id="20483" name="Picture 3"/>
          <p:cNvPicPr>
            <a:picLocks noChangeAspect="1" noChangeArrowheads="1"/>
          </p:cNvPicPr>
          <p:nvPr/>
        </p:nvPicPr>
        <p:blipFill>
          <a:blip r:embed="rId3" cstate="print">
            <a:clrChange>
              <a:clrFrom>
                <a:srgbClr val="FFFFFF"/>
              </a:clrFrom>
              <a:clrTo>
                <a:srgbClr val="FFFFFF">
                  <a:alpha val="0"/>
                </a:srgbClr>
              </a:clrTo>
            </a:clrChange>
            <a:duotone>
              <a:prstClr val="black"/>
              <a:schemeClr val="tx2">
                <a:tint val="45000"/>
                <a:satMod val="400000"/>
              </a:schemeClr>
            </a:duotone>
          </a:blip>
          <a:srcRect/>
          <a:stretch>
            <a:fillRect/>
          </a:stretch>
        </p:blipFill>
        <p:spPr bwMode="auto">
          <a:xfrm>
            <a:off x="5686748" y="4797152"/>
            <a:ext cx="3060319" cy="72008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0648"/>
            <a:ext cx="8463884" cy="10081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and Disadvantages of </a:t>
            </a:r>
            <a:b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Total Productivity Measure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graphicFrame>
        <p:nvGraphicFramePr>
          <p:cNvPr id="8" name="Content Placeholder 7"/>
          <p:cNvGraphicFramePr>
            <a:graphicFrameLocks noGrp="1"/>
          </p:cNvGraphicFramePr>
          <p:nvPr>
            <p:ph idx="1"/>
          </p:nvPr>
        </p:nvGraphicFramePr>
        <p:xfrm>
          <a:off x="428625" y="1351598"/>
          <a:ext cx="8535988" cy="4741698"/>
        </p:xfrm>
        <a:graphic>
          <a:graphicData uri="http://schemas.openxmlformats.org/drawingml/2006/table">
            <a:tbl>
              <a:tblPr firstRow="1" bandRow="1">
                <a:tableStyleId>{00A15C55-8517-42AA-B614-E9B94910E393}</a:tableStyleId>
              </a:tblPr>
              <a:tblGrid>
                <a:gridCol w="4267994">
                  <a:extLst>
                    <a:ext uri="{9D8B030D-6E8A-4147-A177-3AD203B41FA5}">
                      <a16:colId xmlns:a16="http://schemas.microsoft.com/office/drawing/2014/main" val="20000"/>
                    </a:ext>
                  </a:extLst>
                </a:gridCol>
                <a:gridCol w="4267994">
                  <a:extLst>
                    <a:ext uri="{9D8B030D-6E8A-4147-A177-3AD203B41FA5}">
                      <a16:colId xmlns:a16="http://schemas.microsoft.com/office/drawing/2014/main" val="20001"/>
                    </a:ext>
                  </a:extLst>
                </a:gridCol>
              </a:tblGrid>
              <a:tr h="890005">
                <a:tc>
                  <a:txBody>
                    <a:bodyPr/>
                    <a:lstStyle/>
                    <a:p>
                      <a:pPr algn="ctr"/>
                      <a:r>
                        <a:rPr lang="en-US" sz="1800" b="1" u="sng"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Advantages</a:t>
                      </a:r>
                      <a:endParaRPr lang="en-US" dirty="0">
                        <a:solidFill>
                          <a:schemeClr val="tx1"/>
                        </a:solidFill>
                      </a:endParaRPr>
                    </a:p>
                  </a:txBody>
                  <a:tcPr anchor="ctr"/>
                </a:tc>
                <a:tc>
                  <a:txBody>
                    <a:bodyPr/>
                    <a:lstStyle/>
                    <a:p>
                      <a:pPr algn="ctr"/>
                      <a:r>
                        <a:rPr lang="en-US" sz="1800" b="1" u="sng"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Disadvantages</a:t>
                      </a:r>
                      <a:endParaRPr lang="en-US" dirty="0">
                        <a:solidFill>
                          <a:schemeClr val="tx1"/>
                        </a:solidFill>
                      </a:endParaRPr>
                    </a:p>
                  </a:txBody>
                  <a:tcPr anchor="ctr"/>
                </a:tc>
                <a:extLst>
                  <a:ext uri="{0D108BD9-81ED-4DB2-BD59-A6C34878D82A}">
                    <a16:rowId xmlns:a16="http://schemas.microsoft.com/office/drawing/2014/main" val="10000"/>
                  </a:ext>
                </a:extLst>
              </a:tr>
              <a:tr h="3851693">
                <a:tc>
                  <a:txBody>
                    <a:bodyPr/>
                    <a:lstStyle/>
                    <a:p>
                      <a:pPr marL="274320" algn="just">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More accurate representation of the total  picture of the company</a:t>
                      </a:r>
                    </a:p>
                    <a:p>
                      <a:pPr marL="274320" algn="just">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Easily related to total costs</a:t>
                      </a:r>
                    </a:p>
                    <a:p>
                      <a:pPr marL="274320" algn="just">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Considers all quantifiable outputs and inputs</a:t>
                      </a:r>
                      <a:endParaRPr lang="en-US" b="0" i="1" dirty="0">
                        <a:solidFill>
                          <a:schemeClr val="tx1"/>
                        </a:solidFill>
                        <a:latin typeface="Times New Roman" pitchFamily="18" charset="0"/>
                        <a:cs typeface="Times New Roman" pitchFamily="18" charset="0"/>
                      </a:endParaRPr>
                    </a:p>
                  </a:txBody>
                  <a:tcPr/>
                </a:tc>
                <a:tc>
                  <a:txBody>
                    <a:bodyPr/>
                    <a:lstStyle/>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Difficulty in obtaining the data</a:t>
                      </a:r>
                    </a:p>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Requirement of special data collection system</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0648"/>
            <a:ext cx="8463884" cy="10081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and Disadvantages of </a:t>
            </a:r>
            <a:b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Partial Productivity Measure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graphicFrame>
        <p:nvGraphicFramePr>
          <p:cNvPr id="8" name="Content Placeholder 7"/>
          <p:cNvGraphicFramePr>
            <a:graphicFrameLocks noGrp="1"/>
          </p:cNvGraphicFramePr>
          <p:nvPr>
            <p:ph idx="1"/>
          </p:nvPr>
        </p:nvGraphicFramePr>
        <p:xfrm>
          <a:off x="428625" y="1351598"/>
          <a:ext cx="8535988" cy="4741698"/>
        </p:xfrm>
        <a:graphic>
          <a:graphicData uri="http://schemas.openxmlformats.org/drawingml/2006/table">
            <a:tbl>
              <a:tblPr firstRow="1" bandRow="1">
                <a:tableStyleId>{00A15C55-8517-42AA-B614-E9B94910E393}</a:tableStyleId>
              </a:tblPr>
              <a:tblGrid>
                <a:gridCol w="4267994">
                  <a:extLst>
                    <a:ext uri="{9D8B030D-6E8A-4147-A177-3AD203B41FA5}">
                      <a16:colId xmlns:a16="http://schemas.microsoft.com/office/drawing/2014/main" val="20000"/>
                    </a:ext>
                  </a:extLst>
                </a:gridCol>
                <a:gridCol w="4267994">
                  <a:extLst>
                    <a:ext uri="{9D8B030D-6E8A-4147-A177-3AD203B41FA5}">
                      <a16:colId xmlns:a16="http://schemas.microsoft.com/office/drawing/2014/main" val="20001"/>
                    </a:ext>
                  </a:extLst>
                </a:gridCol>
              </a:tblGrid>
              <a:tr h="890005">
                <a:tc>
                  <a:txBody>
                    <a:bodyPr/>
                    <a:lstStyle/>
                    <a:p>
                      <a:pPr algn="ctr"/>
                      <a:r>
                        <a:rPr lang="en-US" sz="1800" b="1" u="sng"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Advantages</a:t>
                      </a:r>
                      <a:endParaRPr lang="en-US" dirty="0">
                        <a:solidFill>
                          <a:schemeClr val="tx1"/>
                        </a:solidFill>
                      </a:endParaRPr>
                    </a:p>
                  </a:txBody>
                  <a:tcPr anchor="ctr"/>
                </a:tc>
                <a:tc>
                  <a:txBody>
                    <a:bodyPr/>
                    <a:lstStyle/>
                    <a:p>
                      <a:pPr algn="ctr"/>
                      <a:r>
                        <a:rPr lang="en-US" sz="1800" b="1" u="sng"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Disadvantages</a:t>
                      </a:r>
                      <a:endParaRPr lang="en-US" dirty="0">
                        <a:solidFill>
                          <a:schemeClr val="tx1"/>
                        </a:solidFill>
                      </a:endParaRPr>
                    </a:p>
                  </a:txBody>
                  <a:tcPr anchor="ctr"/>
                </a:tc>
                <a:extLst>
                  <a:ext uri="{0D108BD9-81ED-4DB2-BD59-A6C34878D82A}">
                    <a16:rowId xmlns:a16="http://schemas.microsoft.com/office/drawing/2014/main" val="10000"/>
                  </a:ext>
                </a:extLst>
              </a:tr>
              <a:tr h="3851693">
                <a:tc>
                  <a:txBody>
                    <a:bodyPr/>
                    <a:lstStyle/>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Easy to understand and calculate</a:t>
                      </a:r>
                    </a:p>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A tool to pinpoint improvement</a:t>
                      </a:r>
                    </a:p>
                  </a:txBody>
                  <a:tcPr/>
                </a:tc>
                <a:tc>
                  <a:txBody>
                    <a:bodyPr/>
                    <a:lstStyle/>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Misleading if used alone</a:t>
                      </a:r>
                    </a:p>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No consideration for overall impact</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0648"/>
            <a:ext cx="8463884" cy="10081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and Disadvantages of </a:t>
            </a:r>
            <a:b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Total Factor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dirty="0"/>
          </a:p>
        </p:txBody>
      </p:sp>
      <p:graphicFrame>
        <p:nvGraphicFramePr>
          <p:cNvPr id="8" name="Content Placeholder 7"/>
          <p:cNvGraphicFramePr>
            <a:graphicFrameLocks noGrp="1"/>
          </p:cNvGraphicFramePr>
          <p:nvPr>
            <p:ph idx="1"/>
          </p:nvPr>
        </p:nvGraphicFramePr>
        <p:xfrm>
          <a:off x="428625" y="1351598"/>
          <a:ext cx="8535988" cy="4741698"/>
        </p:xfrm>
        <a:graphic>
          <a:graphicData uri="http://schemas.openxmlformats.org/drawingml/2006/table">
            <a:tbl>
              <a:tblPr firstRow="1" bandRow="1">
                <a:tableStyleId>{00A15C55-8517-42AA-B614-E9B94910E393}</a:tableStyleId>
              </a:tblPr>
              <a:tblGrid>
                <a:gridCol w="4267994">
                  <a:extLst>
                    <a:ext uri="{9D8B030D-6E8A-4147-A177-3AD203B41FA5}">
                      <a16:colId xmlns:a16="http://schemas.microsoft.com/office/drawing/2014/main" val="20000"/>
                    </a:ext>
                  </a:extLst>
                </a:gridCol>
                <a:gridCol w="4267994">
                  <a:extLst>
                    <a:ext uri="{9D8B030D-6E8A-4147-A177-3AD203B41FA5}">
                      <a16:colId xmlns:a16="http://schemas.microsoft.com/office/drawing/2014/main" val="20001"/>
                    </a:ext>
                  </a:extLst>
                </a:gridCol>
              </a:tblGrid>
              <a:tr h="890005">
                <a:tc>
                  <a:txBody>
                    <a:bodyPr/>
                    <a:lstStyle/>
                    <a:p>
                      <a:pPr algn="ctr"/>
                      <a:r>
                        <a:rPr lang="en-US" sz="1800" b="1" u="sng"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Advantages</a:t>
                      </a:r>
                      <a:endParaRPr lang="en-US" dirty="0">
                        <a:solidFill>
                          <a:schemeClr val="tx1"/>
                        </a:solidFill>
                      </a:endParaRPr>
                    </a:p>
                  </a:txBody>
                  <a:tcPr anchor="ctr"/>
                </a:tc>
                <a:tc>
                  <a:txBody>
                    <a:bodyPr/>
                    <a:lstStyle/>
                    <a:p>
                      <a:pPr algn="ctr"/>
                      <a:r>
                        <a:rPr lang="en-US" sz="1800" b="1" u="sng"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Disadvantages</a:t>
                      </a:r>
                      <a:endParaRPr lang="en-US" dirty="0">
                        <a:solidFill>
                          <a:schemeClr val="tx1"/>
                        </a:solidFill>
                      </a:endParaRPr>
                    </a:p>
                  </a:txBody>
                  <a:tcPr anchor="ctr"/>
                </a:tc>
                <a:extLst>
                  <a:ext uri="{0D108BD9-81ED-4DB2-BD59-A6C34878D82A}">
                    <a16:rowId xmlns:a16="http://schemas.microsoft.com/office/drawing/2014/main" val="10000"/>
                  </a:ext>
                </a:extLst>
              </a:tr>
              <a:tr h="3851693">
                <a:tc>
                  <a:txBody>
                    <a:bodyPr/>
                    <a:lstStyle/>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Data required for the calculation is relatively easy to obtain from company records</a:t>
                      </a:r>
                    </a:p>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Value added approach</a:t>
                      </a:r>
                    </a:p>
                  </a:txBody>
                  <a:tcPr/>
                </a:tc>
                <a:tc>
                  <a:txBody>
                    <a:bodyPr/>
                    <a:lstStyle/>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No consideration for material and energy input</a:t>
                      </a:r>
                    </a:p>
                    <a:p>
                      <a:pPr marL="274320" algn="just" defTabSz="914400" rtl="0" eaLnBrk="1" latinLnBrk="0" hangingPunct="1">
                        <a:lnSpc>
                          <a:spcPct val="200000"/>
                        </a:lnSpc>
                        <a:buFont typeface="Wingdings" pitchFamily="2" charset="2"/>
                        <a:buChar char="Ø"/>
                      </a:pPr>
                      <a:r>
                        <a:rPr lang="en-US" sz="1800" b="0" i="1" kern="1200" baseline="0" dirty="0">
                          <a:solidFill>
                            <a:schemeClr val="dk1"/>
                          </a:solidFill>
                          <a:latin typeface="Times New Roman" pitchFamily="18" charset="0"/>
                          <a:ea typeface="+mn-ea"/>
                          <a:cs typeface="Times New Roman" pitchFamily="18" charset="0"/>
                        </a:rPr>
                        <a:t>  Difficult to relate value added approach to production Efficiency</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index</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1412776"/>
            <a:ext cx="8229600" cy="4669979"/>
          </a:xfrm>
        </p:spPr>
        <p:txBody>
          <a:bodyPr>
            <a:normAutofit/>
          </a:bodyPr>
          <a:lstStyle/>
          <a:p>
            <a:pPr marL="457200" indent="-457200">
              <a:lnSpc>
                <a:spcPct val="150000"/>
              </a:lnSpc>
              <a:buFont typeface="Wingdings" pitchFamily="2" charset="2"/>
              <a:buChar char="v"/>
            </a:pPr>
            <a:r>
              <a:rPr lang="en-US" sz="2200" b="1" i="1" dirty="0">
                <a:latin typeface="Times New Roman" pitchFamily="18" charset="0"/>
                <a:cs typeface="Times New Roman" pitchFamily="18" charset="0"/>
              </a:rPr>
              <a:t>Material productivity</a:t>
            </a:r>
            <a:r>
              <a:rPr lang="en-US" sz="2200" dirty="0">
                <a:latin typeface="Times New Roman" pitchFamily="18" charset="0"/>
                <a:cs typeface="Times New Roman" pitchFamily="18" charset="0"/>
              </a:rPr>
              <a:t>  =number of units produced/cost of material  </a:t>
            </a:r>
          </a:p>
          <a:p>
            <a:pPr marL="457200" indent="-457200">
              <a:lnSpc>
                <a:spcPct val="150000"/>
              </a:lnSpc>
              <a:buNone/>
            </a:pPr>
            <a:r>
              <a:rPr lang="en-US" sz="2200" dirty="0">
                <a:latin typeface="Times New Roman" pitchFamily="18" charset="0"/>
                <a:cs typeface="Times New Roman" pitchFamily="18" charset="0"/>
              </a:rPr>
              <a:t>	</a:t>
            </a:r>
          </a:p>
          <a:p>
            <a:pPr marL="457200" indent="-457200">
              <a:lnSpc>
                <a:spcPct val="150000"/>
              </a:lnSpc>
              <a:buNone/>
            </a:pPr>
            <a:r>
              <a:rPr lang="en-US" sz="2200" dirty="0">
                <a:latin typeface="Times New Roman" pitchFamily="18" charset="0"/>
                <a:cs typeface="Times New Roman" pitchFamily="18" charset="0"/>
              </a:rPr>
              <a:t>This can be increased by</a:t>
            </a:r>
          </a:p>
          <a:p>
            <a:pPr lvl="3">
              <a:lnSpc>
                <a:spcPct val="150000"/>
              </a:lnSpc>
              <a:buFont typeface="Wingdings" pitchFamily="2" charset="2"/>
              <a:buChar char="ü"/>
            </a:pP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Proper choice of design</a:t>
            </a:r>
          </a:p>
          <a:p>
            <a:pPr lvl="3">
              <a:lnSpc>
                <a:spcPct val="150000"/>
              </a:lnSpc>
              <a:buFont typeface="Wingdings" pitchFamily="2" charset="2"/>
              <a:buChar char="ü"/>
            </a:pPr>
            <a:r>
              <a:rPr lang="en-US" sz="2200" i="1" dirty="0">
                <a:latin typeface="Times New Roman" pitchFamily="18" charset="0"/>
                <a:cs typeface="Times New Roman" pitchFamily="18" charset="0"/>
              </a:rPr>
              <a:t>  Proper training and motivation of workers</a:t>
            </a:r>
          </a:p>
          <a:p>
            <a:pPr lvl="3">
              <a:lnSpc>
                <a:spcPct val="150000"/>
              </a:lnSpc>
              <a:buFont typeface="Wingdings" pitchFamily="2" charset="2"/>
              <a:buChar char="ü"/>
            </a:pPr>
            <a:r>
              <a:rPr lang="en-US" sz="2200" i="1" dirty="0">
                <a:latin typeface="Times New Roman" pitchFamily="18" charset="0"/>
                <a:cs typeface="Times New Roman" pitchFamily="18" charset="0"/>
              </a:rPr>
              <a:t>  Better material planning and control</a:t>
            </a:r>
          </a:p>
          <a:p>
            <a:pPr lvl="3">
              <a:lnSpc>
                <a:spcPct val="150000"/>
              </a:lnSpc>
              <a:buFont typeface="Wingdings" pitchFamily="2" charset="2"/>
              <a:buChar char="ü"/>
            </a:pPr>
            <a:r>
              <a:rPr lang="en-US" sz="2200" i="1" dirty="0">
                <a:latin typeface="Times New Roman" pitchFamily="18" charset="0"/>
                <a:cs typeface="Times New Roman" pitchFamily="18" charset="0"/>
              </a:rPr>
              <a:t>  Searching for cheaper alternate material etc.. </a:t>
            </a:r>
          </a:p>
          <a:p>
            <a:pPr>
              <a:lnSpc>
                <a:spcPct val="150000"/>
              </a:lnSpc>
              <a:buNone/>
            </a:pPr>
            <a:r>
              <a:rPr lang="en-US" sz="2200" i="1" dirty="0">
                <a:latin typeface="Times New Roman" pitchFamily="18" charset="0"/>
                <a:cs typeface="Times New Roman" pitchFamily="18" charset="0"/>
              </a:rPr>
              <a:t> </a:t>
            </a:r>
            <a:endParaRPr lang="en-IN" sz="2200" i="1"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index</a:t>
            </a:r>
            <a:endParaRPr lang="en-IN" sz="3200" dirty="0"/>
          </a:p>
        </p:txBody>
      </p:sp>
      <p:sp>
        <p:nvSpPr>
          <p:cNvPr id="3" name="Content Placeholder 2"/>
          <p:cNvSpPr>
            <a:spLocks noGrp="1"/>
          </p:cNvSpPr>
          <p:nvPr>
            <p:ph idx="1"/>
          </p:nvPr>
        </p:nvSpPr>
        <p:spPr>
          <a:xfrm>
            <a:off x="323528" y="1196752"/>
            <a:ext cx="8577554" cy="4900823"/>
          </a:xfrm>
        </p:spPr>
        <p:txBody>
          <a:bodyPr>
            <a:normAutofit/>
          </a:bodyPr>
          <a:lstStyle/>
          <a:p>
            <a:pPr>
              <a:buFont typeface="Wingdings" pitchFamily="2" charset="2"/>
              <a:buChar char="v"/>
            </a:pPr>
            <a:r>
              <a:rPr lang="en-US" sz="2200" b="1" i="1" dirty="0" err="1">
                <a:latin typeface="Times New Roman" pitchFamily="18" charset="0"/>
                <a:cs typeface="Times New Roman" pitchFamily="18" charset="0"/>
              </a:rPr>
              <a:t>Labour</a:t>
            </a:r>
            <a:r>
              <a:rPr lang="en-US" sz="2200" b="1" i="1" dirty="0">
                <a:latin typeface="Times New Roman" pitchFamily="18" charset="0"/>
                <a:cs typeface="Times New Roman" pitchFamily="18" charset="0"/>
              </a:rPr>
              <a:t> productivity </a:t>
            </a:r>
            <a:r>
              <a:rPr lang="en-US" sz="2200" dirty="0">
                <a:latin typeface="Times New Roman" pitchFamily="18" charset="0"/>
                <a:cs typeface="Times New Roman" pitchFamily="18" charset="0"/>
              </a:rPr>
              <a:t>= aggregate output / expenditure from labour </a:t>
            </a:r>
          </a:p>
          <a:p>
            <a:pPr lvl="1">
              <a:buFont typeface="Wingdings" pitchFamily="2" charset="2"/>
              <a:buChar char="§"/>
            </a:pPr>
            <a:endParaRPr lang="en-US" sz="2000" dirty="0">
              <a:latin typeface="Times New Roman" pitchFamily="18" charset="0"/>
              <a:cs typeface="Times New Roman" pitchFamily="18" charset="0"/>
            </a:endParaRPr>
          </a:p>
          <a:p>
            <a:pPr lvl="1">
              <a:buNone/>
            </a:pPr>
            <a:r>
              <a:rPr lang="en-US" sz="2000" i="1" dirty="0">
                <a:solidFill>
                  <a:srgbClr val="FF0000"/>
                </a:solidFill>
                <a:latin typeface="Times New Roman" pitchFamily="18" charset="0"/>
                <a:cs typeface="Times New Roman" pitchFamily="18" charset="0"/>
              </a:rPr>
              <a:t>The unit may be number of units/man hours or in monetary terms </a:t>
            </a:r>
          </a:p>
          <a:p>
            <a:pPr>
              <a:buNone/>
            </a:pPr>
            <a:endParaRPr lang="en-US" sz="2400" dirty="0">
              <a:latin typeface="Times New Roman" pitchFamily="18" charset="0"/>
              <a:cs typeface="Times New Roman" pitchFamily="18" charset="0"/>
            </a:endParaRPr>
          </a:p>
          <a:p>
            <a:pPr>
              <a:lnSpc>
                <a:spcPct val="150000"/>
              </a:lnSpc>
              <a:buNone/>
            </a:pPr>
            <a:r>
              <a:rPr lang="en-US" sz="2200" dirty="0">
                <a:latin typeface="Times New Roman" pitchFamily="18" charset="0"/>
                <a:cs typeface="Times New Roman" pitchFamily="18" charset="0"/>
              </a:rPr>
              <a:t>This can be increased by</a:t>
            </a:r>
          </a:p>
          <a:p>
            <a:pPr lvl="3">
              <a:lnSpc>
                <a:spcPct val="150000"/>
              </a:lnSpc>
              <a:buFont typeface="Wingdings" pitchFamily="2" charset="2"/>
              <a:buChar char="ü"/>
            </a:pPr>
            <a:r>
              <a:rPr lang="en-US" sz="2200" i="1" dirty="0">
                <a:latin typeface="Times New Roman" pitchFamily="18" charset="0"/>
                <a:cs typeface="Times New Roman" pitchFamily="18" charset="0"/>
              </a:rPr>
              <a:t>Proper selection of design and process</a:t>
            </a:r>
          </a:p>
          <a:p>
            <a:pPr lvl="3">
              <a:lnSpc>
                <a:spcPct val="150000"/>
              </a:lnSpc>
              <a:buFont typeface="Wingdings" pitchFamily="2" charset="2"/>
              <a:buChar char="ü"/>
            </a:pPr>
            <a:r>
              <a:rPr lang="en-US" sz="2200" i="1" dirty="0">
                <a:latin typeface="Times New Roman" pitchFamily="18" charset="0"/>
                <a:cs typeface="Times New Roman" pitchFamily="18" charset="0"/>
              </a:rPr>
              <a:t>Proper training </a:t>
            </a:r>
          </a:p>
          <a:p>
            <a:pPr lvl="3">
              <a:lnSpc>
                <a:spcPct val="150000"/>
              </a:lnSpc>
              <a:buFont typeface="Wingdings" pitchFamily="2" charset="2"/>
              <a:buChar char="ü"/>
            </a:pPr>
            <a:r>
              <a:rPr lang="en-US" sz="2200" i="1" dirty="0">
                <a:latin typeface="Times New Roman" pitchFamily="18" charset="0"/>
                <a:cs typeface="Times New Roman" pitchFamily="18" charset="0"/>
              </a:rPr>
              <a:t>Motivate workers by financial and other incentives</a:t>
            </a:r>
          </a:p>
          <a:p>
            <a:pPr lvl="3">
              <a:lnSpc>
                <a:spcPct val="150000"/>
              </a:lnSpc>
              <a:buFont typeface="Wingdings" pitchFamily="2" charset="2"/>
              <a:buChar char="ü"/>
            </a:pPr>
            <a:r>
              <a:rPr lang="en-US" sz="2200" i="1" dirty="0">
                <a:latin typeface="Times New Roman" pitchFamily="18" charset="0"/>
                <a:cs typeface="Times New Roman" pitchFamily="18" charset="0"/>
              </a:rPr>
              <a:t>Providing facilities and chances for self development</a:t>
            </a:r>
          </a:p>
          <a:p>
            <a:endParaRPr lang="en-US" sz="2400" dirty="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83671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index</a:t>
            </a:r>
            <a:endParaRPr lang="en-IN" sz="3200" dirty="0"/>
          </a:p>
        </p:txBody>
      </p:sp>
      <p:sp>
        <p:nvSpPr>
          <p:cNvPr id="3" name="Content Placeholder 2"/>
          <p:cNvSpPr>
            <a:spLocks noGrp="1"/>
          </p:cNvSpPr>
          <p:nvPr>
            <p:ph idx="1"/>
          </p:nvPr>
        </p:nvSpPr>
        <p:spPr>
          <a:xfrm>
            <a:off x="251520" y="764704"/>
            <a:ext cx="8640960" cy="5616624"/>
          </a:xfrm>
        </p:spPr>
        <p:txBody>
          <a:bodyPr>
            <a:noAutofit/>
          </a:bodyPr>
          <a:lstStyle/>
          <a:p>
            <a:pPr>
              <a:buFont typeface="Wingdings" pitchFamily="2" charset="2"/>
              <a:buChar char="v"/>
            </a:pPr>
            <a:r>
              <a:rPr lang="en-US" sz="2000" b="1" i="1" dirty="0">
                <a:latin typeface="Times New Roman" pitchFamily="18" charset="0"/>
                <a:cs typeface="Times New Roman" pitchFamily="18" charset="0"/>
              </a:rPr>
              <a:t>Capital productivity</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  turn over / capital employed</a:t>
            </a:r>
          </a:p>
          <a:p>
            <a:pPr>
              <a:buNone/>
            </a:pPr>
            <a:r>
              <a:rPr lang="en-US" sz="2000" dirty="0">
                <a:latin typeface="Times New Roman" pitchFamily="18" charset="0"/>
                <a:cs typeface="Times New Roman" pitchFamily="18" charset="0"/>
              </a:rPr>
              <a:t>This can be improved by</a:t>
            </a:r>
          </a:p>
          <a:p>
            <a:pPr lvl="2">
              <a:buFont typeface="Wingdings" pitchFamily="2" charset="2"/>
              <a:buChar char="ü"/>
            </a:pPr>
            <a:r>
              <a:rPr lang="en-US" sz="2000" i="1" dirty="0">
                <a:latin typeface="Times New Roman" pitchFamily="18" charset="0"/>
                <a:cs typeface="Times New Roman" pitchFamily="18" charset="0"/>
              </a:rPr>
              <a:t>Better utilization of capital resources</a:t>
            </a:r>
          </a:p>
          <a:p>
            <a:pPr lvl="2">
              <a:buFont typeface="Wingdings" pitchFamily="2" charset="2"/>
              <a:buChar char="ü"/>
            </a:pPr>
            <a:r>
              <a:rPr lang="en-US" sz="2000" i="1" dirty="0">
                <a:latin typeface="Times New Roman" pitchFamily="18" charset="0"/>
                <a:cs typeface="Times New Roman" pitchFamily="18" charset="0"/>
              </a:rPr>
              <a:t>Careful make or buy decision</a:t>
            </a:r>
          </a:p>
          <a:p>
            <a:pPr marL="914400" lvl="2" indent="0">
              <a:buNone/>
            </a:pPr>
            <a:endParaRPr lang="en-US" sz="2000" dirty="0">
              <a:latin typeface="Times New Roman" pitchFamily="18" charset="0"/>
              <a:cs typeface="Times New Roman" pitchFamily="18" charset="0"/>
            </a:endParaRPr>
          </a:p>
          <a:p>
            <a:pPr>
              <a:buFont typeface="Wingdings" pitchFamily="2" charset="2"/>
              <a:buChar char="v"/>
            </a:pPr>
            <a:r>
              <a:rPr lang="en-US" sz="2000" b="1" i="1" dirty="0">
                <a:latin typeface="Times New Roman" pitchFamily="18" charset="0"/>
                <a:cs typeface="Times New Roman" pitchFamily="18" charset="0"/>
              </a:rPr>
              <a:t>Machine productivity </a:t>
            </a:r>
            <a:r>
              <a:rPr lang="en-US" sz="2000" dirty="0">
                <a:latin typeface="Times New Roman" pitchFamily="18" charset="0"/>
                <a:cs typeface="Times New Roman" pitchFamily="18" charset="0"/>
              </a:rPr>
              <a:t>=  output  / actual machine hours utilized</a:t>
            </a:r>
          </a:p>
          <a:p>
            <a:pPr>
              <a:buNone/>
            </a:pPr>
            <a:r>
              <a:rPr lang="en-US" sz="2000" dirty="0">
                <a:latin typeface="Times New Roman" pitchFamily="18" charset="0"/>
                <a:cs typeface="Times New Roman" pitchFamily="18" charset="0"/>
              </a:rPr>
              <a:t>This can be improved by</a:t>
            </a:r>
          </a:p>
          <a:p>
            <a:pPr lvl="2">
              <a:buFont typeface="Wingdings" pitchFamily="2" charset="2"/>
              <a:buChar char="ü"/>
            </a:pPr>
            <a:r>
              <a:rPr lang="en-US" sz="2000" i="1" dirty="0">
                <a:latin typeface="Times New Roman" pitchFamily="18" charset="0"/>
                <a:cs typeface="Times New Roman" pitchFamily="18" charset="0"/>
              </a:rPr>
              <a:t>Preventive maintenance</a:t>
            </a:r>
          </a:p>
          <a:p>
            <a:pPr lvl="2">
              <a:buFont typeface="Wingdings" pitchFamily="2" charset="2"/>
              <a:buChar char="ü"/>
            </a:pPr>
            <a:r>
              <a:rPr lang="en-US" sz="2000" i="1" dirty="0">
                <a:latin typeface="Times New Roman" pitchFamily="18" charset="0"/>
                <a:cs typeface="Times New Roman" pitchFamily="18" charset="0"/>
              </a:rPr>
              <a:t>Use proper machine settings</a:t>
            </a:r>
          </a:p>
          <a:p>
            <a:pPr lvl="2">
              <a:buFont typeface="Wingdings" pitchFamily="2" charset="2"/>
              <a:buChar char="ü"/>
            </a:pPr>
            <a:r>
              <a:rPr lang="en-US" sz="2000" i="1" dirty="0">
                <a:latin typeface="Times New Roman" pitchFamily="18" charset="0"/>
                <a:cs typeface="Times New Roman" pitchFamily="18" charset="0"/>
              </a:rPr>
              <a:t>Using method study techniques</a:t>
            </a:r>
          </a:p>
          <a:p>
            <a:pPr lvl="2">
              <a:buFont typeface="Wingdings" pitchFamily="2" charset="2"/>
              <a:buChar char="ü"/>
            </a:pPr>
            <a:r>
              <a:rPr lang="en-US" sz="2000" i="1" dirty="0">
                <a:latin typeface="Times New Roman" pitchFamily="18" charset="0"/>
                <a:cs typeface="Times New Roman" pitchFamily="18" charset="0"/>
              </a:rPr>
              <a:t>Using properly skilled and trained workers etc.</a:t>
            </a:r>
          </a:p>
          <a:p>
            <a:pPr lvl="2">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v"/>
            </a:pPr>
            <a:r>
              <a:rPr lang="en-US" sz="2000" b="1" i="1" dirty="0">
                <a:latin typeface="Times New Roman" pitchFamily="18" charset="0"/>
                <a:cs typeface="Times New Roman" pitchFamily="18" charset="0"/>
              </a:rPr>
              <a:t>General measure of productivity</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Aggregate productivity  </a:t>
            </a:r>
            <a:r>
              <a:rPr lang="en-US" sz="2000" dirty="0">
                <a:latin typeface="Times New Roman" pitchFamily="18" charset="0"/>
                <a:cs typeface="Times New Roman" pitchFamily="18" charset="0"/>
              </a:rPr>
              <a:t>=  output /(</a:t>
            </a:r>
            <a:r>
              <a:rPr lang="en-US" sz="2000" dirty="0" err="1">
                <a:latin typeface="Times New Roman" pitchFamily="18" charset="0"/>
                <a:cs typeface="Times New Roman" pitchFamily="18" charset="0"/>
              </a:rPr>
              <a:t>land+labour+material+capital+other</a:t>
            </a:r>
            <a:r>
              <a:rPr lang="en-US" sz="2000" dirty="0">
                <a:latin typeface="Times New Roman" pitchFamily="18" charset="0"/>
                <a:cs typeface="Times New Roman" pitchFamily="18" charset="0"/>
              </a:rPr>
              <a:t> inputs)</a:t>
            </a:r>
          </a:p>
          <a:p>
            <a:pPr>
              <a:buNone/>
            </a:pPr>
            <a:r>
              <a:rPr lang="en-US" sz="2000"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83671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Factors Influencing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764704"/>
            <a:ext cx="8496944" cy="5904656"/>
          </a:xfrm>
        </p:spPr>
        <p:txBody>
          <a:bodyPr>
            <a:noAutofit/>
          </a:bodyPr>
          <a:lstStyle/>
          <a:p>
            <a:pPr algn="just">
              <a:buFont typeface="Wingdings" pitchFamily="2" charset="2"/>
              <a:buChar char="Ø"/>
            </a:pPr>
            <a:r>
              <a:rPr lang="en-US" sz="2200" b="1" dirty="0">
                <a:latin typeface="Times New Roman" pitchFamily="18" charset="0"/>
                <a:cs typeface="Times New Roman" pitchFamily="18" charset="0"/>
              </a:rPr>
              <a:t>Controllable factors (Internal Factors)</a:t>
            </a:r>
          </a:p>
          <a:p>
            <a:pPr marL="1714500" lvl="3" indent="-457200" algn="just">
              <a:buFont typeface="+mj-lt"/>
              <a:buAutoNum type="arabicPeriod"/>
            </a:pPr>
            <a:r>
              <a:rPr lang="en-US" sz="2200" dirty="0">
                <a:latin typeface="Times New Roman" pitchFamily="18" charset="0"/>
                <a:cs typeface="Times New Roman" pitchFamily="18" charset="0"/>
              </a:rPr>
              <a:t>Product</a:t>
            </a:r>
          </a:p>
          <a:p>
            <a:pPr marL="1714500" lvl="3" indent="-457200" algn="just">
              <a:buFont typeface="+mj-lt"/>
              <a:buAutoNum type="arabicPeriod"/>
            </a:pPr>
            <a:r>
              <a:rPr lang="en-US" sz="2200" dirty="0">
                <a:latin typeface="Times New Roman" pitchFamily="18" charset="0"/>
                <a:cs typeface="Times New Roman" pitchFamily="18" charset="0"/>
              </a:rPr>
              <a:t>Plant and equipment</a:t>
            </a:r>
          </a:p>
          <a:p>
            <a:pPr marL="1714500" lvl="3" indent="-457200" algn="just">
              <a:buFont typeface="+mj-lt"/>
              <a:buAutoNum type="arabicPeriod"/>
            </a:pPr>
            <a:r>
              <a:rPr lang="en-US" sz="2200" dirty="0">
                <a:latin typeface="Times New Roman" pitchFamily="18" charset="0"/>
                <a:cs typeface="Times New Roman" pitchFamily="18" charset="0"/>
              </a:rPr>
              <a:t>Technology</a:t>
            </a:r>
          </a:p>
          <a:p>
            <a:pPr marL="1714500" lvl="3" indent="-457200" algn="just">
              <a:buFont typeface="+mj-lt"/>
              <a:buAutoNum type="arabicPeriod"/>
            </a:pPr>
            <a:r>
              <a:rPr lang="en-US" sz="2200" dirty="0">
                <a:latin typeface="Times New Roman" pitchFamily="18" charset="0"/>
                <a:cs typeface="Times New Roman" pitchFamily="18" charset="0"/>
              </a:rPr>
              <a:t>Materials</a:t>
            </a:r>
          </a:p>
          <a:p>
            <a:pPr marL="1714500" lvl="3" indent="-457200" algn="just">
              <a:buFont typeface="+mj-lt"/>
              <a:buAutoNum type="arabicPeriod"/>
            </a:pPr>
            <a:r>
              <a:rPr lang="en-US" sz="2200" dirty="0">
                <a:latin typeface="Times New Roman" pitchFamily="18" charset="0"/>
                <a:cs typeface="Times New Roman" pitchFamily="18" charset="0"/>
              </a:rPr>
              <a:t>Human factors</a:t>
            </a:r>
          </a:p>
          <a:p>
            <a:pPr marL="1714500" lvl="3" indent="-457200" algn="just">
              <a:buFont typeface="+mj-lt"/>
              <a:buAutoNum type="arabicPeriod"/>
            </a:pPr>
            <a:r>
              <a:rPr lang="en-US" sz="2200" dirty="0">
                <a:latin typeface="Times New Roman" pitchFamily="18" charset="0"/>
                <a:cs typeface="Times New Roman" pitchFamily="18" charset="0"/>
              </a:rPr>
              <a:t>Work methods</a:t>
            </a:r>
          </a:p>
          <a:p>
            <a:pPr marL="1714500" lvl="3" indent="-457200" algn="just">
              <a:buFont typeface="+mj-lt"/>
              <a:buAutoNum type="arabicPeriod"/>
            </a:pPr>
            <a:r>
              <a:rPr lang="en-US" sz="2200" dirty="0">
                <a:latin typeface="Times New Roman" pitchFamily="18" charset="0"/>
                <a:cs typeface="Times New Roman" pitchFamily="18" charset="0"/>
              </a:rPr>
              <a:t>Management style</a:t>
            </a:r>
          </a:p>
          <a:p>
            <a:pPr marL="1714500" lvl="3" indent="-457200" algn="just">
              <a:buFont typeface="+mj-lt"/>
              <a:buAutoNum type="arabicPeriod"/>
            </a:pPr>
            <a:r>
              <a:rPr lang="en-US" sz="2200" dirty="0">
                <a:latin typeface="Times New Roman" pitchFamily="18" charset="0"/>
                <a:cs typeface="Times New Roman" pitchFamily="18" charset="0"/>
              </a:rPr>
              <a:t>Financial factors</a:t>
            </a:r>
          </a:p>
          <a:p>
            <a:pPr marL="1714500" lvl="3" indent="-457200" algn="just">
              <a:buNone/>
            </a:pPr>
            <a:endParaRPr lang="en-US" sz="2200" dirty="0">
              <a:latin typeface="Times New Roman" pitchFamily="18" charset="0"/>
              <a:cs typeface="Times New Roman" pitchFamily="18" charset="0"/>
            </a:endParaRPr>
          </a:p>
          <a:p>
            <a:pPr algn="just">
              <a:buFont typeface="Wingdings" pitchFamily="2" charset="2"/>
              <a:buChar char="Ø"/>
            </a:pPr>
            <a:r>
              <a:rPr lang="en-US" sz="2200" b="1" dirty="0">
                <a:latin typeface="Times New Roman" pitchFamily="18" charset="0"/>
                <a:cs typeface="Times New Roman" pitchFamily="18" charset="0"/>
              </a:rPr>
              <a:t>Uncontrollable factors (External factors)</a:t>
            </a:r>
          </a:p>
          <a:p>
            <a:pPr marL="1714500" lvl="3" indent="-457200" algn="just">
              <a:buFont typeface="+mj-lt"/>
              <a:buAutoNum type="arabicPeriod"/>
            </a:pPr>
            <a:r>
              <a:rPr lang="en-US" sz="2200" dirty="0">
                <a:latin typeface="Times New Roman" pitchFamily="18" charset="0"/>
                <a:cs typeface="Times New Roman" pitchFamily="18" charset="0"/>
              </a:rPr>
              <a:t>Natural Resources</a:t>
            </a:r>
          </a:p>
          <a:p>
            <a:pPr marL="1714500" lvl="3" indent="-457200" algn="just">
              <a:buFont typeface="+mj-lt"/>
              <a:buAutoNum type="arabicPeriod"/>
            </a:pPr>
            <a:r>
              <a:rPr lang="en-US" sz="2200" dirty="0">
                <a:latin typeface="Times New Roman" pitchFamily="18" charset="0"/>
                <a:cs typeface="Times New Roman" pitchFamily="18" charset="0"/>
              </a:rPr>
              <a:t>Government Policy</a:t>
            </a:r>
          </a:p>
          <a:p>
            <a:pPr marL="1714500" lvl="3" indent="-457200" algn="just">
              <a:buFont typeface="+mj-lt"/>
              <a:buAutoNum type="arabicPeriod"/>
            </a:pPr>
            <a:r>
              <a:rPr lang="en-US" sz="2200" dirty="0">
                <a:latin typeface="Times New Roman" pitchFamily="18" charset="0"/>
                <a:cs typeface="Times New Roman" pitchFamily="18" charset="0"/>
              </a:rPr>
              <a:t>Political Stability</a:t>
            </a:r>
            <a:endParaRPr lang="en-IN" sz="22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83671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Ways to Improve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764704"/>
            <a:ext cx="8496944" cy="5904656"/>
          </a:xfrm>
        </p:spPr>
        <p:txBody>
          <a:bodyPr>
            <a:noAutofit/>
          </a:bodyPr>
          <a:lstStyle/>
          <a:p>
            <a:pPr lvl="1">
              <a:lnSpc>
                <a:spcPct val="150000"/>
              </a:lnSpc>
              <a:buFont typeface="Wingdings" pitchFamily="2" charset="2"/>
              <a:buChar char="Ø"/>
            </a:pPr>
            <a:r>
              <a:rPr lang="en-US" sz="2200" dirty="0">
                <a:latin typeface="Times New Roman" pitchFamily="18" charset="0"/>
                <a:cs typeface="Times New Roman" pitchFamily="18" charset="0"/>
              </a:rPr>
              <a:t>Productivity of any system can be improved by proper use of resources and optimum utilization of system or processes. These include the following.</a:t>
            </a:r>
            <a:endParaRPr lang="en-IN" sz="2200" dirty="0">
              <a:latin typeface="Times New Roman" pitchFamily="18" charset="0"/>
              <a:cs typeface="Times New Roman" pitchFamily="18" charset="0"/>
            </a:endParaRPr>
          </a:p>
          <a:p>
            <a:pPr algn="just">
              <a:lnSpc>
                <a:spcPct val="150000"/>
              </a:lnSpc>
              <a:buFont typeface="Wingdings" pitchFamily="2" charset="2"/>
              <a:buChar char="Ø"/>
            </a:pPr>
            <a:r>
              <a:rPr lang="en-US" sz="2200" b="1" dirty="0">
                <a:latin typeface="Times New Roman" pitchFamily="18" charset="0"/>
                <a:cs typeface="Times New Roman" pitchFamily="18" charset="0"/>
              </a:rPr>
              <a:t>Technology Based</a:t>
            </a:r>
          </a:p>
          <a:p>
            <a:pPr lvl="1">
              <a:lnSpc>
                <a:spcPct val="150000"/>
              </a:lnSpc>
              <a:buFont typeface="Wingdings" pitchFamily="2" charset="2"/>
              <a:buChar char="ü"/>
            </a:pPr>
            <a:r>
              <a:rPr lang="en-US" sz="2200" dirty="0">
                <a:latin typeface="Times New Roman" pitchFamily="18" charset="0"/>
                <a:cs typeface="Times New Roman" pitchFamily="18" charset="0"/>
              </a:rPr>
              <a:t>Acquire new technology</a:t>
            </a:r>
          </a:p>
          <a:p>
            <a:pPr lvl="1">
              <a:lnSpc>
                <a:spcPct val="150000"/>
              </a:lnSpc>
              <a:buFont typeface="Wingdings" pitchFamily="2" charset="2"/>
              <a:buChar char="ü"/>
            </a:pPr>
            <a:r>
              <a:rPr lang="en-US" sz="2200" dirty="0">
                <a:latin typeface="Times New Roman" pitchFamily="18" charset="0"/>
                <a:cs typeface="Times New Roman" pitchFamily="18" charset="0"/>
              </a:rPr>
              <a:t>Automation in assembly</a:t>
            </a:r>
          </a:p>
          <a:p>
            <a:pPr lvl="1">
              <a:lnSpc>
                <a:spcPct val="150000"/>
              </a:lnSpc>
              <a:buFont typeface="Wingdings" pitchFamily="2" charset="2"/>
              <a:buChar char="ü"/>
            </a:pPr>
            <a:r>
              <a:rPr lang="en-US" sz="2200" dirty="0">
                <a:latin typeface="Times New Roman" pitchFamily="18" charset="0"/>
                <a:cs typeface="Times New Roman" pitchFamily="18" charset="0"/>
              </a:rPr>
              <a:t>Modern maintenance techniques</a:t>
            </a:r>
          </a:p>
          <a:p>
            <a:pPr lvl="1">
              <a:lnSpc>
                <a:spcPct val="150000"/>
              </a:lnSpc>
              <a:buFont typeface="Wingdings" pitchFamily="2" charset="2"/>
              <a:buChar char="ü"/>
            </a:pPr>
            <a:r>
              <a:rPr lang="en-US" sz="2200" dirty="0">
                <a:latin typeface="Times New Roman" pitchFamily="18" charset="0"/>
                <a:cs typeface="Times New Roman" pitchFamily="18" charset="0"/>
              </a:rPr>
              <a:t>Energy technology</a:t>
            </a:r>
          </a:p>
          <a:p>
            <a:pPr lvl="1">
              <a:lnSpc>
                <a:spcPct val="150000"/>
              </a:lnSpc>
              <a:buFont typeface="Wingdings" pitchFamily="2" charset="2"/>
              <a:buChar char="ü"/>
            </a:pPr>
            <a:r>
              <a:rPr lang="en-US" sz="2200" dirty="0">
                <a:latin typeface="Times New Roman" pitchFamily="18" charset="0"/>
                <a:cs typeface="Times New Roman" pitchFamily="18" charset="0"/>
              </a:rPr>
              <a:t>Flexible Manufacturing Systems (FMS)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83671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Ways to Improve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1124744"/>
            <a:ext cx="8496944" cy="5544616"/>
          </a:xfrm>
        </p:spPr>
        <p:txBody>
          <a:bodyPr>
            <a:noAutofit/>
          </a:bodyPr>
          <a:lstStyle/>
          <a:p>
            <a:pPr marL="342900" lvl="1" indent="-342900" algn="just">
              <a:lnSpc>
                <a:spcPct val="170000"/>
              </a:lnSpc>
              <a:buFont typeface="Wingdings" pitchFamily="2" charset="2"/>
              <a:buChar char="Ø"/>
            </a:pPr>
            <a:r>
              <a:rPr lang="en-US" sz="2200" b="1" dirty="0">
                <a:latin typeface="Times New Roman" pitchFamily="18" charset="0"/>
                <a:cs typeface="Times New Roman" pitchFamily="18" charset="0"/>
              </a:rPr>
              <a:t>Employee Based</a:t>
            </a:r>
          </a:p>
          <a:p>
            <a:pPr lvl="1">
              <a:lnSpc>
                <a:spcPct val="170000"/>
              </a:lnSpc>
              <a:buFont typeface="Wingdings" pitchFamily="2" charset="2"/>
              <a:buChar char="ü"/>
            </a:pPr>
            <a:r>
              <a:rPr lang="en-US" sz="2200" dirty="0">
                <a:latin typeface="Times New Roman" pitchFamily="18" charset="0"/>
                <a:cs typeface="Times New Roman" pitchFamily="18" charset="0"/>
              </a:rPr>
              <a:t>Financial and non-financial incentives at individual and group level</a:t>
            </a:r>
          </a:p>
          <a:p>
            <a:pPr lvl="1">
              <a:lnSpc>
                <a:spcPct val="170000"/>
              </a:lnSpc>
              <a:buFont typeface="Wingdings" pitchFamily="2" charset="2"/>
              <a:buChar char="ü"/>
            </a:pPr>
            <a:r>
              <a:rPr lang="en-US" sz="2200" dirty="0">
                <a:latin typeface="Times New Roman" pitchFamily="18" charset="0"/>
                <a:cs typeface="Times New Roman" pitchFamily="18" charset="0"/>
              </a:rPr>
              <a:t>Suggestion scheme</a:t>
            </a:r>
          </a:p>
          <a:p>
            <a:pPr lvl="1">
              <a:lnSpc>
                <a:spcPct val="170000"/>
              </a:lnSpc>
              <a:buFont typeface="Wingdings" pitchFamily="2" charset="2"/>
              <a:buChar char="ü"/>
            </a:pPr>
            <a:r>
              <a:rPr lang="en-US" sz="2200" dirty="0">
                <a:latin typeface="Times New Roman" pitchFamily="18" charset="0"/>
                <a:cs typeface="Times New Roman" pitchFamily="18" charset="0"/>
              </a:rPr>
              <a:t>Safe work-place</a:t>
            </a:r>
          </a:p>
          <a:p>
            <a:pPr lvl="1">
              <a:lnSpc>
                <a:spcPct val="170000"/>
              </a:lnSpc>
              <a:buFont typeface="Wingdings" pitchFamily="2" charset="2"/>
              <a:buChar char="ü"/>
            </a:pPr>
            <a:r>
              <a:rPr lang="en-US" sz="2200" dirty="0">
                <a:latin typeface="Times New Roman" pitchFamily="18" charset="0"/>
                <a:cs typeface="Times New Roman" pitchFamily="18" charset="0"/>
              </a:rPr>
              <a:t>Workers participation in management</a:t>
            </a:r>
          </a:p>
          <a:p>
            <a:pPr lvl="1">
              <a:lnSpc>
                <a:spcPct val="170000"/>
              </a:lnSpc>
              <a:buNone/>
            </a:pPr>
            <a:endParaRPr lang="en-US" sz="22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83671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Ways to Improve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1052736"/>
            <a:ext cx="8496944" cy="5616624"/>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Material Based</a:t>
            </a:r>
          </a:p>
          <a:p>
            <a:pPr lvl="1">
              <a:lnSpc>
                <a:spcPct val="150000"/>
              </a:lnSpc>
              <a:buFont typeface="Wingdings" pitchFamily="2" charset="2"/>
              <a:buChar char="ü"/>
            </a:pPr>
            <a:r>
              <a:rPr lang="en-US" sz="2200" dirty="0">
                <a:latin typeface="Times New Roman" pitchFamily="18" charset="0"/>
                <a:cs typeface="Times New Roman" pitchFamily="18" charset="0"/>
              </a:rPr>
              <a:t>Material Planning and control</a:t>
            </a:r>
          </a:p>
          <a:p>
            <a:pPr lvl="1">
              <a:lnSpc>
                <a:spcPct val="150000"/>
              </a:lnSpc>
              <a:buFont typeface="Wingdings" pitchFamily="2" charset="2"/>
              <a:buChar char="ü"/>
            </a:pPr>
            <a:r>
              <a:rPr lang="en-US" sz="2200" dirty="0">
                <a:latin typeface="Times New Roman" pitchFamily="18" charset="0"/>
                <a:cs typeface="Times New Roman" pitchFamily="18" charset="0"/>
              </a:rPr>
              <a:t>Purchasing, logistics</a:t>
            </a:r>
          </a:p>
          <a:p>
            <a:pPr lvl="1">
              <a:lnSpc>
                <a:spcPct val="150000"/>
              </a:lnSpc>
              <a:buFont typeface="Wingdings" pitchFamily="2" charset="2"/>
              <a:buChar char="ü"/>
            </a:pPr>
            <a:r>
              <a:rPr lang="en-US" sz="2200" dirty="0">
                <a:latin typeface="Times New Roman" pitchFamily="18" charset="0"/>
                <a:cs typeface="Times New Roman" pitchFamily="18" charset="0"/>
              </a:rPr>
              <a:t>Material storage and retrieval</a:t>
            </a:r>
          </a:p>
          <a:p>
            <a:pPr lvl="1">
              <a:lnSpc>
                <a:spcPct val="150000"/>
              </a:lnSpc>
              <a:buFont typeface="Wingdings" pitchFamily="2" charset="2"/>
              <a:buChar char="ü"/>
            </a:pPr>
            <a:r>
              <a:rPr lang="en-US" sz="2200" dirty="0">
                <a:latin typeface="Times New Roman" pitchFamily="18" charset="0"/>
                <a:cs typeface="Times New Roman" pitchFamily="18" charset="0"/>
              </a:rPr>
              <a:t>Source selection and procurement of quality material</a:t>
            </a:r>
          </a:p>
          <a:p>
            <a:pPr lvl="1">
              <a:lnSpc>
                <a:spcPct val="150000"/>
              </a:lnSpc>
              <a:buFont typeface="Wingdings" pitchFamily="2" charset="2"/>
              <a:buChar char="ü"/>
            </a:pPr>
            <a:r>
              <a:rPr lang="en-US" sz="2200" dirty="0">
                <a:latin typeface="Times New Roman" pitchFamily="18" charset="0"/>
                <a:cs typeface="Times New Roman" pitchFamily="18" charset="0"/>
              </a:rPr>
              <a:t>Waste elimination</a:t>
            </a:r>
          </a:p>
          <a:p>
            <a:pPr lvl="1">
              <a:lnSpc>
                <a:spcPct val="150000"/>
              </a:lnSpc>
              <a:buFont typeface="Wingdings" pitchFamily="2" charset="2"/>
              <a:buChar char="ü"/>
            </a:pPr>
            <a:r>
              <a:rPr lang="en-US" sz="2200" dirty="0">
                <a:latin typeface="Times New Roman" pitchFamily="18" charset="0"/>
                <a:cs typeface="Times New Roman" pitchFamily="18" charset="0"/>
              </a:rPr>
              <a:t>Use of Automated Guided Vehicle (AGV) for material transportation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83671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Ways to Improve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836712"/>
            <a:ext cx="8496944" cy="5832648"/>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Process Based</a:t>
            </a:r>
          </a:p>
          <a:p>
            <a:pPr lvl="1">
              <a:lnSpc>
                <a:spcPct val="150000"/>
              </a:lnSpc>
              <a:buFont typeface="Wingdings" pitchFamily="2" charset="2"/>
              <a:buChar char="ü"/>
            </a:pPr>
            <a:r>
              <a:rPr lang="en-US" sz="2200" dirty="0">
                <a:latin typeface="Times New Roman" pitchFamily="18" charset="0"/>
                <a:cs typeface="Times New Roman" pitchFamily="18" charset="0"/>
              </a:rPr>
              <a:t>Methods engineering and work simplification</a:t>
            </a:r>
          </a:p>
          <a:p>
            <a:pPr lvl="1">
              <a:lnSpc>
                <a:spcPct val="150000"/>
              </a:lnSpc>
              <a:buFont typeface="Wingdings" pitchFamily="2" charset="2"/>
              <a:buChar char="ü"/>
            </a:pPr>
            <a:r>
              <a:rPr lang="en-US" sz="2200" dirty="0">
                <a:latin typeface="Times New Roman" pitchFamily="18" charset="0"/>
                <a:cs typeface="Times New Roman" pitchFamily="18" charset="0"/>
              </a:rPr>
              <a:t>Job design, Job evaluation, Job safety</a:t>
            </a:r>
          </a:p>
          <a:p>
            <a:pPr lvl="1">
              <a:lnSpc>
                <a:spcPct val="150000"/>
              </a:lnSpc>
              <a:buFont typeface="Wingdings" pitchFamily="2" charset="2"/>
              <a:buChar char="ü"/>
            </a:pPr>
            <a:r>
              <a:rPr lang="en-US" sz="2200" dirty="0">
                <a:latin typeface="Times New Roman" pitchFamily="18" charset="0"/>
                <a:cs typeface="Times New Roman" pitchFamily="18" charset="0"/>
              </a:rPr>
              <a:t>Human factors engineering</a:t>
            </a:r>
          </a:p>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Product Based</a:t>
            </a:r>
          </a:p>
          <a:p>
            <a:pPr lvl="1">
              <a:lnSpc>
                <a:spcPct val="150000"/>
              </a:lnSpc>
              <a:buFont typeface="Wingdings" pitchFamily="2" charset="2"/>
              <a:buChar char="ü"/>
            </a:pPr>
            <a:r>
              <a:rPr lang="en-US" sz="2200" dirty="0">
                <a:latin typeface="Times New Roman" pitchFamily="18" charset="0"/>
                <a:cs typeface="Times New Roman" pitchFamily="18" charset="0"/>
              </a:rPr>
              <a:t>Value analysis and value engineering</a:t>
            </a:r>
          </a:p>
          <a:p>
            <a:pPr lvl="1">
              <a:lnSpc>
                <a:spcPct val="150000"/>
              </a:lnSpc>
              <a:buFont typeface="Wingdings" pitchFamily="2" charset="2"/>
              <a:buChar char="ü"/>
            </a:pPr>
            <a:r>
              <a:rPr lang="en-US" sz="2200" dirty="0">
                <a:latin typeface="Times New Roman" pitchFamily="18" charset="0"/>
                <a:cs typeface="Times New Roman" pitchFamily="18" charset="0"/>
              </a:rPr>
              <a:t>Product diversification</a:t>
            </a:r>
          </a:p>
          <a:p>
            <a:pPr lvl="1">
              <a:lnSpc>
                <a:spcPct val="150000"/>
              </a:lnSpc>
              <a:buFont typeface="Wingdings" pitchFamily="2" charset="2"/>
              <a:buChar char="ü"/>
            </a:pPr>
            <a:r>
              <a:rPr lang="en-US" sz="2200" dirty="0">
                <a:latin typeface="Times New Roman" pitchFamily="18" charset="0"/>
                <a:cs typeface="Times New Roman" pitchFamily="18" charset="0"/>
              </a:rPr>
              <a:t>Standardization and simplification</a:t>
            </a:r>
          </a:p>
          <a:p>
            <a:pPr lvl="1">
              <a:lnSpc>
                <a:spcPct val="150000"/>
              </a:lnSpc>
              <a:buFont typeface="Wingdings" pitchFamily="2" charset="2"/>
              <a:buChar char="ü"/>
            </a:pPr>
            <a:r>
              <a:rPr lang="en-US" sz="2200" dirty="0">
                <a:latin typeface="Times New Roman" pitchFamily="18" charset="0"/>
                <a:cs typeface="Times New Roman" pitchFamily="18" charset="0"/>
              </a:rPr>
              <a:t>Reliability engineering</a:t>
            </a:r>
          </a:p>
          <a:p>
            <a:pPr lvl="1">
              <a:lnSpc>
                <a:spcPct val="150000"/>
              </a:lnSpc>
              <a:buFont typeface="Wingdings" pitchFamily="2" charset="2"/>
              <a:buChar char="ü"/>
            </a:pPr>
            <a:r>
              <a:rPr lang="en-US" sz="2200" dirty="0">
                <a:latin typeface="Times New Roman" pitchFamily="18" charset="0"/>
                <a:cs typeface="Times New Roman" pitchFamily="18" charset="0"/>
              </a:rPr>
              <a:t>Promotion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83671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Ways to Improve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836712"/>
            <a:ext cx="8496944" cy="5832648"/>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Management Based</a:t>
            </a:r>
          </a:p>
          <a:p>
            <a:pPr lvl="1">
              <a:lnSpc>
                <a:spcPct val="150000"/>
              </a:lnSpc>
              <a:buFont typeface="Wingdings" pitchFamily="2" charset="2"/>
              <a:buChar char="ü"/>
            </a:pPr>
            <a:r>
              <a:rPr lang="en-US" sz="2200" dirty="0">
                <a:latin typeface="Times New Roman" pitchFamily="18" charset="0"/>
                <a:cs typeface="Times New Roman" pitchFamily="18" charset="0"/>
              </a:rPr>
              <a:t>Management style</a:t>
            </a:r>
          </a:p>
          <a:p>
            <a:pPr lvl="1">
              <a:lnSpc>
                <a:spcPct val="150000"/>
              </a:lnSpc>
              <a:buFont typeface="Wingdings" pitchFamily="2" charset="2"/>
              <a:buChar char="ü"/>
            </a:pPr>
            <a:r>
              <a:rPr lang="en-US" sz="2200" dirty="0">
                <a:latin typeface="Times New Roman" pitchFamily="18" charset="0"/>
                <a:cs typeface="Times New Roman" pitchFamily="18" charset="0"/>
              </a:rPr>
              <a:t>Communication in the organization</a:t>
            </a:r>
          </a:p>
          <a:p>
            <a:pPr lvl="1">
              <a:lnSpc>
                <a:spcPct val="150000"/>
              </a:lnSpc>
              <a:buFont typeface="Wingdings" pitchFamily="2" charset="2"/>
              <a:buChar char="ü"/>
            </a:pPr>
            <a:r>
              <a:rPr lang="en-US" sz="2200" dirty="0">
                <a:latin typeface="Times New Roman" pitchFamily="18" charset="0"/>
                <a:cs typeface="Times New Roman" pitchFamily="18" charset="0"/>
              </a:rPr>
              <a:t>Work culture</a:t>
            </a:r>
          </a:p>
          <a:p>
            <a:pPr lvl="1">
              <a:lnSpc>
                <a:spcPct val="150000"/>
              </a:lnSpc>
              <a:buFont typeface="Wingdings" pitchFamily="2" charset="2"/>
              <a:buChar char="ü"/>
            </a:pPr>
            <a:r>
              <a:rPr lang="en-US" sz="2200" dirty="0">
                <a:latin typeface="Times New Roman" pitchFamily="18" charset="0"/>
                <a:cs typeface="Times New Roman" pitchFamily="18" charset="0"/>
              </a:rPr>
              <a:t>Motivation</a:t>
            </a:r>
          </a:p>
          <a:p>
            <a:pPr lvl="1">
              <a:lnSpc>
                <a:spcPct val="150000"/>
              </a:lnSpc>
              <a:buFont typeface="Wingdings" pitchFamily="2" charset="2"/>
              <a:buChar char="ü"/>
            </a:pPr>
            <a:r>
              <a:rPr lang="en-US" sz="2200" dirty="0">
                <a:latin typeface="Times New Roman" pitchFamily="18" charset="0"/>
                <a:cs typeface="Times New Roman" pitchFamily="18" charset="0"/>
              </a:rPr>
              <a:t>Promoting group activity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28596" y="1285860"/>
            <a:ext cx="8229600" cy="5023460"/>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Improving the existing method of plant operation</a:t>
            </a:r>
            <a:endParaRPr lang="en-US" sz="2200" dirty="0">
              <a:latin typeface="Times New Roman" pitchFamily="18" charset="0"/>
              <a:cs typeface="Times New Roman" pitchFamily="18" charset="0"/>
            </a:endParaRPr>
          </a:p>
          <a:p>
            <a:pPr marL="514350" indent="-514350">
              <a:lnSpc>
                <a:spcPct val="150000"/>
              </a:lnSpc>
              <a:buFont typeface="Wingdings" pitchFamily="2" charset="2"/>
              <a:buChar char="q"/>
            </a:pPr>
            <a:r>
              <a:rPr lang="en-US" sz="2200" dirty="0">
                <a:latin typeface="Times New Roman" pitchFamily="18" charset="0"/>
                <a:cs typeface="Times New Roman" pitchFamily="18" charset="0"/>
              </a:rPr>
              <a:t>Use of method study and work measurement procedures</a:t>
            </a:r>
          </a:p>
          <a:p>
            <a:pPr marL="914400" lvl="1" indent="-514350">
              <a:lnSpc>
                <a:spcPct val="150000"/>
              </a:lnSpc>
            </a:pPr>
            <a:r>
              <a:rPr lang="en-US" sz="2200" dirty="0">
                <a:latin typeface="Times New Roman" pitchFamily="18" charset="0"/>
                <a:cs typeface="Times New Roman" pitchFamily="18" charset="0"/>
              </a:rPr>
              <a:t>The steps involved in it are</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Gather all information about the existing methods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Present it in form of charts and diagrams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Do critical examination of these data (why, when , who and how)</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Develop improved methods</a:t>
            </a:r>
          </a:p>
          <a:p>
            <a:pPr marL="1314450" lvl="2" indent="-514350">
              <a:lnSpc>
                <a:spcPct val="150000"/>
              </a:lnSpc>
              <a:buFont typeface="Wingdings" pitchFamily="2" charset="2"/>
              <a:buChar char="ü"/>
            </a:pPr>
            <a:endParaRPr lang="en-US" sz="22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28596" y="1285860"/>
            <a:ext cx="8229600" cy="4525963"/>
          </a:xfrm>
        </p:spPr>
        <p:txBody>
          <a:bodyPr>
            <a:noAutofit/>
          </a:bodyPr>
          <a:lstStyle/>
          <a:p>
            <a:pPr marL="1314450" lvl="2" indent="-514350">
              <a:lnSpc>
                <a:spcPct val="150000"/>
              </a:lnSpc>
            </a:pPr>
            <a:endParaRPr lang="en-US" sz="2200" dirty="0">
              <a:latin typeface="Times New Roman" pitchFamily="18" charset="0"/>
              <a:cs typeface="Times New Roman" pitchFamily="18" charset="0"/>
            </a:endParaRPr>
          </a:p>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Design of part</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Simplify the design</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Standardize the materials, tools, procedures, etc  ..</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Efficient system of quality control</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Use better and economic material   </a:t>
            </a:r>
            <a:endParaRPr lang="en-IN" sz="22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dirty="0"/>
          </a:p>
        </p:txBody>
      </p:sp>
      <p:sp>
        <p:nvSpPr>
          <p:cNvPr id="3" name="Content Placeholder 2"/>
          <p:cNvSpPr>
            <a:spLocks noGrp="1"/>
          </p:cNvSpPr>
          <p:nvPr>
            <p:ph idx="1"/>
          </p:nvPr>
        </p:nvSpPr>
        <p:spPr>
          <a:xfrm>
            <a:off x="457200" y="1340768"/>
            <a:ext cx="8229600" cy="4785395"/>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Tolerance and specifications.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Designers keep tight tolerances.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Lack of consideration of the cost factor, knowledge of production processes and process capability</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Designers should interact with production engineers and cost analysis group </a:t>
            </a:r>
            <a:endParaRPr lang="en-US" sz="2200" b="1"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dirty="0"/>
          </a:p>
        </p:txBody>
      </p:sp>
      <p:sp>
        <p:nvSpPr>
          <p:cNvPr id="3" name="Content Placeholder 2"/>
          <p:cNvSpPr>
            <a:spLocks noGrp="1"/>
          </p:cNvSpPr>
          <p:nvPr>
            <p:ph idx="1"/>
          </p:nvPr>
        </p:nvSpPr>
        <p:spPr>
          <a:xfrm>
            <a:off x="457200" y="1124744"/>
            <a:ext cx="8229600" cy="5001419"/>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Effective utilization of materials</a:t>
            </a:r>
          </a:p>
          <a:p>
            <a:pPr algn="just">
              <a:lnSpc>
                <a:spcPct val="150000"/>
              </a:lnSpc>
              <a:buFont typeface="Wingdings" pitchFamily="2" charset="2"/>
              <a:buChar char="q"/>
            </a:pPr>
            <a:r>
              <a:rPr lang="en-US" sz="2200" dirty="0">
                <a:latin typeface="Times New Roman" pitchFamily="18" charset="0"/>
                <a:cs typeface="Times New Roman" pitchFamily="18" charset="0"/>
              </a:rPr>
              <a:t>The utilization of material should be increased by taking improvement measures in</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Design stage</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Process or operation stage</a:t>
            </a:r>
          </a:p>
          <a:p>
            <a:pPr>
              <a:lnSpc>
                <a:spcPct val="150000"/>
              </a:lnSpc>
            </a:pPr>
            <a:endParaRPr lang="en-IN" sz="22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785834"/>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dirty="0"/>
          </a:p>
        </p:txBody>
      </p:sp>
      <p:sp>
        <p:nvSpPr>
          <p:cNvPr id="3" name="Content Placeholder 2"/>
          <p:cNvSpPr>
            <a:spLocks noGrp="1"/>
          </p:cNvSpPr>
          <p:nvPr>
            <p:ph idx="1"/>
          </p:nvPr>
        </p:nvSpPr>
        <p:spPr>
          <a:xfrm>
            <a:off x="251520" y="1124744"/>
            <a:ext cx="8372476" cy="5357850"/>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Process of manufacture</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Selection of proper process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Use of proper tools, equipments ,parameters etc</a:t>
            </a:r>
          </a:p>
          <a:p>
            <a:pPr>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785834"/>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dirty="0"/>
          </a:p>
        </p:txBody>
      </p:sp>
      <p:sp>
        <p:nvSpPr>
          <p:cNvPr id="3" name="Content Placeholder 2"/>
          <p:cNvSpPr>
            <a:spLocks noGrp="1"/>
          </p:cNvSpPr>
          <p:nvPr>
            <p:ph idx="1"/>
          </p:nvPr>
        </p:nvSpPr>
        <p:spPr>
          <a:xfrm>
            <a:off x="285720" y="1214422"/>
            <a:ext cx="8372476" cy="5357850"/>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Set up and tools</a:t>
            </a:r>
          </a:p>
          <a:p>
            <a:pPr marL="342900" lvl="1" indent="-342900" algn="just">
              <a:lnSpc>
                <a:spcPct val="150000"/>
              </a:lnSpc>
              <a:buNone/>
            </a:pPr>
            <a:r>
              <a:rPr lang="en-US" sz="2400" dirty="0">
                <a:latin typeface="Times New Roman" pitchFamily="18" charset="0"/>
                <a:cs typeface="Times New Roman" pitchFamily="18" charset="0"/>
              </a:rPr>
              <a:t> - </a:t>
            </a:r>
            <a:r>
              <a:rPr lang="en-US" sz="2200" dirty="0">
                <a:latin typeface="Times New Roman" pitchFamily="18" charset="0"/>
                <a:cs typeface="Times New Roman" pitchFamily="18" charset="0"/>
              </a:rPr>
              <a:t>Use of special tooling  depends upon</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The quantity to be produced</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Chance of repeated orders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The amount of labour involved</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Amount of capital requirements</a:t>
            </a:r>
          </a:p>
          <a:p>
            <a:pPr>
              <a:buNone/>
            </a:pPr>
            <a:r>
              <a:rPr lang="en-US" sz="2000" dirty="0">
                <a:latin typeface="Times New Roman" pitchFamily="18" charset="0"/>
                <a:cs typeface="Times New Roman" pitchFamily="18" charset="0"/>
              </a:rPr>
              <a:t> - the productivity will improve by</a:t>
            </a:r>
          </a:p>
          <a:p>
            <a:pPr marL="1314450" lvl="2" indent="-514350">
              <a:lnSpc>
                <a:spcPct val="150000"/>
              </a:lnSpc>
              <a:buFont typeface="Wingdings" pitchFamily="2" charset="2"/>
              <a:buChar char="v"/>
            </a:pPr>
            <a:r>
              <a:rPr lang="en-US" sz="2200" dirty="0">
                <a:latin typeface="Times New Roman" pitchFamily="18" charset="0"/>
                <a:cs typeface="Times New Roman" pitchFamily="18" charset="0"/>
              </a:rPr>
              <a:t>Reduction in set up time</a:t>
            </a:r>
          </a:p>
          <a:p>
            <a:pPr marL="1314450" lvl="2" indent="-514350">
              <a:lnSpc>
                <a:spcPct val="150000"/>
              </a:lnSpc>
              <a:buFont typeface="Wingdings" pitchFamily="2" charset="2"/>
              <a:buChar char="v"/>
            </a:pPr>
            <a:r>
              <a:rPr lang="en-US" sz="2200" dirty="0">
                <a:latin typeface="Times New Roman" pitchFamily="18" charset="0"/>
                <a:cs typeface="Times New Roman" pitchFamily="18" charset="0"/>
              </a:rPr>
              <a:t>Design of tooling to use full capacity of machines</a:t>
            </a:r>
          </a:p>
          <a:p>
            <a:pPr marL="1314450" lvl="2" indent="-514350">
              <a:lnSpc>
                <a:spcPct val="150000"/>
              </a:lnSpc>
              <a:buFont typeface="Wingdings" pitchFamily="2" charset="2"/>
              <a:buChar char="v"/>
            </a:pPr>
            <a:endParaRPr lang="en-US" sz="22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Font typeface="Wingdings" pitchFamily="2" charset="2"/>
              <a:buChar char="v"/>
            </a:pPr>
            <a:r>
              <a:rPr lang="en-US" sz="2000"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785834"/>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dirty="0"/>
          </a:p>
        </p:txBody>
      </p:sp>
      <p:sp>
        <p:nvSpPr>
          <p:cNvPr id="3" name="Content Placeholder 2"/>
          <p:cNvSpPr>
            <a:spLocks noGrp="1"/>
          </p:cNvSpPr>
          <p:nvPr>
            <p:ph idx="1"/>
          </p:nvPr>
        </p:nvSpPr>
        <p:spPr>
          <a:xfrm>
            <a:off x="285720" y="1214422"/>
            <a:ext cx="8372476" cy="5357850"/>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 Working conditions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Lighting</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Control of temperature</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Adequate ventilation</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Control sound</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Promote orderliness, cleanliness and good house keeping</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Proper waste disposal</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Provide protective equipments</a:t>
            </a:r>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184576"/>
          </a:xfrm>
        </p:spPr>
        <p:txBody>
          <a:bodyPr>
            <a:noAutofit/>
          </a:bodyPr>
          <a:lstStyle/>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Material handling</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 Use mechanical equipments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Proper planning and scheduling</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Proper maintenance of equipments and training to workers</a:t>
            </a:r>
          </a:p>
          <a:p>
            <a:pPr marL="342900" lvl="1" indent="-342900" algn="just">
              <a:lnSpc>
                <a:spcPct val="150000"/>
              </a:lnSpc>
              <a:buFont typeface="Wingdings" pitchFamily="2" charset="2"/>
              <a:buChar char="Ø"/>
            </a:pPr>
            <a:r>
              <a:rPr lang="en-US" sz="2200" b="1" dirty="0">
                <a:latin typeface="Times New Roman" pitchFamily="18" charset="0"/>
                <a:cs typeface="Times New Roman" pitchFamily="18" charset="0"/>
              </a:rPr>
              <a:t>Plant layout</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It should facilitate smooth flow of materials and men</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It should reduce distance moved by men and materials</a:t>
            </a:r>
          </a:p>
          <a:p>
            <a:pPr marL="1314450" lvl="2" indent="-514350">
              <a:lnSpc>
                <a:spcPct val="150000"/>
              </a:lnSpc>
              <a:buFont typeface="Wingdings" pitchFamily="2" charset="2"/>
              <a:buChar char="ü"/>
            </a:pPr>
            <a:r>
              <a:rPr lang="en-US" sz="2200" dirty="0">
                <a:latin typeface="Times New Roman" pitchFamily="18" charset="0"/>
                <a:cs typeface="Times New Roman" pitchFamily="18" charset="0"/>
              </a:rPr>
              <a:t>Storage places should be properly arranged to reduce searching  and handling</a:t>
            </a:r>
          </a:p>
          <a:p>
            <a:pPr marL="1314450" lvl="2" indent="-514350">
              <a:lnSpc>
                <a:spcPct val="150000"/>
              </a:lnSpc>
              <a:buFont typeface="Wingdings" pitchFamily="2" charset="2"/>
              <a:buChar char="ü"/>
            </a:pPr>
            <a:endParaRPr lang="en-US" sz="22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pPr>
              <a:buNone/>
            </a:pPr>
            <a:endParaRPr lang="en-US" sz="1800" dirty="0"/>
          </a:p>
        </p:txBody>
      </p:sp>
      <p:sp>
        <p:nvSpPr>
          <p:cNvPr id="4" name="Title 1"/>
          <p:cNvSpPr>
            <a:spLocks noGrp="1"/>
          </p:cNvSpPr>
          <p:nvPr>
            <p:ph type="title"/>
          </p:nvPr>
        </p:nvSpPr>
        <p:spPr>
          <a:xfrm>
            <a:off x="428596" y="357166"/>
            <a:ext cx="8229600" cy="785834"/>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Productivity improvement procedure</a:t>
            </a:r>
            <a:endParaRPr lang="en-IN" sz="3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868346"/>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Benefits of increasing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539552" y="1124744"/>
            <a:ext cx="8318728" cy="4464496"/>
          </a:xfrm>
        </p:spPr>
        <p:txBody>
          <a:bodyPr>
            <a:noAutofit/>
          </a:bodyPr>
          <a:lstStyle/>
          <a:p>
            <a:pPr marL="514350" indent="-514350">
              <a:buFont typeface="Wingdings" pitchFamily="2" charset="2"/>
              <a:buChar char="q"/>
            </a:pPr>
            <a:r>
              <a:rPr lang="en-US" sz="2200" b="1" dirty="0">
                <a:latin typeface="Times New Roman" pitchFamily="18" charset="0"/>
                <a:cs typeface="Times New Roman" pitchFamily="18" charset="0"/>
              </a:rPr>
              <a:t>For management</a:t>
            </a:r>
          </a:p>
          <a:p>
            <a:pPr marL="514350" indent="-514350">
              <a:buFont typeface="Wingdings" pitchFamily="2" charset="2"/>
              <a:buChar char="ü"/>
            </a:pPr>
            <a:r>
              <a:rPr lang="en-US" sz="2200" dirty="0">
                <a:latin typeface="Times New Roman" pitchFamily="18" charset="0"/>
                <a:cs typeface="Times New Roman" pitchFamily="18" charset="0"/>
              </a:rPr>
              <a:t>to earn good profit</a:t>
            </a:r>
          </a:p>
          <a:p>
            <a:pPr marL="514350" indent="-514350">
              <a:buFont typeface="Wingdings" pitchFamily="2" charset="2"/>
              <a:buChar char="ü"/>
            </a:pPr>
            <a:r>
              <a:rPr lang="en-US" sz="2200" dirty="0">
                <a:latin typeface="Times New Roman" pitchFamily="18" charset="0"/>
                <a:cs typeface="Times New Roman" pitchFamily="18" charset="0"/>
              </a:rPr>
              <a:t>to have better utilization of resources</a:t>
            </a:r>
          </a:p>
          <a:p>
            <a:pPr marL="514350" indent="-514350">
              <a:buFont typeface="Wingdings" pitchFamily="2" charset="2"/>
              <a:buChar char="ü"/>
            </a:pPr>
            <a:r>
              <a:rPr lang="en-US" sz="2200" dirty="0">
                <a:latin typeface="Times New Roman" pitchFamily="18" charset="0"/>
                <a:cs typeface="Times New Roman" pitchFamily="18" charset="0"/>
              </a:rPr>
              <a:t>to stand better in the market</a:t>
            </a:r>
          </a:p>
          <a:p>
            <a:pPr marL="514350" indent="-514350">
              <a:buNone/>
            </a:pPr>
            <a:endParaRPr lang="en-US" sz="2200" dirty="0">
              <a:latin typeface="Times New Roman" pitchFamily="18" charset="0"/>
              <a:cs typeface="Times New Roman" pitchFamily="18" charset="0"/>
            </a:endParaRPr>
          </a:p>
          <a:p>
            <a:pPr marL="514350" indent="-514350">
              <a:buFont typeface="Wingdings" pitchFamily="2" charset="2"/>
              <a:buChar char="q"/>
            </a:pPr>
            <a:r>
              <a:rPr lang="en-US" sz="2200" b="1" dirty="0">
                <a:latin typeface="Times New Roman" pitchFamily="18" charset="0"/>
                <a:cs typeface="Times New Roman" pitchFamily="18" charset="0"/>
              </a:rPr>
              <a:t>For workers</a:t>
            </a:r>
            <a:endParaRPr lang="en-US" sz="2200" dirty="0">
              <a:latin typeface="Times New Roman" pitchFamily="18" charset="0"/>
              <a:cs typeface="Times New Roman" pitchFamily="18" charset="0"/>
            </a:endParaRPr>
          </a:p>
          <a:p>
            <a:pPr marL="514350" indent="-514350">
              <a:buFont typeface="Wingdings" pitchFamily="2" charset="2"/>
              <a:buChar char="ü"/>
            </a:pPr>
            <a:r>
              <a:rPr lang="en-US" sz="2200" dirty="0">
                <a:latin typeface="Times New Roman" pitchFamily="18" charset="0"/>
                <a:cs typeface="Times New Roman" pitchFamily="18" charset="0"/>
              </a:rPr>
              <a:t> higher wages</a:t>
            </a:r>
          </a:p>
          <a:p>
            <a:pPr marL="514350" indent="-514350">
              <a:buFont typeface="Wingdings" pitchFamily="2" charset="2"/>
              <a:buChar char="ü"/>
            </a:pPr>
            <a:r>
              <a:rPr lang="en-US" sz="2200" dirty="0">
                <a:latin typeface="Times New Roman" pitchFamily="18" charset="0"/>
                <a:cs typeface="Times New Roman" pitchFamily="18" charset="0"/>
              </a:rPr>
              <a:t> better working conditions, improved morale</a:t>
            </a:r>
          </a:p>
          <a:p>
            <a:pPr marL="514350" indent="-514350">
              <a:buFont typeface="Wingdings" pitchFamily="2" charset="2"/>
              <a:buChar char="ü"/>
            </a:pPr>
            <a:r>
              <a:rPr lang="en-US" sz="2200" dirty="0">
                <a:latin typeface="Times New Roman" pitchFamily="18" charset="0"/>
                <a:cs typeface="Times New Roman" pitchFamily="18" charset="0"/>
              </a:rPr>
              <a:t> higher standards of living</a:t>
            </a:r>
          </a:p>
          <a:p>
            <a:pPr marL="514350" indent="-514350">
              <a:buFont typeface="Wingdings" pitchFamily="2" charset="2"/>
              <a:buChar char="ü"/>
            </a:pPr>
            <a:r>
              <a:rPr lang="en-US" sz="2200" dirty="0">
                <a:latin typeface="Times New Roman" pitchFamily="18" charset="0"/>
                <a:cs typeface="Times New Roman" pitchFamily="18" charset="0"/>
              </a:rPr>
              <a:t> job security and satisfaction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868346"/>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Benefits of increasing productivity</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1052736"/>
            <a:ext cx="8102704" cy="5184576"/>
          </a:xfrm>
        </p:spPr>
        <p:txBody>
          <a:bodyPr>
            <a:noAutofit/>
          </a:bodyPr>
          <a:lstStyle/>
          <a:p>
            <a:pPr marL="514350" indent="-514350">
              <a:buFont typeface="Wingdings" pitchFamily="2" charset="2"/>
              <a:buChar char="q"/>
            </a:pPr>
            <a:r>
              <a:rPr lang="en-US" sz="2200" b="1" dirty="0">
                <a:latin typeface="Times New Roman" pitchFamily="18" charset="0"/>
                <a:cs typeface="Times New Roman" pitchFamily="18" charset="0"/>
              </a:rPr>
              <a:t>For consumers</a:t>
            </a:r>
          </a:p>
          <a:p>
            <a:pPr marL="514350" indent="-514350">
              <a:buFont typeface="Wingdings" pitchFamily="2" charset="2"/>
              <a:buChar char="ü"/>
            </a:pPr>
            <a:r>
              <a:rPr lang="en-US" sz="2200" dirty="0">
                <a:latin typeface="Times New Roman" pitchFamily="18" charset="0"/>
                <a:cs typeface="Times New Roman" pitchFamily="18" charset="0"/>
              </a:rPr>
              <a:t> better quality goods at reduced prices</a:t>
            </a:r>
          </a:p>
          <a:p>
            <a:pPr marL="514350" indent="-514350">
              <a:buFont typeface="Wingdings" pitchFamily="2" charset="2"/>
              <a:buChar char="ü"/>
            </a:pPr>
            <a:r>
              <a:rPr lang="en-US" sz="2200" dirty="0">
                <a:latin typeface="Times New Roman" pitchFamily="18" charset="0"/>
                <a:cs typeface="Times New Roman" pitchFamily="18" charset="0"/>
              </a:rPr>
              <a:t> more satisfaction</a:t>
            </a:r>
          </a:p>
          <a:p>
            <a:pPr marL="514350" indent="-514350">
              <a:buNone/>
            </a:pPr>
            <a:endParaRPr lang="en-US" sz="2200" dirty="0">
              <a:latin typeface="Times New Roman" pitchFamily="18" charset="0"/>
              <a:cs typeface="Times New Roman" pitchFamily="18" charset="0"/>
            </a:endParaRPr>
          </a:p>
          <a:p>
            <a:pPr marL="514350" indent="-514350">
              <a:buFont typeface="Wingdings" pitchFamily="2" charset="2"/>
              <a:buChar char="q"/>
            </a:pPr>
            <a:r>
              <a:rPr lang="en-US" sz="2200" b="1" dirty="0">
                <a:latin typeface="Times New Roman" pitchFamily="18" charset="0"/>
                <a:cs typeface="Times New Roman" pitchFamily="18" charset="0"/>
              </a:rPr>
              <a:t>To government</a:t>
            </a:r>
            <a:endParaRPr lang="en-US" sz="2200" dirty="0">
              <a:latin typeface="Times New Roman" pitchFamily="18" charset="0"/>
              <a:cs typeface="Times New Roman" pitchFamily="18" charset="0"/>
            </a:endParaRPr>
          </a:p>
          <a:p>
            <a:pPr marL="514350" indent="-514350">
              <a:buFont typeface="Wingdings" pitchFamily="2" charset="2"/>
              <a:buChar char="ü"/>
            </a:pPr>
            <a:r>
              <a:rPr lang="en-US" sz="2200" dirty="0">
                <a:latin typeface="Times New Roman" pitchFamily="18" charset="0"/>
                <a:cs typeface="Times New Roman" pitchFamily="18" charset="0"/>
              </a:rPr>
              <a:t>more revenue by taxation</a:t>
            </a:r>
          </a:p>
          <a:p>
            <a:pPr marL="514350" indent="-514350">
              <a:buFont typeface="Wingdings" pitchFamily="2" charset="2"/>
              <a:buChar char="ü"/>
            </a:pPr>
            <a:r>
              <a:rPr lang="en-US" sz="2200" dirty="0">
                <a:latin typeface="Times New Roman" pitchFamily="18" charset="0"/>
                <a:cs typeface="Times New Roman" pitchFamily="18" charset="0"/>
              </a:rPr>
              <a:t> improvement in economy </a:t>
            </a:r>
          </a:p>
          <a:p>
            <a:pPr marL="514350" indent="-514350">
              <a:buFont typeface="Wingdings" pitchFamily="2" charset="2"/>
              <a:buChar char="ü"/>
            </a:pPr>
            <a:r>
              <a:rPr lang="en-US" sz="2200" dirty="0">
                <a:latin typeface="Times New Roman" pitchFamily="18" charset="0"/>
                <a:cs typeface="Times New Roman" pitchFamily="18" charset="0"/>
              </a:rPr>
              <a:t> better utilization of resources</a:t>
            </a:r>
          </a:p>
          <a:p>
            <a:pPr marL="514350" indent="-514350">
              <a:buFont typeface="Wingdings" pitchFamily="2" charset="2"/>
              <a:buChar char="ü"/>
            </a:pPr>
            <a:r>
              <a:rPr lang="en-US" sz="2200" dirty="0">
                <a:latin typeface="Times New Roman" pitchFamily="18" charset="0"/>
                <a:cs typeface="Times New Roman" pitchFamily="18" charset="0"/>
              </a:rPr>
              <a:t> increased per capita income</a:t>
            </a:r>
          </a:p>
          <a:p>
            <a:pPr marL="514350" indent="-514350">
              <a:buFont typeface="Wingdings" pitchFamily="2" charset="2"/>
              <a:buChar char="ü"/>
            </a:pPr>
            <a:r>
              <a:rPr lang="en-US" sz="2200" dirty="0">
                <a:latin typeface="Times New Roman" pitchFamily="18" charset="0"/>
                <a:cs typeface="Times New Roman" pitchFamily="18" charset="0"/>
              </a:rPr>
              <a:t> development of the nation</a:t>
            </a:r>
            <a:endParaRPr lang="en-IN" sz="22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620688"/>
            <a:ext cx="7859216" cy="136815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  (Part 2)</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2492896"/>
            <a:ext cx="7931224" cy="3633267"/>
          </a:xfrm>
        </p:spPr>
        <p:txBody>
          <a:bodyPr>
            <a:normAutofit/>
          </a:bodyPr>
          <a:lstStyle/>
          <a:p>
            <a:pPr algn="ctr">
              <a:lnSpc>
                <a:spcPct val="160000"/>
              </a:lnSpc>
              <a:buNone/>
            </a:pPr>
            <a:r>
              <a:rPr lang="en-US" b="1" dirty="0">
                <a:effectLst>
                  <a:outerShdw blurRad="38100" dist="38100" dir="2700000" algn="tl">
                    <a:srgbClr val="000000">
                      <a:alpha val="43137"/>
                    </a:srgbClr>
                  </a:outerShdw>
                </a:effectLst>
                <a:latin typeface="Times New Roman" pitchFamily="18" charset="0"/>
                <a:cs typeface="Times New Roman" pitchFamily="18" charset="0"/>
              </a:rPr>
              <a:t>Material Management</a:t>
            </a:r>
          </a:p>
        </p:txBody>
      </p:sp>
      <p:sp>
        <p:nvSpPr>
          <p:cNvPr id="5" name="Slide Number Placeholder 4"/>
          <p:cNvSpPr>
            <a:spLocks noGrp="1"/>
          </p:cNvSpPr>
          <p:nvPr>
            <p:ph type="sldNum" sz="quarter" idx="12"/>
          </p:nvPr>
        </p:nvSpPr>
        <p:spPr/>
        <p:txBody>
          <a:bodyPr/>
          <a:lstStyle/>
          <a:p>
            <a:fld id="{9852A43B-CC61-4C08-A01B-A84C4E0E89A8}" type="slidenum">
              <a:rPr lang="en-IN" smtClean="0"/>
              <a:pPr/>
              <a:t>39</a:t>
            </a:fld>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86834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Material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683568" y="1268760"/>
            <a:ext cx="7848872" cy="4968552"/>
          </a:xfrm>
        </p:spPr>
        <p:txBody>
          <a:bodyPr>
            <a:noAutofit/>
          </a:bodyPr>
          <a:lstStyle/>
          <a:p>
            <a:pPr algn="just">
              <a:lnSpc>
                <a:spcPct val="200000"/>
              </a:lnSpc>
              <a:buFont typeface="Wingdings" pitchFamily="2" charset="2"/>
              <a:buChar char="ü"/>
            </a:pPr>
            <a:r>
              <a:rPr lang="en-US" sz="2200" dirty="0">
                <a:latin typeface="Times New Roman" pitchFamily="18" charset="0"/>
                <a:cs typeface="Times New Roman" pitchFamily="18" charset="0"/>
              </a:rPr>
              <a:t>Materials are one of the main inputs.</a:t>
            </a:r>
          </a:p>
          <a:p>
            <a:pPr algn="just">
              <a:lnSpc>
                <a:spcPct val="200000"/>
              </a:lnSpc>
              <a:buFont typeface="Wingdings" pitchFamily="2" charset="2"/>
              <a:buChar char="ü"/>
            </a:pPr>
            <a:r>
              <a:rPr lang="en-US" sz="2200" dirty="0">
                <a:latin typeface="Times New Roman" pitchFamily="18" charset="0"/>
                <a:cs typeface="Times New Roman" pitchFamily="18" charset="0"/>
              </a:rPr>
              <a:t>It accounts for the 50 to 85% of the total cost of production.</a:t>
            </a:r>
          </a:p>
          <a:p>
            <a:pPr algn="just">
              <a:lnSpc>
                <a:spcPct val="200000"/>
              </a:lnSpc>
              <a:buFont typeface="Wingdings" pitchFamily="2" charset="2"/>
              <a:buChar char="ü"/>
            </a:pPr>
            <a:r>
              <a:rPr lang="en-US" sz="2200" dirty="0">
                <a:latin typeface="Times New Roman" pitchFamily="18" charset="0"/>
                <a:cs typeface="Times New Roman" pitchFamily="18" charset="0"/>
              </a:rPr>
              <a:t>Any savings in the material leads to significant increase in profit.</a:t>
            </a:r>
          </a:p>
          <a:p>
            <a:pPr algn="just">
              <a:lnSpc>
                <a:spcPct val="200000"/>
              </a:lnSpc>
              <a:buFont typeface="Wingdings" pitchFamily="2" charset="2"/>
              <a:buChar char="ü"/>
            </a:pPr>
            <a:r>
              <a:rPr lang="en-US" sz="2200" dirty="0">
                <a:latin typeface="Times New Roman" pitchFamily="18" charset="0"/>
                <a:cs typeface="Times New Roman" pitchFamily="18" charset="0"/>
              </a:rPr>
              <a:t>This is a basic function which directly adds value to the product.</a:t>
            </a:r>
          </a:p>
          <a:p>
            <a:pPr algn="just">
              <a:lnSpc>
                <a:spcPct val="200000"/>
              </a:lnSpc>
              <a:buFont typeface="Wingdings" pitchFamily="2" charset="2"/>
              <a:buChar char="ü"/>
            </a:pPr>
            <a:r>
              <a:rPr lang="en-US" sz="2200" dirty="0">
                <a:latin typeface="Times New Roman" pitchFamily="18" charset="0"/>
                <a:cs typeface="Times New Roman" pitchFamily="18" charset="0"/>
              </a:rPr>
              <a:t>In modern industrial organizations it has a very important place.</a:t>
            </a:r>
            <a:endParaRPr lang="en-IN" sz="2200" dirty="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0648"/>
            <a:ext cx="8229600" cy="75055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Definition </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268760"/>
            <a:ext cx="8208912" cy="5112568"/>
          </a:xfrm>
        </p:spPr>
        <p:txBody>
          <a:bodyPr>
            <a:noAutofit/>
          </a:bodyPr>
          <a:lstStyle/>
          <a:p>
            <a:pPr algn="just">
              <a:lnSpc>
                <a:spcPct val="150000"/>
              </a:lnSpc>
            </a:pPr>
            <a:r>
              <a:rPr lang="en-US" sz="2000" dirty="0">
                <a:latin typeface="Times New Roman" pitchFamily="18" charset="0"/>
                <a:cs typeface="Times New Roman" pitchFamily="18" charset="0"/>
              </a:rPr>
              <a:t>Material management is the </a:t>
            </a:r>
            <a:r>
              <a:rPr lang="en-US" sz="2000" i="1" dirty="0">
                <a:latin typeface="Times New Roman" pitchFamily="18" charset="0"/>
                <a:cs typeface="Times New Roman" pitchFamily="18" charset="0"/>
              </a:rPr>
              <a:t>planning, directing, controlling and coordinating</a:t>
            </a:r>
            <a:r>
              <a:rPr lang="en-US" sz="2000" dirty="0">
                <a:latin typeface="Times New Roman" pitchFamily="18" charset="0"/>
                <a:cs typeface="Times New Roman" pitchFamily="18" charset="0"/>
              </a:rPr>
              <a:t> those activities which are concerned with materials and inventory requirements, from the point of their inception to their introduction into the manufacturing process. </a:t>
            </a:r>
          </a:p>
          <a:p>
            <a:pPr algn="just">
              <a:lnSpc>
                <a:spcPct val="150000"/>
              </a:lnSpc>
            </a:pPr>
            <a:r>
              <a:rPr lang="en-US" sz="2000" dirty="0">
                <a:latin typeface="Times New Roman" pitchFamily="18" charset="0"/>
                <a:cs typeface="Times New Roman" pitchFamily="18" charset="0"/>
              </a:rPr>
              <a:t>It begins with the determination of materials schedule and ends with issuance to production to meet customers demand as per schedule and at the lowest cost .</a:t>
            </a:r>
          </a:p>
          <a:p>
            <a:pPr algn="just">
              <a:lnSpc>
                <a:spcPct val="150000"/>
              </a:lnSpc>
            </a:pPr>
            <a:r>
              <a:rPr lang="en-US" sz="2000" dirty="0">
                <a:latin typeface="Times New Roman" pitchFamily="18" charset="0"/>
                <a:cs typeface="Times New Roman" pitchFamily="18" charset="0"/>
              </a:rPr>
              <a:t>Material management deals with controlling and regulating the flow of material in relation to the changes in variables like demand, prices, availability, quality, delivery schedules etc.</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0648"/>
            <a:ext cx="8229600" cy="75055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Objectives</a:t>
            </a:r>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of Material Management</a:t>
            </a:r>
            <a:endParaRPr lang="en-IN" sz="29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124744"/>
            <a:ext cx="8208912" cy="5256584"/>
          </a:xfrm>
        </p:spPr>
        <p:txBody>
          <a:bodyPr>
            <a:noAutofit/>
          </a:bodyPr>
          <a:lstStyle/>
          <a:p>
            <a:pPr algn="just">
              <a:lnSpc>
                <a:spcPct val="150000"/>
              </a:lnSpc>
              <a:buFont typeface="Wingdings" pitchFamily="2" charset="2"/>
              <a:buChar char="ü"/>
            </a:pPr>
            <a:r>
              <a:rPr lang="en-US" sz="2000" dirty="0">
                <a:latin typeface="Times New Roman" pitchFamily="18" charset="0"/>
                <a:cs typeface="Times New Roman" pitchFamily="18" charset="0"/>
              </a:rPr>
              <a:t>Minimizing cost of materials</a:t>
            </a:r>
          </a:p>
          <a:p>
            <a:pPr algn="just">
              <a:lnSpc>
                <a:spcPct val="150000"/>
              </a:lnSpc>
              <a:buFont typeface="Wingdings" pitchFamily="2" charset="2"/>
              <a:buChar char="ü"/>
            </a:pPr>
            <a:r>
              <a:rPr lang="en-US" sz="2000" dirty="0">
                <a:latin typeface="Times New Roman" pitchFamily="18" charset="0"/>
                <a:cs typeface="Times New Roman" pitchFamily="18" charset="0"/>
              </a:rPr>
              <a:t>To procure and provide materials of desired quality when required, at the lowest possible overall cost of the concern</a:t>
            </a:r>
          </a:p>
          <a:p>
            <a:pPr algn="just">
              <a:lnSpc>
                <a:spcPct val="150000"/>
              </a:lnSpc>
              <a:buFont typeface="Wingdings" pitchFamily="2" charset="2"/>
              <a:buChar char="ü"/>
            </a:pPr>
            <a:r>
              <a:rPr lang="en-US" sz="2000" dirty="0">
                <a:latin typeface="Times New Roman" pitchFamily="18" charset="0"/>
                <a:cs typeface="Times New Roman" pitchFamily="18" charset="0"/>
              </a:rPr>
              <a:t>Receiving and controlling material safely and in good condition.</a:t>
            </a:r>
          </a:p>
          <a:p>
            <a:pPr algn="just">
              <a:lnSpc>
                <a:spcPct val="150000"/>
              </a:lnSpc>
              <a:buFont typeface="Wingdings" pitchFamily="2" charset="2"/>
              <a:buChar char="ü"/>
            </a:pPr>
            <a:r>
              <a:rPr lang="en-US" sz="2000" dirty="0">
                <a:latin typeface="Times New Roman" pitchFamily="18" charset="0"/>
                <a:cs typeface="Times New Roman" pitchFamily="18" charset="0"/>
              </a:rPr>
              <a:t>Identification of surplus stocks and taking appropriate measures to reduce it.</a:t>
            </a:r>
          </a:p>
          <a:p>
            <a:pPr algn="just">
              <a:lnSpc>
                <a:spcPct val="150000"/>
              </a:lnSpc>
              <a:buFont typeface="Wingdings" pitchFamily="2" charset="2"/>
              <a:buChar char="ü"/>
            </a:pPr>
            <a:r>
              <a:rPr lang="en-US" sz="2000" dirty="0">
                <a:latin typeface="Times New Roman" pitchFamily="18" charset="0"/>
                <a:cs typeface="Times New Roman" pitchFamily="18" charset="0"/>
              </a:rPr>
              <a:t>To cut down the costs through simplification, standardization, value analysis, import substitution etc.</a:t>
            </a:r>
          </a:p>
          <a:p>
            <a:pPr algn="just">
              <a:lnSpc>
                <a:spcPct val="150000"/>
              </a:lnSpc>
              <a:buFont typeface="Wingdings" pitchFamily="2" charset="2"/>
              <a:buChar char="ü"/>
            </a:pPr>
            <a:r>
              <a:rPr lang="en-US" sz="2000" dirty="0">
                <a:latin typeface="Times New Roman" pitchFamily="18" charset="0"/>
                <a:cs typeface="Times New Roman" pitchFamily="18" charset="0"/>
              </a:rPr>
              <a:t>To train personnel in the field of materials management in order to increase operational efficiency.</a:t>
            </a:r>
          </a:p>
          <a:p>
            <a:pPr algn="just">
              <a:lnSpc>
                <a:spcPct val="150000"/>
              </a:lnSpc>
              <a:buFont typeface="Wingdings" pitchFamily="2" charset="2"/>
              <a:buChar char="ü"/>
            </a:pPr>
            <a:r>
              <a:rPr lang="en-US" sz="2000" dirty="0">
                <a:latin typeface="Times New Roman" pitchFamily="18" charset="0"/>
                <a:cs typeface="Times New Roman" pitchFamily="18" charset="0"/>
              </a:rPr>
              <a:t>Efficient record keeping and prompt reporting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908720"/>
          </a:xfrm>
        </p:spPr>
        <p:txBody>
          <a:bodyPr>
            <a:normAutofit/>
          </a:bodyPr>
          <a:lstStyle/>
          <a:p>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 of Material Management</a:t>
            </a:r>
            <a:endParaRPr lang="en-IN" sz="29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764704"/>
            <a:ext cx="8424936" cy="5760640"/>
          </a:xfrm>
        </p:spPr>
        <p:txBody>
          <a:bodyPr>
            <a:noAutofit/>
          </a:bodyPr>
          <a:lstStyle/>
          <a:p>
            <a:pPr marL="514350" indent="-514350" algn="just">
              <a:lnSpc>
                <a:spcPct val="150000"/>
              </a:lnSpc>
              <a:buFont typeface="Wingdings" pitchFamily="2" charset="2"/>
              <a:buChar char="Ø"/>
            </a:pPr>
            <a:r>
              <a:rPr lang="en-US" sz="2000" b="1" dirty="0">
                <a:latin typeface="Times New Roman" pitchFamily="18" charset="0"/>
                <a:cs typeface="Times New Roman" pitchFamily="18" charset="0"/>
              </a:rPr>
              <a:t>Planning function</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Translation of the sales projection into long term requirements of the materials</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Adjust the material requirement as per updated production plan</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Arrange the facilities required for the materials management.  </a:t>
            </a:r>
          </a:p>
          <a:p>
            <a:pPr marL="514350" indent="-514350" algn="just">
              <a:lnSpc>
                <a:spcPct val="150000"/>
              </a:lnSpc>
              <a:buFont typeface="Wingdings" pitchFamily="2" charset="2"/>
              <a:buChar char="Ø"/>
            </a:pPr>
            <a:r>
              <a:rPr lang="en-US" sz="2000" b="1" dirty="0">
                <a:latin typeface="Times New Roman" pitchFamily="18" charset="0"/>
                <a:cs typeface="Times New Roman" pitchFamily="18" charset="0"/>
              </a:rPr>
              <a:t>Production control</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Determining requirements of materials and parts to be purchased and manufactured</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Schedules of production and purchasing</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Issue work order to departments and purchase order to suppliers</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dispatch the materials to the production department.</a:t>
            </a:r>
            <a:endParaRPr lang="en-IN" sz="2000" dirty="0">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90872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 of Material Management</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764704"/>
            <a:ext cx="8424936" cy="5760640"/>
          </a:xfrm>
        </p:spPr>
        <p:txBody>
          <a:bodyPr>
            <a:noAutofit/>
          </a:bodyPr>
          <a:lstStyle/>
          <a:p>
            <a:pPr marL="514350" indent="-514350" algn="just">
              <a:lnSpc>
                <a:spcPct val="150000"/>
              </a:lnSpc>
              <a:buFont typeface="Wingdings" pitchFamily="2" charset="2"/>
              <a:buChar char="Ø"/>
            </a:pPr>
            <a:r>
              <a:rPr lang="en-US" sz="2000" b="1" dirty="0">
                <a:latin typeface="Times New Roman" pitchFamily="18" charset="0"/>
                <a:cs typeface="Times New Roman" pitchFamily="18" charset="0"/>
              </a:rPr>
              <a:t>Purchasing</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Selection of acceptable suppliers and issue of purchase order</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expedite the delivery of materials to meet the inventory requirements</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look for new materials and suppliers</a:t>
            </a:r>
          </a:p>
          <a:p>
            <a:pPr marL="514350" indent="-514350" algn="just">
              <a:lnSpc>
                <a:spcPct val="150000"/>
              </a:lnSpc>
              <a:buFont typeface="Wingdings" pitchFamily="2" charset="2"/>
              <a:buChar char="Ø"/>
            </a:pPr>
            <a:r>
              <a:rPr lang="en-US" sz="2000" b="1" dirty="0">
                <a:latin typeface="Times New Roman" pitchFamily="18" charset="0"/>
                <a:cs typeface="Times New Roman" pitchFamily="18" charset="0"/>
              </a:rPr>
              <a:t>Inventory and stores control</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Requisition of materials according to requirements at appropriate time</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Keep updated records of the materials received, issued and balance</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Do physical verification of materials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90872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 of Material Management</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764704"/>
            <a:ext cx="8424936" cy="5760640"/>
          </a:xfrm>
        </p:spPr>
        <p:txBody>
          <a:bodyPr>
            <a:noAutofit/>
          </a:bodyPr>
          <a:lstStyle/>
          <a:p>
            <a:pPr marL="514350" indent="-514350" algn="just">
              <a:lnSpc>
                <a:spcPct val="150000"/>
              </a:lnSpc>
              <a:buFont typeface="Wingdings" pitchFamily="2" charset="2"/>
              <a:buChar char="Ø"/>
            </a:pPr>
            <a:r>
              <a:rPr lang="en-US" sz="2000" b="1" dirty="0">
                <a:latin typeface="Times New Roman" pitchFamily="18" charset="0"/>
                <a:cs typeface="Times New Roman" pitchFamily="18" charset="0"/>
              </a:rPr>
              <a:t>Shipping /physical verification</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receive, verify and store finished goods </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Pack and label finished goods </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prepare shipping documents</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Report about the shipment to the accounting department and sales department</a:t>
            </a:r>
          </a:p>
          <a:p>
            <a:pPr marL="514350" indent="-514350" algn="just">
              <a:lnSpc>
                <a:spcPct val="150000"/>
              </a:lnSpc>
              <a:buFont typeface="Wingdings" pitchFamily="2" charset="2"/>
              <a:buChar char="Ø"/>
            </a:pPr>
            <a:r>
              <a:rPr lang="en-US" sz="2000" b="1" dirty="0">
                <a:latin typeface="Times New Roman" pitchFamily="18" charset="0"/>
                <a:cs typeface="Times New Roman" pitchFamily="18" charset="0"/>
              </a:rPr>
              <a:t>Material handling</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handle in-plant materials </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Maintenance of material handling equipments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88640"/>
            <a:ext cx="8229600" cy="86409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 of Material management</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980728"/>
            <a:ext cx="8424936" cy="5544616"/>
          </a:xfrm>
        </p:spPr>
        <p:txBody>
          <a:bodyPr>
            <a:noAutofit/>
          </a:bodyPr>
          <a:lstStyle/>
          <a:p>
            <a:pPr>
              <a:buNone/>
            </a:pPr>
            <a:endParaRPr lang="en-US" sz="2200" dirty="0">
              <a:latin typeface="Times New Roman" pitchFamily="18" charset="0"/>
              <a:cs typeface="Times New Roman" pitchFamily="18" charset="0"/>
            </a:endParaRPr>
          </a:p>
          <a:p>
            <a:pPr>
              <a:buFont typeface="Wingdings" pitchFamily="2" charset="2"/>
              <a:buChar char="Ø"/>
            </a:pPr>
            <a:r>
              <a:rPr lang="en-US" sz="2000" b="1" dirty="0">
                <a:latin typeface="Times New Roman" pitchFamily="18" charset="0"/>
                <a:cs typeface="Times New Roman" pitchFamily="18" charset="0"/>
              </a:rPr>
              <a:t>Transportation/ traffic control</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carry raw materials from the suppliers to plant</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carry finished goods to customers</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control routes and rates of hired vehicles</a:t>
            </a:r>
          </a:p>
          <a:p>
            <a:pPr marL="1314450" lvl="2" indent="-514350" algn="just">
              <a:lnSpc>
                <a:spcPct val="150000"/>
              </a:lnSpc>
              <a:buFont typeface="Wingdings" pitchFamily="2" charset="2"/>
              <a:buChar char="ü"/>
            </a:pPr>
            <a:r>
              <a:rPr lang="en-US" sz="2000" dirty="0">
                <a:latin typeface="Times New Roman" pitchFamily="18" charset="0"/>
                <a:cs typeface="Times New Roman" pitchFamily="18" charset="0"/>
              </a:rPr>
              <a:t>To maintain the fleet of delivery vehicles</a:t>
            </a:r>
            <a:endParaRPr lang="en-IN" sz="2000" dirty="0">
              <a:latin typeface="Times New Roman" pitchFamily="18" charset="0"/>
              <a:cs typeface="Times New Roman" pitchFamily="18" charset="0"/>
            </a:endParaRPr>
          </a:p>
          <a:p>
            <a:pPr marL="1314450" lvl="2" indent="-514350" algn="just">
              <a:lnSpc>
                <a:spcPct val="150000"/>
              </a:lnSpc>
              <a:buFont typeface="Wingdings" pitchFamily="2" charset="2"/>
              <a:buChar char="ü"/>
            </a:pPr>
            <a:endParaRPr lang="en-IN" sz="2000" dirty="0">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640960" cy="1296144"/>
          </a:xfrm>
        </p:spPr>
        <p:txBody>
          <a:bodyPr>
            <a:noAutofit/>
          </a:bodyPr>
          <a:lstStyle/>
          <a:p>
            <a:pPr>
              <a:lnSpc>
                <a:spcPct val="15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Factors Providing Economy in Material Management</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683568" y="1844824"/>
            <a:ext cx="8208912" cy="4680520"/>
          </a:xfrm>
        </p:spPr>
        <p:txBody>
          <a:bodyPr>
            <a:noAutofit/>
          </a:bodyPr>
          <a:lstStyle/>
          <a:p>
            <a:pPr marL="514350" indent="-514350" algn="just">
              <a:lnSpc>
                <a:spcPct val="150000"/>
              </a:lnSpc>
              <a:buAutoNum type="arabicParenR"/>
            </a:pPr>
            <a:r>
              <a:rPr lang="en-US" sz="2200" dirty="0">
                <a:latin typeface="Times New Roman" pitchFamily="18" charset="0"/>
                <a:cs typeface="Times New Roman" pitchFamily="18" charset="0"/>
              </a:rPr>
              <a:t>Volume of purchases</a:t>
            </a:r>
          </a:p>
          <a:p>
            <a:pPr marL="514350" indent="-514350" algn="just">
              <a:lnSpc>
                <a:spcPct val="150000"/>
              </a:lnSpc>
              <a:buAutoNum type="arabicParenR"/>
            </a:pPr>
            <a:r>
              <a:rPr lang="en-US" sz="2200" dirty="0">
                <a:latin typeface="Times New Roman" pitchFamily="18" charset="0"/>
                <a:cs typeface="Times New Roman" pitchFamily="18" charset="0"/>
              </a:rPr>
              <a:t>Nearness to sources of materials</a:t>
            </a:r>
          </a:p>
          <a:p>
            <a:pPr marL="514350" indent="-514350" algn="just">
              <a:lnSpc>
                <a:spcPct val="150000"/>
              </a:lnSpc>
              <a:buAutoNum type="arabicParenR"/>
            </a:pPr>
            <a:r>
              <a:rPr lang="en-US" sz="2200" dirty="0">
                <a:latin typeface="Times New Roman" pitchFamily="18" charset="0"/>
                <a:cs typeface="Times New Roman" pitchFamily="18" charset="0"/>
              </a:rPr>
              <a:t>Design and engineering of the product</a:t>
            </a:r>
          </a:p>
          <a:p>
            <a:pPr marL="514350" indent="-514350" algn="just">
              <a:lnSpc>
                <a:spcPct val="150000"/>
              </a:lnSpc>
              <a:buAutoNum type="arabicParenR"/>
            </a:pPr>
            <a:r>
              <a:rPr lang="en-US" sz="2200" dirty="0">
                <a:latin typeface="Times New Roman" pitchFamily="18" charset="0"/>
                <a:cs typeface="Times New Roman" pitchFamily="18" charset="0"/>
              </a:rPr>
              <a:t>Inspection</a:t>
            </a:r>
          </a:p>
          <a:p>
            <a:pPr marL="514350" indent="-514350" algn="just">
              <a:lnSpc>
                <a:spcPct val="150000"/>
              </a:lnSpc>
              <a:buAutoNum type="arabicParenR"/>
            </a:pPr>
            <a:r>
              <a:rPr lang="en-US" sz="2200" dirty="0">
                <a:latin typeface="Times New Roman" pitchFamily="18" charset="0"/>
                <a:cs typeface="Times New Roman" pitchFamily="18" charset="0"/>
              </a:rPr>
              <a:t>Make or buy decision </a:t>
            </a:r>
          </a:p>
          <a:p>
            <a:pPr marL="514350" indent="-514350" algn="just">
              <a:lnSpc>
                <a:spcPct val="150000"/>
              </a:lnSpc>
              <a:buAutoNum type="arabicParenR"/>
            </a:pPr>
            <a:r>
              <a:rPr lang="en-US" sz="2200" dirty="0">
                <a:latin typeface="Times New Roman" pitchFamily="18" charset="0"/>
                <a:cs typeface="Times New Roman" pitchFamily="18" charset="0"/>
              </a:rPr>
              <a:t>Disposal of scrap</a:t>
            </a:r>
            <a:endParaRPr lang="en-IN" sz="2200"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720080"/>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Inventory Control</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611560" y="980728"/>
            <a:ext cx="8280920" cy="5544616"/>
          </a:xfrm>
        </p:spPr>
        <p:txBody>
          <a:bodyPr>
            <a:noAutofit/>
          </a:bodyPr>
          <a:lstStyle/>
          <a:p>
            <a:pPr algn="just">
              <a:lnSpc>
                <a:spcPct val="150000"/>
              </a:lnSpc>
              <a:buFont typeface="Wingdings" pitchFamily="2" charset="2"/>
              <a:buChar char="Ø"/>
            </a:pPr>
            <a:r>
              <a:rPr lang="en-US" sz="2100" dirty="0">
                <a:latin typeface="Times New Roman" pitchFamily="18" charset="0"/>
                <a:cs typeface="Times New Roman" pitchFamily="18" charset="0"/>
              </a:rPr>
              <a:t>Inventory is the list of movable goods which directly or indirectly used in the production of goods for sale.</a:t>
            </a:r>
          </a:p>
          <a:p>
            <a:pPr algn="just">
              <a:lnSpc>
                <a:spcPct val="150000"/>
              </a:lnSpc>
              <a:buFont typeface="Wingdings" pitchFamily="2" charset="2"/>
              <a:buChar char="Ø"/>
            </a:pPr>
            <a:r>
              <a:rPr lang="en-US" sz="2100" dirty="0">
                <a:latin typeface="Times New Roman" pitchFamily="18" charset="0"/>
                <a:cs typeface="Times New Roman" pitchFamily="18" charset="0"/>
              </a:rPr>
              <a:t>Inventory is money kept in the store room in the form of raw material, in-process material and finished goods</a:t>
            </a:r>
          </a:p>
          <a:p>
            <a:pPr algn="just">
              <a:lnSpc>
                <a:spcPct val="150000"/>
              </a:lnSpc>
              <a:buFont typeface="Wingdings" pitchFamily="2" charset="2"/>
              <a:buChar char="Ø"/>
            </a:pPr>
            <a:r>
              <a:rPr lang="en-US" sz="2100" dirty="0">
                <a:latin typeface="Times New Roman" pitchFamily="18" charset="0"/>
                <a:cs typeface="Times New Roman" pitchFamily="18" charset="0"/>
              </a:rPr>
              <a:t>“Inventory control refers to the process whereby the investment in materials and parts carried in stock is regulated within the predetermined limits set in accordance with the inventory policy established by the management” </a:t>
            </a:r>
          </a:p>
          <a:p>
            <a:pPr algn="just">
              <a:lnSpc>
                <a:spcPct val="150000"/>
              </a:lnSpc>
              <a:buFont typeface="Wingdings" pitchFamily="2" charset="2"/>
              <a:buChar char="Ø"/>
            </a:pPr>
            <a:r>
              <a:rPr lang="en-US" sz="2100" dirty="0">
                <a:latin typeface="Times New Roman" pitchFamily="18" charset="0"/>
                <a:cs typeface="Times New Roman" pitchFamily="18" charset="0"/>
              </a:rPr>
              <a:t>It is the scientific method of finding how much stock should be maintained in order to meet the production demands at the minimum cost.</a:t>
            </a:r>
            <a:endParaRPr lang="en-IN" sz="2100" dirty="0">
              <a:latin typeface="Times New Roman" pitchFamily="18" charset="0"/>
              <a:cs typeface="Times New Roman" pitchFamily="18" charset="0"/>
            </a:endParaRPr>
          </a:p>
          <a:p>
            <a:pPr algn="just">
              <a:lnSpc>
                <a:spcPct val="150000"/>
              </a:lnSpc>
              <a:buFont typeface="Wingdings" pitchFamily="2" charset="2"/>
              <a:buChar char="Ø"/>
            </a:pPr>
            <a:endParaRPr lang="en-US" sz="2000" dirty="0">
              <a:latin typeface="Times New Roman" pitchFamily="18" charset="0"/>
              <a:cs typeface="Times New Roman" pitchFamily="18" charset="0"/>
            </a:endParaRPr>
          </a:p>
          <a:p>
            <a:pPr algn="just">
              <a:lnSpc>
                <a:spcPct val="150000"/>
              </a:lnSpc>
              <a:buFont typeface="Wingdings" pitchFamily="2" charset="2"/>
              <a:buChar char="Ø"/>
            </a:pPr>
            <a:endParaRPr lang="en-US" sz="20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720080"/>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Inventory Control</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611560" y="980728"/>
            <a:ext cx="8280920" cy="5544616"/>
          </a:xfrm>
        </p:spPr>
        <p:txBody>
          <a:bodyPr>
            <a:noAutofit/>
          </a:bodyPr>
          <a:lstStyle/>
          <a:p>
            <a:pPr algn="just">
              <a:lnSpc>
                <a:spcPct val="150000"/>
              </a:lnSpc>
              <a:buFont typeface="Wingdings" pitchFamily="2" charset="2"/>
              <a:buChar char="Ø"/>
            </a:pPr>
            <a:r>
              <a:rPr lang="en-US" sz="2000" b="1" dirty="0">
                <a:latin typeface="Times New Roman" pitchFamily="18" charset="0"/>
                <a:cs typeface="Times New Roman" pitchFamily="18" charset="0"/>
              </a:rPr>
              <a:t>Classification </a:t>
            </a:r>
          </a:p>
          <a:p>
            <a:pPr marL="1314450" lvl="2" indent="-514350" algn="just">
              <a:lnSpc>
                <a:spcPct val="150000"/>
              </a:lnSpc>
              <a:buFont typeface="Wingdings" pitchFamily="2" charset="2"/>
              <a:buChar char="q"/>
            </a:pPr>
            <a:r>
              <a:rPr lang="en-US" sz="2000" b="1" dirty="0">
                <a:latin typeface="Times New Roman" pitchFamily="18" charset="0"/>
                <a:cs typeface="Times New Roman" pitchFamily="18" charset="0"/>
              </a:rPr>
              <a:t>Direct inventories</a:t>
            </a:r>
          </a:p>
          <a:p>
            <a:pPr marL="2228850" lvl="4" indent="-514350" algn="just">
              <a:lnSpc>
                <a:spcPct val="150000"/>
              </a:lnSpc>
              <a:buFont typeface="Wingdings" pitchFamily="2" charset="2"/>
              <a:buChar char="ü"/>
            </a:pPr>
            <a:r>
              <a:rPr lang="en-US" dirty="0">
                <a:latin typeface="Times New Roman" pitchFamily="18" charset="0"/>
                <a:cs typeface="Times New Roman" pitchFamily="18" charset="0"/>
              </a:rPr>
              <a:t>Raw materials</a:t>
            </a:r>
          </a:p>
          <a:p>
            <a:pPr marL="2228850" lvl="4" indent="-514350" algn="just">
              <a:lnSpc>
                <a:spcPct val="150000"/>
              </a:lnSpc>
              <a:buFont typeface="Wingdings" pitchFamily="2" charset="2"/>
              <a:buChar char="ü"/>
            </a:pPr>
            <a:r>
              <a:rPr lang="en-US" dirty="0">
                <a:latin typeface="Times New Roman" pitchFamily="18" charset="0"/>
                <a:cs typeface="Times New Roman" pitchFamily="18" charset="0"/>
              </a:rPr>
              <a:t>In process inventories (work in progress)</a:t>
            </a:r>
          </a:p>
          <a:p>
            <a:pPr marL="2228850" lvl="4" indent="-514350" algn="just">
              <a:lnSpc>
                <a:spcPct val="150000"/>
              </a:lnSpc>
              <a:buFont typeface="Wingdings" pitchFamily="2" charset="2"/>
              <a:buChar char="ü"/>
            </a:pPr>
            <a:r>
              <a:rPr lang="en-US" dirty="0">
                <a:latin typeface="Times New Roman" pitchFamily="18" charset="0"/>
                <a:cs typeface="Times New Roman" pitchFamily="18" charset="0"/>
              </a:rPr>
              <a:t>Purchased parts</a:t>
            </a:r>
          </a:p>
          <a:p>
            <a:pPr marL="2228850" lvl="4" indent="-514350" algn="just">
              <a:lnSpc>
                <a:spcPct val="150000"/>
              </a:lnSpc>
              <a:buFont typeface="Wingdings" pitchFamily="2" charset="2"/>
              <a:buChar char="ü"/>
            </a:pPr>
            <a:r>
              <a:rPr lang="en-US" dirty="0">
                <a:latin typeface="Times New Roman" pitchFamily="18" charset="0"/>
                <a:cs typeface="Times New Roman" pitchFamily="18" charset="0"/>
              </a:rPr>
              <a:t>Finished goods</a:t>
            </a:r>
          </a:p>
          <a:p>
            <a:pPr marL="1314450" lvl="2" indent="-514350" algn="just">
              <a:lnSpc>
                <a:spcPct val="150000"/>
              </a:lnSpc>
              <a:buFont typeface="Wingdings" pitchFamily="2" charset="2"/>
              <a:buChar char="q"/>
            </a:pPr>
            <a:r>
              <a:rPr lang="en-US" sz="2000" b="1" dirty="0">
                <a:latin typeface="Times New Roman" pitchFamily="18" charset="0"/>
                <a:cs typeface="Times New Roman" pitchFamily="18" charset="0"/>
              </a:rPr>
              <a:t>Indirect inventories - will not be part of product</a:t>
            </a:r>
          </a:p>
          <a:p>
            <a:pPr marL="1771650" lvl="3" indent="-514350" algn="just">
              <a:lnSpc>
                <a:spcPct val="150000"/>
              </a:lnSpc>
              <a:buFont typeface="Wingdings" pitchFamily="2" charset="2"/>
              <a:buChar char="ü"/>
            </a:pPr>
            <a:r>
              <a:rPr lang="en-US" dirty="0">
                <a:latin typeface="Times New Roman" pitchFamily="18" charset="0"/>
                <a:cs typeface="Times New Roman" pitchFamily="18" charset="0"/>
              </a:rPr>
              <a:t>Tools:-  machine tools and hand tools</a:t>
            </a:r>
          </a:p>
          <a:p>
            <a:pPr marL="1771650" lvl="3" indent="-514350" algn="just">
              <a:lnSpc>
                <a:spcPct val="150000"/>
              </a:lnSpc>
              <a:buFont typeface="Wingdings" pitchFamily="2" charset="2"/>
              <a:buChar char="ü"/>
            </a:pPr>
            <a:r>
              <a:rPr lang="en-US" dirty="0">
                <a:latin typeface="Times New Roman" pitchFamily="18" charset="0"/>
                <a:cs typeface="Times New Roman" pitchFamily="18" charset="0"/>
              </a:rPr>
              <a:t>Supplies:- accessories of machines, cleaning materials, lubricants, office stationary.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864096"/>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Need for Inventories (Functions or Advantages)</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683568" y="1196752"/>
            <a:ext cx="7992888" cy="5328592"/>
          </a:xfrm>
        </p:spPr>
        <p:txBody>
          <a:bodyPr>
            <a:noAutofit/>
          </a:bodyPr>
          <a:lstStyle/>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To ensure against delays in deliveries due to variation in lead time</a:t>
            </a:r>
          </a:p>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To allow for possible increase in output due to variation in demand</a:t>
            </a:r>
          </a:p>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Maintain smooth and efficient production flow</a:t>
            </a:r>
          </a:p>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To keep better customer relations </a:t>
            </a:r>
          </a:p>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To take advantage of quantity discounts</a:t>
            </a:r>
          </a:p>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To utilize advantage of price fluctuations</a:t>
            </a:r>
          </a:p>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To ensure against scarcity of materials in the market</a:t>
            </a:r>
          </a:p>
          <a:p>
            <a:pPr marL="514350" indent="-514350" algn="just">
              <a:lnSpc>
                <a:spcPct val="150000"/>
              </a:lnSpc>
              <a:buFont typeface="Wingdings" pitchFamily="2" charset="2"/>
              <a:buChar char="Ø"/>
            </a:pPr>
            <a:r>
              <a:rPr lang="en-US" sz="2000" dirty="0">
                <a:latin typeface="Times New Roman" pitchFamily="18" charset="0"/>
                <a:cs typeface="Times New Roman" pitchFamily="18" charset="0"/>
              </a:rPr>
              <a:t>To have better utilization of men and machinery</a:t>
            </a:r>
            <a:endParaRPr lang="en-IN" sz="2000" dirty="0">
              <a:latin typeface="Times New Roman" pitchFamily="18" charset="0"/>
              <a:cs typeface="Times New Roman"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Determining Inventory Level</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Ø"/>
            </a:pPr>
            <a:r>
              <a:rPr lang="en-US" sz="2200" dirty="0">
                <a:latin typeface="Times New Roman" pitchFamily="18" charset="0"/>
                <a:cs typeface="Times New Roman" pitchFamily="18" charset="0"/>
              </a:rPr>
              <a:t>Objective is to minimize inventory cost and maximize profit</a:t>
            </a:r>
          </a:p>
          <a:p>
            <a:pPr>
              <a:lnSpc>
                <a:spcPct val="150000"/>
              </a:lnSpc>
              <a:buFont typeface="Wingdings" pitchFamily="2" charset="2"/>
              <a:buChar char="Ø"/>
            </a:pPr>
            <a:r>
              <a:rPr lang="en-US" sz="2200" dirty="0">
                <a:latin typeface="Times New Roman" pitchFamily="18" charset="0"/>
                <a:cs typeface="Times New Roman" pitchFamily="18" charset="0"/>
              </a:rPr>
              <a:t>Variables which affect level of inventory are</a:t>
            </a:r>
          </a:p>
          <a:p>
            <a:pPr marL="1314450" lvl="2" indent="-514350">
              <a:lnSpc>
                <a:spcPct val="150000"/>
              </a:lnSpc>
              <a:buFont typeface="Wingdings" pitchFamily="2" charset="2"/>
              <a:buChar char="v"/>
            </a:pPr>
            <a:r>
              <a:rPr lang="en-US" sz="2200" dirty="0">
                <a:latin typeface="Times New Roman" pitchFamily="18" charset="0"/>
                <a:cs typeface="Times New Roman" pitchFamily="18" charset="0"/>
              </a:rPr>
              <a:t>Order quantity</a:t>
            </a:r>
          </a:p>
          <a:p>
            <a:pPr marL="1314450" lvl="2" indent="-514350">
              <a:lnSpc>
                <a:spcPct val="150000"/>
              </a:lnSpc>
              <a:buFont typeface="Wingdings" pitchFamily="2" charset="2"/>
              <a:buChar char="v"/>
            </a:pPr>
            <a:r>
              <a:rPr lang="en-US" sz="2200" dirty="0">
                <a:latin typeface="Times New Roman" pitchFamily="18" charset="0"/>
                <a:cs typeface="Times New Roman" pitchFamily="18" charset="0"/>
              </a:rPr>
              <a:t>Lead time</a:t>
            </a:r>
          </a:p>
          <a:p>
            <a:pPr marL="1314450" lvl="2" indent="-514350">
              <a:lnSpc>
                <a:spcPct val="150000"/>
              </a:lnSpc>
              <a:buFont typeface="Wingdings" pitchFamily="2" charset="2"/>
              <a:buChar char="v"/>
            </a:pPr>
            <a:r>
              <a:rPr lang="en-US" sz="2200" dirty="0">
                <a:latin typeface="Times New Roman" pitchFamily="18" charset="0"/>
                <a:cs typeface="Times New Roman" pitchFamily="18" charset="0"/>
              </a:rPr>
              <a:t>Safety stock</a:t>
            </a:r>
          </a:p>
          <a:p>
            <a:pPr marL="1314450" lvl="2" indent="-514350">
              <a:lnSpc>
                <a:spcPct val="150000"/>
              </a:lnSpc>
              <a:buFont typeface="Wingdings" pitchFamily="2" charset="2"/>
              <a:buChar char="v"/>
            </a:pPr>
            <a:r>
              <a:rPr lang="en-US" sz="2200" dirty="0">
                <a:latin typeface="Times New Roman" pitchFamily="18" charset="0"/>
                <a:cs typeface="Times New Roman" pitchFamily="18" charset="0"/>
              </a:rPr>
              <a:t>Reorder point</a:t>
            </a:r>
            <a:endParaRPr lang="en-IN" sz="2200"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778098"/>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Determining inventory level</a:t>
            </a:r>
            <a:endParaRPr lang="en-IN" sz="3200" dirty="0"/>
          </a:p>
        </p:txBody>
      </p:sp>
      <p:sp>
        <p:nvSpPr>
          <p:cNvPr id="3" name="Content Placeholder 2"/>
          <p:cNvSpPr>
            <a:spLocks noGrp="1"/>
          </p:cNvSpPr>
          <p:nvPr>
            <p:ph idx="1"/>
          </p:nvPr>
        </p:nvSpPr>
        <p:spPr>
          <a:xfrm>
            <a:off x="251520" y="908720"/>
            <a:ext cx="8712968" cy="5217443"/>
          </a:xfrm>
        </p:spPr>
        <p:txBody>
          <a:bodyPr>
            <a:noAutofit/>
          </a:bodyPr>
          <a:lstStyle/>
          <a:p>
            <a:pPr>
              <a:lnSpc>
                <a:spcPct val="150000"/>
              </a:lnSpc>
              <a:buFont typeface="Wingdings" pitchFamily="2" charset="2"/>
              <a:buChar char="v"/>
            </a:pPr>
            <a:r>
              <a:rPr lang="en-US" sz="2000" b="1" dirty="0">
                <a:latin typeface="Times New Roman" pitchFamily="18" charset="0"/>
                <a:cs typeface="Times New Roman" pitchFamily="18" charset="0"/>
              </a:rPr>
              <a:t>Order quantity</a:t>
            </a:r>
          </a:p>
          <a:p>
            <a:pPr>
              <a:lnSpc>
                <a:spcPct val="150000"/>
              </a:lnSpc>
              <a:buNone/>
            </a:pPr>
            <a:r>
              <a:rPr lang="en-US" sz="2000" dirty="0">
                <a:latin typeface="Times New Roman" pitchFamily="18" charset="0"/>
                <a:cs typeface="Times New Roman" pitchFamily="18" charset="0"/>
              </a:rPr>
              <a:t>	The quantity of materials ordered in a single order. It should be decided after considering cost (EOQ)</a:t>
            </a:r>
          </a:p>
          <a:p>
            <a:pPr>
              <a:lnSpc>
                <a:spcPct val="150000"/>
              </a:lnSpc>
              <a:buFont typeface="Wingdings" pitchFamily="2" charset="2"/>
              <a:buChar char="v"/>
            </a:pPr>
            <a:r>
              <a:rPr lang="en-US" sz="2000" b="1" dirty="0">
                <a:latin typeface="Times New Roman" pitchFamily="18" charset="0"/>
                <a:cs typeface="Times New Roman" pitchFamily="18" charset="0"/>
              </a:rPr>
              <a:t>Lead time</a:t>
            </a:r>
          </a:p>
          <a:p>
            <a:pPr>
              <a:lnSpc>
                <a:spcPct val="150000"/>
              </a:lnSpc>
              <a:buNone/>
            </a:pPr>
            <a:r>
              <a:rPr lang="en-US" sz="2000" dirty="0">
                <a:latin typeface="Times New Roman" pitchFamily="18" charset="0"/>
                <a:cs typeface="Times New Roman" pitchFamily="18" charset="0"/>
              </a:rPr>
              <a:t>	Time  Interval between  initiating the order and the material is actually received.</a:t>
            </a:r>
          </a:p>
          <a:p>
            <a:pPr>
              <a:lnSpc>
                <a:spcPct val="150000"/>
              </a:lnSpc>
              <a:buNone/>
            </a:pPr>
            <a:r>
              <a:rPr lang="en-US" sz="2000" dirty="0">
                <a:latin typeface="Times New Roman" pitchFamily="18" charset="0"/>
                <a:cs typeface="Times New Roman" pitchFamily="18" charset="0"/>
              </a:rPr>
              <a:t>It consists of </a:t>
            </a:r>
          </a:p>
          <a:p>
            <a:pPr lvl="2" algn="just">
              <a:lnSpc>
                <a:spcPct val="150000"/>
              </a:lnSpc>
              <a:buFont typeface="Courier New" pitchFamily="49" charset="0"/>
              <a:buChar char="o"/>
            </a:pPr>
            <a:r>
              <a:rPr lang="en-US" sz="2000" dirty="0">
                <a:latin typeface="Times New Roman" pitchFamily="18" charset="0"/>
                <a:cs typeface="Times New Roman" pitchFamily="18" charset="0"/>
              </a:rPr>
              <a:t>    time taken to deliver purchase order to seller</a:t>
            </a:r>
          </a:p>
          <a:p>
            <a:pPr lvl="2" algn="just">
              <a:lnSpc>
                <a:spcPct val="150000"/>
              </a:lnSpc>
              <a:buFont typeface="Courier New" pitchFamily="49" charset="0"/>
              <a:buChar char="o"/>
            </a:pPr>
            <a:r>
              <a:rPr lang="en-US" sz="2000" dirty="0">
                <a:latin typeface="Times New Roman" pitchFamily="18" charset="0"/>
                <a:cs typeface="Times New Roman" pitchFamily="18" charset="0"/>
              </a:rPr>
              <a:t>    time for the seller to get or prepare the inventory for dispatch</a:t>
            </a:r>
          </a:p>
          <a:p>
            <a:pPr lvl="2" algn="just">
              <a:lnSpc>
                <a:spcPct val="150000"/>
              </a:lnSpc>
              <a:buFont typeface="Courier New" pitchFamily="49" charset="0"/>
              <a:buChar char="o"/>
            </a:pPr>
            <a:r>
              <a:rPr lang="en-US" sz="2000" dirty="0">
                <a:latin typeface="Times New Roman" pitchFamily="18" charset="0"/>
                <a:cs typeface="Times New Roman" pitchFamily="18" charset="0"/>
              </a:rPr>
              <a:t>    time taken for transportation to and reception of inventory by the 	customer</a:t>
            </a:r>
          </a:p>
          <a:p>
            <a:pPr>
              <a:lnSpc>
                <a:spcPct val="150000"/>
              </a:lnSpc>
              <a:buNone/>
            </a:pPr>
            <a:endParaRPr lang="en-IN" sz="2000"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Determining inventory level</a:t>
            </a:r>
            <a:endParaRPr lang="en-IN" sz="3200" dirty="0"/>
          </a:p>
        </p:txBody>
      </p:sp>
      <p:sp>
        <p:nvSpPr>
          <p:cNvPr id="3" name="Content Placeholder 2"/>
          <p:cNvSpPr>
            <a:spLocks noGrp="1"/>
          </p:cNvSpPr>
          <p:nvPr>
            <p:ph idx="1"/>
          </p:nvPr>
        </p:nvSpPr>
        <p:spPr>
          <a:xfrm>
            <a:off x="457200" y="908720"/>
            <a:ext cx="8435280" cy="5472608"/>
          </a:xfrm>
        </p:spPr>
        <p:txBody>
          <a:bodyPr>
            <a:normAutofit/>
          </a:bodyPr>
          <a:lstStyle/>
          <a:p>
            <a:pPr>
              <a:lnSpc>
                <a:spcPct val="150000"/>
              </a:lnSpc>
              <a:buFont typeface="Wingdings" pitchFamily="2" charset="2"/>
              <a:buChar char="v"/>
            </a:pPr>
            <a:r>
              <a:rPr lang="en-US" sz="2000" b="1" dirty="0">
                <a:latin typeface="Times New Roman" pitchFamily="18" charset="0"/>
                <a:cs typeface="Times New Roman" pitchFamily="18" charset="0"/>
              </a:rPr>
              <a:t>Safety stock</a:t>
            </a:r>
          </a:p>
          <a:p>
            <a:pPr algn="just">
              <a:lnSpc>
                <a:spcPct val="160000"/>
              </a:lnSpc>
              <a:buNone/>
            </a:pPr>
            <a:r>
              <a:rPr lang="en-US" sz="2000" dirty="0">
                <a:latin typeface="Times New Roman" pitchFamily="18" charset="0"/>
                <a:cs typeface="Times New Roman" pitchFamily="18" charset="0"/>
              </a:rPr>
              <a:t>  The use rate and lead time are varying because </a:t>
            </a:r>
          </a:p>
          <a:p>
            <a:pPr lvl="2" algn="just">
              <a:lnSpc>
                <a:spcPct val="160000"/>
              </a:lnSpc>
              <a:buFont typeface="Wingdings" pitchFamily="2" charset="2"/>
              <a:buChar char="§"/>
            </a:pPr>
            <a:r>
              <a:rPr lang="en-US" sz="2000" dirty="0">
                <a:latin typeface="Times New Roman" pitchFamily="18" charset="0"/>
                <a:cs typeface="Times New Roman" pitchFamily="18" charset="0"/>
              </a:rPr>
              <a:t>supplier may fail to keep delivery promise</a:t>
            </a:r>
          </a:p>
          <a:p>
            <a:pPr lvl="2" algn="just">
              <a:lnSpc>
                <a:spcPct val="160000"/>
              </a:lnSpc>
              <a:buFont typeface="Wingdings" pitchFamily="2" charset="2"/>
              <a:buChar char="§"/>
            </a:pPr>
            <a:r>
              <a:rPr lang="en-US" sz="2000" dirty="0">
                <a:latin typeface="Times New Roman" pitchFamily="18" charset="0"/>
                <a:cs typeface="Times New Roman" pitchFamily="18" charset="0"/>
              </a:rPr>
              <a:t>the forecast of use rate may be inaccurate </a:t>
            </a:r>
          </a:p>
          <a:p>
            <a:pPr algn="just">
              <a:lnSpc>
                <a:spcPct val="160000"/>
              </a:lnSpc>
              <a:buFont typeface="Wingdings" pitchFamily="2" charset="2"/>
              <a:buChar char="Ø"/>
            </a:pPr>
            <a:r>
              <a:rPr lang="en-US" sz="2000" dirty="0">
                <a:latin typeface="Times New Roman" pitchFamily="18" charset="0"/>
                <a:cs typeface="Times New Roman" pitchFamily="18" charset="0"/>
              </a:rPr>
              <a:t>So extra inventory is needed in order to avoid shortage. This is called reserve stock, safety stock or buffer stock</a:t>
            </a:r>
          </a:p>
          <a:p>
            <a:pPr algn="just">
              <a:lnSpc>
                <a:spcPct val="160000"/>
              </a:lnSpc>
              <a:buFont typeface="Wingdings" pitchFamily="2" charset="2"/>
              <a:buChar char="Ø"/>
            </a:pPr>
            <a:r>
              <a:rPr lang="en-US" sz="2000" dirty="0">
                <a:latin typeface="Times New Roman" pitchFamily="18" charset="0"/>
                <a:cs typeface="Times New Roman" pitchFamily="18" charset="0"/>
              </a:rPr>
              <a:t>It should be optimum depending upon</a:t>
            </a:r>
          </a:p>
          <a:p>
            <a:pPr lvl="2" algn="just">
              <a:lnSpc>
                <a:spcPct val="160000"/>
              </a:lnSpc>
              <a:buFont typeface="Wingdings" pitchFamily="2" charset="2"/>
              <a:buChar char="§"/>
            </a:pPr>
            <a:r>
              <a:rPr lang="en-US" sz="2000" dirty="0">
                <a:latin typeface="Times New Roman" pitchFamily="18" charset="0"/>
                <a:cs typeface="Times New Roman" pitchFamily="18" charset="0"/>
              </a:rPr>
              <a:t>  Lead time demand</a:t>
            </a:r>
          </a:p>
          <a:p>
            <a:pPr lvl="2" algn="just">
              <a:lnSpc>
                <a:spcPct val="160000"/>
              </a:lnSpc>
              <a:buFont typeface="Wingdings" pitchFamily="2" charset="2"/>
              <a:buChar char="§"/>
            </a:pPr>
            <a:r>
              <a:rPr lang="en-US" sz="2000" dirty="0">
                <a:latin typeface="Times New Roman" pitchFamily="18" charset="0"/>
                <a:cs typeface="Times New Roman" pitchFamily="18" charset="0"/>
              </a:rPr>
              <a:t>  Carrying charges</a:t>
            </a:r>
          </a:p>
          <a:p>
            <a:pPr lvl="2" algn="just">
              <a:lnSpc>
                <a:spcPct val="160000"/>
              </a:lnSpc>
              <a:buFont typeface="Wingdings" pitchFamily="2" charset="2"/>
              <a:buChar char="§"/>
            </a:pPr>
            <a:r>
              <a:rPr lang="en-US" sz="2000" dirty="0">
                <a:latin typeface="Times New Roman" pitchFamily="18" charset="0"/>
                <a:cs typeface="Times New Roman" pitchFamily="18" charset="0"/>
              </a:rPr>
              <a:t>  Importance of items</a:t>
            </a:r>
            <a:endParaRPr lang="en-IN" sz="2000" dirty="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Determining inventory level</a:t>
            </a:r>
            <a:endParaRPr lang="en-IN" sz="3200" dirty="0"/>
          </a:p>
        </p:txBody>
      </p:sp>
      <p:sp>
        <p:nvSpPr>
          <p:cNvPr id="3" name="Content Placeholder 2"/>
          <p:cNvSpPr>
            <a:spLocks noGrp="1"/>
          </p:cNvSpPr>
          <p:nvPr>
            <p:ph idx="1"/>
          </p:nvPr>
        </p:nvSpPr>
        <p:spPr>
          <a:xfrm>
            <a:off x="457200" y="1052736"/>
            <a:ext cx="8435280" cy="5073427"/>
          </a:xfrm>
        </p:spPr>
        <p:txBody>
          <a:bodyPr>
            <a:normAutofit/>
          </a:bodyPr>
          <a:lstStyle/>
          <a:p>
            <a:pPr>
              <a:buFont typeface="Wingdings" pitchFamily="2" charset="2"/>
              <a:buChar char="v"/>
            </a:pPr>
            <a:r>
              <a:rPr lang="en-US" sz="2000" b="1" dirty="0">
                <a:latin typeface="Times New Roman" pitchFamily="18" charset="0"/>
                <a:cs typeface="Times New Roman" pitchFamily="18" charset="0"/>
              </a:rPr>
              <a:t>Reorder point</a:t>
            </a:r>
          </a:p>
          <a:p>
            <a:pPr algn="just">
              <a:lnSpc>
                <a:spcPct val="160000"/>
              </a:lnSpc>
              <a:buNone/>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This indicates the time (level of inventory) at which the purchase order should be initiated and if not done so, the production may stop due to shortage.</a:t>
            </a:r>
          </a:p>
          <a:p>
            <a:pPr algn="just">
              <a:lnSpc>
                <a:spcPct val="160000"/>
              </a:lnSpc>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t>
            </a:r>
            <a:r>
              <a:rPr lang="en-US" sz="2000" dirty="0">
                <a:latin typeface="Times New Roman" pitchFamily="18" charset="0"/>
                <a:cs typeface="Times New Roman" pitchFamily="18" charset="0"/>
              </a:rPr>
              <a:t>: Reorder point </a:t>
            </a:r>
          </a:p>
          <a:p>
            <a:pPr algn="just">
              <a:lnSpc>
                <a:spcPct val="160000"/>
              </a:lnSpc>
              <a:buNone/>
            </a:pPr>
            <a:r>
              <a:rPr lang="en-US" sz="2000" dirty="0">
                <a:latin typeface="Times New Roman" pitchFamily="18" charset="0"/>
                <a:cs typeface="Times New Roman" pitchFamily="18" charset="0"/>
              </a:rPr>
              <a:t>      			= safety stock + (lead time *consumption rate)</a:t>
            </a:r>
          </a:p>
          <a:p>
            <a:pPr algn="just">
              <a:lnSpc>
                <a:spcPct val="160000"/>
              </a:lnSpc>
              <a:buNone/>
            </a:pPr>
            <a:r>
              <a:rPr lang="en-US" sz="2000" dirty="0">
                <a:latin typeface="Times New Roman" pitchFamily="18" charset="0"/>
                <a:cs typeface="Times New Roman" pitchFamily="18" charset="0"/>
              </a:rPr>
              <a:t>      			= 100 units + ( 1 month* 200 units/month)</a:t>
            </a:r>
          </a:p>
          <a:p>
            <a:pPr algn="just">
              <a:lnSpc>
                <a:spcPct val="160000"/>
              </a:lnSpc>
              <a:buNone/>
            </a:pPr>
            <a:r>
              <a:rPr lang="en-US" sz="2000" dirty="0">
                <a:latin typeface="Times New Roman" pitchFamily="18" charset="0"/>
                <a:cs typeface="Times New Roman" pitchFamily="18" charset="0"/>
              </a:rPr>
              <a:t>     	 			=  300 units</a:t>
            </a:r>
            <a:endParaRPr lang="en-IN" sz="2000" dirty="0">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Inventory Vs time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descr="C:\Users\acer\Desktop\mrp_145.jpg"/>
          <p:cNvPicPr>
            <a:picLocks noGrp="1" noChangeAspect="1" noChangeArrowheads="1"/>
          </p:cNvPicPr>
          <p:nvPr>
            <p:ph idx="1"/>
          </p:nvPr>
        </p:nvPicPr>
        <p:blipFill>
          <a:blip r:embed="rId2" cstate="print"/>
          <a:srcRect/>
          <a:stretch>
            <a:fillRect/>
          </a:stretch>
        </p:blipFill>
        <p:spPr bwMode="auto">
          <a:xfrm>
            <a:off x="463124" y="1600200"/>
            <a:ext cx="8217751" cy="4525963"/>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Without safety stock</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1643042" y="2071678"/>
            <a:ext cx="5143536" cy="2715428"/>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Inventory Models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Rectangle 3"/>
          <p:cNvSpPr>
            <a:spLocks noGrp="1" noChangeArrowheads="1"/>
          </p:cNvSpPr>
          <p:nvPr>
            <p:ph idx="1"/>
          </p:nvPr>
        </p:nvSpPr>
        <p:spPr/>
        <p:txBody>
          <a:bodyPr>
            <a:normAutofit/>
          </a:bodyPr>
          <a:lstStyle/>
          <a:p>
            <a:pPr>
              <a:lnSpc>
                <a:spcPct val="200000"/>
              </a:lnSpc>
              <a:buFont typeface="Wingdings" pitchFamily="2" charset="2"/>
              <a:buChar char="Ø"/>
            </a:pPr>
            <a:r>
              <a:rPr lang="en-US" sz="2000" dirty="0">
                <a:latin typeface="Times New Roman" pitchFamily="18" charset="0"/>
                <a:cs typeface="Times New Roman" pitchFamily="18" charset="0"/>
              </a:rPr>
              <a:t>Inventory Models seek to find the best balance between finance, production &amp; marketing.</a:t>
            </a:r>
          </a:p>
          <a:p>
            <a:pPr>
              <a:lnSpc>
                <a:spcPct val="200000"/>
              </a:lnSpc>
              <a:buFont typeface="Wingdings" pitchFamily="2" charset="2"/>
              <a:buChar char="Ø"/>
            </a:pPr>
            <a:r>
              <a:rPr lang="en-US" sz="2000" dirty="0">
                <a:latin typeface="Times New Roman" pitchFamily="18" charset="0"/>
                <a:cs typeface="Times New Roman" pitchFamily="18" charset="0"/>
              </a:rPr>
              <a:t>When to order and how much to order.</a:t>
            </a:r>
          </a:p>
          <a:p>
            <a:endParaRPr lang="en-US" sz="2400"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93610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Inventory Models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179512" y="1556792"/>
            <a:ext cx="8784976" cy="5301208"/>
          </a:xfrm>
        </p:spPr>
        <p:txBody>
          <a:bodyPr>
            <a:normAutofit/>
          </a:bodyPr>
          <a:lstStyle/>
          <a:p>
            <a:pPr>
              <a:lnSpc>
                <a:spcPct val="150000"/>
              </a:lnSpc>
              <a:buFont typeface="Wingdings" pitchFamily="2" charset="2"/>
              <a:buChar char="v"/>
            </a:pPr>
            <a:r>
              <a:rPr lang="en-US" sz="2000" b="1" dirty="0">
                <a:latin typeface="Times New Roman" pitchFamily="18" charset="0"/>
                <a:cs typeface="Times New Roman" pitchFamily="18" charset="0"/>
              </a:rPr>
              <a:t>Static Inventory Models</a:t>
            </a:r>
          </a:p>
          <a:p>
            <a:pPr marL="682625" lvl="4" indent="-341313" algn="just">
              <a:lnSpc>
                <a:spcPct val="160000"/>
              </a:lnSpc>
              <a:buFont typeface="Wingdings" pitchFamily="2" charset="2"/>
              <a:buChar char="ü"/>
            </a:pPr>
            <a:r>
              <a:rPr lang="en-US" sz="2100" dirty="0">
                <a:latin typeface="Times New Roman" pitchFamily="18" charset="0"/>
                <a:cs typeface="Times New Roman" pitchFamily="18" charset="0"/>
              </a:rPr>
              <a:t>Static applies when one decision is allowed, about how much to buy for a constrained marketing window such as seasonal goods, perishable goods like vegetables, bread etc.</a:t>
            </a:r>
          </a:p>
          <a:p>
            <a:pPr marL="682625" lvl="4" indent="-341313" algn="just">
              <a:lnSpc>
                <a:spcPct val="160000"/>
              </a:lnSpc>
              <a:buFont typeface="Wingdings" pitchFamily="2" charset="2"/>
              <a:buChar char="ü"/>
            </a:pPr>
            <a:r>
              <a:rPr lang="en-US" sz="2100" dirty="0">
                <a:latin typeface="Times New Roman" pitchFamily="18" charset="0"/>
                <a:cs typeface="Times New Roman" pitchFamily="18" charset="0"/>
              </a:rPr>
              <a:t>In simple, only one order can be placed to meet the demand.</a:t>
            </a:r>
          </a:p>
          <a:p>
            <a:pPr marL="682625" lvl="4" indent="-341313" algn="just">
              <a:lnSpc>
                <a:spcPct val="160000"/>
              </a:lnSpc>
              <a:buFont typeface="Wingdings" pitchFamily="2" charset="2"/>
              <a:buChar char="ü"/>
            </a:pPr>
            <a:r>
              <a:rPr lang="en-US" sz="2100" dirty="0">
                <a:latin typeface="Times New Roman" pitchFamily="18" charset="0"/>
                <a:cs typeface="Times New Roman" pitchFamily="18" charset="0"/>
              </a:rPr>
              <a:t>Repeat orders are either impossible or too expensive.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93610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Inventory Models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179512" y="1052736"/>
            <a:ext cx="8784976" cy="5256584"/>
          </a:xfrm>
        </p:spPr>
        <p:txBody>
          <a:bodyPr>
            <a:noAutofit/>
          </a:bodyPr>
          <a:lstStyle/>
          <a:p>
            <a:pPr>
              <a:lnSpc>
                <a:spcPct val="150000"/>
              </a:lnSpc>
              <a:buFont typeface="Wingdings" pitchFamily="2" charset="2"/>
              <a:buChar char="v"/>
            </a:pPr>
            <a:r>
              <a:rPr lang="en-US" sz="2000" b="1" dirty="0">
                <a:latin typeface="Times New Roman" pitchFamily="18" charset="0"/>
                <a:cs typeface="Times New Roman" pitchFamily="18" charset="0"/>
              </a:rPr>
              <a:t>Dynamic Inventory Models</a:t>
            </a:r>
          </a:p>
          <a:p>
            <a:pPr marL="1200150" lvl="3" indent="-342900">
              <a:lnSpc>
                <a:spcPct val="200000"/>
              </a:lnSpc>
              <a:buFont typeface="Wingdings" pitchFamily="2" charset="2"/>
              <a:buChar char="q"/>
            </a:pPr>
            <a:r>
              <a:rPr lang="en-US" dirty="0">
                <a:latin typeface="Times New Roman" pitchFamily="18" charset="0"/>
                <a:cs typeface="Times New Roman" pitchFamily="18" charset="0"/>
              </a:rPr>
              <a:t>Dynamic situations require continuous decisions about how much to order at different points in time, </a:t>
            </a:r>
            <a:r>
              <a:rPr lang="en-US" dirty="0" err="1">
                <a:latin typeface="Times New Roman" pitchFamily="18" charset="0"/>
                <a:cs typeface="Times New Roman" pitchFamily="18" charset="0"/>
              </a:rPr>
              <a:t>ie</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repeat orders can be placed.</a:t>
            </a:r>
          </a:p>
          <a:p>
            <a:pPr marL="914400" lvl="1" indent="-514350">
              <a:buAutoNum type="alphaLcParenR"/>
            </a:pPr>
            <a:endParaRPr lang="en-US" sz="2000" dirty="0">
              <a:latin typeface="Times New Roman" pitchFamily="18" charset="0"/>
              <a:cs typeface="Times New Roman" pitchFamily="18" charset="0"/>
            </a:endParaRPr>
          </a:p>
          <a:p>
            <a:pPr marL="914400" lvl="1" indent="-514350">
              <a:buNone/>
            </a:pPr>
            <a:r>
              <a:rPr lang="en-US" sz="2000" dirty="0">
                <a:latin typeface="Times New Roman" pitchFamily="18" charset="0"/>
                <a:cs typeface="Times New Roman" pitchFamily="18" charset="0"/>
              </a:rPr>
              <a:t>	a) Deterministic models</a:t>
            </a:r>
          </a:p>
          <a:p>
            <a:pPr marL="2228850" lvl="4" indent="-514350">
              <a:buFont typeface="Wingdings" pitchFamily="2" charset="2"/>
              <a:buChar char="Ø"/>
            </a:pPr>
            <a:r>
              <a:rPr lang="en-US" dirty="0">
                <a:latin typeface="Times New Roman" pitchFamily="18" charset="0"/>
                <a:cs typeface="Times New Roman" pitchFamily="18" charset="0"/>
              </a:rPr>
              <a:t>demand and lead time of an item is constant, </a:t>
            </a:r>
            <a:r>
              <a:rPr lang="en-US" dirty="0" err="1">
                <a:latin typeface="Times New Roman" pitchFamily="18" charset="0"/>
                <a:cs typeface="Times New Roman" pitchFamily="18" charset="0"/>
              </a:rPr>
              <a:t>ie</a:t>
            </a:r>
            <a:r>
              <a:rPr lang="en-US" dirty="0">
                <a:latin typeface="Times New Roman" pitchFamily="18" charset="0"/>
                <a:cs typeface="Times New Roman" pitchFamily="18" charset="0"/>
              </a:rPr>
              <a:t>. known exactly</a:t>
            </a:r>
          </a:p>
          <a:p>
            <a:pPr marL="3143250" lvl="6" indent="-514350">
              <a:buFont typeface="Courier New" pitchFamily="49" charset="0"/>
              <a:buChar char="o"/>
            </a:pPr>
            <a:r>
              <a:rPr lang="en-US" dirty="0">
                <a:latin typeface="Times New Roman" pitchFamily="18" charset="0"/>
                <a:cs typeface="Times New Roman" pitchFamily="18" charset="0"/>
              </a:rPr>
              <a:t>Purchase model  </a:t>
            </a:r>
          </a:p>
          <a:p>
            <a:pPr marL="3143250" lvl="6" indent="-514350">
              <a:buFont typeface="Courier New" pitchFamily="49" charset="0"/>
              <a:buChar char="o"/>
            </a:pPr>
            <a:r>
              <a:rPr lang="en-US" dirty="0">
                <a:latin typeface="Times New Roman" pitchFamily="18" charset="0"/>
                <a:cs typeface="Times New Roman" pitchFamily="18" charset="0"/>
              </a:rPr>
              <a:t>Production inventory model</a:t>
            </a:r>
          </a:p>
          <a:p>
            <a:pPr marL="514350" indent="-514350">
              <a:buNone/>
            </a:pPr>
            <a:r>
              <a:rPr lang="en-US" sz="2000" dirty="0">
                <a:latin typeface="Times New Roman" pitchFamily="18" charset="0"/>
                <a:cs typeface="Times New Roman" pitchFamily="18" charset="0"/>
              </a:rPr>
              <a:t>		b) Probabilistic models</a:t>
            </a:r>
          </a:p>
          <a:p>
            <a:pPr marL="2228850" lvl="4" indent="-514350">
              <a:buFont typeface="Wingdings" pitchFamily="2" charset="2"/>
              <a:buChar char="Ø"/>
            </a:pPr>
            <a:r>
              <a:rPr lang="en-US" dirty="0">
                <a:latin typeface="Times New Roman" pitchFamily="18" charset="0"/>
                <a:cs typeface="Times New Roman" pitchFamily="18" charset="0"/>
              </a:rPr>
              <a:t>Variation in demand and lead time</a:t>
            </a:r>
            <a:endParaRPr lang="en-IN" dirty="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Inventory cost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980728"/>
            <a:ext cx="8435280" cy="5400600"/>
          </a:xfrm>
        </p:spPr>
        <p:txBody>
          <a:bodyPr>
            <a:noAutofit/>
          </a:bodyPr>
          <a:lstStyle/>
          <a:p>
            <a:pPr>
              <a:lnSpc>
                <a:spcPct val="150000"/>
              </a:lnSpc>
              <a:buNone/>
            </a:pPr>
            <a:r>
              <a:rPr lang="en-IN" sz="2000" dirty="0">
                <a:solidFill>
                  <a:srgbClr val="000000"/>
                </a:solidFill>
                <a:latin typeface="Times New Roman"/>
              </a:rPr>
              <a:t>Total inventory cost = Ordering cost + Carrying cost (Holding cost)</a:t>
            </a:r>
          </a:p>
          <a:p>
            <a:pPr lvl="5">
              <a:lnSpc>
                <a:spcPct val="150000"/>
              </a:lnSpc>
            </a:pPr>
            <a:r>
              <a:rPr lang="en-IN" dirty="0">
                <a:solidFill>
                  <a:srgbClr val="000000"/>
                </a:solidFill>
                <a:latin typeface="Times New Roman"/>
              </a:rPr>
              <a:t>Cost of ordering = Cₒ (Rs)</a:t>
            </a:r>
          </a:p>
          <a:p>
            <a:pPr lvl="5">
              <a:lnSpc>
                <a:spcPct val="150000"/>
              </a:lnSpc>
            </a:pPr>
            <a:r>
              <a:rPr lang="en-IN" dirty="0">
                <a:solidFill>
                  <a:srgbClr val="000000"/>
                </a:solidFill>
                <a:latin typeface="Times New Roman"/>
              </a:rPr>
              <a:t>Order quantity =q</a:t>
            </a:r>
          </a:p>
          <a:p>
            <a:pPr lvl="6">
              <a:lnSpc>
                <a:spcPct val="150000"/>
              </a:lnSpc>
              <a:buFont typeface="Wingdings" pitchFamily="2" charset="2"/>
              <a:buChar char="Ø"/>
            </a:pPr>
            <a:r>
              <a:rPr lang="en-IN" dirty="0">
                <a:solidFill>
                  <a:srgbClr val="000000"/>
                </a:solidFill>
                <a:latin typeface="Times New Roman"/>
              </a:rPr>
              <a:t>Unit cost of ordering = Cₒ / q</a:t>
            </a:r>
            <a:endParaRPr lang="en-US" dirty="0">
              <a:solidFill>
                <a:srgbClr val="000000"/>
              </a:solidFill>
              <a:latin typeface="Times New Roman"/>
            </a:endParaRPr>
          </a:p>
          <a:p>
            <a:pPr>
              <a:lnSpc>
                <a:spcPct val="150000"/>
              </a:lnSpc>
              <a:buNone/>
            </a:pPr>
            <a:r>
              <a:rPr lang="en-US" sz="2000" dirty="0">
                <a:solidFill>
                  <a:srgbClr val="000000"/>
                </a:solidFill>
                <a:latin typeface="Times New Roman"/>
              </a:rPr>
              <a:t>		If ‘s’ is the annual demand, then</a:t>
            </a:r>
          </a:p>
          <a:p>
            <a:pPr lvl="3">
              <a:lnSpc>
                <a:spcPct val="150000"/>
              </a:lnSpc>
              <a:buFont typeface="Wingdings" pitchFamily="2" charset="2"/>
              <a:buChar char="Ø"/>
            </a:pPr>
            <a:r>
              <a:rPr lang="en-US" dirty="0">
                <a:solidFill>
                  <a:srgbClr val="000000"/>
                </a:solidFill>
                <a:latin typeface="Times New Roman"/>
              </a:rPr>
              <a:t>Annual Ordering cost= </a:t>
            </a:r>
            <a:r>
              <a:rPr lang="en-IN" dirty="0">
                <a:solidFill>
                  <a:srgbClr val="000000"/>
                </a:solidFill>
                <a:latin typeface="Times New Roman"/>
              </a:rPr>
              <a:t>Cₒ / q * s</a:t>
            </a:r>
          </a:p>
          <a:p>
            <a:pPr lvl="3">
              <a:lnSpc>
                <a:spcPct val="150000"/>
              </a:lnSpc>
              <a:buFont typeface="Wingdings" pitchFamily="2" charset="2"/>
              <a:buChar char="Ø"/>
            </a:pPr>
            <a:r>
              <a:rPr lang="en-IN" dirty="0">
                <a:latin typeface="Times New Roman" pitchFamily="18" charset="0"/>
                <a:cs typeface="Times New Roman" pitchFamily="18" charset="0"/>
              </a:rPr>
              <a:t>Annual Carrying cost =Cu * i * q/2</a:t>
            </a:r>
            <a:endParaRPr lang="en-IN" sz="2000" dirty="0">
              <a:latin typeface="Times New Roman" pitchFamily="18" charset="0"/>
              <a:cs typeface="Times New Roman" pitchFamily="18" charset="0"/>
            </a:endParaRPr>
          </a:p>
          <a:p>
            <a:pPr lvl="4">
              <a:lnSpc>
                <a:spcPct val="150000"/>
              </a:lnSpc>
            </a:pPr>
            <a:r>
              <a:rPr lang="en-IN" dirty="0">
                <a:latin typeface="Times New Roman" pitchFamily="18" charset="0"/>
                <a:cs typeface="Times New Roman" pitchFamily="18" charset="0"/>
              </a:rPr>
              <a:t>Cu = Unit purchase cost</a:t>
            </a:r>
          </a:p>
          <a:p>
            <a:pPr lvl="4">
              <a:lnSpc>
                <a:spcPct val="150000"/>
              </a:lnSpc>
            </a:pPr>
            <a:r>
              <a:rPr lang="en-IN" dirty="0">
                <a:latin typeface="Times New Roman" pitchFamily="18" charset="0"/>
                <a:cs typeface="Times New Roman" pitchFamily="18" charset="0"/>
              </a:rPr>
              <a:t>i = Interest rate</a:t>
            </a:r>
          </a:p>
          <a:p>
            <a:pPr lvl="4">
              <a:lnSpc>
                <a:spcPct val="150000"/>
              </a:lnSpc>
            </a:pPr>
            <a:r>
              <a:rPr lang="en-IN" dirty="0">
                <a:latin typeface="Times New Roman" pitchFamily="18" charset="0"/>
                <a:cs typeface="Times New Roman" pitchFamily="18" charset="0"/>
              </a:rPr>
              <a:t>q/2 = avg. inventory level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Economic Order Quantity (EOQ)</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980728"/>
            <a:ext cx="8435280" cy="5400600"/>
          </a:xfrm>
        </p:spPr>
        <p:txBody>
          <a:bodyPr>
            <a:noAutofit/>
          </a:bodyPr>
          <a:lstStyle/>
          <a:p>
            <a:pPr algn="just">
              <a:lnSpc>
                <a:spcPct val="200000"/>
              </a:lnSpc>
              <a:buFont typeface="Wingdings" pitchFamily="2" charset="2"/>
              <a:buChar char="Ø"/>
            </a:pPr>
            <a:r>
              <a:rPr lang="en-US" sz="2000" dirty="0">
                <a:latin typeface="Times New Roman" pitchFamily="18" charset="0"/>
                <a:cs typeface="Times New Roman" pitchFamily="18" charset="0"/>
              </a:rPr>
              <a:t>The economic order quantity is the size of an inventory order which minimizes the inventory cost. The inventory cost is the sum of procurement cost and carrying cost.</a:t>
            </a:r>
          </a:p>
          <a:p>
            <a:pPr>
              <a:lnSpc>
                <a:spcPct val="200000"/>
              </a:lnSpc>
              <a:buNone/>
            </a:pPr>
            <a:r>
              <a:rPr lang="en-US" sz="2000" dirty="0">
                <a:latin typeface="Times New Roman" pitchFamily="18" charset="0"/>
                <a:cs typeface="Times New Roman" pitchFamily="18" charset="0"/>
              </a:rPr>
              <a:t>To determine EOQ two extreme views are encountered:</a:t>
            </a:r>
          </a:p>
          <a:p>
            <a:pPr lvl="2">
              <a:lnSpc>
                <a:spcPct val="200000"/>
              </a:lnSpc>
              <a:buFont typeface="Wingdings" pitchFamily="2" charset="2"/>
              <a:buChar char="q"/>
            </a:pPr>
            <a:r>
              <a:rPr lang="en-US" sz="2000" dirty="0">
                <a:latin typeface="Times New Roman" pitchFamily="18" charset="0"/>
                <a:cs typeface="Times New Roman" pitchFamily="18" charset="0"/>
              </a:rPr>
              <a:t>  Order for very large lots (Produce in very large lots) to minimize the   	procurement cost (to minimize set up cost)</a:t>
            </a:r>
          </a:p>
          <a:p>
            <a:pPr lvl="2">
              <a:lnSpc>
                <a:spcPct val="200000"/>
              </a:lnSpc>
              <a:buFont typeface="Wingdings" pitchFamily="2" charset="2"/>
              <a:buChar char="q"/>
            </a:pPr>
            <a:r>
              <a:rPr lang="en-US" sz="2000" dirty="0">
                <a:latin typeface="Times New Roman" pitchFamily="18" charset="0"/>
                <a:cs typeface="Times New Roman" pitchFamily="18" charset="0"/>
              </a:rPr>
              <a:t>  Order for every small lots (produce in very small lots) to minimize 	the storage cost or carrying cost.</a:t>
            </a:r>
            <a:endParaRPr lang="en-IN" sz="2000" dirty="0">
              <a:latin typeface="Times New Roman" pitchFamily="18" charset="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Economic Order Quantity (EOQ)</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288031" y="692696"/>
            <a:ext cx="6292969" cy="3960440"/>
          </a:xfrm>
          <a:prstGeom prst="rect">
            <a:avLst/>
          </a:prstGeom>
          <a:noFill/>
          <a:ln w="9525">
            <a:noFill/>
            <a:miter lim="800000"/>
            <a:headEnd/>
            <a:tailEnd/>
          </a:ln>
        </p:spPr>
      </p:pic>
      <p:sp>
        <p:nvSpPr>
          <p:cNvPr id="5" name="TextBox 4"/>
          <p:cNvSpPr txBox="1"/>
          <p:nvPr/>
        </p:nvSpPr>
        <p:spPr>
          <a:xfrm>
            <a:off x="5796136" y="1628800"/>
            <a:ext cx="3347864" cy="707886"/>
          </a:xfrm>
          <a:prstGeom prst="rect">
            <a:avLst/>
          </a:prstGeom>
          <a:noFill/>
        </p:spPr>
        <p:txBody>
          <a:bodyPr wrap="square" rtlCol="0">
            <a:spAutoFit/>
          </a:bodyPr>
          <a:lstStyle/>
          <a:p>
            <a:pPr algn="ctr"/>
            <a:r>
              <a:rPr lang="en-US" sz="2000" b="1" i="1" dirty="0">
                <a:solidFill>
                  <a:srgbClr val="FF0000"/>
                </a:solidFill>
                <a:latin typeface="Times New Roman" pitchFamily="18" charset="0"/>
                <a:cs typeface="Times New Roman" pitchFamily="18" charset="0"/>
              </a:rPr>
              <a:t>Procurement cost =</a:t>
            </a:r>
          </a:p>
          <a:p>
            <a:pPr algn="ctr"/>
            <a:r>
              <a:rPr lang="en-US" sz="2000" b="1" i="1" dirty="0">
                <a:solidFill>
                  <a:srgbClr val="FF0000"/>
                </a:solidFill>
                <a:latin typeface="Times New Roman" pitchFamily="18" charset="0"/>
                <a:cs typeface="Times New Roman" pitchFamily="18" charset="0"/>
              </a:rPr>
              <a:t> Carrying cost</a:t>
            </a:r>
            <a:endParaRPr lang="en-US" sz="2000" b="1" dirty="0">
              <a:solidFill>
                <a:srgbClr val="FF0000"/>
              </a:solidFill>
              <a:latin typeface="Times New Roman" pitchFamily="18" charset="0"/>
              <a:cs typeface="Times New Roman" pitchFamily="18" charset="0"/>
            </a:endParaRPr>
          </a:p>
        </p:txBody>
      </p:sp>
      <p:sp>
        <p:nvSpPr>
          <p:cNvPr id="7" name="TextBox 6"/>
          <p:cNvSpPr txBox="1"/>
          <p:nvPr/>
        </p:nvSpPr>
        <p:spPr>
          <a:xfrm>
            <a:off x="683568" y="4581128"/>
            <a:ext cx="8064896" cy="1815882"/>
          </a:xfrm>
          <a:prstGeom prst="rect">
            <a:avLst/>
          </a:prstGeom>
          <a:noFill/>
        </p:spPr>
        <p:txBody>
          <a:bodyPr wrap="square" rtlCol="0">
            <a:spAutoFit/>
          </a:bodyPr>
          <a:lstStyle/>
          <a:p>
            <a:r>
              <a:rPr lang="en-US" sz="2000" dirty="0">
                <a:latin typeface="Times New Roman" pitchFamily="18" charset="0"/>
                <a:cs typeface="Times New Roman" pitchFamily="18" charset="0"/>
              </a:rPr>
              <a:t>Purchasing Model with No Shortage</a:t>
            </a:r>
          </a:p>
          <a:p>
            <a:r>
              <a:rPr lang="en-US" sz="2000" dirty="0">
                <a:latin typeface="Times New Roman" pitchFamily="18" charset="0"/>
                <a:cs typeface="Times New Roman" pitchFamily="18" charset="0"/>
              </a:rPr>
              <a:t>Assumptions</a:t>
            </a:r>
          </a:p>
          <a:p>
            <a:pPr marL="342900" indent="-342900" algn="just">
              <a:spcBef>
                <a:spcPct val="20000"/>
              </a:spcBef>
              <a:buFont typeface="Wingdings" pitchFamily="2" charset="2"/>
              <a:buChar char="Ø"/>
            </a:pPr>
            <a:r>
              <a:rPr lang="en-US" sz="2000" dirty="0">
                <a:latin typeface="Times New Roman" pitchFamily="18" charset="0"/>
                <a:cs typeface="Times New Roman" pitchFamily="18" charset="0"/>
              </a:rPr>
              <a:t>Fixed demand rate ( fixed production rate)</a:t>
            </a:r>
          </a:p>
          <a:p>
            <a:pPr marL="342900" indent="-342900" algn="just">
              <a:spcBef>
                <a:spcPct val="20000"/>
              </a:spcBef>
              <a:buFont typeface="Wingdings" pitchFamily="2" charset="2"/>
              <a:buChar char="Ø"/>
            </a:pPr>
            <a:r>
              <a:rPr lang="en-US" sz="2000" dirty="0">
                <a:latin typeface="Times New Roman" pitchFamily="18" charset="0"/>
                <a:cs typeface="Times New Roman" pitchFamily="18" charset="0"/>
              </a:rPr>
              <a:t>Instantaneous replacement (Lead time = 0)</a:t>
            </a:r>
          </a:p>
          <a:p>
            <a:pPr marL="342900" indent="-342900" algn="just">
              <a:spcBef>
                <a:spcPct val="20000"/>
              </a:spcBef>
              <a:buFont typeface="Wingdings" pitchFamily="2" charset="2"/>
              <a:buChar char="Ø"/>
            </a:pPr>
            <a:r>
              <a:rPr lang="en-US" sz="2000" dirty="0">
                <a:latin typeface="Times New Roman" pitchFamily="18" charset="0"/>
                <a:cs typeface="Times New Roman" pitchFamily="18" charset="0"/>
              </a:rPr>
              <a:t>No shortage is permitted.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Economic Order Quantity (EOQ)</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251520" y="980728"/>
            <a:ext cx="8892480" cy="5544616"/>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Economic Order Quantity (EOQ)</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srcRect/>
          <a:stretch>
            <a:fillRect/>
          </a:stretch>
        </p:blipFill>
        <p:spPr bwMode="auto">
          <a:xfrm>
            <a:off x="467543" y="1340768"/>
            <a:ext cx="8676457" cy="5034334"/>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Economic Order Quantity (EOQ)</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cstate="print"/>
          <a:srcRect/>
          <a:stretch>
            <a:fillRect/>
          </a:stretch>
        </p:blipFill>
        <p:spPr bwMode="auto">
          <a:xfrm>
            <a:off x="1043608" y="3861048"/>
            <a:ext cx="7272808" cy="2801378"/>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251520" y="1340768"/>
            <a:ext cx="8584693" cy="2304256"/>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Economic Order Quantity (EOQ)</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cstate="print"/>
          <a:srcRect/>
          <a:stretch>
            <a:fillRect/>
          </a:stretch>
        </p:blipFill>
        <p:spPr bwMode="auto">
          <a:xfrm>
            <a:off x="539552" y="692696"/>
            <a:ext cx="7992888" cy="6165305"/>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marL="342900" indent="-342900">
              <a:lnSpc>
                <a:spcPct val="160000"/>
              </a:lnSpc>
              <a:spcBef>
                <a:spcPct val="20000"/>
              </a:spcBef>
            </a:pPr>
            <a:r>
              <a:rPr lang="en-US" sz="3200" b="1" dirty="0">
                <a:effectLst>
                  <a:outerShdw blurRad="38100" dist="38100" dir="2700000" algn="tl">
                    <a:srgbClr val="000000">
                      <a:alpha val="43137"/>
                    </a:srgbClr>
                  </a:outerShdw>
                </a:effectLst>
                <a:latin typeface="Times New Roman" pitchFamily="18" charset="0"/>
                <a:ea typeface="+mn-ea"/>
                <a:cs typeface="Times New Roman" pitchFamily="18" charset="0"/>
              </a:rPr>
              <a:t>Material Requirement Planning (MRP)</a:t>
            </a:r>
          </a:p>
        </p:txBody>
      </p:sp>
      <p:sp>
        <p:nvSpPr>
          <p:cNvPr id="5" name="Subtitle 4"/>
          <p:cNvSpPr>
            <a:spLocks noGrp="1"/>
          </p:cNvSpPr>
          <p:nvPr>
            <p:ph type="subTitle" idx="1"/>
          </p:nvPr>
        </p:nvSpPr>
        <p:spPr/>
        <p:txBody>
          <a:bodyPr/>
          <a:lstStyle/>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685800" y="332656"/>
            <a:ext cx="7772400" cy="792088"/>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Material Requirements Planning (MRP)</a:t>
            </a:r>
          </a:p>
        </p:txBody>
      </p:sp>
      <p:sp>
        <p:nvSpPr>
          <p:cNvPr id="2051" name="Rectangle 3"/>
          <p:cNvSpPr>
            <a:spLocks noGrp="1" noChangeArrowheads="1"/>
          </p:cNvSpPr>
          <p:nvPr>
            <p:ph idx="1"/>
          </p:nvPr>
        </p:nvSpPr>
        <p:spPr>
          <a:xfrm>
            <a:off x="457200" y="1268760"/>
            <a:ext cx="8363272" cy="4857403"/>
          </a:xfrm>
        </p:spPr>
        <p:txBody>
          <a:bodyPr>
            <a:noAutofit/>
          </a:bodyPr>
          <a:lstStyle/>
          <a:p>
            <a:pPr marL="463550" lvl="3" indent="-354013" algn="just">
              <a:lnSpc>
                <a:spcPct val="150000"/>
              </a:lnSpc>
              <a:buFont typeface="Wingdings" pitchFamily="2" charset="2"/>
              <a:buChar char="q"/>
            </a:pPr>
            <a:r>
              <a:rPr lang="en-US" sz="2200" dirty="0">
                <a:latin typeface="Times New Roman" pitchFamily="18" charset="0"/>
                <a:cs typeface="Times New Roman" pitchFamily="18" charset="0"/>
              </a:rPr>
              <a:t>Material Requirement Planning (MRP) refers to the basic calculations used to determine component requirements from end item requirements. </a:t>
            </a:r>
          </a:p>
          <a:p>
            <a:pPr marL="463550" lvl="3" indent="-354013" algn="just">
              <a:lnSpc>
                <a:spcPct val="150000"/>
              </a:lnSpc>
              <a:buFont typeface="Wingdings" pitchFamily="2" charset="2"/>
              <a:buChar char="q"/>
            </a:pPr>
            <a:r>
              <a:rPr lang="en-US" sz="2200" dirty="0">
                <a:latin typeface="Times New Roman" pitchFamily="18" charset="0"/>
                <a:cs typeface="Times New Roman" pitchFamily="18" charset="0"/>
              </a:rPr>
              <a:t>It also refers to a broader information system that uses the dependence relationship to plan and control manufacturing operations. </a:t>
            </a:r>
          </a:p>
          <a:p>
            <a:pPr marL="463550" lvl="3" indent="-354013" algn="just">
              <a:lnSpc>
                <a:spcPct val="150000"/>
              </a:lnSpc>
              <a:buFont typeface="Wingdings" pitchFamily="2" charset="2"/>
              <a:buChar char="q"/>
            </a:pPr>
            <a:r>
              <a:rPr lang="en-US" sz="2200" dirty="0">
                <a:latin typeface="Times New Roman" pitchFamily="18" charset="0"/>
                <a:cs typeface="Times New Roman" pitchFamily="18" charset="0"/>
              </a:rPr>
              <a:t>MRP is a technique for determining the quantity and timing for the acquisition of dependent demand items needed to satisfy master production schedule requirements.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685800" y="332656"/>
            <a:ext cx="7772400" cy="792088"/>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Material Requirements Planning (MRP)</a:t>
            </a:r>
          </a:p>
        </p:txBody>
      </p:sp>
      <p:sp>
        <p:nvSpPr>
          <p:cNvPr id="2051" name="Rectangle 3"/>
          <p:cNvSpPr>
            <a:spLocks noGrp="1" noChangeArrowheads="1"/>
          </p:cNvSpPr>
          <p:nvPr>
            <p:ph idx="1"/>
          </p:nvPr>
        </p:nvSpPr>
        <p:spPr>
          <a:xfrm>
            <a:off x="457200" y="1268760"/>
            <a:ext cx="8363272" cy="4857403"/>
          </a:xfrm>
        </p:spPr>
        <p:txBody>
          <a:bodyPr>
            <a:noAutofit/>
          </a:bodyPr>
          <a:lstStyle/>
          <a:p>
            <a:pPr marL="463550" lvl="3" indent="-354013" algn="just">
              <a:lnSpc>
                <a:spcPct val="200000"/>
              </a:lnSpc>
              <a:buFont typeface="Wingdings" pitchFamily="2" charset="2"/>
              <a:buChar char="q"/>
            </a:pPr>
            <a:r>
              <a:rPr lang="en-US" sz="2200" dirty="0">
                <a:latin typeface="Times New Roman" pitchFamily="18" charset="0"/>
                <a:cs typeface="Times New Roman" pitchFamily="18" charset="0"/>
              </a:rPr>
              <a:t>Computer-based information system for ordering and scheduling of  inventories, i.e. what is needed, how much is needed, and when is it needed</a:t>
            </a:r>
          </a:p>
          <a:p>
            <a:pPr algn="just">
              <a:lnSpc>
                <a:spcPct val="200000"/>
              </a:lnSpc>
              <a:buFont typeface="Wingdings" pitchFamily="2" charset="2"/>
              <a:buChar char="Ø"/>
            </a:pPr>
            <a:r>
              <a:rPr lang="en-US" sz="2200" dirty="0">
                <a:latin typeface="Times New Roman" pitchFamily="18" charset="0"/>
                <a:cs typeface="Times New Roman" pitchFamily="18" charset="0"/>
              </a:rPr>
              <a:t> Functions of MRP system</a:t>
            </a:r>
          </a:p>
          <a:p>
            <a:pPr lvl="2" algn="just">
              <a:lnSpc>
                <a:spcPct val="200000"/>
              </a:lnSpc>
              <a:buFont typeface="Wingdings" pitchFamily="2" charset="2"/>
              <a:buChar char="ü"/>
            </a:pPr>
            <a:r>
              <a:rPr lang="en-US" sz="2200" dirty="0">
                <a:latin typeface="Times New Roman" pitchFamily="18" charset="0"/>
                <a:cs typeface="Times New Roman" pitchFamily="18" charset="0"/>
              </a:rPr>
              <a:t>Control of inventory levels</a:t>
            </a:r>
          </a:p>
          <a:p>
            <a:pPr lvl="2" algn="just">
              <a:lnSpc>
                <a:spcPct val="200000"/>
              </a:lnSpc>
              <a:buFont typeface="Wingdings" pitchFamily="2" charset="2"/>
              <a:buChar char="ü"/>
            </a:pPr>
            <a:r>
              <a:rPr lang="en-US" sz="2200" dirty="0">
                <a:latin typeface="Times New Roman" pitchFamily="18" charset="0"/>
                <a:cs typeface="Times New Roman" pitchFamily="18" charset="0"/>
              </a:rPr>
              <a:t>Assignments of priorities for components</a:t>
            </a:r>
          </a:p>
          <a:p>
            <a:pPr lvl="2" algn="just">
              <a:lnSpc>
                <a:spcPct val="200000"/>
              </a:lnSpc>
              <a:buFont typeface="Wingdings" pitchFamily="2" charset="2"/>
              <a:buChar char="ü"/>
            </a:pPr>
            <a:r>
              <a:rPr lang="en-US" sz="2200" dirty="0">
                <a:latin typeface="Times New Roman" pitchFamily="18" charset="0"/>
                <a:cs typeface="Times New Roman" pitchFamily="18" charset="0"/>
              </a:rPr>
              <a:t>Determination of capacity requirements at a detailed level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685800" y="332656"/>
            <a:ext cx="7772400" cy="1080120"/>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Objectives of MRP</a:t>
            </a:r>
          </a:p>
        </p:txBody>
      </p:sp>
      <p:sp>
        <p:nvSpPr>
          <p:cNvPr id="2051" name="Rectangle 3"/>
          <p:cNvSpPr>
            <a:spLocks noGrp="1" noChangeArrowheads="1"/>
          </p:cNvSpPr>
          <p:nvPr>
            <p:ph idx="1"/>
          </p:nvPr>
        </p:nvSpPr>
        <p:spPr>
          <a:xfrm>
            <a:off x="539552" y="1556792"/>
            <a:ext cx="8363272" cy="4857403"/>
          </a:xfrm>
        </p:spPr>
        <p:txBody>
          <a:bodyPr>
            <a:noAutofit/>
          </a:bodyPr>
          <a:lstStyle/>
          <a:p>
            <a:pPr marL="463550" lvl="3" indent="-354013" algn="just">
              <a:lnSpc>
                <a:spcPct val="200000"/>
              </a:lnSpc>
              <a:buFont typeface="Wingdings" pitchFamily="2" charset="2"/>
              <a:buChar char="q"/>
            </a:pPr>
            <a:r>
              <a:rPr lang="en-US" sz="2200" dirty="0">
                <a:latin typeface="Times New Roman" pitchFamily="18" charset="0"/>
                <a:cs typeface="Times New Roman" pitchFamily="18" charset="0"/>
              </a:rPr>
              <a:t>Inventory reduction</a:t>
            </a:r>
          </a:p>
          <a:p>
            <a:pPr marL="463550" lvl="3" indent="-354013" algn="just">
              <a:lnSpc>
                <a:spcPct val="200000"/>
              </a:lnSpc>
              <a:buFont typeface="Wingdings" pitchFamily="2" charset="2"/>
              <a:buChar char="q"/>
            </a:pPr>
            <a:r>
              <a:rPr lang="en-US" sz="2200" dirty="0">
                <a:latin typeface="Times New Roman" pitchFamily="18" charset="0"/>
                <a:cs typeface="Times New Roman" pitchFamily="18" charset="0"/>
              </a:rPr>
              <a:t>Reduction in the manufacturing and delivery lead times</a:t>
            </a:r>
          </a:p>
          <a:p>
            <a:pPr marL="463550" lvl="3" indent="-354013" algn="just">
              <a:lnSpc>
                <a:spcPct val="200000"/>
              </a:lnSpc>
              <a:buFont typeface="Wingdings" pitchFamily="2" charset="2"/>
              <a:buChar char="q"/>
            </a:pPr>
            <a:r>
              <a:rPr lang="en-US" sz="2200" dirty="0">
                <a:latin typeface="Times New Roman" pitchFamily="18" charset="0"/>
                <a:cs typeface="Times New Roman" pitchFamily="18" charset="0"/>
              </a:rPr>
              <a:t>Realistic delivery commitments</a:t>
            </a:r>
          </a:p>
          <a:p>
            <a:pPr marL="463550" lvl="3" indent="-354013" algn="just">
              <a:lnSpc>
                <a:spcPct val="200000"/>
              </a:lnSpc>
              <a:buFont typeface="Wingdings" pitchFamily="2" charset="2"/>
              <a:buChar char="q"/>
            </a:pPr>
            <a:r>
              <a:rPr lang="en-US" sz="2200" dirty="0">
                <a:latin typeface="Times New Roman" pitchFamily="18" charset="0"/>
                <a:cs typeface="Times New Roman" pitchFamily="18" charset="0"/>
              </a:rPr>
              <a:t>Increased efficiency</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71513" y="838200"/>
            <a:ext cx="8076951" cy="5381625"/>
            <a:chOff x="350" y="624"/>
            <a:chExt cx="5226" cy="3390"/>
          </a:xfrm>
        </p:grpSpPr>
        <p:sp>
          <p:nvSpPr>
            <p:cNvPr id="16387" name="Line 3"/>
            <p:cNvSpPr>
              <a:spLocks noChangeShapeType="1"/>
            </p:cNvSpPr>
            <p:nvPr/>
          </p:nvSpPr>
          <p:spPr bwMode="auto">
            <a:xfrm>
              <a:off x="1740" y="719"/>
              <a:ext cx="0" cy="3271"/>
            </a:xfrm>
            <a:prstGeom prst="line">
              <a:avLst/>
            </a:prstGeom>
            <a:noFill/>
            <a:ln w="12700">
              <a:solidFill>
                <a:schemeClr val="tx1"/>
              </a:solidFill>
              <a:round/>
              <a:headEnd/>
              <a:tailEnd/>
            </a:ln>
            <a:effectLst/>
          </p:spPr>
          <p:txBody>
            <a:bodyPr wrap="none" anchor="ctr"/>
            <a:lstStyle/>
            <a:p>
              <a:endParaRPr lang="en-IN"/>
            </a:p>
          </p:txBody>
        </p:sp>
        <p:sp>
          <p:nvSpPr>
            <p:cNvPr id="16388" name="Line 4"/>
            <p:cNvSpPr>
              <a:spLocks noChangeShapeType="1"/>
            </p:cNvSpPr>
            <p:nvPr/>
          </p:nvSpPr>
          <p:spPr bwMode="auto">
            <a:xfrm>
              <a:off x="3312" y="624"/>
              <a:ext cx="12" cy="3390"/>
            </a:xfrm>
            <a:prstGeom prst="line">
              <a:avLst/>
            </a:prstGeom>
            <a:noFill/>
            <a:ln w="12700">
              <a:solidFill>
                <a:schemeClr val="tx1"/>
              </a:solidFill>
              <a:round/>
              <a:headEnd/>
              <a:tailEnd/>
            </a:ln>
            <a:effectLst/>
          </p:spPr>
          <p:txBody>
            <a:bodyPr wrap="none" anchor="ctr"/>
            <a:lstStyle/>
            <a:p>
              <a:endParaRPr lang="en-IN"/>
            </a:p>
          </p:txBody>
        </p:sp>
        <p:grpSp>
          <p:nvGrpSpPr>
            <p:cNvPr id="3" name="Group 5"/>
            <p:cNvGrpSpPr>
              <a:grpSpLocks/>
            </p:cNvGrpSpPr>
            <p:nvPr/>
          </p:nvGrpSpPr>
          <p:grpSpPr bwMode="auto">
            <a:xfrm>
              <a:off x="350" y="698"/>
              <a:ext cx="5226" cy="3250"/>
              <a:chOff x="350" y="672"/>
              <a:chExt cx="5226" cy="3250"/>
            </a:xfrm>
          </p:grpSpPr>
          <p:grpSp>
            <p:nvGrpSpPr>
              <p:cNvPr id="4" name="Group 6"/>
              <p:cNvGrpSpPr>
                <a:grpSpLocks/>
              </p:cNvGrpSpPr>
              <p:nvPr/>
            </p:nvGrpSpPr>
            <p:grpSpPr bwMode="auto">
              <a:xfrm>
                <a:off x="580" y="2091"/>
                <a:ext cx="789" cy="847"/>
                <a:chOff x="580" y="2293"/>
                <a:chExt cx="789" cy="847"/>
              </a:xfrm>
            </p:grpSpPr>
            <p:sp>
              <p:nvSpPr>
                <p:cNvPr id="16391" name="Freeform 7"/>
                <p:cNvSpPr>
                  <a:spLocks/>
                </p:cNvSpPr>
                <p:nvPr/>
              </p:nvSpPr>
              <p:spPr bwMode="auto">
                <a:xfrm>
                  <a:off x="588" y="2431"/>
                  <a:ext cx="781" cy="709"/>
                </a:xfrm>
                <a:custGeom>
                  <a:avLst/>
                  <a:gdLst/>
                  <a:ahLst/>
                  <a:cxnLst>
                    <a:cxn ang="0">
                      <a:pos x="780" y="8"/>
                    </a:cxn>
                    <a:cxn ang="0">
                      <a:pos x="780" y="584"/>
                    </a:cxn>
                    <a:cxn ang="0">
                      <a:pos x="768" y="606"/>
                    </a:cxn>
                    <a:cxn ang="0">
                      <a:pos x="749" y="626"/>
                    </a:cxn>
                    <a:cxn ang="0">
                      <a:pos x="721" y="644"/>
                    </a:cxn>
                    <a:cxn ang="0">
                      <a:pos x="684" y="662"/>
                    </a:cxn>
                    <a:cxn ang="0">
                      <a:pos x="635" y="678"/>
                    </a:cxn>
                    <a:cxn ang="0">
                      <a:pos x="582" y="690"/>
                    </a:cxn>
                    <a:cxn ang="0">
                      <a:pos x="526" y="698"/>
                    </a:cxn>
                    <a:cxn ang="0">
                      <a:pos x="474" y="704"/>
                    </a:cxn>
                    <a:cxn ang="0">
                      <a:pos x="424" y="708"/>
                    </a:cxn>
                    <a:cxn ang="0">
                      <a:pos x="371" y="708"/>
                    </a:cxn>
                    <a:cxn ang="0">
                      <a:pos x="310" y="704"/>
                    </a:cxn>
                    <a:cxn ang="0">
                      <a:pos x="257" y="700"/>
                    </a:cxn>
                    <a:cxn ang="0">
                      <a:pos x="201" y="692"/>
                    </a:cxn>
                    <a:cxn ang="0">
                      <a:pos x="152" y="680"/>
                    </a:cxn>
                    <a:cxn ang="0">
                      <a:pos x="111" y="668"/>
                    </a:cxn>
                    <a:cxn ang="0">
                      <a:pos x="71" y="652"/>
                    </a:cxn>
                    <a:cxn ang="0">
                      <a:pos x="40" y="634"/>
                    </a:cxn>
                    <a:cxn ang="0">
                      <a:pos x="25" y="622"/>
                    </a:cxn>
                    <a:cxn ang="0">
                      <a:pos x="9" y="604"/>
                    </a:cxn>
                    <a:cxn ang="0">
                      <a:pos x="0" y="582"/>
                    </a:cxn>
                    <a:cxn ang="0">
                      <a:pos x="0" y="0"/>
                    </a:cxn>
                    <a:cxn ang="0">
                      <a:pos x="780" y="8"/>
                    </a:cxn>
                  </a:cxnLst>
                  <a:rect l="0" t="0" r="r" b="b"/>
                  <a:pathLst>
                    <a:path w="781" h="709">
                      <a:moveTo>
                        <a:pt x="780" y="8"/>
                      </a:moveTo>
                      <a:lnTo>
                        <a:pt x="780" y="584"/>
                      </a:lnTo>
                      <a:lnTo>
                        <a:pt x="768" y="606"/>
                      </a:lnTo>
                      <a:lnTo>
                        <a:pt x="749" y="626"/>
                      </a:lnTo>
                      <a:lnTo>
                        <a:pt x="721" y="644"/>
                      </a:lnTo>
                      <a:lnTo>
                        <a:pt x="684" y="662"/>
                      </a:lnTo>
                      <a:lnTo>
                        <a:pt x="635" y="678"/>
                      </a:lnTo>
                      <a:lnTo>
                        <a:pt x="582" y="690"/>
                      </a:lnTo>
                      <a:lnTo>
                        <a:pt x="526" y="698"/>
                      </a:lnTo>
                      <a:lnTo>
                        <a:pt x="474" y="704"/>
                      </a:lnTo>
                      <a:lnTo>
                        <a:pt x="424" y="708"/>
                      </a:lnTo>
                      <a:lnTo>
                        <a:pt x="371" y="708"/>
                      </a:lnTo>
                      <a:lnTo>
                        <a:pt x="310" y="704"/>
                      </a:lnTo>
                      <a:lnTo>
                        <a:pt x="257" y="700"/>
                      </a:lnTo>
                      <a:lnTo>
                        <a:pt x="201" y="692"/>
                      </a:lnTo>
                      <a:lnTo>
                        <a:pt x="152" y="680"/>
                      </a:lnTo>
                      <a:lnTo>
                        <a:pt x="111" y="668"/>
                      </a:lnTo>
                      <a:lnTo>
                        <a:pt x="71" y="652"/>
                      </a:lnTo>
                      <a:lnTo>
                        <a:pt x="40" y="634"/>
                      </a:lnTo>
                      <a:lnTo>
                        <a:pt x="25" y="622"/>
                      </a:lnTo>
                      <a:lnTo>
                        <a:pt x="9" y="604"/>
                      </a:lnTo>
                      <a:lnTo>
                        <a:pt x="0" y="582"/>
                      </a:lnTo>
                      <a:lnTo>
                        <a:pt x="0" y="0"/>
                      </a:lnTo>
                      <a:lnTo>
                        <a:pt x="780" y="8"/>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sp>
              <p:nvSpPr>
                <p:cNvPr id="16392" name="Oval 8"/>
                <p:cNvSpPr>
                  <a:spLocks noChangeArrowheads="1"/>
                </p:cNvSpPr>
                <p:nvPr/>
              </p:nvSpPr>
              <p:spPr bwMode="auto">
                <a:xfrm>
                  <a:off x="580" y="2293"/>
                  <a:ext cx="765" cy="244"/>
                </a:xfrm>
                <a:prstGeom prst="ellipse">
                  <a:avLst/>
                </a:prstGeom>
                <a:solidFill>
                  <a:srgbClr val="8AC8B8"/>
                </a:solidFill>
                <a:ln w="12700">
                  <a:solidFill>
                    <a:schemeClr val="tx1"/>
                  </a:solidFill>
                  <a:round/>
                  <a:headEnd/>
                  <a:tailEnd/>
                </a:ln>
                <a:effectLst/>
              </p:spPr>
              <p:txBody>
                <a:bodyPr wrap="none" anchor="ctr"/>
                <a:lstStyle/>
                <a:p>
                  <a:endParaRPr lang="en-IN"/>
                </a:p>
              </p:txBody>
            </p:sp>
          </p:grpSp>
          <p:grpSp>
            <p:nvGrpSpPr>
              <p:cNvPr id="5" name="Group 9"/>
              <p:cNvGrpSpPr>
                <a:grpSpLocks/>
              </p:cNvGrpSpPr>
              <p:nvPr/>
            </p:nvGrpSpPr>
            <p:grpSpPr bwMode="auto">
              <a:xfrm>
                <a:off x="3721" y="998"/>
                <a:ext cx="1375" cy="1153"/>
                <a:chOff x="3721" y="1200"/>
                <a:chExt cx="1375" cy="1153"/>
              </a:xfrm>
            </p:grpSpPr>
            <p:sp>
              <p:nvSpPr>
                <p:cNvPr id="16394" name="Freeform 10"/>
                <p:cNvSpPr>
                  <a:spLocks/>
                </p:cNvSpPr>
                <p:nvPr/>
              </p:nvSpPr>
              <p:spPr bwMode="auto">
                <a:xfrm>
                  <a:off x="3985" y="1200"/>
                  <a:ext cx="1111" cy="697"/>
                </a:xfrm>
                <a:custGeom>
                  <a:avLst/>
                  <a:gdLst/>
                  <a:ahLst/>
                  <a:cxnLst>
                    <a:cxn ang="0">
                      <a:pos x="0" y="642"/>
                    </a:cxn>
                    <a:cxn ang="0">
                      <a:pos x="0" y="0"/>
                    </a:cxn>
                    <a:cxn ang="0">
                      <a:pos x="1110" y="0"/>
                    </a:cxn>
                    <a:cxn ang="0">
                      <a:pos x="1110" y="381"/>
                    </a:cxn>
                    <a:cxn ang="0">
                      <a:pos x="975" y="381"/>
                    </a:cxn>
                    <a:cxn ang="0">
                      <a:pos x="912" y="387"/>
                    </a:cxn>
                    <a:cxn ang="0">
                      <a:pos x="858" y="399"/>
                    </a:cxn>
                    <a:cxn ang="0">
                      <a:pos x="795" y="417"/>
                    </a:cxn>
                    <a:cxn ang="0">
                      <a:pos x="732" y="441"/>
                    </a:cxn>
                    <a:cxn ang="0">
                      <a:pos x="678" y="468"/>
                    </a:cxn>
                    <a:cxn ang="0">
                      <a:pos x="624" y="507"/>
                    </a:cxn>
                    <a:cxn ang="0">
                      <a:pos x="570" y="552"/>
                    </a:cxn>
                    <a:cxn ang="0">
                      <a:pos x="522" y="591"/>
                    </a:cxn>
                    <a:cxn ang="0">
                      <a:pos x="489" y="615"/>
                    </a:cxn>
                    <a:cxn ang="0">
                      <a:pos x="453" y="636"/>
                    </a:cxn>
                    <a:cxn ang="0">
                      <a:pos x="402" y="663"/>
                    </a:cxn>
                    <a:cxn ang="0">
                      <a:pos x="348" y="681"/>
                    </a:cxn>
                    <a:cxn ang="0">
                      <a:pos x="294" y="693"/>
                    </a:cxn>
                    <a:cxn ang="0">
                      <a:pos x="240" y="696"/>
                    </a:cxn>
                    <a:cxn ang="0">
                      <a:pos x="186" y="693"/>
                    </a:cxn>
                    <a:cxn ang="0">
                      <a:pos x="132" y="684"/>
                    </a:cxn>
                    <a:cxn ang="0">
                      <a:pos x="90" y="675"/>
                    </a:cxn>
                    <a:cxn ang="0">
                      <a:pos x="42" y="660"/>
                    </a:cxn>
                    <a:cxn ang="0">
                      <a:pos x="0" y="642"/>
                    </a:cxn>
                  </a:cxnLst>
                  <a:rect l="0" t="0" r="r" b="b"/>
                  <a:pathLst>
                    <a:path w="1111" h="697">
                      <a:moveTo>
                        <a:pt x="0" y="642"/>
                      </a:moveTo>
                      <a:lnTo>
                        <a:pt x="0" y="0"/>
                      </a:lnTo>
                      <a:lnTo>
                        <a:pt x="1110" y="0"/>
                      </a:lnTo>
                      <a:lnTo>
                        <a:pt x="1110" y="381"/>
                      </a:lnTo>
                      <a:lnTo>
                        <a:pt x="975" y="381"/>
                      </a:lnTo>
                      <a:lnTo>
                        <a:pt x="912" y="387"/>
                      </a:lnTo>
                      <a:lnTo>
                        <a:pt x="858" y="399"/>
                      </a:lnTo>
                      <a:lnTo>
                        <a:pt x="795" y="417"/>
                      </a:lnTo>
                      <a:lnTo>
                        <a:pt x="732" y="441"/>
                      </a:lnTo>
                      <a:lnTo>
                        <a:pt x="678" y="468"/>
                      </a:lnTo>
                      <a:lnTo>
                        <a:pt x="624" y="507"/>
                      </a:lnTo>
                      <a:lnTo>
                        <a:pt x="570" y="552"/>
                      </a:lnTo>
                      <a:lnTo>
                        <a:pt x="522" y="591"/>
                      </a:lnTo>
                      <a:lnTo>
                        <a:pt x="489" y="615"/>
                      </a:lnTo>
                      <a:lnTo>
                        <a:pt x="453" y="636"/>
                      </a:lnTo>
                      <a:lnTo>
                        <a:pt x="402" y="663"/>
                      </a:lnTo>
                      <a:lnTo>
                        <a:pt x="348" y="681"/>
                      </a:lnTo>
                      <a:lnTo>
                        <a:pt x="294" y="693"/>
                      </a:lnTo>
                      <a:lnTo>
                        <a:pt x="240" y="696"/>
                      </a:lnTo>
                      <a:lnTo>
                        <a:pt x="186" y="693"/>
                      </a:lnTo>
                      <a:lnTo>
                        <a:pt x="132" y="684"/>
                      </a:lnTo>
                      <a:lnTo>
                        <a:pt x="90" y="675"/>
                      </a:lnTo>
                      <a:lnTo>
                        <a:pt x="42" y="660"/>
                      </a:lnTo>
                      <a:lnTo>
                        <a:pt x="0" y="642"/>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sp>
              <p:nvSpPr>
                <p:cNvPr id="16395" name="Freeform 11"/>
                <p:cNvSpPr>
                  <a:spLocks/>
                </p:cNvSpPr>
                <p:nvPr/>
              </p:nvSpPr>
              <p:spPr bwMode="auto">
                <a:xfrm>
                  <a:off x="3853" y="1428"/>
                  <a:ext cx="1111" cy="697"/>
                </a:xfrm>
                <a:custGeom>
                  <a:avLst/>
                  <a:gdLst/>
                  <a:ahLst/>
                  <a:cxnLst>
                    <a:cxn ang="0">
                      <a:pos x="0" y="642"/>
                    </a:cxn>
                    <a:cxn ang="0">
                      <a:pos x="0" y="0"/>
                    </a:cxn>
                    <a:cxn ang="0">
                      <a:pos x="1110" y="0"/>
                    </a:cxn>
                    <a:cxn ang="0">
                      <a:pos x="1110" y="381"/>
                    </a:cxn>
                    <a:cxn ang="0">
                      <a:pos x="975" y="381"/>
                    </a:cxn>
                    <a:cxn ang="0">
                      <a:pos x="912" y="387"/>
                    </a:cxn>
                    <a:cxn ang="0">
                      <a:pos x="858" y="399"/>
                    </a:cxn>
                    <a:cxn ang="0">
                      <a:pos x="795" y="417"/>
                    </a:cxn>
                    <a:cxn ang="0">
                      <a:pos x="732" y="441"/>
                    </a:cxn>
                    <a:cxn ang="0">
                      <a:pos x="678" y="468"/>
                    </a:cxn>
                    <a:cxn ang="0">
                      <a:pos x="624" y="507"/>
                    </a:cxn>
                    <a:cxn ang="0">
                      <a:pos x="570" y="552"/>
                    </a:cxn>
                    <a:cxn ang="0">
                      <a:pos x="522" y="591"/>
                    </a:cxn>
                    <a:cxn ang="0">
                      <a:pos x="489" y="615"/>
                    </a:cxn>
                    <a:cxn ang="0">
                      <a:pos x="453" y="636"/>
                    </a:cxn>
                    <a:cxn ang="0">
                      <a:pos x="402" y="663"/>
                    </a:cxn>
                    <a:cxn ang="0">
                      <a:pos x="348" y="681"/>
                    </a:cxn>
                    <a:cxn ang="0">
                      <a:pos x="294" y="693"/>
                    </a:cxn>
                    <a:cxn ang="0">
                      <a:pos x="240" y="696"/>
                    </a:cxn>
                    <a:cxn ang="0">
                      <a:pos x="186" y="693"/>
                    </a:cxn>
                    <a:cxn ang="0">
                      <a:pos x="132" y="684"/>
                    </a:cxn>
                    <a:cxn ang="0">
                      <a:pos x="90" y="675"/>
                    </a:cxn>
                    <a:cxn ang="0">
                      <a:pos x="42" y="660"/>
                    </a:cxn>
                    <a:cxn ang="0">
                      <a:pos x="0" y="642"/>
                    </a:cxn>
                  </a:cxnLst>
                  <a:rect l="0" t="0" r="r" b="b"/>
                  <a:pathLst>
                    <a:path w="1111" h="697">
                      <a:moveTo>
                        <a:pt x="0" y="642"/>
                      </a:moveTo>
                      <a:lnTo>
                        <a:pt x="0" y="0"/>
                      </a:lnTo>
                      <a:lnTo>
                        <a:pt x="1110" y="0"/>
                      </a:lnTo>
                      <a:lnTo>
                        <a:pt x="1110" y="381"/>
                      </a:lnTo>
                      <a:lnTo>
                        <a:pt x="975" y="381"/>
                      </a:lnTo>
                      <a:lnTo>
                        <a:pt x="912" y="387"/>
                      </a:lnTo>
                      <a:lnTo>
                        <a:pt x="858" y="399"/>
                      </a:lnTo>
                      <a:lnTo>
                        <a:pt x="795" y="417"/>
                      </a:lnTo>
                      <a:lnTo>
                        <a:pt x="732" y="441"/>
                      </a:lnTo>
                      <a:lnTo>
                        <a:pt x="678" y="468"/>
                      </a:lnTo>
                      <a:lnTo>
                        <a:pt x="624" y="507"/>
                      </a:lnTo>
                      <a:lnTo>
                        <a:pt x="570" y="552"/>
                      </a:lnTo>
                      <a:lnTo>
                        <a:pt x="522" y="591"/>
                      </a:lnTo>
                      <a:lnTo>
                        <a:pt x="489" y="615"/>
                      </a:lnTo>
                      <a:lnTo>
                        <a:pt x="453" y="636"/>
                      </a:lnTo>
                      <a:lnTo>
                        <a:pt x="402" y="663"/>
                      </a:lnTo>
                      <a:lnTo>
                        <a:pt x="348" y="681"/>
                      </a:lnTo>
                      <a:lnTo>
                        <a:pt x="294" y="693"/>
                      </a:lnTo>
                      <a:lnTo>
                        <a:pt x="240" y="696"/>
                      </a:lnTo>
                      <a:lnTo>
                        <a:pt x="186" y="693"/>
                      </a:lnTo>
                      <a:lnTo>
                        <a:pt x="132" y="684"/>
                      </a:lnTo>
                      <a:lnTo>
                        <a:pt x="90" y="675"/>
                      </a:lnTo>
                      <a:lnTo>
                        <a:pt x="42" y="660"/>
                      </a:lnTo>
                      <a:lnTo>
                        <a:pt x="0" y="642"/>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sp>
              <p:nvSpPr>
                <p:cNvPr id="16396" name="Freeform 12"/>
                <p:cNvSpPr>
                  <a:spLocks/>
                </p:cNvSpPr>
                <p:nvPr/>
              </p:nvSpPr>
              <p:spPr bwMode="auto">
                <a:xfrm>
                  <a:off x="3721" y="1656"/>
                  <a:ext cx="1111" cy="697"/>
                </a:xfrm>
                <a:custGeom>
                  <a:avLst/>
                  <a:gdLst/>
                  <a:ahLst/>
                  <a:cxnLst>
                    <a:cxn ang="0">
                      <a:pos x="0" y="642"/>
                    </a:cxn>
                    <a:cxn ang="0">
                      <a:pos x="0" y="0"/>
                    </a:cxn>
                    <a:cxn ang="0">
                      <a:pos x="1110" y="0"/>
                    </a:cxn>
                    <a:cxn ang="0">
                      <a:pos x="1110" y="381"/>
                    </a:cxn>
                    <a:cxn ang="0">
                      <a:pos x="975" y="381"/>
                    </a:cxn>
                    <a:cxn ang="0">
                      <a:pos x="912" y="387"/>
                    </a:cxn>
                    <a:cxn ang="0">
                      <a:pos x="858" y="399"/>
                    </a:cxn>
                    <a:cxn ang="0">
                      <a:pos x="795" y="417"/>
                    </a:cxn>
                    <a:cxn ang="0">
                      <a:pos x="732" y="441"/>
                    </a:cxn>
                    <a:cxn ang="0">
                      <a:pos x="678" y="468"/>
                    </a:cxn>
                    <a:cxn ang="0">
                      <a:pos x="624" y="507"/>
                    </a:cxn>
                    <a:cxn ang="0">
                      <a:pos x="570" y="552"/>
                    </a:cxn>
                    <a:cxn ang="0">
                      <a:pos x="522" y="591"/>
                    </a:cxn>
                    <a:cxn ang="0">
                      <a:pos x="489" y="615"/>
                    </a:cxn>
                    <a:cxn ang="0">
                      <a:pos x="453" y="636"/>
                    </a:cxn>
                    <a:cxn ang="0">
                      <a:pos x="402" y="663"/>
                    </a:cxn>
                    <a:cxn ang="0">
                      <a:pos x="348" y="681"/>
                    </a:cxn>
                    <a:cxn ang="0">
                      <a:pos x="294" y="693"/>
                    </a:cxn>
                    <a:cxn ang="0">
                      <a:pos x="240" y="696"/>
                    </a:cxn>
                    <a:cxn ang="0">
                      <a:pos x="186" y="693"/>
                    </a:cxn>
                    <a:cxn ang="0">
                      <a:pos x="132" y="684"/>
                    </a:cxn>
                    <a:cxn ang="0">
                      <a:pos x="90" y="675"/>
                    </a:cxn>
                    <a:cxn ang="0">
                      <a:pos x="42" y="660"/>
                    </a:cxn>
                    <a:cxn ang="0">
                      <a:pos x="0" y="642"/>
                    </a:cxn>
                  </a:cxnLst>
                  <a:rect l="0" t="0" r="r" b="b"/>
                  <a:pathLst>
                    <a:path w="1111" h="697">
                      <a:moveTo>
                        <a:pt x="0" y="642"/>
                      </a:moveTo>
                      <a:lnTo>
                        <a:pt x="0" y="0"/>
                      </a:lnTo>
                      <a:lnTo>
                        <a:pt x="1110" y="0"/>
                      </a:lnTo>
                      <a:lnTo>
                        <a:pt x="1110" y="381"/>
                      </a:lnTo>
                      <a:lnTo>
                        <a:pt x="975" y="381"/>
                      </a:lnTo>
                      <a:lnTo>
                        <a:pt x="912" y="387"/>
                      </a:lnTo>
                      <a:lnTo>
                        <a:pt x="858" y="399"/>
                      </a:lnTo>
                      <a:lnTo>
                        <a:pt x="795" y="417"/>
                      </a:lnTo>
                      <a:lnTo>
                        <a:pt x="732" y="441"/>
                      </a:lnTo>
                      <a:lnTo>
                        <a:pt x="678" y="468"/>
                      </a:lnTo>
                      <a:lnTo>
                        <a:pt x="624" y="507"/>
                      </a:lnTo>
                      <a:lnTo>
                        <a:pt x="570" y="552"/>
                      </a:lnTo>
                      <a:lnTo>
                        <a:pt x="522" y="591"/>
                      </a:lnTo>
                      <a:lnTo>
                        <a:pt x="489" y="615"/>
                      </a:lnTo>
                      <a:lnTo>
                        <a:pt x="453" y="636"/>
                      </a:lnTo>
                      <a:lnTo>
                        <a:pt x="402" y="663"/>
                      </a:lnTo>
                      <a:lnTo>
                        <a:pt x="348" y="681"/>
                      </a:lnTo>
                      <a:lnTo>
                        <a:pt x="294" y="693"/>
                      </a:lnTo>
                      <a:lnTo>
                        <a:pt x="240" y="696"/>
                      </a:lnTo>
                      <a:lnTo>
                        <a:pt x="186" y="693"/>
                      </a:lnTo>
                      <a:lnTo>
                        <a:pt x="132" y="684"/>
                      </a:lnTo>
                      <a:lnTo>
                        <a:pt x="90" y="675"/>
                      </a:lnTo>
                      <a:lnTo>
                        <a:pt x="42" y="660"/>
                      </a:lnTo>
                      <a:lnTo>
                        <a:pt x="0" y="642"/>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grpSp>
          <p:sp>
            <p:nvSpPr>
              <p:cNvPr id="16397" name="Rectangle 13"/>
              <p:cNvSpPr>
                <a:spLocks noChangeArrowheads="1"/>
              </p:cNvSpPr>
              <p:nvPr/>
            </p:nvSpPr>
            <p:spPr bwMode="auto">
              <a:xfrm>
                <a:off x="3866" y="3414"/>
                <a:ext cx="1108" cy="508"/>
              </a:xfrm>
              <a:prstGeom prst="rect">
                <a:avLst/>
              </a:prstGeom>
              <a:solidFill>
                <a:srgbClr val="8AC8B8"/>
              </a:solidFill>
              <a:ln w="12700">
                <a:solidFill>
                  <a:schemeClr val="tx1"/>
                </a:solidFill>
                <a:miter lim="800000"/>
                <a:headEnd/>
                <a:tailEnd/>
              </a:ln>
              <a:effectLst/>
            </p:spPr>
            <p:txBody>
              <a:bodyPr wrap="none" anchor="ctr"/>
              <a:lstStyle/>
              <a:p>
                <a:endParaRPr lang="en-IN"/>
              </a:p>
            </p:txBody>
          </p:sp>
          <p:sp>
            <p:nvSpPr>
              <p:cNvPr id="16398" name="Rectangle 14"/>
              <p:cNvSpPr>
                <a:spLocks noChangeArrowheads="1"/>
              </p:cNvSpPr>
              <p:nvPr/>
            </p:nvSpPr>
            <p:spPr bwMode="auto">
              <a:xfrm>
                <a:off x="1934" y="2424"/>
                <a:ext cx="1108" cy="508"/>
              </a:xfrm>
              <a:prstGeom prst="rect">
                <a:avLst/>
              </a:prstGeom>
              <a:solidFill>
                <a:srgbClr val="8AC8B8"/>
              </a:solidFill>
              <a:ln w="12700">
                <a:solidFill>
                  <a:schemeClr val="tx1"/>
                </a:solidFill>
                <a:miter lim="800000"/>
                <a:headEnd/>
                <a:tailEnd/>
              </a:ln>
              <a:effectLst/>
            </p:spPr>
            <p:txBody>
              <a:bodyPr wrap="none" anchor="ctr"/>
              <a:lstStyle/>
              <a:p>
                <a:endParaRPr lang="en-IN"/>
              </a:p>
            </p:txBody>
          </p:sp>
          <p:sp>
            <p:nvSpPr>
              <p:cNvPr id="16399" name="Rectangle 15"/>
              <p:cNvSpPr>
                <a:spLocks noChangeArrowheads="1"/>
              </p:cNvSpPr>
              <p:nvPr/>
            </p:nvSpPr>
            <p:spPr bwMode="auto">
              <a:xfrm>
                <a:off x="350" y="1332"/>
                <a:ext cx="1108" cy="508"/>
              </a:xfrm>
              <a:prstGeom prst="rect">
                <a:avLst/>
              </a:prstGeom>
              <a:solidFill>
                <a:srgbClr val="8AC8B8"/>
              </a:solidFill>
              <a:ln w="12700">
                <a:solidFill>
                  <a:schemeClr val="tx1"/>
                </a:solidFill>
                <a:miter lim="800000"/>
                <a:headEnd/>
                <a:tailEnd/>
              </a:ln>
              <a:effectLst/>
            </p:spPr>
            <p:txBody>
              <a:bodyPr wrap="none" anchor="ctr"/>
              <a:lstStyle/>
              <a:p>
                <a:endParaRPr lang="en-IN"/>
              </a:p>
            </p:txBody>
          </p:sp>
          <p:sp>
            <p:nvSpPr>
              <p:cNvPr id="16400" name="Rectangle 16"/>
              <p:cNvSpPr>
                <a:spLocks noChangeArrowheads="1"/>
              </p:cNvSpPr>
              <p:nvPr/>
            </p:nvSpPr>
            <p:spPr bwMode="auto">
              <a:xfrm>
                <a:off x="351" y="672"/>
                <a:ext cx="906" cy="229"/>
              </a:xfrm>
              <a:prstGeom prst="rect">
                <a:avLst/>
              </a:prstGeom>
              <a:noFill/>
              <a:ln w="12700">
                <a:noFill/>
                <a:miter lim="800000"/>
                <a:headEnd/>
                <a:tailEnd/>
              </a:ln>
              <a:effectLst/>
            </p:spPr>
            <p:txBody>
              <a:bodyPr wrap="none" lIns="90488" tIns="44450" rIns="90488" bIns="44450">
                <a:spAutoFit/>
              </a:bodyPr>
              <a:lstStyle/>
              <a:p>
                <a:pPr eaLnBrk="0" hangingPunct="0"/>
                <a:r>
                  <a:rPr lang="en-US" sz="1800" b="1">
                    <a:solidFill>
                      <a:schemeClr val="folHlink"/>
                    </a:solidFill>
                    <a:effectLst>
                      <a:outerShdw blurRad="38100" dist="38100" dir="2700000" algn="tl">
                        <a:srgbClr val="000000"/>
                      </a:outerShdw>
                    </a:effectLst>
                    <a:latin typeface="Arial" charset="0"/>
                  </a:rPr>
                  <a:t>MRP Inputs</a:t>
                </a:r>
              </a:p>
            </p:txBody>
          </p:sp>
          <p:sp>
            <p:nvSpPr>
              <p:cNvPr id="16401" name="Rectangle 17"/>
              <p:cNvSpPr>
                <a:spLocks noChangeArrowheads="1"/>
              </p:cNvSpPr>
              <p:nvPr/>
            </p:nvSpPr>
            <p:spPr bwMode="auto">
              <a:xfrm>
                <a:off x="1899" y="672"/>
                <a:ext cx="1250" cy="229"/>
              </a:xfrm>
              <a:prstGeom prst="rect">
                <a:avLst/>
              </a:prstGeom>
              <a:noFill/>
              <a:ln w="12700">
                <a:noFill/>
                <a:miter lim="800000"/>
                <a:headEnd/>
                <a:tailEnd/>
              </a:ln>
              <a:effectLst/>
            </p:spPr>
            <p:txBody>
              <a:bodyPr wrap="none" lIns="90488" tIns="44450" rIns="90488" bIns="44450">
                <a:spAutoFit/>
              </a:bodyPr>
              <a:lstStyle/>
              <a:p>
                <a:pPr eaLnBrk="0" hangingPunct="0"/>
                <a:r>
                  <a:rPr lang="en-US" sz="1800" b="1">
                    <a:solidFill>
                      <a:schemeClr val="folHlink"/>
                    </a:solidFill>
                    <a:effectLst>
                      <a:outerShdw blurRad="38100" dist="38100" dir="2700000" algn="tl">
                        <a:srgbClr val="000000"/>
                      </a:outerShdw>
                    </a:effectLst>
                    <a:latin typeface="Arial" charset="0"/>
                  </a:rPr>
                  <a:t>MRP Processing</a:t>
                </a:r>
              </a:p>
            </p:txBody>
          </p:sp>
          <p:sp>
            <p:nvSpPr>
              <p:cNvPr id="16402" name="Rectangle 18"/>
              <p:cNvSpPr>
                <a:spLocks noChangeArrowheads="1"/>
              </p:cNvSpPr>
              <p:nvPr/>
            </p:nvSpPr>
            <p:spPr bwMode="auto">
              <a:xfrm>
                <a:off x="4023" y="672"/>
                <a:ext cx="1026" cy="229"/>
              </a:xfrm>
              <a:prstGeom prst="rect">
                <a:avLst/>
              </a:prstGeom>
              <a:noFill/>
              <a:ln w="12700">
                <a:noFill/>
                <a:miter lim="800000"/>
                <a:headEnd/>
                <a:tailEnd/>
              </a:ln>
              <a:effectLst/>
            </p:spPr>
            <p:txBody>
              <a:bodyPr wrap="none" lIns="90488" tIns="44450" rIns="90488" bIns="44450">
                <a:spAutoFit/>
              </a:bodyPr>
              <a:lstStyle/>
              <a:p>
                <a:pPr eaLnBrk="0" hangingPunct="0"/>
                <a:r>
                  <a:rPr lang="en-US" sz="1800" b="1">
                    <a:solidFill>
                      <a:schemeClr val="folHlink"/>
                    </a:solidFill>
                    <a:effectLst>
                      <a:outerShdw blurRad="38100" dist="38100" dir="2700000" algn="tl">
                        <a:srgbClr val="000000"/>
                      </a:outerShdw>
                    </a:effectLst>
                    <a:latin typeface="Arial" charset="0"/>
                  </a:rPr>
                  <a:t>MRP Outputs</a:t>
                </a:r>
              </a:p>
            </p:txBody>
          </p:sp>
          <p:sp>
            <p:nvSpPr>
              <p:cNvPr id="16403" name="Rectangle 19"/>
              <p:cNvSpPr>
                <a:spLocks noChangeArrowheads="1"/>
              </p:cNvSpPr>
              <p:nvPr/>
            </p:nvSpPr>
            <p:spPr bwMode="auto">
              <a:xfrm>
                <a:off x="565" y="1380"/>
                <a:ext cx="738" cy="402"/>
              </a:xfrm>
              <a:prstGeom prst="rect">
                <a:avLst/>
              </a:prstGeom>
              <a:noFill/>
              <a:ln w="12700">
                <a:noFill/>
                <a:miter lim="800000"/>
                <a:headEnd/>
                <a:tailEnd/>
              </a:ln>
              <a:effectLst/>
            </p:spPr>
            <p:txBody>
              <a:bodyPr wrap="none" lIns="90488" tIns="44450" rIns="90488" bIns="44450">
                <a:spAutoFit/>
              </a:bodyPr>
              <a:lstStyle/>
              <a:p>
                <a:pPr eaLnBrk="0" hangingPunct="0"/>
                <a:r>
                  <a:rPr lang="en-US" sz="1800" b="1">
                    <a:solidFill>
                      <a:srgbClr val="CE2700"/>
                    </a:solidFill>
                    <a:latin typeface="Arial" charset="0"/>
                  </a:rPr>
                  <a:t>Master</a:t>
                </a:r>
              </a:p>
              <a:p>
                <a:pPr eaLnBrk="0" hangingPunct="0"/>
                <a:r>
                  <a:rPr lang="en-US" sz="1800" b="1">
                    <a:solidFill>
                      <a:srgbClr val="CE2700"/>
                    </a:solidFill>
                    <a:latin typeface="Arial" charset="0"/>
                  </a:rPr>
                  <a:t>schedule</a:t>
                </a:r>
              </a:p>
            </p:txBody>
          </p:sp>
          <p:sp>
            <p:nvSpPr>
              <p:cNvPr id="16404" name="Rectangle 20"/>
              <p:cNvSpPr>
                <a:spLocks noChangeArrowheads="1"/>
              </p:cNvSpPr>
              <p:nvPr/>
            </p:nvSpPr>
            <p:spPr bwMode="auto">
              <a:xfrm>
                <a:off x="598" y="2340"/>
                <a:ext cx="746" cy="575"/>
              </a:xfrm>
              <a:prstGeom prst="rect">
                <a:avLst/>
              </a:prstGeom>
              <a:noFill/>
              <a:ln w="12700">
                <a:noFill/>
                <a:miter lim="800000"/>
                <a:headEnd/>
                <a:tailEnd/>
              </a:ln>
              <a:effectLst/>
            </p:spPr>
            <p:txBody>
              <a:bodyPr wrap="none" lIns="90488" tIns="44450" rIns="90488" bIns="44450">
                <a:spAutoFit/>
              </a:bodyPr>
              <a:lstStyle/>
              <a:p>
                <a:pPr algn="ctr" eaLnBrk="0" hangingPunct="0"/>
                <a:r>
                  <a:rPr lang="en-US" sz="1800" b="1">
                    <a:solidFill>
                      <a:srgbClr val="CE2700"/>
                    </a:solidFill>
                    <a:latin typeface="Arial" charset="0"/>
                  </a:rPr>
                  <a:t>Bill of</a:t>
                </a:r>
              </a:p>
              <a:p>
                <a:pPr algn="ctr" eaLnBrk="0" hangingPunct="0"/>
                <a:r>
                  <a:rPr lang="en-US" sz="1800" b="1">
                    <a:solidFill>
                      <a:srgbClr val="CE2700"/>
                    </a:solidFill>
                    <a:latin typeface="Arial" charset="0"/>
                  </a:rPr>
                  <a:t>materials</a:t>
                </a:r>
              </a:p>
              <a:p>
                <a:pPr algn="ctr" eaLnBrk="0" hangingPunct="0"/>
                <a:endParaRPr lang="en-US" sz="1800" b="1">
                  <a:solidFill>
                    <a:srgbClr val="CE2700"/>
                  </a:solidFill>
                  <a:latin typeface="Arial" charset="0"/>
                </a:endParaRPr>
              </a:p>
            </p:txBody>
          </p:sp>
          <p:grpSp>
            <p:nvGrpSpPr>
              <p:cNvPr id="6" name="Group 21"/>
              <p:cNvGrpSpPr>
                <a:grpSpLocks/>
              </p:cNvGrpSpPr>
              <p:nvPr/>
            </p:nvGrpSpPr>
            <p:grpSpPr bwMode="auto">
              <a:xfrm>
                <a:off x="580" y="3063"/>
                <a:ext cx="789" cy="847"/>
                <a:chOff x="580" y="3265"/>
                <a:chExt cx="789" cy="847"/>
              </a:xfrm>
            </p:grpSpPr>
            <p:sp>
              <p:nvSpPr>
                <p:cNvPr id="16406" name="Freeform 22"/>
                <p:cNvSpPr>
                  <a:spLocks/>
                </p:cNvSpPr>
                <p:nvPr/>
              </p:nvSpPr>
              <p:spPr bwMode="auto">
                <a:xfrm>
                  <a:off x="588" y="3403"/>
                  <a:ext cx="781" cy="709"/>
                </a:xfrm>
                <a:custGeom>
                  <a:avLst/>
                  <a:gdLst/>
                  <a:ahLst/>
                  <a:cxnLst>
                    <a:cxn ang="0">
                      <a:pos x="780" y="8"/>
                    </a:cxn>
                    <a:cxn ang="0">
                      <a:pos x="780" y="584"/>
                    </a:cxn>
                    <a:cxn ang="0">
                      <a:pos x="768" y="606"/>
                    </a:cxn>
                    <a:cxn ang="0">
                      <a:pos x="749" y="626"/>
                    </a:cxn>
                    <a:cxn ang="0">
                      <a:pos x="721" y="644"/>
                    </a:cxn>
                    <a:cxn ang="0">
                      <a:pos x="684" y="662"/>
                    </a:cxn>
                    <a:cxn ang="0">
                      <a:pos x="635" y="678"/>
                    </a:cxn>
                    <a:cxn ang="0">
                      <a:pos x="582" y="690"/>
                    </a:cxn>
                    <a:cxn ang="0">
                      <a:pos x="526" y="698"/>
                    </a:cxn>
                    <a:cxn ang="0">
                      <a:pos x="474" y="704"/>
                    </a:cxn>
                    <a:cxn ang="0">
                      <a:pos x="424" y="708"/>
                    </a:cxn>
                    <a:cxn ang="0">
                      <a:pos x="371" y="708"/>
                    </a:cxn>
                    <a:cxn ang="0">
                      <a:pos x="310" y="704"/>
                    </a:cxn>
                    <a:cxn ang="0">
                      <a:pos x="257" y="700"/>
                    </a:cxn>
                    <a:cxn ang="0">
                      <a:pos x="201" y="692"/>
                    </a:cxn>
                    <a:cxn ang="0">
                      <a:pos x="152" y="680"/>
                    </a:cxn>
                    <a:cxn ang="0">
                      <a:pos x="111" y="668"/>
                    </a:cxn>
                    <a:cxn ang="0">
                      <a:pos x="71" y="652"/>
                    </a:cxn>
                    <a:cxn ang="0">
                      <a:pos x="40" y="634"/>
                    </a:cxn>
                    <a:cxn ang="0">
                      <a:pos x="25" y="622"/>
                    </a:cxn>
                    <a:cxn ang="0">
                      <a:pos x="9" y="604"/>
                    </a:cxn>
                    <a:cxn ang="0">
                      <a:pos x="0" y="582"/>
                    </a:cxn>
                    <a:cxn ang="0">
                      <a:pos x="0" y="0"/>
                    </a:cxn>
                    <a:cxn ang="0">
                      <a:pos x="780" y="8"/>
                    </a:cxn>
                  </a:cxnLst>
                  <a:rect l="0" t="0" r="r" b="b"/>
                  <a:pathLst>
                    <a:path w="781" h="709">
                      <a:moveTo>
                        <a:pt x="780" y="8"/>
                      </a:moveTo>
                      <a:lnTo>
                        <a:pt x="780" y="584"/>
                      </a:lnTo>
                      <a:lnTo>
                        <a:pt x="768" y="606"/>
                      </a:lnTo>
                      <a:lnTo>
                        <a:pt x="749" y="626"/>
                      </a:lnTo>
                      <a:lnTo>
                        <a:pt x="721" y="644"/>
                      </a:lnTo>
                      <a:lnTo>
                        <a:pt x="684" y="662"/>
                      </a:lnTo>
                      <a:lnTo>
                        <a:pt x="635" y="678"/>
                      </a:lnTo>
                      <a:lnTo>
                        <a:pt x="582" y="690"/>
                      </a:lnTo>
                      <a:lnTo>
                        <a:pt x="526" y="698"/>
                      </a:lnTo>
                      <a:lnTo>
                        <a:pt x="474" y="704"/>
                      </a:lnTo>
                      <a:lnTo>
                        <a:pt x="424" y="708"/>
                      </a:lnTo>
                      <a:lnTo>
                        <a:pt x="371" y="708"/>
                      </a:lnTo>
                      <a:lnTo>
                        <a:pt x="310" y="704"/>
                      </a:lnTo>
                      <a:lnTo>
                        <a:pt x="257" y="700"/>
                      </a:lnTo>
                      <a:lnTo>
                        <a:pt x="201" y="692"/>
                      </a:lnTo>
                      <a:lnTo>
                        <a:pt x="152" y="680"/>
                      </a:lnTo>
                      <a:lnTo>
                        <a:pt x="111" y="668"/>
                      </a:lnTo>
                      <a:lnTo>
                        <a:pt x="71" y="652"/>
                      </a:lnTo>
                      <a:lnTo>
                        <a:pt x="40" y="634"/>
                      </a:lnTo>
                      <a:lnTo>
                        <a:pt x="25" y="622"/>
                      </a:lnTo>
                      <a:lnTo>
                        <a:pt x="9" y="604"/>
                      </a:lnTo>
                      <a:lnTo>
                        <a:pt x="0" y="582"/>
                      </a:lnTo>
                      <a:lnTo>
                        <a:pt x="0" y="0"/>
                      </a:lnTo>
                      <a:lnTo>
                        <a:pt x="780" y="8"/>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sp>
              <p:nvSpPr>
                <p:cNvPr id="16407" name="Oval 23"/>
                <p:cNvSpPr>
                  <a:spLocks noChangeArrowheads="1"/>
                </p:cNvSpPr>
                <p:nvPr/>
              </p:nvSpPr>
              <p:spPr bwMode="auto">
                <a:xfrm>
                  <a:off x="580" y="3265"/>
                  <a:ext cx="765" cy="244"/>
                </a:xfrm>
                <a:prstGeom prst="ellipse">
                  <a:avLst/>
                </a:prstGeom>
                <a:solidFill>
                  <a:srgbClr val="8AC8B8"/>
                </a:solidFill>
                <a:ln w="12700">
                  <a:solidFill>
                    <a:schemeClr val="tx1"/>
                  </a:solidFill>
                  <a:round/>
                  <a:headEnd/>
                  <a:tailEnd/>
                </a:ln>
                <a:effectLst/>
              </p:spPr>
              <p:txBody>
                <a:bodyPr wrap="none" anchor="ctr"/>
                <a:lstStyle/>
                <a:p>
                  <a:endParaRPr lang="en-IN"/>
                </a:p>
              </p:txBody>
            </p:sp>
          </p:grpSp>
          <p:sp>
            <p:nvSpPr>
              <p:cNvPr id="16408" name="Rectangle 24"/>
              <p:cNvSpPr>
                <a:spLocks noChangeArrowheads="1"/>
              </p:cNvSpPr>
              <p:nvPr/>
            </p:nvSpPr>
            <p:spPr bwMode="auto">
              <a:xfrm>
                <a:off x="582" y="3324"/>
                <a:ext cx="762" cy="575"/>
              </a:xfrm>
              <a:prstGeom prst="rect">
                <a:avLst/>
              </a:prstGeom>
              <a:noFill/>
              <a:ln w="12700">
                <a:noFill/>
                <a:miter lim="800000"/>
                <a:headEnd/>
                <a:tailEnd/>
              </a:ln>
              <a:effectLst/>
            </p:spPr>
            <p:txBody>
              <a:bodyPr wrap="none" lIns="90488" tIns="44450" rIns="90488" bIns="44450">
                <a:spAutoFit/>
              </a:bodyPr>
              <a:lstStyle/>
              <a:p>
                <a:pPr algn="ctr" eaLnBrk="0" hangingPunct="0"/>
                <a:r>
                  <a:rPr lang="en-US" sz="1800" b="1">
                    <a:solidFill>
                      <a:srgbClr val="CE2700"/>
                    </a:solidFill>
                    <a:latin typeface="Arial" charset="0"/>
                  </a:rPr>
                  <a:t>Inventory</a:t>
                </a:r>
              </a:p>
              <a:p>
                <a:pPr algn="ctr" eaLnBrk="0" hangingPunct="0"/>
                <a:r>
                  <a:rPr lang="en-US" sz="1800" b="1">
                    <a:solidFill>
                      <a:srgbClr val="CE2700"/>
                    </a:solidFill>
                    <a:latin typeface="Arial" charset="0"/>
                  </a:rPr>
                  <a:t>records</a:t>
                </a:r>
              </a:p>
              <a:p>
                <a:pPr algn="ctr" eaLnBrk="0" hangingPunct="0"/>
                <a:endParaRPr lang="en-US" sz="1800" b="1">
                  <a:solidFill>
                    <a:srgbClr val="CE2700"/>
                  </a:solidFill>
                  <a:latin typeface="Arial" charset="0"/>
                </a:endParaRPr>
              </a:p>
            </p:txBody>
          </p:sp>
          <p:sp>
            <p:nvSpPr>
              <p:cNvPr id="16409" name="Line 25"/>
              <p:cNvSpPr>
                <a:spLocks noChangeShapeType="1"/>
              </p:cNvSpPr>
              <p:nvPr/>
            </p:nvSpPr>
            <p:spPr bwMode="auto">
              <a:xfrm>
                <a:off x="1461" y="1571"/>
                <a:ext cx="451" cy="919"/>
              </a:xfrm>
              <a:prstGeom prst="line">
                <a:avLst/>
              </a:prstGeom>
              <a:noFill/>
              <a:ln w="12700">
                <a:solidFill>
                  <a:schemeClr val="tx1"/>
                </a:solidFill>
                <a:round/>
                <a:headEnd/>
                <a:tailEnd type="triangle" w="med" len="med"/>
              </a:ln>
              <a:effectLst/>
            </p:spPr>
            <p:txBody>
              <a:bodyPr wrap="none" anchor="ctr"/>
              <a:lstStyle/>
              <a:p>
                <a:endParaRPr lang="en-IN"/>
              </a:p>
            </p:txBody>
          </p:sp>
          <p:sp>
            <p:nvSpPr>
              <p:cNvPr id="16410" name="Line 26"/>
              <p:cNvSpPr>
                <a:spLocks noChangeShapeType="1"/>
              </p:cNvSpPr>
              <p:nvPr/>
            </p:nvSpPr>
            <p:spPr bwMode="auto">
              <a:xfrm>
                <a:off x="1365" y="2654"/>
                <a:ext cx="571" cy="0"/>
              </a:xfrm>
              <a:prstGeom prst="line">
                <a:avLst/>
              </a:prstGeom>
              <a:noFill/>
              <a:ln w="12700">
                <a:solidFill>
                  <a:schemeClr val="tx1"/>
                </a:solidFill>
                <a:round/>
                <a:headEnd/>
                <a:tailEnd type="triangle" w="med" len="med"/>
              </a:ln>
              <a:effectLst/>
            </p:spPr>
            <p:txBody>
              <a:bodyPr wrap="none" anchor="ctr"/>
              <a:lstStyle/>
              <a:p>
                <a:endParaRPr lang="en-IN"/>
              </a:p>
            </p:txBody>
          </p:sp>
          <p:sp>
            <p:nvSpPr>
              <p:cNvPr id="16411" name="Line 27"/>
              <p:cNvSpPr>
                <a:spLocks noChangeShapeType="1"/>
              </p:cNvSpPr>
              <p:nvPr/>
            </p:nvSpPr>
            <p:spPr bwMode="auto">
              <a:xfrm flipV="1">
                <a:off x="1392" y="2928"/>
                <a:ext cx="576" cy="432"/>
              </a:xfrm>
              <a:prstGeom prst="line">
                <a:avLst/>
              </a:prstGeom>
              <a:noFill/>
              <a:ln w="12700">
                <a:solidFill>
                  <a:schemeClr val="tx1"/>
                </a:solidFill>
                <a:round/>
                <a:headEnd/>
                <a:tailEnd type="triangle" w="med" len="med"/>
              </a:ln>
              <a:effectLst/>
            </p:spPr>
            <p:txBody>
              <a:bodyPr wrap="none" anchor="ctr"/>
              <a:lstStyle/>
              <a:p>
                <a:endParaRPr lang="en-IN"/>
              </a:p>
            </p:txBody>
          </p:sp>
          <p:sp>
            <p:nvSpPr>
              <p:cNvPr id="16412" name="Line 28"/>
              <p:cNvSpPr>
                <a:spLocks noChangeShapeType="1"/>
              </p:cNvSpPr>
              <p:nvPr/>
            </p:nvSpPr>
            <p:spPr bwMode="auto">
              <a:xfrm>
                <a:off x="3069" y="2690"/>
                <a:ext cx="1099" cy="0"/>
              </a:xfrm>
              <a:prstGeom prst="line">
                <a:avLst/>
              </a:prstGeom>
              <a:noFill/>
              <a:ln w="12700">
                <a:solidFill>
                  <a:schemeClr val="tx1"/>
                </a:solidFill>
                <a:round/>
                <a:headEnd/>
                <a:tailEnd type="triangle" w="med" len="med"/>
              </a:ln>
              <a:effectLst/>
            </p:spPr>
            <p:txBody>
              <a:bodyPr wrap="none" anchor="ctr"/>
              <a:lstStyle/>
              <a:p>
                <a:endParaRPr lang="en-IN"/>
              </a:p>
            </p:txBody>
          </p:sp>
          <p:sp>
            <p:nvSpPr>
              <p:cNvPr id="16413" name="Line 29"/>
              <p:cNvSpPr>
                <a:spLocks noChangeShapeType="1"/>
              </p:cNvSpPr>
              <p:nvPr/>
            </p:nvSpPr>
            <p:spPr bwMode="auto">
              <a:xfrm flipV="1">
                <a:off x="3069" y="1879"/>
                <a:ext cx="643" cy="639"/>
              </a:xfrm>
              <a:prstGeom prst="line">
                <a:avLst/>
              </a:prstGeom>
              <a:noFill/>
              <a:ln w="12700">
                <a:solidFill>
                  <a:schemeClr val="tx1"/>
                </a:solidFill>
                <a:round/>
                <a:headEnd/>
                <a:tailEnd type="triangle" w="med" len="med"/>
              </a:ln>
              <a:effectLst/>
            </p:spPr>
            <p:txBody>
              <a:bodyPr wrap="none" anchor="ctr"/>
              <a:lstStyle/>
              <a:p>
                <a:endParaRPr lang="en-IN"/>
              </a:p>
            </p:txBody>
          </p:sp>
          <p:sp>
            <p:nvSpPr>
              <p:cNvPr id="16414" name="Line 30"/>
              <p:cNvSpPr>
                <a:spLocks noChangeShapeType="1"/>
              </p:cNvSpPr>
              <p:nvPr/>
            </p:nvSpPr>
            <p:spPr bwMode="auto">
              <a:xfrm>
                <a:off x="3024" y="2832"/>
                <a:ext cx="864" cy="864"/>
              </a:xfrm>
              <a:prstGeom prst="line">
                <a:avLst/>
              </a:prstGeom>
              <a:noFill/>
              <a:ln w="12700">
                <a:solidFill>
                  <a:schemeClr val="tx1"/>
                </a:solidFill>
                <a:round/>
                <a:headEnd/>
                <a:tailEnd type="triangle" w="med" len="med"/>
              </a:ln>
              <a:effectLst/>
            </p:spPr>
            <p:txBody>
              <a:bodyPr wrap="none" anchor="ctr"/>
              <a:lstStyle/>
              <a:p>
                <a:endParaRPr lang="en-IN"/>
              </a:p>
            </p:txBody>
          </p:sp>
          <p:sp>
            <p:nvSpPr>
              <p:cNvPr id="16415" name="Rectangle 31"/>
              <p:cNvSpPr>
                <a:spLocks noChangeArrowheads="1"/>
              </p:cNvSpPr>
              <p:nvPr/>
            </p:nvSpPr>
            <p:spPr bwMode="auto">
              <a:xfrm>
                <a:off x="1959" y="2484"/>
                <a:ext cx="1130" cy="402"/>
              </a:xfrm>
              <a:prstGeom prst="rect">
                <a:avLst/>
              </a:prstGeom>
              <a:noFill/>
              <a:ln w="12700">
                <a:noFill/>
                <a:miter lim="800000"/>
                <a:headEnd/>
                <a:tailEnd/>
              </a:ln>
              <a:effectLst/>
            </p:spPr>
            <p:txBody>
              <a:bodyPr wrap="none" lIns="90488" tIns="44450" rIns="90488" bIns="44450">
                <a:spAutoFit/>
              </a:bodyPr>
              <a:lstStyle/>
              <a:p>
                <a:pPr eaLnBrk="0" hangingPunct="0"/>
                <a:r>
                  <a:rPr lang="en-US" sz="1800" b="1" dirty="0">
                    <a:solidFill>
                      <a:srgbClr val="CE2700"/>
                    </a:solidFill>
                    <a:latin typeface="Arial" charset="0"/>
                  </a:rPr>
                  <a:t>MRP computer</a:t>
                </a:r>
              </a:p>
              <a:p>
                <a:pPr eaLnBrk="0" hangingPunct="0"/>
                <a:r>
                  <a:rPr lang="en-US" sz="1800" b="1" dirty="0">
                    <a:solidFill>
                      <a:srgbClr val="CE2700"/>
                    </a:solidFill>
                    <a:latin typeface="Arial" charset="0"/>
                  </a:rPr>
                  <a:t>programs</a:t>
                </a:r>
              </a:p>
            </p:txBody>
          </p:sp>
          <p:sp>
            <p:nvSpPr>
              <p:cNvPr id="16416" name="Rectangle 32"/>
              <p:cNvSpPr>
                <a:spLocks noChangeArrowheads="1"/>
              </p:cNvSpPr>
              <p:nvPr/>
            </p:nvSpPr>
            <p:spPr bwMode="auto">
              <a:xfrm>
                <a:off x="4143" y="980"/>
                <a:ext cx="722" cy="229"/>
              </a:xfrm>
              <a:prstGeom prst="rect">
                <a:avLst/>
              </a:prstGeom>
              <a:noFill/>
              <a:ln w="12700">
                <a:noFill/>
                <a:miter lim="800000"/>
                <a:headEnd/>
                <a:tailEnd/>
              </a:ln>
              <a:effectLst/>
            </p:spPr>
            <p:txBody>
              <a:bodyPr wrap="none" lIns="90488" tIns="44450" rIns="90488" bIns="44450">
                <a:spAutoFit/>
              </a:bodyPr>
              <a:lstStyle/>
              <a:p>
                <a:pPr eaLnBrk="0" hangingPunct="0"/>
                <a:r>
                  <a:rPr lang="en-US" sz="1800" b="1">
                    <a:solidFill>
                      <a:srgbClr val="CE2700"/>
                    </a:solidFill>
                    <a:latin typeface="Arial" charset="0"/>
                  </a:rPr>
                  <a:t>Changes</a:t>
                </a:r>
              </a:p>
            </p:txBody>
          </p:sp>
          <p:sp>
            <p:nvSpPr>
              <p:cNvPr id="16417" name="Rectangle 33"/>
              <p:cNvSpPr>
                <a:spLocks noChangeArrowheads="1"/>
              </p:cNvSpPr>
              <p:nvPr/>
            </p:nvSpPr>
            <p:spPr bwMode="auto">
              <a:xfrm>
                <a:off x="3879" y="1236"/>
                <a:ext cx="1122" cy="229"/>
              </a:xfrm>
              <a:prstGeom prst="rect">
                <a:avLst/>
              </a:prstGeom>
              <a:noFill/>
              <a:ln w="12700">
                <a:noFill/>
                <a:miter lim="800000"/>
                <a:headEnd/>
                <a:tailEnd/>
              </a:ln>
              <a:effectLst/>
            </p:spPr>
            <p:txBody>
              <a:bodyPr wrap="none" lIns="90488" tIns="44450" rIns="90488" bIns="44450">
                <a:spAutoFit/>
              </a:bodyPr>
              <a:lstStyle/>
              <a:p>
                <a:pPr eaLnBrk="0" hangingPunct="0"/>
                <a:r>
                  <a:rPr lang="en-US" sz="1800" b="1" dirty="0">
                    <a:solidFill>
                      <a:srgbClr val="CE2700"/>
                    </a:solidFill>
                    <a:latin typeface="Arial" charset="0"/>
                  </a:rPr>
                  <a:t>Order releases</a:t>
                </a:r>
              </a:p>
            </p:txBody>
          </p:sp>
          <p:sp>
            <p:nvSpPr>
              <p:cNvPr id="16418" name="Rectangle 34"/>
              <p:cNvSpPr>
                <a:spLocks noChangeArrowheads="1"/>
              </p:cNvSpPr>
              <p:nvPr/>
            </p:nvSpPr>
            <p:spPr bwMode="auto">
              <a:xfrm>
                <a:off x="3735" y="1488"/>
                <a:ext cx="1090" cy="402"/>
              </a:xfrm>
              <a:prstGeom prst="rect">
                <a:avLst/>
              </a:prstGeom>
              <a:noFill/>
              <a:ln w="12700">
                <a:noFill/>
                <a:miter lim="800000"/>
                <a:headEnd/>
                <a:tailEnd/>
              </a:ln>
              <a:effectLst/>
            </p:spPr>
            <p:txBody>
              <a:bodyPr wrap="none" lIns="90488" tIns="44450" rIns="90488" bIns="44450">
                <a:spAutoFit/>
              </a:bodyPr>
              <a:lstStyle/>
              <a:p>
                <a:pPr eaLnBrk="0" hangingPunct="0"/>
                <a:r>
                  <a:rPr lang="en-US" sz="1800" b="1" dirty="0">
                    <a:solidFill>
                      <a:srgbClr val="CE2700"/>
                    </a:solidFill>
                    <a:latin typeface="Arial" charset="0"/>
                  </a:rPr>
                  <a:t>Planned-order</a:t>
                </a:r>
              </a:p>
              <a:p>
                <a:pPr eaLnBrk="0" hangingPunct="0"/>
                <a:r>
                  <a:rPr lang="en-US" sz="1800" b="1" dirty="0">
                    <a:solidFill>
                      <a:srgbClr val="CE2700"/>
                    </a:solidFill>
                    <a:latin typeface="Arial" charset="0"/>
                  </a:rPr>
                  <a:t>schedules</a:t>
                </a:r>
              </a:p>
            </p:txBody>
          </p:sp>
          <p:sp>
            <p:nvSpPr>
              <p:cNvPr id="16419" name="Freeform 35"/>
              <p:cNvSpPr>
                <a:spLocks/>
              </p:cNvSpPr>
              <p:nvPr/>
            </p:nvSpPr>
            <p:spPr bwMode="auto">
              <a:xfrm>
                <a:off x="4453" y="2138"/>
                <a:ext cx="1111" cy="697"/>
              </a:xfrm>
              <a:custGeom>
                <a:avLst/>
                <a:gdLst/>
                <a:ahLst/>
                <a:cxnLst>
                  <a:cxn ang="0">
                    <a:pos x="0" y="642"/>
                  </a:cxn>
                  <a:cxn ang="0">
                    <a:pos x="0" y="0"/>
                  </a:cxn>
                  <a:cxn ang="0">
                    <a:pos x="1110" y="0"/>
                  </a:cxn>
                  <a:cxn ang="0">
                    <a:pos x="1110" y="381"/>
                  </a:cxn>
                  <a:cxn ang="0">
                    <a:pos x="975" y="381"/>
                  </a:cxn>
                  <a:cxn ang="0">
                    <a:pos x="912" y="387"/>
                  </a:cxn>
                  <a:cxn ang="0">
                    <a:pos x="858" y="399"/>
                  </a:cxn>
                  <a:cxn ang="0">
                    <a:pos x="795" y="417"/>
                  </a:cxn>
                  <a:cxn ang="0">
                    <a:pos x="732" y="441"/>
                  </a:cxn>
                  <a:cxn ang="0">
                    <a:pos x="678" y="468"/>
                  </a:cxn>
                  <a:cxn ang="0">
                    <a:pos x="624" y="507"/>
                  </a:cxn>
                  <a:cxn ang="0">
                    <a:pos x="570" y="552"/>
                  </a:cxn>
                  <a:cxn ang="0">
                    <a:pos x="522" y="591"/>
                  </a:cxn>
                  <a:cxn ang="0">
                    <a:pos x="489" y="615"/>
                  </a:cxn>
                  <a:cxn ang="0">
                    <a:pos x="453" y="636"/>
                  </a:cxn>
                  <a:cxn ang="0">
                    <a:pos x="402" y="663"/>
                  </a:cxn>
                  <a:cxn ang="0">
                    <a:pos x="348" y="681"/>
                  </a:cxn>
                  <a:cxn ang="0">
                    <a:pos x="294" y="693"/>
                  </a:cxn>
                  <a:cxn ang="0">
                    <a:pos x="240" y="696"/>
                  </a:cxn>
                  <a:cxn ang="0">
                    <a:pos x="186" y="693"/>
                  </a:cxn>
                  <a:cxn ang="0">
                    <a:pos x="132" y="684"/>
                  </a:cxn>
                  <a:cxn ang="0">
                    <a:pos x="90" y="675"/>
                  </a:cxn>
                  <a:cxn ang="0">
                    <a:pos x="42" y="660"/>
                  </a:cxn>
                  <a:cxn ang="0">
                    <a:pos x="0" y="642"/>
                  </a:cxn>
                </a:cxnLst>
                <a:rect l="0" t="0" r="r" b="b"/>
                <a:pathLst>
                  <a:path w="1111" h="697">
                    <a:moveTo>
                      <a:pt x="0" y="642"/>
                    </a:moveTo>
                    <a:lnTo>
                      <a:pt x="0" y="0"/>
                    </a:lnTo>
                    <a:lnTo>
                      <a:pt x="1110" y="0"/>
                    </a:lnTo>
                    <a:lnTo>
                      <a:pt x="1110" y="381"/>
                    </a:lnTo>
                    <a:lnTo>
                      <a:pt x="975" y="381"/>
                    </a:lnTo>
                    <a:lnTo>
                      <a:pt x="912" y="387"/>
                    </a:lnTo>
                    <a:lnTo>
                      <a:pt x="858" y="399"/>
                    </a:lnTo>
                    <a:lnTo>
                      <a:pt x="795" y="417"/>
                    </a:lnTo>
                    <a:lnTo>
                      <a:pt x="732" y="441"/>
                    </a:lnTo>
                    <a:lnTo>
                      <a:pt x="678" y="468"/>
                    </a:lnTo>
                    <a:lnTo>
                      <a:pt x="624" y="507"/>
                    </a:lnTo>
                    <a:lnTo>
                      <a:pt x="570" y="552"/>
                    </a:lnTo>
                    <a:lnTo>
                      <a:pt x="522" y="591"/>
                    </a:lnTo>
                    <a:lnTo>
                      <a:pt x="489" y="615"/>
                    </a:lnTo>
                    <a:lnTo>
                      <a:pt x="453" y="636"/>
                    </a:lnTo>
                    <a:lnTo>
                      <a:pt x="402" y="663"/>
                    </a:lnTo>
                    <a:lnTo>
                      <a:pt x="348" y="681"/>
                    </a:lnTo>
                    <a:lnTo>
                      <a:pt x="294" y="693"/>
                    </a:lnTo>
                    <a:lnTo>
                      <a:pt x="240" y="696"/>
                    </a:lnTo>
                    <a:lnTo>
                      <a:pt x="186" y="693"/>
                    </a:lnTo>
                    <a:lnTo>
                      <a:pt x="132" y="684"/>
                    </a:lnTo>
                    <a:lnTo>
                      <a:pt x="90" y="675"/>
                    </a:lnTo>
                    <a:lnTo>
                      <a:pt x="42" y="660"/>
                    </a:lnTo>
                    <a:lnTo>
                      <a:pt x="0" y="642"/>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sp>
            <p:nvSpPr>
              <p:cNvPr id="16420" name="Freeform 36"/>
              <p:cNvSpPr>
                <a:spLocks/>
              </p:cNvSpPr>
              <p:nvPr/>
            </p:nvSpPr>
            <p:spPr bwMode="auto">
              <a:xfrm>
                <a:off x="4321" y="2366"/>
                <a:ext cx="1111" cy="697"/>
              </a:xfrm>
              <a:custGeom>
                <a:avLst/>
                <a:gdLst/>
                <a:ahLst/>
                <a:cxnLst>
                  <a:cxn ang="0">
                    <a:pos x="0" y="642"/>
                  </a:cxn>
                  <a:cxn ang="0">
                    <a:pos x="0" y="0"/>
                  </a:cxn>
                  <a:cxn ang="0">
                    <a:pos x="1110" y="0"/>
                  </a:cxn>
                  <a:cxn ang="0">
                    <a:pos x="1110" y="381"/>
                  </a:cxn>
                  <a:cxn ang="0">
                    <a:pos x="975" y="381"/>
                  </a:cxn>
                  <a:cxn ang="0">
                    <a:pos x="912" y="387"/>
                  </a:cxn>
                  <a:cxn ang="0">
                    <a:pos x="858" y="399"/>
                  </a:cxn>
                  <a:cxn ang="0">
                    <a:pos x="795" y="417"/>
                  </a:cxn>
                  <a:cxn ang="0">
                    <a:pos x="732" y="441"/>
                  </a:cxn>
                  <a:cxn ang="0">
                    <a:pos x="678" y="468"/>
                  </a:cxn>
                  <a:cxn ang="0">
                    <a:pos x="624" y="507"/>
                  </a:cxn>
                  <a:cxn ang="0">
                    <a:pos x="570" y="552"/>
                  </a:cxn>
                  <a:cxn ang="0">
                    <a:pos x="522" y="591"/>
                  </a:cxn>
                  <a:cxn ang="0">
                    <a:pos x="489" y="615"/>
                  </a:cxn>
                  <a:cxn ang="0">
                    <a:pos x="453" y="636"/>
                  </a:cxn>
                  <a:cxn ang="0">
                    <a:pos x="402" y="663"/>
                  </a:cxn>
                  <a:cxn ang="0">
                    <a:pos x="348" y="681"/>
                  </a:cxn>
                  <a:cxn ang="0">
                    <a:pos x="294" y="693"/>
                  </a:cxn>
                  <a:cxn ang="0">
                    <a:pos x="240" y="696"/>
                  </a:cxn>
                  <a:cxn ang="0">
                    <a:pos x="186" y="693"/>
                  </a:cxn>
                  <a:cxn ang="0">
                    <a:pos x="132" y="684"/>
                  </a:cxn>
                  <a:cxn ang="0">
                    <a:pos x="90" y="675"/>
                  </a:cxn>
                  <a:cxn ang="0">
                    <a:pos x="42" y="660"/>
                  </a:cxn>
                  <a:cxn ang="0">
                    <a:pos x="0" y="642"/>
                  </a:cxn>
                </a:cxnLst>
                <a:rect l="0" t="0" r="r" b="b"/>
                <a:pathLst>
                  <a:path w="1111" h="697">
                    <a:moveTo>
                      <a:pt x="0" y="642"/>
                    </a:moveTo>
                    <a:lnTo>
                      <a:pt x="0" y="0"/>
                    </a:lnTo>
                    <a:lnTo>
                      <a:pt x="1110" y="0"/>
                    </a:lnTo>
                    <a:lnTo>
                      <a:pt x="1110" y="381"/>
                    </a:lnTo>
                    <a:lnTo>
                      <a:pt x="975" y="381"/>
                    </a:lnTo>
                    <a:lnTo>
                      <a:pt x="912" y="387"/>
                    </a:lnTo>
                    <a:lnTo>
                      <a:pt x="858" y="399"/>
                    </a:lnTo>
                    <a:lnTo>
                      <a:pt x="795" y="417"/>
                    </a:lnTo>
                    <a:lnTo>
                      <a:pt x="732" y="441"/>
                    </a:lnTo>
                    <a:lnTo>
                      <a:pt x="678" y="468"/>
                    </a:lnTo>
                    <a:lnTo>
                      <a:pt x="624" y="507"/>
                    </a:lnTo>
                    <a:lnTo>
                      <a:pt x="570" y="552"/>
                    </a:lnTo>
                    <a:lnTo>
                      <a:pt x="522" y="591"/>
                    </a:lnTo>
                    <a:lnTo>
                      <a:pt x="489" y="615"/>
                    </a:lnTo>
                    <a:lnTo>
                      <a:pt x="453" y="636"/>
                    </a:lnTo>
                    <a:lnTo>
                      <a:pt x="402" y="663"/>
                    </a:lnTo>
                    <a:lnTo>
                      <a:pt x="348" y="681"/>
                    </a:lnTo>
                    <a:lnTo>
                      <a:pt x="294" y="693"/>
                    </a:lnTo>
                    <a:lnTo>
                      <a:pt x="240" y="696"/>
                    </a:lnTo>
                    <a:lnTo>
                      <a:pt x="186" y="693"/>
                    </a:lnTo>
                    <a:lnTo>
                      <a:pt x="132" y="684"/>
                    </a:lnTo>
                    <a:lnTo>
                      <a:pt x="90" y="675"/>
                    </a:lnTo>
                    <a:lnTo>
                      <a:pt x="42" y="660"/>
                    </a:lnTo>
                    <a:lnTo>
                      <a:pt x="0" y="642"/>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sp>
            <p:nvSpPr>
              <p:cNvPr id="16421" name="Freeform 37"/>
              <p:cNvSpPr>
                <a:spLocks/>
              </p:cNvSpPr>
              <p:nvPr/>
            </p:nvSpPr>
            <p:spPr bwMode="auto">
              <a:xfrm>
                <a:off x="4189" y="2594"/>
                <a:ext cx="1111" cy="697"/>
              </a:xfrm>
              <a:custGeom>
                <a:avLst/>
                <a:gdLst/>
                <a:ahLst/>
                <a:cxnLst>
                  <a:cxn ang="0">
                    <a:pos x="0" y="642"/>
                  </a:cxn>
                  <a:cxn ang="0">
                    <a:pos x="0" y="0"/>
                  </a:cxn>
                  <a:cxn ang="0">
                    <a:pos x="1110" y="0"/>
                  </a:cxn>
                  <a:cxn ang="0">
                    <a:pos x="1110" y="381"/>
                  </a:cxn>
                  <a:cxn ang="0">
                    <a:pos x="975" y="381"/>
                  </a:cxn>
                  <a:cxn ang="0">
                    <a:pos x="912" y="387"/>
                  </a:cxn>
                  <a:cxn ang="0">
                    <a:pos x="858" y="399"/>
                  </a:cxn>
                  <a:cxn ang="0">
                    <a:pos x="795" y="417"/>
                  </a:cxn>
                  <a:cxn ang="0">
                    <a:pos x="732" y="441"/>
                  </a:cxn>
                  <a:cxn ang="0">
                    <a:pos x="678" y="468"/>
                  </a:cxn>
                  <a:cxn ang="0">
                    <a:pos x="624" y="507"/>
                  </a:cxn>
                  <a:cxn ang="0">
                    <a:pos x="570" y="552"/>
                  </a:cxn>
                  <a:cxn ang="0">
                    <a:pos x="522" y="591"/>
                  </a:cxn>
                  <a:cxn ang="0">
                    <a:pos x="489" y="615"/>
                  </a:cxn>
                  <a:cxn ang="0">
                    <a:pos x="453" y="636"/>
                  </a:cxn>
                  <a:cxn ang="0">
                    <a:pos x="402" y="663"/>
                  </a:cxn>
                  <a:cxn ang="0">
                    <a:pos x="348" y="681"/>
                  </a:cxn>
                  <a:cxn ang="0">
                    <a:pos x="294" y="693"/>
                  </a:cxn>
                  <a:cxn ang="0">
                    <a:pos x="240" y="696"/>
                  </a:cxn>
                  <a:cxn ang="0">
                    <a:pos x="186" y="693"/>
                  </a:cxn>
                  <a:cxn ang="0">
                    <a:pos x="132" y="684"/>
                  </a:cxn>
                  <a:cxn ang="0">
                    <a:pos x="90" y="675"/>
                  </a:cxn>
                  <a:cxn ang="0">
                    <a:pos x="42" y="660"/>
                  </a:cxn>
                  <a:cxn ang="0">
                    <a:pos x="0" y="642"/>
                  </a:cxn>
                </a:cxnLst>
                <a:rect l="0" t="0" r="r" b="b"/>
                <a:pathLst>
                  <a:path w="1111" h="697">
                    <a:moveTo>
                      <a:pt x="0" y="642"/>
                    </a:moveTo>
                    <a:lnTo>
                      <a:pt x="0" y="0"/>
                    </a:lnTo>
                    <a:lnTo>
                      <a:pt x="1110" y="0"/>
                    </a:lnTo>
                    <a:lnTo>
                      <a:pt x="1110" y="381"/>
                    </a:lnTo>
                    <a:lnTo>
                      <a:pt x="975" y="381"/>
                    </a:lnTo>
                    <a:lnTo>
                      <a:pt x="912" y="387"/>
                    </a:lnTo>
                    <a:lnTo>
                      <a:pt x="858" y="399"/>
                    </a:lnTo>
                    <a:lnTo>
                      <a:pt x="795" y="417"/>
                    </a:lnTo>
                    <a:lnTo>
                      <a:pt x="732" y="441"/>
                    </a:lnTo>
                    <a:lnTo>
                      <a:pt x="678" y="468"/>
                    </a:lnTo>
                    <a:lnTo>
                      <a:pt x="624" y="507"/>
                    </a:lnTo>
                    <a:lnTo>
                      <a:pt x="570" y="552"/>
                    </a:lnTo>
                    <a:lnTo>
                      <a:pt x="522" y="591"/>
                    </a:lnTo>
                    <a:lnTo>
                      <a:pt x="489" y="615"/>
                    </a:lnTo>
                    <a:lnTo>
                      <a:pt x="453" y="636"/>
                    </a:lnTo>
                    <a:lnTo>
                      <a:pt x="402" y="663"/>
                    </a:lnTo>
                    <a:lnTo>
                      <a:pt x="348" y="681"/>
                    </a:lnTo>
                    <a:lnTo>
                      <a:pt x="294" y="693"/>
                    </a:lnTo>
                    <a:lnTo>
                      <a:pt x="240" y="696"/>
                    </a:lnTo>
                    <a:lnTo>
                      <a:pt x="186" y="693"/>
                    </a:lnTo>
                    <a:lnTo>
                      <a:pt x="132" y="684"/>
                    </a:lnTo>
                    <a:lnTo>
                      <a:pt x="90" y="675"/>
                    </a:lnTo>
                    <a:lnTo>
                      <a:pt x="42" y="660"/>
                    </a:lnTo>
                    <a:lnTo>
                      <a:pt x="0" y="642"/>
                    </a:lnTo>
                  </a:path>
                </a:pathLst>
              </a:custGeom>
              <a:solidFill>
                <a:srgbClr val="8AC8B8"/>
              </a:solidFill>
              <a:ln w="12700" cap="rnd" cmpd="sng">
                <a:solidFill>
                  <a:schemeClr val="tx1"/>
                </a:solidFill>
                <a:prstDash val="solid"/>
                <a:round/>
                <a:headEnd type="none" w="med" len="med"/>
                <a:tailEnd type="none" w="med" len="med"/>
              </a:ln>
              <a:effectLst/>
            </p:spPr>
            <p:txBody>
              <a:bodyPr/>
              <a:lstStyle/>
              <a:p>
                <a:endParaRPr lang="en-IN"/>
              </a:p>
            </p:txBody>
          </p:sp>
          <p:sp>
            <p:nvSpPr>
              <p:cNvPr id="16422" name="Rectangle 38"/>
              <p:cNvSpPr>
                <a:spLocks noChangeArrowheads="1"/>
              </p:cNvSpPr>
              <p:nvPr/>
            </p:nvSpPr>
            <p:spPr bwMode="auto">
              <a:xfrm>
                <a:off x="4442" y="2148"/>
                <a:ext cx="1134" cy="200"/>
              </a:xfrm>
              <a:prstGeom prst="rect">
                <a:avLst/>
              </a:prstGeom>
              <a:noFill/>
              <a:ln w="12700">
                <a:noFill/>
                <a:miter lim="800000"/>
                <a:headEnd/>
                <a:tailEnd/>
              </a:ln>
              <a:effectLst/>
            </p:spPr>
            <p:txBody>
              <a:bodyPr wrap="none" lIns="90488" tIns="44450" rIns="90488" bIns="44450">
                <a:spAutoFit/>
              </a:bodyPr>
              <a:lstStyle/>
              <a:p>
                <a:pPr eaLnBrk="0" hangingPunct="0"/>
                <a:r>
                  <a:rPr lang="en-US" sz="1500" b="1">
                    <a:solidFill>
                      <a:srgbClr val="CE2700"/>
                    </a:solidFill>
                    <a:latin typeface="Arial" charset="0"/>
                  </a:rPr>
                  <a:t>Exception reports</a:t>
                </a:r>
                <a:endParaRPr lang="en-US" sz="1800" b="1">
                  <a:solidFill>
                    <a:srgbClr val="CE2700"/>
                  </a:solidFill>
                  <a:latin typeface="Arial" charset="0"/>
                </a:endParaRPr>
              </a:p>
            </p:txBody>
          </p:sp>
          <p:sp>
            <p:nvSpPr>
              <p:cNvPr id="16423" name="Rectangle 39"/>
              <p:cNvSpPr>
                <a:spLocks noChangeArrowheads="1"/>
              </p:cNvSpPr>
              <p:nvPr/>
            </p:nvSpPr>
            <p:spPr bwMode="auto">
              <a:xfrm>
                <a:off x="4311" y="2376"/>
                <a:ext cx="1131" cy="210"/>
              </a:xfrm>
              <a:prstGeom prst="rect">
                <a:avLst/>
              </a:prstGeom>
              <a:noFill/>
              <a:ln w="12700">
                <a:noFill/>
                <a:miter lim="800000"/>
                <a:headEnd/>
                <a:tailEnd/>
              </a:ln>
              <a:effectLst/>
            </p:spPr>
            <p:txBody>
              <a:bodyPr wrap="none" lIns="90488" tIns="44450" rIns="90488" bIns="44450">
                <a:spAutoFit/>
              </a:bodyPr>
              <a:lstStyle/>
              <a:p>
                <a:pPr eaLnBrk="0" hangingPunct="0"/>
                <a:r>
                  <a:rPr lang="en-US" sz="1600" b="1">
                    <a:solidFill>
                      <a:srgbClr val="CE2700"/>
                    </a:solidFill>
                    <a:latin typeface="Arial" charset="0"/>
                  </a:rPr>
                  <a:t>Planning reports</a:t>
                </a:r>
                <a:endParaRPr lang="en-US" sz="1800" b="1">
                  <a:solidFill>
                    <a:srgbClr val="CE2700"/>
                  </a:solidFill>
                  <a:latin typeface="Arial" charset="0"/>
                </a:endParaRPr>
              </a:p>
            </p:txBody>
          </p:sp>
          <p:sp>
            <p:nvSpPr>
              <p:cNvPr id="16424" name="Rectangle 40"/>
              <p:cNvSpPr>
                <a:spLocks noChangeArrowheads="1"/>
              </p:cNvSpPr>
              <p:nvPr/>
            </p:nvSpPr>
            <p:spPr bwMode="auto">
              <a:xfrm>
                <a:off x="4227" y="2600"/>
                <a:ext cx="939" cy="518"/>
              </a:xfrm>
              <a:prstGeom prst="rect">
                <a:avLst/>
              </a:prstGeom>
              <a:noFill/>
              <a:ln w="12700">
                <a:noFill/>
                <a:miter lim="800000"/>
                <a:headEnd/>
                <a:tailEnd/>
              </a:ln>
              <a:effectLst/>
            </p:spPr>
            <p:txBody>
              <a:bodyPr wrap="none" lIns="90488" tIns="44450" rIns="90488" bIns="44450">
                <a:spAutoFit/>
              </a:bodyPr>
              <a:lstStyle/>
              <a:p>
                <a:pPr eaLnBrk="0" hangingPunct="0"/>
                <a:r>
                  <a:rPr lang="en-US" sz="1600" b="1">
                    <a:solidFill>
                      <a:srgbClr val="CE2700"/>
                    </a:solidFill>
                    <a:latin typeface="Arial" charset="0"/>
                  </a:rPr>
                  <a:t>Performance-</a:t>
                </a:r>
              </a:p>
              <a:p>
                <a:pPr eaLnBrk="0" hangingPunct="0"/>
                <a:r>
                  <a:rPr lang="en-US" sz="1600" b="1">
                    <a:solidFill>
                      <a:srgbClr val="CE2700"/>
                    </a:solidFill>
                    <a:latin typeface="Arial" charset="0"/>
                  </a:rPr>
                  <a:t>control</a:t>
                </a:r>
              </a:p>
              <a:p>
                <a:pPr eaLnBrk="0" hangingPunct="0"/>
                <a:r>
                  <a:rPr lang="en-US" sz="1600" b="1">
                    <a:solidFill>
                      <a:srgbClr val="CE2700"/>
                    </a:solidFill>
                    <a:latin typeface="Arial" charset="0"/>
                  </a:rPr>
                  <a:t>reports</a:t>
                </a:r>
              </a:p>
            </p:txBody>
          </p:sp>
          <p:sp>
            <p:nvSpPr>
              <p:cNvPr id="16425" name="Rectangle 41"/>
              <p:cNvSpPr>
                <a:spLocks noChangeArrowheads="1"/>
              </p:cNvSpPr>
              <p:nvPr/>
            </p:nvSpPr>
            <p:spPr bwMode="auto">
              <a:xfrm>
                <a:off x="4023" y="3456"/>
                <a:ext cx="890" cy="402"/>
              </a:xfrm>
              <a:prstGeom prst="rect">
                <a:avLst/>
              </a:prstGeom>
              <a:noFill/>
              <a:ln w="12700">
                <a:noFill/>
                <a:miter lim="800000"/>
                <a:headEnd/>
                <a:tailEnd/>
              </a:ln>
              <a:effectLst/>
            </p:spPr>
            <p:txBody>
              <a:bodyPr wrap="none" lIns="90488" tIns="44450" rIns="90488" bIns="44450">
                <a:spAutoFit/>
              </a:bodyPr>
              <a:lstStyle/>
              <a:p>
                <a:pPr eaLnBrk="0" hangingPunct="0"/>
                <a:r>
                  <a:rPr lang="en-US" sz="1800" b="1">
                    <a:solidFill>
                      <a:srgbClr val="CE2700"/>
                    </a:solidFill>
                    <a:latin typeface="Arial" charset="0"/>
                  </a:rPr>
                  <a:t>Inventory</a:t>
                </a:r>
              </a:p>
              <a:p>
                <a:pPr eaLnBrk="0" hangingPunct="0"/>
                <a:r>
                  <a:rPr lang="en-US" sz="1800" b="1">
                    <a:solidFill>
                      <a:srgbClr val="CE2700"/>
                    </a:solidFill>
                    <a:latin typeface="Arial" charset="0"/>
                  </a:rPr>
                  <a:t>transaction</a:t>
                </a:r>
              </a:p>
            </p:txBody>
          </p:sp>
          <p:sp>
            <p:nvSpPr>
              <p:cNvPr id="16426" name="Line 42"/>
              <p:cNvSpPr>
                <a:spLocks noChangeShapeType="1"/>
              </p:cNvSpPr>
              <p:nvPr/>
            </p:nvSpPr>
            <p:spPr bwMode="auto">
              <a:xfrm flipH="1">
                <a:off x="1361" y="3770"/>
                <a:ext cx="2511" cy="0"/>
              </a:xfrm>
              <a:prstGeom prst="line">
                <a:avLst/>
              </a:prstGeom>
              <a:noFill/>
              <a:ln w="12700">
                <a:solidFill>
                  <a:schemeClr val="tx1"/>
                </a:solidFill>
                <a:round/>
                <a:headEnd/>
                <a:tailEnd type="triangle" w="med" len="med"/>
              </a:ln>
              <a:effectLst/>
            </p:spPr>
            <p:txBody>
              <a:bodyPr wrap="none" anchor="ctr"/>
              <a:lstStyle/>
              <a:p>
                <a:endParaRPr lang="en-IN"/>
              </a:p>
            </p:txBody>
          </p:sp>
          <p:sp useBgFill="1">
            <p:nvSpPr>
              <p:cNvPr id="16427" name="Rectangle 43"/>
              <p:cNvSpPr>
                <a:spLocks noChangeArrowheads="1"/>
              </p:cNvSpPr>
              <p:nvPr/>
            </p:nvSpPr>
            <p:spPr bwMode="auto">
              <a:xfrm>
                <a:off x="2871" y="1884"/>
                <a:ext cx="650" cy="402"/>
              </a:xfrm>
              <a:prstGeom prst="rect">
                <a:avLst/>
              </a:prstGeom>
              <a:ln w="12700">
                <a:noFill/>
                <a:miter lim="800000"/>
                <a:headEnd/>
                <a:tailEnd/>
              </a:ln>
              <a:effectLst/>
            </p:spPr>
            <p:txBody>
              <a:bodyPr wrap="none" lIns="90488" tIns="44450" rIns="90488" bIns="44450">
                <a:spAutoFit/>
              </a:bodyPr>
              <a:lstStyle/>
              <a:p>
                <a:pPr eaLnBrk="0" hangingPunct="0"/>
                <a:r>
                  <a:rPr lang="en-US" sz="1800" b="1">
                    <a:solidFill>
                      <a:schemeClr val="folHlink"/>
                    </a:solidFill>
                    <a:latin typeface="Arial" charset="0"/>
                  </a:rPr>
                  <a:t>Primary</a:t>
                </a:r>
              </a:p>
              <a:p>
                <a:pPr eaLnBrk="0" hangingPunct="0"/>
                <a:r>
                  <a:rPr lang="en-US" sz="1800" b="1">
                    <a:solidFill>
                      <a:schemeClr val="folHlink"/>
                    </a:solidFill>
                    <a:latin typeface="Arial" charset="0"/>
                  </a:rPr>
                  <a:t>reports</a:t>
                </a:r>
              </a:p>
            </p:txBody>
          </p:sp>
          <p:sp useBgFill="1">
            <p:nvSpPr>
              <p:cNvPr id="16428" name="Rectangle 44"/>
              <p:cNvSpPr>
                <a:spLocks noChangeArrowheads="1"/>
              </p:cNvSpPr>
              <p:nvPr/>
            </p:nvSpPr>
            <p:spPr bwMode="auto">
              <a:xfrm>
                <a:off x="3171" y="2508"/>
                <a:ext cx="850" cy="402"/>
              </a:xfrm>
              <a:prstGeom prst="rect">
                <a:avLst/>
              </a:prstGeom>
              <a:ln w="12700">
                <a:noFill/>
                <a:miter lim="800000"/>
                <a:headEnd/>
                <a:tailEnd/>
              </a:ln>
              <a:effectLst/>
            </p:spPr>
            <p:txBody>
              <a:bodyPr wrap="none" lIns="90488" tIns="44450" rIns="90488" bIns="44450">
                <a:spAutoFit/>
              </a:bodyPr>
              <a:lstStyle/>
              <a:p>
                <a:pPr eaLnBrk="0" hangingPunct="0"/>
                <a:r>
                  <a:rPr lang="en-US" sz="1800" b="1">
                    <a:solidFill>
                      <a:schemeClr val="folHlink"/>
                    </a:solidFill>
                    <a:latin typeface="Arial" charset="0"/>
                  </a:rPr>
                  <a:t>Secondary</a:t>
                </a:r>
              </a:p>
              <a:p>
                <a:pPr eaLnBrk="0" hangingPunct="0"/>
                <a:r>
                  <a:rPr lang="en-US" sz="1800" b="1">
                    <a:solidFill>
                      <a:schemeClr val="folHlink"/>
                    </a:solidFill>
                    <a:latin typeface="Arial" charset="0"/>
                  </a:rPr>
                  <a:t>reports</a:t>
                </a:r>
              </a:p>
            </p:txBody>
          </p:sp>
        </p:grpSp>
      </p:grpSp>
    </p:spTree>
  </p:cSld>
  <p:clrMapOvr>
    <a:masterClrMapping/>
  </p:clrMapOvr>
  <p:transition>
    <p:dissolv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404664"/>
            <a:ext cx="7772400" cy="64807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MRP Inputs</a:t>
            </a:r>
          </a:p>
        </p:txBody>
      </p:sp>
      <p:sp>
        <p:nvSpPr>
          <p:cNvPr id="5123" name="Rectangle 3"/>
          <p:cNvSpPr>
            <a:spLocks noGrp="1" noChangeArrowheads="1"/>
          </p:cNvSpPr>
          <p:nvPr>
            <p:ph idx="1"/>
          </p:nvPr>
        </p:nvSpPr>
        <p:spPr>
          <a:xfrm>
            <a:off x="457200" y="1124744"/>
            <a:ext cx="8363272" cy="5184576"/>
          </a:xfrm>
        </p:spPr>
        <p:txBody>
          <a:bodyPr>
            <a:noAutofit/>
          </a:bodyPr>
          <a:lstStyle/>
          <a:p>
            <a:pPr marL="463550" lvl="3" indent="-354013" algn="just">
              <a:lnSpc>
                <a:spcPct val="150000"/>
              </a:lnSpc>
              <a:buFont typeface="Wingdings" pitchFamily="2" charset="2"/>
              <a:buChar char="q"/>
            </a:pPr>
            <a:r>
              <a:rPr lang="en-US" sz="2200" b="1" dirty="0">
                <a:latin typeface="Times New Roman" pitchFamily="18" charset="0"/>
                <a:cs typeface="Times New Roman" pitchFamily="18" charset="0"/>
              </a:rPr>
              <a:t>Master Production Schedule (MPS)</a:t>
            </a:r>
            <a:r>
              <a:rPr lang="en-US" sz="2200" dirty="0">
                <a:latin typeface="Times New Roman" pitchFamily="18" charset="0"/>
                <a:cs typeface="Times New Roman" pitchFamily="18" charset="0"/>
              </a:rPr>
              <a:t> – States which end items are to be produced, when they are needed, and in what quantities. It controls the timing and quantity of production for products or product families</a:t>
            </a:r>
          </a:p>
          <a:p>
            <a:pPr marL="463550" lvl="3" indent="-354013" algn="just">
              <a:lnSpc>
                <a:spcPct val="150000"/>
              </a:lnSpc>
              <a:buFont typeface="Wingdings" pitchFamily="2" charset="2"/>
              <a:buChar char="q"/>
            </a:pPr>
            <a:r>
              <a:rPr lang="en-US" sz="2200" b="1" dirty="0">
                <a:latin typeface="Times New Roman" pitchFamily="18" charset="0"/>
                <a:cs typeface="Times New Roman" pitchFamily="18" charset="0"/>
              </a:rPr>
              <a:t>Bill of Materials (BOM) </a:t>
            </a:r>
            <a:r>
              <a:rPr lang="en-US" sz="2200" dirty="0">
                <a:latin typeface="Times New Roman" pitchFamily="18" charset="0"/>
                <a:cs typeface="Times New Roman" pitchFamily="18" charset="0"/>
              </a:rPr>
              <a:t>– a listing of all of the raw materials, parts, and sub-assemblies needed to produce one unit of a product</a:t>
            </a:r>
          </a:p>
          <a:p>
            <a:pPr marL="463550" lvl="3" indent="-354013" algn="just">
              <a:lnSpc>
                <a:spcPct val="150000"/>
              </a:lnSpc>
              <a:buFont typeface="Wingdings" pitchFamily="2" charset="2"/>
              <a:buChar char="q"/>
            </a:pPr>
            <a:r>
              <a:rPr lang="en-US" sz="2200" b="1" dirty="0">
                <a:latin typeface="Times New Roman" pitchFamily="18" charset="0"/>
                <a:cs typeface="Times New Roman" pitchFamily="18" charset="0"/>
              </a:rPr>
              <a:t>Inventory Records</a:t>
            </a:r>
            <a:r>
              <a:rPr lang="en-US" sz="2200" dirty="0">
                <a:latin typeface="Times New Roman" pitchFamily="18" charset="0"/>
                <a:cs typeface="Times New Roman" pitchFamily="18" charset="0"/>
              </a:rPr>
              <a:t> – includes information on the status of an item during the planning horizon, </a:t>
            </a:r>
            <a:r>
              <a:rPr lang="en-US" sz="2200" dirty="0" err="1">
                <a:latin typeface="Times New Roman" pitchFamily="18" charset="0"/>
                <a:cs typeface="Times New Roman" pitchFamily="18" charset="0"/>
              </a:rPr>
              <a:t>eg</a:t>
            </a:r>
            <a:r>
              <a:rPr lang="en-US" sz="2200" dirty="0">
                <a:latin typeface="Times New Roman" pitchFamily="18" charset="0"/>
                <a:cs typeface="Times New Roman" pitchFamily="18" charset="0"/>
              </a:rPr>
              <a:t>. quantity, supplier, order lead time, lot size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609600"/>
            <a:ext cx="7772400" cy="762000"/>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MRP Outputs</a:t>
            </a:r>
          </a:p>
        </p:txBody>
      </p:sp>
      <p:sp>
        <p:nvSpPr>
          <p:cNvPr id="6147" name="Rectangle 3"/>
          <p:cNvSpPr>
            <a:spLocks noGrp="1" noChangeArrowheads="1"/>
          </p:cNvSpPr>
          <p:nvPr>
            <p:ph idx="1"/>
          </p:nvPr>
        </p:nvSpPr>
        <p:spPr/>
        <p:txBody>
          <a:bodyPr>
            <a:normAutofit/>
          </a:bodyPr>
          <a:lstStyle/>
          <a:p>
            <a:pPr algn="just">
              <a:lnSpc>
                <a:spcPct val="150000"/>
              </a:lnSpc>
              <a:buFont typeface="Wingdings" pitchFamily="2" charset="2"/>
              <a:buNone/>
            </a:pPr>
            <a:r>
              <a:rPr lang="en-US" sz="2400" b="1" dirty="0">
                <a:latin typeface="Times New Roman" pitchFamily="18" charset="0"/>
                <a:cs typeface="Times New Roman" pitchFamily="18" charset="0"/>
              </a:rPr>
              <a:t>Primary Reports</a:t>
            </a:r>
            <a:endParaRPr lang="en-US" sz="2200" dirty="0">
              <a:latin typeface="Times New Roman" pitchFamily="18" charset="0"/>
              <a:cs typeface="Times New Roman" pitchFamily="18" charset="0"/>
            </a:endParaRPr>
          </a:p>
          <a:p>
            <a:pPr algn="just">
              <a:lnSpc>
                <a:spcPct val="150000"/>
              </a:lnSpc>
              <a:buFont typeface="Wingdings" pitchFamily="2" charset="2"/>
              <a:buChar char="ü"/>
            </a:pPr>
            <a:r>
              <a:rPr lang="en-US" sz="2200" b="1" i="1" dirty="0">
                <a:latin typeface="Times New Roman" pitchFamily="18" charset="0"/>
                <a:cs typeface="Times New Roman" pitchFamily="18" charset="0"/>
              </a:rPr>
              <a:t>Planned Orders Schedule </a:t>
            </a:r>
            <a:r>
              <a:rPr lang="en-US" sz="2200" dirty="0">
                <a:latin typeface="Times New Roman" pitchFamily="18" charset="0"/>
                <a:cs typeface="Times New Roman" pitchFamily="18" charset="0"/>
              </a:rPr>
              <a:t>- indicating the amount and timing of future orders</a:t>
            </a:r>
          </a:p>
          <a:p>
            <a:pPr algn="just">
              <a:lnSpc>
                <a:spcPct val="150000"/>
              </a:lnSpc>
              <a:buFont typeface="Wingdings" pitchFamily="2" charset="2"/>
              <a:buChar char="ü"/>
            </a:pPr>
            <a:r>
              <a:rPr lang="en-US" sz="2200" b="1" i="1" dirty="0">
                <a:latin typeface="Times New Roman" pitchFamily="18" charset="0"/>
                <a:cs typeface="Times New Roman" pitchFamily="18" charset="0"/>
              </a:rPr>
              <a:t>Order Releases </a:t>
            </a:r>
            <a:r>
              <a:rPr lang="en-US" sz="2200" dirty="0">
                <a:latin typeface="Times New Roman" pitchFamily="18" charset="0"/>
                <a:cs typeface="Times New Roman" pitchFamily="18" charset="0"/>
              </a:rPr>
              <a:t>- Authorization for the execution of planned orders</a:t>
            </a:r>
          </a:p>
          <a:p>
            <a:pPr algn="just">
              <a:lnSpc>
                <a:spcPct val="150000"/>
              </a:lnSpc>
              <a:buFont typeface="Wingdings" pitchFamily="2" charset="2"/>
              <a:buChar char="ü"/>
            </a:pPr>
            <a:r>
              <a:rPr lang="en-US" sz="2200" b="1" i="1" dirty="0">
                <a:latin typeface="Times New Roman" pitchFamily="18" charset="0"/>
                <a:cs typeface="Times New Roman" pitchFamily="18" charset="0"/>
              </a:rPr>
              <a:t>Change</a:t>
            </a:r>
            <a:r>
              <a:rPr lang="en-US" sz="2200" dirty="0">
                <a:latin typeface="Times New Roman" pitchFamily="18" charset="0"/>
                <a:cs typeface="Times New Roman" pitchFamily="18" charset="0"/>
              </a:rPr>
              <a:t>s - revisions of due dates or order quantities, or cancellation of orders</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457200" y="1484784"/>
            <a:ext cx="8229600" cy="4641379"/>
          </a:xfrm>
        </p:spPr>
        <p:txBody>
          <a:bodyPr>
            <a:normAutofit/>
          </a:bodyPr>
          <a:lstStyle/>
          <a:p>
            <a:pPr algn="just">
              <a:lnSpc>
                <a:spcPct val="150000"/>
              </a:lnSpc>
              <a:buNone/>
            </a:pPr>
            <a:r>
              <a:rPr lang="en-US" sz="2400" b="1" dirty="0">
                <a:latin typeface="Times New Roman" pitchFamily="18" charset="0"/>
                <a:cs typeface="Times New Roman" pitchFamily="18" charset="0"/>
              </a:rPr>
              <a:t>Secondary Reports</a:t>
            </a:r>
            <a:endParaRPr lang="en-US" sz="2200" dirty="0">
              <a:latin typeface="Times New Roman" pitchFamily="18" charset="0"/>
              <a:cs typeface="Times New Roman" pitchFamily="18" charset="0"/>
            </a:endParaRPr>
          </a:p>
          <a:p>
            <a:pPr algn="just">
              <a:lnSpc>
                <a:spcPct val="150000"/>
              </a:lnSpc>
              <a:buFont typeface="Wingdings" pitchFamily="2" charset="2"/>
              <a:buChar char="ü"/>
            </a:pPr>
            <a:r>
              <a:rPr lang="en-US" sz="2200" b="1" i="1" dirty="0">
                <a:latin typeface="Times New Roman" pitchFamily="18" charset="0"/>
                <a:cs typeface="Times New Roman" pitchFamily="18" charset="0"/>
              </a:rPr>
              <a:t>Performance-control reports </a:t>
            </a:r>
            <a:r>
              <a:rPr lang="en-US" sz="2200" dirty="0">
                <a:latin typeface="Times New Roman" pitchFamily="18" charset="0"/>
                <a:cs typeface="Times New Roman" pitchFamily="18" charset="0"/>
              </a:rPr>
              <a:t>- Evaluation of system operation, including deviations from plans and cost information</a:t>
            </a:r>
          </a:p>
          <a:p>
            <a:pPr algn="just">
              <a:lnSpc>
                <a:spcPct val="150000"/>
              </a:lnSpc>
              <a:buFont typeface="Wingdings" pitchFamily="2" charset="2"/>
              <a:buChar char="ü"/>
            </a:pPr>
            <a:r>
              <a:rPr lang="en-US" sz="2200" b="1" i="1" dirty="0">
                <a:latin typeface="Times New Roman" pitchFamily="18" charset="0"/>
                <a:cs typeface="Times New Roman" pitchFamily="18" charset="0"/>
              </a:rPr>
              <a:t>Planning reports </a:t>
            </a:r>
            <a:r>
              <a:rPr lang="en-US" sz="2200" dirty="0">
                <a:latin typeface="Times New Roman" pitchFamily="18" charset="0"/>
                <a:cs typeface="Times New Roman" pitchFamily="18" charset="0"/>
              </a:rPr>
              <a:t>- Data useful for assessing future material requirements</a:t>
            </a:r>
          </a:p>
          <a:p>
            <a:pPr algn="just">
              <a:lnSpc>
                <a:spcPct val="150000"/>
              </a:lnSpc>
              <a:buFont typeface="Wingdings" pitchFamily="2" charset="2"/>
              <a:buChar char="ü"/>
            </a:pPr>
            <a:r>
              <a:rPr lang="en-US" sz="2200" b="1" i="1" dirty="0">
                <a:latin typeface="Times New Roman" pitchFamily="18" charset="0"/>
                <a:cs typeface="Times New Roman" pitchFamily="18" charset="0"/>
              </a:rPr>
              <a:t>Exception Reports </a:t>
            </a:r>
            <a:r>
              <a:rPr lang="en-US" sz="2200" dirty="0">
                <a:latin typeface="Times New Roman" pitchFamily="18" charset="0"/>
                <a:cs typeface="Times New Roman" pitchFamily="18" charset="0"/>
              </a:rPr>
              <a:t>- Data on major discrepancies encountered</a:t>
            </a:r>
          </a:p>
        </p:txBody>
      </p:sp>
      <p:sp>
        <p:nvSpPr>
          <p:cNvPr id="5" name="Title 4"/>
          <p:cNvSpPr>
            <a:spLocks noGrp="1"/>
          </p:cNvSpPr>
          <p:nvPr>
            <p:ph type="title"/>
          </p:nvPr>
        </p:nvSpPr>
        <p:spPr>
          <a:xfrm>
            <a:off x="457200" y="274638"/>
            <a:ext cx="8229600" cy="850106"/>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MRP Outputs</a:t>
            </a:r>
            <a:endParaRPr lang="en-IN" sz="3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Benefits of MRP</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052736"/>
            <a:ext cx="8229600" cy="5328592"/>
          </a:xfrm>
        </p:spPr>
        <p:txBody>
          <a:bodyPr>
            <a:normAutofit/>
          </a:bodyPr>
          <a:lstStyle/>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Improved customer service</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Quicker response to changes in demand</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Better machine utilization</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Greater productivity</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Reduction in lead time</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Reduction in work- in- process</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Reduction in past due orders</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Elimination of annual inventory</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Reduction in safety stock</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Increase in productivity</a:t>
            </a:r>
          </a:p>
          <a:p>
            <a:pPr marL="682625" lvl="4" indent="-341313" algn="just">
              <a:lnSpc>
                <a:spcPct val="120000"/>
              </a:lnSpc>
              <a:buFont typeface="Wingdings" pitchFamily="2" charset="2"/>
              <a:buChar char="ü"/>
            </a:pPr>
            <a:r>
              <a:rPr lang="en-US" sz="2200" dirty="0">
                <a:latin typeface="Times New Roman" pitchFamily="18" charset="0"/>
                <a:cs typeface="Times New Roman" pitchFamily="18" charset="0"/>
              </a:rPr>
              <a:t>Capacity constraints are better understood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ABC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052736"/>
            <a:ext cx="8229600" cy="5328592"/>
          </a:xfrm>
        </p:spPr>
        <p:txBody>
          <a:bodyPr>
            <a:noAutofit/>
          </a:bodyPr>
          <a:lstStyle/>
          <a:p>
            <a:pPr marL="682625" lvl="4" indent="-341313" algn="just">
              <a:lnSpc>
                <a:spcPct val="200000"/>
              </a:lnSpc>
              <a:buFont typeface="Wingdings" pitchFamily="2" charset="2"/>
              <a:buChar char="ü"/>
            </a:pPr>
            <a:r>
              <a:rPr lang="en-US" sz="2200" dirty="0">
                <a:latin typeface="Times New Roman" pitchFamily="18" charset="0"/>
                <a:cs typeface="Times New Roman" pitchFamily="18" charset="0"/>
              </a:rPr>
              <a:t>ABC analysis, also known as Selective Inventory Control is a business term used to define an inventory categorization technique often used in materials management. </a:t>
            </a:r>
          </a:p>
          <a:p>
            <a:pPr marL="682625" lvl="4" indent="-341313" algn="just">
              <a:lnSpc>
                <a:spcPct val="200000"/>
              </a:lnSpc>
              <a:buFont typeface="Wingdings" pitchFamily="2" charset="2"/>
              <a:buChar char="ü"/>
            </a:pPr>
            <a:r>
              <a:rPr lang="en-US" sz="2200" dirty="0">
                <a:latin typeface="Times New Roman" pitchFamily="18" charset="0"/>
                <a:cs typeface="Times New Roman" pitchFamily="18" charset="0"/>
              </a:rPr>
              <a:t>It can be observed that in a typical industrial situation nearly 10% of items have 70% of the annual inventory consumption, 20% of the items have 20% of annual inventory consumption, and 70% of the items have only 10% of the annual inventory consumption.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ABC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1052736"/>
            <a:ext cx="8568952" cy="5328592"/>
          </a:xfrm>
        </p:spPr>
        <p:txBody>
          <a:bodyPr>
            <a:noAutofit/>
          </a:bodyPr>
          <a:lstStyle/>
          <a:p>
            <a:pPr marL="682625" lvl="4" indent="-341313" algn="just">
              <a:lnSpc>
                <a:spcPct val="200000"/>
              </a:lnSpc>
              <a:buFont typeface="Wingdings" pitchFamily="2" charset="2"/>
              <a:buChar char="ü"/>
            </a:pPr>
            <a:r>
              <a:rPr lang="en-US" sz="2200" dirty="0">
                <a:latin typeface="Times New Roman" pitchFamily="18" charset="0"/>
                <a:cs typeface="Times New Roman" pitchFamily="18" charset="0"/>
              </a:rPr>
              <a:t>Since 70% of the annual consumption of inventory is covered by only 10% of the items in the inventory, these items deserve highest attention and are classified as ‘A’ items.</a:t>
            </a:r>
          </a:p>
          <a:p>
            <a:pPr marL="682625" lvl="4" indent="-341313" algn="just">
              <a:lnSpc>
                <a:spcPct val="200000"/>
              </a:lnSpc>
              <a:buFont typeface="Wingdings" pitchFamily="2" charset="2"/>
              <a:buChar char="ü"/>
            </a:pPr>
            <a:r>
              <a:rPr lang="en-US" sz="2200" dirty="0">
                <a:latin typeface="Times New Roman" pitchFamily="18" charset="0"/>
                <a:cs typeface="Times New Roman" pitchFamily="18" charset="0"/>
              </a:rPr>
              <a:t>Similarly 20% of the items covering 20% of the inventory investment are B class items and require moderate attention.</a:t>
            </a:r>
          </a:p>
          <a:p>
            <a:pPr marL="682625" lvl="4" indent="-341313" algn="just">
              <a:lnSpc>
                <a:spcPct val="200000"/>
              </a:lnSpc>
              <a:buFont typeface="Wingdings" pitchFamily="2" charset="2"/>
              <a:buChar char="ü"/>
            </a:pPr>
            <a:r>
              <a:rPr lang="en-US" sz="2200" dirty="0">
                <a:latin typeface="Times New Roman" pitchFamily="18" charset="0"/>
                <a:cs typeface="Times New Roman" pitchFamily="18" charset="0"/>
              </a:rPr>
              <a:t>Balance 70% of the inventory items are termed as C class items and require least attention as .they consume only 10% of the total inventory cost.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Steps in ABC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1052736"/>
            <a:ext cx="8568952" cy="5328592"/>
          </a:xfrm>
        </p:spPr>
        <p:txBody>
          <a:bodyPr>
            <a:noAutofit/>
          </a:bodyPr>
          <a:lstStyle/>
          <a:p>
            <a:pPr marL="457200" indent="-457200" algn="just">
              <a:lnSpc>
                <a:spcPct val="150000"/>
              </a:lnSpc>
              <a:buFont typeface="+mj-lt"/>
              <a:buAutoNum type="arabicParenR"/>
            </a:pPr>
            <a:r>
              <a:rPr lang="en-US" sz="2200" dirty="0">
                <a:latin typeface="Times New Roman" pitchFamily="18" charset="0"/>
                <a:cs typeface="Times New Roman" pitchFamily="18" charset="0"/>
              </a:rPr>
              <a:t>Determine the annual usage in units for each item for the past one-year.</a:t>
            </a:r>
          </a:p>
          <a:p>
            <a:pPr marL="457200" indent="-457200" algn="just">
              <a:lnSpc>
                <a:spcPct val="150000"/>
              </a:lnSpc>
              <a:buFont typeface="+mj-lt"/>
              <a:buAutoNum type="arabicParenR"/>
            </a:pPr>
            <a:r>
              <a:rPr lang="en-US" sz="2200" dirty="0">
                <a:latin typeface="Times New Roman" pitchFamily="18" charset="0"/>
                <a:cs typeface="Times New Roman" pitchFamily="18" charset="0"/>
              </a:rPr>
              <a:t> Multiply the annual usage quantity with the average unit price of each item to calculate the annual usage for each item in monetary terms.</a:t>
            </a:r>
          </a:p>
          <a:p>
            <a:pPr marL="457200" indent="-457200" algn="just">
              <a:lnSpc>
                <a:spcPct val="150000"/>
              </a:lnSpc>
              <a:buFont typeface="+mj-lt"/>
              <a:buAutoNum type="arabicParenR"/>
            </a:pPr>
            <a:r>
              <a:rPr lang="en-US" sz="2200" dirty="0">
                <a:latin typeface="Times New Roman" pitchFamily="18" charset="0"/>
                <a:cs typeface="Times New Roman" pitchFamily="18" charset="0"/>
              </a:rPr>
              <a:t>Item with highest money usage annually is ranked first. Then the next lower annual usage item is listed till the lowest item is listed in the last.</a:t>
            </a:r>
          </a:p>
          <a:p>
            <a:pPr marL="457200" indent="-457200" algn="just">
              <a:lnSpc>
                <a:spcPct val="150000"/>
              </a:lnSpc>
              <a:buFont typeface="+mj-lt"/>
              <a:buAutoNum type="arabicParenR"/>
            </a:pPr>
            <a:r>
              <a:rPr lang="en-US" sz="2200" dirty="0">
                <a:latin typeface="Times New Roman" pitchFamily="18" charset="0"/>
                <a:cs typeface="Times New Roman" pitchFamily="18" charset="0"/>
              </a:rPr>
              <a:t>Arrange the items in the inventory by cumulative annual usage (Rupees) and by cumulative percentage. Categorize the items in A, B, and C categories.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 of ABC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1052736"/>
            <a:ext cx="8568952" cy="5328592"/>
          </a:xfrm>
        </p:spPr>
        <p:txBody>
          <a:bodyPr>
            <a:noAutofit/>
          </a:bodyPr>
          <a:lstStyle/>
          <a:p>
            <a:pPr marL="682625" lvl="4" indent="-341313" algn="just">
              <a:lnSpc>
                <a:spcPct val="150000"/>
              </a:lnSpc>
              <a:buFont typeface="Wingdings" pitchFamily="2" charset="2"/>
              <a:buChar char="ü"/>
            </a:pPr>
            <a:r>
              <a:rPr lang="en-US" sz="2200" dirty="0">
                <a:latin typeface="Times New Roman" pitchFamily="18" charset="0"/>
                <a:cs typeface="Times New Roman" pitchFamily="18" charset="0"/>
              </a:rPr>
              <a:t>A Close and strict control is facilitated on the most important items which constitute a major portion of overall inventory valuation or overall material consumption &amp; due to this, costs associated with inventories maybe reduced.</a:t>
            </a:r>
          </a:p>
          <a:p>
            <a:pPr marL="682625" lvl="4" indent="-341313" algn="just">
              <a:lnSpc>
                <a:spcPct val="150000"/>
              </a:lnSpc>
              <a:buFont typeface="Wingdings" pitchFamily="2" charset="2"/>
              <a:buChar char="ü"/>
            </a:pPr>
            <a:r>
              <a:rPr lang="en-US" sz="2200" dirty="0">
                <a:latin typeface="Times New Roman" pitchFamily="18" charset="0"/>
                <a:cs typeface="Times New Roman" pitchFamily="18" charset="0"/>
              </a:rPr>
              <a:t>The investment in inventory can be regulated in proper manner &amp; optimum utilization of available funds can be assured.</a:t>
            </a:r>
          </a:p>
          <a:p>
            <a:pPr marL="682625" lvl="4" indent="-341313" algn="just">
              <a:lnSpc>
                <a:spcPct val="150000"/>
              </a:lnSpc>
              <a:buFont typeface="Wingdings" pitchFamily="2" charset="2"/>
              <a:buChar char="ü"/>
            </a:pPr>
            <a:r>
              <a:rPr lang="en-US" sz="2200" dirty="0">
                <a:latin typeface="Times New Roman" pitchFamily="18" charset="0"/>
                <a:cs typeface="Times New Roman" pitchFamily="18" charset="0"/>
              </a:rPr>
              <a:t>A strict control on inventory items in this manner helps in maintaining a high inventory turnover rates.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620688"/>
            <a:ext cx="7859216" cy="136815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  (Part 3)</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2492896"/>
            <a:ext cx="7931224" cy="3633267"/>
          </a:xfrm>
        </p:spPr>
        <p:txBody>
          <a:bodyPr>
            <a:normAutofit/>
          </a:bodyPr>
          <a:lstStyle/>
          <a:p>
            <a:pPr algn="ctr">
              <a:lnSpc>
                <a:spcPct val="160000"/>
              </a:lnSpc>
              <a:buNone/>
            </a:pPr>
            <a:r>
              <a:rPr lang="en-US" b="1" dirty="0">
                <a:effectLst>
                  <a:outerShdw blurRad="38100" dist="38100" dir="2700000" algn="tl">
                    <a:srgbClr val="000000">
                      <a:alpha val="43137"/>
                    </a:srgbClr>
                  </a:outerShdw>
                </a:effectLst>
                <a:latin typeface="Times New Roman" pitchFamily="18" charset="0"/>
                <a:cs typeface="Times New Roman" pitchFamily="18" charset="0"/>
              </a:rPr>
              <a:t>Project Management</a:t>
            </a:r>
          </a:p>
        </p:txBody>
      </p:sp>
      <p:sp>
        <p:nvSpPr>
          <p:cNvPr id="5" name="Slide Number Placeholder 4"/>
          <p:cNvSpPr>
            <a:spLocks noGrp="1"/>
          </p:cNvSpPr>
          <p:nvPr>
            <p:ph type="sldNum" sz="quarter" idx="12"/>
          </p:nvPr>
        </p:nvSpPr>
        <p:spPr/>
        <p:txBody>
          <a:bodyPr/>
          <a:lstStyle/>
          <a:p>
            <a:fld id="{9852A43B-CC61-4C08-A01B-A84C4E0E89A8}" type="slidenum">
              <a:rPr lang="en-IN" smtClean="0"/>
              <a:pPr/>
              <a:t>80</a:t>
            </a:fld>
            <a:endParaRPr lang="en-I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Project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1052736"/>
            <a:ext cx="8208912" cy="5328592"/>
          </a:xfrm>
        </p:spPr>
        <p:txBody>
          <a:bodyPr>
            <a:noAutofit/>
          </a:bodyPr>
          <a:lstStyle/>
          <a:p>
            <a:pPr marL="682625" lvl="4" indent="-341313" algn="just">
              <a:lnSpc>
                <a:spcPct val="200000"/>
              </a:lnSpc>
              <a:buNone/>
            </a:pPr>
            <a:r>
              <a:rPr lang="en-US" sz="2200" b="1" dirty="0">
                <a:latin typeface="Times New Roman" pitchFamily="18" charset="0"/>
                <a:cs typeface="Times New Roman" pitchFamily="18" charset="0"/>
              </a:rPr>
              <a:t>	Project management</a:t>
            </a:r>
            <a:r>
              <a:rPr lang="en-US" sz="2200" dirty="0">
                <a:latin typeface="Times New Roman" pitchFamily="18" charset="0"/>
                <a:cs typeface="Times New Roman" pitchFamily="18" charset="0"/>
              </a:rPr>
              <a:t> is the application of processes, methods, skills, knowledge and experience to achieve specific </a:t>
            </a:r>
            <a:r>
              <a:rPr lang="en-US" sz="2200" b="1" dirty="0">
                <a:latin typeface="Times New Roman" pitchFamily="18" charset="0"/>
                <a:cs typeface="Times New Roman" pitchFamily="18" charset="0"/>
              </a:rPr>
              <a:t>project</a:t>
            </a:r>
            <a:r>
              <a:rPr lang="en-US" sz="2200" dirty="0">
                <a:latin typeface="Times New Roman" pitchFamily="18" charset="0"/>
                <a:cs typeface="Times New Roman" pitchFamily="18" charset="0"/>
              </a:rPr>
              <a:t> objectives according to the </a:t>
            </a:r>
            <a:r>
              <a:rPr lang="en-US" sz="2200" b="1" dirty="0">
                <a:latin typeface="Times New Roman" pitchFamily="18" charset="0"/>
                <a:cs typeface="Times New Roman" pitchFamily="18" charset="0"/>
              </a:rPr>
              <a:t>project</a:t>
            </a:r>
            <a:r>
              <a:rPr lang="en-US" sz="2200" dirty="0">
                <a:latin typeface="Times New Roman" pitchFamily="18" charset="0"/>
                <a:cs typeface="Times New Roman" pitchFamily="18" charset="0"/>
              </a:rPr>
              <a:t> acceptance criteria within agreed parameters. </a:t>
            </a:r>
            <a:r>
              <a:rPr lang="en-US" sz="2200" b="1" dirty="0">
                <a:latin typeface="Times New Roman" pitchFamily="18" charset="0"/>
                <a:cs typeface="Times New Roman" pitchFamily="18" charset="0"/>
              </a:rPr>
              <a:t>Project management</a:t>
            </a:r>
            <a:r>
              <a:rPr lang="en-US" sz="2200" dirty="0">
                <a:latin typeface="Times New Roman" pitchFamily="18" charset="0"/>
                <a:cs typeface="Times New Roman" pitchFamily="18" charset="0"/>
              </a:rPr>
              <a:t> has final deliverables that are constrained to a finite timescale and budget.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Project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1052736"/>
            <a:ext cx="8208912" cy="5328592"/>
          </a:xfrm>
        </p:spPr>
        <p:txBody>
          <a:bodyPr>
            <a:noAutofit/>
          </a:bodyPr>
          <a:lstStyle/>
          <a:p>
            <a:pPr marL="682625" lvl="4" indent="-341313" algn="just">
              <a:lnSpc>
                <a:spcPct val="200000"/>
              </a:lnSpc>
              <a:buNone/>
            </a:pPr>
            <a:r>
              <a:rPr lang="en-US" sz="2200" i="1" dirty="0"/>
              <a:t>	</a:t>
            </a:r>
            <a:r>
              <a:rPr lang="en-US" sz="2200" i="1" dirty="0">
                <a:latin typeface="Times New Roman" pitchFamily="18" charset="0"/>
                <a:cs typeface="Times New Roman" pitchFamily="18" charset="0"/>
              </a:rPr>
              <a:t>A key factor that distinguishes project management from just 'management' is that it has this final deliverable and a </a:t>
            </a:r>
            <a:r>
              <a:rPr lang="en-US" sz="2200" b="1" i="1" dirty="0">
                <a:latin typeface="Times New Roman" pitchFamily="18" charset="0"/>
                <a:cs typeface="Times New Roman" pitchFamily="18" charset="0"/>
              </a:rPr>
              <a:t>finite </a:t>
            </a:r>
            <a:r>
              <a:rPr lang="en-US" sz="2200" b="1" i="1" dirty="0" err="1">
                <a:latin typeface="Times New Roman" pitchFamily="18" charset="0"/>
                <a:cs typeface="Times New Roman" pitchFamily="18" charset="0"/>
              </a:rPr>
              <a:t>timespan</a:t>
            </a:r>
            <a:r>
              <a:rPr lang="en-US" sz="2200" i="1" dirty="0">
                <a:latin typeface="Times New Roman" pitchFamily="18" charset="0"/>
                <a:cs typeface="Times New Roman" pitchFamily="18" charset="0"/>
              </a:rPr>
              <a:t>, unlike management which is an ongoing process. Because of this a project professional needs a wide range of skills; often technical skills, and certainly people management skills and good business awareness.</a:t>
            </a:r>
            <a:endParaRPr lang="en-US" sz="2200" dirty="0">
              <a:latin typeface="Times New Roman" pitchFamily="18" charset="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Project Manager</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1196752"/>
            <a:ext cx="8208912" cy="5184576"/>
          </a:xfrm>
        </p:spPr>
        <p:txBody>
          <a:bodyPr>
            <a:noAutofit/>
          </a:bodyPr>
          <a:lstStyle/>
          <a:p>
            <a:pPr marL="682625" lvl="4" indent="-341313" algn="just">
              <a:lnSpc>
                <a:spcPct val="200000"/>
              </a:lnSpc>
              <a:buNone/>
            </a:pPr>
            <a:r>
              <a:rPr lang="en-US" sz="2200" dirty="0">
                <a:latin typeface="Times New Roman" pitchFamily="18" charset="0"/>
                <a:cs typeface="Times New Roman" pitchFamily="18" charset="0"/>
              </a:rPr>
              <a:t>	In the broadest sense, </a:t>
            </a:r>
            <a:r>
              <a:rPr lang="en-US" sz="2200" b="1" dirty="0">
                <a:latin typeface="Times New Roman" pitchFamily="18" charset="0"/>
                <a:cs typeface="Times New Roman" pitchFamily="18" charset="0"/>
              </a:rPr>
              <a:t>project managers (PMs)</a:t>
            </a:r>
            <a:r>
              <a:rPr lang="en-US" sz="2200" dirty="0">
                <a:latin typeface="Times New Roman" pitchFamily="18" charset="0"/>
                <a:cs typeface="Times New Roman" pitchFamily="18" charset="0"/>
              </a:rPr>
              <a:t> are responsible for planning, organizing, and directing the completion of specific projects for an organization while ensuring these projects are on time, on budget, and within scope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 - Project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1268760"/>
            <a:ext cx="8208912" cy="5112568"/>
          </a:xfrm>
        </p:spPr>
        <p:txBody>
          <a:bodyPr>
            <a:noAutofit/>
          </a:bodyPr>
          <a:lstStyle/>
          <a:p>
            <a:pPr>
              <a:lnSpc>
                <a:spcPct val="150000"/>
              </a:lnSpc>
              <a:buFont typeface="Wingdings" pitchFamily="2" charset="2"/>
              <a:buChar char="Ø"/>
            </a:pPr>
            <a:r>
              <a:rPr lang="en-US" sz="2200" dirty="0">
                <a:latin typeface="Times New Roman" pitchFamily="18" charset="0"/>
                <a:cs typeface="Times New Roman" pitchFamily="18" charset="0"/>
              </a:rPr>
              <a:t>Managing the risks, issues and changes on the project;</a:t>
            </a:r>
          </a:p>
          <a:p>
            <a:pPr>
              <a:lnSpc>
                <a:spcPct val="150000"/>
              </a:lnSpc>
              <a:buFont typeface="Wingdings" pitchFamily="2" charset="2"/>
              <a:buChar char="Ø"/>
            </a:pPr>
            <a:r>
              <a:rPr lang="en-US" sz="2200" dirty="0">
                <a:latin typeface="Times New Roman" pitchFamily="18" charset="0"/>
                <a:cs typeface="Times New Roman" pitchFamily="18" charset="0"/>
              </a:rPr>
              <a:t>Monitoring progress against plan;</a:t>
            </a:r>
          </a:p>
          <a:p>
            <a:pPr>
              <a:lnSpc>
                <a:spcPct val="150000"/>
              </a:lnSpc>
              <a:buFont typeface="Wingdings" pitchFamily="2" charset="2"/>
              <a:buChar char="Ø"/>
            </a:pPr>
            <a:r>
              <a:rPr lang="en-US" sz="2200" dirty="0">
                <a:latin typeface="Times New Roman" pitchFamily="18" charset="0"/>
                <a:cs typeface="Times New Roman" pitchFamily="18" charset="0"/>
              </a:rPr>
              <a:t>Managing the project budget;</a:t>
            </a:r>
          </a:p>
          <a:p>
            <a:pPr>
              <a:lnSpc>
                <a:spcPct val="150000"/>
              </a:lnSpc>
              <a:buFont typeface="Wingdings" pitchFamily="2" charset="2"/>
              <a:buChar char="Ø"/>
            </a:pPr>
            <a:r>
              <a:rPr lang="en-US" sz="2200" dirty="0">
                <a:latin typeface="Times New Roman" pitchFamily="18" charset="0"/>
                <a:cs typeface="Times New Roman" pitchFamily="18" charset="0"/>
              </a:rPr>
              <a:t>Maintaining communications with stakeholders and the project </a:t>
            </a:r>
            <a:r>
              <a:rPr lang="en-US" sz="2200" dirty="0" err="1">
                <a:latin typeface="Times New Roman" pitchFamily="18" charset="0"/>
                <a:cs typeface="Times New Roman" pitchFamily="18" charset="0"/>
              </a:rPr>
              <a:t>organisation</a:t>
            </a:r>
            <a:r>
              <a:rPr lang="en-US" sz="2200" dirty="0">
                <a:latin typeface="Times New Roman" pitchFamily="18" charset="0"/>
                <a:cs typeface="Times New Roman" pitchFamily="18" charset="0"/>
              </a:rPr>
              <a:t>;</a:t>
            </a:r>
          </a:p>
          <a:p>
            <a:pPr>
              <a:lnSpc>
                <a:spcPct val="150000"/>
              </a:lnSpc>
              <a:buFont typeface="Wingdings" pitchFamily="2" charset="2"/>
              <a:buChar char="Ø"/>
            </a:pPr>
            <a:r>
              <a:rPr lang="en-US" sz="2200" dirty="0">
                <a:latin typeface="Times New Roman" pitchFamily="18" charset="0"/>
                <a:cs typeface="Times New Roman" pitchFamily="18" charset="0"/>
              </a:rPr>
              <a:t>Closing the project in a controlled fashion when appropriate.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Characteristics - Project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050" name="AutoShape 2" descr="A diagram of the five factors of a pl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A diagram of the five factors of a pla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54" name="Picture 6" descr="What Does A Project Management Office (PMO) Do?"/>
          <p:cNvPicPr>
            <a:picLocks noChangeAspect="1" noChangeArrowheads="1"/>
          </p:cNvPicPr>
          <p:nvPr/>
        </p:nvPicPr>
        <p:blipFill>
          <a:blip r:embed="rId2" cstate="print"/>
          <a:srcRect/>
          <a:stretch>
            <a:fillRect/>
          </a:stretch>
        </p:blipFill>
        <p:spPr bwMode="auto">
          <a:xfrm>
            <a:off x="1691680" y="1130770"/>
            <a:ext cx="5162550" cy="4962526"/>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pPr algn="l"/>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Characteristics - Project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196752"/>
            <a:ext cx="7704856" cy="5184576"/>
          </a:xfrm>
        </p:spPr>
        <p:txBody>
          <a:bodyPr>
            <a:noAutofit/>
          </a:bodyPr>
          <a:lstStyle/>
          <a:p>
            <a:pPr>
              <a:lnSpc>
                <a:spcPct val="150000"/>
              </a:lnSpc>
              <a:buFont typeface="Wingdings" pitchFamily="2" charset="2"/>
              <a:buChar char="Ø"/>
            </a:pPr>
            <a:r>
              <a:rPr lang="en-US" sz="2200" dirty="0">
                <a:latin typeface="Times New Roman" pitchFamily="18" charset="0"/>
                <a:cs typeface="Times New Roman" pitchFamily="18" charset="0"/>
              </a:rPr>
              <a:t>Scope: defines what will be covered in a project.</a:t>
            </a:r>
          </a:p>
          <a:p>
            <a:pPr>
              <a:lnSpc>
                <a:spcPct val="150000"/>
              </a:lnSpc>
              <a:buFont typeface="Wingdings" pitchFamily="2" charset="2"/>
              <a:buChar char="Ø"/>
            </a:pPr>
            <a:r>
              <a:rPr lang="en-US" sz="2200" dirty="0">
                <a:latin typeface="Times New Roman" pitchFamily="18" charset="0"/>
                <a:cs typeface="Times New Roman" pitchFamily="18" charset="0"/>
              </a:rPr>
              <a:t>Resource: what can be used to meet the scope.</a:t>
            </a:r>
          </a:p>
          <a:p>
            <a:pPr>
              <a:lnSpc>
                <a:spcPct val="150000"/>
              </a:lnSpc>
              <a:buFont typeface="Wingdings" pitchFamily="2" charset="2"/>
              <a:buChar char="Ø"/>
            </a:pPr>
            <a:r>
              <a:rPr lang="en-US" sz="2200" dirty="0">
                <a:latin typeface="Times New Roman" pitchFamily="18" charset="0"/>
                <a:cs typeface="Times New Roman" pitchFamily="18" charset="0"/>
              </a:rPr>
              <a:t>Time: what tasks are to be undertaken and when.</a:t>
            </a:r>
          </a:p>
          <a:p>
            <a:pPr>
              <a:lnSpc>
                <a:spcPct val="150000"/>
              </a:lnSpc>
              <a:buFont typeface="Wingdings" pitchFamily="2" charset="2"/>
              <a:buChar char="Ø"/>
            </a:pPr>
            <a:r>
              <a:rPr lang="en-US" sz="2200" dirty="0">
                <a:latin typeface="Times New Roman" pitchFamily="18" charset="0"/>
                <a:cs typeface="Times New Roman" pitchFamily="18" charset="0"/>
              </a:rPr>
              <a:t>Quality: the spread or deviation allowed from a desired standard.</a:t>
            </a:r>
          </a:p>
          <a:p>
            <a:pPr>
              <a:lnSpc>
                <a:spcPct val="150000"/>
              </a:lnSpc>
              <a:buFont typeface="Wingdings" pitchFamily="2" charset="2"/>
              <a:buChar char="Ø"/>
            </a:pPr>
            <a:r>
              <a:rPr lang="en-US" sz="2200" dirty="0">
                <a:latin typeface="Times New Roman" pitchFamily="18" charset="0"/>
                <a:cs typeface="Times New Roman" pitchFamily="18" charset="0"/>
              </a:rPr>
              <a:t>Risk: defines in advance what may happen to drive the plan off course, and what will be done to recover the situation.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u="sng">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Feasibility </a:t>
            </a: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Study</a:t>
            </a:r>
          </a:p>
        </p:txBody>
      </p:sp>
      <p:sp>
        <p:nvSpPr>
          <p:cNvPr id="3" name="Content Placeholder 2"/>
          <p:cNvSpPr>
            <a:spLocks noGrp="1"/>
          </p:cNvSpPr>
          <p:nvPr>
            <p:ph idx="1"/>
          </p:nvPr>
        </p:nvSpPr>
        <p:spPr>
          <a:xfrm>
            <a:off x="827584" y="1196752"/>
            <a:ext cx="7704856" cy="5184576"/>
          </a:xfrm>
        </p:spPr>
        <p:txBody>
          <a:bodyPr>
            <a:noAutofit/>
          </a:bodyPr>
          <a:lstStyle/>
          <a:p>
            <a:pPr algn="just">
              <a:lnSpc>
                <a:spcPct val="200000"/>
              </a:lnSpc>
              <a:buNone/>
            </a:pPr>
            <a:r>
              <a:rPr lang="en-US" sz="2200" dirty="0">
                <a:latin typeface="Times New Roman" pitchFamily="18" charset="0"/>
                <a:cs typeface="Times New Roman" pitchFamily="18" charset="0"/>
              </a:rPr>
              <a:t>	A </a:t>
            </a:r>
            <a:r>
              <a:rPr lang="en-US" sz="2200" b="1" dirty="0">
                <a:latin typeface="Times New Roman" pitchFamily="18" charset="0"/>
                <a:cs typeface="Times New Roman" pitchFamily="18" charset="0"/>
              </a:rPr>
              <a:t>feasibility study</a:t>
            </a:r>
            <a:r>
              <a:rPr lang="en-US" sz="2200" dirty="0">
                <a:latin typeface="Times New Roman" pitchFamily="18" charset="0"/>
                <a:cs typeface="Times New Roman" pitchFamily="18" charset="0"/>
              </a:rPr>
              <a:t> is an </a:t>
            </a:r>
            <a:r>
              <a:rPr lang="en-US" sz="2200" b="1" dirty="0">
                <a:latin typeface="Times New Roman" pitchFamily="18" charset="0"/>
                <a:cs typeface="Times New Roman" pitchFamily="18" charset="0"/>
              </a:rPr>
              <a:t>analysis</a:t>
            </a:r>
            <a:r>
              <a:rPr lang="en-US" sz="2200" dirty="0">
                <a:latin typeface="Times New Roman" pitchFamily="18" charset="0"/>
                <a:cs typeface="Times New Roman" pitchFamily="18" charset="0"/>
              </a:rPr>
              <a:t> that takes all of a </a:t>
            </a:r>
            <a:r>
              <a:rPr lang="en-US" sz="2200" b="1" dirty="0">
                <a:latin typeface="Times New Roman" pitchFamily="18" charset="0"/>
                <a:cs typeface="Times New Roman" pitchFamily="18" charset="0"/>
              </a:rPr>
              <a:t>project's</a:t>
            </a:r>
            <a:r>
              <a:rPr lang="en-US" sz="2200" dirty="0">
                <a:latin typeface="Times New Roman" pitchFamily="18" charset="0"/>
                <a:cs typeface="Times New Roman" pitchFamily="18" charset="0"/>
              </a:rPr>
              <a:t> relevant factors into account—including economic, technical, legal, and scheduling considerations—to ascertain the likelihood of completing the </a:t>
            </a:r>
            <a:r>
              <a:rPr lang="en-US" sz="2200" b="1" dirty="0">
                <a:latin typeface="Times New Roman" pitchFamily="18" charset="0"/>
                <a:cs typeface="Times New Roman" pitchFamily="18" charset="0"/>
              </a:rPr>
              <a:t>project</a:t>
            </a:r>
            <a:r>
              <a:rPr lang="en-US" sz="2200" dirty="0">
                <a:latin typeface="Times New Roman" pitchFamily="18" charset="0"/>
                <a:cs typeface="Times New Roman" pitchFamily="18" charset="0"/>
              </a:rPr>
              <a:t> successfully.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14817</TotalTime>
  <Words>3422</Words>
  <Application>Microsoft Office PowerPoint</Application>
  <PresentationFormat>On-screen Show (4:3)</PresentationFormat>
  <Paragraphs>614</Paragraphs>
  <Slides>87</Slides>
  <Notes>1</Notes>
  <HiddenSlides>0</HiddenSlides>
  <MMClips>0</MMClips>
  <ScaleCrop>false</ScaleCrop>
  <HeadingPairs>
    <vt:vector size="4" baseType="variant">
      <vt:variant>
        <vt:lpstr>Theme</vt:lpstr>
      </vt:variant>
      <vt:variant>
        <vt:i4>1</vt:i4>
      </vt:variant>
      <vt:variant>
        <vt:lpstr>Slide Titles</vt:lpstr>
      </vt:variant>
      <vt:variant>
        <vt:i4>87</vt:i4>
      </vt:variant>
    </vt:vector>
  </HeadingPairs>
  <TitlesOfParts>
    <vt:vector size="88" baseType="lpstr">
      <vt:lpstr>Office Theme</vt:lpstr>
      <vt:lpstr>Topics  (Part 1)</vt:lpstr>
      <vt:lpstr>Productivity and Production</vt:lpstr>
      <vt:lpstr>Productivity and Production</vt:lpstr>
      <vt:lpstr>Productivity and Production</vt:lpstr>
      <vt:lpstr>Productivity</vt:lpstr>
      <vt:lpstr>Production</vt:lpstr>
      <vt:lpstr>Productivity  Vs  Production</vt:lpstr>
      <vt:lpstr>Problem</vt:lpstr>
      <vt:lpstr>Problem</vt:lpstr>
      <vt:lpstr>Problem</vt:lpstr>
      <vt:lpstr>Measurement of Productivity</vt:lpstr>
      <vt:lpstr>Objectives of measurement of productivity</vt:lpstr>
      <vt:lpstr>Relation of productivity and profit</vt:lpstr>
      <vt:lpstr>Calculation of productivity</vt:lpstr>
      <vt:lpstr>Calculation of productivity</vt:lpstr>
      <vt:lpstr>Calculation of productivity</vt:lpstr>
      <vt:lpstr>Advantages and Disadvantages of  Total Productivity Measure</vt:lpstr>
      <vt:lpstr>Advantages and Disadvantages of  Partial Productivity Measure</vt:lpstr>
      <vt:lpstr>Advantages and Disadvantages of  Total Factor Productivity</vt:lpstr>
      <vt:lpstr>Productivity index</vt:lpstr>
      <vt:lpstr>Productivity index</vt:lpstr>
      <vt:lpstr>Productivity index</vt:lpstr>
      <vt:lpstr>Factors Influencing Productivity</vt:lpstr>
      <vt:lpstr>Ways to Improve Productivity</vt:lpstr>
      <vt:lpstr>Ways to Improve Productivity</vt:lpstr>
      <vt:lpstr>Ways to Improve Productivity</vt:lpstr>
      <vt:lpstr>Ways to Improve Productivity</vt:lpstr>
      <vt:lpstr>Ways to Improve Productivity</vt:lpstr>
      <vt:lpstr>Productivity improvement procedure</vt:lpstr>
      <vt:lpstr>Productivity improvement procedure</vt:lpstr>
      <vt:lpstr>Productivity improvement procedure</vt:lpstr>
      <vt:lpstr>Productivity improvement procedure</vt:lpstr>
      <vt:lpstr>Productivity improvement procedure</vt:lpstr>
      <vt:lpstr>Productivity improvement procedure</vt:lpstr>
      <vt:lpstr>Productivity improvement procedure</vt:lpstr>
      <vt:lpstr>Productivity improvement procedure</vt:lpstr>
      <vt:lpstr>Benefits of increasing productivity</vt:lpstr>
      <vt:lpstr>Benefits of increasing productivity</vt:lpstr>
      <vt:lpstr>Topic  (Part 2)</vt:lpstr>
      <vt:lpstr>Material management</vt:lpstr>
      <vt:lpstr>Definition </vt:lpstr>
      <vt:lpstr>Objectives of Material Management</vt:lpstr>
      <vt:lpstr>Functions of Material Management</vt:lpstr>
      <vt:lpstr>Functions of Material Management</vt:lpstr>
      <vt:lpstr>Functions of Material Management</vt:lpstr>
      <vt:lpstr>Functions of Material management</vt:lpstr>
      <vt:lpstr>Factors Providing Economy in Material Management</vt:lpstr>
      <vt:lpstr>Inventory Control</vt:lpstr>
      <vt:lpstr>Inventory Control</vt:lpstr>
      <vt:lpstr>Need for Inventories (Functions or Advantages)</vt:lpstr>
      <vt:lpstr>Determining Inventory Level</vt:lpstr>
      <vt:lpstr>Determining inventory level</vt:lpstr>
      <vt:lpstr>Determining inventory level</vt:lpstr>
      <vt:lpstr>Determining inventory level</vt:lpstr>
      <vt:lpstr>Inventory Vs time</vt:lpstr>
      <vt:lpstr>Without safety stock</vt:lpstr>
      <vt:lpstr>Inventory Models</vt:lpstr>
      <vt:lpstr>Inventory Models</vt:lpstr>
      <vt:lpstr>Inventory Models</vt:lpstr>
      <vt:lpstr>Inventory cost</vt:lpstr>
      <vt:lpstr>Economic Order Quantity (EOQ)</vt:lpstr>
      <vt:lpstr>Economic Order Quantity (EOQ)</vt:lpstr>
      <vt:lpstr>Economic Order Quantity (EOQ)</vt:lpstr>
      <vt:lpstr>Economic Order Quantity (EOQ)</vt:lpstr>
      <vt:lpstr>Economic Order Quantity (EOQ)</vt:lpstr>
      <vt:lpstr>Economic Order Quantity (EOQ)</vt:lpstr>
      <vt:lpstr>Material Requirement Planning (MRP)</vt:lpstr>
      <vt:lpstr>Material Requirements Planning (MRP)</vt:lpstr>
      <vt:lpstr>Material Requirements Planning (MRP)</vt:lpstr>
      <vt:lpstr>Objectives of MRP</vt:lpstr>
      <vt:lpstr>PowerPoint Presentation</vt:lpstr>
      <vt:lpstr>MRP Inputs</vt:lpstr>
      <vt:lpstr>MRP Outputs</vt:lpstr>
      <vt:lpstr>MRP Outputs</vt:lpstr>
      <vt:lpstr>Benefits of MRP</vt:lpstr>
      <vt:lpstr>ABC Analysis</vt:lpstr>
      <vt:lpstr>ABC Analysis</vt:lpstr>
      <vt:lpstr>Steps in ABC Analysis</vt:lpstr>
      <vt:lpstr>Advantages of ABC Analysis</vt:lpstr>
      <vt:lpstr>Topic  (Part 3)</vt:lpstr>
      <vt:lpstr>Project Management</vt:lpstr>
      <vt:lpstr>Project Management</vt:lpstr>
      <vt:lpstr>Project Manager</vt:lpstr>
      <vt:lpstr>Functions - Project Management</vt:lpstr>
      <vt:lpstr>Characteristics - Project Management</vt:lpstr>
      <vt:lpstr>Characteristics - Project Management</vt:lpstr>
      <vt:lpstr>Feasibility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Faizal</dc:creator>
  <cp:lastModifiedBy>Febin Suresh</cp:lastModifiedBy>
  <cp:revision>686</cp:revision>
  <dcterms:created xsi:type="dcterms:W3CDTF">2016-07-20T05:03:16Z</dcterms:created>
  <dcterms:modified xsi:type="dcterms:W3CDTF">2023-12-03T18:10:15Z</dcterms:modified>
</cp:coreProperties>
</file>