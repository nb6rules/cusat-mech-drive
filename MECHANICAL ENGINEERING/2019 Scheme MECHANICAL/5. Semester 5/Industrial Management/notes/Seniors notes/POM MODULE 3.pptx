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5"/>
  </p:notesMasterIdLst>
  <p:sldIdLst>
    <p:sldId id="258" r:id="rId2"/>
    <p:sldId id="349" r:id="rId3"/>
    <p:sldId id="350" r:id="rId4"/>
    <p:sldId id="353" r:id="rId5"/>
    <p:sldId id="354" r:id="rId6"/>
    <p:sldId id="351" r:id="rId7"/>
    <p:sldId id="352" r:id="rId8"/>
    <p:sldId id="355" r:id="rId9"/>
    <p:sldId id="356" r:id="rId10"/>
    <p:sldId id="357" r:id="rId11"/>
    <p:sldId id="358" r:id="rId12"/>
    <p:sldId id="359" r:id="rId13"/>
    <p:sldId id="360" r:id="rId14"/>
    <p:sldId id="361" r:id="rId15"/>
    <p:sldId id="362" r:id="rId16"/>
    <p:sldId id="363" r:id="rId17"/>
    <p:sldId id="364" r:id="rId18"/>
    <p:sldId id="365" r:id="rId19"/>
    <p:sldId id="367" r:id="rId20"/>
    <p:sldId id="366" r:id="rId21"/>
    <p:sldId id="368" r:id="rId22"/>
    <p:sldId id="369" r:id="rId23"/>
    <p:sldId id="370" r:id="rId24"/>
    <p:sldId id="371" r:id="rId25"/>
    <p:sldId id="372" r:id="rId26"/>
    <p:sldId id="373" r:id="rId27"/>
    <p:sldId id="374" r:id="rId28"/>
    <p:sldId id="375" r:id="rId29"/>
    <p:sldId id="376" r:id="rId30"/>
    <p:sldId id="377" r:id="rId31"/>
    <p:sldId id="378" r:id="rId32"/>
    <p:sldId id="379" r:id="rId33"/>
    <p:sldId id="380" r:id="rId34"/>
    <p:sldId id="381" r:id="rId35"/>
    <p:sldId id="382" r:id="rId36"/>
    <p:sldId id="383" r:id="rId37"/>
    <p:sldId id="384" r:id="rId38"/>
    <p:sldId id="385" r:id="rId39"/>
    <p:sldId id="407" r:id="rId40"/>
    <p:sldId id="386" r:id="rId41"/>
    <p:sldId id="387" r:id="rId42"/>
    <p:sldId id="388" r:id="rId43"/>
    <p:sldId id="389" r:id="rId44"/>
    <p:sldId id="390" r:id="rId45"/>
    <p:sldId id="391" r:id="rId46"/>
    <p:sldId id="408" r:id="rId47"/>
    <p:sldId id="392" r:id="rId48"/>
    <p:sldId id="410" r:id="rId49"/>
    <p:sldId id="409" r:id="rId50"/>
    <p:sldId id="393" r:id="rId51"/>
    <p:sldId id="394" r:id="rId52"/>
    <p:sldId id="419" r:id="rId53"/>
    <p:sldId id="420" r:id="rId54"/>
    <p:sldId id="413" r:id="rId55"/>
    <p:sldId id="421" r:id="rId56"/>
    <p:sldId id="422" r:id="rId57"/>
    <p:sldId id="398" r:id="rId58"/>
    <p:sldId id="424" r:id="rId59"/>
    <p:sldId id="425" r:id="rId60"/>
    <p:sldId id="426" r:id="rId61"/>
    <p:sldId id="427" r:id="rId62"/>
    <p:sldId id="428" r:id="rId63"/>
    <p:sldId id="423" r:id="rId64"/>
    <p:sldId id="399" r:id="rId65"/>
    <p:sldId id="400" r:id="rId66"/>
    <p:sldId id="401" r:id="rId67"/>
    <p:sldId id="402" r:id="rId68"/>
    <p:sldId id="403" r:id="rId69"/>
    <p:sldId id="404" r:id="rId70"/>
    <p:sldId id="430" r:id="rId71"/>
    <p:sldId id="417" r:id="rId72"/>
    <p:sldId id="429" r:id="rId73"/>
    <p:sldId id="431" r:id="rId74"/>
    <p:sldId id="432" r:id="rId75"/>
    <p:sldId id="433" r:id="rId76"/>
    <p:sldId id="434" r:id="rId77"/>
    <p:sldId id="435" r:id="rId78"/>
    <p:sldId id="436" r:id="rId79"/>
    <p:sldId id="437" r:id="rId80"/>
    <p:sldId id="438" r:id="rId81"/>
    <p:sldId id="439" r:id="rId82"/>
    <p:sldId id="440" r:id="rId83"/>
    <p:sldId id="441" r:id="rId84"/>
    <p:sldId id="442" r:id="rId85"/>
    <p:sldId id="443" r:id="rId86"/>
    <p:sldId id="444" r:id="rId87"/>
    <p:sldId id="445" r:id="rId88"/>
    <p:sldId id="446" r:id="rId89"/>
    <p:sldId id="447" r:id="rId90"/>
    <p:sldId id="448" r:id="rId91"/>
    <p:sldId id="449" r:id="rId92"/>
    <p:sldId id="450" r:id="rId93"/>
    <p:sldId id="451" r:id="rId94"/>
    <p:sldId id="452" r:id="rId95"/>
    <p:sldId id="453" r:id="rId96"/>
    <p:sldId id="454" r:id="rId97"/>
    <p:sldId id="455" r:id="rId98"/>
    <p:sldId id="456" r:id="rId99"/>
    <p:sldId id="457" r:id="rId100"/>
    <p:sldId id="458" r:id="rId101"/>
    <p:sldId id="459" r:id="rId102"/>
    <p:sldId id="460" r:id="rId103"/>
    <p:sldId id="461" r:id="rId104"/>
    <p:sldId id="462" r:id="rId105"/>
    <p:sldId id="463" r:id="rId106"/>
    <p:sldId id="464" r:id="rId107"/>
    <p:sldId id="465" r:id="rId108"/>
    <p:sldId id="466" r:id="rId109"/>
    <p:sldId id="467" r:id="rId110"/>
    <p:sldId id="468" r:id="rId111"/>
    <p:sldId id="469" r:id="rId112"/>
    <p:sldId id="470" r:id="rId113"/>
    <p:sldId id="471" r:id="rId114"/>
    <p:sldId id="472" r:id="rId115"/>
    <p:sldId id="473" r:id="rId116"/>
    <p:sldId id="474" r:id="rId117"/>
    <p:sldId id="475" r:id="rId118"/>
    <p:sldId id="476" r:id="rId119"/>
    <p:sldId id="477" r:id="rId120"/>
    <p:sldId id="478" r:id="rId121"/>
    <p:sldId id="479" r:id="rId122"/>
    <p:sldId id="480" r:id="rId123"/>
    <p:sldId id="481" r:id="rId1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60" d="100"/>
          <a:sy n="60" d="100"/>
        </p:scale>
        <p:origin x="-1656" y="-294"/>
      </p:cViewPr>
      <p:guideLst>
        <p:guide orient="horz" pos="2160"/>
        <p:guide pos="2880"/>
      </p:guideLst>
    </p:cSldViewPr>
  </p:slideViewPr>
  <p:outlineViewPr>
    <p:cViewPr>
      <p:scale>
        <a:sx n="33" d="100"/>
        <a:sy n="33" d="100"/>
      </p:scale>
      <p:origin x="0" y="1854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 /><Relationship Id="rId117" Type="http://schemas.openxmlformats.org/officeDocument/2006/relationships/slide" Target="slides/slide116.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slide" Target="slides/slide88.xml" /><Relationship Id="rId112" Type="http://schemas.openxmlformats.org/officeDocument/2006/relationships/slide" Target="slides/slide111.xml" /><Relationship Id="rId16" Type="http://schemas.openxmlformats.org/officeDocument/2006/relationships/slide" Target="slides/slide15.xml" /><Relationship Id="rId107" Type="http://schemas.openxmlformats.org/officeDocument/2006/relationships/slide" Target="slides/slide106.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102" Type="http://schemas.openxmlformats.org/officeDocument/2006/relationships/slide" Target="slides/slide101.xml" /><Relationship Id="rId123" Type="http://schemas.openxmlformats.org/officeDocument/2006/relationships/slide" Target="slides/slide122.xml" /><Relationship Id="rId128" Type="http://schemas.openxmlformats.org/officeDocument/2006/relationships/theme" Target="theme/theme1.xml" /><Relationship Id="rId5" Type="http://schemas.openxmlformats.org/officeDocument/2006/relationships/slide" Target="slides/slide4.xml" /><Relationship Id="rId90" Type="http://schemas.openxmlformats.org/officeDocument/2006/relationships/slide" Target="slides/slide89.xml" /><Relationship Id="rId95" Type="http://schemas.openxmlformats.org/officeDocument/2006/relationships/slide" Target="slides/slide94.xml" /><Relationship Id="rId19" Type="http://schemas.openxmlformats.org/officeDocument/2006/relationships/slide" Target="slides/slide1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100" Type="http://schemas.openxmlformats.org/officeDocument/2006/relationships/slide" Target="slides/slide99.xml" /><Relationship Id="rId105" Type="http://schemas.openxmlformats.org/officeDocument/2006/relationships/slide" Target="slides/slide104.xml" /><Relationship Id="rId113" Type="http://schemas.openxmlformats.org/officeDocument/2006/relationships/slide" Target="slides/slide112.xml" /><Relationship Id="rId118" Type="http://schemas.openxmlformats.org/officeDocument/2006/relationships/slide" Target="slides/slide117.xml" /><Relationship Id="rId126" Type="http://schemas.openxmlformats.org/officeDocument/2006/relationships/presProps" Target="presProps.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93" Type="http://schemas.openxmlformats.org/officeDocument/2006/relationships/slide" Target="slides/slide92.xml" /><Relationship Id="rId98" Type="http://schemas.openxmlformats.org/officeDocument/2006/relationships/slide" Target="slides/slide97.xml" /><Relationship Id="rId121" Type="http://schemas.openxmlformats.org/officeDocument/2006/relationships/slide" Target="slides/slide12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103" Type="http://schemas.openxmlformats.org/officeDocument/2006/relationships/slide" Target="slides/slide102.xml" /><Relationship Id="rId108" Type="http://schemas.openxmlformats.org/officeDocument/2006/relationships/slide" Target="slides/slide107.xml" /><Relationship Id="rId116" Type="http://schemas.openxmlformats.org/officeDocument/2006/relationships/slide" Target="slides/slide115.xml" /><Relationship Id="rId124" Type="http://schemas.openxmlformats.org/officeDocument/2006/relationships/slide" Target="slides/slide123.xml" /><Relationship Id="rId129" Type="http://schemas.openxmlformats.org/officeDocument/2006/relationships/tableStyles" Target="tableStyle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slide" Target="slides/slide90.xml" /><Relationship Id="rId96" Type="http://schemas.openxmlformats.org/officeDocument/2006/relationships/slide" Target="slides/slide95.xml" /><Relationship Id="rId111" Type="http://schemas.openxmlformats.org/officeDocument/2006/relationships/slide" Target="slides/slide110.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6" Type="http://schemas.openxmlformats.org/officeDocument/2006/relationships/slide" Target="slides/slide105.xml" /><Relationship Id="rId114" Type="http://schemas.openxmlformats.org/officeDocument/2006/relationships/slide" Target="slides/slide113.xml" /><Relationship Id="rId119" Type="http://schemas.openxmlformats.org/officeDocument/2006/relationships/slide" Target="slides/slide118.xml" /><Relationship Id="rId127" Type="http://schemas.openxmlformats.org/officeDocument/2006/relationships/viewProps" Target="viewProps.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94" Type="http://schemas.openxmlformats.org/officeDocument/2006/relationships/slide" Target="slides/slide93.xml" /><Relationship Id="rId99" Type="http://schemas.openxmlformats.org/officeDocument/2006/relationships/slide" Target="slides/slide98.xml" /><Relationship Id="rId101" Type="http://schemas.openxmlformats.org/officeDocument/2006/relationships/slide" Target="slides/slide100.xml" /><Relationship Id="rId122" Type="http://schemas.openxmlformats.org/officeDocument/2006/relationships/slide" Target="slides/slide121.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109" Type="http://schemas.openxmlformats.org/officeDocument/2006/relationships/slide" Target="slides/slide10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97" Type="http://schemas.openxmlformats.org/officeDocument/2006/relationships/slide" Target="slides/slide96.xml" /><Relationship Id="rId104" Type="http://schemas.openxmlformats.org/officeDocument/2006/relationships/slide" Target="slides/slide103.xml" /><Relationship Id="rId120" Type="http://schemas.openxmlformats.org/officeDocument/2006/relationships/slide" Target="slides/slide119.xml" /><Relationship Id="rId125" Type="http://schemas.openxmlformats.org/officeDocument/2006/relationships/notesMaster" Target="notesMasters/notesMaster1.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slide" Target="slides/slide91.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110" Type="http://schemas.openxmlformats.org/officeDocument/2006/relationships/slide" Target="slides/slide109.xml" /><Relationship Id="rId115" Type="http://schemas.openxmlformats.org/officeDocument/2006/relationships/slide" Target="slides/slide114.xml" /><Relationship Id="rId61" Type="http://schemas.openxmlformats.org/officeDocument/2006/relationships/slide" Target="slides/slide60.xml" /><Relationship Id="rId82" Type="http://schemas.openxmlformats.org/officeDocument/2006/relationships/slide" Target="slides/slide8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E6959A0-D7AF-4AD5-8CDC-50076C4CE05E}" type="datetimeFigureOut">
              <a:rPr lang="en-US" smtClean="0"/>
              <a:pPr/>
              <a:t>12/3/2023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36E3FD-6D8C-46FF-AC2F-4917D4B60DD1}" type="slidenum">
              <a:rPr lang="en-IN" smtClean="0"/>
              <a:pPr/>
              <a:t>‹#›</a:t>
            </a:fld>
            <a:endParaRPr lang="en-IN"/>
          </a:p>
        </p:txBody>
      </p:sp>
    </p:spTree>
    <p:extLst>
      <p:ext uri="{BB962C8B-B14F-4D97-AF65-F5344CB8AC3E}">
        <p14:creationId xmlns:p14="http://schemas.microsoft.com/office/powerpoint/2010/main" val="4214773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79DBB1A-1FEB-47D5-AB0B-3B54F177EBBD}"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E9470FF-B805-4771-9235-962ECC72ADEA}"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003534-7D6C-454A-851B-D2AB72363025}"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A75CCB-1EEC-47B3-86D7-41D4042D5155}"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5EE8AA7-411A-4EBE-A8A4-9C7FAE215C98}" type="datetime1">
              <a:rPr lang="en-US" smtClean="0"/>
              <a:pPr/>
              <a:t>12/3/2023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C46707-76B6-4DEA-97FB-028F8461C6F4}" type="datetime1">
              <a:rPr lang="en-US" smtClean="0"/>
              <a:pPr/>
              <a:t>12/3/2023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E7301E-D7A9-449A-90D9-52E583434F58}" type="datetime1">
              <a:rPr lang="en-US" smtClean="0"/>
              <a:pPr/>
              <a:t>12/3/2023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D8FC9C-6DF9-42FD-BCB5-227E0A06EFEE}"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4F78A0-ED48-40BD-A958-C786CD259003}" type="datetime1">
              <a:rPr lang="en-US" smtClean="0"/>
              <a:pPr/>
              <a:t>12/3/2023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25B49A-0D60-4A45-B342-6B952C46299F}"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4729A5-CD6D-46A8-B57D-60159B9E94C6}" type="datetime1">
              <a:rPr lang="en-US" smtClean="0"/>
              <a:pPr/>
              <a:t>12/3/2023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9852A43B-CC61-4C08-A01B-A84C4E0E89A8}"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1177EF-6467-4FEC-8EDC-D092C09FC836}" type="datetime1">
              <a:rPr lang="en-US" smtClean="0"/>
              <a:pPr/>
              <a:t>12/3/2023</a:t>
            </a:fld>
            <a:endParaRPr lang="en-IN"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52A43B-CC61-4C08-A01B-A84C4E0E89A8}" type="slidenum">
              <a:rPr lang="en-IN" smtClean="0"/>
              <a:pP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18.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23.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260648"/>
            <a:ext cx="7859216" cy="1008112"/>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1)</a:t>
            </a: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55576" y="1412776"/>
            <a:ext cx="7931224" cy="4713387"/>
          </a:xfrm>
        </p:spPr>
        <p:txBody>
          <a:bodyPr>
            <a:normAutofit/>
          </a:bodyPr>
          <a:lstStyle/>
          <a:p>
            <a:pPr algn="just">
              <a:lnSpc>
                <a:spcPct val="160000"/>
              </a:lnSpc>
              <a:buFont typeface="Wingdings" pitchFamily="2" charset="2"/>
              <a:buChar char="Ø"/>
            </a:pPr>
            <a:r>
              <a:rPr lang="en-US" sz="2200" b="1" dirty="0">
                <a:effectLst>
                  <a:outerShdw blurRad="38100" dist="38100" dir="2700000" algn="tl">
                    <a:srgbClr val="000000">
                      <a:alpha val="43137"/>
                    </a:srgbClr>
                  </a:outerShdw>
                </a:effectLst>
                <a:latin typeface="Times New Roman" pitchFamily="18" charset="0"/>
                <a:cs typeface="Times New Roman" pitchFamily="18" charset="0"/>
              </a:rPr>
              <a:t>Personal Management</a:t>
            </a:r>
          </a:p>
          <a:p>
            <a:pPr lvl="2" algn="just">
              <a:lnSpc>
                <a:spcPct val="160000"/>
              </a:lnSpc>
              <a:buFont typeface="Wingdings" pitchFamily="2" charset="2"/>
              <a:buChar char="ü"/>
            </a:pPr>
            <a:r>
              <a:rPr lang="en-US" sz="2200" dirty="0">
                <a:latin typeface="Times New Roman" pitchFamily="18" charset="0"/>
                <a:cs typeface="Times New Roman" pitchFamily="18" charset="0"/>
              </a:rPr>
              <a:t>  Introduction</a:t>
            </a:r>
          </a:p>
          <a:p>
            <a:pPr lvl="2" algn="just">
              <a:lnSpc>
                <a:spcPct val="160000"/>
              </a:lnSpc>
              <a:buFont typeface="Wingdings" pitchFamily="2" charset="2"/>
              <a:buChar char="ü"/>
            </a:pPr>
            <a:r>
              <a:rPr lang="en-US" sz="2200" dirty="0">
                <a:latin typeface="Times New Roman" pitchFamily="18" charset="0"/>
                <a:cs typeface="Times New Roman" pitchFamily="18" charset="0"/>
              </a:rPr>
              <a:t>  Definition</a:t>
            </a:r>
          </a:p>
          <a:p>
            <a:pPr lvl="2" algn="just">
              <a:lnSpc>
                <a:spcPct val="160000"/>
              </a:lnSpc>
              <a:buFont typeface="Wingdings" pitchFamily="2" charset="2"/>
              <a:buChar char="ü"/>
            </a:pPr>
            <a:r>
              <a:rPr lang="en-US" sz="2200" dirty="0">
                <a:latin typeface="Times New Roman" pitchFamily="18" charset="0"/>
                <a:cs typeface="Times New Roman" pitchFamily="18" charset="0"/>
              </a:rPr>
              <a:t>  Objectives</a:t>
            </a:r>
          </a:p>
          <a:p>
            <a:pPr lvl="2" algn="just">
              <a:lnSpc>
                <a:spcPct val="160000"/>
              </a:lnSpc>
              <a:buFont typeface="Wingdings" pitchFamily="2" charset="2"/>
              <a:buChar char="ü"/>
            </a:pPr>
            <a:r>
              <a:rPr lang="en-US" sz="2200" dirty="0">
                <a:latin typeface="Times New Roman" pitchFamily="18" charset="0"/>
                <a:cs typeface="Times New Roman" pitchFamily="18" charset="0"/>
              </a:rPr>
              <a:t>  Characteristics</a:t>
            </a:r>
          </a:p>
          <a:p>
            <a:pPr lvl="2" algn="just">
              <a:lnSpc>
                <a:spcPct val="160000"/>
              </a:lnSpc>
              <a:buFont typeface="Wingdings" pitchFamily="2" charset="2"/>
              <a:buChar char="ü"/>
            </a:pPr>
            <a:r>
              <a:rPr lang="en-US" sz="2200" dirty="0">
                <a:latin typeface="Times New Roman" pitchFamily="18" charset="0"/>
                <a:cs typeface="Times New Roman" pitchFamily="18" charset="0"/>
              </a:rPr>
              <a:t>  Functions and Principles</a:t>
            </a:r>
          </a:p>
          <a:p>
            <a:pPr lvl="2" algn="just">
              <a:lnSpc>
                <a:spcPct val="160000"/>
              </a:lnSpc>
              <a:buFont typeface="Wingdings" pitchFamily="2" charset="2"/>
              <a:buChar char="ü"/>
            </a:pPr>
            <a:r>
              <a:rPr lang="en-US" sz="2200" dirty="0">
                <a:latin typeface="Times New Roman" pitchFamily="18" charset="0"/>
                <a:cs typeface="Times New Roman" pitchFamily="18" charset="0"/>
              </a:rPr>
              <a:t>  Recruitment and Training Methods</a:t>
            </a:r>
          </a:p>
        </p:txBody>
      </p:sp>
      <p:sp>
        <p:nvSpPr>
          <p:cNvPr id="5" name="Slide Number Placeholder 4"/>
          <p:cNvSpPr>
            <a:spLocks noGrp="1"/>
          </p:cNvSpPr>
          <p:nvPr>
            <p:ph type="sldNum" sz="quarter" idx="12"/>
          </p:nvPr>
        </p:nvSpPr>
        <p:spPr/>
        <p:txBody>
          <a:bodyPr/>
          <a:lstStyle/>
          <a:p>
            <a:fld id="{9852A43B-CC61-4C08-A01B-A84C4E0E89A8}" type="slidenum">
              <a:rPr lang="en-IN" smtClean="0"/>
              <a:pPr/>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576064"/>
          </a:xfrm>
        </p:spPr>
        <p:txBody>
          <a:bodyPr>
            <a:normAutofit fontScale="90000"/>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Personnel Management</a:t>
            </a:r>
          </a:p>
        </p:txBody>
      </p:sp>
      <p:sp>
        <p:nvSpPr>
          <p:cNvPr id="3" name="Content Placeholder 2"/>
          <p:cNvSpPr>
            <a:spLocks noGrp="1"/>
          </p:cNvSpPr>
          <p:nvPr>
            <p:ph idx="1"/>
          </p:nvPr>
        </p:nvSpPr>
        <p:spPr>
          <a:xfrm>
            <a:off x="457200" y="836712"/>
            <a:ext cx="8363272" cy="5544616"/>
          </a:xfrm>
        </p:spPr>
        <p:txBody>
          <a:bodyPr>
            <a:noAutofit/>
          </a:bodyPr>
          <a:lstStyle/>
          <a:p>
            <a:pPr algn="just">
              <a:lnSpc>
                <a:spcPct val="150000"/>
              </a:lnSpc>
              <a:buFont typeface="Wingdings" pitchFamily="2" charset="2"/>
              <a:buChar char="q"/>
            </a:pPr>
            <a:r>
              <a:rPr lang="en-US" sz="2200" dirty="0">
                <a:latin typeface="Times New Roman" pitchFamily="18" charset="0"/>
                <a:cs typeface="Times New Roman" pitchFamily="18" charset="0"/>
              </a:rPr>
              <a:t>It is one of the specialized functions necessary for the effective utilization of human resources (promoting and stimulating every employee)</a:t>
            </a:r>
          </a:p>
          <a:p>
            <a:pPr algn="just">
              <a:lnSpc>
                <a:spcPct val="150000"/>
              </a:lnSpc>
              <a:buFont typeface="Wingdings" pitchFamily="2" charset="2"/>
              <a:buChar char="q"/>
            </a:pPr>
            <a:r>
              <a:rPr lang="en-US" sz="2200" dirty="0">
                <a:latin typeface="Times New Roman" pitchFamily="18" charset="0"/>
                <a:cs typeface="Times New Roman" pitchFamily="18" charset="0"/>
              </a:rPr>
              <a:t>Defined as “that part of the total management of an organisation which specifically deals with human resources in respect of:</a:t>
            </a:r>
          </a:p>
          <a:p>
            <a:pPr lvl="1" algn="just">
              <a:lnSpc>
                <a:spcPct val="150000"/>
              </a:lnSpc>
              <a:buFont typeface="Wingdings" pitchFamily="2" charset="2"/>
              <a:buChar char="Ø"/>
            </a:pPr>
            <a:r>
              <a:rPr lang="en-US" sz="2200" dirty="0">
                <a:latin typeface="Times New Roman" pitchFamily="18" charset="0"/>
                <a:cs typeface="Times New Roman" pitchFamily="18" charset="0"/>
              </a:rPr>
              <a:t>  Their procurement</a:t>
            </a:r>
          </a:p>
          <a:p>
            <a:pPr lvl="1" algn="just">
              <a:lnSpc>
                <a:spcPct val="150000"/>
              </a:lnSpc>
              <a:buFont typeface="Wingdings" pitchFamily="2" charset="2"/>
              <a:buChar char="Ø"/>
            </a:pPr>
            <a:r>
              <a:rPr lang="en-US" sz="2200" dirty="0">
                <a:latin typeface="Times New Roman" pitchFamily="18" charset="0"/>
                <a:cs typeface="Times New Roman" pitchFamily="18" charset="0"/>
              </a:rPr>
              <a:t>  Their development in terms of skills, knowledge, attitude</a:t>
            </a:r>
          </a:p>
          <a:p>
            <a:pPr lvl="1" algn="just">
              <a:lnSpc>
                <a:spcPct val="150000"/>
              </a:lnSpc>
              <a:buFont typeface="Wingdings" pitchFamily="2" charset="2"/>
              <a:buChar char="Ø"/>
            </a:pPr>
            <a:r>
              <a:rPr lang="en-US" sz="2200" dirty="0">
                <a:latin typeface="Times New Roman" pitchFamily="18" charset="0"/>
                <a:cs typeface="Times New Roman" pitchFamily="18" charset="0"/>
              </a:rPr>
              <a:t>  Their motivation towards the attainment of organizational   	objectives by creating and maintaining an organisational climate 	conductive to such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Objectives</a:t>
            </a:r>
          </a:p>
        </p:txBody>
      </p:sp>
      <p:sp>
        <p:nvSpPr>
          <p:cNvPr id="3" name="Content Placeholder 2"/>
          <p:cNvSpPr>
            <a:spLocks noGrp="1"/>
          </p:cNvSpPr>
          <p:nvPr>
            <p:ph idx="1"/>
          </p:nvPr>
        </p:nvSpPr>
        <p:spPr>
          <a:xfrm>
            <a:off x="467544" y="1268760"/>
            <a:ext cx="8352928" cy="4824536"/>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Aims at getting the best out of people by winning and maintaining their whole hearted collaboration.</a:t>
            </a:r>
          </a:p>
          <a:p>
            <a:pPr algn="just">
              <a:lnSpc>
                <a:spcPct val="150000"/>
              </a:lnSpc>
              <a:buFont typeface="Wingdings" pitchFamily="2" charset="2"/>
              <a:buChar char="Ø"/>
            </a:pPr>
            <a:r>
              <a:rPr lang="en-US" sz="2200" dirty="0">
                <a:latin typeface="Times New Roman" pitchFamily="18" charset="0"/>
                <a:cs typeface="Times New Roman" pitchFamily="18" charset="0"/>
              </a:rPr>
              <a:t>To attain maximum individual development, desirable work atmosphere and inter personnel relations etc.</a:t>
            </a:r>
          </a:p>
          <a:p>
            <a:pPr algn="just">
              <a:lnSpc>
                <a:spcPct val="150000"/>
              </a:lnSpc>
              <a:buFont typeface="Wingdings" pitchFamily="2" charset="2"/>
              <a:buChar char="Ø"/>
            </a:pPr>
            <a:r>
              <a:rPr lang="en-US" sz="2200" dirty="0">
                <a:latin typeface="Times New Roman" pitchFamily="18" charset="0"/>
                <a:cs typeface="Times New Roman" pitchFamily="18" charset="0"/>
              </a:rPr>
              <a:t>Understanding of people at work </a:t>
            </a:r>
          </a:p>
          <a:p>
            <a:pPr algn="just">
              <a:lnSpc>
                <a:spcPct val="150000"/>
              </a:lnSpc>
              <a:buFont typeface="Wingdings" pitchFamily="2" charset="2"/>
              <a:buChar char="Ø"/>
            </a:pPr>
            <a:r>
              <a:rPr lang="en-US" sz="2200" dirty="0">
                <a:latin typeface="Times New Roman" pitchFamily="18" charset="0"/>
                <a:cs typeface="Times New Roman" pitchFamily="18" charset="0"/>
              </a:rPr>
              <a:t>Building up of morale and motivation among workers.</a:t>
            </a:r>
          </a:p>
          <a:p>
            <a:pPr algn="just">
              <a:lnSpc>
                <a:spcPct val="150000"/>
              </a:lnSpc>
              <a:buFont typeface="Wingdings" pitchFamily="2" charset="2"/>
              <a:buChar char="Ø"/>
            </a:pPr>
            <a:r>
              <a:rPr lang="en-US" sz="2200" dirty="0">
                <a:latin typeface="Times New Roman" pitchFamily="18" charset="0"/>
                <a:cs typeface="Times New Roman" pitchFamily="18" charset="0"/>
              </a:rPr>
              <a:t>Providing better service to the society and distributing profits fairly among the personnel in the enterprise.</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640960" cy="936104"/>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Personnel Management</a:t>
            </a:r>
          </a:p>
        </p:txBody>
      </p:sp>
      <p:sp>
        <p:nvSpPr>
          <p:cNvPr id="3" name="Content Placeholder 2"/>
          <p:cNvSpPr>
            <a:spLocks noGrp="1"/>
          </p:cNvSpPr>
          <p:nvPr>
            <p:ph idx="1"/>
          </p:nvPr>
        </p:nvSpPr>
        <p:spPr>
          <a:xfrm>
            <a:off x="457200" y="1052736"/>
            <a:ext cx="8435280" cy="5544616"/>
          </a:xfrm>
        </p:spPr>
        <p:txBody>
          <a:bodyPr>
            <a:normAutofit fontScale="40000" lnSpcReduction="20000"/>
          </a:bodyPr>
          <a:lstStyle/>
          <a:p>
            <a:pPr marL="514350" indent="-514350" algn="just">
              <a:lnSpc>
                <a:spcPct val="170000"/>
              </a:lnSpc>
              <a:buFont typeface="+mj-lt"/>
              <a:buAutoNum type="arabicPeriod"/>
            </a:pPr>
            <a:r>
              <a:rPr lang="en-US" sz="5000" b="1" dirty="0">
                <a:latin typeface="Times New Roman" pitchFamily="18" charset="0"/>
                <a:cs typeface="Times New Roman" pitchFamily="18" charset="0"/>
              </a:rPr>
              <a:t>Principle of maximum industrial development:- </a:t>
            </a:r>
            <a:r>
              <a:rPr lang="en-US" sz="5000" i="1" dirty="0">
                <a:solidFill>
                  <a:schemeClr val="tx2">
                    <a:lumMod val="75000"/>
                  </a:schemeClr>
                </a:solidFill>
                <a:latin typeface="Times New Roman" pitchFamily="18" charset="0"/>
                <a:cs typeface="Times New Roman" pitchFamily="18" charset="0"/>
              </a:rPr>
              <a:t>Workers are able to fulfill the objectives of an organisation with min cost and their developed ability, cleverness, productivity and efficiency could be used for the objective.</a:t>
            </a:r>
          </a:p>
          <a:p>
            <a:pPr marL="514350" indent="-514350" algn="just">
              <a:lnSpc>
                <a:spcPct val="170000"/>
              </a:lnSpc>
              <a:buFont typeface="+mj-lt"/>
              <a:buAutoNum type="arabicPeriod"/>
            </a:pPr>
            <a:r>
              <a:rPr lang="en-US" sz="5000" b="1" dirty="0">
                <a:latin typeface="Times New Roman" pitchFamily="18" charset="0"/>
                <a:cs typeface="Times New Roman" pitchFamily="18" charset="0"/>
              </a:rPr>
              <a:t>Principle of scientific selection:- </a:t>
            </a:r>
            <a:r>
              <a:rPr lang="en-US" sz="5000" i="1" dirty="0">
                <a:solidFill>
                  <a:schemeClr val="tx2">
                    <a:lumMod val="75000"/>
                  </a:schemeClr>
                </a:solidFill>
                <a:latin typeface="Times New Roman" pitchFamily="18" charset="0"/>
                <a:cs typeface="Times New Roman" pitchFamily="18" charset="0"/>
              </a:rPr>
              <a:t>Selecting the right person to do the right job.</a:t>
            </a:r>
          </a:p>
          <a:p>
            <a:pPr marL="514350" indent="-514350" algn="just">
              <a:lnSpc>
                <a:spcPct val="170000"/>
              </a:lnSpc>
              <a:buFont typeface="+mj-lt"/>
              <a:buAutoNum type="arabicPeriod"/>
            </a:pPr>
            <a:r>
              <a:rPr lang="en-US" sz="5000" b="1" dirty="0">
                <a:latin typeface="Times New Roman" pitchFamily="18" charset="0"/>
                <a:cs typeface="Times New Roman" pitchFamily="18" charset="0"/>
              </a:rPr>
              <a:t>Principle of high morale:- </a:t>
            </a:r>
            <a:r>
              <a:rPr lang="en-US" sz="5000" i="1" dirty="0">
                <a:solidFill>
                  <a:schemeClr val="tx2">
                    <a:lumMod val="75000"/>
                  </a:schemeClr>
                </a:solidFill>
                <a:latin typeface="Times New Roman" pitchFamily="18" charset="0"/>
                <a:cs typeface="Times New Roman" pitchFamily="18" charset="0"/>
              </a:rPr>
              <a:t>It helps in increasing their intension to do work.</a:t>
            </a:r>
          </a:p>
          <a:p>
            <a:pPr marL="514350" indent="-514350" algn="just">
              <a:lnSpc>
                <a:spcPct val="170000"/>
              </a:lnSpc>
              <a:buFont typeface="+mj-lt"/>
              <a:buAutoNum type="arabicPeriod"/>
            </a:pPr>
            <a:r>
              <a:rPr lang="en-US" sz="5000" b="1" dirty="0">
                <a:latin typeface="Times New Roman" pitchFamily="18" charset="0"/>
                <a:cs typeface="Times New Roman" pitchFamily="18" charset="0"/>
              </a:rPr>
              <a:t>Principle of Dignity of labour:- </a:t>
            </a:r>
            <a:r>
              <a:rPr lang="en-US" sz="5000" i="1" dirty="0">
                <a:solidFill>
                  <a:schemeClr val="tx2">
                    <a:lumMod val="75000"/>
                  </a:schemeClr>
                </a:solidFill>
                <a:latin typeface="Times New Roman" pitchFamily="18" charset="0"/>
                <a:cs typeface="Times New Roman" pitchFamily="18" charset="0"/>
              </a:rPr>
              <a:t>Workers should feel proud of their work.</a:t>
            </a:r>
          </a:p>
          <a:p>
            <a:pPr marL="514350" indent="-514350" algn="just">
              <a:lnSpc>
                <a:spcPct val="170000"/>
              </a:lnSpc>
              <a:buFont typeface="+mj-lt"/>
              <a:buAutoNum type="arabicPeriod"/>
            </a:pPr>
            <a:r>
              <a:rPr lang="en-US" sz="5000" b="1" dirty="0">
                <a:latin typeface="Times New Roman" pitchFamily="18" charset="0"/>
                <a:cs typeface="Times New Roman" pitchFamily="18" charset="0"/>
              </a:rPr>
              <a:t>Principle of team spirit: </a:t>
            </a:r>
            <a:r>
              <a:rPr lang="en-US" sz="5000" i="1" dirty="0">
                <a:solidFill>
                  <a:schemeClr val="tx2">
                    <a:lumMod val="75000"/>
                  </a:schemeClr>
                </a:solidFill>
                <a:latin typeface="Times New Roman" pitchFamily="18" charset="0"/>
                <a:cs typeface="Times New Roman" pitchFamily="18" charset="0"/>
              </a:rPr>
              <a:t>They must have a sense of co operation, unity and mutual trust.</a:t>
            </a:r>
          </a:p>
          <a:p>
            <a:pPr marL="514350" indent="-514350" algn="just">
              <a:lnSpc>
                <a:spcPct val="120000"/>
              </a:lnSpc>
              <a:buNone/>
            </a:pPr>
            <a:endParaRPr lang="en-US"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Principles of Personnel Management</a:t>
            </a:r>
            <a:endParaRPr lang="en-US" dirty="0"/>
          </a:p>
        </p:txBody>
      </p:sp>
      <p:sp>
        <p:nvSpPr>
          <p:cNvPr id="3" name="Content Placeholder 2"/>
          <p:cNvSpPr>
            <a:spLocks noGrp="1"/>
          </p:cNvSpPr>
          <p:nvPr>
            <p:ph idx="1"/>
          </p:nvPr>
        </p:nvSpPr>
        <p:spPr>
          <a:xfrm>
            <a:off x="179512" y="1371600"/>
            <a:ext cx="8712968" cy="4525963"/>
          </a:xfrm>
        </p:spPr>
        <p:txBody>
          <a:bodyPr>
            <a:noAutofit/>
          </a:bodyPr>
          <a:lstStyle/>
          <a:p>
            <a:pPr marL="514350" indent="-514350" algn="just">
              <a:lnSpc>
                <a:spcPct val="150000"/>
              </a:lnSpc>
              <a:buAutoNum type="arabicPeriod" startAt="6"/>
            </a:pPr>
            <a:r>
              <a:rPr lang="en-US" sz="2000" b="1" dirty="0">
                <a:latin typeface="Times New Roman" pitchFamily="18" charset="0"/>
                <a:cs typeface="Times New Roman" pitchFamily="18" charset="0"/>
              </a:rPr>
              <a:t>Principle of effective communication:- </a:t>
            </a:r>
            <a:r>
              <a:rPr lang="en-US" sz="2000" i="1" dirty="0">
                <a:solidFill>
                  <a:schemeClr val="tx2">
                    <a:lumMod val="75000"/>
                  </a:schemeClr>
                </a:solidFill>
                <a:latin typeface="Times New Roman" pitchFamily="18" charset="0"/>
                <a:cs typeface="Times New Roman" pitchFamily="18" charset="0"/>
              </a:rPr>
              <a:t>A medium of effective communication between the management and workers should have to be maintained.</a:t>
            </a:r>
          </a:p>
          <a:p>
            <a:pPr marL="514350" indent="-514350" algn="just">
              <a:lnSpc>
                <a:spcPct val="150000"/>
              </a:lnSpc>
              <a:buAutoNum type="arabicPeriod" startAt="6"/>
            </a:pPr>
            <a:r>
              <a:rPr lang="en-US" sz="2000" b="1" dirty="0">
                <a:latin typeface="Times New Roman" pitchFamily="18" charset="0"/>
                <a:cs typeface="Times New Roman" pitchFamily="18" charset="0"/>
              </a:rPr>
              <a:t>Principle of joint management:- </a:t>
            </a:r>
            <a:r>
              <a:rPr lang="en-US" sz="2000" i="1" dirty="0">
                <a:solidFill>
                  <a:schemeClr val="tx2">
                    <a:lumMod val="75000"/>
                  </a:schemeClr>
                </a:solidFill>
                <a:latin typeface="Times New Roman" pitchFamily="18" charset="0"/>
                <a:cs typeface="Times New Roman" pitchFamily="18" charset="0"/>
              </a:rPr>
              <a:t>Profit must be shared with workers which increases mutual faith and friendship among them.</a:t>
            </a:r>
          </a:p>
          <a:p>
            <a:pPr marL="514350" indent="-514350" algn="just">
              <a:lnSpc>
                <a:spcPct val="150000"/>
              </a:lnSpc>
              <a:buAutoNum type="arabicPeriod" startAt="6"/>
            </a:pPr>
            <a:r>
              <a:rPr lang="en-US" sz="2000" b="1" dirty="0">
                <a:latin typeface="Times New Roman" pitchFamily="18" charset="0"/>
                <a:cs typeface="Times New Roman" pitchFamily="18" charset="0"/>
              </a:rPr>
              <a:t>Principle of fair reward:- </a:t>
            </a:r>
            <a:r>
              <a:rPr lang="en-US" sz="2000" i="1" dirty="0">
                <a:solidFill>
                  <a:schemeClr val="tx2">
                    <a:lumMod val="75000"/>
                  </a:schemeClr>
                </a:solidFill>
                <a:latin typeface="Times New Roman" pitchFamily="18" charset="0"/>
                <a:cs typeface="Times New Roman" pitchFamily="18" charset="0"/>
              </a:rPr>
              <a:t>Proper compensation should be given for their work, which helps in maintaining industrial peace.</a:t>
            </a:r>
          </a:p>
          <a:p>
            <a:pPr marL="514350" indent="-514350" algn="just">
              <a:lnSpc>
                <a:spcPct val="150000"/>
              </a:lnSpc>
              <a:buAutoNum type="arabicPeriod" startAt="6"/>
            </a:pPr>
            <a:r>
              <a:rPr lang="en-US" sz="2000" b="1" dirty="0">
                <a:latin typeface="Times New Roman" pitchFamily="18" charset="0"/>
                <a:cs typeface="Times New Roman" pitchFamily="18" charset="0"/>
              </a:rPr>
              <a:t>Principle of effective utilization of human resources</a:t>
            </a:r>
          </a:p>
          <a:p>
            <a:pPr marL="514350" indent="-514350" algn="just">
              <a:lnSpc>
                <a:spcPct val="150000"/>
              </a:lnSpc>
              <a:buAutoNum type="arabicPeriod" startAt="6"/>
            </a:pPr>
            <a:r>
              <a:rPr lang="en-US" sz="2000" b="1" dirty="0">
                <a:latin typeface="Times New Roman" pitchFamily="18" charset="0"/>
                <a:cs typeface="Times New Roman" pitchFamily="18" charset="0"/>
              </a:rPr>
              <a:t>Principle of contribution of national prosperity:-</a:t>
            </a:r>
            <a:r>
              <a:rPr lang="en-US" sz="2000" dirty="0">
                <a:latin typeface="Times New Roman" pitchFamily="18" charset="0"/>
                <a:cs typeface="Times New Roman" pitchFamily="18" charset="0"/>
              </a:rPr>
              <a:t> </a:t>
            </a:r>
            <a:r>
              <a:rPr lang="en-US" sz="2000" i="1" dirty="0">
                <a:solidFill>
                  <a:schemeClr val="tx2">
                    <a:lumMod val="75000"/>
                  </a:schemeClr>
                </a:solidFill>
                <a:latin typeface="Times New Roman" pitchFamily="18" charset="0"/>
                <a:cs typeface="Times New Roman" pitchFamily="18" charset="0"/>
              </a:rPr>
              <a:t>Develop a sense in labour that success of the organisation is the success of economic development of the nation.</a:t>
            </a:r>
          </a:p>
          <a:p>
            <a:pPr marL="514350" indent="-514350" algn="just">
              <a:buAutoNum type="arabicPeriod" startAt="6"/>
            </a:pPr>
            <a:endParaRPr lang="en-US" sz="22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8640"/>
            <a:ext cx="8229600" cy="64807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Functions/Scope</a:t>
            </a:r>
          </a:p>
        </p:txBody>
      </p:sp>
      <p:sp>
        <p:nvSpPr>
          <p:cNvPr id="3" name="Content Placeholder 2"/>
          <p:cNvSpPr>
            <a:spLocks noGrp="1"/>
          </p:cNvSpPr>
          <p:nvPr>
            <p:ph idx="1"/>
          </p:nvPr>
        </p:nvSpPr>
        <p:spPr>
          <a:xfrm>
            <a:off x="179512" y="836712"/>
            <a:ext cx="8712968" cy="5518051"/>
          </a:xfrm>
        </p:spPr>
        <p:txBody>
          <a:bodyPr>
            <a:noAutofit/>
          </a:bodyPr>
          <a:lstStyle/>
          <a:p>
            <a:pPr algn="just">
              <a:lnSpc>
                <a:spcPct val="150000"/>
              </a:lnSpc>
              <a:buNone/>
            </a:pPr>
            <a:r>
              <a:rPr lang="en-US" sz="2200" dirty="0">
                <a:latin typeface="Times New Roman" pitchFamily="18" charset="0"/>
                <a:cs typeface="Times New Roman" pitchFamily="18" charset="0"/>
              </a:rPr>
              <a:t>	It involves obtaining and maintaining an efficient work force as a means of achieving profitable goods and services. </a:t>
            </a:r>
          </a:p>
          <a:p>
            <a:pPr marL="971550" lvl="1" indent="-514350" algn="just">
              <a:lnSpc>
                <a:spcPct val="150000"/>
              </a:lnSpc>
              <a:buFont typeface="+mj-lt"/>
              <a:buAutoNum type="arabicPeriod"/>
            </a:pPr>
            <a:r>
              <a:rPr lang="en-US" sz="2200" dirty="0">
                <a:latin typeface="Times New Roman" pitchFamily="18" charset="0"/>
                <a:cs typeface="Times New Roman" pitchFamily="18" charset="0"/>
              </a:rPr>
              <a:t>Development of personnel policy:- </a:t>
            </a:r>
            <a:r>
              <a:rPr lang="en-US" sz="2200" dirty="0">
                <a:solidFill>
                  <a:schemeClr val="accent1">
                    <a:lumMod val="50000"/>
                  </a:schemeClr>
                </a:solidFill>
                <a:latin typeface="Times New Roman" pitchFamily="18" charset="0"/>
                <a:cs typeface="Times New Roman" pitchFamily="18" charset="0"/>
              </a:rPr>
              <a:t>to discharge duties &amp; responsibilities by managers</a:t>
            </a:r>
          </a:p>
          <a:p>
            <a:pPr marL="971550" lvl="1" indent="-514350" algn="just">
              <a:lnSpc>
                <a:spcPct val="150000"/>
              </a:lnSpc>
              <a:buFont typeface="+mj-lt"/>
              <a:buAutoNum type="arabicPeriod"/>
            </a:pPr>
            <a:r>
              <a:rPr lang="en-US" sz="2200" dirty="0">
                <a:latin typeface="Times New Roman" pitchFamily="18" charset="0"/>
                <a:cs typeface="Times New Roman" pitchFamily="18" charset="0"/>
              </a:rPr>
              <a:t>Manpower planning</a:t>
            </a:r>
          </a:p>
          <a:p>
            <a:pPr marL="971550" lvl="1" indent="-514350" algn="just">
              <a:lnSpc>
                <a:spcPct val="150000"/>
              </a:lnSpc>
              <a:buFont typeface="+mj-lt"/>
              <a:buAutoNum type="arabicPeriod"/>
            </a:pPr>
            <a:r>
              <a:rPr lang="en-US" sz="2200" dirty="0">
                <a:latin typeface="Times New Roman" pitchFamily="18" charset="0"/>
                <a:cs typeface="Times New Roman" pitchFamily="18" charset="0"/>
              </a:rPr>
              <a:t>Recruitment and selection of manpower</a:t>
            </a:r>
          </a:p>
          <a:p>
            <a:pPr marL="971550" lvl="1" indent="-514350" algn="just">
              <a:lnSpc>
                <a:spcPct val="150000"/>
              </a:lnSpc>
              <a:buFont typeface="+mj-lt"/>
              <a:buAutoNum type="arabicPeriod"/>
            </a:pPr>
            <a:r>
              <a:rPr lang="en-US" sz="2200" dirty="0">
                <a:latin typeface="Times New Roman" pitchFamily="18" charset="0"/>
                <a:cs typeface="Times New Roman" pitchFamily="18" charset="0"/>
              </a:rPr>
              <a:t>Analysis, description and valuation of work</a:t>
            </a:r>
          </a:p>
          <a:p>
            <a:pPr marL="971550" lvl="1" indent="-514350" algn="just">
              <a:lnSpc>
                <a:spcPct val="150000"/>
              </a:lnSpc>
              <a:buFont typeface="+mj-lt"/>
              <a:buAutoNum type="arabicPeriod"/>
            </a:pPr>
            <a:r>
              <a:rPr lang="en-US" sz="2200" dirty="0">
                <a:latin typeface="Times New Roman" pitchFamily="18" charset="0"/>
                <a:cs typeface="Times New Roman" pitchFamily="18" charset="0"/>
              </a:rPr>
              <a:t>Compensation and schemes of appraisal of work, also informing the employees about their accomplishment and failures to facilitate  development.</a:t>
            </a:r>
          </a:p>
          <a:p>
            <a:pPr marL="971550" lvl="1" indent="-514350" algn="just">
              <a:buFont typeface="+mj-lt"/>
              <a:buAutoNum type="arabicPeriod"/>
            </a:pPr>
            <a:endParaRPr lang="en-US" sz="2200" dirty="0">
              <a:latin typeface="Times New Roman" pitchFamily="18" charset="0"/>
              <a:cs typeface="Times New Roman" pitchFamily="18" charset="0"/>
            </a:endParaRPr>
          </a:p>
          <a:p>
            <a:pPr marL="971550" lvl="1" indent="-514350" algn="just">
              <a:buFont typeface="+mj-lt"/>
              <a:buAutoNum type="arabicPeriod"/>
            </a:pPr>
            <a:endParaRPr lang="en-US" sz="2200" dirty="0">
              <a:latin typeface="Times New Roman" pitchFamily="18" charset="0"/>
              <a:cs typeface="Times New Roman" pitchFamily="18" charset="0"/>
            </a:endParaRPr>
          </a:p>
          <a:p>
            <a:pPr marL="971550" lvl="1" indent="-514350" algn="just">
              <a:buFont typeface="+mj-lt"/>
              <a:buAutoNum type="arabicPeriod"/>
            </a:pPr>
            <a:endParaRPr lang="en-US" sz="22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Functions/Scope</a:t>
            </a:r>
            <a:endParaRPr lang="en-IN" sz="3200" dirty="0"/>
          </a:p>
        </p:txBody>
      </p:sp>
      <p:sp>
        <p:nvSpPr>
          <p:cNvPr id="3" name="Content Placeholder 2"/>
          <p:cNvSpPr>
            <a:spLocks noGrp="1"/>
          </p:cNvSpPr>
          <p:nvPr>
            <p:ph idx="1"/>
          </p:nvPr>
        </p:nvSpPr>
        <p:spPr>
          <a:xfrm>
            <a:off x="323528" y="1412776"/>
            <a:ext cx="8496944" cy="4968552"/>
          </a:xfrm>
        </p:spPr>
        <p:txBody>
          <a:bodyPr>
            <a:normAutofit/>
          </a:bodyPr>
          <a:lstStyle/>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Keeping records of personnel</a:t>
            </a:r>
          </a:p>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Welfare and safety </a:t>
            </a:r>
            <a:r>
              <a:rPr lang="en-US" sz="2200" dirty="0" err="1">
                <a:latin typeface="Times New Roman" pitchFamily="18" charset="0"/>
                <a:cs typeface="Times New Roman" pitchFamily="18" charset="0"/>
              </a:rPr>
              <a:t>programmes</a:t>
            </a:r>
            <a:endParaRPr lang="en-US" sz="2200" dirty="0">
              <a:latin typeface="Times New Roman" pitchFamily="18" charset="0"/>
              <a:cs typeface="Times New Roman" pitchFamily="18" charset="0"/>
            </a:endParaRPr>
          </a:p>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Training and development of manpower</a:t>
            </a:r>
          </a:p>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Wages and salary administration</a:t>
            </a:r>
          </a:p>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Collective bargaining (negotiations with trade union)</a:t>
            </a:r>
          </a:p>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Employee grievance handling</a:t>
            </a:r>
          </a:p>
          <a:p>
            <a:pPr marL="971550" lvl="1" indent="-514350" algn="just">
              <a:lnSpc>
                <a:spcPct val="150000"/>
              </a:lnSpc>
              <a:buFont typeface="+mj-lt"/>
              <a:buAutoNum type="arabicPeriod" startAt="6"/>
            </a:pPr>
            <a:r>
              <a:rPr lang="en-US" sz="2200" dirty="0">
                <a:latin typeface="Times New Roman" pitchFamily="18" charset="0"/>
                <a:cs typeface="Times New Roman" pitchFamily="18" charset="0"/>
              </a:rPr>
              <a:t>Promotion, transfers and retirement of employees.</a:t>
            </a:r>
          </a:p>
          <a:p>
            <a:pPr marL="457200" indent="-457200" algn="just">
              <a:buFont typeface="+mj-lt"/>
              <a:buAutoNum type="arabicPeriod" startAt="6"/>
            </a:pPr>
            <a:endParaRPr lang="en-IN"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Functions of Human Resources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412776"/>
            <a:ext cx="7992888" cy="4968552"/>
          </a:xfrm>
        </p:spPr>
        <p:txBody>
          <a:bodyPr>
            <a:normAutofit/>
          </a:bodyPr>
          <a:lstStyle/>
          <a:p>
            <a:pPr marL="971550" lvl="1" indent="-514350" algn="just">
              <a:lnSpc>
                <a:spcPct val="200000"/>
              </a:lnSpc>
              <a:buFont typeface="+mj-lt"/>
              <a:buAutoNum type="arabicPeriod"/>
            </a:pPr>
            <a:r>
              <a:rPr lang="en-US" sz="2200" dirty="0">
                <a:latin typeface="Times New Roman" pitchFamily="18" charset="0"/>
                <a:cs typeface="Times New Roman" pitchFamily="18" charset="0"/>
              </a:rPr>
              <a:t>Procurement</a:t>
            </a:r>
          </a:p>
          <a:p>
            <a:pPr marL="971550" lvl="1" indent="-514350" algn="just">
              <a:lnSpc>
                <a:spcPct val="200000"/>
              </a:lnSpc>
              <a:buFont typeface="+mj-lt"/>
              <a:buAutoNum type="arabicPeriod"/>
            </a:pPr>
            <a:r>
              <a:rPr lang="en-US" sz="2200" dirty="0">
                <a:latin typeface="Times New Roman" pitchFamily="18" charset="0"/>
                <a:cs typeface="Times New Roman" pitchFamily="18" charset="0"/>
              </a:rPr>
              <a:t>Training and  Development</a:t>
            </a:r>
          </a:p>
          <a:p>
            <a:pPr marL="971550" lvl="1" indent="-514350" algn="just">
              <a:lnSpc>
                <a:spcPct val="200000"/>
              </a:lnSpc>
              <a:buFont typeface="+mj-lt"/>
              <a:buAutoNum type="arabicPeriod"/>
            </a:pPr>
            <a:r>
              <a:rPr lang="en-US" sz="2200" dirty="0">
                <a:latin typeface="Times New Roman" pitchFamily="18" charset="0"/>
                <a:cs typeface="Times New Roman" pitchFamily="18" charset="0"/>
              </a:rPr>
              <a:t>Compensation</a:t>
            </a:r>
          </a:p>
          <a:p>
            <a:pPr marL="971550" lvl="1" indent="-514350" algn="just">
              <a:lnSpc>
                <a:spcPct val="200000"/>
              </a:lnSpc>
              <a:buFont typeface="+mj-lt"/>
              <a:buAutoNum type="arabicPeriod"/>
            </a:pPr>
            <a:r>
              <a:rPr lang="en-US" sz="2200" dirty="0">
                <a:latin typeface="Times New Roman" pitchFamily="18" charset="0"/>
                <a:cs typeface="Times New Roman" pitchFamily="18" charset="0"/>
              </a:rPr>
              <a:t>Integration, and</a:t>
            </a:r>
          </a:p>
          <a:p>
            <a:pPr marL="971550" lvl="1" indent="-514350" algn="just">
              <a:lnSpc>
                <a:spcPct val="200000"/>
              </a:lnSpc>
              <a:buFont typeface="+mj-lt"/>
              <a:buAutoNum type="arabicPeriod"/>
            </a:pPr>
            <a:r>
              <a:rPr lang="en-US" sz="2200" dirty="0">
                <a:latin typeface="Times New Roman" pitchFamily="18" charset="0"/>
                <a:cs typeface="Times New Roman" pitchFamily="18" charset="0"/>
              </a:rPr>
              <a:t>Maintenance.</a:t>
            </a:r>
            <a:endParaRPr lang="en-IN" sz="22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fontScale="90000"/>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1. Procurement</a:t>
            </a:r>
            <a:br>
              <a:rPr lang="en-US" sz="2200" dirty="0">
                <a:latin typeface="Times New Roman" pitchFamily="18" charset="0"/>
                <a:cs typeface="Times New Roman" pitchFamily="18" charset="0"/>
              </a:rPr>
            </a:b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412776"/>
            <a:ext cx="7992888" cy="4968552"/>
          </a:xfrm>
        </p:spPr>
        <p:txBody>
          <a:bodyPr>
            <a:norm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Procurement is concerned with the obtaining of the proper quantity and quality of workforce necessary to accomplish objectives and functions of an organization. </a:t>
            </a:r>
          </a:p>
          <a:p>
            <a:pPr algn="just">
              <a:lnSpc>
                <a:spcPct val="200000"/>
              </a:lnSpc>
              <a:buFont typeface="Wingdings" pitchFamily="2" charset="2"/>
              <a:buChar char="Ø"/>
            </a:pPr>
            <a:r>
              <a:rPr lang="en-US" sz="2200" dirty="0">
                <a:latin typeface="Times New Roman" pitchFamily="18" charset="0"/>
                <a:cs typeface="Times New Roman" pitchFamily="18" charset="0"/>
              </a:rPr>
              <a:t>It includes the determination of human resources requirements and their recruitment and selection.</a:t>
            </a:r>
            <a:endParaRPr lang="en-IN" sz="22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pPr lvl="1" algn="ctr" rtl="0">
              <a:spcBef>
                <a:spcPct val="0"/>
              </a:spcBef>
            </a:pP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Recruitment</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412776"/>
            <a:ext cx="7992888" cy="4968552"/>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Recruitment is developing a pool of job candidates in line with the human resource plan. </a:t>
            </a:r>
          </a:p>
          <a:p>
            <a:pPr algn="just">
              <a:lnSpc>
                <a:spcPct val="200000"/>
              </a:lnSpc>
              <a:buFont typeface="Wingdings" pitchFamily="2" charset="2"/>
              <a:buChar char="Ø"/>
            </a:pPr>
            <a:r>
              <a:rPr lang="en-US" sz="2200" dirty="0">
                <a:latin typeface="Times New Roman" pitchFamily="18" charset="0"/>
                <a:cs typeface="Times New Roman" pitchFamily="18" charset="0"/>
              </a:rPr>
              <a:t>Candidates are usually located through newspaper and professional journal advertisements, employment agencies, word of mouth and visits to college and university campuses.</a:t>
            </a:r>
            <a:endParaRPr lang="en-IN" sz="22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pPr lvl="1" algn="ctr" rtl="0">
              <a:spcBef>
                <a:spcPct val="0"/>
              </a:spcBef>
            </a:pP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Selection</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412776"/>
            <a:ext cx="7992888" cy="4968552"/>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Selection is the mutual process whereby the organization decides whether or not to make a job offer and the candidate decides whether or not to accept it. </a:t>
            </a:r>
          </a:p>
          <a:p>
            <a:pPr algn="just">
              <a:lnSpc>
                <a:spcPct val="200000"/>
              </a:lnSpc>
              <a:buFont typeface="Wingdings" pitchFamily="2" charset="2"/>
              <a:buChar char="Ø"/>
            </a:pPr>
            <a:r>
              <a:rPr lang="en-US" sz="2200" dirty="0">
                <a:latin typeface="Times New Roman" pitchFamily="18" charset="0"/>
                <a:cs typeface="Times New Roman" pitchFamily="18" charset="0"/>
              </a:rPr>
              <a:t>The standard hiring sequence is the seven-step procedure.</a:t>
            </a:r>
          </a:p>
          <a:p>
            <a:pPr algn="just">
              <a:lnSpc>
                <a:spcPct val="200000"/>
              </a:lnSpc>
              <a:buFont typeface="Wingdings" pitchFamily="2" charset="2"/>
              <a:buChar char="Ø"/>
            </a:pPr>
            <a:r>
              <a:rPr lang="en-US" sz="2200" dirty="0">
                <a:latin typeface="Times New Roman" pitchFamily="18" charset="0"/>
                <a:cs typeface="Times New Roman" pitchFamily="18" charset="0"/>
              </a:rPr>
              <a:t>In practice, however, the actual selection process varies with different organizations and between levels in the same organization.</a:t>
            </a:r>
            <a:endParaRPr lang="en-IN" sz="22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Grp="1" noChangeAspect="1" noChangeArrowheads="1"/>
          </p:cNvPicPr>
          <p:nvPr>
            <p:ph idx="1"/>
          </p:nvPr>
        </p:nvPicPr>
        <p:blipFill>
          <a:blip r:embed="rId2" cstate="print"/>
          <a:srcRect/>
          <a:stretch>
            <a:fillRect/>
          </a:stretch>
        </p:blipFill>
        <p:spPr bwMode="auto">
          <a:xfrm>
            <a:off x="395536" y="255076"/>
            <a:ext cx="8600783" cy="608711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323528" y="2564904"/>
            <a:ext cx="8628024" cy="2344284"/>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pPr lvl="1" algn="ctr" rtl="0">
              <a:spcBef>
                <a:spcPct val="0"/>
              </a:spcBef>
            </a:pP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 Training and Development</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196752"/>
            <a:ext cx="7992888" cy="5184576"/>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quality of employees and their development through training and education are major factors in determining long-term profitability of a concern. </a:t>
            </a:r>
          </a:p>
          <a:p>
            <a:pPr algn="just">
              <a:lnSpc>
                <a:spcPct val="150000"/>
              </a:lnSpc>
              <a:buFont typeface="Wingdings" pitchFamily="2" charset="2"/>
              <a:buChar char="Ø"/>
            </a:pPr>
            <a:r>
              <a:rPr lang="en-US" sz="2200" dirty="0">
                <a:latin typeface="Times New Roman" pitchFamily="18" charset="0"/>
                <a:cs typeface="Times New Roman" pitchFamily="18" charset="0"/>
              </a:rPr>
              <a:t>Both managers and non-managers may benefit from training and development programs, but the mix of experiences is likely to vary. </a:t>
            </a:r>
          </a:p>
          <a:p>
            <a:pPr algn="just">
              <a:lnSpc>
                <a:spcPct val="150000"/>
              </a:lnSpc>
              <a:buFont typeface="Wingdings" pitchFamily="2" charset="2"/>
              <a:buChar char="Ø"/>
            </a:pPr>
            <a:r>
              <a:rPr lang="en-US" sz="2200" dirty="0">
                <a:latin typeface="Times New Roman" pitchFamily="18" charset="0"/>
                <a:cs typeface="Times New Roman" pitchFamily="18" charset="0"/>
              </a:rPr>
              <a:t>Non – managers are often trained in the technical skills, whereas the focus of training managers will be in developing conceptual and human relations skill.</a:t>
            </a:r>
            <a:endParaRPr lang="en-IN" sz="22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pPr lvl="1" algn="ctr" rtl="0">
              <a:spcBef>
                <a:spcPct val="0"/>
              </a:spcBef>
            </a:pPr>
            <a:r>
              <a:rPr lang="en-US"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 Training and Development</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196752"/>
            <a:ext cx="7992888" cy="5184576"/>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Since training involves time, effort and money it is important to be very careful while designing a training program. </a:t>
            </a:r>
          </a:p>
          <a:p>
            <a:pPr algn="just">
              <a:lnSpc>
                <a:spcPct val="150000"/>
              </a:lnSpc>
              <a:buFont typeface="Wingdings" pitchFamily="2" charset="2"/>
              <a:buChar char="Ø"/>
            </a:pPr>
            <a:r>
              <a:rPr lang="en-US" sz="2200" dirty="0">
                <a:latin typeface="Times New Roman" pitchFamily="18" charset="0"/>
                <a:cs typeface="Times New Roman" pitchFamily="18" charset="0"/>
              </a:rPr>
              <a:t>The objectives and need for training should be clearly identified and the method or type of training should be chosen according to the needs and objectives established. Two commonly methods of training are:</a:t>
            </a:r>
          </a:p>
          <a:p>
            <a:pPr marL="1714500" lvl="3" indent="-457200" algn="just">
              <a:lnSpc>
                <a:spcPct val="150000"/>
              </a:lnSpc>
              <a:buFont typeface="+mj-lt"/>
              <a:buAutoNum type="arabicPeriod"/>
            </a:pPr>
            <a:r>
              <a:rPr lang="en-US" sz="2200" dirty="0">
                <a:latin typeface="Times New Roman" pitchFamily="18" charset="0"/>
                <a:cs typeface="Times New Roman" pitchFamily="18" charset="0"/>
              </a:rPr>
              <a:t>On-the-job training methods</a:t>
            </a:r>
          </a:p>
          <a:p>
            <a:pPr marL="1714500" lvl="3" indent="-457200" algn="just">
              <a:lnSpc>
                <a:spcPct val="150000"/>
              </a:lnSpc>
              <a:buFont typeface="+mj-lt"/>
              <a:buAutoNum type="arabicPeriod"/>
            </a:pPr>
            <a:r>
              <a:rPr lang="en-US" sz="2200" dirty="0">
                <a:latin typeface="Times New Roman" pitchFamily="18" charset="0"/>
                <a:cs typeface="Times New Roman" pitchFamily="18" charset="0"/>
              </a:rPr>
              <a:t>Off-the-job training methods</a:t>
            </a:r>
            <a:endParaRPr lang="en-IN" sz="22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792088"/>
          </a:xfrm>
        </p:spPr>
        <p:txBody>
          <a:bodyPr>
            <a:normAutofit/>
          </a:bodyPr>
          <a:lstStyle/>
          <a:p>
            <a:pPr lvl="1" algn="ctr" rtl="0">
              <a:spcBef>
                <a:spcPct val="0"/>
              </a:spcBef>
            </a:pPr>
            <a:r>
              <a:rPr lang="en-US" sz="2900" b="1" i="1" u="sng" dirty="0">
                <a:solidFill>
                  <a:srgbClr val="FF0000"/>
                </a:solidFill>
                <a:latin typeface="Times New Roman" pitchFamily="18" charset="0"/>
                <a:cs typeface="Times New Roman" pitchFamily="18" charset="0"/>
              </a:rPr>
              <a:t>On-the-job training methods</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980728"/>
            <a:ext cx="7992888" cy="5400600"/>
          </a:xfrm>
        </p:spPr>
        <p:txBody>
          <a:bodyPr>
            <a:noAutofit/>
          </a:bodyPr>
          <a:lstStyle/>
          <a:p>
            <a:pPr algn="just">
              <a:lnSpc>
                <a:spcPct val="150000"/>
              </a:lnSpc>
              <a:buNone/>
            </a:pPr>
            <a:r>
              <a:rPr lang="en-US" sz="2200" dirty="0">
                <a:latin typeface="Times New Roman" pitchFamily="18" charset="0"/>
                <a:cs typeface="Times New Roman" pitchFamily="18" charset="0"/>
              </a:rPr>
              <a:t> 	On-the-job methods enable the trainees to learn as they contribute to the aims of the enterprise. The following are some of the On-the-job training methods.</a:t>
            </a:r>
          </a:p>
          <a:p>
            <a:pPr marL="457200" indent="-457200" algn="just">
              <a:lnSpc>
                <a:spcPct val="150000"/>
              </a:lnSpc>
              <a:buFont typeface="+mj-lt"/>
              <a:buAutoNum type="alphaLcParenR"/>
            </a:pPr>
            <a:r>
              <a:rPr lang="en-US" sz="2200" b="1" i="1" u="sng" dirty="0">
                <a:latin typeface="Times New Roman" pitchFamily="18" charset="0"/>
                <a:cs typeface="Times New Roman" pitchFamily="18" charset="0"/>
              </a:rPr>
              <a:t>Job rotation</a:t>
            </a:r>
            <a:r>
              <a:rPr lang="en-US" sz="2200" dirty="0">
                <a:latin typeface="Times New Roman" pitchFamily="18" charset="0"/>
                <a:cs typeface="Times New Roman" pitchFamily="18" charset="0"/>
              </a:rPr>
              <a:t>, in which the employee, over a period of time, works on a series of jobs, there by learning a broad variety of skills.</a:t>
            </a:r>
          </a:p>
          <a:p>
            <a:pPr marL="457200" indent="-457200" algn="just">
              <a:lnSpc>
                <a:spcPct val="150000"/>
              </a:lnSpc>
              <a:buFont typeface="+mj-lt"/>
              <a:buAutoNum type="alphaLcParenR"/>
            </a:pPr>
            <a:r>
              <a:rPr lang="en-US" sz="2200" b="1" i="1" u="sng" dirty="0">
                <a:latin typeface="Times New Roman" pitchFamily="18" charset="0"/>
                <a:cs typeface="Times New Roman" pitchFamily="18" charset="0"/>
              </a:rPr>
              <a:t>Internship</a:t>
            </a:r>
            <a:r>
              <a:rPr lang="en-US" sz="2200" dirty="0">
                <a:latin typeface="Times New Roman" pitchFamily="18" charset="0"/>
                <a:cs typeface="Times New Roman" pitchFamily="18" charset="0"/>
              </a:rPr>
              <a:t> in which job training is combined with related class room instructions.</a:t>
            </a:r>
          </a:p>
          <a:p>
            <a:pPr marL="457200" indent="-457200" algn="just">
              <a:lnSpc>
                <a:spcPct val="150000"/>
              </a:lnSpc>
              <a:buFont typeface="+mj-lt"/>
              <a:buAutoNum type="alphaLcParenR"/>
            </a:pPr>
            <a:r>
              <a:rPr lang="en-US" sz="2200" b="1" i="1" u="sng" dirty="0">
                <a:latin typeface="Times New Roman" pitchFamily="18" charset="0"/>
                <a:cs typeface="Times New Roman" pitchFamily="18" charset="0"/>
              </a:rPr>
              <a:t>Apprenticeship</a:t>
            </a:r>
            <a:r>
              <a:rPr lang="en-US" sz="2200" dirty="0">
                <a:latin typeface="Times New Roman" pitchFamily="18" charset="0"/>
                <a:cs typeface="Times New Roman" pitchFamily="18" charset="0"/>
              </a:rPr>
              <a:t> in which the employee is trained under the guidance of a highly skilled co-worker.</a:t>
            </a:r>
            <a:endParaRPr lang="en-IN" sz="22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pPr lvl="1" algn="ctr" rtl="0">
              <a:spcBef>
                <a:spcPct val="0"/>
              </a:spcBef>
            </a:pPr>
            <a:r>
              <a:rPr lang="en-US" sz="2900" b="1" i="1" u="sng" dirty="0">
                <a:solidFill>
                  <a:srgbClr val="FF0000"/>
                </a:solidFill>
                <a:latin typeface="Times New Roman" pitchFamily="18" charset="0"/>
                <a:cs typeface="Times New Roman" pitchFamily="18" charset="0"/>
              </a:rPr>
              <a:t>On-the-job training methods</a:t>
            </a:r>
            <a:br>
              <a:rPr lang="en-US" sz="3200" i="1" dirty="0"/>
            </a:b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27584" y="1196752"/>
            <a:ext cx="7992888" cy="5184576"/>
          </a:xfrm>
        </p:spPr>
        <p:txBody>
          <a:bodyPr>
            <a:noAutofit/>
          </a:bodyPr>
          <a:lstStyle/>
          <a:p>
            <a:pPr marL="457200" indent="-457200" algn="just">
              <a:lnSpc>
                <a:spcPct val="150000"/>
              </a:lnSpc>
              <a:buFont typeface="+mj-lt"/>
              <a:buAutoNum type="alphaLcParenR" startAt="4"/>
            </a:pPr>
            <a:r>
              <a:rPr lang="en-US" sz="2200" b="1" i="1" u="sng" dirty="0">
                <a:latin typeface="Times New Roman" pitchFamily="18" charset="0"/>
                <a:cs typeface="Times New Roman" pitchFamily="18" charset="0"/>
              </a:rPr>
              <a:t>Coaching</a:t>
            </a:r>
            <a:r>
              <a:rPr lang="en-US" sz="2200" dirty="0">
                <a:latin typeface="Times New Roman" pitchFamily="18" charset="0"/>
                <a:cs typeface="Times New Roman" pitchFamily="18" charset="0"/>
              </a:rPr>
              <a:t> is the training of an employee by his/her immediate superior. The superior guides his sub-ordinates and gives him/her job instructions. The superior points out the mistakes and gives suggestions for improvement.</a:t>
            </a:r>
          </a:p>
          <a:p>
            <a:pPr marL="457200" indent="-457200" algn="just">
              <a:lnSpc>
                <a:spcPct val="150000"/>
              </a:lnSpc>
              <a:buFont typeface="+mj-lt"/>
              <a:buAutoNum type="alphaLcParenR" startAt="4"/>
            </a:pPr>
            <a:r>
              <a:rPr lang="en-US" sz="2200" b="1" i="1" u="sng" dirty="0">
                <a:latin typeface="Times New Roman" pitchFamily="18" charset="0"/>
                <a:cs typeface="Times New Roman" pitchFamily="18" charset="0"/>
              </a:rPr>
              <a:t>Planned work Activities</a:t>
            </a:r>
            <a:r>
              <a:rPr lang="en-US" sz="2200" b="1" u="sng" dirty="0">
                <a:latin typeface="Times New Roman" pitchFamily="18" charset="0"/>
                <a:cs typeface="Times New Roman" pitchFamily="18" charset="0"/>
              </a:rPr>
              <a:t>,</a:t>
            </a:r>
            <a:r>
              <a:rPr lang="en-US" sz="2200" dirty="0">
                <a:latin typeface="Times New Roman" pitchFamily="18" charset="0"/>
                <a:cs typeface="Times New Roman" pitchFamily="18" charset="0"/>
              </a:rPr>
              <a:t> in which trainees are given work assignments to develop their experience and ability. Trainees may be asked to head a task force or participate in an important committee meeting. Such experiences help them to understand how organizations operate and also improve their human relations skill.</a:t>
            </a:r>
            <a:endParaRPr lang="en-IN" sz="22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normAutofit/>
          </a:bodyPr>
          <a:lstStyle/>
          <a:p>
            <a:pPr lvl="1" algn="ctr" rtl="0">
              <a:spcBef>
                <a:spcPct val="0"/>
              </a:spcBef>
            </a:pPr>
            <a:r>
              <a:rPr lang="en-US" sz="2900" b="1" i="1" u="sng" dirty="0">
                <a:solidFill>
                  <a:srgbClr val="FF0000"/>
                </a:solidFill>
                <a:latin typeface="Times New Roman" pitchFamily="18" charset="0"/>
                <a:cs typeface="Times New Roman" pitchFamily="18" charset="0"/>
              </a:rPr>
              <a:t>Off-the-job training methods</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124744"/>
            <a:ext cx="8352928" cy="5256584"/>
          </a:xfrm>
        </p:spPr>
        <p:txBody>
          <a:bodyPr>
            <a:noAutofit/>
          </a:bodyPr>
          <a:lstStyle/>
          <a:p>
            <a:pPr algn="just">
              <a:lnSpc>
                <a:spcPct val="200000"/>
              </a:lnSpc>
              <a:buNone/>
            </a:pPr>
            <a:r>
              <a:rPr lang="en-US" sz="2000" dirty="0"/>
              <a:t>	</a:t>
            </a:r>
            <a:r>
              <a:rPr lang="en-US" sz="2200" dirty="0">
                <a:latin typeface="Times New Roman" pitchFamily="18" charset="0"/>
                <a:cs typeface="Times New Roman" pitchFamily="18" charset="0"/>
              </a:rPr>
              <a:t>Off the job training takes place outside the workplace but attempts to simulate actual working conditions. This type of training includes:</a:t>
            </a:r>
          </a:p>
          <a:p>
            <a:pPr marL="457200" indent="-457200" algn="just">
              <a:lnSpc>
                <a:spcPct val="200000"/>
              </a:lnSpc>
              <a:buFont typeface="+mj-lt"/>
              <a:buAutoNum type="alphaLcParenR"/>
            </a:pPr>
            <a:r>
              <a:rPr lang="en-US" sz="2200" b="1" i="1" u="sng" dirty="0">
                <a:latin typeface="Times New Roman" pitchFamily="18" charset="0"/>
                <a:cs typeface="Times New Roman" pitchFamily="18" charset="0"/>
              </a:rPr>
              <a:t>Vestibule training </a:t>
            </a:r>
            <a:r>
              <a:rPr lang="en-US" sz="2200" dirty="0">
                <a:latin typeface="Times New Roman" pitchFamily="18" charset="0"/>
                <a:cs typeface="Times New Roman" pitchFamily="18" charset="0"/>
              </a:rPr>
              <a:t>- Employees train on the actual equipment and in a realistic job setting, but in a room different from the one in which they will be working. The objective is to avoid the on the job pressures that might interfere with the learning process.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normAutofit/>
          </a:bodyPr>
          <a:lstStyle/>
          <a:p>
            <a:pPr lvl="1" algn="ctr" rtl="0">
              <a:spcBef>
                <a:spcPct val="0"/>
              </a:spcBef>
            </a:pPr>
            <a:r>
              <a:rPr lang="en-US" sz="2900" b="1" i="1" u="sng" dirty="0">
                <a:solidFill>
                  <a:srgbClr val="FF0000"/>
                </a:solidFill>
                <a:latin typeface="Times New Roman" pitchFamily="18" charset="0"/>
                <a:cs typeface="Times New Roman" pitchFamily="18" charset="0"/>
              </a:rPr>
              <a:t>Off-the-job training methods</a:t>
            </a: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251520" y="836712"/>
            <a:ext cx="8640960" cy="5616624"/>
          </a:xfrm>
        </p:spPr>
        <p:txBody>
          <a:bodyPr>
            <a:noAutofit/>
          </a:bodyPr>
          <a:lstStyle/>
          <a:p>
            <a:pPr marL="457200" indent="-457200" algn="just">
              <a:lnSpc>
                <a:spcPct val="200000"/>
              </a:lnSpc>
              <a:buFont typeface="+mj-lt"/>
              <a:buAutoNum type="alphaLcParenR" startAt="2"/>
            </a:pPr>
            <a:r>
              <a:rPr lang="en-US" sz="2200" b="1" i="1" u="sng" dirty="0">
                <a:latin typeface="Times New Roman" pitchFamily="18" charset="0"/>
                <a:cs typeface="Times New Roman" pitchFamily="18" charset="0"/>
              </a:rPr>
              <a:t>Audiovisual methods</a:t>
            </a:r>
            <a:r>
              <a:rPr lang="en-US" sz="2200" i="1" dirty="0">
                <a:latin typeface="Times New Roman" pitchFamily="18" charset="0"/>
                <a:cs typeface="Times New Roman" pitchFamily="18" charset="0"/>
              </a:rPr>
              <a:t> </a:t>
            </a:r>
            <a:r>
              <a:rPr lang="en-US" sz="2200" dirty="0">
                <a:latin typeface="Times New Roman" pitchFamily="18" charset="0"/>
                <a:cs typeface="Times New Roman" pitchFamily="18" charset="0"/>
              </a:rPr>
              <a:t>such as television, videotapes and films are employed for providing real world conditions and situations in a short time. One advantage is that the presentation is the same no matter how many times it is played. This is not true with lectures, which can change as the speaker is changed or can be influenced by outside constraints. The major flaw with the audiovisual method is that it does not allow for questions and interactions with the speaker, nor does it allow for changes in the presentation for different audiences.</a:t>
            </a:r>
            <a:endParaRPr lang="en-IN" sz="22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pPr lvl="1" algn="ctr" rtl="0">
              <a:spcBef>
                <a:spcPct val="0"/>
              </a:spcBef>
            </a:pPr>
            <a:r>
              <a:rPr lang="en-US" sz="2900" b="1" i="1" u="sng" dirty="0">
                <a:solidFill>
                  <a:srgbClr val="FF0000"/>
                </a:solidFill>
                <a:latin typeface="Times New Roman" pitchFamily="18" charset="0"/>
                <a:cs typeface="Times New Roman" pitchFamily="18" charset="0"/>
              </a:rPr>
              <a:t>Off-the-job training methods</a:t>
            </a:r>
            <a:br>
              <a:rPr lang="en-US" sz="3200" i="1" dirty="0"/>
            </a:br>
            <a:endParaRPr lang="en-IN" sz="29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764704"/>
            <a:ext cx="8352928" cy="5616624"/>
          </a:xfrm>
        </p:spPr>
        <p:txBody>
          <a:bodyPr>
            <a:noAutofit/>
          </a:bodyPr>
          <a:lstStyle/>
          <a:p>
            <a:pPr marL="457200" indent="-457200" algn="just">
              <a:lnSpc>
                <a:spcPct val="150000"/>
              </a:lnSpc>
              <a:buFont typeface="+mj-lt"/>
              <a:buAutoNum type="alphaLcParenR" startAt="3"/>
            </a:pPr>
            <a:r>
              <a:rPr lang="en-US" sz="2200" b="1" i="1" u="sng" dirty="0">
                <a:latin typeface="Times New Roman" pitchFamily="18" charset="0"/>
                <a:cs typeface="Times New Roman" pitchFamily="18" charset="0"/>
              </a:rPr>
              <a:t>Computer-Assisted Instruction (CAI) </a:t>
            </a:r>
            <a:r>
              <a:rPr lang="en-US" sz="2200" dirty="0">
                <a:latin typeface="Times New Roman" pitchFamily="18" charset="0"/>
                <a:cs typeface="Times New Roman" pitchFamily="18" charset="0"/>
              </a:rPr>
              <a:t>can be employed which can reduce the time needed for training and also can provide more help for individual trainees. They also allow the trainee to learn at his or her own space.</a:t>
            </a:r>
          </a:p>
          <a:p>
            <a:pPr marL="457200" indent="-457200" algn="just">
              <a:lnSpc>
                <a:spcPct val="150000"/>
              </a:lnSpc>
              <a:buFont typeface="+mj-lt"/>
              <a:buAutoNum type="alphaLcParenR" startAt="3"/>
            </a:pPr>
            <a:r>
              <a:rPr lang="en-US" sz="2200" b="1" i="1" u="sng" dirty="0">
                <a:latin typeface="Times New Roman" pitchFamily="18" charset="0"/>
                <a:cs typeface="Times New Roman" pitchFamily="18" charset="0"/>
              </a:rPr>
              <a:t>Classroom Instructions- </a:t>
            </a:r>
            <a:r>
              <a:rPr lang="en-US" sz="2200" dirty="0">
                <a:latin typeface="Times New Roman" pitchFamily="18" charset="0"/>
                <a:cs typeface="Times New Roman" pitchFamily="18" charset="0"/>
              </a:rPr>
              <a:t>In this approach specialist from inside or outside the organization teach trainees a particular subject. Classroom instruction is often supplemented with exercises.</a:t>
            </a:r>
          </a:p>
          <a:p>
            <a:pPr marL="457200" indent="-457200" algn="just">
              <a:lnSpc>
                <a:spcPct val="150000"/>
              </a:lnSpc>
              <a:buFont typeface="+mj-lt"/>
              <a:buAutoNum type="alphaLcParenR" startAt="3"/>
            </a:pPr>
            <a:r>
              <a:rPr lang="en-US" sz="2200" b="1" i="1" u="sng" dirty="0">
                <a:latin typeface="Times New Roman" pitchFamily="18" charset="0"/>
                <a:cs typeface="Times New Roman" pitchFamily="18" charset="0"/>
              </a:rPr>
              <a:t>Planned Readings</a:t>
            </a:r>
            <a:r>
              <a:rPr lang="en-US" sz="2200" b="1" u="sng" dirty="0">
                <a:latin typeface="Times New Roman" pitchFamily="18" charset="0"/>
                <a:cs typeface="Times New Roman" pitchFamily="18" charset="0"/>
              </a:rPr>
              <a:t>,</a:t>
            </a:r>
            <a:r>
              <a:rPr lang="en-US" sz="2200" dirty="0">
                <a:latin typeface="Times New Roman" pitchFamily="18" charset="0"/>
                <a:cs typeface="Times New Roman" pitchFamily="18" charset="0"/>
              </a:rPr>
              <a:t> involves reading of relevant literature. The training department may aid a manger by providing a list of valuable books. This is essentially a self-development</a:t>
            </a:r>
            <a:endParaRPr lang="en-IN" sz="2200" dirty="0">
              <a:latin typeface="Times New Roman" pitchFamily="18" charset="0"/>
              <a:cs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3. Compensation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908720"/>
            <a:ext cx="8496944" cy="5472608"/>
          </a:xfrm>
        </p:spPr>
        <p:txBody>
          <a:bodyPr>
            <a:noAutofit/>
          </a:bodyPr>
          <a:lstStyle/>
          <a:p>
            <a:pPr algn="just">
              <a:lnSpc>
                <a:spcPct val="150000"/>
              </a:lnSpc>
              <a:buFont typeface="Wingdings" pitchFamily="2" charset="2"/>
              <a:buChar char="Ø"/>
            </a:pPr>
            <a:r>
              <a:rPr lang="en-US" sz="2000" dirty="0">
                <a:latin typeface="Times New Roman" pitchFamily="18" charset="0"/>
                <a:cs typeface="Times New Roman" pitchFamily="18" charset="0"/>
              </a:rPr>
              <a:t>Compensation provides for the adequate and equitable remuneration of the work force in order to secure their best contribution to the achievement of the organization's goals.</a:t>
            </a:r>
          </a:p>
          <a:p>
            <a:pPr algn="just">
              <a:lnSpc>
                <a:spcPct val="150000"/>
              </a:lnSpc>
              <a:buFont typeface="Wingdings" pitchFamily="2" charset="2"/>
              <a:buChar char="Ø"/>
            </a:pPr>
            <a:r>
              <a:rPr lang="en-US" sz="2000" dirty="0">
                <a:latin typeface="Times New Roman" pitchFamily="18" charset="0"/>
                <a:cs typeface="Times New Roman" pitchFamily="18" charset="0"/>
              </a:rPr>
              <a:t>Fixing wage rates for different categories of employees is an important task of management.</a:t>
            </a:r>
          </a:p>
          <a:p>
            <a:pPr algn="just">
              <a:lnSpc>
                <a:spcPct val="150000"/>
              </a:lnSpc>
              <a:buFont typeface="Wingdings" pitchFamily="2" charset="2"/>
              <a:buChar char="Ø"/>
            </a:pPr>
            <a:r>
              <a:rPr lang="en-US" sz="2000" dirty="0">
                <a:latin typeface="Times New Roman" pitchFamily="18" charset="0"/>
                <a:cs typeface="Times New Roman" pitchFamily="18" charset="0"/>
              </a:rPr>
              <a:t>The employees are not only concerned with wages received but also concerned with the level of wages received by same level of employees in similar organizations. </a:t>
            </a:r>
          </a:p>
          <a:p>
            <a:pPr algn="just">
              <a:lnSpc>
                <a:spcPct val="150000"/>
              </a:lnSpc>
              <a:buFont typeface="Wingdings" pitchFamily="2" charset="2"/>
              <a:buChar char="Ø"/>
            </a:pPr>
            <a:r>
              <a:rPr lang="en-US" sz="2000" dirty="0">
                <a:latin typeface="Times New Roman" pitchFamily="18" charset="0"/>
                <a:cs typeface="Times New Roman" pitchFamily="18" charset="0"/>
              </a:rPr>
              <a:t>The relative wage rules should be fixed carefully, because they have implications for promotion, transfer, seniority and other important personnel matters.</a:t>
            </a:r>
            <a:endParaRPr lang="en-IN" sz="20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4. Integration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764704"/>
            <a:ext cx="8424936" cy="5616624"/>
          </a:xfrm>
        </p:spPr>
        <p:txBody>
          <a:bodyPr>
            <a:noAutofit/>
          </a:bodyPr>
          <a:lstStyle/>
          <a:p>
            <a:pPr algn="just">
              <a:lnSpc>
                <a:spcPct val="150000"/>
              </a:lnSpc>
              <a:buFont typeface="Wingdings" pitchFamily="2" charset="2"/>
              <a:buChar char="Ø"/>
            </a:pPr>
            <a:r>
              <a:rPr lang="en-US" sz="2200" dirty="0">
                <a:latin typeface="Times New Roman" pitchFamily="18" charset="0"/>
                <a:cs typeface="Times New Roman" pitchFamily="18" charset="0"/>
              </a:rPr>
              <a:t>The basic objective of human resource management is to secure maximum performance from the employees. This can be accomplished only through better integration between the organization and its employees. </a:t>
            </a:r>
          </a:p>
          <a:p>
            <a:pPr algn="just">
              <a:lnSpc>
                <a:spcPct val="150000"/>
              </a:lnSpc>
              <a:buFont typeface="Wingdings" pitchFamily="2" charset="2"/>
              <a:buChar char="Ø"/>
            </a:pPr>
            <a:r>
              <a:rPr lang="en-US" sz="2200" dirty="0">
                <a:latin typeface="Times New Roman" pitchFamily="18" charset="0"/>
                <a:cs typeface="Times New Roman" pitchFamily="18" charset="0"/>
              </a:rPr>
              <a:t>An effective integration between the organization and its employees depends on three things, namely motivation, leadership and communication. </a:t>
            </a:r>
          </a:p>
          <a:p>
            <a:pPr algn="just">
              <a:lnSpc>
                <a:spcPct val="150000"/>
              </a:lnSpc>
              <a:buFont typeface="Wingdings" pitchFamily="2" charset="2"/>
              <a:buChar char="Ø"/>
            </a:pPr>
            <a:r>
              <a:rPr lang="en-US" sz="2200" dirty="0">
                <a:latin typeface="Times New Roman" pitchFamily="18" charset="0"/>
                <a:cs typeface="Times New Roman" pitchFamily="18" charset="0"/>
              </a:rPr>
              <a:t>In recent years the human relation exponents have revolutionized the ways and means of dealing with employees for greater performance and productivity.</a:t>
            </a:r>
          </a:p>
          <a:p>
            <a:pPr algn="just">
              <a:lnSpc>
                <a:spcPct val="150000"/>
              </a:lnSpc>
              <a:buFont typeface="Wingdings" pitchFamily="2" charset="2"/>
              <a:buChar char="Ø"/>
            </a:pPr>
            <a:r>
              <a:rPr lang="en-US" sz="2200" dirty="0">
                <a:latin typeface="Times New Roman" pitchFamily="18" charset="0"/>
                <a:cs typeface="Times New Roman" pitchFamily="18" charset="0"/>
              </a:rPr>
              <a:t>Hence, managerial job has become more complicated and challenging.</a:t>
            </a:r>
            <a:endParaRPr lang="en-IN" sz="22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936104"/>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5. Maintenance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340768"/>
            <a:ext cx="8136904" cy="5040560"/>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This function of personnel management is concerned with maintaining the abilities and attitudes already created and improving the conditions established through health safety, welfare and benefits programs</a:t>
            </a:r>
            <a:endParaRPr lang="en-IN" sz="22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936104"/>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HRM process in organizations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468313" y="1719569"/>
            <a:ext cx="8135937" cy="4284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936104"/>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Wages and Incentives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p:txBody>
          <a:bodyPr>
            <a:normAutofit/>
          </a:bodyPr>
          <a:lstStyle/>
          <a:p>
            <a:pPr>
              <a:lnSpc>
                <a:spcPct val="200000"/>
              </a:lnSpc>
              <a:buFont typeface="Wingdings" pitchFamily="2" charset="2"/>
              <a:buChar char="q"/>
            </a:pPr>
            <a:r>
              <a:rPr lang="en-US" sz="2200" dirty="0">
                <a:latin typeface="Times New Roman" pitchFamily="18" charset="0"/>
                <a:cs typeface="Times New Roman" pitchFamily="18" charset="0"/>
              </a:rPr>
              <a:t>Wage may be defined as payment for the use of </a:t>
            </a:r>
            <a:r>
              <a:rPr lang="en-US" sz="2200" dirty="0" err="1">
                <a:latin typeface="Times New Roman" pitchFamily="18" charset="0"/>
                <a:cs typeface="Times New Roman" pitchFamily="18" charset="0"/>
              </a:rPr>
              <a:t>labour</a:t>
            </a:r>
            <a:r>
              <a:rPr lang="en-US" sz="2200" dirty="0">
                <a:latin typeface="Times New Roman" pitchFamily="18" charset="0"/>
                <a:cs typeface="Times New Roman" pitchFamily="18" charset="0"/>
              </a:rPr>
              <a:t> and it includes money as well as non-money payments.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4807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Wages and Incentives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179512" y="836712"/>
            <a:ext cx="8712968" cy="5472608"/>
          </a:xfrm>
        </p:spPr>
        <p:txBody>
          <a:bodyPr>
            <a:noAutofit/>
          </a:bodyPr>
          <a:lstStyle/>
          <a:p>
            <a:pPr algn="just">
              <a:lnSpc>
                <a:spcPct val="150000"/>
              </a:lnSpc>
              <a:buFont typeface="Wingdings" pitchFamily="2" charset="2"/>
              <a:buChar char="q"/>
            </a:pPr>
            <a:r>
              <a:rPr lang="en-US" sz="2200" dirty="0">
                <a:latin typeface="Times New Roman" pitchFamily="18" charset="0"/>
                <a:cs typeface="Times New Roman" pitchFamily="18" charset="0"/>
              </a:rPr>
              <a:t>Wage payment plans or systems can broadly be classified into two categories:</a:t>
            </a:r>
          </a:p>
          <a:p>
            <a:pPr marL="1257300" lvl="2" indent="-342900" algn="just">
              <a:lnSpc>
                <a:spcPct val="150000"/>
              </a:lnSpc>
              <a:buFont typeface="+mj-lt"/>
              <a:buAutoNum type="arabicPeriod"/>
            </a:pPr>
            <a:r>
              <a:rPr lang="en-US" sz="2200" b="1" dirty="0">
                <a:latin typeface="Times New Roman" pitchFamily="18" charset="0"/>
                <a:cs typeface="Times New Roman" pitchFamily="18" charset="0"/>
              </a:rPr>
              <a:t> </a:t>
            </a:r>
            <a:r>
              <a:rPr lang="en-US" sz="2200" b="1" i="1" u="sng" dirty="0">
                <a:latin typeface="Times New Roman" pitchFamily="18" charset="0"/>
                <a:cs typeface="Times New Roman" pitchFamily="18" charset="0"/>
              </a:rPr>
              <a:t>Time rate system or non-incentive system, </a:t>
            </a:r>
            <a:r>
              <a:rPr lang="en-US" sz="2200" dirty="0">
                <a:latin typeface="Times New Roman" pitchFamily="18" charset="0"/>
                <a:cs typeface="Times New Roman" pitchFamily="18" charset="0"/>
              </a:rPr>
              <a:t>wherein the earnings of the worker is proportional to the time spent by him on the work. This system of wage payment is independent upon the quantity of output produced by the worker. If R is the wage rate per hour and T is the number of hours of work, then the earnings of the worker, E can be expressed as: E = RT</a:t>
            </a:r>
          </a:p>
          <a:p>
            <a:pPr marL="1257300" lvl="2" indent="-342900" algn="just">
              <a:lnSpc>
                <a:spcPct val="150000"/>
              </a:lnSpc>
              <a:buFont typeface="+mj-lt"/>
              <a:buAutoNum type="arabicPeriod"/>
            </a:pPr>
            <a:r>
              <a:rPr lang="en-US" sz="2200" b="1" i="1" u="sng" dirty="0">
                <a:latin typeface="Times New Roman" pitchFamily="18" charset="0"/>
                <a:cs typeface="Times New Roman" pitchFamily="18" charset="0"/>
              </a:rPr>
              <a:t>Incentive system</a:t>
            </a:r>
            <a:r>
              <a:rPr lang="en-US" sz="2200" dirty="0">
                <a:latin typeface="Times New Roman" pitchFamily="18" charset="0"/>
                <a:cs typeface="Times New Roman" pitchFamily="18" charset="0"/>
              </a:rPr>
              <a:t> wherein the earnings of the worker is proportional to the quantity of output produced.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Incentive system </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179512" y="1268760"/>
            <a:ext cx="8712968" cy="5040560"/>
          </a:xfrm>
        </p:spPr>
        <p:txBody>
          <a:bodyPr>
            <a:noAutofit/>
          </a:bodyPr>
          <a:lstStyle/>
          <a:p>
            <a:pPr algn="just">
              <a:lnSpc>
                <a:spcPct val="200000"/>
              </a:lnSpc>
              <a:buFont typeface="Wingdings" pitchFamily="2" charset="2"/>
              <a:buChar char="q"/>
            </a:pPr>
            <a:r>
              <a:rPr lang="en-US" sz="2200" b="1" i="1" u="sng" dirty="0">
                <a:latin typeface="Times New Roman" pitchFamily="18" charset="0"/>
                <a:cs typeface="Times New Roman" pitchFamily="18" charset="0"/>
              </a:rPr>
              <a:t>Straight Piece Rate System </a:t>
            </a:r>
            <a:r>
              <a:rPr lang="en-US" sz="2200" dirty="0">
                <a:latin typeface="Times New Roman" pitchFamily="18" charset="0"/>
                <a:cs typeface="Times New Roman" pitchFamily="18" charset="0"/>
              </a:rPr>
              <a:t>- It is the simplest method of payment and under this method payment is made according to the number of units produced at a fixed rate per unit.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4807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Straight Piece Rate System - 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611560" y="836712"/>
            <a:ext cx="8280920" cy="5472608"/>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Efficiency is recognized</a:t>
            </a:r>
          </a:p>
          <a:p>
            <a:pPr algn="just">
              <a:lnSpc>
                <a:spcPct val="200000"/>
              </a:lnSpc>
              <a:buFont typeface="Wingdings" pitchFamily="2" charset="2"/>
              <a:buChar char="ü"/>
            </a:pPr>
            <a:r>
              <a:rPr lang="en-US" sz="2200" dirty="0">
                <a:latin typeface="Times New Roman" pitchFamily="18" charset="0"/>
                <a:cs typeface="Times New Roman" pitchFamily="18" charset="0"/>
              </a:rPr>
              <a:t>Motivates the workers</a:t>
            </a:r>
          </a:p>
          <a:p>
            <a:pPr algn="just">
              <a:lnSpc>
                <a:spcPct val="200000"/>
              </a:lnSpc>
              <a:buFont typeface="Wingdings" pitchFamily="2" charset="2"/>
              <a:buChar char="ü"/>
            </a:pPr>
            <a:r>
              <a:rPr lang="en-US" sz="2200" dirty="0">
                <a:latin typeface="Times New Roman" pitchFamily="18" charset="0"/>
                <a:cs typeface="Times New Roman" pitchFamily="18" charset="0"/>
              </a:rPr>
              <a:t>Computation of </a:t>
            </a:r>
            <a:r>
              <a:rPr lang="en-US" sz="2200" dirty="0" err="1">
                <a:latin typeface="Times New Roman" pitchFamily="18" charset="0"/>
                <a:cs typeface="Times New Roman" pitchFamily="18" charset="0"/>
              </a:rPr>
              <a:t>labour</a:t>
            </a:r>
            <a:r>
              <a:rPr lang="en-US" sz="2200" dirty="0">
                <a:latin typeface="Times New Roman" pitchFamily="18" charset="0"/>
                <a:cs typeface="Times New Roman" pitchFamily="18" charset="0"/>
              </a:rPr>
              <a:t> cost is easy</a:t>
            </a:r>
          </a:p>
          <a:p>
            <a:pPr algn="just">
              <a:lnSpc>
                <a:spcPct val="200000"/>
              </a:lnSpc>
              <a:buFont typeface="Wingdings" pitchFamily="2" charset="2"/>
              <a:buChar char="ü"/>
            </a:pPr>
            <a:r>
              <a:rPr lang="en-US" sz="2200" dirty="0">
                <a:latin typeface="Times New Roman" pitchFamily="18" charset="0"/>
                <a:cs typeface="Times New Roman" pitchFamily="18" charset="0"/>
              </a:rPr>
              <a:t>Less Idle Time</a:t>
            </a:r>
          </a:p>
          <a:p>
            <a:pPr algn="just">
              <a:lnSpc>
                <a:spcPct val="200000"/>
              </a:lnSpc>
              <a:buFont typeface="Wingdings" pitchFamily="2" charset="2"/>
              <a:buChar char="ü"/>
            </a:pPr>
            <a:r>
              <a:rPr lang="en-US" sz="2200" dirty="0">
                <a:latin typeface="Times New Roman" pitchFamily="18" charset="0"/>
                <a:cs typeface="Times New Roman" pitchFamily="18" charset="0"/>
              </a:rPr>
              <a:t>Helps to boost production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4704"/>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Straight Piece Rate System - Disadvantages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539552" y="836712"/>
            <a:ext cx="8352928" cy="5472608"/>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Quality suffers as the emphasis is on quantity</a:t>
            </a:r>
          </a:p>
          <a:p>
            <a:pPr algn="just">
              <a:lnSpc>
                <a:spcPct val="200000"/>
              </a:lnSpc>
              <a:buFont typeface="Wingdings" pitchFamily="2" charset="2"/>
              <a:buChar char="ü"/>
            </a:pPr>
            <a:r>
              <a:rPr lang="en-US" sz="2200" dirty="0">
                <a:latin typeface="Times New Roman" pitchFamily="18" charset="0"/>
                <a:cs typeface="Times New Roman" pitchFamily="18" charset="0"/>
              </a:rPr>
              <a:t>More scrap and defective Work</a:t>
            </a:r>
          </a:p>
          <a:p>
            <a:pPr algn="just">
              <a:lnSpc>
                <a:spcPct val="200000"/>
              </a:lnSpc>
              <a:buFont typeface="Wingdings" pitchFamily="2" charset="2"/>
              <a:buChar char="ü"/>
            </a:pPr>
            <a:r>
              <a:rPr lang="en-US" sz="2200" dirty="0">
                <a:latin typeface="Times New Roman" pitchFamily="18" charset="0"/>
                <a:cs typeface="Times New Roman" pitchFamily="18" charset="0"/>
              </a:rPr>
              <a:t>Damage to Tools and Equipment</a:t>
            </a:r>
          </a:p>
          <a:p>
            <a:pPr algn="just">
              <a:lnSpc>
                <a:spcPct val="200000"/>
              </a:lnSpc>
              <a:buFont typeface="Wingdings" pitchFamily="2" charset="2"/>
              <a:buChar char="ü"/>
            </a:pPr>
            <a:r>
              <a:rPr lang="en-US" sz="2200" dirty="0">
                <a:latin typeface="Times New Roman" pitchFamily="18" charset="0"/>
                <a:cs typeface="Times New Roman" pitchFamily="18" charset="0"/>
              </a:rPr>
              <a:t>No Guaranteed Wages</a:t>
            </a:r>
          </a:p>
          <a:p>
            <a:pPr algn="just">
              <a:lnSpc>
                <a:spcPct val="200000"/>
              </a:lnSpc>
              <a:buFont typeface="Wingdings" pitchFamily="2" charset="2"/>
              <a:buChar char="ü"/>
            </a:pPr>
            <a:r>
              <a:rPr lang="en-US" sz="2200" dirty="0">
                <a:latin typeface="Times New Roman" pitchFamily="18" charset="0"/>
                <a:cs typeface="Times New Roman" pitchFamily="18" charset="0"/>
              </a:rPr>
              <a:t>Uncertainty in Income</a:t>
            </a:r>
          </a:p>
          <a:p>
            <a:pPr algn="just">
              <a:lnSpc>
                <a:spcPct val="200000"/>
              </a:lnSpc>
              <a:buFont typeface="Wingdings" pitchFamily="2" charset="2"/>
              <a:buChar char="ü"/>
            </a:pPr>
            <a:r>
              <a:rPr lang="en-US" sz="2200" dirty="0">
                <a:latin typeface="Times New Roman" pitchFamily="18" charset="0"/>
                <a:cs typeface="Times New Roman" pitchFamily="18" charset="0"/>
              </a:rPr>
              <a:t>Trade Unions Oppose the System</a:t>
            </a:r>
          </a:p>
          <a:p>
            <a:pPr algn="just">
              <a:lnSpc>
                <a:spcPct val="200000"/>
              </a:lnSpc>
              <a:buFont typeface="Wingdings" pitchFamily="2" charset="2"/>
              <a:buChar char="ü"/>
            </a:pPr>
            <a:r>
              <a:rPr lang="en-US" sz="2200" dirty="0">
                <a:latin typeface="Times New Roman" pitchFamily="18" charset="0"/>
                <a:cs typeface="Times New Roman" pitchFamily="18" charset="0"/>
              </a:rPr>
              <a:t>Enforced idleness because of power failure, material shortage, etc. can badly affect the earnings of a worker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35280" cy="119675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Incentive system </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323528" y="908720"/>
            <a:ext cx="8568952" cy="5400600"/>
          </a:xfrm>
        </p:spPr>
        <p:txBody>
          <a:bodyPr>
            <a:noAutofit/>
          </a:bodyPr>
          <a:lstStyle/>
          <a:p>
            <a:pPr algn="just">
              <a:lnSpc>
                <a:spcPct val="200000"/>
              </a:lnSpc>
              <a:buFont typeface="Wingdings" pitchFamily="2" charset="2"/>
              <a:buChar char="q"/>
            </a:pPr>
            <a:r>
              <a:rPr lang="en-US" sz="2200" b="1" i="1" u="sng" dirty="0">
                <a:latin typeface="Times New Roman" pitchFamily="18" charset="0"/>
                <a:cs typeface="Times New Roman" pitchFamily="18" charset="0"/>
              </a:rPr>
              <a:t>Straight Piece Rate System with a Guaranteed Wage </a:t>
            </a:r>
            <a:r>
              <a:rPr lang="en-US" sz="2200" dirty="0">
                <a:latin typeface="Times New Roman" pitchFamily="18" charset="0"/>
                <a:cs typeface="Times New Roman" pitchFamily="18" charset="0"/>
              </a:rPr>
              <a:t>- Under this system, a standard output is set by the management and a corresponding minimum guaranteed wage is also fixed. </a:t>
            </a:r>
          </a:p>
          <a:p>
            <a:pPr algn="just">
              <a:lnSpc>
                <a:spcPct val="200000"/>
              </a:lnSpc>
              <a:buFont typeface="Wingdings" pitchFamily="2" charset="2"/>
              <a:buChar char="q"/>
            </a:pPr>
            <a:r>
              <a:rPr lang="en-US" sz="2200" dirty="0">
                <a:latin typeface="Times New Roman" pitchFamily="18" charset="0"/>
                <a:cs typeface="Times New Roman" pitchFamily="18" charset="0"/>
              </a:rPr>
              <a:t>If a worker produces less than (or equal to) the standard output he will be getting the minimum guaranteed wage. </a:t>
            </a:r>
          </a:p>
          <a:p>
            <a:pPr algn="just">
              <a:lnSpc>
                <a:spcPct val="200000"/>
              </a:lnSpc>
              <a:buFont typeface="Wingdings" pitchFamily="2" charset="2"/>
              <a:buChar char="q"/>
            </a:pPr>
            <a:r>
              <a:rPr lang="en-US" sz="2200" dirty="0">
                <a:latin typeface="Times New Roman" pitchFamily="18" charset="0"/>
                <a:cs typeface="Times New Roman" pitchFamily="18" charset="0"/>
              </a:rPr>
              <a:t>On the other hand, if a worker exceeds this standard, he will be paid in accordance with the straight piece rate system.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640960" cy="1440160"/>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Straight Piece Rate System with a Guaranteed Wage - 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323528" y="1844824"/>
            <a:ext cx="8568952" cy="4464496"/>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Provides a guaranteed minimum wage.</a:t>
            </a:r>
          </a:p>
          <a:p>
            <a:pPr algn="just">
              <a:lnSpc>
                <a:spcPct val="200000"/>
              </a:lnSpc>
              <a:buFont typeface="Wingdings" pitchFamily="2" charset="2"/>
              <a:buChar char="ü"/>
            </a:pPr>
            <a:r>
              <a:rPr lang="en-US" sz="2200" dirty="0">
                <a:latin typeface="Times New Roman" pitchFamily="18" charset="0"/>
                <a:cs typeface="Times New Roman" pitchFamily="18" charset="0"/>
              </a:rPr>
              <a:t>The minimum wage takes care of the enforced idleness beyond the control of workers.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640960" cy="136815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Straight Piece Rate System with a Guaranteed Wage - Disadvantages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323528" y="1988840"/>
            <a:ext cx="8568952" cy="4320480"/>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The system does not offer sufficient incentive for a worker who exceeds the set output standard.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35280" cy="119675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Incentive system </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467544" y="908720"/>
            <a:ext cx="8424936" cy="5400600"/>
          </a:xfrm>
        </p:spPr>
        <p:txBody>
          <a:bodyPr>
            <a:noAutofit/>
          </a:bodyPr>
          <a:lstStyle/>
          <a:p>
            <a:pPr algn="just">
              <a:lnSpc>
                <a:spcPct val="200000"/>
              </a:lnSpc>
              <a:buFont typeface="Wingdings" pitchFamily="2" charset="2"/>
              <a:buChar char="q"/>
            </a:pPr>
            <a:r>
              <a:rPr lang="en-US" sz="2200" b="1" i="1" u="sng" dirty="0">
                <a:latin typeface="Times New Roman" pitchFamily="18" charset="0"/>
                <a:cs typeface="Times New Roman" pitchFamily="18" charset="0"/>
              </a:rPr>
              <a:t>Differential Piece Rate System</a:t>
            </a:r>
            <a:r>
              <a:rPr lang="en-US" sz="2200" b="1" dirty="0">
                <a:latin typeface="Times New Roman" pitchFamily="18" charset="0"/>
                <a:cs typeface="Times New Roman" pitchFamily="18" charset="0"/>
              </a:rPr>
              <a:t> - </a:t>
            </a:r>
            <a:r>
              <a:rPr lang="en-US" sz="2200" dirty="0">
                <a:latin typeface="Times New Roman" pitchFamily="18" charset="0"/>
                <a:cs typeface="Times New Roman" pitchFamily="18" charset="0"/>
              </a:rPr>
              <a:t>In this system, up to a certain production level, which is the standard output, a piece rate is given. A worker who exceeds this output will be paid at a higher piece rate.</a:t>
            </a:r>
          </a:p>
          <a:p>
            <a:pPr algn="just">
              <a:lnSpc>
                <a:spcPct val="200000"/>
              </a:lnSpc>
              <a:buFont typeface="Wingdings" pitchFamily="2" charset="2"/>
              <a:buChar char="q"/>
            </a:pPr>
            <a:r>
              <a:rPr lang="en-US" sz="2200" dirty="0">
                <a:latin typeface="Times New Roman" pitchFamily="18" charset="0"/>
                <a:cs typeface="Times New Roman" pitchFamily="18" charset="0"/>
              </a:rPr>
              <a:t>However, this system of wage payment does not guarantee minimum base wage.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640960" cy="119675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Differential Piece Rate System - 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611560" y="1484784"/>
            <a:ext cx="8280920" cy="4824536"/>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Provides incentives to efficient worker </a:t>
            </a:r>
          </a:p>
          <a:p>
            <a:pPr algn="just">
              <a:lnSpc>
                <a:spcPct val="200000"/>
              </a:lnSpc>
              <a:buFont typeface="Wingdings" pitchFamily="2" charset="2"/>
              <a:buChar char="ü"/>
            </a:pPr>
            <a:r>
              <a:rPr lang="en-US" sz="2200" dirty="0">
                <a:latin typeface="Times New Roman" pitchFamily="18" charset="0"/>
                <a:cs typeface="Times New Roman" pitchFamily="18" charset="0"/>
              </a:rPr>
              <a:t>Penalizes inefficient worker</a:t>
            </a:r>
          </a:p>
          <a:p>
            <a:pPr algn="just">
              <a:lnSpc>
                <a:spcPct val="200000"/>
              </a:lnSpc>
              <a:buFont typeface="Wingdings" pitchFamily="2" charset="2"/>
              <a:buChar char="ü"/>
            </a:pPr>
            <a:r>
              <a:rPr lang="en-US" sz="2200" dirty="0">
                <a:latin typeface="Times New Roman" pitchFamily="18" charset="0"/>
                <a:cs typeface="Times New Roman" pitchFamily="18" charset="0"/>
              </a:rPr>
              <a:t>Focuses on high production rate</a:t>
            </a:r>
          </a:p>
          <a:p>
            <a:pPr algn="just">
              <a:lnSpc>
                <a:spcPct val="200000"/>
              </a:lnSpc>
              <a:buFont typeface="Wingdings" pitchFamily="2" charset="2"/>
              <a:buChar char="ü"/>
            </a:pPr>
            <a:r>
              <a:rPr lang="en-US" sz="2200" dirty="0">
                <a:latin typeface="Times New Roman" pitchFamily="18" charset="0"/>
                <a:cs typeface="Times New Roman" pitchFamily="18" charset="0"/>
              </a:rPr>
              <a:t>Simple and easy to implement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640960" cy="119675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Differential Piece Rate System - Disadvantages</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Content Placeholder 3"/>
          <p:cNvSpPr>
            <a:spLocks noGrp="1"/>
          </p:cNvSpPr>
          <p:nvPr>
            <p:ph idx="1"/>
          </p:nvPr>
        </p:nvSpPr>
        <p:spPr>
          <a:xfrm>
            <a:off x="611560" y="1484784"/>
            <a:ext cx="8280920" cy="4824536"/>
          </a:xfrm>
        </p:spPr>
        <p:txBody>
          <a:bodyPr>
            <a:noAutofit/>
          </a:bodyPr>
          <a:lstStyle/>
          <a:p>
            <a:pPr algn="just">
              <a:lnSpc>
                <a:spcPct val="200000"/>
              </a:lnSpc>
              <a:buFont typeface="Wingdings" pitchFamily="2" charset="2"/>
              <a:buChar char="ü"/>
            </a:pPr>
            <a:r>
              <a:rPr lang="en-US" sz="2200" dirty="0">
                <a:latin typeface="Times New Roman" pitchFamily="18" charset="0"/>
                <a:cs typeface="Times New Roman" pitchFamily="18" charset="0"/>
              </a:rPr>
              <a:t>Minimum wage is not assured.</a:t>
            </a:r>
          </a:p>
          <a:p>
            <a:pPr algn="just">
              <a:lnSpc>
                <a:spcPct val="200000"/>
              </a:lnSpc>
              <a:buFont typeface="Wingdings" pitchFamily="2" charset="2"/>
              <a:buChar char="ü"/>
            </a:pPr>
            <a:r>
              <a:rPr lang="en-US" sz="2200" dirty="0">
                <a:latin typeface="Times New Roman" pitchFamily="18" charset="0"/>
                <a:cs typeface="Times New Roman" pitchFamily="18" charset="0"/>
              </a:rPr>
              <a:t>No consideration for the machine failure, power failure, etc.</a:t>
            </a:r>
          </a:p>
          <a:p>
            <a:pPr algn="just">
              <a:lnSpc>
                <a:spcPct val="200000"/>
              </a:lnSpc>
              <a:buFont typeface="Wingdings" pitchFamily="2" charset="2"/>
              <a:buChar char="ü"/>
            </a:pPr>
            <a:r>
              <a:rPr lang="en-US" sz="2200" dirty="0">
                <a:latin typeface="Times New Roman" pitchFamily="18" charset="0"/>
                <a:cs typeface="Times New Roman" pitchFamily="18" charset="0"/>
              </a:rPr>
              <a:t>Over emphasis on high production rate</a:t>
            </a:r>
          </a:p>
          <a:p>
            <a:pPr algn="just">
              <a:lnSpc>
                <a:spcPct val="200000"/>
              </a:lnSpc>
              <a:buFont typeface="Wingdings" pitchFamily="2" charset="2"/>
              <a:buChar char="ü"/>
            </a:pPr>
            <a:r>
              <a:rPr lang="en-US" sz="2200" dirty="0">
                <a:latin typeface="Times New Roman" pitchFamily="18" charset="0"/>
                <a:cs typeface="Times New Roman" pitchFamily="18" charset="0"/>
              </a:rPr>
              <a:t>There are chances that quality of work may suffer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35280" cy="1196752"/>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Incentive system </a:t>
            </a:r>
            <a:endParaRPr lang="en-IN"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cstate="print"/>
          <a:srcRect/>
          <a:stretch>
            <a:fillRect/>
          </a:stretch>
        </p:blipFill>
        <p:spPr bwMode="auto">
          <a:xfrm>
            <a:off x="0" y="1433545"/>
            <a:ext cx="9144000" cy="409248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2657"/>
            <a:ext cx="7772400" cy="1080119"/>
          </a:xfrm>
        </p:spPr>
        <p:txBody>
          <a:bodyPr/>
          <a:lstStyle/>
          <a:p>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2)</a:t>
            </a:r>
            <a:endParaRPr lang="en-IN" dirty="0"/>
          </a:p>
        </p:txBody>
      </p:sp>
      <p:sp>
        <p:nvSpPr>
          <p:cNvPr id="3" name="Subtitle 2"/>
          <p:cNvSpPr>
            <a:spLocks noGrp="1"/>
          </p:cNvSpPr>
          <p:nvPr>
            <p:ph type="subTitle" idx="1"/>
          </p:nvPr>
        </p:nvSpPr>
        <p:spPr>
          <a:xfrm>
            <a:off x="755576" y="1340768"/>
            <a:ext cx="7992888" cy="5256584"/>
          </a:xfrm>
        </p:spPr>
        <p:txBody>
          <a:bodyPr>
            <a:normAutofit/>
          </a:bodyPr>
          <a:lstStyle/>
          <a:p>
            <a:pPr marL="342900" indent="-342900" algn="just">
              <a:lnSpc>
                <a:spcPct val="160000"/>
              </a:lnSpc>
              <a:buFont typeface="Wingdings" pitchFamily="2" charset="2"/>
              <a:buChar char="Ø"/>
            </a:pPr>
            <a:r>
              <a:rPr lang="en-US" sz="2200"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Marketing</a:t>
            </a:r>
          </a:p>
          <a:p>
            <a:pPr marL="1714500" lvl="3" indent="-342900" algn="just">
              <a:lnSpc>
                <a:spcPct val="160000"/>
              </a:lnSpc>
              <a:buFont typeface="Wingdings" pitchFamily="2" charset="2"/>
              <a:buChar char="ü"/>
            </a:pPr>
            <a:r>
              <a:rPr lang="en-US" sz="2200" dirty="0">
                <a:solidFill>
                  <a:schemeClr val="tx1"/>
                </a:solidFill>
                <a:latin typeface="Times New Roman" pitchFamily="18" charset="0"/>
                <a:cs typeface="Times New Roman" pitchFamily="18" charset="0"/>
              </a:rPr>
              <a:t>Definition</a:t>
            </a:r>
          </a:p>
          <a:p>
            <a:pPr marL="1714500" lvl="3" indent="-342900" algn="just">
              <a:lnSpc>
                <a:spcPct val="170000"/>
              </a:lnSpc>
              <a:buFont typeface="Wingdings" pitchFamily="2" charset="2"/>
              <a:buChar char="ü"/>
            </a:pPr>
            <a:r>
              <a:rPr lang="en-US" sz="2200" dirty="0">
                <a:solidFill>
                  <a:schemeClr val="tx1"/>
                </a:solidFill>
                <a:latin typeface="Times New Roman" pitchFamily="18" charset="0"/>
                <a:cs typeface="Times New Roman" pitchFamily="18" charset="0"/>
              </a:rPr>
              <a:t>Market segmentation</a:t>
            </a:r>
          </a:p>
          <a:p>
            <a:pPr marL="1714500" lvl="3" indent="-342900" algn="just">
              <a:lnSpc>
                <a:spcPct val="170000"/>
              </a:lnSpc>
              <a:buFont typeface="Wingdings" pitchFamily="2" charset="2"/>
              <a:buChar char="ü"/>
            </a:pPr>
            <a:r>
              <a:rPr lang="en-IN" sz="2200" dirty="0">
                <a:solidFill>
                  <a:schemeClr val="tx1"/>
                </a:solidFill>
                <a:latin typeface="Times New Roman" pitchFamily="18" charset="0"/>
                <a:cs typeface="Times New Roman" pitchFamily="18" charset="0"/>
              </a:rPr>
              <a:t>Consumer market </a:t>
            </a:r>
            <a:r>
              <a:rPr lang="en-IN" sz="2200" dirty="0" err="1">
                <a:solidFill>
                  <a:schemeClr val="tx1"/>
                </a:solidFill>
                <a:latin typeface="Times New Roman" pitchFamily="18" charset="0"/>
                <a:cs typeface="Times New Roman" pitchFamily="18" charset="0"/>
              </a:rPr>
              <a:t>vs</a:t>
            </a:r>
            <a:r>
              <a:rPr lang="en-IN" sz="2200" dirty="0">
                <a:solidFill>
                  <a:schemeClr val="tx1"/>
                </a:solidFill>
                <a:latin typeface="Times New Roman" pitchFamily="18" charset="0"/>
                <a:cs typeface="Times New Roman" pitchFamily="18" charset="0"/>
              </a:rPr>
              <a:t> Industrial markets</a:t>
            </a:r>
            <a:endParaRPr lang="en-US" sz="2200" dirty="0">
              <a:solidFill>
                <a:schemeClr val="tx1"/>
              </a:solidFill>
              <a:latin typeface="Times New Roman" pitchFamily="18" charset="0"/>
              <a:cs typeface="Times New Roman" pitchFamily="18" charset="0"/>
            </a:endParaRPr>
          </a:p>
          <a:p>
            <a:pPr marL="1714500" lvl="3" indent="-342900" algn="just">
              <a:lnSpc>
                <a:spcPct val="160000"/>
              </a:lnSpc>
              <a:buFont typeface="Wingdings" pitchFamily="2" charset="2"/>
              <a:buChar char="ü"/>
            </a:pPr>
            <a:r>
              <a:rPr lang="en-US" sz="2200" dirty="0">
                <a:solidFill>
                  <a:schemeClr val="tx1"/>
                </a:solidFill>
                <a:latin typeface="Times New Roman" pitchFamily="18" charset="0"/>
                <a:cs typeface="Times New Roman" pitchFamily="18" charset="0"/>
              </a:rPr>
              <a:t>Pricing</a:t>
            </a:r>
          </a:p>
          <a:p>
            <a:pPr marL="1714500" lvl="3" indent="-342900" algn="just">
              <a:lnSpc>
                <a:spcPct val="160000"/>
              </a:lnSpc>
              <a:buFont typeface="Wingdings" pitchFamily="2" charset="2"/>
              <a:buChar char="ü"/>
            </a:pPr>
            <a:r>
              <a:rPr lang="en-US" sz="2200" dirty="0">
                <a:solidFill>
                  <a:schemeClr val="tx1"/>
                </a:solidFill>
                <a:latin typeface="Times New Roman" pitchFamily="18" charset="0"/>
                <a:cs typeface="Times New Roman" pitchFamily="18" charset="0"/>
              </a:rPr>
              <a:t>Sales</a:t>
            </a:r>
          </a:p>
          <a:p>
            <a:pPr marL="1714500" lvl="3" indent="-342900" algn="just">
              <a:lnSpc>
                <a:spcPct val="160000"/>
              </a:lnSpc>
              <a:buFont typeface="Wingdings" pitchFamily="2" charset="2"/>
              <a:buChar char="ü"/>
            </a:pPr>
            <a:r>
              <a:rPr lang="en-US" sz="2200" dirty="0">
                <a:solidFill>
                  <a:schemeClr val="tx1"/>
                </a:solidFill>
                <a:latin typeface="Times New Roman" pitchFamily="18" charset="0"/>
                <a:cs typeface="Times New Roman" pitchFamily="18" charset="0"/>
              </a:rPr>
              <a:t>Distribution</a:t>
            </a:r>
          </a:p>
          <a:p>
            <a:pPr marL="1714500" lvl="3" indent="-342900" algn="just">
              <a:lnSpc>
                <a:spcPct val="160000"/>
              </a:lnSpc>
              <a:buFont typeface="Wingdings" pitchFamily="2" charset="2"/>
              <a:buChar char="ü"/>
            </a:pPr>
            <a:r>
              <a:rPr lang="en-US" sz="2200" dirty="0">
                <a:solidFill>
                  <a:schemeClr val="tx1"/>
                </a:solidFill>
                <a:latin typeface="Times New Roman" pitchFamily="18" charset="0"/>
                <a:cs typeface="Times New Roman" pitchFamily="18" charset="0"/>
              </a:rPr>
              <a:t>advertisements</a:t>
            </a:r>
          </a:p>
          <a:p>
            <a:pPr marL="1714500" lvl="3" indent="-342900" algn="just">
              <a:lnSpc>
                <a:spcPct val="160000"/>
              </a:lnSpc>
              <a:buFont typeface="Wingdings" pitchFamily="2" charset="2"/>
              <a:buChar char="ü"/>
            </a:pPr>
            <a:endParaRPr lang="en-US" sz="2200" dirty="0">
              <a:solidFill>
                <a:schemeClr val="tx1"/>
              </a:solidFill>
              <a:latin typeface="Times New Roman" pitchFamily="18" charset="0"/>
              <a:cs typeface="Times New Roman" pitchFamily="18" charset="0"/>
            </a:endParaRPr>
          </a:p>
          <a:p>
            <a:pPr marL="1714500" lvl="3" indent="-342900" algn="just">
              <a:lnSpc>
                <a:spcPct val="160000"/>
              </a:lnSpc>
              <a:buFont typeface="Wingdings" pitchFamily="2" charset="2"/>
              <a:buChar char="ü"/>
            </a:pPr>
            <a:endParaRPr lang="en-US" sz="2200" dirty="0">
              <a:solidFill>
                <a:schemeClr val="tx1"/>
              </a:solidFill>
              <a:latin typeface="Times New Roman" pitchFamily="18" charset="0"/>
              <a:cs typeface="Times New Roman" pitchFamily="18" charset="0"/>
            </a:endParaRPr>
          </a:p>
          <a:p>
            <a:pPr marL="1714500" lvl="3" indent="-342900" algn="just">
              <a:lnSpc>
                <a:spcPct val="160000"/>
              </a:lnSpc>
              <a:buFont typeface="Wingdings" pitchFamily="2" charset="2"/>
              <a:buChar char="ü"/>
            </a:pPr>
            <a:endParaRPr lang="en-US" sz="22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a:p>
            <a:pPr algn="l"/>
            <a:endParaRPr lang="en-US" sz="2200" b="1" dirty="0">
              <a:solidFill>
                <a:srgbClr val="00B050"/>
              </a:solidFill>
              <a:latin typeface="Algerian" pitchFamily="82" charset="0"/>
            </a:endParaRPr>
          </a:p>
          <a:p>
            <a:pPr algn="l"/>
            <a:endParaRPr lang="en-IN"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Definition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251520" y="836712"/>
            <a:ext cx="8640960" cy="5289451"/>
          </a:xfrm>
        </p:spPr>
        <p:txBody>
          <a:bodyPr>
            <a:noAutofit/>
          </a:bodyPr>
          <a:lstStyle/>
          <a:p>
            <a:pPr algn="just">
              <a:lnSpc>
                <a:spcPct val="200000"/>
              </a:lnSpc>
              <a:buFont typeface="Wingdings" pitchFamily="2" charset="2"/>
              <a:buChar char="q"/>
            </a:pPr>
            <a:r>
              <a:rPr lang="en-US" sz="2200" dirty="0">
                <a:latin typeface="Times New Roman" pitchFamily="18" charset="0"/>
                <a:cs typeface="Times New Roman" pitchFamily="18" charset="0"/>
              </a:rPr>
              <a:t>Marketing is the economic process by which goods and services are exchanged between the producer and the consumer and their values determined in terms of money.</a:t>
            </a:r>
          </a:p>
          <a:p>
            <a:pPr algn="just">
              <a:lnSpc>
                <a:spcPct val="200000"/>
              </a:lnSpc>
              <a:buFont typeface="Wingdings" pitchFamily="2" charset="2"/>
              <a:buChar char="q"/>
            </a:pPr>
            <a:r>
              <a:rPr lang="en-US" sz="2200" dirty="0">
                <a:latin typeface="Times New Roman" pitchFamily="18" charset="0"/>
                <a:cs typeface="Times New Roman" pitchFamily="18" charset="0"/>
              </a:rPr>
              <a:t>It’s a total system of interacting business designed to plan, promote and distribute need-satisfying products and services to existing and potential consumers.</a:t>
            </a:r>
          </a:p>
          <a:p>
            <a:pPr algn="just">
              <a:lnSpc>
                <a:spcPct val="200000"/>
              </a:lnSpc>
              <a:buFont typeface="Wingdings" pitchFamily="2" charset="2"/>
              <a:buChar char="q"/>
            </a:pPr>
            <a:r>
              <a:rPr lang="en-US" sz="2200" dirty="0">
                <a:latin typeface="Times New Roman" pitchFamily="18" charset="0"/>
                <a:cs typeface="Times New Roman" pitchFamily="18" charset="0"/>
              </a:rPr>
              <a:t>Marketing starts with the identification of a specific need on the part of the consumer and ends with the satisfaction of that need.</a:t>
            </a:r>
            <a:endParaRPr lang="en-IN" sz="22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pPr lvl="1" algn="ctr" rtl="0">
              <a:spcBef>
                <a:spcPct val="0"/>
              </a:spcBef>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Marketing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251520" y="836712"/>
            <a:ext cx="8640960" cy="5289451"/>
          </a:xfrm>
        </p:spPr>
        <p:txBody>
          <a:bodyPr>
            <a:noAutofit/>
          </a:bodyPr>
          <a:lstStyle/>
          <a:p>
            <a:pPr algn="just">
              <a:lnSpc>
                <a:spcPct val="200000"/>
              </a:lnSpc>
              <a:buFont typeface="Wingdings" pitchFamily="2" charset="2"/>
              <a:buChar char="q"/>
            </a:pPr>
            <a:r>
              <a:rPr lang="en-US" sz="2200" dirty="0">
                <a:latin typeface="Times New Roman" pitchFamily="18" charset="0"/>
                <a:cs typeface="Times New Roman" pitchFamily="18" charset="0"/>
              </a:rPr>
              <a:t>Marketing management is one of the main management disciplines, encompassing all the strategic planning, operations, activities, and processes involved in achieving organizational goals by delivering value to customers. </a:t>
            </a:r>
          </a:p>
          <a:p>
            <a:pPr algn="just">
              <a:lnSpc>
                <a:spcPct val="200000"/>
              </a:lnSpc>
              <a:buFont typeface="Wingdings" pitchFamily="2" charset="2"/>
              <a:buChar char="q"/>
            </a:pPr>
            <a:r>
              <a:rPr lang="en-US" sz="2200" dirty="0">
                <a:latin typeface="Times New Roman" pitchFamily="18" charset="0"/>
                <a:cs typeface="Times New Roman" pitchFamily="18" charset="0"/>
              </a:rPr>
              <a:t>Marketing management focuses on satisfying customer requirements by identifying needs and wants, and developing products and services to meet them.</a:t>
            </a:r>
            <a:endParaRPr lang="en-IN" sz="22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Concept of Marketing Vs Selling</a:t>
            </a:r>
          </a:p>
        </p:txBody>
      </p:sp>
      <p:sp>
        <p:nvSpPr>
          <p:cNvPr id="3" name="Content Placeholder 2"/>
          <p:cNvSpPr>
            <a:spLocks noGrp="1"/>
          </p:cNvSpPr>
          <p:nvPr>
            <p:ph idx="1"/>
          </p:nvPr>
        </p:nvSpPr>
        <p:spPr>
          <a:xfrm>
            <a:off x="251520" y="980728"/>
            <a:ext cx="8568952" cy="4993035"/>
          </a:xfrm>
        </p:spPr>
        <p:txBody>
          <a:bodyPr>
            <a:noAutofit/>
          </a:bodyPr>
          <a:lstStyle/>
          <a:p>
            <a:pPr algn="just">
              <a:lnSpc>
                <a:spcPct val="200000"/>
              </a:lnSpc>
              <a:buFont typeface="Wingdings" pitchFamily="2" charset="2"/>
              <a:buChar char="q"/>
            </a:pPr>
            <a:r>
              <a:rPr lang="en-IN" sz="2200" dirty="0">
                <a:latin typeface="Times New Roman" pitchFamily="18" charset="0"/>
                <a:cs typeface="Times New Roman" pitchFamily="18" charset="0"/>
              </a:rPr>
              <a:t>The marketing concept gives importance to consumers and the concept holds that the key to achieving organizational goal consists in determining the needs and wants of customers and delivering the desired satisfaction.</a:t>
            </a:r>
          </a:p>
          <a:p>
            <a:pPr algn="just">
              <a:lnSpc>
                <a:spcPct val="200000"/>
              </a:lnSpc>
              <a:buFont typeface="Wingdings" pitchFamily="2" charset="2"/>
              <a:buChar char="q"/>
            </a:pPr>
            <a:r>
              <a:rPr lang="en-IN" sz="2200" dirty="0">
                <a:latin typeface="Times New Roman" pitchFamily="18" charset="0"/>
                <a:cs typeface="Times New Roman" pitchFamily="18" charset="0"/>
              </a:rPr>
              <a:t>The selling concept is product-oriented and the concept holds that the consumers normally will not buy enough of the organizations products and therefore efforts must be made to force the customers to buy the products.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990601"/>
          <a:ext cx="8229600" cy="5037666"/>
        </p:xfrm>
        <a:graphic>
          <a:graphicData uri="http://schemas.openxmlformats.org/drawingml/2006/table">
            <a:tbl>
              <a:tblPr firstRow="1" bandRow="1">
                <a:tableStyleId>{7DF18680-E054-41AD-8BC1-D1AEF772440D}</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733778">
                <a:tc>
                  <a:txBody>
                    <a:bodyPr/>
                    <a:lstStyle/>
                    <a:p>
                      <a:pPr algn="ctr"/>
                      <a:r>
                        <a:rPr lang="en-US" sz="2200" kern="1200" dirty="0">
                          <a:latin typeface="Times New Roman" pitchFamily="18" charset="0"/>
                          <a:cs typeface="Times New Roman" pitchFamily="18" charset="0"/>
                        </a:rPr>
                        <a:t>Selling</a:t>
                      </a:r>
                      <a:endParaRPr lang="en-IN" sz="2200" kern="1200" dirty="0">
                        <a:solidFill>
                          <a:schemeClr val="bg1"/>
                        </a:solidFill>
                        <a:latin typeface="Times New Roman" pitchFamily="18" charset="0"/>
                        <a:ea typeface="+mn-ea"/>
                        <a:cs typeface="Times New Roman" pitchFamily="18" charset="0"/>
                      </a:endParaRPr>
                    </a:p>
                  </a:txBody>
                  <a:tcPr anchor="ctr"/>
                </a:tc>
                <a:tc>
                  <a:txBody>
                    <a:bodyPr/>
                    <a:lstStyle/>
                    <a:p>
                      <a:pPr algn="ctr"/>
                      <a:r>
                        <a:rPr lang="en-US" sz="2200" kern="1200" dirty="0">
                          <a:latin typeface="Times New Roman" pitchFamily="18" charset="0"/>
                          <a:cs typeface="Times New Roman" pitchFamily="18" charset="0"/>
                        </a:rPr>
                        <a:t>Marketing</a:t>
                      </a:r>
                      <a:endParaRPr lang="en-IN" sz="2200" kern="1200" dirty="0">
                        <a:solidFill>
                          <a:schemeClr val="bg1"/>
                        </a:solidFill>
                        <a:latin typeface="Times New Roman" pitchFamily="18" charset="0"/>
                        <a:ea typeface="+mn-ea"/>
                        <a:cs typeface="Times New Roman" pitchFamily="18" charset="0"/>
                      </a:endParaRPr>
                    </a:p>
                  </a:txBody>
                  <a:tcPr anchor="ctr"/>
                </a:tc>
                <a:extLst>
                  <a:ext uri="{0D108BD9-81ED-4DB2-BD59-A6C34878D82A}">
                    <a16:rowId xmlns:a16="http://schemas.microsoft.com/office/drawing/2014/main" val="10000"/>
                  </a:ext>
                </a:extLst>
              </a:tr>
              <a:tr h="733778">
                <a:tc>
                  <a:txBody>
                    <a:bodyPr/>
                    <a:lstStyle/>
                    <a:p>
                      <a:pPr marL="342900" indent="-342900" algn="l">
                        <a:buFont typeface="+mj-lt"/>
                        <a:buNone/>
                      </a:pPr>
                      <a:r>
                        <a:rPr lang="en-US" sz="2200" kern="1200" dirty="0">
                          <a:latin typeface="Times New Roman" pitchFamily="18" charset="0"/>
                          <a:cs typeface="Times New Roman" pitchFamily="18" charset="0"/>
                        </a:rPr>
                        <a:t>     Product Oriented</a:t>
                      </a:r>
                      <a:endParaRPr lang="en-IN" sz="2200" kern="1200" dirty="0">
                        <a:solidFill>
                          <a:schemeClr val="tx1"/>
                        </a:solidFill>
                        <a:latin typeface="Times New Roman" pitchFamily="18" charset="0"/>
                        <a:ea typeface="+mn-ea"/>
                        <a:cs typeface="Times New Roman" pitchFamily="18" charset="0"/>
                      </a:endParaRPr>
                    </a:p>
                  </a:txBody>
                  <a:tcPr anchor="ctr"/>
                </a:tc>
                <a:tc>
                  <a:txBody>
                    <a:bodyPr/>
                    <a:lstStyle/>
                    <a:p>
                      <a:pPr algn="l"/>
                      <a:r>
                        <a:rPr lang="en-US" sz="2200" kern="1200" dirty="0">
                          <a:latin typeface="Times New Roman" pitchFamily="18" charset="0"/>
                          <a:cs typeface="Times New Roman" pitchFamily="18" charset="0"/>
                        </a:rPr>
                        <a:t>  Customer oriented</a:t>
                      </a:r>
                      <a:endParaRPr lang="en-US" sz="2200" kern="1200" dirty="0">
                        <a:solidFill>
                          <a:schemeClr val="tx1"/>
                        </a:solidFill>
                        <a:latin typeface="Times New Roman" pitchFamily="18" charset="0"/>
                        <a:ea typeface="+mn-ea"/>
                        <a:cs typeface="Times New Roman" pitchFamily="18" charset="0"/>
                      </a:endParaRPr>
                    </a:p>
                  </a:txBody>
                  <a:tcPr anchor="ctr"/>
                </a:tc>
                <a:extLst>
                  <a:ext uri="{0D108BD9-81ED-4DB2-BD59-A6C34878D82A}">
                    <a16:rowId xmlns:a16="http://schemas.microsoft.com/office/drawing/2014/main" val="10001"/>
                  </a:ext>
                </a:extLst>
              </a:tr>
              <a:tr h="733778">
                <a:tc>
                  <a:txBody>
                    <a:bodyPr/>
                    <a:lstStyle/>
                    <a:p>
                      <a:pPr marL="342900" indent="-342900" algn="l">
                        <a:buFont typeface="+mj-lt"/>
                        <a:buNone/>
                      </a:pPr>
                      <a:r>
                        <a:rPr lang="en-US" sz="2200" kern="1200" dirty="0">
                          <a:latin typeface="Times New Roman" pitchFamily="18" charset="0"/>
                          <a:cs typeface="Times New Roman" pitchFamily="18" charset="0"/>
                        </a:rPr>
                        <a:t>     Emphasis on company (seller)</a:t>
                      </a:r>
                      <a:r>
                        <a:rPr lang="en-US" sz="2200" kern="1200" baseline="0" dirty="0">
                          <a:latin typeface="Times New Roman" pitchFamily="18" charset="0"/>
                          <a:cs typeface="Times New Roman" pitchFamily="18" charset="0"/>
                        </a:rPr>
                        <a:t> </a:t>
                      </a:r>
                      <a:r>
                        <a:rPr lang="en-US" sz="2200" kern="1200" dirty="0">
                          <a:latin typeface="Times New Roman" pitchFamily="18" charset="0"/>
                          <a:cs typeface="Times New Roman" pitchFamily="18" charset="0"/>
                        </a:rPr>
                        <a:t>needs</a:t>
                      </a:r>
                      <a:endParaRPr lang="en-IN" sz="2200" kern="1200" dirty="0">
                        <a:solidFill>
                          <a:schemeClr val="tx1"/>
                        </a:solidFill>
                        <a:latin typeface="Times New Roman" pitchFamily="18" charset="0"/>
                        <a:ea typeface="+mn-ea"/>
                        <a:cs typeface="Times New Roman" pitchFamily="18" charset="0"/>
                      </a:endParaRPr>
                    </a:p>
                  </a:txBody>
                  <a:tcPr anchor="ctr"/>
                </a:tc>
                <a:tc>
                  <a:txBody>
                    <a:bodyPr/>
                    <a:lstStyle/>
                    <a:p>
                      <a:pPr algn="l"/>
                      <a:r>
                        <a:rPr lang="en-US" sz="2200" kern="1200" dirty="0">
                          <a:latin typeface="Times New Roman" pitchFamily="18" charset="0"/>
                          <a:cs typeface="Times New Roman" pitchFamily="18" charset="0"/>
                        </a:rPr>
                        <a:t>  Emphasis on customer’s need</a:t>
                      </a:r>
                      <a:endParaRPr lang="en-IN" sz="2200" kern="1200" dirty="0">
                        <a:solidFill>
                          <a:schemeClr val="tx1"/>
                        </a:solidFill>
                        <a:latin typeface="Times New Roman" pitchFamily="18" charset="0"/>
                        <a:ea typeface="+mn-ea"/>
                        <a:cs typeface="Times New Roman" pitchFamily="18" charset="0"/>
                      </a:endParaRPr>
                    </a:p>
                  </a:txBody>
                  <a:tcPr anchor="ctr"/>
                </a:tc>
                <a:extLst>
                  <a:ext uri="{0D108BD9-81ED-4DB2-BD59-A6C34878D82A}">
                    <a16:rowId xmlns:a16="http://schemas.microsoft.com/office/drawing/2014/main" val="10002"/>
                  </a:ext>
                </a:extLst>
              </a:tr>
              <a:tr h="733778">
                <a:tc>
                  <a:txBody>
                    <a:bodyPr/>
                    <a:lstStyle/>
                    <a:p>
                      <a:pPr marL="342900" indent="-342900" algn="l">
                        <a:buFont typeface="+mj-lt"/>
                        <a:buNone/>
                      </a:pPr>
                      <a:r>
                        <a:rPr lang="en-US" sz="2200" kern="1200" dirty="0">
                          <a:latin typeface="Times New Roman" pitchFamily="18" charset="0"/>
                          <a:cs typeface="Times New Roman" pitchFamily="18" charset="0"/>
                        </a:rPr>
                        <a:t>     Company oriented selling efforts</a:t>
                      </a:r>
                      <a:endParaRPr lang="en-IN" sz="2200" kern="1200" dirty="0">
                        <a:solidFill>
                          <a:schemeClr val="tx1"/>
                        </a:solidFill>
                        <a:latin typeface="Times New Roman" pitchFamily="18" charset="0"/>
                        <a:ea typeface="+mn-ea"/>
                        <a:cs typeface="Times New Roman" pitchFamily="18" charset="0"/>
                      </a:endParaRPr>
                    </a:p>
                  </a:txBody>
                  <a:tcPr anchor="ctr"/>
                </a:tc>
                <a:tc>
                  <a:txBody>
                    <a:bodyPr/>
                    <a:lstStyle/>
                    <a:p>
                      <a:pPr algn="l"/>
                      <a:r>
                        <a:rPr lang="en-US" sz="2200" kern="1200" dirty="0">
                          <a:latin typeface="Times New Roman" pitchFamily="18" charset="0"/>
                          <a:cs typeface="Times New Roman" pitchFamily="18" charset="0"/>
                        </a:rPr>
                        <a:t>  Market oriented selling efforts</a:t>
                      </a:r>
                      <a:endParaRPr lang="en-IN" sz="2200" kern="1200" dirty="0">
                        <a:solidFill>
                          <a:schemeClr val="tx1"/>
                        </a:solidFill>
                        <a:latin typeface="Times New Roman" pitchFamily="18" charset="0"/>
                        <a:ea typeface="+mn-ea"/>
                        <a:cs typeface="Times New Roman" pitchFamily="18" charset="0"/>
                      </a:endParaRPr>
                    </a:p>
                  </a:txBody>
                  <a:tcPr anchor="ctr"/>
                </a:tc>
                <a:extLst>
                  <a:ext uri="{0D108BD9-81ED-4DB2-BD59-A6C34878D82A}">
                    <a16:rowId xmlns:a16="http://schemas.microsoft.com/office/drawing/2014/main" val="10003"/>
                  </a:ext>
                </a:extLst>
              </a:tr>
              <a:tr h="1284110">
                <a:tc>
                  <a:txBody>
                    <a:bodyPr/>
                    <a:lstStyle/>
                    <a:p>
                      <a:pPr marL="342900" indent="-342900" algn="l">
                        <a:buFont typeface="+mj-lt"/>
                        <a:buNone/>
                      </a:pPr>
                      <a:r>
                        <a:rPr lang="en-US" sz="2200" kern="1200" baseline="0" dirty="0">
                          <a:latin typeface="Times New Roman" pitchFamily="18" charset="0"/>
                          <a:cs typeface="Times New Roman" pitchFamily="18" charset="0"/>
                        </a:rPr>
                        <a:t>     </a:t>
                      </a:r>
                      <a:r>
                        <a:rPr lang="en-US" sz="2200" kern="1200" dirty="0">
                          <a:latin typeface="Times New Roman" pitchFamily="18" charset="0"/>
                          <a:cs typeface="Times New Roman" pitchFamily="18" charset="0"/>
                        </a:rPr>
                        <a:t>Goods are already produced and then sold at profit</a:t>
                      </a:r>
                      <a:endParaRPr lang="en-IN" sz="2200" kern="1200" dirty="0">
                        <a:solidFill>
                          <a:schemeClr val="tx1"/>
                        </a:solidFill>
                        <a:latin typeface="Times New Roman" pitchFamily="18" charset="0"/>
                        <a:ea typeface="+mn-ea"/>
                        <a:cs typeface="Times New Roman" pitchFamily="18" charset="0"/>
                      </a:endParaRPr>
                    </a:p>
                  </a:txBody>
                  <a:tcPr anchor="ctr"/>
                </a:tc>
                <a:tc>
                  <a:txBody>
                    <a:bodyPr/>
                    <a:lstStyle/>
                    <a:p>
                      <a:pPr marL="173038" indent="-173038" algn="l"/>
                      <a:r>
                        <a:rPr lang="en-US" sz="2200" kern="1200" dirty="0">
                          <a:latin typeface="Times New Roman" pitchFamily="18" charset="0"/>
                          <a:cs typeface="Times New Roman" pitchFamily="18" charset="0"/>
                        </a:rPr>
                        <a:t>  Customer demand determines </a:t>
                      </a:r>
                      <a:r>
                        <a:rPr lang="en-US" sz="2200" kern="1200" baseline="0" dirty="0">
                          <a:latin typeface="Times New Roman" pitchFamily="18" charset="0"/>
                          <a:cs typeface="Times New Roman" pitchFamily="18" charset="0"/>
                        </a:rPr>
                        <a:t>    </a:t>
                      </a:r>
                      <a:r>
                        <a:rPr lang="en-US" sz="2200" kern="1200" dirty="0">
                          <a:latin typeface="Times New Roman" pitchFamily="18" charset="0"/>
                          <a:cs typeface="Times New Roman" pitchFamily="18" charset="0"/>
                        </a:rPr>
                        <a:t>production</a:t>
                      </a:r>
                      <a:endParaRPr lang="en-IN" sz="2200" kern="1200" dirty="0">
                        <a:solidFill>
                          <a:schemeClr val="tx1"/>
                        </a:solidFill>
                        <a:latin typeface="Times New Roman" pitchFamily="18" charset="0"/>
                        <a:ea typeface="+mn-ea"/>
                        <a:cs typeface="Times New Roman" pitchFamily="18" charset="0"/>
                      </a:endParaRPr>
                    </a:p>
                  </a:txBody>
                  <a:tcPr anchor="ctr"/>
                </a:tc>
                <a:extLst>
                  <a:ext uri="{0D108BD9-81ED-4DB2-BD59-A6C34878D82A}">
                    <a16:rowId xmlns:a16="http://schemas.microsoft.com/office/drawing/2014/main" val="10004"/>
                  </a:ext>
                </a:extLst>
              </a:tr>
              <a:tr h="733778">
                <a:tc>
                  <a:txBody>
                    <a:bodyPr/>
                    <a:lstStyle/>
                    <a:p>
                      <a:pPr marL="342900" indent="-342900" algn="l">
                        <a:buFont typeface="+mj-lt"/>
                        <a:buNone/>
                      </a:pPr>
                      <a:r>
                        <a:rPr lang="en-US" sz="2200" kern="1200" baseline="0" dirty="0">
                          <a:latin typeface="Times New Roman" pitchFamily="18" charset="0"/>
                          <a:cs typeface="Times New Roman" pitchFamily="18" charset="0"/>
                        </a:rPr>
                        <a:t>     </a:t>
                      </a:r>
                      <a:r>
                        <a:rPr lang="en-US" sz="2200" kern="1200" dirty="0">
                          <a:latin typeface="Times New Roman" pitchFamily="18" charset="0"/>
                          <a:cs typeface="Times New Roman" pitchFamily="18" charset="0"/>
                        </a:rPr>
                        <a:t>Selling aims at short term objectives</a:t>
                      </a:r>
                      <a:endParaRPr lang="en-IN" sz="2200" kern="1200" dirty="0">
                        <a:solidFill>
                          <a:schemeClr val="tx1"/>
                        </a:solidFill>
                        <a:latin typeface="Times New Roman" pitchFamily="18" charset="0"/>
                        <a:ea typeface="+mn-ea"/>
                        <a:cs typeface="Times New Roman" pitchFamily="18" charset="0"/>
                      </a:endParaRPr>
                    </a:p>
                  </a:txBody>
                  <a:tcPr anchor="ctr"/>
                </a:tc>
                <a:tc>
                  <a:txBody>
                    <a:bodyPr/>
                    <a:lstStyle/>
                    <a:p>
                      <a:pPr algn="l"/>
                      <a:r>
                        <a:rPr lang="en-US" sz="2200" kern="1200" dirty="0">
                          <a:latin typeface="Times New Roman" pitchFamily="18" charset="0"/>
                          <a:cs typeface="Times New Roman" pitchFamily="18" charset="0"/>
                        </a:rPr>
                        <a:t>   Aims at long term objectives</a:t>
                      </a:r>
                      <a:endParaRPr lang="en-IN" sz="2200" kern="1200" dirty="0">
                        <a:solidFill>
                          <a:schemeClr val="tx1"/>
                        </a:solidFill>
                        <a:latin typeface="Times New Roman" pitchFamily="18" charset="0"/>
                        <a:ea typeface="+mn-ea"/>
                        <a:cs typeface="Times New Roman" pitchFamily="18" charset="0"/>
                      </a:endParaRP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Marketing System</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Input :- Product, price, place and promotion (Marketing Mix).</a:t>
            </a:r>
          </a:p>
          <a:p>
            <a:pPr algn="just">
              <a:lnSpc>
                <a:spcPct val="200000"/>
              </a:lnSpc>
              <a:buFont typeface="Wingdings" pitchFamily="2" charset="2"/>
              <a:buChar char="v"/>
            </a:pPr>
            <a:r>
              <a:rPr lang="en-US" sz="2200" dirty="0">
                <a:latin typeface="Times New Roman" pitchFamily="18" charset="0"/>
                <a:cs typeface="Times New Roman" pitchFamily="18" charset="0"/>
              </a:rPr>
              <a:t>Processor:- business organisation.</a:t>
            </a:r>
          </a:p>
          <a:p>
            <a:pPr algn="just">
              <a:lnSpc>
                <a:spcPct val="200000"/>
              </a:lnSpc>
              <a:buFont typeface="Wingdings" pitchFamily="2" charset="2"/>
              <a:buChar char="v"/>
            </a:pPr>
            <a:r>
              <a:rPr lang="en-US" sz="2200" dirty="0">
                <a:latin typeface="Times New Roman" pitchFamily="18" charset="0"/>
                <a:cs typeface="Times New Roman" pitchFamily="18" charset="0"/>
              </a:rPr>
              <a:t>Output:- Sale of goods</a:t>
            </a:r>
          </a:p>
          <a:p>
            <a:pPr algn="just">
              <a:lnSpc>
                <a:spcPct val="200000"/>
              </a:lnSpc>
              <a:buFont typeface="Wingdings" pitchFamily="2" charset="2"/>
              <a:buChar char="v"/>
            </a:pPr>
            <a:r>
              <a:rPr lang="en-US" sz="2200" dirty="0">
                <a:latin typeface="Times New Roman" pitchFamily="18" charset="0"/>
                <a:cs typeface="Times New Roman" pitchFamily="18" charset="0"/>
              </a:rPr>
              <a:t>Controller</a:t>
            </a:r>
          </a:p>
          <a:p>
            <a:pPr algn="just">
              <a:lnSpc>
                <a:spcPct val="200000"/>
              </a:lnSpc>
              <a:buFont typeface="Wingdings" pitchFamily="2" charset="2"/>
              <a:buChar char="v"/>
            </a:pPr>
            <a:r>
              <a:rPr lang="en-US" sz="2200" dirty="0">
                <a:latin typeface="Times New Roman" pitchFamily="18" charset="0"/>
                <a:cs typeface="Times New Roman" pitchFamily="18" charset="0"/>
              </a:rPr>
              <a:t>Objective:- Profit/Customer satisfaction</a:t>
            </a:r>
            <a:endParaRPr lang="en-IN" sz="2200" dirty="0">
              <a:latin typeface="Times New Roman" pitchFamily="18" charset="0"/>
              <a:cs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Market Segmentation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00000"/>
              </a:lnSpc>
              <a:buFont typeface="Wingdings" pitchFamily="2" charset="2"/>
              <a:buChar char="q"/>
            </a:pPr>
            <a:r>
              <a:rPr lang="en-US" sz="2200" dirty="0">
                <a:latin typeface="Times New Roman" pitchFamily="18" charset="0"/>
                <a:cs typeface="Times New Roman" pitchFamily="18" charset="0"/>
              </a:rPr>
              <a:t>Market segmentation is defined as “ taking the total heterogeneous market for a product and dividing it into several segments, each of which tends to be homogeneous in full significant aspects.</a:t>
            </a:r>
          </a:p>
          <a:p>
            <a:pPr algn="just">
              <a:lnSpc>
                <a:spcPct val="200000"/>
              </a:lnSpc>
              <a:buFont typeface="Wingdings" pitchFamily="2" charset="2"/>
              <a:buChar char="q"/>
            </a:pPr>
            <a:r>
              <a:rPr lang="en-US" sz="2200" dirty="0">
                <a:latin typeface="Times New Roman" pitchFamily="18" charset="0"/>
                <a:cs typeface="Times New Roman" pitchFamily="18" charset="0"/>
              </a:rPr>
              <a:t>It consist of grouping of consumers according to such characteristics as income, age, taste for a product etc.</a:t>
            </a:r>
          </a:p>
          <a:p>
            <a:pPr algn="just">
              <a:buNone/>
            </a:pPr>
            <a:endParaRPr lang="en-IN" sz="2400" dirty="0">
              <a:latin typeface="Times New Roman" pitchFamily="18" charset="0"/>
              <a:cs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Types/Methods of Market Segmentation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marL="514350" indent="-514350" algn="just">
              <a:buAutoNum type="arabicPeriod"/>
            </a:pPr>
            <a:r>
              <a:rPr lang="en-US" sz="2400" dirty="0">
                <a:latin typeface="Times New Roman" pitchFamily="18" charset="0"/>
                <a:cs typeface="Times New Roman" pitchFamily="18" charset="0"/>
              </a:rPr>
              <a:t>Geographic Segmentation:- Based on region, continent, country, climate of area etc.</a:t>
            </a:r>
          </a:p>
          <a:p>
            <a:pPr marL="514350" indent="-514350" algn="just">
              <a:buNone/>
            </a:pPr>
            <a:endParaRPr lang="en-US" sz="2400" dirty="0">
              <a:latin typeface="Times New Roman" pitchFamily="18" charset="0"/>
              <a:cs typeface="Times New Roman" pitchFamily="18" charset="0"/>
            </a:endParaRPr>
          </a:p>
          <a:p>
            <a:pPr marL="514350" indent="-514350" algn="just">
              <a:buNone/>
            </a:pPr>
            <a:r>
              <a:rPr lang="en-US" sz="2400" dirty="0">
                <a:latin typeface="Times New Roman" pitchFamily="18" charset="0"/>
                <a:cs typeface="Times New Roman" pitchFamily="18" charset="0"/>
              </a:rPr>
              <a:t>2.	Demographic Segmentation:- Based on age of customers, family size, religion, community, occupation etc.</a:t>
            </a:r>
          </a:p>
          <a:p>
            <a:pPr marL="514350" indent="-514350" algn="just">
              <a:buNone/>
            </a:pPr>
            <a:endParaRPr lang="en-US" sz="2400" dirty="0">
              <a:latin typeface="Times New Roman" pitchFamily="18" charset="0"/>
              <a:cs typeface="Times New Roman" pitchFamily="18" charset="0"/>
            </a:endParaRPr>
          </a:p>
          <a:p>
            <a:pPr marL="514350" indent="-514350" algn="just">
              <a:buNone/>
            </a:pPr>
            <a:r>
              <a:rPr lang="en-US" sz="2400" dirty="0">
                <a:latin typeface="Times New Roman" pitchFamily="18" charset="0"/>
                <a:cs typeface="Times New Roman" pitchFamily="18" charset="0"/>
              </a:rPr>
              <a:t>3.	Psychographic Segmentation:- Based on personality types, lifestyles etc.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Types/Methods of Market Segmentation</a:t>
            </a:r>
            <a:endParaRPr lang="en-IN" sz="3200" dirty="0"/>
          </a:p>
        </p:txBody>
      </p:sp>
      <p:sp>
        <p:nvSpPr>
          <p:cNvPr id="3" name="Content Placeholder 2"/>
          <p:cNvSpPr>
            <a:spLocks noGrp="1"/>
          </p:cNvSpPr>
          <p:nvPr>
            <p:ph idx="1"/>
          </p:nvPr>
        </p:nvSpPr>
        <p:spPr/>
        <p:txBody>
          <a:bodyPr>
            <a:normAutofit/>
          </a:bodyPr>
          <a:lstStyle/>
          <a:p>
            <a:pPr marL="514350" indent="-514350" algn="just">
              <a:buAutoNum type="arabicPeriod" startAt="4"/>
            </a:pPr>
            <a:r>
              <a:rPr lang="en-US" sz="2400" dirty="0">
                <a:latin typeface="Times New Roman" pitchFamily="18" charset="0"/>
                <a:cs typeface="Times New Roman" pitchFamily="18" charset="0"/>
              </a:rPr>
              <a:t>Buyer behaviour Segmentation:- Different customer groups expect different benefits from the same product and as such their motivations in owing it and their behaviour in buying it will be different.</a:t>
            </a:r>
          </a:p>
          <a:p>
            <a:pPr marL="514350" indent="-514350" algn="just">
              <a:buAutoNum type="arabicPeriod" startAt="4"/>
            </a:pPr>
            <a:endParaRPr lang="en-US" sz="2400" dirty="0">
              <a:latin typeface="Times New Roman" pitchFamily="18" charset="0"/>
              <a:cs typeface="Times New Roman" pitchFamily="18" charset="0"/>
            </a:endParaRPr>
          </a:p>
          <a:p>
            <a:pPr marL="514350" indent="-514350" algn="just">
              <a:buNone/>
            </a:pPr>
            <a:r>
              <a:rPr lang="en-US" sz="2400" dirty="0">
                <a:latin typeface="Times New Roman" pitchFamily="18" charset="0"/>
                <a:cs typeface="Times New Roman" pitchFamily="18" charset="0"/>
              </a:rPr>
              <a:t>5. 	Volume Segmentation:- Based on quantity of purchase or the potential quantity of purchase.</a:t>
            </a:r>
          </a:p>
          <a:p>
            <a:pPr marL="514350" indent="-514350" algn="just">
              <a:buNone/>
            </a:pPr>
            <a:endParaRPr lang="en-IN" sz="2400" dirty="0">
              <a:latin typeface="Times New Roman" pitchFamily="18" charset="0"/>
              <a:cs typeface="Times New Roman" pitchFamily="18" charset="0"/>
            </a:endParaRPr>
          </a:p>
          <a:p>
            <a:pPr algn="just"/>
            <a:endParaRPr lang="en-I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Marketing Mix</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00000"/>
              </a:lnSpc>
              <a:buNone/>
            </a:pPr>
            <a:r>
              <a:rPr lang="en-US" sz="2400" dirty="0"/>
              <a:t>	</a:t>
            </a:r>
            <a:r>
              <a:rPr lang="en-US" sz="2400" dirty="0">
                <a:latin typeface="Times New Roman" pitchFamily="18" charset="0"/>
                <a:cs typeface="Times New Roman" pitchFamily="18" charset="0"/>
              </a:rPr>
              <a:t>The marketing mix refers to the blend of four controllable variables that companies use to influence the market responses – </a:t>
            </a:r>
            <a:r>
              <a:rPr lang="en-US" sz="2400" b="1" i="1" dirty="0">
                <a:latin typeface="Times New Roman" pitchFamily="18" charset="0"/>
                <a:cs typeface="Times New Roman" pitchFamily="18" charset="0"/>
              </a:rPr>
              <a:t>product, pricing, promotion and channels of distribution</a:t>
            </a:r>
            <a:r>
              <a:rPr lang="en-US" sz="2400" dirty="0">
                <a:latin typeface="Times New Roman" pitchFamily="18" charset="0"/>
                <a:cs typeface="Times New Roman" pitchFamily="18" charset="0"/>
              </a:rPr>
              <a:t>. Marketing mixes used by various organizations may vary depending upon the strategies and tactics adopted by them.</a:t>
            </a:r>
            <a:endParaRPr lang="en-IN" sz="2400" dirty="0">
              <a:latin typeface="Times New Roman" pitchFamily="18" charset="0"/>
              <a:cs typeface="Times New Roman" pitchFamily="18" charset="0"/>
            </a:endParaRPr>
          </a:p>
          <a:p>
            <a:pPr algn="just">
              <a:buNone/>
            </a:pPr>
            <a:endParaRPr lang="en-IN"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48072"/>
          </a:xfrm>
        </p:spPr>
        <p:txBody>
          <a:bodyPr>
            <a:normAutofit/>
          </a:bodyPr>
          <a:lstStyle/>
          <a:p>
            <a:r>
              <a:rPr lang="en-US" sz="3200"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a:t>
            </a:r>
            <a:endParaRPr lang="en-IN" sz="3200"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836712"/>
            <a:ext cx="8435280" cy="5688632"/>
          </a:xfrm>
        </p:spPr>
        <p:txBody>
          <a:bodyPr>
            <a:noAutofit/>
          </a:bodyPr>
          <a:lstStyle/>
          <a:p>
            <a:pPr algn="just">
              <a:lnSpc>
                <a:spcPct val="150000"/>
              </a:lnSpc>
              <a:buFont typeface="Wingdings" pitchFamily="2" charset="2"/>
              <a:buChar char="q"/>
            </a:pPr>
            <a:r>
              <a:rPr lang="en-US" sz="2200" dirty="0">
                <a:latin typeface="Times New Roman" pitchFamily="18" charset="0"/>
                <a:cs typeface="Times New Roman" pitchFamily="18" charset="0"/>
              </a:rPr>
              <a:t>Prior to the adoption of the marketing concept philosophy the major focus was on the technological or engineering dimensions of a product. </a:t>
            </a:r>
          </a:p>
          <a:p>
            <a:pPr algn="just">
              <a:lnSpc>
                <a:spcPct val="150000"/>
              </a:lnSpc>
              <a:buFont typeface="Wingdings" pitchFamily="2" charset="2"/>
              <a:buChar char="q"/>
            </a:pPr>
            <a:r>
              <a:rPr lang="en-US" sz="2200" dirty="0">
                <a:latin typeface="Times New Roman" pitchFamily="18" charset="0"/>
                <a:cs typeface="Times New Roman" pitchFamily="18" charset="0"/>
              </a:rPr>
              <a:t>Today products are designed and developed by taking into consideration the needs and demands of the customers. </a:t>
            </a:r>
          </a:p>
          <a:p>
            <a:pPr algn="just">
              <a:lnSpc>
                <a:spcPct val="150000"/>
              </a:lnSpc>
              <a:buFont typeface="Wingdings" pitchFamily="2" charset="2"/>
              <a:buChar char="q"/>
            </a:pPr>
            <a:r>
              <a:rPr lang="en-US" sz="2200" dirty="0">
                <a:latin typeface="Times New Roman" pitchFamily="18" charset="0"/>
                <a:cs typeface="Times New Roman" pitchFamily="18" charset="0"/>
              </a:rPr>
              <a:t>From the marketing view point an optimal product design would be one that will bring enough profits to the company and at the same time meets the needs and expectations of the customer.</a:t>
            </a:r>
          </a:p>
          <a:p>
            <a:pPr algn="just">
              <a:lnSpc>
                <a:spcPct val="150000"/>
              </a:lnSpc>
              <a:buFont typeface="Wingdings" pitchFamily="2" charset="2"/>
              <a:buChar char="q"/>
            </a:pPr>
            <a:r>
              <a:rPr lang="en-US" sz="2200" dirty="0">
                <a:latin typeface="Times New Roman" pitchFamily="18" charset="0"/>
                <a:cs typeface="Times New Roman" pitchFamily="18" charset="0"/>
              </a:rPr>
              <a:t>Aesthetic and functional qualities of the product -  any change in design should be properly planned and thought off before implementation</a:t>
            </a:r>
            <a:r>
              <a:rPr lang="en-US" sz="2400" dirty="0"/>
              <a:t>.</a:t>
            </a:r>
            <a:endParaRPr lang="en-IN" sz="2200" dirty="0">
              <a:latin typeface="Times New Roman" pitchFamily="18" charset="0"/>
              <a:cs typeface="Times New Roman"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4807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Product Life Cycle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cstate="print"/>
          <a:srcRect/>
          <a:stretch>
            <a:fillRect/>
          </a:stretch>
        </p:blipFill>
        <p:spPr bwMode="auto">
          <a:xfrm>
            <a:off x="1259632" y="1340768"/>
            <a:ext cx="6741348" cy="4857048"/>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p:spPr>
        <p:txBody>
          <a:bodyPr>
            <a:normAutofit/>
          </a:bodyPr>
          <a:lstStyle/>
          <a:p>
            <a:r>
              <a:rPr lang="en-US" sz="3200"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Pricing</a:t>
            </a:r>
            <a:endParaRPr lang="en-IN" sz="3200"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908720"/>
            <a:ext cx="8229600" cy="5544616"/>
          </a:xfrm>
        </p:spPr>
        <p:txBody>
          <a:bodyPr>
            <a:normAutofit/>
          </a:bodyPr>
          <a:lstStyle/>
          <a:p>
            <a:pPr algn="just">
              <a:lnSpc>
                <a:spcPct val="200000"/>
              </a:lnSpc>
              <a:buFont typeface="Wingdings" pitchFamily="2" charset="2"/>
              <a:buChar char="q"/>
            </a:pPr>
            <a:r>
              <a:rPr lang="en-IN" sz="2200" dirty="0">
                <a:latin typeface="Times New Roman" pitchFamily="18" charset="0"/>
                <a:cs typeface="Times New Roman" pitchFamily="18" charset="0"/>
              </a:rPr>
              <a:t>Price refers to the exchange value of a product or a service.</a:t>
            </a:r>
          </a:p>
          <a:p>
            <a:pPr algn="just">
              <a:lnSpc>
                <a:spcPct val="200000"/>
              </a:lnSpc>
              <a:buFont typeface="Wingdings" pitchFamily="2" charset="2"/>
              <a:buChar char="q"/>
            </a:pPr>
            <a:r>
              <a:rPr lang="en-IN" sz="2200" dirty="0">
                <a:latin typeface="Times New Roman" pitchFamily="18" charset="0"/>
                <a:cs typeface="Times New Roman" pitchFamily="18" charset="0"/>
              </a:rPr>
              <a:t>One of the most important tasks of a marketing manager is pricing. </a:t>
            </a:r>
          </a:p>
          <a:p>
            <a:pPr algn="just">
              <a:lnSpc>
                <a:spcPct val="200000"/>
              </a:lnSpc>
              <a:buFont typeface="Wingdings" pitchFamily="2" charset="2"/>
              <a:buChar char="q"/>
            </a:pPr>
            <a:r>
              <a:rPr lang="en-IN" sz="2200" dirty="0">
                <a:latin typeface="Times New Roman" pitchFamily="18" charset="0"/>
                <a:cs typeface="Times New Roman" pitchFamily="18" charset="0"/>
              </a:rPr>
              <a:t>Unless the product is priced properly, all other elements of marketing mix may be rendered ineffective.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597352"/>
          </a:xfrm>
        </p:spPr>
        <p:txBody>
          <a:bodyPr>
            <a:noAutofit/>
          </a:bodyPr>
          <a:lstStyle/>
          <a:p>
            <a:pPr algn="just">
              <a:lnSpc>
                <a:spcPct val="150000"/>
              </a:lnSpc>
              <a:buNone/>
            </a:pPr>
            <a:r>
              <a:rPr lang="en-IN" sz="2400" dirty="0">
                <a:solidFill>
                  <a:srgbClr val="FF0000"/>
                </a:solidFill>
                <a:latin typeface="Times New Roman" pitchFamily="18" charset="0"/>
                <a:cs typeface="Times New Roman" pitchFamily="18" charset="0"/>
              </a:rPr>
              <a:t>The </a:t>
            </a:r>
            <a:r>
              <a:rPr lang="en-IN" sz="2400" b="1" i="1" dirty="0">
                <a:solidFill>
                  <a:srgbClr val="FF0000"/>
                </a:solidFill>
                <a:latin typeface="Times New Roman" pitchFamily="18" charset="0"/>
                <a:cs typeface="Times New Roman" pitchFamily="18" charset="0"/>
              </a:rPr>
              <a:t>key factors</a:t>
            </a:r>
            <a:r>
              <a:rPr lang="en-IN" sz="2400" dirty="0">
                <a:solidFill>
                  <a:srgbClr val="FF0000"/>
                </a:solidFill>
                <a:latin typeface="Times New Roman" pitchFamily="18" charset="0"/>
                <a:cs typeface="Times New Roman" pitchFamily="18" charset="0"/>
              </a:rPr>
              <a:t> to be considered in pricing are:</a:t>
            </a:r>
          </a:p>
          <a:p>
            <a:pPr algn="just">
              <a:lnSpc>
                <a:spcPct val="150000"/>
              </a:lnSpc>
              <a:buFont typeface="Wingdings" pitchFamily="2" charset="2"/>
              <a:buChar char="ü"/>
            </a:pPr>
            <a:r>
              <a:rPr lang="en-IN" sz="2200" dirty="0">
                <a:latin typeface="Times New Roman" pitchFamily="18" charset="0"/>
                <a:cs typeface="Times New Roman" pitchFamily="18" charset="0"/>
              </a:rPr>
              <a:t>Nature and extent of consumer demand</a:t>
            </a:r>
          </a:p>
          <a:p>
            <a:pPr algn="just">
              <a:lnSpc>
                <a:spcPct val="150000"/>
              </a:lnSpc>
              <a:buFont typeface="Wingdings" pitchFamily="2" charset="2"/>
              <a:buChar char="ü"/>
            </a:pPr>
            <a:r>
              <a:rPr lang="en-IN" sz="2200" dirty="0">
                <a:latin typeface="Times New Roman" pitchFamily="18" charset="0"/>
                <a:cs typeface="Times New Roman" pitchFamily="18" charset="0"/>
              </a:rPr>
              <a:t>Total cost associated with the product</a:t>
            </a:r>
          </a:p>
          <a:p>
            <a:pPr algn="just">
              <a:lnSpc>
                <a:spcPct val="150000"/>
              </a:lnSpc>
              <a:buFont typeface="Wingdings" pitchFamily="2" charset="2"/>
              <a:buChar char="ü"/>
            </a:pPr>
            <a:r>
              <a:rPr lang="en-IN" sz="2200" dirty="0">
                <a:latin typeface="Times New Roman" pitchFamily="18" charset="0"/>
                <a:cs typeface="Times New Roman" pitchFamily="18" charset="0"/>
              </a:rPr>
              <a:t>Legal aspects</a:t>
            </a:r>
          </a:p>
          <a:p>
            <a:pPr algn="just">
              <a:lnSpc>
                <a:spcPct val="150000"/>
              </a:lnSpc>
              <a:buFont typeface="Wingdings" pitchFamily="2" charset="2"/>
              <a:buChar char="ü"/>
            </a:pPr>
            <a:r>
              <a:rPr lang="en-IN" sz="2200" dirty="0">
                <a:latin typeface="Times New Roman" pitchFamily="18" charset="0"/>
                <a:cs typeface="Times New Roman" pitchFamily="18" charset="0"/>
              </a:rPr>
              <a:t>Prices for similar products offered by competing firms</a:t>
            </a:r>
          </a:p>
          <a:p>
            <a:pPr algn="just">
              <a:lnSpc>
                <a:spcPct val="150000"/>
              </a:lnSpc>
              <a:buFont typeface="Wingdings" pitchFamily="2" charset="2"/>
              <a:buChar char="ü"/>
            </a:pPr>
            <a:r>
              <a:rPr lang="en-IN" sz="2200" dirty="0">
                <a:latin typeface="Times New Roman" pitchFamily="18" charset="0"/>
                <a:cs typeface="Times New Roman" pitchFamily="18" charset="0"/>
              </a:rPr>
              <a:t>General economic conditions</a:t>
            </a:r>
          </a:p>
          <a:p>
            <a:pPr algn="just">
              <a:lnSpc>
                <a:spcPct val="150000"/>
              </a:lnSpc>
              <a:buFont typeface="Wingdings" pitchFamily="2" charset="2"/>
              <a:buChar char="ü"/>
            </a:pPr>
            <a:r>
              <a:rPr lang="en-IN" sz="2200" dirty="0">
                <a:latin typeface="Times New Roman" pitchFamily="18" charset="0"/>
                <a:cs typeface="Times New Roman" pitchFamily="18" charset="0"/>
              </a:rPr>
              <a:t>Type of customers</a:t>
            </a:r>
          </a:p>
          <a:p>
            <a:pPr algn="just">
              <a:lnSpc>
                <a:spcPct val="150000"/>
              </a:lnSpc>
              <a:buFont typeface="Wingdings" pitchFamily="2" charset="2"/>
              <a:buChar char="ü"/>
            </a:pPr>
            <a:r>
              <a:rPr lang="en-IN" sz="2200" dirty="0">
                <a:latin typeface="Times New Roman" pitchFamily="18" charset="0"/>
                <a:cs typeface="Times New Roman" pitchFamily="18" charset="0"/>
              </a:rPr>
              <a:t>Method of promotion</a:t>
            </a:r>
          </a:p>
          <a:p>
            <a:pPr algn="just">
              <a:lnSpc>
                <a:spcPct val="150000"/>
              </a:lnSpc>
              <a:buFont typeface="Wingdings" pitchFamily="2" charset="2"/>
              <a:buChar char="ü"/>
            </a:pPr>
            <a:r>
              <a:rPr lang="en-IN" sz="2200" dirty="0">
                <a:latin typeface="Times New Roman" pitchFamily="18" charset="0"/>
                <a:cs typeface="Times New Roman" pitchFamily="18" charset="0"/>
              </a:rPr>
              <a:t>Distribution channels</a:t>
            </a:r>
          </a:p>
          <a:p>
            <a:pPr algn="just">
              <a:lnSpc>
                <a:spcPct val="150000"/>
              </a:lnSpc>
              <a:buFont typeface="Wingdings" pitchFamily="2" charset="2"/>
              <a:buChar char="ü"/>
            </a:pPr>
            <a:r>
              <a:rPr lang="en-IN" sz="2200" dirty="0">
                <a:latin typeface="Times New Roman" pitchFamily="18" charset="0"/>
                <a:cs typeface="Times New Roman" pitchFamily="18" charset="0"/>
              </a:rPr>
              <a:t>Life cycle of the product</a:t>
            </a:r>
          </a:p>
          <a:p>
            <a:pPr algn="just">
              <a:lnSpc>
                <a:spcPct val="150000"/>
              </a:lnSpc>
              <a:buFont typeface="Wingdings" pitchFamily="2" charset="2"/>
              <a:buChar char="ü"/>
            </a:pPr>
            <a:r>
              <a:rPr lang="en-IN" sz="2200" dirty="0">
                <a:latin typeface="Times New Roman" pitchFamily="18" charset="0"/>
                <a:cs typeface="Times New Roman" pitchFamily="18" charset="0"/>
              </a:rPr>
              <a:t>Profit considerations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80728"/>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Pricing Methods</a:t>
            </a:r>
          </a:p>
        </p:txBody>
      </p:sp>
      <p:sp>
        <p:nvSpPr>
          <p:cNvPr id="3" name="Content Placeholder 2"/>
          <p:cNvSpPr>
            <a:spLocks noGrp="1"/>
          </p:cNvSpPr>
          <p:nvPr>
            <p:ph idx="1"/>
          </p:nvPr>
        </p:nvSpPr>
        <p:spPr>
          <a:xfrm>
            <a:off x="323528" y="1196752"/>
            <a:ext cx="8640960" cy="5328592"/>
          </a:xfrm>
        </p:spPr>
        <p:txBody>
          <a:bodyPr>
            <a:norm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Cost Plus Approach</a:t>
            </a:r>
          </a:p>
          <a:p>
            <a:pPr algn="just">
              <a:lnSpc>
                <a:spcPct val="200000"/>
              </a:lnSpc>
              <a:buFont typeface="Wingdings" pitchFamily="2" charset="2"/>
              <a:buChar char="v"/>
            </a:pPr>
            <a:r>
              <a:rPr lang="en-US" sz="2200" dirty="0">
                <a:latin typeface="Times New Roman" pitchFamily="18" charset="0"/>
                <a:cs typeface="Times New Roman" pitchFamily="18" charset="0"/>
              </a:rPr>
              <a:t>The Market or Demand Approach</a:t>
            </a:r>
            <a:endParaRPr lang="en-IN" sz="2200" dirty="0">
              <a:latin typeface="Times New Roman" pitchFamily="18" charset="0"/>
              <a:cs typeface="Times New Roman"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Pricing Methods</a:t>
            </a:r>
          </a:p>
        </p:txBody>
      </p:sp>
      <p:sp>
        <p:nvSpPr>
          <p:cNvPr id="3" name="Content Placeholder 2"/>
          <p:cNvSpPr>
            <a:spLocks noGrp="1"/>
          </p:cNvSpPr>
          <p:nvPr>
            <p:ph idx="1"/>
          </p:nvPr>
        </p:nvSpPr>
        <p:spPr>
          <a:xfrm>
            <a:off x="683568" y="908720"/>
            <a:ext cx="8064896" cy="5217443"/>
          </a:xfrm>
        </p:spPr>
        <p:txBody>
          <a:bodyPr>
            <a:noAutofit/>
          </a:bodyPr>
          <a:lstStyle/>
          <a:p>
            <a:pPr algn="just">
              <a:lnSpc>
                <a:spcPct val="200000"/>
              </a:lnSpc>
              <a:buFont typeface="Wingdings" pitchFamily="2" charset="2"/>
              <a:buChar char="v"/>
            </a:pPr>
            <a:r>
              <a:rPr lang="en-IN" sz="2000" dirty="0">
                <a:latin typeface="Times New Roman" pitchFamily="18" charset="0"/>
                <a:cs typeface="Times New Roman" pitchFamily="18" charset="0"/>
              </a:rPr>
              <a:t>Cost Plus Approach:- this approach is one of the commonly used methods of pricing. In this method total cost associated with production, selling and distribution are added with the desired profit.</a:t>
            </a:r>
          </a:p>
          <a:p>
            <a:pPr marL="342900" lvl="1" indent="-342900" algn="just">
              <a:lnSpc>
                <a:spcPct val="200000"/>
              </a:lnSpc>
              <a:buNone/>
            </a:pPr>
            <a:r>
              <a:rPr lang="en-US" sz="2000" i="1" dirty="0">
                <a:latin typeface="Times New Roman" pitchFamily="18" charset="0"/>
                <a:cs typeface="Times New Roman" pitchFamily="18" charset="0"/>
              </a:rPr>
              <a:t>i.e. </a:t>
            </a:r>
            <a:r>
              <a:rPr lang="en-IN" sz="2000" i="1" dirty="0">
                <a:latin typeface="Times New Roman" pitchFamily="18" charset="0"/>
                <a:cs typeface="Times New Roman" pitchFamily="18" charset="0"/>
              </a:rPr>
              <a:t>Product Price = Fixed Cost per Unit + Variable Cost per Unit + Profit margin</a:t>
            </a:r>
          </a:p>
          <a:p>
            <a:pPr algn="just"/>
            <a:endParaRPr lang="en-IN" sz="2000" dirty="0">
              <a:latin typeface="Times New Roman" pitchFamily="18" charset="0"/>
              <a:cs typeface="Times New Roman"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Pricing Methods</a:t>
            </a:r>
            <a:endParaRPr lang="en-IN" sz="3200" dirty="0"/>
          </a:p>
        </p:txBody>
      </p:sp>
      <p:sp>
        <p:nvSpPr>
          <p:cNvPr id="3" name="Content Placeholder 2"/>
          <p:cNvSpPr>
            <a:spLocks noGrp="1"/>
          </p:cNvSpPr>
          <p:nvPr>
            <p:ph idx="1"/>
          </p:nvPr>
        </p:nvSpPr>
        <p:spPr/>
        <p:txBody>
          <a:bodyPr>
            <a:normAutofit/>
          </a:bodyPr>
          <a:lstStyle/>
          <a:p>
            <a:pPr algn="just">
              <a:lnSpc>
                <a:spcPct val="200000"/>
              </a:lnSpc>
              <a:buFont typeface="Wingdings" pitchFamily="2" charset="2"/>
              <a:buChar char="v"/>
            </a:pPr>
            <a:r>
              <a:rPr lang="en-IN" sz="2000" dirty="0">
                <a:latin typeface="Times New Roman" pitchFamily="18" charset="0"/>
                <a:cs typeface="Times New Roman" pitchFamily="18" charset="0"/>
              </a:rPr>
              <a:t>The Market or Demand Approach:- In this method of pricing, prices are not based on the total cost but allow the market forces (supply and demand) to determine the product price.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80728"/>
          </a:xfrm>
        </p:spPr>
        <p:txBody>
          <a:bodyPr>
            <a:noAutofit/>
          </a:bodyPr>
          <a:lstStyle/>
          <a:p>
            <a:pPr>
              <a:lnSpc>
                <a:spcPct val="20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 Market or Demand Approach</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3074" name="Picture 2"/>
          <p:cNvPicPr>
            <a:picLocks noGrp="1" noChangeAspect="1" noChangeArrowheads="1"/>
          </p:cNvPicPr>
          <p:nvPr>
            <p:ph idx="1"/>
          </p:nvPr>
        </p:nvPicPr>
        <p:blipFill>
          <a:blip r:embed="rId2" cstate="print"/>
          <a:srcRect/>
          <a:stretch>
            <a:fillRect/>
          </a:stretch>
        </p:blipFill>
        <p:spPr bwMode="auto">
          <a:xfrm>
            <a:off x="1259632" y="1042522"/>
            <a:ext cx="6408712" cy="519479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504056"/>
          </a:xfrm>
        </p:spPr>
        <p:txBody>
          <a:bodyPr>
            <a:noAutofit/>
          </a:bodyPr>
          <a:lstStyle/>
          <a:p>
            <a:pPr>
              <a:lnSpc>
                <a:spcPct val="20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Break Even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251520" y="1124744"/>
            <a:ext cx="8559502" cy="5040559"/>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504056"/>
          </a:xfrm>
        </p:spPr>
        <p:txBody>
          <a:bodyPr>
            <a:noAutofit/>
          </a:bodyPr>
          <a:lstStyle/>
          <a:p>
            <a:pPr>
              <a:lnSpc>
                <a:spcPct val="20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Break Even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1043608" y="1772816"/>
            <a:ext cx="7556515" cy="2399704"/>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1008112"/>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Promotion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96752"/>
            <a:ext cx="8435280" cy="4929411"/>
          </a:xfrm>
        </p:spPr>
        <p:txBody>
          <a:bodyPr>
            <a:normAutofit/>
          </a:bodyPr>
          <a:lstStyle/>
          <a:p>
            <a:pPr>
              <a:lnSpc>
                <a:spcPct val="200000"/>
              </a:lnSpc>
              <a:buNone/>
            </a:pPr>
            <a:endParaRPr lang="en-US" sz="2000" dirty="0">
              <a:latin typeface="Times New Roman" pitchFamily="18" charset="0"/>
              <a:cs typeface="Times New Roman" pitchFamily="18" charset="0"/>
            </a:endParaRPr>
          </a:p>
          <a:p>
            <a:pPr algn="just">
              <a:lnSpc>
                <a:spcPct val="200000"/>
              </a:lnSpc>
              <a:buNone/>
            </a:pPr>
            <a:r>
              <a:rPr lang="en-US" sz="2000" dirty="0">
                <a:latin typeface="Times New Roman" pitchFamily="18" charset="0"/>
                <a:cs typeface="Times New Roman" pitchFamily="18" charset="0"/>
              </a:rPr>
              <a:t>	Promotion is communication to the potential buyer and includes all those activities that will facilitate the sale of a good or service or acceptance of an idea. Three important types of promotion are advertising, personnel selling and sales promotion.</a:t>
            </a:r>
            <a:endParaRPr lang="en-IN" sz="2000" dirty="0">
              <a:latin typeface="Times New Roman" pitchFamily="18" charset="0"/>
              <a:cs typeface="Times New Roman"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Advertising</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00000"/>
              </a:lnSpc>
              <a:buNone/>
            </a:pPr>
            <a:r>
              <a:rPr lang="en-US" sz="2000" dirty="0">
                <a:latin typeface="Times New Roman" pitchFamily="18" charset="0"/>
                <a:cs typeface="Times New Roman" pitchFamily="18" charset="0"/>
              </a:rPr>
              <a:t>	Advertising is any form of paid non-personal presentation of ideas, goods or services for the purpose of inducing people to buy In short, “advertising is salesmanship without a personal salesman”.</a:t>
            </a:r>
            <a:endParaRPr lang="en-IN" sz="2000" dirty="0">
              <a:latin typeface="Times New Roman" pitchFamily="18" charset="0"/>
              <a:cs typeface="Times New Roman"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Objectives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95536" y="980728"/>
            <a:ext cx="8568952" cy="5497091"/>
          </a:xfrm>
        </p:spPr>
        <p:txBody>
          <a:bodyPr>
            <a:noAutofit/>
          </a:bodyPr>
          <a:lstStyle/>
          <a:p>
            <a:pPr algn="just">
              <a:lnSpc>
                <a:spcPct val="150000"/>
              </a:lnSpc>
              <a:buFont typeface="Wingdings" pitchFamily="2" charset="2"/>
              <a:buChar char="ü"/>
            </a:pPr>
            <a:r>
              <a:rPr lang="en-IN" sz="2400" dirty="0">
                <a:latin typeface="Times New Roman" pitchFamily="18" charset="0"/>
                <a:cs typeface="Times New Roman" pitchFamily="18" charset="0"/>
              </a:rPr>
              <a:t> </a:t>
            </a:r>
            <a:r>
              <a:rPr lang="en-IN" sz="2000" dirty="0">
                <a:latin typeface="Times New Roman" pitchFamily="18" charset="0"/>
                <a:cs typeface="Times New Roman" pitchFamily="18" charset="0"/>
              </a:rPr>
              <a:t>Providing general information about the existence of the product.</a:t>
            </a:r>
          </a:p>
          <a:p>
            <a:pPr algn="just">
              <a:lnSpc>
                <a:spcPct val="150000"/>
              </a:lnSpc>
              <a:buFont typeface="Wingdings" pitchFamily="2" charset="2"/>
              <a:buChar char="ü"/>
            </a:pPr>
            <a:r>
              <a:rPr lang="en-IN" sz="2000" dirty="0">
                <a:latin typeface="Times New Roman" pitchFamily="18" charset="0"/>
                <a:cs typeface="Times New Roman" pitchFamily="18" charset="0"/>
              </a:rPr>
              <a:t>Providing technical information about its functional characteristics or utilitarian purposes.</a:t>
            </a:r>
          </a:p>
          <a:p>
            <a:pPr algn="just">
              <a:lnSpc>
                <a:spcPct val="150000"/>
              </a:lnSpc>
              <a:buFont typeface="Wingdings" pitchFamily="2" charset="2"/>
              <a:buChar char="ü"/>
            </a:pPr>
            <a:r>
              <a:rPr lang="en-IN" sz="2000" dirty="0">
                <a:latin typeface="Times New Roman" pitchFamily="18" charset="0"/>
                <a:cs typeface="Times New Roman" pitchFamily="18" charset="0"/>
              </a:rPr>
              <a:t>Drawing the customer’s attention to those attributes of the product which he wants.</a:t>
            </a:r>
          </a:p>
          <a:p>
            <a:pPr algn="just">
              <a:lnSpc>
                <a:spcPct val="150000"/>
              </a:lnSpc>
              <a:buFont typeface="Wingdings" pitchFamily="2" charset="2"/>
              <a:buChar char="ü"/>
            </a:pPr>
            <a:r>
              <a:rPr lang="en-IN" sz="2000" dirty="0">
                <a:latin typeface="Times New Roman" pitchFamily="18" charset="0"/>
                <a:cs typeface="Times New Roman" pitchFamily="18" charset="0"/>
              </a:rPr>
              <a:t>Winning undecided customers by exhibiting possible attractions (such as colour, design, novelty and price) that may persuade him to prefer the product to one offered by competitors.</a:t>
            </a:r>
          </a:p>
          <a:p>
            <a:pPr algn="just">
              <a:lnSpc>
                <a:spcPct val="150000"/>
              </a:lnSpc>
              <a:buFont typeface="Wingdings" pitchFamily="2" charset="2"/>
              <a:buChar char="ü"/>
            </a:pPr>
            <a:r>
              <a:rPr lang="en-IN" sz="2000" dirty="0">
                <a:latin typeface="Times New Roman" pitchFamily="18" charset="0"/>
                <a:cs typeface="Times New Roman" pitchFamily="18" charset="0"/>
              </a:rPr>
              <a:t>Creating demand among a passive population of customers.</a:t>
            </a:r>
          </a:p>
          <a:p>
            <a:pPr>
              <a:lnSpc>
                <a:spcPct val="150000"/>
              </a:lnSpc>
              <a:buFont typeface="Wingdings" pitchFamily="2" charset="2"/>
              <a:buChar char="ü"/>
            </a:pPr>
            <a:r>
              <a:rPr lang="en-IN" sz="2000" dirty="0">
                <a:latin typeface="Times New Roman" pitchFamily="18" charset="0"/>
                <a:cs typeface="Times New Roman" pitchFamily="18" charset="0"/>
              </a:rPr>
              <a:t>Educating the customer, or telling him what he should want.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Advertising Medium</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323528" y="908720"/>
            <a:ext cx="8568952" cy="5616624"/>
          </a:xfrm>
        </p:spPr>
        <p:txBody>
          <a:bodyPr>
            <a:normAutofit fontScale="92500" lnSpcReduction="10000"/>
          </a:bodyPr>
          <a:lstStyle/>
          <a:p>
            <a:pPr>
              <a:lnSpc>
                <a:spcPct val="150000"/>
              </a:lnSpc>
              <a:buNone/>
            </a:pPr>
            <a:r>
              <a:rPr lang="en-US" sz="2000" dirty="0">
                <a:latin typeface="Times New Roman" pitchFamily="18" charset="0"/>
                <a:cs typeface="Times New Roman" pitchFamily="18" charset="0"/>
              </a:rPr>
              <a:t>	An advertising medium is a carrier of information to be advertised. The commonly used media for advertising are as follows:</a:t>
            </a:r>
          </a:p>
          <a:p>
            <a:pPr lvl="2">
              <a:lnSpc>
                <a:spcPct val="150000"/>
              </a:lnSpc>
              <a:buFont typeface="Wingdings" pitchFamily="2" charset="2"/>
              <a:buChar char="Ø"/>
            </a:pPr>
            <a:r>
              <a:rPr lang="en-US" sz="2200" dirty="0">
                <a:latin typeface="Times New Roman" pitchFamily="18" charset="0"/>
                <a:cs typeface="Times New Roman" pitchFamily="18" charset="0"/>
              </a:rPr>
              <a:t>Newspapers</a:t>
            </a:r>
          </a:p>
          <a:p>
            <a:pPr lvl="2">
              <a:lnSpc>
                <a:spcPct val="150000"/>
              </a:lnSpc>
              <a:buFont typeface="Wingdings" pitchFamily="2" charset="2"/>
              <a:buChar char="Ø"/>
            </a:pPr>
            <a:r>
              <a:rPr lang="en-US" sz="2200" dirty="0">
                <a:latin typeface="Times New Roman" pitchFamily="18" charset="0"/>
                <a:cs typeface="Times New Roman" pitchFamily="18" charset="0"/>
              </a:rPr>
              <a:t>Magazines</a:t>
            </a:r>
          </a:p>
          <a:p>
            <a:pPr lvl="2">
              <a:lnSpc>
                <a:spcPct val="150000"/>
              </a:lnSpc>
              <a:buFont typeface="Wingdings" pitchFamily="2" charset="2"/>
              <a:buChar char="Ø"/>
            </a:pPr>
            <a:r>
              <a:rPr lang="en-US" sz="2200" dirty="0">
                <a:latin typeface="Times New Roman" pitchFamily="18" charset="0"/>
                <a:cs typeface="Times New Roman" pitchFamily="18" charset="0"/>
              </a:rPr>
              <a:t>Catalogues and leaflets</a:t>
            </a:r>
          </a:p>
          <a:p>
            <a:pPr lvl="2">
              <a:lnSpc>
                <a:spcPct val="150000"/>
              </a:lnSpc>
              <a:buFont typeface="Wingdings" pitchFamily="2" charset="2"/>
              <a:buChar char="Ø"/>
            </a:pPr>
            <a:r>
              <a:rPr lang="en-US" sz="2200" dirty="0">
                <a:latin typeface="Times New Roman" pitchFamily="18" charset="0"/>
                <a:cs typeface="Times New Roman" pitchFamily="18" charset="0"/>
              </a:rPr>
              <a:t>Radio</a:t>
            </a:r>
          </a:p>
          <a:p>
            <a:pPr lvl="2">
              <a:lnSpc>
                <a:spcPct val="150000"/>
              </a:lnSpc>
              <a:buFont typeface="Wingdings" pitchFamily="2" charset="2"/>
              <a:buChar char="Ø"/>
            </a:pPr>
            <a:r>
              <a:rPr lang="en-US" sz="2200" dirty="0">
                <a:latin typeface="Times New Roman" pitchFamily="18" charset="0"/>
                <a:cs typeface="Times New Roman" pitchFamily="18" charset="0"/>
              </a:rPr>
              <a:t>Television</a:t>
            </a:r>
          </a:p>
          <a:p>
            <a:pPr lvl="2">
              <a:lnSpc>
                <a:spcPct val="150000"/>
              </a:lnSpc>
              <a:buFont typeface="Wingdings" pitchFamily="2" charset="2"/>
              <a:buChar char="Ø"/>
            </a:pPr>
            <a:r>
              <a:rPr lang="en-US" sz="2200" dirty="0">
                <a:latin typeface="Times New Roman" pitchFamily="18" charset="0"/>
                <a:cs typeface="Times New Roman" pitchFamily="18" charset="0"/>
              </a:rPr>
              <a:t>Internet</a:t>
            </a:r>
          </a:p>
          <a:p>
            <a:pPr lvl="2">
              <a:lnSpc>
                <a:spcPct val="150000"/>
              </a:lnSpc>
              <a:buFont typeface="Wingdings" pitchFamily="2" charset="2"/>
              <a:buChar char="Ø"/>
            </a:pPr>
            <a:r>
              <a:rPr lang="en-US" sz="2200" dirty="0">
                <a:latin typeface="Times New Roman" pitchFamily="18" charset="0"/>
                <a:cs typeface="Times New Roman" pitchFamily="18" charset="0"/>
              </a:rPr>
              <a:t>Public transports such as buses, trains, etc.</a:t>
            </a:r>
          </a:p>
          <a:p>
            <a:pPr lvl="2">
              <a:lnSpc>
                <a:spcPct val="150000"/>
              </a:lnSpc>
              <a:buFont typeface="Wingdings" pitchFamily="2" charset="2"/>
              <a:buChar char="Ø"/>
            </a:pPr>
            <a:r>
              <a:rPr lang="en-US" sz="2200" dirty="0">
                <a:latin typeface="Times New Roman" pitchFamily="18" charset="0"/>
                <a:cs typeface="Times New Roman" pitchFamily="18" charset="0"/>
              </a:rPr>
              <a:t>Outdoor billboards (hoardings) such as on highways</a:t>
            </a:r>
          </a:p>
          <a:p>
            <a:pPr lvl="2">
              <a:lnSpc>
                <a:spcPct val="150000"/>
              </a:lnSpc>
              <a:buFont typeface="Wingdings" pitchFamily="2" charset="2"/>
              <a:buChar char="Ø"/>
            </a:pPr>
            <a:r>
              <a:rPr lang="en-US" sz="2200" dirty="0">
                <a:latin typeface="Times New Roman" pitchFamily="18" charset="0"/>
                <a:cs typeface="Times New Roman" pitchFamily="18" charset="0"/>
              </a:rPr>
              <a:t>Slides and film shows in cinemas</a:t>
            </a:r>
            <a:endParaRPr lang="en-IN" sz="2200" dirty="0">
              <a:latin typeface="Times New Roman" pitchFamily="18" charset="0"/>
              <a:cs typeface="Times New Roman"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Personal Selling</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200000"/>
              </a:lnSpc>
              <a:buNone/>
            </a:pPr>
            <a:r>
              <a:rPr lang="en-US" sz="2000" dirty="0">
                <a:latin typeface="Times New Roman" pitchFamily="18" charset="0"/>
                <a:cs typeface="Times New Roman" pitchFamily="18" charset="0"/>
              </a:rPr>
              <a:t>	Personal selling refers to oral presentation to one or more customers in a face to face situation to persuade them to purchase the product. It involves two way communications between salesman and buyers.</a:t>
            </a:r>
            <a:endParaRPr lang="en-IN" sz="2000" dirty="0">
              <a:latin typeface="Times New Roman" pitchFamily="18" charset="0"/>
              <a:cs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Personal Selling</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96752"/>
            <a:ext cx="8363272" cy="5184576"/>
          </a:xfrm>
        </p:spPr>
        <p:txBody>
          <a:bodyPr>
            <a:normAutofit/>
          </a:bodyPr>
          <a:lstStyle/>
          <a:p>
            <a:pPr algn="just">
              <a:lnSpc>
                <a:spcPct val="150000"/>
              </a:lnSpc>
              <a:buNone/>
            </a:pPr>
            <a:r>
              <a:rPr lang="en-US" sz="2000" dirty="0">
                <a:latin typeface="Times New Roman" pitchFamily="18" charset="0"/>
                <a:cs typeface="Times New Roman" pitchFamily="18" charset="0"/>
              </a:rPr>
              <a:t>	Some of the positive aspects associated with personal selling are as follows:</a:t>
            </a:r>
          </a:p>
          <a:p>
            <a:pPr algn="just">
              <a:lnSpc>
                <a:spcPct val="150000"/>
              </a:lnSpc>
              <a:buFont typeface="Wingdings" pitchFamily="2" charset="2"/>
              <a:buChar char="Ø"/>
            </a:pPr>
            <a:r>
              <a:rPr lang="en-US" sz="2000" dirty="0">
                <a:latin typeface="Times New Roman" pitchFamily="18" charset="0"/>
                <a:cs typeface="Times New Roman" pitchFamily="18" charset="0"/>
              </a:rPr>
              <a:t>The salesman act as a consultant to the customers</a:t>
            </a:r>
          </a:p>
          <a:p>
            <a:pPr algn="just">
              <a:lnSpc>
                <a:spcPct val="150000"/>
              </a:lnSpc>
              <a:buFont typeface="Wingdings" pitchFamily="2" charset="2"/>
              <a:buChar char="Ø"/>
            </a:pPr>
            <a:r>
              <a:rPr lang="en-US" sz="2000" dirty="0">
                <a:latin typeface="Times New Roman" pitchFamily="18" charset="0"/>
                <a:cs typeface="Times New Roman" pitchFamily="18" charset="0"/>
              </a:rPr>
              <a:t>The salesman can adjust his message and presentation according to the needs of the situation and type of customer</a:t>
            </a:r>
          </a:p>
          <a:p>
            <a:pPr algn="just">
              <a:lnSpc>
                <a:spcPct val="150000"/>
              </a:lnSpc>
              <a:buFont typeface="Wingdings" pitchFamily="2" charset="2"/>
              <a:buChar char="Ø"/>
            </a:pPr>
            <a:r>
              <a:rPr lang="en-US" sz="2000" dirty="0">
                <a:latin typeface="Times New Roman" pitchFamily="18" charset="0"/>
                <a:cs typeface="Times New Roman" pitchFamily="18" charset="0"/>
              </a:rPr>
              <a:t>The salesman can clear the doubts of the customers related with the use or functional aspects of the product</a:t>
            </a:r>
          </a:p>
          <a:p>
            <a:pPr algn="just">
              <a:lnSpc>
                <a:spcPct val="150000"/>
              </a:lnSpc>
              <a:buFont typeface="Wingdings" pitchFamily="2" charset="2"/>
              <a:buChar char="Ø"/>
            </a:pPr>
            <a:r>
              <a:rPr lang="en-US" sz="2000" dirty="0">
                <a:latin typeface="Times New Roman" pitchFamily="18" charset="0"/>
                <a:cs typeface="Times New Roman" pitchFamily="18" charset="0"/>
              </a:rPr>
              <a:t>Personal selling develops social relations with customers and builds reputation of the company</a:t>
            </a:r>
          </a:p>
          <a:p>
            <a:pPr algn="just">
              <a:lnSpc>
                <a:spcPct val="150000"/>
              </a:lnSpc>
              <a:buFont typeface="Wingdings" pitchFamily="2" charset="2"/>
              <a:buChar char="Ø"/>
            </a:pPr>
            <a:r>
              <a:rPr lang="en-US" sz="2000" dirty="0">
                <a:latin typeface="Times New Roman" pitchFamily="18" charset="0"/>
                <a:cs typeface="Times New Roman" pitchFamily="18" charset="0"/>
              </a:rPr>
              <a:t>Quick feed back can be obtained through personnel selling</a:t>
            </a:r>
            <a:endParaRPr lang="en-IN" sz="2000" dirty="0">
              <a:latin typeface="Times New Roman" pitchFamily="18" charset="0"/>
              <a:cs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Sales promotion</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57200" y="1196752"/>
            <a:ext cx="8435280" cy="4929411"/>
          </a:xfrm>
        </p:spPr>
        <p:txBody>
          <a:bodyPr>
            <a:normAutofit/>
          </a:bodyPr>
          <a:lstStyle/>
          <a:p>
            <a:pPr marL="457200" indent="-457200" algn="just">
              <a:lnSpc>
                <a:spcPct val="200000"/>
              </a:lnSpc>
              <a:buFont typeface="Wingdings" pitchFamily="2" charset="2"/>
              <a:buChar char="q"/>
            </a:pPr>
            <a:r>
              <a:rPr lang="en-IN" sz="2000" dirty="0">
                <a:latin typeface="Times New Roman" pitchFamily="18" charset="0"/>
                <a:cs typeface="Times New Roman" pitchFamily="18" charset="0"/>
              </a:rPr>
              <a:t>All the activities that go into the development of sales or those that are intended to raise the demand level for a product very quickly can be termed as sales promotion. </a:t>
            </a:r>
          </a:p>
          <a:p>
            <a:pPr marL="457200" indent="-457200" algn="just">
              <a:lnSpc>
                <a:spcPct val="200000"/>
              </a:lnSpc>
              <a:buFont typeface="Wingdings" pitchFamily="2" charset="2"/>
              <a:buChar char="q"/>
            </a:pPr>
            <a:r>
              <a:rPr lang="en-IN" sz="2000" dirty="0">
                <a:latin typeface="Times New Roman" pitchFamily="18" charset="0"/>
                <a:cs typeface="Times New Roman" pitchFamily="18" charset="0"/>
              </a:rPr>
              <a:t>The idea behind sales promotion is to bring the name of product and that of the manufacturer constantly before wholesalers, retailers and the consumers in order to stimulate the interest in the product.</a:t>
            </a:r>
          </a:p>
          <a:p>
            <a:pPr algn="just"/>
            <a:endParaRPr lang="en-IN" sz="2400" dirty="0">
              <a:latin typeface="Times New Roman" pitchFamily="18" charset="0"/>
              <a:cs typeface="Times New Roman"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Methods of Sales Promotion</a:t>
            </a:r>
          </a:p>
        </p:txBody>
      </p:sp>
      <p:sp>
        <p:nvSpPr>
          <p:cNvPr id="3" name="Content Placeholder 2"/>
          <p:cNvSpPr>
            <a:spLocks noGrp="1"/>
          </p:cNvSpPr>
          <p:nvPr>
            <p:ph idx="1"/>
          </p:nvPr>
        </p:nvSpPr>
        <p:spPr>
          <a:xfrm>
            <a:off x="251520" y="980728"/>
            <a:ext cx="8435280" cy="5472608"/>
          </a:xfrm>
        </p:spPr>
        <p:txBody>
          <a:bodyPr>
            <a:normAutofit/>
          </a:bodyPr>
          <a:lstStyle/>
          <a:p>
            <a:pPr marL="457200" indent="-457200" algn="just">
              <a:lnSpc>
                <a:spcPct val="200000"/>
              </a:lnSpc>
              <a:buFont typeface="Wingdings" pitchFamily="2" charset="2"/>
              <a:buChar char="q"/>
            </a:pPr>
            <a:r>
              <a:rPr lang="en-IN" sz="2000" dirty="0">
                <a:latin typeface="Times New Roman" pitchFamily="18" charset="0"/>
                <a:cs typeface="Times New Roman" pitchFamily="18" charset="0"/>
              </a:rPr>
              <a:t>Consumer Promotion: Persuading consumers to buy; these include samples, money refund offers, prices-off, trading stamps, contest and competitions, etc.</a:t>
            </a:r>
          </a:p>
          <a:p>
            <a:pPr marL="457200" indent="-457200" algn="just">
              <a:lnSpc>
                <a:spcPct val="200000"/>
              </a:lnSpc>
              <a:buFont typeface="Wingdings" pitchFamily="2" charset="2"/>
              <a:buChar char="q"/>
            </a:pPr>
            <a:r>
              <a:rPr lang="en-IN" sz="2000" dirty="0">
                <a:latin typeface="Times New Roman" pitchFamily="18" charset="0"/>
                <a:cs typeface="Times New Roman" pitchFamily="18" charset="0"/>
              </a:rPr>
              <a:t>Trade Promotion: Giving incentives to distributors and others to hold stocks of company products. </a:t>
            </a:r>
          </a:p>
          <a:p>
            <a:pPr marL="457200" indent="-457200" algn="just">
              <a:lnSpc>
                <a:spcPct val="200000"/>
              </a:lnSpc>
              <a:buFont typeface="Wingdings" pitchFamily="2" charset="2"/>
              <a:buChar char="q"/>
            </a:pPr>
            <a:r>
              <a:rPr lang="en-IN" sz="2000" dirty="0">
                <a:latin typeface="Times New Roman" pitchFamily="18" charset="0"/>
                <a:cs typeface="Times New Roman" pitchFamily="18" charset="0"/>
              </a:rPr>
              <a:t>Sales Force Promotion: Offering bonuses, contests etc. for the salesmen.</a:t>
            </a:r>
          </a:p>
          <a:p>
            <a:pPr marL="457200" indent="-457200" algn="just">
              <a:lnSpc>
                <a:spcPct val="200000"/>
              </a:lnSpc>
              <a:buFont typeface="Wingdings" pitchFamily="2" charset="2"/>
              <a:buChar char="q"/>
            </a:pPr>
            <a:r>
              <a:rPr lang="en-IN" sz="2000" dirty="0">
                <a:latin typeface="Times New Roman" pitchFamily="18" charset="0"/>
                <a:cs typeface="Times New Roman" pitchFamily="18" charset="0"/>
              </a:rPr>
              <a:t>Good Public Relations: Developing goodwill among general public and boosting sales.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Methods of Sales Promotion</a:t>
            </a:r>
            <a:endParaRPr lang="en-IN" sz="3200" dirty="0"/>
          </a:p>
        </p:txBody>
      </p:sp>
      <p:sp>
        <p:nvSpPr>
          <p:cNvPr id="3" name="Content Placeholder 2"/>
          <p:cNvSpPr>
            <a:spLocks noGrp="1"/>
          </p:cNvSpPr>
          <p:nvPr>
            <p:ph idx="1"/>
          </p:nvPr>
        </p:nvSpPr>
        <p:spPr>
          <a:xfrm>
            <a:off x="179512" y="980728"/>
            <a:ext cx="8712968" cy="4993035"/>
          </a:xfrm>
        </p:spPr>
        <p:txBody>
          <a:bodyPr>
            <a:noAutofit/>
          </a:bodyPr>
          <a:lstStyle/>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Display: Displays at the point of sale, using posters, banners, placards and leaflets, to attract the customers’ attention to the product.</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Good Customer Relations: Good customer relations are basically the result of the past transactions with the company.</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Speedy handling of complaint, assistance in emergencies, abiding by announced policies, etc. all develops good customer relations and increase future sale of company products.</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Product exhibitions, demonstrations, and conferences.</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Latest product styling and appealing product packaging catch the eye of the consumer and develop sales volume.</a:t>
            </a:r>
          </a:p>
          <a:p>
            <a:pPr algn="just">
              <a:lnSpc>
                <a:spcPct val="150000"/>
              </a:lnSpc>
            </a:pPr>
            <a:endParaRPr lang="en-IN" sz="2400" dirty="0">
              <a:latin typeface="Times New Roman" pitchFamily="18" charset="0"/>
              <a:cs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Physical Distribution/</a:t>
            </a:r>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Channels of Distribution</a:t>
            </a:r>
          </a:p>
        </p:txBody>
      </p:sp>
      <p:sp>
        <p:nvSpPr>
          <p:cNvPr id="3" name="Content Placeholder 2"/>
          <p:cNvSpPr>
            <a:spLocks noGrp="1"/>
          </p:cNvSpPr>
          <p:nvPr>
            <p:ph idx="1"/>
          </p:nvPr>
        </p:nvSpPr>
        <p:spPr>
          <a:xfrm>
            <a:off x="251520" y="1412776"/>
            <a:ext cx="8568952" cy="4968552"/>
          </a:xfrm>
        </p:spPr>
        <p:txBody>
          <a:bodyPr>
            <a:noAutofit/>
          </a:bodyPr>
          <a:lstStyle/>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A channel of distribution is the route that the product follows in its passage from the producer to the consumer.</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Factors affecting this route are:</a:t>
            </a:r>
          </a:p>
          <a:p>
            <a:pPr marL="1257300" lvl="2" indent="-457200" algn="just">
              <a:lnSpc>
                <a:spcPct val="150000"/>
              </a:lnSpc>
              <a:buFont typeface="Wingdings" pitchFamily="2" charset="2"/>
              <a:buChar char="Ø"/>
            </a:pPr>
            <a:r>
              <a:rPr lang="en-IN" sz="2000" dirty="0">
                <a:latin typeface="Times New Roman" pitchFamily="18" charset="0"/>
                <a:cs typeface="Times New Roman" pitchFamily="18" charset="0"/>
              </a:rPr>
              <a:t>Nature of good</a:t>
            </a:r>
          </a:p>
          <a:p>
            <a:pPr marL="1257300" lvl="2" indent="-457200" algn="just">
              <a:lnSpc>
                <a:spcPct val="150000"/>
              </a:lnSpc>
              <a:buFont typeface="Wingdings" pitchFamily="2" charset="2"/>
              <a:buChar char="Ø"/>
            </a:pPr>
            <a:r>
              <a:rPr lang="en-IN" sz="2000" dirty="0">
                <a:latin typeface="Times New Roman" pitchFamily="18" charset="0"/>
                <a:cs typeface="Times New Roman" pitchFamily="18" charset="0"/>
              </a:rPr>
              <a:t>Nature and location of the markets</a:t>
            </a:r>
          </a:p>
          <a:p>
            <a:pPr marL="1257300" lvl="2" indent="-457200" algn="just">
              <a:lnSpc>
                <a:spcPct val="150000"/>
              </a:lnSpc>
              <a:buFont typeface="Wingdings" pitchFamily="2" charset="2"/>
              <a:buChar char="Ø"/>
            </a:pPr>
            <a:r>
              <a:rPr lang="en-IN" sz="2000" dirty="0">
                <a:latin typeface="Times New Roman" pitchFamily="18" charset="0"/>
                <a:cs typeface="Times New Roman" pitchFamily="18" charset="0"/>
              </a:rPr>
              <a:t>Price of the product</a:t>
            </a:r>
          </a:p>
          <a:p>
            <a:pPr marL="1257300" lvl="2" indent="-457200" algn="just">
              <a:lnSpc>
                <a:spcPct val="150000"/>
              </a:lnSpc>
              <a:buFont typeface="Wingdings" pitchFamily="2" charset="2"/>
              <a:buChar char="Ø"/>
            </a:pPr>
            <a:r>
              <a:rPr lang="en-IN" sz="2000" dirty="0">
                <a:latin typeface="Times New Roman" pitchFamily="18" charset="0"/>
                <a:cs typeface="Times New Roman" pitchFamily="18" charset="0"/>
              </a:rPr>
              <a:t>Availability of middlemen, transportation</a:t>
            </a:r>
          </a:p>
          <a:p>
            <a:pPr marL="1257300" lvl="2" indent="-457200" algn="just">
              <a:lnSpc>
                <a:spcPct val="150000"/>
              </a:lnSpc>
              <a:buFont typeface="Wingdings" pitchFamily="2" charset="2"/>
              <a:buChar char="Ø"/>
            </a:pPr>
            <a:r>
              <a:rPr lang="en-IN" sz="2000" dirty="0">
                <a:latin typeface="Times New Roman" pitchFamily="18" charset="0"/>
                <a:cs typeface="Times New Roman" pitchFamily="18" charset="0"/>
              </a:rPr>
              <a:t>Sales effort required by the middlemen, and</a:t>
            </a:r>
          </a:p>
          <a:p>
            <a:pPr marL="1257300" lvl="2" indent="-457200" algn="just">
              <a:lnSpc>
                <a:spcPct val="150000"/>
              </a:lnSpc>
              <a:buFont typeface="Wingdings" pitchFamily="2" charset="2"/>
              <a:buChar char="Ø"/>
            </a:pPr>
            <a:r>
              <a:rPr lang="en-IN" sz="2000" dirty="0">
                <a:latin typeface="Times New Roman" pitchFamily="18" charset="0"/>
                <a:cs typeface="Times New Roman" pitchFamily="18" charset="0"/>
              </a:rPr>
              <a:t>Resources of the manufacturer</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Physical Distribution/</a:t>
            </a:r>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Channels of Distribution</a:t>
            </a:r>
            <a:endParaRPr lang="en-IN" sz="3200" dirty="0"/>
          </a:p>
        </p:txBody>
      </p:sp>
      <p:sp>
        <p:nvSpPr>
          <p:cNvPr id="3" name="Content Placeholder 2"/>
          <p:cNvSpPr>
            <a:spLocks noGrp="1"/>
          </p:cNvSpPr>
          <p:nvPr>
            <p:ph idx="1"/>
          </p:nvPr>
        </p:nvSpPr>
        <p:spPr>
          <a:xfrm>
            <a:off x="457200" y="1412776"/>
            <a:ext cx="8229600" cy="5040560"/>
          </a:xfrm>
        </p:spPr>
        <p:txBody>
          <a:bodyPr>
            <a:normAutofit fontScale="92500" lnSpcReduction="10000"/>
          </a:bodyPr>
          <a:lstStyle/>
          <a:p>
            <a:pPr marL="457200" indent="-457200" algn="just">
              <a:lnSpc>
                <a:spcPct val="200000"/>
              </a:lnSpc>
              <a:buFont typeface="Wingdings" pitchFamily="2" charset="2"/>
              <a:buChar char="q"/>
            </a:pPr>
            <a:r>
              <a:rPr lang="en-US" sz="2200" b="1" dirty="0">
                <a:latin typeface="Times New Roman" pitchFamily="18" charset="0"/>
                <a:cs typeface="Times New Roman" pitchFamily="18" charset="0"/>
              </a:rPr>
              <a:t>Channels of Distribution</a:t>
            </a:r>
            <a:r>
              <a:rPr lang="en-US" sz="2200" dirty="0">
                <a:latin typeface="Times New Roman" pitchFamily="18" charset="0"/>
                <a:cs typeface="Times New Roman" pitchFamily="18" charset="0"/>
              </a:rPr>
              <a:t> mean the intermediaries or the process through which the products are transferred from the producers to ultimate users. </a:t>
            </a:r>
            <a:r>
              <a:rPr lang="en-US" sz="2200" b="1" dirty="0">
                <a:latin typeface="Times New Roman" pitchFamily="18" charset="0"/>
                <a:cs typeface="Times New Roman" pitchFamily="18" charset="0"/>
              </a:rPr>
              <a:t>Physical Distribution</a:t>
            </a:r>
            <a:r>
              <a:rPr lang="en-US" sz="2200" dirty="0">
                <a:latin typeface="Times New Roman" pitchFamily="18" charset="0"/>
                <a:cs typeface="Times New Roman" pitchFamily="18" charset="0"/>
              </a:rPr>
              <a:t> is concerned with the flow of goods to the ultimate consumers which includes transportation, warehousing and inventory management.</a:t>
            </a:r>
            <a:endParaRPr lang="en-IN" sz="2200" dirty="0">
              <a:latin typeface="Times New Roman" pitchFamily="18" charset="0"/>
              <a:cs typeface="Times New Roman" pitchFamily="18" charset="0"/>
            </a:endParaRPr>
          </a:p>
          <a:p>
            <a:pPr marL="457200" indent="-457200" algn="just">
              <a:lnSpc>
                <a:spcPct val="200000"/>
              </a:lnSpc>
              <a:buFont typeface="Wingdings" pitchFamily="2" charset="2"/>
              <a:buChar char="q"/>
            </a:pPr>
            <a:r>
              <a:rPr lang="en-IN" sz="2200" dirty="0">
                <a:latin typeface="Times New Roman" pitchFamily="18" charset="0"/>
                <a:cs typeface="Times New Roman" pitchFamily="18" charset="0"/>
              </a:rPr>
              <a:t>Channel management mainly deals with two problems:</a:t>
            </a:r>
          </a:p>
          <a:p>
            <a:pPr marL="1714500" lvl="3" indent="-457200">
              <a:lnSpc>
                <a:spcPct val="200000"/>
              </a:lnSpc>
              <a:buFont typeface="+mj-lt"/>
              <a:buAutoNum type="arabicPeriod"/>
            </a:pPr>
            <a:r>
              <a:rPr lang="en-IN" sz="2200" dirty="0">
                <a:latin typeface="Times New Roman" pitchFamily="18" charset="0"/>
                <a:cs typeface="Times New Roman" pitchFamily="18" charset="0"/>
              </a:rPr>
              <a:t>Channel selection</a:t>
            </a:r>
          </a:p>
          <a:p>
            <a:pPr marL="1714500" lvl="3" indent="-457200">
              <a:lnSpc>
                <a:spcPct val="200000"/>
              </a:lnSpc>
              <a:buFont typeface="+mj-lt"/>
              <a:buAutoNum type="arabicPeriod"/>
            </a:pPr>
            <a:r>
              <a:rPr lang="en-IN" sz="2200" dirty="0">
                <a:latin typeface="Times New Roman" pitchFamily="18" charset="0"/>
                <a:cs typeface="Times New Roman" pitchFamily="18" charset="0"/>
              </a:rPr>
              <a:t>Maintaining the channel</a:t>
            </a:r>
            <a:endParaRPr lang="en-US" sz="2400" dirty="0">
              <a:latin typeface="Times New Roman" pitchFamily="18" charset="0"/>
              <a:cs typeface="Times New Roman" pitchFamily="18" charset="0"/>
            </a:endParaRPr>
          </a:p>
          <a:p>
            <a:pPr>
              <a:lnSpc>
                <a:spcPct val="200000"/>
              </a:lnSpc>
              <a:buNone/>
            </a:pPr>
            <a:endParaRPr lang="en-IN" sz="2400" dirty="0">
              <a:latin typeface="Times New Roman" pitchFamily="18" charset="0"/>
              <a:cs typeface="Times New Roman" pitchFamily="18" charset="0"/>
            </a:endParaRPr>
          </a:p>
          <a:p>
            <a:pPr>
              <a:lnSpc>
                <a:spcPct val="200000"/>
              </a:lnSpc>
              <a:buNone/>
            </a:pPr>
            <a:endParaRPr lang="en-US" sz="2400" dirty="0">
              <a:latin typeface="Times New Roman" pitchFamily="18" charset="0"/>
              <a:cs typeface="Times New Roman" pitchFamily="18" charset="0"/>
            </a:endParaRPr>
          </a:p>
          <a:p>
            <a:pPr>
              <a:lnSpc>
                <a:spcPct val="200000"/>
              </a:lnSpc>
              <a:buNone/>
            </a:pPr>
            <a:endParaRPr lang="en-US" sz="2400" dirty="0">
              <a:latin typeface="Times New Roman" pitchFamily="18" charset="0"/>
              <a:cs typeface="Times New Roman"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96000"/>
          </a:xfrm>
        </p:spPr>
        <p:txBody>
          <a:bodyPr>
            <a:noAutofit/>
          </a:bodyPr>
          <a:lstStyle/>
          <a:p>
            <a:pPr marL="0" indent="0" algn="just">
              <a:buNone/>
            </a:pPr>
            <a:r>
              <a:rPr lang="en-IN" b="1" u="sng"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1. Channel selection: </a:t>
            </a:r>
          </a:p>
          <a:p>
            <a:pPr marL="457200" indent="-457200" algn="just">
              <a:lnSpc>
                <a:spcPct val="150000"/>
              </a:lnSpc>
              <a:buNone/>
            </a:pPr>
            <a:r>
              <a:rPr lang="en-IN" sz="2400" dirty="0">
                <a:latin typeface="Times New Roman" pitchFamily="18" charset="0"/>
                <a:cs typeface="Times New Roman" pitchFamily="18" charset="0"/>
              </a:rPr>
              <a:t>	</a:t>
            </a:r>
            <a:r>
              <a:rPr lang="en-IN" sz="2000" dirty="0">
                <a:latin typeface="Times New Roman" pitchFamily="18" charset="0"/>
                <a:cs typeface="Times New Roman" pitchFamily="18" charset="0"/>
              </a:rPr>
              <a:t>Three policy alternatives may be considered in the selection of the channel:</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The policy of general or intensive distribution whereby the firm seeks to obtain the widest possible distribution for its product by allowing it to be sold everywhere by anyone willing to stock it.</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The policy of selective distribution, where the manufacturer chooses only those outlets that are best able to serve that company’s needs.</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The policy of using exclusive dealerships, which allows only one distributor to stock and sell the product in a given market.</a:t>
            </a:r>
          </a:p>
          <a:p>
            <a:pPr algn="just"/>
            <a:endParaRPr lang="en-IN" sz="2400" dirty="0">
              <a:latin typeface="Times New Roman" pitchFamily="18" charset="0"/>
              <a:cs typeface="Times New Roman"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496944" cy="5865515"/>
          </a:xfrm>
        </p:spPr>
        <p:txBody>
          <a:bodyPr>
            <a:normAutofit/>
          </a:bodyPr>
          <a:lstStyle/>
          <a:p>
            <a:pPr marL="457200" indent="-457200" algn="just">
              <a:buNone/>
            </a:pPr>
            <a:r>
              <a:rPr lang="en-IN" b="1" u="sng"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2. Maintaining the channel:</a:t>
            </a:r>
          </a:p>
          <a:p>
            <a:pPr algn="just">
              <a:buNone/>
            </a:pP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It constitutes of 3 aspects:</a:t>
            </a:r>
            <a:endParaRPr lang="en-IN" sz="2000" dirty="0">
              <a:latin typeface="Times New Roman" pitchFamily="18" charset="0"/>
              <a:cs typeface="Times New Roman" pitchFamily="18" charset="0"/>
            </a:endParaRP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Ensure that the terms of contract are followed by all parties.</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Maintain good relations with the middlemen and encourage them to cooperate fully.</a:t>
            </a:r>
          </a:p>
          <a:p>
            <a:pPr marL="457200" indent="-457200" algn="just">
              <a:lnSpc>
                <a:spcPct val="150000"/>
              </a:lnSpc>
              <a:buFont typeface="Wingdings" pitchFamily="2" charset="2"/>
              <a:buChar char="q"/>
            </a:pPr>
            <a:r>
              <a:rPr lang="en-IN" sz="2000" dirty="0">
                <a:latin typeface="Times New Roman" pitchFamily="18" charset="0"/>
                <a:cs typeface="Times New Roman" pitchFamily="18" charset="0"/>
              </a:rPr>
              <a:t>Represent the company to the middlemen by seeing that sufficient cooperation and assurance are provided.</a:t>
            </a:r>
          </a:p>
          <a:p>
            <a:pPr algn="just">
              <a:buNone/>
            </a:pPr>
            <a:endParaRPr lang="en-IN" sz="2400" dirty="0">
              <a:latin typeface="Times New Roman" pitchFamily="18" charset="0"/>
              <a:cs typeface="Times New Roman" pitchFamily="18" charset="0"/>
            </a:endParaRPr>
          </a:p>
          <a:p>
            <a:pPr algn="just">
              <a:buNone/>
            </a:pPr>
            <a:endParaRPr lang="en-IN" sz="2400" dirty="0">
              <a:latin typeface="Times New Roman" pitchFamily="18" charset="0"/>
              <a:cs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332656"/>
            <a:ext cx="8208912" cy="5793507"/>
          </a:xfrm>
        </p:spPr>
        <p:txBody>
          <a:bodyPr>
            <a:normAutofit/>
          </a:bodyPr>
          <a:lstStyle/>
          <a:p>
            <a:pPr marL="457200" indent="-457200" algn="ctr">
              <a:buNone/>
            </a:pPr>
            <a:r>
              <a:rPr lang="en-IN" b="1" u="sng"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Types of Distribution channels:</a:t>
            </a:r>
          </a:p>
          <a:p>
            <a:pPr algn="just">
              <a:buNone/>
            </a:pPr>
            <a:endParaRPr lang="en-US" sz="2000" dirty="0">
              <a:latin typeface="Times New Roman" pitchFamily="18" charset="0"/>
              <a:cs typeface="Times New Roman" pitchFamily="18" charset="0"/>
            </a:endParaRPr>
          </a:p>
          <a:p>
            <a:pPr algn="just">
              <a:lnSpc>
                <a:spcPct val="200000"/>
              </a:lnSpc>
              <a:buFont typeface="Wingdings" pitchFamily="2" charset="2"/>
              <a:buChar char="q"/>
            </a:pPr>
            <a:r>
              <a:rPr lang="en-US" sz="2000" dirty="0">
                <a:latin typeface="Times New Roman" pitchFamily="18" charset="0"/>
                <a:cs typeface="Times New Roman" pitchFamily="18" charset="0"/>
              </a:rPr>
              <a:t>Direct Sale: This is the simplest form of distribution channel which involves the manufacturer and the consumers.</a:t>
            </a:r>
          </a:p>
          <a:p>
            <a:pPr algn="just">
              <a:lnSpc>
                <a:spcPct val="200000"/>
              </a:lnSpc>
              <a:buFont typeface="Wingdings" pitchFamily="2" charset="2"/>
              <a:buChar char="q"/>
            </a:pPr>
            <a:r>
              <a:rPr lang="en-US" sz="2000" dirty="0">
                <a:latin typeface="Times New Roman" pitchFamily="18" charset="0"/>
                <a:cs typeface="Times New Roman" pitchFamily="18" charset="0"/>
              </a:rPr>
              <a:t>Sale through Retailer.</a:t>
            </a:r>
          </a:p>
          <a:p>
            <a:pPr algn="just">
              <a:lnSpc>
                <a:spcPct val="200000"/>
              </a:lnSpc>
              <a:buFont typeface="Wingdings" pitchFamily="2" charset="2"/>
              <a:buChar char="q"/>
            </a:pPr>
            <a:r>
              <a:rPr lang="en-US" sz="2000" dirty="0">
                <a:latin typeface="Times New Roman" pitchFamily="18" charset="0"/>
                <a:cs typeface="Times New Roman" pitchFamily="18" charset="0"/>
              </a:rPr>
              <a:t>Sale </a:t>
            </a:r>
            <a:r>
              <a:rPr lang="en-US" sz="2000">
                <a:latin typeface="Times New Roman" pitchFamily="18" charset="0"/>
                <a:cs typeface="Times New Roman" pitchFamily="18" charset="0"/>
              </a:rPr>
              <a:t>through Wholesaler. </a:t>
            </a:r>
            <a:endParaRPr lang="en-US" sz="2000" dirty="0">
              <a:latin typeface="Times New Roman" pitchFamily="18" charset="0"/>
              <a:cs typeface="Times New Roman" pitchFamily="18" charset="0"/>
            </a:endParaRPr>
          </a:p>
          <a:p>
            <a:pPr algn="just">
              <a:lnSpc>
                <a:spcPct val="200000"/>
              </a:lnSpc>
              <a:buFont typeface="Wingdings" pitchFamily="2" charset="2"/>
              <a:buChar char="q"/>
            </a:pPr>
            <a:r>
              <a:rPr lang="en-US" sz="2000" dirty="0">
                <a:latin typeface="Times New Roman" pitchFamily="18" charset="0"/>
                <a:cs typeface="Times New Roman" pitchFamily="18" charset="0"/>
              </a:rPr>
              <a:t>Sale through Agent.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80728"/>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Consumer market v/s Industrial markets</a:t>
            </a:r>
          </a:p>
        </p:txBody>
      </p:sp>
      <p:sp>
        <p:nvSpPr>
          <p:cNvPr id="3" name="Content Placeholder 2"/>
          <p:cNvSpPr>
            <a:spLocks noGrp="1"/>
          </p:cNvSpPr>
          <p:nvPr>
            <p:ph idx="1"/>
          </p:nvPr>
        </p:nvSpPr>
        <p:spPr>
          <a:xfrm>
            <a:off x="323528" y="1196752"/>
            <a:ext cx="8640960" cy="5328592"/>
          </a:xfrm>
        </p:spPr>
        <p:txBody>
          <a:bodyPr>
            <a:normAutofit fontScale="92500" lnSpcReduction="10000"/>
          </a:bodyPr>
          <a:lstStyle/>
          <a:p>
            <a:pPr algn="just">
              <a:lnSpc>
                <a:spcPct val="150000"/>
              </a:lnSpc>
              <a:buFont typeface="Wingdings" pitchFamily="2" charset="2"/>
              <a:buChar char="v"/>
            </a:pPr>
            <a:r>
              <a:rPr lang="en-IN" sz="2200" dirty="0">
                <a:solidFill>
                  <a:srgbClr val="FF0000"/>
                </a:solidFill>
                <a:latin typeface="Times New Roman" pitchFamily="18" charset="0"/>
                <a:cs typeface="Times New Roman" pitchFamily="18" charset="0"/>
              </a:rPr>
              <a:t>Industrial Marketing</a:t>
            </a:r>
            <a:r>
              <a:rPr lang="en-IN" sz="2200" dirty="0">
                <a:latin typeface="Times New Roman" pitchFamily="18" charset="0"/>
                <a:cs typeface="Times New Roman" pitchFamily="18" charset="0"/>
              </a:rPr>
              <a:t>: It refers to the sale of either products or services or both by one organization to other organizations that further resell the same or utilize to support their own system.</a:t>
            </a:r>
          </a:p>
          <a:p>
            <a:pPr algn="just">
              <a:lnSpc>
                <a:spcPct val="150000"/>
              </a:lnSpc>
              <a:buFont typeface="Wingdings" pitchFamily="2" charset="2"/>
              <a:buChar char="v"/>
            </a:pPr>
            <a:r>
              <a:rPr lang="en-IN" sz="2200" dirty="0">
                <a:solidFill>
                  <a:srgbClr val="FF0000"/>
                </a:solidFill>
                <a:latin typeface="Times New Roman" pitchFamily="18" charset="0"/>
                <a:cs typeface="Times New Roman" pitchFamily="18" charset="0"/>
              </a:rPr>
              <a:t>Consumer Marketing</a:t>
            </a:r>
            <a:r>
              <a:rPr lang="en-IN" sz="2200" dirty="0">
                <a:latin typeface="Times New Roman" pitchFamily="18" charset="0"/>
                <a:cs typeface="Times New Roman" pitchFamily="18" charset="0"/>
              </a:rPr>
              <a:t>: on the other hand refers to the transaction of goods and services between organizations and potential customers.</a:t>
            </a:r>
          </a:p>
          <a:p>
            <a:pPr algn="just">
              <a:lnSpc>
                <a:spcPct val="150000"/>
              </a:lnSpc>
              <a:buNone/>
            </a:pPr>
            <a:endParaRPr lang="en-IN" sz="2200" dirty="0">
              <a:latin typeface="Times New Roman" pitchFamily="18" charset="0"/>
              <a:cs typeface="Times New Roman" pitchFamily="18" charset="0"/>
            </a:endParaRPr>
          </a:p>
          <a:p>
            <a:pPr algn="just">
              <a:lnSpc>
                <a:spcPct val="150000"/>
              </a:lnSpc>
              <a:buFont typeface="Wingdings" pitchFamily="2" charset="2"/>
              <a:buChar char="v"/>
            </a:pPr>
            <a:r>
              <a:rPr lang="en-IN" sz="2200" dirty="0">
                <a:latin typeface="Times New Roman" pitchFamily="18" charset="0"/>
                <a:cs typeface="Times New Roman" pitchFamily="18" charset="0"/>
              </a:rPr>
              <a:t>Industrial/Business marketers do not entertain consumers who purchase products and services for their end-use. They deal only with other businesses/firms to sell their products.</a:t>
            </a:r>
          </a:p>
          <a:p>
            <a:pPr algn="just">
              <a:lnSpc>
                <a:spcPct val="150000"/>
              </a:lnSpc>
              <a:buFont typeface="Wingdings" pitchFamily="2" charset="2"/>
              <a:buChar char="v"/>
            </a:pPr>
            <a:r>
              <a:rPr lang="en-IN" sz="2200" dirty="0">
                <a:latin typeface="Times New Roman" pitchFamily="18" charset="0"/>
                <a:cs typeface="Times New Roman" pitchFamily="18" charset="0"/>
              </a:rPr>
              <a:t>In consumer markets, products are sold to consumers either for their own use or use by their family members.</a:t>
            </a:r>
          </a:p>
          <a:p>
            <a:pPr algn="just"/>
            <a:endParaRPr lang="en-IN" sz="2200" dirty="0">
              <a:latin typeface="Times New Roman" pitchFamily="18" charset="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1008112"/>
          </a:xfrm>
        </p:spPr>
        <p:txBody>
          <a:bodyPr>
            <a:normAutofit/>
          </a:bodyPr>
          <a:lstStyle/>
          <a:p>
            <a:r>
              <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Consumer market v/s Industrial markets</a:t>
            </a:r>
          </a:p>
        </p:txBody>
      </p:sp>
      <p:sp>
        <p:nvSpPr>
          <p:cNvPr id="3" name="Content Placeholder 2"/>
          <p:cNvSpPr>
            <a:spLocks noGrp="1"/>
          </p:cNvSpPr>
          <p:nvPr>
            <p:ph idx="1"/>
          </p:nvPr>
        </p:nvSpPr>
        <p:spPr>
          <a:xfrm>
            <a:off x="323528" y="1196752"/>
            <a:ext cx="8640960" cy="5328592"/>
          </a:xfrm>
        </p:spPr>
        <p:txBody>
          <a:bodyPr>
            <a:normAutofit/>
          </a:bodyPr>
          <a:lstStyle/>
          <a:p>
            <a:pPr algn="just">
              <a:lnSpc>
                <a:spcPct val="200000"/>
              </a:lnSpc>
              <a:buFont typeface="Wingdings" pitchFamily="2" charset="2"/>
              <a:buChar char="v"/>
            </a:pPr>
            <a:r>
              <a:rPr lang="en-US" sz="2000" dirty="0">
                <a:latin typeface="Times New Roman" pitchFamily="18" charset="0"/>
                <a:cs typeface="Times New Roman" pitchFamily="18" charset="0"/>
              </a:rPr>
              <a:t>The major types of industries making up the industrial market (business market) are agriculture, forestry, and fisheries; mining; manufacturing; construction and transportation; communication and public utilities; banking, finance, and insurance; and services.</a:t>
            </a:r>
          </a:p>
          <a:p>
            <a:pPr algn="just">
              <a:lnSpc>
                <a:spcPct val="200000"/>
              </a:lnSpc>
              <a:buFont typeface="Wingdings" pitchFamily="2" charset="2"/>
              <a:buChar char="v"/>
            </a:pPr>
            <a:r>
              <a:rPr lang="en-US" sz="2000" dirty="0">
                <a:latin typeface="Times New Roman" pitchFamily="18" charset="0"/>
                <a:cs typeface="Times New Roman" pitchFamily="18" charset="0"/>
              </a:rPr>
              <a:t>Consumer market: Consumer markets are systems that allow consumers to make purchases or products or services. The power within a consumer market in the hands of the consumer. For example, when you buy tickets to a concert you are purchasing a service and not a product.</a:t>
            </a:r>
            <a:endParaRPr lang="en-IN" sz="2000" dirty="0">
              <a:latin typeface="Times New Roman" pitchFamily="18" charset="0"/>
              <a:cs typeface="Times New Roman"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2657"/>
            <a:ext cx="7772400" cy="1080119"/>
          </a:xfrm>
        </p:spPr>
        <p:txBody>
          <a:bodyPr/>
          <a:lstStyle/>
          <a:p>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Topics  (Part 3)</a:t>
            </a:r>
            <a:endParaRPr lang="en-IN" dirty="0"/>
          </a:p>
        </p:txBody>
      </p:sp>
      <p:sp>
        <p:nvSpPr>
          <p:cNvPr id="3" name="Subtitle 2"/>
          <p:cNvSpPr>
            <a:spLocks noGrp="1"/>
          </p:cNvSpPr>
          <p:nvPr>
            <p:ph type="subTitle" idx="1"/>
          </p:nvPr>
        </p:nvSpPr>
        <p:spPr>
          <a:xfrm>
            <a:off x="755576" y="1340768"/>
            <a:ext cx="7992888" cy="5256584"/>
          </a:xfrm>
        </p:spPr>
        <p:txBody>
          <a:bodyPr>
            <a:normAutofit/>
          </a:bodyPr>
          <a:lstStyle/>
          <a:p>
            <a:pPr marL="342900" indent="-342900" algn="just">
              <a:buFont typeface="Wingdings" pitchFamily="2" charset="2"/>
              <a:buChar char="Ø"/>
            </a:pPr>
            <a:r>
              <a:rPr lang="en-US" sz="2200" b="1"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Financial Management</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Concepts</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Inflation</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Profitability</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Budgets and Control</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Cost Accounting</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Valuation of Stock</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Allocation of overheads</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Standard Costing</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Marginal Costing</a:t>
            </a:r>
          </a:p>
          <a:p>
            <a:pPr marL="1714500" lvl="3" indent="-342900" algn="just">
              <a:buFont typeface="Wingdings" pitchFamily="2" charset="2"/>
              <a:buChar char="ü"/>
            </a:pPr>
            <a:r>
              <a:rPr lang="en-US" sz="2200" dirty="0">
                <a:solidFill>
                  <a:schemeClr val="tx1"/>
                </a:solidFill>
                <a:latin typeface="Times New Roman" pitchFamily="18" charset="0"/>
                <a:cs typeface="Times New Roman" pitchFamily="18" charset="0"/>
              </a:rPr>
              <a:t>Break even point</a:t>
            </a:r>
          </a:p>
          <a:p>
            <a:pPr algn="l"/>
            <a:endParaRPr lang="en-US" sz="2200" b="1" dirty="0">
              <a:solidFill>
                <a:srgbClr val="00B050"/>
              </a:solidFill>
              <a:latin typeface="Algerian" pitchFamily="82" charset="0"/>
            </a:endParaRPr>
          </a:p>
          <a:p>
            <a:pPr algn="l"/>
            <a:endParaRPr lang="en-IN" sz="2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792088"/>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Financial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980728"/>
            <a:ext cx="8424936" cy="5544616"/>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Financial management is related with the acquisition and use of funds by an organization.</a:t>
            </a:r>
          </a:p>
          <a:p>
            <a:pPr algn="just">
              <a:lnSpc>
                <a:spcPct val="150000"/>
              </a:lnSpc>
              <a:buFont typeface="Wingdings" pitchFamily="2" charset="2"/>
              <a:buChar char="v"/>
            </a:pPr>
            <a:r>
              <a:rPr lang="en-US" sz="2000" dirty="0">
                <a:latin typeface="Times New Roman" pitchFamily="18" charset="0"/>
                <a:cs typeface="Times New Roman" pitchFamily="18" charset="0"/>
              </a:rPr>
              <a:t>Funds required for the running the business are raised through a combination of direct revenue from sales, loans from banks, sales of securities and bonds, etc.</a:t>
            </a:r>
          </a:p>
          <a:p>
            <a:pPr algn="just">
              <a:lnSpc>
                <a:spcPct val="150000"/>
              </a:lnSpc>
              <a:buFont typeface="Wingdings" pitchFamily="2" charset="2"/>
              <a:buChar char="v"/>
            </a:pPr>
            <a:r>
              <a:rPr lang="en-US" sz="2000" dirty="0">
                <a:latin typeface="Times New Roman" pitchFamily="18" charset="0"/>
                <a:cs typeface="Times New Roman" pitchFamily="18" charset="0"/>
              </a:rPr>
              <a:t>Funds raised above are deployed among competing uses within the enterprise’s  activities.</a:t>
            </a:r>
          </a:p>
          <a:p>
            <a:pPr algn="just">
              <a:lnSpc>
                <a:spcPct val="150000"/>
              </a:lnSpc>
              <a:buFont typeface="Wingdings" pitchFamily="2" charset="2"/>
              <a:buChar char="v"/>
            </a:pPr>
            <a:r>
              <a:rPr lang="en-US" sz="2000" dirty="0">
                <a:latin typeface="Times New Roman" pitchFamily="18" charset="0"/>
                <a:cs typeface="Times New Roman" pitchFamily="18" charset="0"/>
              </a:rPr>
              <a:t>Financial management can be looked upon as the study of relationship between the raising of finance and the deployment of finance.</a:t>
            </a:r>
          </a:p>
          <a:p>
            <a:pPr algn="just">
              <a:lnSpc>
                <a:spcPct val="150000"/>
              </a:lnSpc>
              <a:buFont typeface="Wingdings" pitchFamily="2" charset="2"/>
              <a:buChar char="v"/>
            </a:pPr>
            <a:r>
              <a:rPr lang="en-US" sz="2000" dirty="0">
                <a:latin typeface="Times New Roman" pitchFamily="18" charset="0"/>
                <a:cs typeface="Times New Roman" pitchFamily="18" charset="0"/>
              </a:rPr>
              <a:t>Financial function of any business enterprise tries to maximize the value of that business to its owners.</a:t>
            </a:r>
            <a:endParaRPr lang="en-IN" sz="2000" dirty="0">
              <a:latin typeface="Times New Roman" pitchFamily="18" charset="0"/>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10081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Major tasks (or Functions) of </a:t>
            </a:r>
            <a:b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Financial Management</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268760"/>
            <a:ext cx="8424936" cy="5256584"/>
          </a:xfrm>
        </p:spPr>
        <p:txBody>
          <a:bodyPr>
            <a:noAutofit/>
          </a:bodyPr>
          <a:lstStyle/>
          <a:p>
            <a:pPr marL="1714500" lvl="3" indent="-342900" algn="just">
              <a:lnSpc>
                <a:spcPct val="200000"/>
              </a:lnSpc>
              <a:buFont typeface="Wingdings" pitchFamily="2" charset="2"/>
              <a:buChar char="ü"/>
            </a:pPr>
            <a:r>
              <a:rPr lang="en-US" sz="2200" dirty="0">
                <a:latin typeface="Times New Roman" pitchFamily="18" charset="0"/>
                <a:cs typeface="Times New Roman" pitchFamily="18" charset="0"/>
              </a:rPr>
              <a:t>Financial planning and control</a:t>
            </a:r>
          </a:p>
          <a:p>
            <a:pPr marL="1714500" lvl="3" indent="-342900" algn="just">
              <a:lnSpc>
                <a:spcPct val="200000"/>
              </a:lnSpc>
              <a:buFont typeface="Wingdings" pitchFamily="2" charset="2"/>
              <a:buChar char="ü"/>
            </a:pPr>
            <a:r>
              <a:rPr lang="en-US" sz="2200" dirty="0">
                <a:latin typeface="Times New Roman" pitchFamily="18" charset="0"/>
                <a:cs typeface="Times New Roman" pitchFamily="18" charset="0"/>
              </a:rPr>
              <a:t>Determination of capital requirements</a:t>
            </a:r>
          </a:p>
          <a:p>
            <a:pPr marL="1714500" lvl="3" indent="-342900" algn="just">
              <a:lnSpc>
                <a:spcPct val="200000"/>
              </a:lnSpc>
              <a:buFont typeface="Wingdings" pitchFamily="2" charset="2"/>
              <a:buChar char="ü"/>
            </a:pPr>
            <a:r>
              <a:rPr lang="en-US" sz="2200" dirty="0">
                <a:latin typeface="Times New Roman" pitchFamily="18" charset="0"/>
                <a:cs typeface="Times New Roman" pitchFamily="18" charset="0"/>
              </a:rPr>
              <a:t>Acquisition of funds by determining the financing mix</a:t>
            </a:r>
          </a:p>
          <a:p>
            <a:pPr marL="1714500" lvl="3" indent="-342900" algn="just">
              <a:lnSpc>
                <a:spcPct val="200000"/>
              </a:lnSpc>
              <a:buFont typeface="Wingdings" pitchFamily="2" charset="2"/>
              <a:buChar char="ü"/>
            </a:pPr>
            <a:r>
              <a:rPr lang="en-US" sz="2200" dirty="0">
                <a:latin typeface="Times New Roman" pitchFamily="18" charset="0"/>
                <a:cs typeface="Times New Roman" pitchFamily="18" charset="0"/>
              </a:rPr>
              <a:t>Allocation of capital funds</a:t>
            </a:r>
          </a:p>
          <a:p>
            <a:pPr marL="1714500" lvl="3" indent="-342900" algn="just">
              <a:lnSpc>
                <a:spcPct val="200000"/>
              </a:lnSpc>
              <a:buFont typeface="Wingdings" pitchFamily="2" charset="2"/>
              <a:buChar char="ü"/>
            </a:pPr>
            <a:r>
              <a:rPr lang="en-US" sz="2200" dirty="0">
                <a:latin typeface="Times New Roman" pitchFamily="18" charset="0"/>
                <a:cs typeface="Times New Roman" pitchFamily="18" charset="0"/>
              </a:rPr>
              <a:t>Management of current assets</a:t>
            </a:r>
          </a:p>
          <a:p>
            <a:pPr marL="1714500" lvl="3" indent="-342900" algn="just">
              <a:lnSpc>
                <a:spcPct val="200000"/>
              </a:lnSpc>
              <a:buFont typeface="Wingdings" pitchFamily="2" charset="2"/>
              <a:buChar char="ü"/>
            </a:pPr>
            <a:r>
              <a:rPr lang="en-US" sz="2200" dirty="0">
                <a:latin typeface="Times New Roman" pitchFamily="18" charset="0"/>
                <a:cs typeface="Times New Roman" pitchFamily="18" charset="0"/>
              </a:rPr>
              <a:t>Determination of dividend payout ratio</a:t>
            </a:r>
            <a:endParaRPr lang="en-IN" sz="2200" dirty="0">
              <a:latin typeface="Times New Roman" pitchFamily="18" charset="0"/>
              <a:cs typeface="Times New Roman"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Sources of Finance</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836712"/>
            <a:ext cx="8424936" cy="5688632"/>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One of the major functions of financial management is determining the financing mix for raising the required amount of capital to run the business. This requires a clear understanding of the available sources of money.</a:t>
            </a: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599877" y="2837839"/>
            <a:ext cx="8220595" cy="2823409"/>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Issue of shares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052736"/>
            <a:ext cx="8424936"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The most important source of long term fund is issue of shares.</a:t>
            </a:r>
          </a:p>
          <a:p>
            <a:pPr algn="just">
              <a:lnSpc>
                <a:spcPct val="150000"/>
              </a:lnSpc>
              <a:buFont typeface="Wingdings" pitchFamily="2" charset="2"/>
              <a:buChar char="v"/>
            </a:pPr>
            <a:r>
              <a:rPr lang="en-US" sz="2200" dirty="0">
                <a:latin typeface="Times New Roman" pitchFamily="18" charset="0"/>
                <a:cs typeface="Times New Roman" pitchFamily="18" charset="0"/>
              </a:rPr>
              <a:t>The company invites members of the public through its prospectus to purchase shares and the persons who purchase the shares are called share holders. The liability of the share holders is limited to their capital contributions and they are entitled to transfer shares. </a:t>
            </a:r>
          </a:p>
          <a:p>
            <a:pPr algn="just">
              <a:lnSpc>
                <a:spcPct val="150000"/>
              </a:lnSpc>
              <a:buFont typeface="Wingdings" pitchFamily="2" charset="2"/>
              <a:buChar char="v"/>
            </a:pPr>
            <a:r>
              <a:rPr lang="en-US" sz="2200" dirty="0">
                <a:latin typeface="Times New Roman" pitchFamily="18" charset="0"/>
                <a:cs typeface="Times New Roman" pitchFamily="18" charset="0"/>
              </a:rPr>
              <a:t>As per the Indian Companies Act, 1956 a company can issue two classes of shares namely preference shares and equity (or) ordinary shares. </a:t>
            </a:r>
            <a:endParaRPr lang="en-IN" sz="2200" dirty="0">
              <a:latin typeface="Times New Roman" pitchFamily="18" charset="0"/>
              <a:cs typeface="Times New Roman"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Issue of shares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124744"/>
            <a:ext cx="8424936" cy="5400600"/>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Preference shares are those which carry a preference with regard to payment of dividend and repayment of capital in the event of winding up. The rate of dividend on a preference share is fixed and must be paid before any dividend is paid on other classes of shares.</a:t>
            </a:r>
          </a:p>
          <a:p>
            <a:pPr algn="just">
              <a:lnSpc>
                <a:spcPct val="150000"/>
              </a:lnSpc>
              <a:buFont typeface="Wingdings" pitchFamily="2" charset="2"/>
              <a:buChar char="v"/>
            </a:pPr>
            <a:r>
              <a:rPr lang="en-US" sz="2200" dirty="0">
                <a:latin typeface="Times New Roman" pitchFamily="18" charset="0"/>
                <a:cs typeface="Times New Roman" pitchFamily="18" charset="0"/>
              </a:rPr>
              <a:t>Ordinary shares will not have any preferences and dividend on these shares is paid only after payment of dividend to preference share holders. The rate of dividend fixed on equity shares is not fixed and it may vary from year to year depending on the financial position of the company</a:t>
            </a:r>
            <a:endParaRPr lang="en-IN" sz="2200" dirty="0">
              <a:latin typeface="Times New Roman" pitchFamily="18" charset="0"/>
              <a:cs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Issue of Debentures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980728"/>
            <a:ext cx="8424936" cy="5544616"/>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A debenture is an acknowledgement of debt issued under the seal of the company.</a:t>
            </a:r>
          </a:p>
          <a:p>
            <a:pPr algn="just">
              <a:lnSpc>
                <a:spcPct val="200000"/>
              </a:lnSpc>
              <a:buFont typeface="Wingdings" pitchFamily="2" charset="2"/>
              <a:buChar char="v"/>
            </a:pPr>
            <a:r>
              <a:rPr lang="en-US" sz="2200" dirty="0">
                <a:latin typeface="Times New Roman" pitchFamily="18" charset="0"/>
                <a:cs typeface="Times New Roman" pitchFamily="18" charset="0"/>
              </a:rPr>
              <a:t>Debentures are issued by the company when it wants to raise the money without increasing its share capital.</a:t>
            </a:r>
          </a:p>
          <a:p>
            <a:pPr algn="just">
              <a:lnSpc>
                <a:spcPct val="200000"/>
              </a:lnSpc>
              <a:buFont typeface="Wingdings" pitchFamily="2" charset="2"/>
              <a:buChar char="v"/>
            </a:pPr>
            <a:r>
              <a:rPr lang="en-US" sz="2200" dirty="0">
                <a:latin typeface="Times New Roman" pitchFamily="18" charset="0"/>
                <a:cs typeface="Times New Roman" pitchFamily="18" charset="0"/>
              </a:rPr>
              <a:t>There are many differences between a debenture holder and a share holder.</a:t>
            </a:r>
          </a:p>
          <a:p>
            <a:pPr algn="just">
              <a:lnSpc>
                <a:spcPct val="200000"/>
              </a:lnSpc>
              <a:buFont typeface="Wingdings" pitchFamily="2" charset="2"/>
              <a:buChar char="v"/>
            </a:pPr>
            <a:r>
              <a:rPr lang="en-US" sz="2200" dirty="0">
                <a:latin typeface="Times New Roman" pitchFamily="18" charset="0"/>
                <a:cs typeface="Times New Roman" pitchFamily="18" charset="0"/>
              </a:rPr>
              <a:t>A share holder is a part owner of the company, but a debenture holder is only a creditor.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Issue of Debentures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467544" y="1124744"/>
            <a:ext cx="8424936" cy="5400600"/>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A share holder does not receive any dividend unless the company makes a profit, but the debenture holder will receive the interest on money lent by him, whether or not the company has made a profit. </a:t>
            </a:r>
          </a:p>
          <a:p>
            <a:pPr algn="just">
              <a:lnSpc>
                <a:spcPct val="200000"/>
              </a:lnSpc>
              <a:buFont typeface="Wingdings" pitchFamily="2" charset="2"/>
              <a:buChar char="v"/>
            </a:pPr>
            <a:r>
              <a:rPr lang="en-US" sz="2200" dirty="0">
                <a:latin typeface="Times New Roman" pitchFamily="18" charset="0"/>
                <a:cs typeface="Times New Roman" pitchFamily="18" charset="0"/>
              </a:rPr>
              <a:t>In the event of winding up of the company the amount to debenture holders must be paid back before any amount is paid to share holders.</a:t>
            </a:r>
            <a:endParaRPr lang="en-IN" sz="2200" dirty="0">
              <a:latin typeface="Times New Roman" pitchFamily="18" charset="0"/>
              <a:cs typeface="Times New Roman"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Term Loans</a:t>
            </a:r>
          </a:p>
        </p:txBody>
      </p:sp>
      <p:sp>
        <p:nvSpPr>
          <p:cNvPr id="3" name="Content Placeholder 2"/>
          <p:cNvSpPr>
            <a:spLocks noGrp="1"/>
          </p:cNvSpPr>
          <p:nvPr>
            <p:ph idx="1"/>
          </p:nvPr>
        </p:nvSpPr>
        <p:spPr>
          <a:xfrm>
            <a:off x="467544" y="1124744"/>
            <a:ext cx="8424936" cy="5400600"/>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Term loan refers to long term financial assistance that is generally repayable in more than one year but less than ten years.</a:t>
            </a:r>
          </a:p>
          <a:p>
            <a:pPr algn="just">
              <a:lnSpc>
                <a:spcPct val="200000"/>
              </a:lnSpc>
              <a:buFont typeface="Wingdings" pitchFamily="2" charset="2"/>
              <a:buChar char="v"/>
            </a:pPr>
            <a:r>
              <a:rPr lang="en-US" sz="2200" dirty="0">
                <a:latin typeface="Times New Roman" pitchFamily="18" charset="0"/>
                <a:cs typeface="Times New Roman" pitchFamily="18" charset="0"/>
              </a:rPr>
              <a:t>They represent secured borrowings. The repayment of principal amount of the term loan plus interest is a statutory obligation irrespective of the financial position of the company.</a:t>
            </a:r>
            <a:endParaRPr lang="en-IN" sz="2200" dirty="0">
              <a:latin typeface="Times New Roman" pitchFamily="18" charset="0"/>
              <a:cs typeface="Times New Roman"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Term Loans</a:t>
            </a:r>
          </a:p>
        </p:txBody>
      </p:sp>
      <p:sp>
        <p:nvSpPr>
          <p:cNvPr id="3" name="Content Placeholder 2"/>
          <p:cNvSpPr>
            <a:spLocks noGrp="1"/>
          </p:cNvSpPr>
          <p:nvPr>
            <p:ph idx="1"/>
          </p:nvPr>
        </p:nvSpPr>
        <p:spPr>
          <a:xfrm>
            <a:off x="467544" y="908720"/>
            <a:ext cx="8424936" cy="5616624"/>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The following factors are generally considered by the lending institution before granting a term loan.</a:t>
            </a:r>
          </a:p>
          <a:p>
            <a:pPr lvl="3" algn="just">
              <a:lnSpc>
                <a:spcPct val="150000"/>
              </a:lnSpc>
              <a:buFont typeface="Wingdings" pitchFamily="2" charset="2"/>
              <a:buChar char="Ø"/>
            </a:pPr>
            <a:r>
              <a:rPr lang="en-US" dirty="0">
                <a:latin typeface="Times New Roman" pitchFamily="18" charset="0"/>
                <a:cs typeface="Times New Roman" pitchFamily="18" charset="0"/>
              </a:rPr>
              <a:t>Type of company</a:t>
            </a:r>
          </a:p>
          <a:p>
            <a:pPr lvl="3" algn="just">
              <a:lnSpc>
                <a:spcPct val="150000"/>
              </a:lnSpc>
              <a:buFont typeface="Wingdings" pitchFamily="2" charset="2"/>
              <a:buChar char="Ø"/>
            </a:pPr>
            <a:r>
              <a:rPr lang="en-US" dirty="0">
                <a:latin typeface="Times New Roman" pitchFamily="18" charset="0"/>
                <a:cs typeface="Times New Roman" pitchFamily="18" charset="0"/>
              </a:rPr>
              <a:t>Type of technology to be adopted by the company</a:t>
            </a:r>
          </a:p>
          <a:p>
            <a:pPr lvl="3" algn="just">
              <a:lnSpc>
                <a:spcPct val="150000"/>
              </a:lnSpc>
              <a:buFont typeface="Wingdings" pitchFamily="2" charset="2"/>
              <a:buChar char="Ø"/>
            </a:pPr>
            <a:r>
              <a:rPr lang="en-US" dirty="0">
                <a:latin typeface="Times New Roman" pitchFamily="18" charset="0"/>
                <a:cs typeface="Times New Roman" pitchFamily="18" charset="0"/>
              </a:rPr>
              <a:t>Location of the company</a:t>
            </a:r>
          </a:p>
          <a:p>
            <a:pPr lvl="3" algn="just">
              <a:lnSpc>
                <a:spcPct val="150000"/>
              </a:lnSpc>
              <a:buFont typeface="Wingdings" pitchFamily="2" charset="2"/>
              <a:buChar char="Ø"/>
            </a:pPr>
            <a:r>
              <a:rPr lang="en-US" dirty="0">
                <a:latin typeface="Times New Roman" pitchFamily="18" charset="0"/>
                <a:cs typeface="Times New Roman" pitchFamily="18" charset="0"/>
              </a:rPr>
              <a:t>Goods and services required by the company and its availability</a:t>
            </a:r>
          </a:p>
          <a:p>
            <a:pPr lvl="3" algn="just">
              <a:lnSpc>
                <a:spcPct val="150000"/>
              </a:lnSpc>
              <a:buFont typeface="Wingdings" pitchFamily="2" charset="2"/>
              <a:buChar char="Ø"/>
            </a:pPr>
            <a:r>
              <a:rPr lang="en-US" dirty="0">
                <a:latin typeface="Times New Roman" pitchFamily="18" charset="0"/>
                <a:cs typeface="Times New Roman" pitchFamily="18" charset="0"/>
              </a:rPr>
              <a:t>Projected demand of the output of the product concerned and the expected revenue</a:t>
            </a:r>
          </a:p>
          <a:p>
            <a:pPr lvl="3" algn="just">
              <a:lnSpc>
                <a:spcPct val="150000"/>
              </a:lnSpc>
              <a:buFont typeface="Wingdings" pitchFamily="2" charset="2"/>
              <a:buChar char="Ø"/>
            </a:pPr>
            <a:r>
              <a:rPr lang="en-US" dirty="0">
                <a:latin typeface="Times New Roman" pitchFamily="18" charset="0"/>
                <a:cs typeface="Times New Roman" pitchFamily="18" charset="0"/>
              </a:rPr>
              <a:t>Managerial competence</a:t>
            </a:r>
          </a:p>
          <a:p>
            <a:pPr lvl="3" algn="just">
              <a:lnSpc>
                <a:spcPct val="150000"/>
              </a:lnSpc>
              <a:buFont typeface="Wingdings" pitchFamily="2" charset="2"/>
              <a:buChar char="Ø"/>
            </a:pPr>
            <a:r>
              <a:rPr lang="en-US" dirty="0">
                <a:latin typeface="Times New Roman" pitchFamily="18" charset="0"/>
                <a:cs typeface="Times New Roman" pitchFamily="18" charset="0"/>
              </a:rPr>
              <a:t>Repayment capacity</a:t>
            </a:r>
            <a:endParaRPr lang="en-IN" dirty="0">
              <a:latin typeface="Times New Roman" pitchFamily="18" charset="0"/>
              <a:cs typeface="Times New Roman"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Ploughing</a:t>
            </a: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Back of Earnings</a:t>
            </a:r>
          </a:p>
        </p:txBody>
      </p:sp>
      <p:sp>
        <p:nvSpPr>
          <p:cNvPr id="3" name="Content Placeholder 2"/>
          <p:cNvSpPr>
            <a:spLocks noGrp="1"/>
          </p:cNvSpPr>
          <p:nvPr>
            <p:ph idx="1"/>
          </p:nvPr>
        </p:nvSpPr>
        <p:spPr>
          <a:xfrm>
            <a:off x="467544" y="908720"/>
            <a:ext cx="8280920" cy="5616624"/>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Under this system, the entire profit generated by the company will not be distributed among the share holders or owners, but a portion of it will be retained by the company to serve as a source of finance for expansion and growth of the concern. </a:t>
            </a:r>
          </a:p>
          <a:p>
            <a:pPr algn="just">
              <a:lnSpc>
                <a:spcPct val="200000"/>
              </a:lnSpc>
              <a:buFont typeface="Wingdings" pitchFamily="2" charset="2"/>
              <a:buChar char="v"/>
            </a:pPr>
            <a:r>
              <a:rPr lang="en-US" sz="2200" dirty="0">
                <a:latin typeface="Times New Roman" pitchFamily="18" charset="0"/>
                <a:cs typeface="Times New Roman" pitchFamily="18" charset="0"/>
              </a:rPr>
              <a:t>This is also referred to as </a:t>
            </a:r>
            <a:r>
              <a:rPr lang="en-US" sz="2200" i="1" dirty="0">
                <a:latin typeface="Times New Roman" pitchFamily="18" charset="0"/>
                <a:cs typeface="Times New Roman" pitchFamily="18" charset="0"/>
              </a:rPr>
              <a:t>internal financing </a:t>
            </a:r>
            <a:r>
              <a:rPr lang="en-US" sz="2200" dirty="0">
                <a:latin typeface="Times New Roman" pitchFamily="18" charset="0"/>
                <a:cs typeface="Times New Roman" pitchFamily="18" charset="0"/>
              </a:rPr>
              <a:t>or </a:t>
            </a:r>
            <a:r>
              <a:rPr lang="en-US" sz="2200" i="1" dirty="0">
                <a:latin typeface="Times New Roman" pitchFamily="18" charset="0"/>
                <a:cs typeface="Times New Roman" pitchFamily="18" charset="0"/>
              </a:rPr>
              <a:t>self financing</a:t>
            </a:r>
            <a:r>
              <a:rPr lang="en-US" sz="2200" dirty="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Trade Credit</a:t>
            </a:r>
          </a:p>
        </p:txBody>
      </p:sp>
      <p:sp>
        <p:nvSpPr>
          <p:cNvPr id="3" name="Content Placeholder 2"/>
          <p:cNvSpPr>
            <a:spLocks noGrp="1"/>
          </p:cNvSpPr>
          <p:nvPr>
            <p:ph idx="1"/>
          </p:nvPr>
        </p:nvSpPr>
        <p:spPr>
          <a:xfrm>
            <a:off x="467544" y="908720"/>
            <a:ext cx="8424936" cy="5616624"/>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This represents the credit granted by other firms or suppliers, usually for a period of thirty to ninety days. </a:t>
            </a:r>
          </a:p>
          <a:p>
            <a:pPr algn="just">
              <a:lnSpc>
                <a:spcPct val="200000"/>
              </a:lnSpc>
              <a:buFont typeface="Wingdings" pitchFamily="2" charset="2"/>
              <a:buChar char="v"/>
            </a:pPr>
            <a:r>
              <a:rPr lang="en-US" sz="2200" dirty="0">
                <a:latin typeface="Times New Roman" pitchFamily="18" charset="0"/>
                <a:cs typeface="Times New Roman" pitchFamily="18" charset="0"/>
              </a:rPr>
              <a:t>Trade credit is usually granted to the company on the basis of its good will and also the financial position.</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Bank Credit</a:t>
            </a:r>
          </a:p>
        </p:txBody>
      </p:sp>
      <p:sp>
        <p:nvSpPr>
          <p:cNvPr id="3" name="Content Placeholder 2"/>
          <p:cNvSpPr>
            <a:spLocks noGrp="1"/>
          </p:cNvSpPr>
          <p:nvPr>
            <p:ph idx="1"/>
          </p:nvPr>
        </p:nvSpPr>
        <p:spPr>
          <a:xfrm>
            <a:off x="467544" y="1052736"/>
            <a:ext cx="8424936" cy="5472608"/>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This is an important source of short term finance and may be in the form of advances, loans, cash credits, overdrafts, etc.</a:t>
            </a:r>
            <a:endParaRPr lang="en-IN" sz="2200" dirty="0">
              <a:latin typeface="Times New Roman" pitchFamily="18" charset="0"/>
              <a:cs typeface="Times New Roman"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Installment Credit</a:t>
            </a:r>
          </a:p>
        </p:txBody>
      </p:sp>
      <p:sp>
        <p:nvSpPr>
          <p:cNvPr id="3" name="Content Placeholder 2"/>
          <p:cNvSpPr>
            <a:spLocks noGrp="1"/>
          </p:cNvSpPr>
          <p:nvPr>
            <p:ph idx="1"/>
          </p:nvPr>
        </p:nvSpPr>
        <p:spPr>
          <a:xfrm>
            <a:off x="467544" y="1052736"/>
            <a:ext cx="8424936" cy="5472608"/>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This type of finance is generally employed by the companies to purchase equipments and machinery and the payment is made on easy installments.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Customer Advances</a:t>
            </a:r>
          </a:p>
        </p:txBody>
      </p:sp>
      <p:sp>
        <p:nvSpPr>
          <p:cNvPr id="3" name="Content Placeholder 2"/>
          <p:cNvSpPr>
            <a:spLocks noGrp="1"/>
          </p:cNvSpPr>
          <p:nvPr>
            <p:ph idx="1"/>
          </p:nvPr>
        </p:nvSpPr>
        <p:spPr>
          <a:xfrm>
            <a:off x="467544" y="1052736"/>
            <a:ext cx="8424936" cy="5472608"/>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Short-term financial requirements of the company, at least partly, can be met through customer advances. </a:t>
            </a:r>
          </a:p>
          <a:p>
            <a:pPr algn="just">
              <a:lnSpc>
                <a:spcPct val="200000"/>
              </a:lnSpc>
              <a:buFont typeface="Wingdings" pitchFamily="2" charset="2"/>
              <a:buChar char="v"/>
            </a:pPr>
            <a:r>
              <a:rPr lang="en-US" sz="2200" dirty="0">
                <a:latin typeface="Times New Roman" pitchFamily="18" charset="0"/>
                <a:cs typeface="Times New Roman" pitchFamily="18" charset="0"/>
              </a:rPr>
              <a:t>These advances are obtained from the customers at the time of ordering or booking of the product and it represents a part of the product cost. </a:t>
            </a:r>
          </a:p>
          <a:p>
            <a:pPr algn="just">
              <a:lnSpc>
                <a:spcPct val="200000"/>
              </a:lnSpc>
              <a:buFont typeface="Wingdings" pitchFamily="2" charset="2"/>
              <a:buChar char="v"/>
            </a:pPr>
            <a:r>
              <a:rPr lang="en-US" sz="2200" dirty="0">
                <a:latin typeface="Times New Roman" pitchFamily="18" charset="0"/>
                <a:cs typeface="Times New Roman" pitchFamily="18" charset="0"/>
              </a:rPr>
              <a:t>The period of such credit will depend upon the time taken to deliver the product.</a:t>
            </a:r>
            <a:endParaRPr lang="en-IN" sz="2200" dirty="0">
              <a:latin typeface="Times New Roman" pitchFamily="18" charset="0"/>
              <a:cs typeface="Times New Roman"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Financial Accounting and Book-keeping </a:t>
            </a:r>
          </a:p>
        </p:txBody>
      </p:sp>
      <p:sp>
        <p:nvSpPr>
          <p:cNvPr id="3" name="Content Placeholder 2"/>
          <p:cNvSpPr>
            <a:spLocks noGrp="1"/>
          </p:cNvSpPr>
          <p:nvPr>
            <p:ph idx="1"/>
          </p:nvPr>
        </p:nvSpPr>
        <p:spPr>
          <a:xfrm>
            <a:off x="539552" y="1052736"/>
            <a:ext cx="8208912" cy="5472608"/>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Financial accounting is concerned with external transactions i.e., it records all dealings with outside the concern.</a:t>
            </a:r>
          </a:p>
          <a:p>
            <a:pPr algn="just">
              <a:lnSpc>
                <a:spcPct val="150000"/>
              </a:lnSpc>
              <a:buFont typeface="Wingdings" pitchFamily="2" charset="2"/>
              <a:buChar char="v"/>
            </a:pPr>
            <a:r>
              <a:rPr lang="en-US" sz="2000" dirty="0">
                <a:latin typeface="Times New Roman" pitchFamily="18" charset="0"/>
                <a:cs typeface="Times New Roman" pitchFamily="18" charset="0"/>
              </a:rPr>
              <a:t>Accounting is the summarization of the recorded information and analyzing and interpreting it for the use of the concerned parties to aid them in decision making.</a:t>
            </a:r>
          </a:p>
          <a:p>
            <a:pPr algn="just">
              <a:lnSpc>
                <a:spcPct val="150000"/>
              </a:lnSpc>
              <a:buFont typeface="Wingdings" pitchFamily="2" charset="2"/>
              <a:buChar char="v"/>
            </a:pPr>
            <a:r>
              <a:rPr lang="en-US" sz="2000" dirty="0">
                <a:latin typeface="Times New Roman" pitchFamily="18" charset="0"/>
                <a:cs typeface="Times New Roman" pitchFamily="18" charset="0"/>
              </a:rPr>
              <a:t>Book-keeping is the making of routine records, individually and in groups, of financial transactions according to a set of rules.</a:t>
            </a:r>
          </a:p>
          <a:p>
            <a:pPr algn="just">
              <a:lnSpc>
                <a:spcPct val="150000"/>
              </a:lnSpc>
              <a:buFont typeface="Wingdings" pitchFamily="2" charset="2"/>
              <a:buChar char="v"/>
            </a:pPr>
            <a:r>
              <a:rPr lang="en-US" sz="2000" dirty="0">
                <a:latin typeface="Times New Roman" pitchFamily="18" charset="0"/>
                <a:cs typeface="Times New Roman" pitchFamily="18" charset="0"/>
              </a:rPr>
              <a:t>Book-keeping is only a preliminary aspect of accounting.</a:t>
            </a:r>
          </a:p>
          <a:p>
            <a:pPr algn="just">
              <a:lnSpc>
                <a:spcPct val="150000"/>
              </a:lnSpc>
              <a:buFont typeface="Wingdings" pitchFamily="2" charset="2"/>
              <a:buChar char="v"/>
            </a:pPr>
            <a:r>
              <a:rPr lang="en-US" sz="2000" dirty="0">
                <a:latin typeface="Times New Roman" pitchFamily="18" charset="0"/>
                <a:cs typeface="Times New Roman" pitchFamily="18" charset="0"/>
              </a:rPr>
              <a:t>Book keeping is also necessary in order to satisfy the income tax authorities.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Types of Accounts</a:t>
            </a:r>
          </a:p>
        </p:txBody>
      </p:sp>
      <p:sp>
        <p:nvSpPr>
          <p:cNvPr id="3" name="Content Placeholder 2"/>
          <p:cNvSpPr>
            <a:spLocks noGrp="1"/>
          </p:cNvSpPr>
          <p:nvPr>
            <p:ph idx="1"/>
          </p:nvPr>
        </p:nvSpPr>
        <p:spPr>
          <a:xfrm>
            <a:off x="539552" y="1052736"/>
            <a:ext cx="8208912"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Accounts can be of four types, namely:</a:t>
            </a:r>
          </a:p>
          <a:p>
            <a:pPr marL="1257300" lvl="2" indent="-457200" algn="just">
              <a:lnSpc>
                <a:spcPct val="150000"/>
              </a:lnSpc>
              <a:buFont typeface="+mj-lt"/>
              <a:buAutoNum type="arabicPeriod"/>
            </a:pPr>
            <a:r>
              <a:rPr lang="en-US" sz="2200" dirty="0">
                <a:latin typeface="Times New Roman" pitchFamily="18" charset="0"/>
                <a:cs typeface="Times New Roman" pitchFamily="18" charset="0"/>
              </a:rPr>
              <a:t>Cash accounts – Cash receipts and payments</a:t>
            </a:r>
          </a:p>
          <a:p>
            <a:pPr marL="1257300" lvl="2" indent="-457200" algn="just">
              <a:lnSpc>
                <a:spcPct val="150000"/>
              </a:lnSpc>
              <a:buFont typeface="+mj-lt"/>
              <a:buAutoNum type="arabicPeriod"/>
            </a:pPr>
            <a:r>
              <a:rPr lang="en-US" sz="2200" dirty="0">
                <a:latin typeface="Times New Roman" pitchFamily="18" charset="0"/>
                <a:cs typeface="Times New Roman" pitchFamily="18" charset="0"/>
              </a:rPr>
              <a:t>Real Accounts -  accounts of assets or properties.</a:t>
            </a:r>
          </a:p>
          <a:p>
            <a:pPr marL="1257300" lvl="2" indent="-457200" algn="just">
              <a:lnSpc>
                <a:spcPct val="150000"/>
              </a:lnSpc>
              <a:buFont typeface="+mj-lt"/>
              <a:buAutoNum type="arabicPeriod"/>
            </a:pPr>
            <a:r>
              <a:rPr lang="en-US" sz="2200" dirty="0">
                <a:latin typeface="Times New Roman" pitchFamily="18" charset="0"/>
                <a:cs typeface="Times New Roman" pitchFamily="18" charset="0"/>
              </a:rPr>
              <a:t>Personal Accounts - accounts in the names of persons, firms or companies</a:t>
            </a:r>
          </a:p>
          <a:p>
            <a:pPr marL="1257300" lvl="2" indent="-457200" algn="just">
              <a:lnSpc>
                <a:spcPct val="150000"/>
              </a:lnSpc>
              <a:buFont typeface="+mj-lt"/>
              <a:buAutoNum type="arabicPeriod"/>
            </a:pPr>
            <a:r>
              <a:rPr lang="en-US" sz="2200" dirty="0">
                <a:latin typeface="Times New Roman" pitchFamily="18" charset="0"/>
                <a:cs typeface="Times New Roman" pitchFamily="18" charset="0"/>
              </a:rPr>
              <a:t>Nominal Accounts - related with elements such as wages, salaries, rent, commission, and interest.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720080"/>
          </a:xfrm>
        </p:spPr>
        <p:txBody>
          <a:bodyPr>
            <a:norm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Systems of Accounting</a:t>
            </a:r>
          </a:p>
        </p:txBody>
      </p:sp>
      <p:sp>
        <p:nvSpPr>
          <p:cNvPr id="3" name="Content Placeholder 2"/>
          <p:cNvSpPr>
            <a:spLocks noGrp="1"/>
          </p:cNvSpPr>
          <p:nvPr>
            <p:ph idx="1"/>
          </p:nvPr>
        </p:nvSpPr>
        <p:spPr>
          <a:xfrm>
            <a:off x="539552" y="1052736"/>
            <a:ext cx="8208912" cy="5472608"/>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Two systems of accounting are in common use. They are:</a:t>
            </a:r>
          </a:p>
          <a:p>
            <a:pPr marL="1714500" lvl="3" indent="-457200" algn="just">
              <a:lnSpc>
                <a:spcPct val="200000"/>
              </a:lnSpc>
              <a:buFont typeface="+mj-lt"/>
              <a:buAutoNum type="arabicPeriod"/>
            </a:pPr>
            <a:r>
              <a:rPr lang="en-US" sz="2200" dirty="0">
                <a:latin typeface="Times New Roman" pitchFamily="18" charset="0"/>
                <a:cs typeface="Times New Roman" pitchFamily="18" charset="0"/>
              </a:rPr>
              <a:t>The single entry system</a:t>
            </a:r>
          </a:p>
          <a:p>
            <a:pPr marL="1714500" lvl="3" indent="-457200" algn="just">
              <a:lnSpc>
                <a:spcPct val="200000"/>
              </a:lnSpc>
              <a:buFont typeface="+mj-lt"/>
              <a:buAutoNum type="arabicPeriod"/>
            </a:pPr>
            <a:r>
              <a:rPr lang="en-US" sz="2200" dirty="0">
                <a:latin typeface="Times New Roman" pitchFamily="18" charset="0"/>
                <a:cs typeface="Times New Roman" pitchFamily="18" charset="0"/>
              </a:rPr>
              <a:t>The double entry system</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864096"/>
          </a:xfrm>
        </p:spPr>
        <p:txBody>
          <a:bodyPr>
            <a:noAutofit/>
          </a:bodyPr>
          <a:lstStyle/>
          <a:p>
            <a:pPr marL="457200"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Single entry system</a:t>
            </a:r>
          </a:p>
        </p:txBody>
      </p:sp>
      <p:sp>
        <p:nvSpPr>
          <p:cNvPr id="3" name="Content Placeholder 2"/>
          <p:cNvSpPr>
            <a:spLocks noGrp="1"/>
          </p:cNvSpPr>
          <p:nvPr>
            <p:ph idx="1"/>
          </p:nvPr>
        </p:nvSpPr>
        <p:spPr>
          <a:xfrm>
            <a:off x="539552" y="1196752"/>
            <a:ext cx="8208912" cy="5328592"/>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Every transaction is between two persons or two concerns.</a:t>
            </a:r>
          </a:p>
          <a:p>
            <a:pPr algn="just">
              <a:lnSpc>
                <a:spcPct val="200000"/>
              </a:lnSpc>
              <a:buFont typeface="Wingdings" pitchFamily="2" charset="2"/>
              <a:buChar char="v"/>
            </a:pPr>
            <a:r>
              <a:rPr lang="en-US" sz="2200" dirty="0">
                <a:latin typeface="Times New Roman" pitchFamily="18" charset="0"/>
                <a:cs typeface="Times New Roman" pitchFamily="18" charset="0"/>
              </a:rPr>
              <a:t>Every transaction, thus, affects two accounts. </a:t>
            </a:r>
          </a:p>
          <a:p>
            <a:pPr algn="just">
              <a:lnSpc>
                <a:spcPct val="200000"/>
              </a:lnSpc>
              <a:buFont typeface="Wingdings" pitchFamily="2" charset="2"/>
              <a:buChar char="v"/>
            </a:pPr>
            <a:r>
              <a:rPr lang="en-US" sz="2200" dirty="0">
                <a:latin typeface="Times New Roman" pitchFamily="18" charset="0"/>
                <a:cs typeface="Times New Roman" pitchFamily="18" charset="0"/>
              </a:rPr>
              <a:t>Single entry system records only one side of the transaction and hence it does not provide complete information about a transaction. </a:t>
            </a:r>
          </a:p>
          <a:p>
            <a:pPr algn="just">
              <a:lnSpc>
                <a:spcPct val="200000"/>
              </a:lnSpc>
              <a:buFont typeface="Wingdings" pitchFamily="2" charset="2"/>
              <a:buChar char="v"/>
            </a:pPr>
            <a:r>
              <a:rPr lang="en-US" sz="2200" dirty="0">
                <a:latin typeface="Times New Roman" pitchFamily="18" charset="0"/>
                <a:cs typeface="Times New Roman" pitchFamily="18" charset="0"/>
              </a:rPr>
              <a:t>This system of book keeping is not generally used.</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8712968" cy="864096"/>
          </a:xfrm>
        </p:spPr>
        <p:txBody>
          <a:bodyPr>
            <a:noAutofit/>
          </a:bodyPr>
          <a:lstStyle/>
          <a:p>
            <a:pPr marL="457200"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Double entry system</a:t>
            </a:r>
          </a:p>
        </p:txBody>
      </p:sp>
      <p:sp>
        <p:nvSpPr>
          <p:cNvPr id="3" name="Content Placeholder 2"/>
          <p:cNvSpPr>
            <a:spLocks noGrp="1"/>
          </p:cNvSpPr>
          <p:nvPr>
            <p:ph idx="1"/>
          </p:nvPr>
        </p:nvSpPr>
        <p:spPr>
          <a:xfrm>
            <a:off x="539552" y="1196752"/>
            <a:ext cx="8208912" cy="5328592"/>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Double entry system records both the sides of the transaction and thus provides complete information of the business transaction. </a:t>
            </a:r>
          </a:p>
          <a:p>
            <a:pPr algn="just">
              <a:lnSpc>
                <a:spcPct val="200000"/>
              </a:lnSpc>
              <a:buFont typeface="Wingdings" pitchFamily="2" charset="2"/>
              <a:buChar char="v"/>
            </a:pPr>
            <a:r>
              <a:rPr lang="en-US" sz="2200" dirty="0">
                <a:latin typeface="Times New Roman" pitchFamily="18" charset="0"/>
                <a:cs typeface="Times New Roman" pitchFamily="18" charset="0"/>
              </a:rPr>
              <a:t>That is, it is based on the dual aspect concept – The credit side and the debit side </a:t>
            </a:r>
          </a:p>
          <a:p>
            <a:pPr algn="just">
              <a:lnSpc>
                <a:spcPct val="200000"/>
              </a:lnSpc>
              <a:buFont typeface="Wingdings" pitchFamily="2" charset="2"/>
              <a:buChar char="v"/>
            </a:pPr>
            <a:r>
              <a:rPr lang="en-US" sz="2200" dirty="0">
                <a:latin typeface="Times New Roman" pitchFamily="18" charset="0"/>
                <a:cs typeface="Times New Roman" pitchFamily="18" charset="0"/>
              </a:rPr>
              <a:t>The double entry system of accounting is more scientific and is compulsory for joint stock companies in India.</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764704"/>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The Journal</a:t>
            </a:r>
          </a:p>
        </p:txBody>
      </p:sp>
      <p:sp>
        <p:nvSpPr>
          <p:cNvPr id="3" name="Content Placeholder 2"/>
          <p:cNvSpPr>
            <a:spLocks noGrp="1"/>
          </p:cNvSpPr>
          <p:nvPr>
            <p:ph idx="1"/>
          </p:nvPr>
        </p:nvSpPr>
        <p:spPr>
          <a:xfrm>
            <a:off x="251520" y="836712"/>
            <a:ext cx="8640960" cy="5688632"/>
          </a:xfrm>
        </p:spPr>
        <p:txBody>
          <a:bodyPr>
            <a:noAutofit/>
          </a:bodyPr>
          <a:lstStyle/>
          <a:p>
            <a:pPr algn="just">
              <a:buFont typeface="Wingdings" pitchFamily="2" charset="2"/>
              <a:buChar char="v"/>
            </a:pPr>
            <a:r>
              <a:rPr lang="en-US" sz="2200" dirty="0">
                <a:latin typeface="Times New Roman" pitchFamily="18" charset="0"/>
                <a:cs typeface="Times New Roman" pitchFamily="18" charset="0"/>
              </a:rPr>
              <a:t>The Journal is a chronological record of business transactions. </a:t>
            </a:r>
          </a:p>
          <a:p>
            <a:pPr algn="just">
              <a:buFont typeface="Wingdings" pitchFamily="2" charset="2"/>
              <a:buChar char="v"/>
            </a:pPr>
            <a:r>
              <a:rPr lang="en-US" sz="2200" dirty="0">
                <a:latin typeface="Times New Roman" pitchFamily="18" charset="0"/>
                <a:cs typeface="Times New Roman" pitchFamily="18" charset="0"/>
              </a:rPr>
              <a:t>The first record of a transaction is made in this book. </a:t>
            </a:r>
          </a:p>
          <a:p>
            <a:pPr algn="just">
              <a:buFont typeface="Wingdings" pitchFamily="2" charset="2"/>
              <a:buChar char="v"/>
            </a:pPr>
            <a:r>
              <a:rPr lang="en-US" sz="2200" dirty="0">
                <a:latin typeface="Times New Roman" pitchFamily="18" charset="0"/>
                <a:cs typeface="Times New Roman" pitchFamily="18" charset="0"/>
              </a:rPr>
              <a:t>It is book of first or original entry in which transactions are recorded one after another, in the order in which they occur, showing:</a:t>
            </a:r>
          </a:p>
          <a:p>
            <a:pPr lvl="3" algn="just">
              <a:buFont typeface="Wingdings" pitchFamily="2" charset="2"/>
              <a:buChar char="ü"/>
            </a:pPr>
            <a:r>
              <a:rPr lang="en-US" sz="2200" dirty="0">
                <a:latin typeface="Times New Roman" pitchFamily="18" charset="0"/>
                <a:cs typeface="Times New Roman" pitchFamily="18" charset="0"/>
              </a:rPr>
              <a:t>date for each transaction</a:t>
            </a:r>
          </a:p>
          <a:p>
            <a:pPr lvl="3" algn="just">
              <a:buFont typeface="Wingdings" pitchFamily="2" charset="2"/>
              <a:buChar char="ü"/>
            </a:pPr>
            <a:r>
              <a:rPr lang="en-US" sz="2200" dirty="0">
                <a:latin typeface="Times New Roman" pitchFamily="18" charset="0"/>
                <a:cs typeface="Times New Roman" pitchFamily="18" charset="0"/>
              </a:rPr>
              <a:t>account and amount to be debited</a:t>
            </a:r>
          </a:p>
          <a:p>
            <a:pPr lvl="3" algn="just">
              <a:buFont typeface="Wingdings" pitchFamily="2" charset="2"/>
              <a:buChar char="ü"/>
            </a:pPr>
            <a:r>
              <a:rPr lang="en-US" sz="2200" dirty="0">
                <a:latin typeface="Times New Roman" pitchFamily="18" charset="0"/>
                <a:cs typeface="Times New Roman" pitchFamily="18" charset="0"/>
              </a:rPr>
              <a:t>account and amount to be credited, and</a:t>
            </a:r>
          </a:p>
          <a:p>
            <a:pPr lvl="3" algn="just">
              <a:buFont typeface="Wingdings" pitchFamily="2" charset="2"/>
              <a:buChar char="ü"/>
            </a:pPr>
            <a:r>
              <a:rPr lang="en-US" sz="2200" dirty="0">
                <a:latin typeface="Times New Roman" pitchFamily="18" charset="0"/>
                <a:cs typeface="Times New Roman" pitchFamily="18" charset="0"/>
              </a:rPr>
              <a:t>an explanation (if necessary).</a:t>
            </a:r>
          </a:p>
          <a:p>
            <a:pPr algn="just">
              <a:buFont typeface="Wingdings" pitchFamily="2" charset="2"/>
              <a:buChar char="v"/>
            </a:pPr>
            <a:r>
              <a:rPr lang="en-US" sz="2200" dirty="0">
                <a:latin typeface="Times New Roman" pitchFamily="18" charset="0"/>
                <a:cs typeface="Times New Roman" pitchFamily="18" charset="0"/>
              </a:rPr>
              <a:t>The function of a journal is to provide a permanent and complete record, arranged in chronological order for future reference, of all business transactions of a firm. </a:t>
            </a:r>
          </a:p>
          <a:p>
            <a:pPr algn="just">
              <a:buFont typeface="Wingdings" pitchFamily="2" charset="2"/>
              <a:buChar char="v"/>
            </a:pPr>
            <a:r>
              <a:rPr lang="en-US" sz="2200" dirty="0">
                <a:latin typeface="Times New Roman" pitchFamily="18" charset="0"/>
                <a:cs typeface="Times New Roman" pitchFamily="18" charset="0"/>
              </a:rPr>
              <a:t>Every page of a journal is numbered for future reference.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764704"/>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The Ledger</a:t>
            </a:r>
          </a:p>
        </p:txBody>
      </p:sp>
      <p:sp>
        <p:nvSpPr>
          <p:cNvPr id="3" name="Content Placeholder 2"/>
          <p:cNvSpPr>
            <a:spLocks noGrp="1"/>
          </p:cNvSpPr>
          <p:nvPr>
            <p:ph idx="1"/>
          </p:nvPr>
        </p:nvSpPr>
        <p:spPr>
          <a:xfrm>
            <a:off x="251520" y="836712"/>
            <a:ext cx="8640960" cy="5688632"/>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A group of accounts is known as a ledger. </a:t>
            </a:r>
          </a:p>
          <a:p>
            <a:pPr algn="just">
              <a:lnSpc>
                <a:spcPct val="150000"/>
              </a:lnSpc>
              <a:buFont typeface="Wingdings" pitchFamily="2" charset="2"/>
              <a:buChar char="v"/>
            </a:pPr>
            <a:r>
              <a:rPr lang="en-US" sz="2000" dirty="0">
                <a:latin typeface="Times New Roman" pitchFamily="18" charset="0"/>
                <a:cs typeface="Times New Roman" pitchFamily="18" charset="0"/>
              </a:rPr>
              <a:t>After the transactions have been recorded in the Journal, the accounts are prepared in this book. </a:t>
            </a:r>
          </a:p>
          <a:p>
            <a:pPr algn="just">
              <a:lnSpc>
                <a:spcPct val="150000"/>
              </a:lnSpc>
              <a:buFont typeface="Wingdings" pitchFamily="2" charset="2"/>
              <a:buChar char="v"/>
            </a:pPr>
            <a:r>
              <a:rPr lang="en-US" sz="2000" dirty="0">
                <a:latin typeface="Times New Roman" pitchFamily="18" charset="0"/>
                <a:cs typeface="Times New Roman" pitchFamily="18" charset="0"/>
              </a:rPr>
              <a:t>Ledger contains the same information (as given in journal) but properly arranged according to each person or firm it is related to. </a:t>
            </a:r>
          </a:p>
          <a:p>
            <a:pPr algn="just">
              <a:lnSpc>
                <a:spcPct val="150000"/>
              </a:lnSpc>
              <a:buFont typeface="Wingdings" pitchFamily="2" charset="2"/>
              <a:buChar char="v"/>
            </a:pPr>
            <a:r>
              <a:rPr lang="en-US" sz="2000" dirty="0">
                <a:latin typeface="Times New Roman" pitchFamily="18" charset="0"/>
                <a:cs typeface="Times New Roman" pitchFamily="18" charset="0"/>
              </a:rPr>
              <a:t>The ledger, therefore, is a derived or secondary record.</a:t>
            </a:r>
          </a:p>
          <a:p>
            <a:pPr algn="just">
              <a:lnSpc>
                <a:spcPct val="150000"/>
              </a:lnSpc>
              <a:buFont typeface="Wingdings" pitchFamily="2" charset="2"/>
              <a:buChar char="v"/>
            </a:pPr>
            <a:r>
              <a:rPr lang="en-US" sz="2000" dirty="0">
                <a:latin typeface="Times New Roman" pitchFamily="18" charset="0"/>
                <a:cs typeface="Times New Roman" pitchFamily="18" charset="0"/>
              </a:rPr>
              <a:t>The account contains two identical halves. </a:t>
            </a:r>
          </a:p>
          <a:p>
            <a:pPr algn="just">
              <a:lnSpc>
                <a:spcPct val="150000"/>
              </a:lnSpc>
              <a:buFont typeface="Wingdings" pitchFamily="2" charset="2"/>
              <a:buChar char="v"/>
            </a:pPr>
            <a:r>
              <a:rPr lang="en-US" sz="2000" dirty="0">
                <a:latin typeface="Times New Roman" pitchFamily="18" charset="0"/>
                <a:cs typeface="Times New Roman" pitchFamily="18" charset="0"/>
              </a:rPr>
              <a:t>The left side of an account is known as the debit side and is for debit entries. </a:t>
            </a:r>
          </a:p>
          <a:p>
            <a:pPr algn="just">
              <a:lnSpc>
                <a:spcPct val="150000"/>
              </a:lnSpc>
              <a:buFont typeface="Wingdings" pitchFamily="2" charset="2"/>
              <a:buChar char="v"/>
            </a:pPr>
            <a:r>
              <a:rPr lang="en-US" sz="2000" dirty="0">
                <a:latin typeface="Times New Roman" pitchFamily="18" charset="0"/>
                <a:cs typeface="Times New Roman" pitchFamily="18" charset="0"/>
              </a:rPr>
              <a:t>The right side of an account is known as the credit side and is for credit entries. </a:t>
            </a:r>
          </a:p>
          <a:p>
            <a:pPr algn="just">
              <a:lnSpc>
                <a:spcPct val="150000"/>
              </a:lnSpc>
              <a:buFont typeface="Wingdings" pitchFamily="2" charset="2"/>
              <a:buChar char="v"/>
            </a:pPr>
            <a:r>
              <a:rPr lang="en-US" sz="2000" dirty="0">
                <a:latin typeface="Times New Roman" pitchFamily="18" charset="0"/>
                <a:cs typeface="Times New Roman" pitchFamily="18" charset="0"/>
              </a:rPr>
              <a:t>The process of transferring journal entries to the ledger is known as posting.</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764704"/>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Trial Balance</a:t>
            </a:r>
          </a:p>
        </p:txBody>
      </p:sp>
      <p:sp>
        <p:nvSpPr>
          <p:cNvPr id="3" name="Content Placeholder 2"/>
          <p:cNvSpPr>
            <a:spLocks noGrp="1"/>
          </p:cNvSpPr>
          <p:nvPr>
            <p:ph idx="1"/>
          </p:nvPr>
        </p:nvSpPr>
        <p:spPr>
          <a:xfrm>
            <a:off x="251520" y="836712"/>
            <a:ext cx="8640960" cy="5688632"/>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If no book-keeping errors are made the total of the debit balances and credit balances in the ledger will be equal.</a:t>
            </a:r>
          </a:p>
          <a:p>
            <a:pPr algn="just">
              <a:lnSpc>
                <a:spcPct val="200000"/>
              </a:lnSpc>
              <a:buFont typeface="Wingdings" pitchFamily="2" charset="2"/>
              <a:buChar char="v"/>
            </a:pPr>
            <a:r>
              <a:rPr lang="en-US" sz="2200" dirty="0">
                <a:latin typeface="Times New Roman" pitchFamily="18" charset="0"/>
                <a:cs typeface="Times New Roman" pitchFamily="18" charset="0"/>
              </a:rPr>
              <a:t>A list of ledger account balances prepared for proving the equality of debits and credits in the ledger on a certain date is called a Trial Balance.</a:t>
            </a:r>
          </a:p>
          <a:p>
            <a:pPr algn="just">
              <a:lnSpc>
                <a:spcPct val="200000"/>
              </a:lnSpc>
              <a:buFont typeface="Wingdings" pitchFamily="2" charset="2"/>
              <a:buChar char="v"/>
            </a:pPr>
            <a:r>
              <a:rPr lang="en-US" sz="2200" dirty="0">
                <a:latin typeface="Times New Roman" pitchFamily="18" charset="0"/>
                <a:cs typeface="Times New Roman" pitchFamily="18" charset="0"/>
              </a:rPr>
              <a:t>Trial balance is used to test the equality of balances because at any time the debits and credits should be equal in value.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47667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Cash Book</a:t>
            </a:r>
          </a:p>
        </p:txBody>
      </p:sp>
      <p:sp>
        <p:nvSpPr>
          <p:cNvPr id="3" name="Content Placeholder 2"/>
          <p:cNvSpPr>
            <a:spLocks noGrp="1"/>
          </p:cNvSpPr>
          <p:nvPr>
            <p:ph idx="1"/>
          </p:nvPr>
        </p:nvSpPr>
        <p:spPr>
          <a:xfrm>
            <a:off x="251520" y="692696"/>
            <a:ext cx="8640960" cy="583264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The cash book is the most important subsidiary book in any business concern.</a:t>
            </a:r>
          </a:p>
          <a:p>
            <a:pPr algn="just">
              <a:lnSpc>
                <a:spcPct val="150000"/>
              </a:lnSpc>
              <a:buFont typeface="Wingdings" pitchFamily="2" charset="2"/>
              <a:buChar char="v"/>
            </a:pPr>
            <a:r>
              <a:rPr lang="en-US" sz="2200" dirty="0">
                <a:latin typeface="Times New Roman" pitchFamily="18" charset="0"/>
                <a:cs typeface="Times New Roman" pitchFamily="18" charset="0"/>
              </a:rPr>
              <a:t>It is used to record cash transactions. </a:t>
            </a:r>
          </a:p>
          <a:p>
            <a:pPr algn="just">
              <a:lnSpc>
                <a:spcPct val="150000"/>
              </a:lnSpc>
              <a:buFont typeface="Wingdings" pitchFamily="2" charset="2"/>
              <a:buChar char="v"/>
            </a:pPr>
            <a:r>
              <a:rPr lang="en-US" sz="2200" dirty="0">
                <a:latin typeface="Times New Roman" pitchFamily="18" charset="0"/>
                <a:cs typeface="Times New Roman" pitchFamily="18" charset="0"/>
              </a:rPr>
              <a:t>When cash is received cash account is debited and when cash is paid cash account is credited in the journal. </a:t>
            </a:r>
          </a:p>
          <a:p>
            <a:pPr algn="just">
              <a:lnSpc>
                <a:spcPct val="150000"/>
              </a:lnSpc>
              <a:buFont typeface="Wingdings" pitchFamily="2" charset="2"/>
              <a:buChar char="v"/>
            </a:pPr>
            <a:r>
              <a:rPr lang="en-US" sz="2200" dirty="0">
                <a:latin typeface="Times New Roman" pitchFamily="18" charset="0"/>
                <a:cs typeface="Times New Roman" pitchFamily="18" charset="0"/>
              </a:rPr>
              <a:t>All cash transactions are first entered in the cash book. </a:t>
            </a:r>
          </a:p>
          <a:p>
            <a:pPr algn="just">
              <a:lnSpc>
                <a:spcPct val="150000"/>
              </a:lnSpc>
              <a:buFont typeface="Wingdings" pitchFamily="2" charset="2"/>
              <a:buChar char="v"/>
            </a:pPr>
            <a:r>
              <a:rPr lang="en-US" sz="2200" dirty="0">
                <a:latin typeface="Times New Roman" pitchFamily="18" charset="0"/>
                <a:cs typeface="Times New Roman" pitchFamily="18" charset="0"/>
              </a:rPr>
              <a:t>The cash book has two sides, a receipt side or debit side and a payment side or credit side. </a:t>
            </a:r>
          </a:p>
          <a:p>
            <a:pPr algn="just">
              <a:lnSpc>
                <a:spcPct val="150000"/>
              </a:lnSpc>
              <a:buFont typeface="Wingdings" pitchFamily="2" charset="2"/>
              <a:buChar char="v"/>
            </a:pPr>
            <a:r>
              <a:rPr lang="en-US" sz="2200" dirty="0">
                <a:latin typeface="Times New Roman" pitchFamily="18" charset="0"/>
                <a:cs typeface="Times New Roman" pitchFamily="18" charset="0"/>
              </a:rPr>
              <a:t>All receipts of cash are entered on the debit side, while all payments of cash are entered on the credit side.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1052736"/>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Inflation</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Inflation refers to the general increase in the prices of goods and services. </a:t>
            </a:r>
          </a:p>
          <a:p>
            <a:pPr algn="just">
              <a:lnSpc>
                <a:spcPct val="150000"/>
              </a:lnSpc>
              <a:buFont typeface="Wingdings" pitchFamily="2" charset="2"/>
              <a:buChar char="v"/>
            </a:pPr>
            <a:r>
              <a:rPr lang="en-US" sz="2200" dirty="0">
                <a:latin typeface="Times New Roman" pitchFamily="18" charset="0"/>
                <a:cs typeface="Times New Roman" pitchFamily="18" charset="0"/>
              </a:rPr>
              <a:t>It is measured as an annual percentage increase. </a:t>
            </a:r>
          </a:p>
          <a:p>
            <a:pPr algn="just">
              <a:lnSpc>
                <a:spcPct val="150000"/>
              </a:lnSpc>
              <a:buFont typeface="Wingdings" pitchFamily="2" charset="2"/>
              <a:buChar char="v"/>
            </a:pPr>
            <a:r>
              <a:rPr lang="en-US" sz="2200" dirty="0">
                <a:latin typeface="Times New Roman" pitchFamily="18" charset="0"/>
                <a:cs typeface="Times New Roman" pitchFamily="18" charset="0"/>
              </a:rPr>
              <a:t>As inflation rises, every Rupee you own buys a smaller percentage of a good or service</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1. Demand-pull Inflation</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This type of inflation occurs when total demand for goods and services in an economy exceeds the supply of the same. </a:t>
            </a:r>
          </a:p>
          <a:p>
            <a:pPr algn="just">
              <a:lnSpc>
                <a:spcPct val="150000"/>
              </a:lnSpc>
              <a:buFont typeface="Wingdings" pitchFamily="2" charset="2"/>
              <a:buChar char="v"/>
            </a:pPr>
            <a:r>
              <a:rPr lang="en-US" sz="2200" dirty="0">
                <a:latin typeface="Times New Roman" pitchFamily="18" charset="0"/>
                <a:cs typeface="Times New Roman" pitchFamily="18" charset="0"/>
              </a:rPr>
              <a:t>When the supply is less, the prices of these goods and services would rise, leading to a situation called as demand-pull inflation. </a:t>
            </a:r>
          </a:p>
          <a:p>
            <a:pPr algn="just">
              <a:lnSpc>
                <a:spcPct val="150000"/>
              </a:lnSpc>
              <a:buFont typeface="Wingdings" pitchFamily="2" charset="2"/>
              <a:buChar char="v"/>
            </a:pPr>
            <a:r>
              <a:rPr lang="en-US" sz="2200" dirty="0">
                <a:latin typeface="Times New Roman" pitchFamily="18" charset="0"/>
                <a:cs typeface="Times New Roman" pitchFamily="18" charset="0"/>
              </a:rPr>
              <a:t>This type of inflation affects the market economy adversely during the wartime.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2. Cost-push Inflation</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As the name suggests, if there is increase in the cost of production of goods and services, there is likely to be a forceful increase in the prices of finished goods and services. </a:t>
            </a:r>
          </a:p>
          <a:p>
            <a:pPr algn="just">
              <a:lnSpc>
                <a:spcPct val="150000"/>
              </a:lnSpc>
              <a:buFont typeface="Wingdings" pitchFamily="2" charset="2"/>
              <a:buChar char="v"/>
            </a:pPr>
            <a:r>
              <a:rPr lang="en-US" sz="2200" dirty="0">
                <a:latin typeface="Times New Roman" pitchFamily="18" charset="0"/>
                <a:cs typeface="Times New Roman" pitchFamily="18" charset="0"/>
              </a:rPr>
              <a:t>For instance, a rise in the wages of workers would raise the unit costs of production and this would lead to rise in prices for the related end product. </a:t>
            </a:r>
          </a:p>
          <a:p>
            <a:pPr algn="just">
              <a:lnSpc>
                <a:spcPct val="150000"/>
              </a:lnSpc>
              <a:buFont typeface="Wingdings" pitchFamily="2" charset="2"/>
              <a:buChar char="v"/>
            </a:pPr>
            <a:r>
              <a:rPr lang="en-US" sz="2200" dirty="0">
                <a:latin typeface="Times New Roman" pitchFamily="18" charset="0"/>
                <a:cs typeface="Times New Roman" pitchFamily="18" charset="0"/>
              </a:rPr>
              <a:t>This type of inflation may or may not occur in conjunction with demand-pull inflation.</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3. Pricing Power Inflation</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Pricing power inflation is more often called as administered price inflation. </a:t>
            </a:r>
          </a:p>
          <a:p>
            <a:pPr algn="just">
              <a:lnSpc>
                <a:spcPct val="150000"/>
              </a:lnSpc>
              <a:buFont typeface="Wingdings" pitchFamily="2" charset="2"/>
              <a:buChar char="v"/>
            </a:pPr>
            <a:r>
              <a:rPr lang="en-US" sz="2200" dirty="0">
                <a:latin typeface="Times New Roman" pitchFamily="18" charset="0"/>
                <a:cs typeface="Times New Roman" pitchFamily="18" charset="0"/>
              </a:rPr>
              <a:t>This type of inflation occurs when the business houses and industries decide to increase the price of their respective goods and services to increase their profit margins.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4. </a:t>
            </a:r>
            <a:r>
              <a:rPr lang="en-US" sz="3200" b="1" u="sng" kern="1200" dirty="0" err="1">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Sectoral</a:t>
            </a: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 Inflation</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This type of inflation takes place when there is an increase in the price of the goods and services produced by a certain sector of industries. </a:t>
            </a:r>
          </a:p>
          <a:p>
            <a:pPr algn="just">
              <a:lnSpc>
                <a:spcPct val="150000"/>
              </a:lnSpc>
              <a:buFont typeface="Wingdings" pitchFamily="2" charset="2"/>
              <a:buChar char="v"/>
            </a:pPr>
            <a:r>
              <a:rPr lang="en-US" sz="2200" dirty="0">
                <a:latin typeface="Times New Roman" pitchFamily="18" charset="0"/>
                <a:cs typeface="Times New Roman" pitchFamily="18" charset="0"/>
              </a:rPr>
              <a:t>For instance, an increase in the cost of crude oil would directly affect all the other sectors, which are directly related to the oil industry.</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Valuation of Stock</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During product manufacturing, at different intervals of time, the materials that are needed for production will be withdrawn from the stores. </a:t>
            </a:r>
          </a:p>
          <a:p>
            <a:pPr algn="just">
              <a:lnSpc>
                <a:spcPct val="150000"/>
              </a:lnSpc>
              <a:buFont typeface="Wingdings" pitchFamily="2" charset="2"/>
              <a:buChar char="v"/>
            </a:pPr>
            <a:r>
              <a:rPr lang="en-US" sz="2200" dirty="0">
                <a:latin typeface="Times New Roman" pitchFamily="18" charset="0"/>
                <a:cs typeface="Times New Roman" pitchFamily="18" charset="0"/>
              </a:rPr>
              <a:t>As these materials are made from purchases over a period of time and at different prices, it is not always easy to arrive at the actual cost of material being used. </a:t>
            </a:r>
          </a:p>
          <a:p>
            <a:pPr algn="just">
              <a:lnSpc>
                <a:spcPct val="150000"/>
              </a:lnSpc>
              <a:buFont typeface="Wingdings" pitchFamily="2" charset="2"/>
              <a:buChar char="v"/>
            </a:pPr>
            <a:r>
              <a:rPr lang="en-US" sz="2200" dirty="0">
                <a:latin typeface="Times New Roman" pitchFamily="18" charset="0"/>
                <a:cs typeface="Times New Roman" pitchFamily="18" charset="0"/>
              </a:rPr>
              <a:t>The accounting method that a company adopts for valuing materials used on products can directly have an impact on the final accounts of a company.</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pPr marL="284163" lvl="3" algn="ctr" rtl="0">
              <a:lnSpc>
                <a:spcPct val="200000"/>
              </a:lnSpc>
              <a:spcBef>
                <a:spcPct val="0"/>
              </a:spcBef>
            </a:pPr>
            <a:r>
              <a:rPr lang="en-US" sz="3200" b="1" u="sng" kern="1200" dirty="0">
                <a:solidFill>
                  <a:srgbClr val="FF0000"/>
                </a:solidFill>
                <a:effectLst>
                  <a:outerShdw blurRad="38100" dist="38100" dir="2700000" algn="tl">
                    <a:srgbClr val="000000">
                      <a:alpha val="43137"/>
                    </a:srgbClr>
                  </a:outerShdw>
                </a:effectLst>
                <a:latin typeface="Times New Roman" pitchFamily="18" charset="0"/>
                <a:ea typeface="+mj-ea"/>
                <a:cs typeface="Times New Roman" pitchFamily="18" charset="0"/>
              </a:rPr>
              <a:t>1. First-In First-Out (FIFO)</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This method assumes that the material that is purchased earliest is the first used. </a:t>
            </a:r>
          </a:p>
          <a:p>
            <a:pPr algn="just">
              <a:lnSpc>
                <a:spcPct val="150000"/>
              </a:lnSpc>
              <a:buFont typeface="Wingdings" pitchFamily="2" charset="2"/>
              <a:buChar char="v"/>
            </a:pPr>
            <a:r>
              <a:rPr lang="en-US" sz="2200" dirty="0">
                <a:latin typeface="Times New Roman" pitchFamily="18" charset="0"/>
                <a:cs typeface="Times New Roman" pitchFamily="18" charset="0"/>
              </a:rPr>
              <a:t>For example, consider that at time T1, 200 kilograms of material is bought at a price of Rs. 50/kg. and 200 kilograms more at time T2 at Rs. 60 /kg.</a:t>
            </a:r>
          </a:p>
          <a:p>
            <a:pPr algn="just">
              <a:lnSpc>
                <a:spcPct val="150000"/>
              </a:lnSpc>
              <a:buFont typeface="Wingdings" pitchFamily="2" charset="2"/>
              <a:buChar char="v"/>
            </a:pPr>
            <a:r>
              <a:rPr lang="en-US" sz="2200" dirty="0">
                <a:latin typeface="Times New Roman" pitchFamily="18" charset="0"/>
                <a:cs typeface="Times New Roman" pitchFamily="18" charset="0"/>
              </a:rPr>
              <a:t>FIFO states that if 200 kilograms of material is withdrawn at time T3, then the withdrawal from stock is valued at Rs. 50× 200 =  Rs. 10000</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 Last-In First-Out (LIFO)</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This method assumes that the material that is purchased latest is the first used. </a:t>
            </a:r>
          </a:p>
          <a:p>
            <a:pPr algn="just">
              <a:lnSpc>
                <a:spcPct val="150000"/>
              </a:lnSpc>
              <a:buFont typeface="Wingdings" pitchFamily="2" charset="2"/>
              <a:buChar char="v"/>
            </a:pPr>
            <a:r>
              <a:rPr lang="en-US" sz="2200" dirty="0">
                <a:latin typeface="Times New Roman" pitchFamily="18" charset="0"/>
                <a:cs typeface="Times New Roman" pitchFamily="18" charset="0"/>
              </a:rPr>
              <a:t>200 kilograms of material that is withdrawn at T3 will be valued at Rs. 60× 200 =  Rs.12000</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3. Weighted Average</a:t>
            </a:r>
          </a:p>
        </p:txBody>
      </p:sp>
      <p:sp>
        <p:nvSpPr>
          <p:cNvPr id="3" name="Content Placeholder 2"/>
          <p:cNvSpPr>
            <a:spLocks noGrp="1"/>
          </p:cNvSpPr>
          <p:nvPr>
            <p:ph idx="1"/>
          </p:nvPr>
        </p:nvSpPr>
        <p:spPr>
          <a:xfrm>
            <a:off x="251520" y="1052736"/>
            <a:ext cx="8640960" cy="5472608"/>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This method takes the weighted average of all the materials available at the store at the time of issue and then uses the average cost to determine the value of stock. </a:t>
            </a:r>
          </a:p>
          <a:p>
            <a:pPr algn="just">
              <a:lnSpc>
                <a:spcPct val="150000"/>
              </a:lnSpc>
              <a:buFont typeface="Wingdings" pitchFamily="2" charset="2"/>
              <a:buChar char="v"/>
            </a:pPr>
            <a:r>
              <a:rPr lang="en-US" sz="2200" dirty="0">
                <a:latin typeface="Times New Roman" pitchFamily="18" charset="0"/>
                <a:cs typeface="Times New Roman" pitchFamily="18" charset="0"/>
              </a:rPr>
              <a:t>In the present example, the average cost of material would be calculated as = (200×50 + 200×60)/400 = Rs. 55/ kg. </a:t>
            </a:r>
          </a:p>
          <a:p>
            <a:pPr algn="just">
              <a:lnSpc>
                <a:spcPct val="150000"/>
              </a:lnSpc>
              <a:buFont typeface="Wingdings" pitchFamily="2" charset="2"/>
              <a:buChar char="v"/>
            </a:pPr>
            <a:r>
              <a:rPr lang="en-US" sz="2200" dirty="0">
                <a:latin typeface="Times New Roman" pitchFamily="18" charset="0"/>
                <a:cs typeface="Times New Roman" pitchFamily="18" charset="0"/>
              </a:rPr>
              <a:t>Using this average cost, 200 kilograms that is withdrawn at T3 will be valued at Rs. 55× 200 = Rs. 11000</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Effects of Inflation on Valuation of Stock</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If prices were constant during the period, all three methods of valuation, namely FIFO, LIFO, and weighted average would produce the exact same result since each unit would have been purchased for an identical amount. </a:t>
            </a:r>
          </a:p>
          <a:p>
            <a:pPr algn="just">
              <a:lnSpc>
                <a:spcPct val="150000"/>
              </a:lnSpc>
              <a:buFont typeface="Wingdings" pitchFamily="2" charset="2"/>
              <a:buChar char="v"/>
            </a:pPr>
            <a:r>
              <a:rPr lang="en-US" sz="2000" dirty="0">
                <a:latin typeface="Times New Roman" pitchFamily="18" charset="0"/>
                <a:cs typeface="Times New Roman" pitchFamily="18" charset="0"/>
              </a:rPr>
              <a:t>But, since prices usually change, each method will produce different results. </a:t>
            </a:r>
          </a:p>
          <a:p>
            <a:pPr algn="just">
              <a:lnSpc>
                <a:spcPct val="150000"/>
              </a:lnSpc>
              <a:buFont typeface="Wingdings" pitchFamily="2" charset="2"/>
              <a:buChar char="v"/>
            </a:pPr>
            <a:r>
              <a:rPr lang="en-US" sz="2000" dirty="0">
                <a:latin typeface="Times New Roman" pitchFamily="18" charset="0"/>
                <a:cs typeface="Times New Roman" pitchFamily="18" charset="0"/>
              </a:rPr>
              <a:t>During periods of inflation, LIFO will generate a lower amount of gross profit and a lower inventory value. </a:t>
            </a:r>
          </a:p>
          <a:p>
            <a:pPr algn="just">
              <a:lnSpc>
                <a:spcPct val="150000"/>
              </a:lnSpc>
              <a:buFont typeface="Wingdings" pitchFamily="2" charset="2"/>
              <a:buChar char="v"/>
            </a:pPr>
            <a:r>
              <a:rPr lang="en-US" sz="2000" dirty="0">
                <a:latin typeface="Times New Roman" pitchFamily="18" charset="0"/>
                <a:cs typeface="Times New Roman" pitchFamily="18" charset="0"/>
              </a:rPr>
              <a:t>The FIFO method will produce a higher gross profit and a higher ending inventory balance. </a:t>
            </a:r>
          </a:p>
          <a:p>
            <a:pPr algn="just">
              <a:lnSpc>
                <a:spcPct val="150000"/>
              </a:lnSpc>
              <a:buFont typeface="Wingdings" pitchFamily="2" charset="2"/>
              <a:buChar char="v"/>
            </a:pPr>
            <a:r>
              <a:rPr lang="en-US" sz="2000" dirty="0">
                <a:latin typeface="Times New Roman" pitchFamily="18" charset="0"/>
                <a:cs typeface="Times New Roman" pitchFamily="18" charset="0"/>
              </a:rPr>
              <a:t>During periods of inflation, LIFO offers substantial tax savings due to lower profits and lower inventories. </a:t>
            </a:r>
          </a:p>
          <a:p>
            <a:pPr algn="just">
              <a:lnSpc>
                <a:spcPct val="150000"/>
              </a:lnSpc>
              <a:buFont typeface="Wingdings" pitchFamily="2" charset="2"/>
              <a:buChar char="v"/>
            </a:pPr>
            <a:r>
              <a:rPr lang="en-US" sz="2000" dirty="0">
                <a:latin typeface="Times New Roman" pitchFamily="18" charset="0"/>
                <a:cs typeface="Times New Roman" pitchFamily="18" charset="0"/>
              </a:rPr>
              <a:t>However, in periods of deflation, the effects are just the opposite.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Budget and Budgetary Control</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Budgets are formal quantitative statements of the resources set aside for carrying out planned activities over given periods of time. </a:t>
            </a:r>
          </a:p>
          <a:p>
            <a:pPr algn="just">
              <a:lnSpc>
                <a:spcPct val="150000"/>
              </a:lnSpc>
              <a:buFont typeface="Wingdings" pitchFamily="2" charset="2"/>
              <a:buChar char="v"/>
            </a:pPr>
            <a:r>
              <a:rPr lang="en-US" sz="2200" dirty="0">
                <a:latin typeface="Times New Roman" pitchFamily="18" charset="0"/>
                <a:cs typeface="Times New Roman" pitchFamily="18" charset="0"/>
              </a:rPr>
              <a:t>As such, they are widely used means for planning and controlling activities at every level of the organization. </a:t>
            </a:r>
          </a:p>
          <a:p>
            <a:pPr algn="just">
              <a:lnSpc>
                <a:spcPct val="150000"/>
              </a:lnSpc>
              <a:buFont typeface="Wingdings" pitchFamily="2" charset="2"/>
              <a:buChar char="v"/>
            </a:pPr>
            <a:r>
              <a:rPr lang="en-US" sz="2200" dirty="0">
                <a:latin typeface="Times New Roman" pitchFamily="18" charset="0"/>
                <a:cs typeface="Times New Roman" pitchFamily="18" charset="0"/>
              </a:rPr>
              <a:t>In addition to being a major control device, budgets are one of the major means of coordinating the activities of the organization. </a:t>
            </a:r>
          </a:p>
          <a:p>
            <a:pPr algn="just">
              <a:lnSpc>
                <a:spcPct val="150000"/>
              </a:lnSpc>
              <a:buFont typeface="Wingdings" pitchFamily="2" charset="2"/>
              <a:buChar char="v"/>
            </a:pPr>
            <a:r>
              <a:rPr lang="en-US" sz="2200" dirty="0">
                <a:latin typeface="Times New Roman" pitchFamily="18" charset="0"/>
                <a:cs typeface="Times New Roman" pitchFamily="18" charset="0"/>
              </a:rPr>
              <a:t>The interaction between managers and subordinates that takes place during the budget development process will help define and integrate the activities of the organization members.</a:t>
            </a:r>
          </a:p>
          <a:p>
            <a:pPr algn="just">
              <a:lnSpc>
                <a:spcPct val="150000"/>
              </a:lnSpc>
              <a:buFont typeface="Wingdings" pitchFamily="2" charset="2"/>
              <a:buChar char="v"/>
            </a:pPr>
            <a:r>
              <a:rPr lang="en-US" sz="2200" dirty="0">
                <a:latin typeface="Times New Roman" pitchFamily="18" charset="0"/>
                <a:cs typeface="Times New Roman" pitchFamily="18" charset="0"/>
              </a:rPr>
              <a:t>There are a number of reasons for their wide range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Budget and Budgetary Control</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First, budgets are stated in monetary terms, which are easily used as a common denominator for a wide variety of organizational activities – hiring and training personnel, purchasing equipment, manufacturing, advertising and selling. </a:t>
            </a:r>
          </a:p>
          <a:p>
            <a:pPr algn="just">
              <a:lnSpc>
                <a:spcPct val="150000"/>
              </a:lnSpc>
              <a:buFont typeface="Wingdings" pitchFamily="2" charset="2"/>
              <a:buChar char="v"/>
            </a:pPr>
            <a:r>
              <a:rPr lang="en-US" sz="2200" dirty="0">
                <a:latin typeface="Times New Roman" pitchFamily="18" charset="0"/>
                <a:cs typeface="Times New Roman" pitchFamily="18" charset="0"/>
              </a:rPr>
              <a:t>Second, the monetary aspects of budgets means that they can directly convey information on a key organizational resource – capital – and on a key organizational goal – profit. </a:t>
            </a:r>
          </a:p>
          <a:p>
            <a:pPr algn="just">
              <a:lnSpc>
                <a:spcPct val="150000"/>
              </a:lnSpc>
              <a:buFont typeface="Wingdings" pitchFamily="2" charset="2"/>
              <a:buChar char="v"/>
            </a:pPr>
            <a:r>
              <a:rPr lang="en-US" sz="2200" dirty="0">
                <a:latin typeface="Times New Roman" pitchFamily="18" charset="0"/>
                <a:cs typeface="Times New Roman" pitchFamily="18" charset="0"/>
              </a:rPr>
              <a:t>Third, budgets establish clear and unambiguous standards of performance for a set time period – usually a year. At stated intervals during that time period, actual performance will be compared directly with the budget. Deviations can be detected quickly and acted upon.</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Budget and Budgetary Control</a:t>
            </a:r>
          </a:p>
        </p:txBody>
      </p:sp>
      <p:pic>
        <p:nvPicPr>
          <p:cNvPr id="1026" name="Picture 2"/>
          <p:cNvPicPr>
            <a:picLocks noChangeAspect="1" noChangeArrowheads="1"/>
          </p:cNvPicPr>
          <p:nvPr/>
        </p:nvPicPr>
        <p:blipFill>
          <a:blip r:embed="rId2" cstate="print"/>
          <a:srcRect/>
          <a:stretch>
            <a:fillRect/>
          </a:stretch>
        </p:blipFill>
        <p:spPr bwMode="auto">
          <a:xfrm>
            <a:off x="251521" y="908719"/>
            <a:ext cx="8674246" cy="4877825"/>
          </a:xfrm>
          <a:prstGeom prst="rect">
            <a:avLst/>
          </a:prstGeom>
          <a:noFill/>
          <a:ln w="9525">
            <a:noFill/>
            <a:miter lim="800000"/>
            <a:headEnd/>
            <a:tailEnd/>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Budget and Budgetary Control</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Operating Budget- Budget indicating the goods and services the organization expects to consume in a budget period</a:t>
            </a:r>
          </a:p>
          <a:p>
            <a:pPr algn="just">
              <a:lnSpc>
                <a:spcPct val="200000"/>
              </a:lnSpc>
              <a:buFont typeface="Wingdings" pitchFamily="2" charset="2"/>
              <a:buChar char="Ø"/>
            </a:pPr>
            <a:r>
              <a:rPr lang="en-US" sz="2200" dirty="0">
                <a:latin typeface="Times New Roman" pitchFamily="18" charset="0"/>
                <a:cs typeface="Times New Roman" pitchFamily="18" charset="0"/>
              </a:rPr>
              <a:t>Financial Budget- Budget detailing the money expected to be spent during the budget period and indicating its sources</a:t>
            </a:r>
          </a:p>
          <a:p>
            <a:pPr algn="just">
              <a:lnSpc>
                <a:spcPct val="200000"/>
              </a:lnSpc>
              <a:buFont typeface="Wingdings" pitchFamily="2" charset="2"/>
              <a:buChar char="Ø"/>
            </a:pPr>
            <a:r>
              <a:rPr lang="en-US" sz="2200" dirty="0">
                <a:latin typeface="Times New Roman" pitchFamily="18" charset="0"/>
                <a:cs typeface="Times New Roman" pitchFamily="18" charset="0"/>
              </a:rPr>
              <a:t>Expense Budget- Budget explaining where money was applied</a:t>
            </a:r>
          </a:p>
          <a:p>
            <a:pPr algn="just">
              <a:lnSpc>
                <a:spcPct val="200000"/>
              </a:lnSpc>
              <a:buFont typeface="Wingdings" pitchFamily="2" charset="2"/>
              <a:buChar char="Ø"/>
            </a:pPr>
            <a:r>
              <a:rPr lang="en-US" sz="2200" dirty="0">
                <a:latin typeface="Times New Roman" pitchFamily="18" charset="0"/>
                <a:cs typeface="Times New Roman" pitchFamily="18" charset="0"/>
              </a:rPr>
              <a:t>Engineered Cost Budget- Type of expense budget that describes material and </a:t>
            </a:r>
            <a:r>
              <a:rPr lang="en-US" sz="2200" dirty="0" err="1">
                <a:latin typeface="Times New Roman" pitchFamily="18" charset="0"/>
                <a:cs typeface="Times New Roman" pitchFamily="18" charset="0"/>
              </a:rPr>
              <a:t>labour</a:t>
            </a:r>
            <a:r>
              <a:rPr lang="en-US" sz="2200" dirty="0">
                <a:latin typeface="Times New Roman" pitchFamily="18" charset="0"/>
                <a:cs typeface="Times New Roman" pitchFamily="18" charset="0"/>
              </a:rPr>
              <a:t> cost of each item produced, including estimated overhead costs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Budget and Budgetary Control</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200000"/>
              </a:lnSpc>
              <a:buFont typeface="Wingdings" pitchFamily="2" charset="2"/>
              <a:buChar char="Ø"/>
            </a:pPr>
            <a:r>
              <a:rPr lang="en-US" sz="2200" dirty="0">
                <a:latin typeface="Times New Roman" pitchFamily="18" charset="0"/>
                <a:cs typeface="Times New Roman" pitchFamily="18" charset="0"/>
              </a:rPr>
              <a:t>Discretionary Cost Budget- Type of expense budget that is used for departments in which output cannot be accurately measured</a:t>
            </a:r>
          </a:p>
          <a:p>
            <a:pPr algn="just">
              <a:lnSpc>
                <a:spcPct val="200000"/>
              </a:lnSpc>
              <a:buFont typeface="Wingdings" pitchFamily="2" charset="2"/>
              <a:buChar char="Ø"/>
            </a:pPr>
            <a:r>
              <a:rPr lang="en-US" sz="2200" dirty="0">
                <a:latin typeface="Times New Roman" pitchFamily="18" charset="0"/>
                <a:cs typeface="Times New Roman" pitchFamily="18" charset="0"/>
              </a:rPr>
              <a:t>Revenue Budget- Budget for projected sales revenue, used to measure marketing and sales effectiveness</a:t>
            </a:r>
          </a:p>
          <a:p>
            <a:pPr algn="just">
              <a:lnSpc>
                <a:spcPct val="200000"/>
              </a:lnSpc>
              <a:buFont typeface="Wingdings" pitchFamily="2" charset="2"/>
              <a:buChar char="Ø"/>
            </a:pPr>
            <a:r>
              <a:rPr lang="en-US" sz="2200" dirty="0">
                <a:latin typeface="Times New Roman" pitchFamily="18" charset="0"/>
                <a:cs typeface="Times New Roman" pitchFamily="18" charset="0"/>
              </a:rPr>
              <a:t>Profit Budget or Master Budget- Budget combining expense and revenue budgets in one unit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Elements of Cost</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For the purpose of identification, accounting and control, breakup of cost into its elements is essential. </a:t>
            </a:r>
          </a:p>
          <a:p>
            <a:pPr algn="just">
              <a:lnSpc>
                <a:spcPct val="150000"/>
              </a:lnSpc>
              <a:buFont typeface="Wingdings" pitchFamily="2" charset="2"/>
              <a:buChar char="v"/>
            </a:pPr>
            <a:r>
              <a:rPr lang="en-US" sz="2000" dirty="0">
                <a:latin typeface="Times New Roman" pitchFamily="18" charset="0"/>
                <a:cs typeface="Times New Roman" pitchFamily="18" charset="0"/>
              </a:rPr>
              <a:t>Costs are normally broken down into three basic elements, namely, material, </a:t>
            </a:r>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and expense. </a:t>
            </a:r>
          </a:p>
          <a:p>
            <a:pPr lvl="2" algn="just">
              <a:lnSpc>
                <a:spcPct val="150000"/>
              </a:lnSpc>
              <a:buFont typeface="Wingdings" pitchFamily="2" charset="2"/>
              <a:buChar char="Ø"/>
            </a:pPr>
            <a:r>
              <a:rPr lang="en-US" sz="2000" dirty="0">
                <a:latin typeface="Times New Roman" pitchFamily="18" charset="0"/>
                <a:cs typeface="Times New Roman" pitchFamily="18" charset="0"/>
              </a:rPr>
              <a:t>Material cost includes all materials consumed in the process of manufacture up to the primary packing. </a:t>
            </a:r>
          </a:p>
          <a:p>
            <a:pPr lvl="2" algn="just">
              <a:lnSpc>
                <a:spcPct val="150000"/>
              </a:lnSpc>
              <a:buFont typeface="Wingdings" pitchFamily="2" charset="2"/>
              <a:buChar char="Ø"/>
            </a:pPr>
            <a:r>
              <a:rPr lang="en-US" sz="2000" dirty="0" err="1">
                <a:latin typeface="Times New Roman" pitchFamily="18" charset="0"/>
                <a:cs typeface="Times New Roman" pitchFamily="18" charset="0"/>
              </a:rPr>
              <a:t>Labour</a:t>
            </a:r>
            <a:r>
              <a:rPr lang="en-US" sz="2000" dirty="0">
                <a:latin typeface="Times New Roman" pitchFamily="18" charset="0"/>
                <a:cs typeface="Times New Roman" pitchFamily="18" charset="0"/>
              </a:rPr>
              <a:t> cost includes all remuneration paid to the staff and workmen for conversion of raw materials into finished products.</a:t>
            </a:r>
          </a:p>
          <a:p>
            <a:pPr lvl="2" algn="just">
              <a:lnSpc>
                <a:spcPct val="150000"/>
              </a:lnSpc>
              <a:buFont typeface="Wingdings" pitchFamily="2" charset="2"/>
              <a:buChar char="Ø"/>
            </a:pPr>
            <a:r>
              <a:rPr lang="en-US" sz="2000" dirty="0">
                <a:latin typeface="Times New Roman" pitchFamily="18" charset="0"/>
                <a:cs typeface="Times New Roman" pitchFamily="18" charset="0"/>
              </a:rPr>
              <a:t>Expenses consist of the cost of utilities and services used for the conversion process including notional cost for the use of owned assets.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Elements of Cost</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Each of the cost elements can be further divided into direct and indirect cost.</a:t>
            </a:r>
          </a:p>
          <a:p>
            <a:pPr algn="just">
              <a:lnSpc>
                <a:spcPct val="150000"/>
              </a:lnSpc>
              <a:buFont typeface="Wingdings" pitchFamily="2" charset="2"/>
              <a:buChar char="v"/>
            </a:pPr>
            <a:r>
              <a:rPr lang="en-US" sz="2000" dirty="0">
                <a:latin typeface="Times New Roman" pitchFamily="18" charset="0"/>
                <a:cs typeface="Times New Roman" pitchFamily="18" charset="0"/>
              </a:rPr>
              <a:t>Direct costs are those which can be identified with or related to the product or services, so much so that an increase or decrease of a unit of product or service will affect the cost proportionately. </a:t>
            </a:r>
          </a:p>
          <a:p>
            <a:pPr algn="just">
              <a:lnSpc>
                <a:spcPct val="150000"/>
              </a:lnSpc>
              <a:buFont typeface="Wingdings" pitchFamily="2" charset="2"/>
              <a:buChar char="v"/>
            </a:pPr>
            <a:r>
              <a:rPr lang="en-US" sz="2000" dirty="0">
                <a:latin typeface="Times New Roman" pitchFamily="18" charset="0"/>
                <a:cs typeface="Times New Roman" pitchFamily="18" charset="0"/>
              </a:rPr>
              <a:t>Indirect cost, on the other hand, cannot be identified or traced to a given cost object but are related to the expenses incurred for maintaining facilities for such production or services. </a:t>
            </a:r>
          </a:p>
          <a:p>
            <a:pPr algn="just">
              <a:lnSpc>
                <a:spcPct val="150000"/>
              </a:lnSpc>
              <a:buFont typeface="Wingdings" pitchFamily="2" charset="2"/>
              <a:buChar char="v"/>
            </a:pPr>
            <a:r>
              <a:rPr lang="en-US" sz="2000" dirty="0">
                <a:latin typeface="Times New Roman" pitchFamily="18" charset="0"/>
                <a:cs typeface="Times New Roman" pitchFamily="18" charset="0"/>
              </a:rPr>
              <a:t>Thus, the elements of cost may be </a:t>
            </a:r>
            <a:r>
              <a:rPr lang="en-US" sz="2000" dirty="0" err="1">
                <a:latin typeface="Times New Roman" pitchFamily="18" charset="0"/>
                <a:cs typeface="Times New Roman" pitchFamily="18" charset="0"/>
              </a:rPr>
              <a:t>summarised</a:t>
            </a:r>
            <a:r>
              <a:rPr lang="en-US" sz="2000" dirty="0">
                <a:latin typeface="Times New Roman" pitchFamily="18" charset="0"/>
                <a:cs typeface="Times New Roman" pitchFamily="18" charset="0"/>
              </a:rPr>
              <a:t> as follows – </a:t>
            </a:r>
          </a:p>
          <a:p>
            <a:pPr marL="1714500" lvl="3" indent="-457200" algn="just">
              <a:lnSpc>
                <a:spcPct val="150000"/>
              </a:lnSpc>
              <a:buFont typeface="+mj-lt"/>
              <a:buAutoNum type="alphaLcParenR"/>
            </a:pPr>
            <a:r>
              <a:rPr lang="en-US" dirty="0">
                <a:latin typeface="Times New Roman" pitchFamily="18" charset="0"/>
                <a:cs typeface="Times New Roman" pitchFamily="18" charset="0"/>
              </a:rPr>
              <a:t>Direct materials and indirect materials</a:t>
            </a:r>
          </a:p>
          <a:p>
            <a:pPr marL="1714500" lvl="3" indent="-457200" algn="just">
              <a:lnSpc>
                <a:spcPct val="150000"/>
              </a:lnSpc>
              <a:buFont typeface="+mj-lt"/>
              <a:buAutoNum type="alphaLcParenR"/>
            </a:pPr>
            <a:r>
              <a:rPr lang="en-US" dirty="0">
                <a:latin typeface="Times New Roman" pitchFamily="18" charset="0"/>
                <a:cs typeface="Times New Roman" pitchFamily="18" charset="0"/>
              </a:rPr>
              <a:t>Direct wages and indirect wages</a:t>
            </a:r>
          </a:p>
          <a:p>
            <a:pPr marL="1714500" lvl="3" indent="-457200" algn="just">
              <a:lnSpc>
                <a:spcPct val="150000"/>
              </a:lnSpc>
              <a:buFont typeface="+mj-lt"/>
              <a:buAutoNum type="alphaLcParenR"/>
            </a:pPr>
            <a:r>
              <a:rPr lang="en-US" dirty="0">
                <a:latin typeface="Times New Roman" pitchFamily="18" charset="0"/>
                <a:cs typeface="Times New Roman" pitchFamily="18" charset="0"/>
              </a:rPr>
              <a:t>Direct expense and indirect expense.</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Elements of Cost</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The aggregate of direct materials cost, direct wages and direct expense is called Prime cost, while indirect materials cost, indirect wages and indirect expenses are collectively called overhead cost.</a:t>
            </a:r>
          </a:p>
          <a:p>
            <a:pPr algn="just">
              <a:lnSpc>
                <a:spcPct val="150000"/>
              </a:lnSpc>
              <a:buFont typeface="Wingdings" pitchFamily="2" charset="2"/>
              <a:buChar char="v"/>
            </a:pPr>
            <a:r>
              <a:rPr lang="en-US" sz="2000" dirty="0">
                <a:latin typeface="Times New Roman" pitchFamily="18" charset="0"/>
                <a:cs typeface="Times New Roman" pitchFamily="18" charset="0"/>
              </a:rPr>
              <a:t>Overheads are classified into </a:t>
            </a:r>
          </a:p>
          <a:p>
            <a:pPr lvl="2" algn="just">
              <a:lnSpc>
                <a:spcPct val="150000"/>
              </a:lnSpc>
              <a:buFont typeface="Wingdings" pitchFamily="2" charset="2"/>
              <a:buChar char="Ø"/>
            </a:pPr>
            <a:r>
              <a:rPr lang="en-US" sz="2000" dirty="0">
                <a:latin typeface="Times New Roman" pitchFamily="18" charset="0"/>
                <a:cs typeface="Times New Roman" pitchFamily="18" charset="0"/>
              </a:rPr>
              <a:t>production overheads i.e. indirect costs relating to manufacturing activities</a:t>
            </a:r>
          </a:p>
          <a:p>
            <a:pPr lvl="2" algn="just">
              <a:lnSpc>
                <a:spcPct val="150000"/>
              </a:lnSpc>
              <a:buFont typeface="Wingdings" pitchFamily="2" charset="2"/>
              <a:buChar char="Ø"/>
            </a:pPr>
            <a:r>
              <a:rPr lang="en-US" sz="2000" dirty="0">
                <a:latin typeface="Times New Roman" pitchFamily="18" charset="0"/>
                <a:cs typeface="Times New Roman" pitchFamily="18" charset="0"/>
              </a:rPr>
              <a:t>administration overheads i.e. costs relating to formulating the policy, directing the organization and controlling operations and selling</a:t>
            </a:r>
          </a:p>
          <a:p>
            <a:pPr lvl="2" algn="just">
              <a:lnSpc>
                <a:spcPct val="150000"/>
              </a:lnSpc>
              <a:buFont typeface="Wingdings" pitchFamily="2" charset="2"/>
              <a:buChar char="Ø"/>
            </a:pPr>
            <a:r>
              <a:rPr lang="en-US" sz="2000" dirty="0">
                <a:latin typeface="Times New Roman" pitchFamily="18" charset="0"/>
                <a:cs typeface="Times New Roman" pitchFamily="18" charset="0"/>
              </a:rPr>
              <a:t>Distribution overheads i.e. indirect costs relating to the activity of creating and stimulating demand and securing orders as well as operations relating to distribution of goods from factory warehouse to customers.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Elements of Cost</a:t>
            </a:r>
          </a:p>
        </p:txBody>
      </p:sp>
      <p:pic>
        <p:nvPicPr>
          <p:cNvPr id="1026" name="Picture 2"/>
          <p:cNvPicPr>
            <a:picLocks noChangeAspect="1" noChangeArrowheads="1"/>
          </p:cNvPicPr>
          <p:nvPr/>
        </p:nvPicPr>
        <p:blipFill>
          <a:blip r:embed="rId2" cstate="print"/>
          <a:srcRect/>
          <a:stretch>
            <a:fillRect/>
          </a:stretch>
        </p:blipFill>
        <p:spPr bwMode="auto">
          <a:xfrm>
            <a:off x="611559" y="1290639"/>
            <a:ext cx="7992889" cy="3746145"/>
          </a:xfrm>
          <a:prstGeom prst="rect">
            <a:avLst/>
          </a:prstGeom>
          <a:noFill/>
          <a:ln w="9525">
            <a:noFill/>
            <a:miter lim="800000"/>
            <a:headEnd/>
            <a:tailEnd/>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Allocation of Overheads</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000" dirty="0">
                <a:latin typeface="Times New Roman" pitchFamily="18" charset="0"/>
                <a:cs typeface="Times New Roman" pitchFamily="18" charset="0"/>
              </a:rPr>
              <a:t>Manufacturing Costs or Operating Costs are equal to the direct production costs + fixed charges + plant overhead costs and the overhead cost refers to any costs not specifically or directly associated with the production of identifiable goods or services. </a:t>
            </a:r>
          </a:p>
          <a:p>
            <a:pPr algn="just">
              <a:lnSpc>
                <a:spcPct val="150000"/>
              </a:lnSpc>
              <a:buFont typeface="Wingdings" pitchFamily="2" charset="2"/>
              <a:buChar char="v"/>
            </a:pPr>
            <a:r>
              <a:rPr lang="en-US" sz="2000" dirty="0">
                <a:latin typeface="Times New Roman" pitchFamily="18" charset="0"/>
                <a:cs typeface="Times New Roman" pitchFamily="18" charset="0"/>
              </a:rPr>
              <a:t>Therefore in order to calculate the total cost of the product it is necessary to assign the overhead to the product.</a:t>
            </a:r>
          </a:p>
          <a:p>
            <a:pPr algn="just">
              <a:lnSpc>
                <a:spcPct val="150000"/>
              </a:lnSpc>
              <a:buFont typeface="Wingdings" pitchFamily="2" charset="2"/>
              <a:buChar char="v"/>
            </a:pPr>
            <a:r>
              <a:rPr lang="en-US" sz="2000" dirty="0">
                <a:latin typeface="Times New Roman" pitchFamily="18" charset="0"/>
                <a:cs typeface="Times New Roman" pitchFamily="18" charset="0"/>
              </a:rPr>
              <a:t>If an industry is making only one product, a uniform charge for overhead may be possible. </a:t>
            </a:r>
          </a:p>
          <a:p>
            <a:pPr algn="just">
              <a:lnSpc>
                <a:spcPct val="150000"/>
              </a:lnSpc>
              <a:buFont typeface="Wingdings" pitchFamily="2" charset="2"/>
              <a:buChar char="v"/>
            </a:pPr>
            <a:r>
              <a:rPr lang="en-US" sz="2000" dirty="0">
                <a:latin typeface="Times New Roman" pitchFamily="18" charset="0"/>
                <a:cs typeface="Times New Roman" pitchFamily="18" charset="0"/>
              </a:rPr>
              <a:t>But if a number of different products are being manufactured, an equitable base must be sought out to charge each product with a fair and reasonable share of the overhead cost, so that the total cost of each unit may be calculated.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Allocation of Overheads</a:t>
            </a:r>
          </a:p>
        </p:txBody>
      </p:sp>
      <p:pic>
        <p:nvPicPr>
          <p:cNvPr id="2051" name="Picture 3"/>
          <p:cNvPicPr>
            <a:picLocks noChangeAspect="1" noChangeArrowheads="1"/>
          </p:cNvPicPr>
          <p:nvPr/>
        </p:nvPicPr>
        <p:blipFill>
          <a:blip r:embed="rId2" cstate="print"/>
          <a:srcRect/>
          <a:stretch>
            <a:fillRect/>
          </a:stretch>
        </p:blipFill>
        <p:spPr bwMode="auto">
          <a:xfrm>
            <a:off x="276225" y="847725"/>
            <a:ext cx="8591550" cy="5162550"/>
          </a:xfrm>
          <a:prstGeom prst="rect">
            <a:avLst/>
          </a:prstGeom>
          <a:noFill/>
          <a:ln w="9525">
            <a:noFill/>
            <a:miter lim="800000"/>
            <a:headEnd/>
            <a:tailEnd/>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764704"/>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Allocation of Overheads</a:t>
            </a:r>
          </a:p>
        </p:txBody>
      </p:sp>
      <p:pic>
        <p:nvPicPr>
          <p:cNvPr id="1026" name="Picture 2" descr="F:\SOE\POM 2020\Allocaion of Overhead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052736"/>
            <a:ext cx="7802563" cy="5381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Standard Costing</a:t>
            </a:r>
          </a:p>
        </p:txBody>
      </p:sp>
      <p:sp>
        <p:nvSpPr>
          <p:cNvPr id="3" name="Content Placeholder 2"/>
          <p:cNvSpPr>
            <a:spLocks noGrp="1"/>
          </p:cNvSpPr>
          <p:nvPr>
            <p:ph idx="1"/>
          </p:nvPr>
        </p:nvSpPr>
        <p:spPr>
          <a:xfrm>
            <a:off x="251520" y="836712"/>
            <a:ext cx="8640960" cy="5616624"/>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Standard cost is defined as a predetermined cost which is calculated from management standards of efficient operations and the relevant necessary expenditure. </a:t>
            </a:r>
          </a:p>
          <a:p>
            <a:pPr algn="just">
              <a:lnSpc>
                <a:spcPct val="200000"/>
              </a:lnSpc>
              <a:buFont typeface="Wingdings" pitchFamily="2" charset="2"/>
              <a:buChar char="v"/>
            </a:pPr>
            <a:r>
              <a:rPr lang="en-US" sz="2200" dirty="0">
                <a:latin typeface="Times New Roman" pitchFamily="18" charset="0"/>
                <a:cs typeface="Times New Roman" pitchFamily="18" charset="0"/>
              </a:rPr>
              <a:t>They are the predetermined costs on technical estimate of material, </a:t>
            </a:r>
            <a:r>
              <a:rPr lang="en-US" sz="2200" dirty="0" err="1">
                <a:latin typeface="Times New Roman" pitchFamily="18" charset="0"/>
                <a:cs typeface="Times New Roman" pitchFamily="18" charset="0"/>
              </a:rPr>
              <a:t>labour</a:t>
            </a:r>
            <a:r>
              <a:rPr lang="en-US" sz="2200" dirty="0">
                <a:latin typeface="Times New Roman" pitchFamily="18" charset="0"/>
                <a:cs typeface="Times New Roman" pitchFamily="18" charset="0"/>
              </a:rPr>
              <a:t> and overhead for a selected period of time and for a prescribed set of working conditions. </a:t>
            </a:r>
          </a:p>
          <a:p>
            <a:pPr algn="just">
              <a:lnSpc>
                <a:spcPct val="200000"/>
              </a:lnSpc>
              <a:buFont typeface="Wingdings" pitchFamily="2" charset="2"/>
              <a:buChar char="v"/>
            </a:pPr>
            <a:r>
              <a:rPr lang="en-US" sz="2200" dirty="0">
                <a:latin typeface="Times New Roman" pitchFamily="18" charset="0"/>
                <a:cs typeface="Times New Roman" pitchFamily="18" charset="0"/>
              </a:rPr>
              <a:t>In other words, a standard cost is a planned cost for a unit of product or service rendered.</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Standard Costing</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200000"/>
              </a:lnSpc>
              <a:buFont typeface="Wingdings" pitchFamily="2" charset="2"/>
              <a:buChar char="v"/>
            </a:pPr>
            <a:r>
              <a:rPr lang="en-US" sz="2200" dirty="0">
                <a:latin typeface="Times New Roman" pitchFamily="18" charset="0"/>
                <a:cs typeface="Times New Roman" pitchFamily="18" charset="0"/>
              </a:rPr>
              <a:t>The technique of using standard costs for the purposes of cost control is known as standard costing.</a:t>
            </a:r>
          </a:p>
          <a:p>
            <a:pPr algn="just">
              <a:lnSpc>
                <a:spcPct val="200000"/>
              </a:lnSpc>
              <a:buFont typeface="Wingdings" pitchFamily="2" charset="2"/>
              <a:buChar char="v"/>
            </a:pPr>
            <a:r>
              <a:rPr lang="en-US" sz="2200" dirty="0">
                <a:latin typeface="Times New Roman" pitchFamily="18" charset="0"/>
                <a:cs typeface="Times New Roman" pitchFamily="18" charset="0"/>
              </a:rPr>
              <a:t>It is a system of cost accounting which is designed to find out how much should be the cost of a product under the existing conditions. </a:t>
            </a:r>
          </a:p>
          <a:p>
            <a:pPr algn="just">
              <a:lnSpc>
                <a:spcPct val="200000"/>
              </a:lnSpc>
              <a:buFont typeface="Wingdings" pitchFamily="2" charset="2"/>
              <a:buChar char="v"/>
            </a:pPr>
            <a:r>
              <a:rPr lang="en-US" sz="2200" dirty="0">
                <a:latin typeface="Times New Roman" pitchFamily="18" charset="0"/>
                <a:cs typeface="Times New Roman" pitchFamily="18" charset="0"/>
              </a:rPr>
              <a:t>The actual cost can be ascertained only when production is undertaken.</a:t>
            </a:r>
          </a:p>
          <a:p>
            <a:pPr algn="just">
              <a:lnSpc>
                <a:spcPct val="200000"/>
              </a:lnSpc>
              <a:buFont typeface="Wingdings" pitchFamily="2" charset="2"/>
              <a:buChar char="v"/>
            </a:pPr>
            <a:r>
              <a:rPr lang="en-US" sz="2200" dirty="0">
                <a:latin typeface="Times New Roman" pitchFamily="18" charset="0"/>
                <a:cs typeface="Times New Roman" pitchFamily="18" charset="0"/>
              </a:rPr>
              <a:t>The predetermined cost is compared to the actual cost and a variance between the two enables the management to take necessary corrective measures.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712968" cy="836712"/>
          </a:xfrm>
        </p:spPr>
        <p:txBody>
          <a:bodyPr>
            <a:noAutofit/>
          </a:bodyPr>
          <a:lstStyle/>
          <a:p>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Marginal Costing</a:t>
            </a:r>
          </a:p>
        </p:txBody>
      </p:sp>
      <p:sp>
        <p:nvSpPr>
          <p:cNvPr id="3" name="Content Placeholder 2"/>
          <p:cNvSpPr>
            <a:spLocks noGrp="1"/>
          </p:cNvSpPr>
          <p:nvPr>
            <p:ph idx="1"/>
          </p:nvPr>
        </p:nvSpPr>
        <p:spPr>
          <a:xfrm>
            <a:off x="251520" y="764704"/>
            <a:ext cx="8640960" cy="5760640"/>
          </a:xfrm>
        </p:spPr>
        <p:txBody>
          <a:bodyPr>
            <a:noAutofit/>
          </a:bodyPr>
          <a:lstStyle/>
          <a:p>
            <a:pPr algn="just">
              <a:lnSpc>
                <a:spcPct val="150000"/>
              </a:lnSpc>
              <a:buFont typeface="Wingdings" pitchFamily="2" charset="2"/>
              <a:buChar char="v"/>
            </a:pPr>
            <a:r>
              <a:rPr lang="en-US" sz="2200" dirty="0">
                <a:latin typeface="Times New Roman" pitchFamily="18" charset="0"/>
                <a:cs typeface="Times New Roman" pitchFamily="18" charset="0"/>
              </a:rPr>
              <a:t>Marginal cost means the cost of the marginal or last unit produced. </a:t>
            </a:r>
          </a:p>
          <a:p>
            <a:pPr algn="just">
              <a:lnSpc>
                <a:spcPct val="150000"/>
              </a:lnSpc>
              <a:buFont typeface="Wingdings" pitchFamily="2" charset="2"/>
              <a:buChar char="v"/>
            </a:pPr>
            <a:r>
              <a:rPr lang="en-US" sz="2200" dirty="0">
                <a:latin typeface="Times New Roman" pitchFamily="18" charset="0"/>
                <a:cs typeface="Times New Roman" pitchFamily="18" charset="0"/>
              </a:rPr>
              <a:t>It is also defined as the cost of one more or one less unit produced besides existing level of production.</a:t>
            </a:r>
          </a:p>
          <a:p>
            <a:pPr algn="just">
              <a:lnSpc>
                <a:spcPct val="150000"/>
              </a:lnSpc>
              <a:buFont typeface="Wingdings" pitchFamily="2" charset="2"/>
              <a:buChar char="v"/>
            </a:pPr>
            <a:r>
              <a:rPr lang="en-US" sz="2200" dirty="0">
                <a:latin typeface="Times New Roman" pitchFamily="18" charset="0"/>
                <a:cs typeface="Times New Roman" pitchFamily="18" charset="0"/>
              </a:rPr>
              <a:t>The marginal cost of a product is its variable cost. </a:t>
            </a:r>
          </a:p>
          <a:p>
            <a:pPr algn="just">
              <a:lnSpc>
                <a:spcPct val="150000"/>
              </a:lnSpc>
              <a:buFont typeface="Wingdings" pitchFamily="2" charset="2"/>
              <a:buChar char="v"/>
            </a:pPr>
            <a:r>
              <a:rPr lang="en-US" sz="2200" dirty="0">
                <a:latin typeface="Times New Roman" pitchFamily="18" charset="0"/>
                <a:cs typeface="Times New Roman" pitchFamily="18" charset="0"/>
              </a:rPr>
              <a:t>This is normally taken to be direct </a:t>
            </a:r>
            <a:r>
              <a:rPr lang="en-US" sz="2200" dirty="0" err="1">
                <a:latin typeface="Times New Roman" pitchFamily="18" charset="0"/>
                <a:cs typeface="Times New Roman" pitchFamily="18" charset="0"/>
              </a:rPr>
              <a:t>labour</a:t>
            </a:r>
            <a:r>
              <a:rPr lang="en-US" sz="2200" dirty="0">
                <a:latin typeface="Times New Roman" pitchFamily="18" charset="0"/>
                <a:cs typeface="Times New Roman" pitchFamily="18" charset="0"/>
              </a:rPr>
              <a:t>, direct material, direct expenses and the variable part of overheads. </a:t>
            </a:r>
          </a:p>
          <a:p>
            <a:pPr algn="just">
              <a:lnSpc>
                <a:spcPct val="150000"/>
              </a:lnSpc>
              <a:buFont typeface="Wingdings" pitchFamily="2" charset="2"/>
              <a:buChar char="v"/>
            </a:pPr>
            <a:r>
              <a:rPr lang="en-US" sz="2200" dirty="0">
                <a:latin typeface="Times New Roman" pitchFamily="18" charset="0"/>
                <a:cs typeface="Times New Roman" pitchFamily="18" charset="0"/>
              </a:rPr>
              <a:t>Marginal costing technique has given birth to a very useful concept of contribution where contribution is given by: Sales revenue less variable cost (marginal cost)</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504056"/>
          </a:xfrm>
        </p:spPr>
        <p:txBody>
          <a:bodyPr>
            <a:noAutofit/>
          </a:bodyPr>
          <a:lstStyle/>
          <a:p>
            <a:pPr>
              <a:lnSpc>
                <a:spcPct val="20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Break Even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srcRect/>
          <a:stretch>
            <a:fillRect/>
          </a:stretch>
        </p:blipFill>
        <p:spPr bwMode="auto">
          <a:xfrm>
            <a:off x="251520" y="1124744"/>
            <a:ext cx="8559502" cy="5040559"/>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9144000" cy="504056"/>
          </a:xfrm>
        </p:spPr>
        <p:txBody>
          <a:bodyPr>
            <a:noAutofit/>
          </a:bodyPr>
          <a:lstStyle/>
          <a:p>
            <a:pPr>
              <a:lnSpc>
                <a:spcPct val="200000"/>
              </a:lnSpc>
            </a:pPr>
            <a:r>
              <a:rPr lang="en-US"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Break Even Analysis</a:t>
            </a:r>
            <a:endParaRPr lang="en-IN" sz="3200" b="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cstate="print"/>
          <a:srcRect/>
          <a:stretch>
            <a:fillRect/>
          </a:stretch>
        </p:blipFill>
        <p:spPr bwMode="auto">
          <a:xfrm>
            <a:off x="683568" y="4293096"/>
            <a:ext cx="7556515" cy="2399704"/>
          </a:xfrm>
          <a:prstGeom prst="rect">
            <a:avLst/>
          </a:prstGeom>
          <a:noFill/>
          <a:ln w="9525">
            <a:noFill/>
            <a:miter lim="800000"/>
            <a:headEnd/>
            <a:tailEnd/>
          </a:ln>
        </p:spPr>
      </p:pic>
      <p:sp>
        <p:nvSpPr>
          <p:cNvPr id="4" name="TextBox 3"/>
          <p:cNvSpPr txBox="1"/>
          <p:nvPr/>
        </p:nvSpPr>
        <p:spPr>
          <a:xfrm>
            <a:off x="323528" y="908720"/>
            <a:ext cx="8568952" cy="2326791"/>
          </a:xfrm>
          <a:prstGeom prst="rect">
            <a:avLst/>
          </a:prstGeom>
          <a:noFill/>
        </p:spPr>
        <p:txBody>
          <a:bodyPr wrap="square" rtlCol="0">
            <a:spAutoFit/>
          </a:bodyPr>
          <a:lstStyle/>
          <a:p>
            <a:pPr marL="342900" indent="-342900" algn="just">
              <a:spcBef>
                <a:spcPct val="20000"/>
              </a:spcBef>
              <a:buFont typeface="Wingdings" pitchFamily="2" charset="2"/>
              <a:buChar char="v"/>
            </a:pPr>
            <a:r>
              <a:rPr lang="en-US" sz="2200" dirty="0">
                <a:latin typeface="Times New Roman" pitchFamily="18" charset="0"/>
                <a:cs typeface="Times New Roman" pitchFamily="18" charset="0"/>
              </a:rPr>
              <a:t>Contribution may be defined as the profit before the recovery of fixed costs. </a:t>
            </a:r>
          </a:p>
          <a:p>
            <a:pPr marL="342900" indent="-342900" algn="just">
              <a:spcBef>
                <a:spcPct val="20000"/>
              </a:spcBef>
              <a:buFont typeface="Wingdings" pitchFamily="2" charset="2"/>
              <a:buChar char="v"/>
            </a:pPr>
            <a:r>
              <a:rPr lang="en-US" sz="2200" dirty="0">
                <a:latin typeface="Times New Roman" pitchFamily="18" charset="0"/>
                <a:cs typeface="Times New Roman" pitchFamily="18" charset="0"/>
              </a:rPr>
              <a:t>Thus, contribution goes toward the recovery of fixed cost and profit, and is equal to fixed cost plus profit (C = F + P). </a:t>
            </a:r>
          </a:p>
          <a:p>
            <a:pPr marL="342900" indent="-342900" algn="just">
              <a:spcBef>
                <a:spcPct val="20000"/>
              </a:spcBef>
              <a:buFont typeface="Wingdings" pitchFamily="2" charset="2"/>
              <a:buChar char="v"/>
            </a:pPr>
            <a:r>
              <a:rPr lang="en-US" sz="2200" dirty="0">
                <a:latin typeface="Times New Roman" pitchFamily="18" charset="0"/>
                <a:cs typeface="Times New Roman" pitchFamily="18" charset="0"/>
              </a:rPr>
              <a:t>In case a firm neither makes profit nor suffers loss, contribution will be just equal to fixed cost (C = F). This is known as break even point.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27628</TotalTime>
  <Words>6454</Words>
  <Application>Microsoft Office PowerPoint</Application>
  <PresentationFormat>On-screen Show (4:3)</PresentationFormat>
  <Paragraphs>561</Paragraphs>
  <Slides>123</Slides>
  <Notes>0</Notes>
  <HiddenSlides>0</HiddenSlides>
  <MMClips>0</MMClips>
  <ScaleCrop>false</ScaleCrop>
  <HeadingPairs>
    <vt:vector size="4" baseType="variant">
      <vt:variant>
        <vt:lpstr>Theme</vt:lpstr>
      </vt:variant>
      <vt:variant>
        <vt:i4>1</vt:i4>
      </vt:variant>
      <vt:variant>
        <vt:lpstr>Slide Titles</vt:lpstr>
      </vt:variant>
      <vt:variant>
        <vt:i4>123</vt:i4>
      </vt:variant>
    </vt:vector>
  </HeadingPairs>
  <TitlesOfParts>
    <vt:vector size="124" baseType="lpstr">
      <vt:lpstr>Office Theme</vt:lpstr>
      <vt:lpstr>Topics  (Part 1)</vt:lpstr>
      <vt:lpstr>Personnel Management</vt:lpstr>
      <vt:lpstr>Objectives</vt:lpstr>
      <vt:lpstr>Principles of Personnel Management</vt:lpstr>
      <vt:lpstr>Principles of Personnel Management</vt:lpstr>
      <vt:lpstr>Functions/Scope</vt:lpstr>
      <vt:lpstr>Functions/Scope</vt:lpstr>
      <vt:lpstr>Functions of Human Resources Management</vt:lpstr>
      <vt:lpstr>1. Procurement </vt:lpstr>
      <vt:lpstr>Recruitment</vt:lpstr>
      <vt:lpstr>Selection</vt:lpstr>
      <vt:lpstr>PowerPoint Presentation</vt:lpstr>
      <vt:lpstr>PowerPoint Presentation</vt:lpstr>
      <vt:lpstr>2. Training and Development</vt:lpstr>
      <vt:lpstr>2. Training and Development</vt:lpstr>
      <vt:lpstr>On-the-job training methods</vt:lpstr>
      <vt:lpstr>On-the-job training methods </vt:lpstr>
      <vt:lpstr>Off-the-job training methods</vt:lpstr>
      <vt:lpstr>Off-the-job training methods</vt:lpstr>
      <vt:lpstr>Off-the-job training methods </vt:lpstr>
      <vt:lpstr>3. Compensation</vt:lpstr>
      <vt:lpstr>4. Integration</vt:lpstr>
      <vt:lpstr>5. Maintenance</vt:lpstr>
      <vt:lpstr>HRM process in organizations</vt:lpstr>
      <vt:lpstr>Wages and Incentives</vt:lpstr>
      <vt:lpstr>Wages and Incentives</vt:lpstr>
      <vt:lpstr>Incentive system </vt:lpstr>
      <vt:lpstr>Straight Piece Rate System - Advantages</vt:lpstr>
      <vt:lpstr>Straight Piece Rate System - Disadvantages</vt:lpstr>
      <vt:lpstr>Incentive system </vt:lpstr>
      <vt:lpstr>Straight Piece Rate System with a Guaranteed Wage - Advantages</vt:lpstr>
      <vt:lpstr>Straight Piece Rate System with a Guaranteed Wage - Disadvantages</vt:lpstr>
      <vt:lpstr>Incentive system </vt:lpstr>
      <vt:lpstr>Differential Piece Rate System - Advantages</vt:lpstr>
      <vt:lpstr>Differential Piece Rate System - Disadvantages</vt:lpstr>
      <vt:lpstr>Incentive system </vt:lpstr>
      <vt:lpstr>Topics  (Part 2)</vt:lpstr>
      <vt:lpstr>Definition</vt:lpstr>
      <vt:lpstr>Marketing Management</vt:lpstr>
      <vt:lpstr>Concept of Marketing Vs Selling</vt:lpstr>
      <vt:lpstr>PowerPoint Presentation</vt:lpstr>
      <vt:lpstr>Marketing System</vt:lpstr>
      <vt:lpstr>Market Segmentation</vt:lpstr>
      <vt:lpstr>Types/Methods of Market Segmentation</vt:lpstr>
      <vt:lpstr>Types/Methods of Market Segmentation</vt:lpstr>
      <vt:lpstr>Marketing Mix</vt:lpstr>
      <vt:lpstr>Product</vt:lpstr>
      <vt:lpstr>Product Life Cycle</vt:lpstr>
      <vt:lpstr>Pricing</vt:lpstr>
      <vt:lpstr>PowerPoint Presentation</vt:lpstr>
      <vt:lpstr>Pricing Methods</vt:lpstr>
      <vt:lpstr>Pricing Methods</vt:lpstr>
      <vt:lpstr>Pricing Methods</vt:lpstr>
      <vt:lpstr>The Market or Demand Approach</vt:lpstr>
      <vt:lpstr>Break Even Analysis</vt:lpstr>
      <vt:lpstr>Break Even Analysis</vt:lpstr>
      <vt:lpstr>Promotion</vt:lpstr>
      <vt:lpstr>Advertising</vt:lpstr>
      <vt:lpstr>Objectives</vt:lpstr>
      <vt:lpstr>Advertising Medium</vt:lpstr>
      <vt:lpstr>Personal Selling</vt:lpstr>
      <vt:lpstr>Personal Selling</vt:lpstr>
      <vt:lpstr>Sales promotion</vt:lpstr>
      <vt:lpstr>Methods of Sales Promotion</vt:lpstr>
      <vt:lpstr>Methods of Sales Promotion</vt:lpstr>
      <vt:lpstr>Physical Distribution/Channels of Distribution</vt:lpstr>
      <vt:lpstr>Physical Distribution/Channels of Distribution</vt:lpstr>
      <vt:lpstr>PowerPoint Presentation</vt:lpstr>
      <vt:lpstr>PowerPoint Presentation</vt:lpstr>
      <vt:lpstr>PowerPoint Presentation</vt:lpstr>
      <vt:lpstr>Consumer market v/s Industrial markets</vt:lpstr>
      <vt:lpstr>Consumer market v/s Industrial markets</vt:lpstr>
      <vt:lpstr>Topics  (Part 3)</vt:lpstr>
      <vt:lpstr>Financial Management</vt:lpstr>
      <vt:lpstr>Major tasks (or Functions) of  Financial Management</vt:lpstr>
      <vt:lpstr>Sources of Finance</vt:lpstr>
      <vt:lpstr>Issue of shares</vt:lpstr>
      <vt:lpstr>Issue of shares</vt:lpstr>
      <vt:lpstr>Issue of Debentures</vt:lpstr>
      <vt:lpstr>Issue of Debentures</vt:lpstr>
      <vt:lpstr>Term Loans</vt:lpstr>
      <vt:lpstr>Term Loans</vt:lpstr>
      <vt:lpstr>Ploughing Back of Earnings</vt:lpstr>
      <vt:lpstr>Trade Credit</vt:lpstr>
      <vt:lpstr>Bank Credit</vt:lpstr>
      <vt:lpstr>Installment Credit</vt:lpstr>
      <vt:lpstr>Customer Advances</vt:lpstr>
      <vt:lpstr>Financial Accounting and Book-keeping </vt:lpstr>
      <vt:lpstr>Types of Accounts</vt:lpstr>
      <vt:lpstr>Systems of Accounting</vt:lpstr>
      <vt:lpstr>Single entry system</vt:lpstr>
      <vt:lpstr>Double entry system</vt:lpstr>
      <vt:lpstr>The Journal</vt:lpstr>
      <vt:lpstr>The Ledger</vt:lpstr>
      <vt:lpstr>Trial Balance</vt:lpstr>
      <vt:lpstr>Cash Book</vt:lpstr>
      <vt:lpstr>Inflation</vt:lpstr>
      <vt:lpstr>1. Demand-pull Inflation</vt:lpstr>
      <vt:lpstr>2. Cost-push Inflation</vt:lpstr>
      <vt:lpstr>3. Pricing Power Inflation</vt:lpstr>
      <vt:lpstr>4. Sectoral Inflation</vt:lpstr>
      <vt:lpstr>Valuation of Stock</vt:lpstr>
      <vt:lpstr>1. First-In First-Out (FIFO)</vt:lpstr>
      <vt:lpstr>2. Last-In First-Out (LIFO)</vt:lpstr>
      <vt:lpstr>3. Weighted Average</vt:lpstr>
      <vt:lpstr>Effects of Inflation on Valuation of Stock</vt:lpstr>
      <vt:lpstr>Budget and Budgetary Control</vt:lpstr>
      <vt:lpstr>Budget and Budgetary Control</vt:lpstr>
      <vt:lpstr>Budget and Budgetary Control</vt:lpstr>
      <vt:lpstr>Budget and Budgetary Control</vt:lpstr>
      <vt:lpstr>Budget and Budgetary Control</vt:lpstr>
      <vt:lpstr>Elements of Cost</vt:lpstr>
      <vt:lpstr>Elements of Cost</vt:lpstr>
      <vt:lpstr>Elements of Cost</vt:lpstr>
      <vt:lpstr>Elements of Cost</vt:lpstr>
      <vt:lpstr>Allocation of Overheads</vt:lpstr>
      <vt:lpstr>Allocation of Overheads</vt:lpstr>
      <vt:lpstr>Allocation of Overheads</vt:lpstr>
      <vt:lpstr>Standard Costing</vt:lpstr>
      <vt:lpstr>Standard Costing</vt:lpstr>
      <vt:lpstr>Marginal Costing</vt:lpstr>
      <vt:lpstr>Break Even Analysis</vt:lpstr>
      <vt:lpstr>Break Even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Faizal</dc:creator>
  <cp:lastModifiedBy>Febin Suresh</cp:lastModifiedBy>
  <cp:revision>993</cp:revision>
  <dcterms:created xsi:type="dcterms:W3CDTF">2016-07-20T05:03:16Z</dcterms:created>
  <dcterms:modified xsi:type="dcterms:W3CDTF">2023-12-03T18:10:38Z</dcterms:modified>
</cp:coreProperties>
</file>