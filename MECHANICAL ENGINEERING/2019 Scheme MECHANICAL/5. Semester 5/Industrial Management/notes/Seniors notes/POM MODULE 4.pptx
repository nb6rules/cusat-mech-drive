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8" r:id="rId2"/>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7" r:id="rId19"/>
    <p:sldId id="365" r:id="rId20"/>
    <p:sldId id="366" r:id="rId21"/>
    <p:sldId id="368" r:id="rId22"/>
    <p:sldId id="369" r:id="rId23"/>
    <p:sldId id="370" r:id="rId24"/>
    <p:sldId id="372" r:id="rId25"/>
    <p:sldId id="371" r:id="rId26"/>
    <p:sldId id="374" r:id="rId27"/>
    <p:sldId id="373" r:id="rId28"/>
    <p:sldId id="375" r:id="rId29"/>
    <p:sldId id="376" r:id="rId30"/>
    <p:sldId id="377" r:id="rId31"/>
    <p:sldId id="378" r:id="rId32"/>
    <p:sldId id="379" r:id="rId33"/>
    <p:sldId id="380" r:id="rId34"/>
    <p:sldId id="381" r:id="rId35"/>
    <p:sldId id="382" r:id="rId36"/>
    <p:sldId id="383" r:id="rId37"/>
    <p:sldId id="385" r:id="rId38"/>
    <p:sldId id="386" r:id="rId39"/>
    <p:sldId id="387" r:id="rId40"/>
    <p:sldId id="384" r:id="rId41"/>
    <p:sldId id="391" r:id="rId42"/>
    <p:sldId id="388" r:id="rId43"/>
    <p:sldId id="389" r:id="rId44"/>
    <p:sldId id="390" r:id="rId45"/>
    <p:sldId id="39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70" d="100"/>
          <a:sy n="70" d="100"/>
        </p:scale>
        <p:origin x="-1302" y="96"/>
      </p:cViewPr>
      <p:guideLst>
        <p:guide orient="horz" pos="2160"/>
        <p:guide pos="2880"/>
      </p:guideLst>
    </p:cSldViewPr>
  </p:slideViewPr>
  <p:outlineViewPr>
    <p:cViewPr>
      <p:scale>
        <a:sx n="33" d="100"/>
        <a:sy n="33" d="100"/>
      </p:scale>
      <p:origin x="0" y="1854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notesMaster" Target="notesMasters/notesMaster1.xml" /><Relationship Id="rId50"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presProps" Target="presProps.xml" /><Relationship Id="rId8" Type="http://schemas.openxmlformats.org/officeDocument/2006/relationships/slide" Target="slides/slide7.xml" /><Relationship Id="rId51"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6959A0-D7AF-4AD5-8CDC-50076C4CE05E}" type="datetimeFigureOut">
              <a:rPr lang="en-US" smtClean="0"/>
              <a:pPr/>
              <a:t>12/3/2023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36E3FD-6D8C-46FF-AC2F-4917D4B60DD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79DBB1A-1FEB-47D5-AB0B-3B54F177EBBD}"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470FF-B805-4771-9235-962ECC72ADEA}"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03534-7D6C-454A-851B-D2AB72363025}"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A75CCB-1EEC-47B3-86D7-41D4042D5155}"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EE8AA7-411A-4EBE-A8A4-9C7FAE215C98}" type="datetime1">
              <a:rPr lang="en-US" smtClean="0"/>
              <a:pPr/>
              <a:t>12/3/2023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C46707-76B6-4DEA-97FB-028F8461C6F4}" type="datetime1">
              <a:rPr lang="en-US" smtClean="0"/>
              <a:pPr/>
              <a:t>12/3/2023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E7301E-D7A9-449A-90D9-52E583434F58}" type="datetime1">
              <a:rPr lang="en-US" smtClean="0"/>
              <a:pPr/>
              <a:t>12/3/2023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D8FC9C-6DF9-42FD-BCB5-227E0A06EFEE}"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4F78A0-ED48-40BD-A958-C786CD259003}"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25B49A-0D60-4A45-B342-6B952C46299F}"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4729A5-CD6D-46A8-B57D-60159B9E94C6}"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177EF-6467-4FEC-8EDC-D092C09FC836}" type="datetime1">
              <a:rPr lang="en-US" smtClean="0"/>
              <a:pPr/>
              <a:t>12/3/2023</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2A43B-CC61-4C08-A01B-A84C4E0E89A8}"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1)</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052736"/>
            <a:ext cx="7931224" cy="5073427"/>
          </a:xfrm>
        </p:spPr>
        <p:txBody>
          <a:bodyPr>
            <a:normAutofit fontScale="77500" lnSpcReduction="20000"/>
          </a:bodyPr>
          <a:lstStyle/>
          <a:p>
            <a:pPr algn="just">
              <a:lnSpc>
                <a:spcPct val="160000"/>
              </a:lnSpc>
              <a:buFont typeface="Wingdings" pitchFamily="2" charset="2"/>
              <a:buChar char="Ø"/>
            </a:pPr>
            <a:r>
              <a:rPr lang="en-US" sz="2400" b="1" dirty="0">
                <a:latin typeface="Times New Roman" pitchFamily="18" charset="0"/>
                <a:cs typeface="Times New Roman" pitchFamily="18" charset="0"/>
              </a:rPr>
              <a:t>Economics</a:t>
            </a:r>
            <a:endParaRPr lang="en-US" sz="2200" b="1" dirty="0">
              <a:effectLst>
                <a:outerShdw blurRad="38100" dist="38100" dir="2700000" algn="tl">
                  <a:srgbClr val="000000">
                    <a:alpha val="43137"/>
                  </a:srgbClr>
                </a:outerShdw>
              </a:effectLst>
              <a:latin typeface="Times New Roman" pitchFamily="18" charset="0"/>
              <a:cs typeface="Times New Roman" pitchFamily="18" charset="0"/>
            </a:endParaRPr>
          </a:p>
          <a:p>
            <a:pPr lvl="2" algn="just">
              <a:lnSpc>
                <a:spcPct val="160000"/>
              </a:lnSpc>
              <a:buFont typeface="Wingdings" pitchFamily="2" charset="2"/>
              <a:buChar char="ü"/>
            </a:pPr>
            <a:r>
              <a:rPr lang="en-US" sz="2200" dirty="0">
                <a:latin typeface="Times New Roman" pitchFamily="18" charset="0"/>
                <a:cs typeface="Times New Roman" pitchFamily="18" charset="0"/>
              </a:rPr>
              <a:t>  Principles of Economics</a:t>
            </a:r>
          </a:p>
          <a:p>
            <a:pPr lvl="2" algn="just">
              <a:lnSpc>
                <a:spcPct val="160000"/>
              </a:lnSpc>
              <a:buFont typeface="Wingdings" pitchFamily="2" charset="2"/>
              <a:buChar char="ü"/>
            </a:pPr>
            <a:r>
              <a:rPr lang="en-US" sz="2200" dirty="0">
                <a:latin typeface="Times New Roman" pitchFamily="18" charset="0"/>
                <a:cs typeface="Times New Roman" pitchFamily="18" charset="0"/>
              </a:rPr>
              <a:t>  Problem of Scarcity</a:t>
            </a:r>
          </a:p>
          <a:p>
            <a:pPr lvl="2" algn="just">
              <a:lnSpc>
                <a:spcPct val="160000"/>
              </a:lnSpc>
              <a:buFont typeface="Wingdings" pitchFamily="2" charset="2"/>
              <a:buChar char="ü"/>
            </a:pPr>
            <a:r>
              <a:rPr lang="en-US" sz="2200" dirty="0">
                <a:latin typeface="Times New Roman" pitchFamily="18" charset="0"/>
                <a:cs typeface="Times New Roman" pitchFamily="18" charset="0"/>
              </a:rPr>
              <a:t>  Demand</a:t>
            </a:r>
          </a:p>
          <a:p>
            <a:pPr lvl="2" algn="just">
              <a:lnSpc>
                <a:spcPct val="160000"/>
              </a:lnSpc>
              <a:buFont typeface="Wingdings" pitchFamily="2" charset="2"/>
              <a:buChar char="ü"/>
            </a:pPr>
            <a:r>
              <a:rPr lang="en-US" sz="2200" dirty="0">
                <a:latin typeface="Times New Roman" pitchFamily="18" charset="0"/>
                <a:cs typeface="Times New Roman" pitchFamily="18" charset="0"/>
              </a:rPr>
              <a:t>  Supply</a:t>
            </a:r>
          </a:p>
          <a:p>
            <a:pPr lvl="2" algn="just">
              <a:lnSpc>
                <a:spcPct val="160000"/>
              </a:lnSpc>
              <a:buFont typeface="Wingdings" pitchFamily="2" charset="2"/>
              <a:buChar char="ü"/>
            </a:pPr>
            <a:r>
              <a:rPr lang="en-US" sz="2200" dirty="0">
                <a:latin typeface="Times New Roman" pitchFamily="18" charset="0"/>
                <a:cs typeface="Times New Roman" pitchFamily="18" charset="0"/>
              </a:rPr>
              <a:t>  Utility</a:t>
            </a:r>
          </a:p>
          <a:p>
            <a:pPr lvl="2" algn="just">
              <a:lnSpc>
                <a:spcPct val="160000"/>
              </a:lnSpc>
              <a:buFont typeface="Wingdings" pitchFamily="2" charset="2"/>
              <a:buChar char="ü"/>
            </a:pPr>
            <a:r>
              <a:rPr lang="en-US" sz="2200" dirty="0">
                <a:latin typeface="Times New Roman" pitchFamily="18" charset="0"/>
                <a:cs typeface="Times New Roman" pitchFamily="18" charset="0"/>
              </a:rPr>
              <a:t>  Time value of money</a:t>
            </a:r>
          </a:p>
          <a:p>
            <a:pPr lvl="2" algn="just">
              <a:lnSpc>
                <a:spcPct val="160000"/>
              </a:lnSpc>
              <a:buFont typeface="Wingdings" pitchFamily="2" charset="2"/>
              <a:buChar char="ü"/>
            </a:pPr>
            <a:r>
              <a:rPr lang="en-US" sz="2200" dirty="0">
                <a:latin typeface="Times New Roman" pitchFamily="18" charset="0"/>
                <a:cs typeface="Times New Roman" pitchFamily="18" charset="0"/>
              </a:rPr>
              <a:t>  Inflation and Deflation</a:t>
            </a:r>
          </a:p>
          <a:p>
            <a:pPr lvl="2" algn="just">
              <a:lnSpc>
                <a:spcPct val="160000"/>
              </a:lnSpc>
              <a:buFont typeface="Wingdings" pitchFamily="2" charset="2"/>
              <a:buChar char="ü"/>
            </a:pPr>
            <a:r>
              <a:rPr lang="en-US" sz="2200" dirty="0">
                <a:latin typeface="Times New Roman" pitchFamily="18" charset="0"/>
                <a:cs typeface="Times New Roman" pitchFamily="18" charset="0"/>
              </a:rPr>
              <a:t>  Determination of price</a:t>
            </a:r>
          </a:p>
          <a:p>
            <a:pPr lvl="2" algn="just">
              <a:lnSpc>
                <a:spcPct val="160000"/>
              </a:lnSpc>
              <a:buFont typeface="Wingdings" pitchFamily="2" charset="2"/>
              <a:buChar char="ü"/>
            </a:pPr>
            <a:r>
              <a:rPr lang="en-US" sz="2200" dirty="0">
                <a:latin typeface="Times New Roman" pitchFamily="18" charset="0"/>
                <a:cs typeface="Times New Roman" pitchFamily="18" charset="0"/>
              </a:rPr>
              <a:t>  Consumer Optimization</a:t>
            </a:r>
          </a:p>
          <a:p>
            <a:pPr lvl="2" algn="just">
              <a:lnSpc>
                <a:spcPct val="160000"/>
              </a:lnSpc>
              <a:buFont typeface="Wingdings" pitchFamily="2" charset="2"/>
              <a:buChar char="ü"/>
            </a:pPr>
            <a:r>
              <a:rPr lang="en-US" sz="2200" dirty="0">
                <a:latin typeface="Times New Roman" pitchFamily="18" charset="0"/>
                <a:cs typeface="Times New Roman" pitchFamily="18" charset="0"/>
              </a:rPr>
              <a:t>  Consumer Response</a:t>
            </a:r>
          </a:p>
          <a:p>
            <a:pPr lvl="2" algn="just">
              <a:lnSpc>
                <a:spcPct val="160000"/>
              </a:lnSpc>
              <a:buFont typeface="Wingdings" pitchFamily="2" charset="2"/>
              <a:buChar char="ü"/>
            </a:pPr>
            <a:r>
              <a:rPr lang="en-US" sz="2200" dirty="0">
                <a:latin typeface="Times New Roman" pitchFamily="18" charset="0"/>
                <a:cs typeface="Times New Roman" pitchFamily="18" charset="0"/>
              </a:rPr>
              <a:t>  Consumer Demand Curve</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92088"/>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Learning Objectives</a:t>
            </a:r>
          </a:p>
        </p:txBody>
      </p:sp>
      <p:sp>
        <p:nvSpPr>
          <p:cNvPr id="3" name="Content Placeholder 2"/>
          <p:cNvSpPr>
            <a:spLocks noGrp="1"/>
          </p:cNvSpPr>
          <p:nvPr>
            <p:ph idx="1"/>
          </p:nvPr>
        </p:nvSpPr>
        <p:spPr>
          <a:xfrm>
            <a:off x="457200" y="1268760"/>
            <a:ext cx="8363272" cy="5112568"/>
          </a:xfrm>
        </p:spPr>
        <p:txBody>
          <a:bodyPr>
            <a:noAutofit/>
          </a:bodyPr>
          <a:lstStyle/>
          <a:p>
            <a:pPr lvl="2" algn="just">
              <a:lnSpc>
                <a:spcPct val="140000"/>
              </a:lnSpc>
              <a:buFont typeface="Wingdings" pitchFamily="2" charset="2"/>
              <a:buChar char="ü"/>
            </a:pPr>
            <a:r>
              <a:rPr lang="en-US" sz="2200" dirty="0">
                <a:latin typeface="Times New Roman" pitchFamily="18" charset="0"/>
                <a:cs typeface="Times New Roman" pitchFamily="18" charset="0"/>
              </a:rPr>
              <a:t>  Principles of microeconomics</a:t>
            </a:r>
          </a:p>
          <a:p>
            <a:pPr lvl="2" algn="just">
              <a:lnSpc>
                <a:spcPct val="140000"/>
              </a:lnSpc>
              <a:buFont typeface="Wingdings" pitchFamily="2" charset="2"/>
              <a:buChar char="ü"/>
            </a:pPr>
            <a:r>
              <a:rPr lang="en-US" sz="2200" dirty="0">
                <a:latin typeface="Times New Roman" pitchFamily="18" charset="0"/>
                <a:cs typeface="Times New Roman" pitchFamily="18" charset="0"/>
              </a:rPr>
              <a:t>  Scarcity - the basic economic problem</a:t>
            </a:r>
          </a:p>
          <a:p>
            <a:pPr lvl="2" algn="just">
              <a:lnSpc>
                <a:spcPct val="140000"/>
              </a:lnSpc>
              <a:buFont typeface="Wingdings" pitchFamily="2" charset="2"/>
              <a:buChar char="ü"/>
            </a:pPr>
            <a:r>
              <a:rPr lang="en-US" sz="2200" dirty="0">
                <a:latin typeface="Times New Roman" pitchFamily="18" charset="0"/>
                <a:cs typeface="Times New Roman" pitchFamily="18" charset="0"/>
              </a:rPr>
              <a:t>  Demand and supply - Interaction</a:t>
            </a:r>
          </a:p>
          <a:p>
            <a:pPr lvl="2" algn="just">
              <a:lnSpc>
                <a:spcPct val="140000"/>
              </a:lnSpc>
              <a:buFont typeface="Wingdings" pitchFamily="2" charset="2"/>
              <a:buChar char="ü"/>
            </a:pPr>
            <a:r>
              <a:rPr lang="en-US" sz="2200" dirty="0">
                <a:latin typeface="Times New Roman" pitchFamily="18" charset="0"/>
                <a:cs typeface="Times New Roman" pitchFamily="18" charset="0"/>
              </a:rPr>
              <a:t>  Utility and utility of money</a:t>
            </a:r>
          </a:p>
          <a:p>
            <a:pPr lvl="2" algn="just">
              <a:lnSpc>
                <a:spcPct val="140000"/>
              </a:lnSpc>
              <a:buFont typeface="Wingdings" pitchFamily="2" charset="2"/>
              <a:buChar char="ü"/>
            </a:pPr>
            <a:r>
              <a:rPr lang="en-US" sz="2200" dirty="0">
                <a:latin typeface="Times New Roman" pitchFamily="18" charset="0"/>
                <a:cs typeface="Times New Roman" pitchFamily="18" charset="0"/>
              </a:rPr>
              <a:t>  Inflation and Deflation - Effect on economy and Society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Economics - Definition</a:t>
            </a:r>
          </a:p>
        </p:txBody>
      </p:sp>
      <p:sp>
        <p:nvSpPr>
          <p:cNvPr id="3" name="Content Placeholder 2"/>
          <p:cNvSpPr>
            <a:spLocks noGrp="1"/>
          </p:cNvSpPr>
          <p:nvPr>
            <p:ph idx="1"/>
          </p:nvPr>
        </p:nvSpPr>
        <p:spPr>
          <a:xfrm>
            <a:off x="457200" y="1124744"/>
            <a:ext cx="8363272" cy="5256584"/>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“Economics is the study of the ALLOCATION of SCARCE resources to meet unlimited human wants.” </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Economics is the study of how society manages its scarce resources.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Economics is the study of economic problems of the people living in a community.</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For the production and distribution of wealth</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Economics is the science which studies human </a:t>
            </a:r>
            <a:r>
              <a:rPr lang="en-US" sz="2200" dirty="0" err="1">
                <a:latin typeface="Times New Roman" pitchFamily="18" charset="0"/>
                <a:cs typeface="Times New Roman" pitchFamily="18" charset="0"/>
              </a:rPr>
              <a:t>behaviour</a:t>
            </a:r>
            <a:r>
              <a:rPr lang="en-US" sz="2200" dirty="0">
                <a:latin typeface="Times New Roman" pitchFamily="18" charset="0"/>
                <a:cs typeface="Times New Roman" pitchFamily="18" charset="0"/>
              </a:rPr>
              <a:t> which aims at meeting maximum objectives of an individual with the help of scarce means i.e., limited means (or scarce resources)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Scarcity - The Basic Economic Problem</a:t>
            </a:r>
          </a:p>
        </p:txBody>
      </p:sp>
      <p:sp>
        <p:nvSpPr>
          <p:cNvPr id="3" name="Content Placeholder 2"/>
          <p:cNvSpPr>
            <a:spLocks noGrp="1"/>
          </p:cNvSpPr>
          <p:nvPr>
            <p:ph idx="1"/>
          </p:nvPr>
        </p:nvSpPr>
        <p:spPr>
          <a:xfrm>
            <a:off x="457200" y="836712"/>
            <a:ext cx="8363272" cy="5544616"/>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“Scarcity refers to a gap between limited resources and theoretically limitless wants.”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Scarcity refers to resources being finite and limited.</a:t>
            </a:r>
          </a:p>
          <a:p>
            <a:pPr marL="1377950" lvl="4" indent="-404813" algn="just">
              <a:lnSpc>
                <a:spcPct val="140000"/>
              </a:lnSpc>
              <a:buFont typeface="Wingdings" pitchFamily="2" charset="2"/>
              <a:buChar char="Ø"/>
            </a:pPr>
            <a:r>
              <a:rPr lang="en-US" sz="2200" dirty="0">
                <a:latin typeface="Times New Roman" pitchFamily="18" charset="0"/>
                <a:cs typeface="Times New Roman" pitchFamily="18" charset="0"/>
              </a:rPr>
              <a:t>How and what to produce from these limited resources.</a:t>
            </a:r>
          </a:p>
          <a:p>
            <a:pPr marL="1377950" lvl="4" indent="-404813" algn="just">
              <a:lnSpc>
                <a:spcPct val="140000"/>
              </a:lnSpc>
              <a:buFont typeface="Wingdings" pitchFamily="2" charset="2"/>
              <a:buChar char="Ø"/>
            </a:pPr>
            <a:r>
              <a:rPr lang="en-US" sz="2200" dirty="0">
                <a:latin typeface="Times New Roman" pitchFamily="18" charset="0"/>
                <a:cs typeface="Times New Roman" pitchFamily="18" charset="0"/>
              </a:rPr>
              <a:t>There is a constant opportunity cost involved in making economic decisions.</a:t>
            </a:r>
          </a:p>
          <a:p>
            <a:pPr marL="2292350" lvl="6" indent="-404813" algn="just">
              <a:lnSpc>
                <a:spcPct val="140000"/>
              </a:lnSpc>
              <a:buFont typeface="Wingdings" pitchFamily="2" charset="2"/>
              <a:buChar char="ü"/>
            </a:pPr>
            <a:r>
              <a:rPr lang="en-US" sz="2200" i="1" dirty="0">
                <a:latin typeface="Times New Roman" pitchFamily="18" charset="0"/>
                <a:cs typeface="Times New Roman" pitchFamily="18" charset="0"/>
              </a:rPr>
              <a:t>The next best alternative that must be foregone as a result of a particular decision</a:t>
            </a:r>
          </a:p>
          <a:p>
            <a:pPr marL="463550" lvl="2" indent="-404813" algn="just">
              <a:lnSpc>
                <a:spcPct val="140000"/>
              </a:lnSpc>
              <a:buNone/>
            </a:pPr>
            <a:r>
              <a:rPr lang="en-US" sz="2200" dirty="0">
                <a:latin typeface="Times New Roman" pitchFamily="18" charset="0"/>
                <a:cs typeface="Times New Roman" pitchFamily="18" charset="0"/>
              </a:rPr>
              <a:t>Examples:  Land, Water scarcity, Labour shortages 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57200" y="836712"/>
            <a:ext cx="8363272" cy="5544616"/>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Economics is the study of how society manages its scarce resources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Economists therefore study how people make decisions</a:t>
            </a:r>
          </a:p>
          <a:p>
            <a:pPr marL="1377950" lvl="4" indent="-404813" algn="just">
              <a:lnSpc>
                <a:spcPct val="140000"/>
              </a:lnSpc>
              <a:buFont typeface="Wingdings" pitchFamily="2" charset="2"/>
              <a:buChar char="q"/>
            </a:pPr>
            <a:r>
              <a:rPr lang="en-US" sz="2200" dirty="0">
                <a:latin typeface="Times New Roman" pitchFamily="18" charset="0"/>
                <a:cs typeface="Times New Roman" pitchFamily="18" charset="0"/>
              </a:rPr>
              <a:t>How much they work?</a:t>
            </a:r>
          </a:p>
          <a:p>
            <a:pPr marL="1377950" lvl="4" indent="-404813" algn="just">
              <a:lnSpc>
                <a:spcPct val="140000"/>
              </a:lnSpc>
              <a:buFont typeface="Wingdings" pitchFamily="2" charset="2"/>
              <a:buChar char="q"/>
            </a:pPr>
            <a:r>
              <a:rPr lang="en-US" sz="2200" dirty="0">
                <a:latin typeface="Times New Roman" pitchFamily="18" charset="0"/>
                <a:cs typeface="Times New Roman" pitchFamily="18" charset="0"/>
              </a:rPr>
              <a:t>What they buy?</a:t>
            </a:r>
          </a:p>
          <a:p>
            <a:pPr marL="1377950" lvl="4" indent="-404813" algn="just">
              <a:lnSpc>
                <a:spcPct val="140000"/>
              </a:lnSpc>
              <a:buFont typeface="Wingdings" pitchFamily="2" charset="2"/>
              <a:buChar char="q"/>
            </a:pPr>
            <a:r>
              <a:rPr lang="en-US" sz="2200" dirty="0">
                <a:latin typeface="Times New Roman" pitchFamily="18" charset="0"/>
                <a:cs typeface="Times New Roman" pitchFamily="18" charset="0"/>
              </a:rPr>
              <a:t>How much they save? and</a:t>
            </a:r>
          </a:p>
          <a:p>
            <a:pPr marL="1377950" lvl="4" indent="-404813" algn="just">
              <a:lnSpc>
                <a:spcPct val="140000"/>
              </a:lnSpc>
              <a:buFont typeface="Wingdings" pitchFamily="2" charset="2"/>
              <a:buChar char="q"/>
            </a:pPr>
            <a:r>
              <a:rPr lang="en-US" sz="2200" dirty="0">
                <a:latin typeface="Times New Roman" pitchFamily="18" charset="0"/>
                <a:cs typeface="Times New Roman" pitchFamily="18" charset="0"/>
              </a:rPr>
              <a:t>How they invest their savings ?</a:t>
            </a:r>
          </a:p>
          <a:p>
            <a:pPr marL="1377950" lvl="4" indent="-404813" algn="just">
              <a:lnSpc>
                <a:spcPct val="140000"/>
              </a:lnSpc>
              <a:buFont typeface="Wingdings" pitchFamily="2" charset="2"/>
              <a:buChar char="q"/>
            </a:pPr>
            <a:r>
              <a:rPr lang="en-US" sz="2200" dirty="0">
                <a:latin typeface="Times New Roman" pitchFamily="18" charset="0"/>
                <a:cs typeface="Times New Roman" pitchFamily="18" charset="0"/>
              </a:rPr>
              <a:t>and also, How people interact with one another?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57200" y="836712"/>
            <a:ext cx="8363272" cy="5544616"/>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People Make Decisions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1 : People  face Trade - Offs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Making decisions requires trading off one goal against another. To get one    thing that we like, we usually have to give up another thing that we like. </a:t>
            </a:r>
          </a:p>
          <a:p>
            <a:pPr lvl="3" indent="-404813" algn="just">
              <a:lnSpc>
                <a:spcPct val="140000"/>
              </a:lnSpc>
              <a:buFont typeface="Wingdings" pitchFamily="2" charset="2"/>
              <a:buChar char="Ø"/>
            </a:pPr>
            <a:r>
              <a:rPr lang="en-US" dirty="0">
                <a:latin typeface="Times New Roman" pitchFamily="18" charset="0"/>
                <a:cs typeface="Times New Roman" pitchFamily="18" charset="0"/>
              </a:rPr>
              <a:t>Getting the maximum benefits from its scarce resources</a:t>
            </a:r>
          </a:p>
          <a:p>
            <a:pPr lvl="3" indent="-404813" algn="just">
              <a:lnSpc>
                <a:spcPct val="140000"/>
              </a:lnSpc>
              <a:buFont typeface="Wingdings" pitchFamily="2" charset="2"/>
              <a:buChar char="Ø"/>
            </a:pPr>
            <a:r>
              <a:rPr lang="en-US" dirty="0">
                <a:latin typeface="Times New Roman" pitchFamily="18" charset="0"/>
                <a:cs typeface="Times New Roman" pitchFamily="18" charset="0"/>
              </a:rPr>
              <a:t>Benefits are distributed uniformly among society's members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 Principle 2 : The Cost of Something is What you Give up</a:t>
            </a:r>
          </a:p>
          <a:p>
            <a:pPr marL="465138" algn="just">
              <a:lnSpc>
                <a:spcPct val="140000"/>
              </a:lnSpc>
              <a:buFont typeface="Wingdings" pitchFamily="2" charset="2"/>
              <a:buChar char="q"/>
            </a:pPr>
            <a:r>
              <a:rPr lang="en-US" sz="2200" dirty="0">
                <a:latin typeface="Times New Roman" pitchFamily="18" charset="0"/>
                <a:cs typeface="Times New Roman" pitchFamily="18" charset="0"/>
              </a:rPr>
              <a:t>The opportunity cost of an item is what you give up to get that item. When making any decision, decision makers should be aware of the opportunity costs that accompany each possible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67544" y="764704"/>
            <a:ext cx="8363272" cy="5616624"/>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People Make Decisions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3 : Rational People Think at the Margin</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Rational people systematically and purposefully do the best they can to achieve their objectives, given the available opportunities.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Rational people often make decisions by comparing marginal benefits and marginal costs.</a:t>
            </a:r>
          </a:p>
          <a:p>
            <a:pPr lvl="3" indent="-404813" algn="just">
              <a:lnSpc>
                <a:spcPct val="140000"/>
              </a:lnSpc>
              <a:buFont typeface="Wingdings" pitchFamily="2" charset="2"/>
              <a:buChar char="Ø"/>
            </a:pPr>
            <a:r>
              <a:rPr lang="en-US" dirty="0">
                <a:latin typeface="Times New Roman" pitchFamily="18" charset="0"/>
                <a:cs typeface="Times New Roman" pitchFamily="18" charset="0"/>
              </a:rPr>
              <a:t>Marginal changes is the small incremental adjustments to an existing plan of action</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4 : People Respond to Incentives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An incentive is something that induces a person to act, such as the prospect of a punishment or a reward. Because rational people make decisions by comparing costs and benefits, they respond to incentives.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67544" y="692696"/>
            <a:ext cx="8363272" cy="5760640"/>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People Interact</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5 : Trade can Make Everyone Better Off</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By trading with others, people can buy a greater variety of goods and services at lower cost.</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Trade allows to specialize in what they do best and to enjoy a greater variety of  goods and services.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6 : Markets - Organizes Economic Activity.</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Firms decide whom to hire and what to make.</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Households decide which firms to work for and what to buy with their incomes. </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These firms and households interact in the marketplace, where prices and self-interest guide their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67544" y="980728"/>
            <a:ext cx="8363272" cy="5472608"/>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People Interact</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7 : Govt. can Improve Market Outcomes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Enforce property rights so individuals can own and control scarce resources.</a:t>
            </a:r>
          </a:p>
          <a:p>
            <a:pPr lvl="3" indent="-404813" algn="just">
              <a:lnSpc>
                <a:spcPct val="140000"/>
              </a:lnSpc>
              <a:buFont typeface="Wingdings" pitchFamily="2" charset="2"/>
              <a:buChar char="Ø"/>
            </a:pPr>
            <a:r>
              <a:rPr lang="en-US" dirty="0">
                <a:latin typeface="Times New Roman" pitchFamily="18" charset="0"/>
                <a:cs typeface="Times New Roman" pitchFamily="18" charset="0"/>
              </a:rPr>
              <a:t>Promote efficiency</a:t>
            </a:r>
          </a:p>
          <a:p>
            <a:pPr lvl="3" indent="-404813" algn="just">
              <a:lnSpc>
                <a:spcPct val="140000"/>
              </a:lnSpc>
              <a:buFont typeface="Wingdings" pitchFamily="2" charset="2"/>
              <a:buChar char="Ø"/>
            </a:pPr>
            <a:r>
              <a:rPr lang="en-US" dirty="0">
                <a:latin typeface="Times New Roman" pitchFamily="18" charset="0"/>
                <a:cs typeface="Times New Roman" pitchFamily="18" charset="0"/>
              </a:rPr>
              <a:t>Promote equality.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67544" y="764704"/>
            <a:ext cx="8363272" cy="5688632"/>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Economy as a Whole Works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8 : Standard of Living Depends on Production</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Almost all variation in living standards is attributable to differences in country’s productivity - that is, the amount of goods and services produced from each unit of labor input.</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9 : Prices Rise When Too Much Money is Printed</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In almost all cases of large or persistent inflation, the culprit is growth in the quantity of money. When a government creates large quantities of the nation's money, the value of the money falls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Economics</a:t>
            </a:r>
          </a:p>
        </p:txBody>
      </p:sp>
      <p:sp>
        <p:nvSpPr>
          <p:cNvPr id="3" name="Content Placeholder 2"/>
          <p:cNvSpPr>
            <a:spLocks noGrp="1"/>
          </p:cNvSpPr>
          <p:nvPr>
            <p:ph idx="1"/>
          </p:nvPr>
        </p:nvSpPr>
        <p:spPr>
          <a:xfrm>
            <a:off x="467544" y="764704"/>
            <a:ext cx="8363272" cy="5688632"/>
          </a:xfrm>
        </p:spPr>
        <p:txBody>
          <a:bodyPr>
            <a:noAutofit/>
          </a:bodyPr>
          <a:lstStyle/>
          <a:p>
            <a:pPr indent="-404813" algn="just">
              <a:lnSpc>
                <a:spcPct val="140000"/>
              </a:lnSpc>
              <a:buNone/>
            </a:pPr>
            <a:r>
              <a:rPr lang="en-US" sz="2200" b="1" i="1" dirty="0">
                <a:latin typeface="Times New Roman" pitchFamily="18" charset="0"/>
                <a:cs typeface="Times New Roman" pitchFamily="18" charset="0"/>
              </a:rPr>
              <a:t>How Economy as a Whole Works</a:t>
            </a:r>
          </a:p>
          <a:p>
            <a:pPr indent="-404813" algn="just">
              <a:lnSpc>
                <a:spcPct val="140000"/>
              </a:lnSpc>
              <a:buFont typeface="Wingdings" pitchFamily="2" charset="2"/>
              <a:buChar char="v"/>
            </a:pPr>
            <a:r>
              <a:rPr lang="en-US" sz="2000" b="1" i="1" dirty="0">
                <a:solidFill>
                  <a:srgbClr val="FF0000"/>
                </a:solidFill>
                <a:latin typeface="Times New Roman" pitchFamily="18" charset="0"/>
                <a:cs typeface="Times New Roman" pitchFamily="18" charset="0"/>
              </a:rPr>
              <a:t>Principle 10 : Inflation and Unemployment</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Increasing the amount of money in the economy stimulates the overall level of spending and thus the demand for goods and services.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Higher demand may over time cause firms to raise their prices, but in the meantime, it also encourages them to hire more workers and produce a larger quantity of goods and services.</a:t>
            </a:r>
          </a:p>
          <a:p>
            <a:pPr marL="463550" indent="-409575" algn="just">
              <a:lnSpc>
                <a:spcPct val="140000"/>
              </a:lnSpc>
              <a:buFont typeface="Wingdings" pitchFamily="2" charset="2"/>
              <a:buChar char="q"/>
            </a:pPr>
            <a:r>
              <a:rPr lang="en-US" sz="2000" dirty="0">
                <a:latin typeface="Times New Roman" pitchFamily="18" charset="0"/>
                <a:cs typeface="Times New Roman" pitchFamily="18" charset="0"/>
              </a:rPr>
              <a:t>More hiring means lower unemployment.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Demand</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Font typeface="Wingdings" pitchFamily="2" charset="2"/>
              <a:buChar char="q"/>
            </a:pPr>
            <a:r>
              <a:rPr lang="en-US" sz="2200" dirty="0">
                <a:solidFill>
                  <a:srgbClr val="FF0000"/>
                </a:solidFill>
                <a:latin typeface="Times New Roman" pitchFamily="18" charset="0"/>
                <a:cs typeface="Times New Roman" pitchFamily="18" charset="0"/>
              </a:rPr>
              <a:t>Is the rate at which consumers want to buy a product.</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Economic theory holds that demand consists of two factors: </a:t>
            </a:r>
            <a:r>
              <a:rPr lang="en-US" sz="2200" dirty="0">
                <a:solidFill>
                  <a:srgbClr val="FF0000"/>
                </a:solidFill>
                <a:latin typeface="Times New Roman" pitchFamily="18" charset="0"/>
                <a:cs typeface="Times New Roman" pitchFamily="18" charset="0"/>
              </a:rPr>
              <a:t>taste and ability to buy. </a:t>
            </a:r>
          </a:p>
          <a:p>
            <a:pPr marL="1263650" lvl="2" indent="-409575" algn="just">
              <a:lnSpc>
                <a:spcPct val="200000"/>
              </a:lnSpc>
              <a:buFont typeface="Wingdings" pitchFamily="2" charset="2"/>
              <a:buChar char="q"/>
            </a:pPr>
            <a:r>
              <a:rPr lang="en-US" sz="2200" dirty="0">
                <a:solidFill>
                  <a:srgbClr val="FF0000"/>
                </a:solidFill>
                <a:latin typeface="Times New Roman" pitchFamily="18" charset="0"/>
                <a:cs typeface="Times New Roman" pitchFamily="18" charset="0"/>
              </a:rPr>
              <a:t>Taste,</a:t>
            </a:r>
            <a:r>
              <a:rPr lang="en-US" sz="2200" dirty="0">
                <a:latin typeface="Times New Roman" pitchFamily="18" charset="0"/>
                <a:cs typeface="Times New Roman" pitchFamily="18" charset="0"/>
              </a:rPr>
              <a:t> which is the desire for a good, determines the willingness to buy the good at a specific price. </a:t>
            </a:r>
          </a:p>
          <a:p>
            <a:pPr marL="1263650" lvl="2" indent="-409575" algn="just">
              <a:lnSpc>
                <a:spcPct val="200000"/>
              </a:lnSpc>
              <a:buFont typeface="Wingdings" pitchFamily="2" charset="2"/>
              <a:buChar char="q"/>
            </a:pPr>
            <a:r>
              <a:rPr lang="en-US" sz="2200" dirty="0">
                <a:solidFill>
                  <a:srgbClr val="FF0000"/>
                </a:solidFill>
                <a:latin typeface="Times New Roman" pitchFamily="18" charset="0"/>
                <a:cs typeface="Times New Roman" pitchFamily="18" charset="0"/>
              </a:rPr>
              <a:t>Ability to buy </a:t>
            </a:r>
            <a:r>
              <a:rPr lang="en-US" sz="2200" dirty="0">
                <a:latin typeface="Times New Roman" pitchFamily="18" charset="0"/>
                <a:cs typeface="Times New Roman" pitchFamily="18" charset="0"/>
              </a:rPr>
              <a:t>means that to buy a good at specific price, an individual must possess sufficient wealth or income.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Demand</a:t>
            </a:r>
          </a:p>
        </p:txBody>
      </p:sp>
      <p:pic>
        <p:nvPicPr>
          <p:cNvPr id="1026" name="Picture 2"/>
          <p:cNvPicPr>
            <a:picLocks noChangeAspect="1" noChangeArrowheads="1"/>
          </p:cNvPicPr>
          <p:nvPr/>
        </p:nvPicPr>
        <p:blipFill>
          <a:blip r:embed="rId2" cstate="print"/>
          <a:srcRect/>
          <a:stretch>
            <a:fillRect/>
          </a:stretch>
        </p:blipFill>
        <p:spPr bwMode="auto">
          <a:xfrm>
            <a:off x="1249313" y="908720"/>
            <a:ext cx="6995095" cy="5440629"/>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Supply</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Willingness and ability to supply goods determine the seller's actions.</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At higher prices, more of the commodity will be available to the buyers. </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This is because the suppliers will be able to maintain a profit despite the higher costs of production that may result from short-term expansion of their capacity.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Supply</a:t>
            </a:r>
          </a:p>
        </p:txBody>
      </p:sp>
      <p:pic>
        <p:nvPicPr>
          <p:cNvPr id="2050" name="Picture 2"/>
          <p:cNvPicPr>
            <a:picLocks noChangeAspect="1" noChangeArrowheads="1"/>
          </p:cNvPicPr>
          <p:nvPr/>
        </p:nvPicPr>
        <p:blipFill>
          <a:blip r:embed="rId2" cstate="print"/>
          <a:srcRect/>
          <a:stretch>
            <a:fillRect/>
          </a:stretch>
        </p:blipFill>
        <p:spPr bwMode="auto">
          <a:xfrm>
            <a:off x="1835696" y="1094455"/>
            <a:ext cx="6336754" cy="5406358"/>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Interaction Between Supply and Demand</a:t>
            </a:r>
          </a:p>
        </p:txBody>
      </p:sp>
      <p:sp>
        <p:nvSpPr>
          <p:cNvPr id="3" name="Content Placeholder 2"/>
          <p:cNvSpPr>
            <a:spLocks noGrp="1"/>
          </p:cNvSpPr>
          <p:nvPr>
            <p:ph idx="1"/>
          </p:nvPr>
        </p:nvSpPr>
        <p:spPr>
          <a:xfrm>
            <a:off x="467544" y="764704"/>
            <a:ext cx="8363272" cy="1944216"/>
          </a:xfrm>
        </p:spPr>
        <p:txBody>
          <a:bodyPr>
            <a:noAutofit/>
          </a:bodyPr>
          <a:lstStyle/>
          <a:p>
            <a:pPr marL="463550" indent="-409575" algn="just">
              <a:lnSpc>
                <a:spcPct val="150000"/>
              </a:lnSpc>
              <a:buFont typeface="Wingdings" pitchFamily="2" charset="2"/>
              <a:buChar char="q"/>
            </a:pPr>
            <a:r>
              <a:rPr lang="en-US" sz="2000" dirty="0">
                <a:latin typeface="Times New Roman" pitchFamily="18" charset="0"/>
                <a:cs typeface="Times New Roman" pitchFamily="18" charset="0"/>
              </a:rPr>
              <a:t>Buyers and sellers react in opposite ways to a change in price. </a:t>
            </a:r>
          </a:p>
          <a:p>
            <a:pPr marL="463550" indent="-409575" algn="just">
              <a:lnSpc>
                <a:spcPct val="150000"/>
              </a:lnSpc>
              <a:buFont typeface="Wingdings" pitchFamily="2" charset="2"/>
              <a:buChar char="q"/>
            </a:pPr>
            <a:r>
              <a:rPr lang="en-US" sz="2000" dirty="0">
                <a:latin typeface="Times New Roman" pitchFamily="18" charset="0"/>
                <a:cs typeface="Times New Roman" pitchFamily="18" charset="0"/>
              </a:rPr>
              <a:t>When price increases, the willingness and ability of sellers to offer goods will increase, while the willingness and ability of buyers to purchase goods will decrease.</a:t>
            </a:r>
          </a:p>
        </p:txBody>
      </p:sp>
      <p:pic>
        <p:nvPicPr>
          <p:cNvPr id="3074" name="Picture 2"/>
          <p:cNvPicPr>
            <a:picLocks noChangeAspect="1" noChangeArrowheads="1"/>
          </p:cNvPicPr>
          <p:nvPr/>
        </p:nvPicPr>
        <p:blipFill>
          <a:blip r:embed="rId2" cstate="print"/>
          <a:srcRect/>
          <a:stretch>
            <a:fillRect/>
          </a:stretch>
        </p:blipFill>
        <p:spPr bwMode="auto">
          <a:xfrm>
            <a:off x="2915816" y="2348879"/>
            <a:ext cx="4392488" cy="423870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Time Value of Money</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Refers to the idea that money available immediately is worth more than the same amount worth some time in the future. </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This is because the money can earn interest, hence is worth more the earlier that it is received.</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The future value (FV ) of Principal $PV earning interest rate </a:t>
            </a:r>
            <a:r>
              <a:rPr lang="en-US" sz="2200" dirty="0" err="1">
                <a:latin typeface="Times New Roman" pitchFamily="18" charset="0"/>
                <a:cs typeface="Times New Roman" pitchFamily="18" charset="0"/>
              </a:rPr>
              <a:t>i</a:t>
            </a:r>
            <a:r>
              <a:rPr lang="en-US" sz="2200" dirty="0">
                <a:latin typeface="Times New Roman" pitchFamily="18" charset="0"/>
                <a:cs typeface="Times New Roman" pitchFamily="18" charset="0"/>
              </a:rPr>
              <a:t>% for n times periods is</a:t>
            </a:r>
          </a:p>
        </p:txBody>
      </p:sp>
      <p:pic>
        <p:nvPicPr>
          <p:cNvPr id="4099" name="Picture 3"/>
          <p:cNvPicPr>
            <a:picLocks noChangeAspect="1" noChangeArrowheads="1"/>
          </p:cNvPicPr>
          <p:nvPr/>
        </p:nvPicPr>
        <p:blipFill>
          <a:blip r:embed="rId2" cstate="print"/>
          <a:srcRect/>
          <a:stretch>
            <a:fillRect/>
          </a:stretch>
        </p:blipFill>
        <p:spPr bwMode="auto">
          <a:xfrm>
            <a:off x="3635896" y="4941168"/>
            <a:ext cx="3334401" cy="635124"/>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Time Value of Money</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None/>
            </a:pPr>
            <a:r>
              <a:rPr lang="en-US" sz="2200" dirty="0">
                <a:latin typeface="Times New Roman" pitchFamily="18" charset="0"/>
                <a:cs typeface="Times New Roman" pitchFamily="18" charset="0"/>
              </a:rPr>
              <a:t>For example,</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If interest rates were 5%, then $100 that is invested today will become $105 in a year.</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Conversely, $100 received in a year, is only worth $100 / 1.05 = $95.24 today.</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Hence, it is better to receive $100 today, than it is to receive $100 in a year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Inflation and Deflation</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Font typeface="Wingdings" pitchFamily="2" charset="2"/>
              <a:buChar char="v"/>
            </a:pPr>
            <a:r>
              <a:rPr lang="en-US" sz="2200" dirty="0">
                <a:solidFill>
                  <a:srgbClr val="002060"/>
                </a:solidFill>
                <a:latin typeface="Times New Roman" pitchFamily="18" charset="0"/>
                <a:cs typeface="Times New Roman" pitchFamily="18" charset="0"/>
              </a:rPr>
              <a:t>Inflation occurs when the prices of goods and services rise, while deflation occurs when those prices decrease.</a:t>
            </a:r>
          </a:p>
          <a:p>
            <a:pPr marL="463550" indent="-409575" algn="just">
              <a:lnSpc>
                <a:spcPct val="200000"/>
              </a:lnSpc>
              <a:buFont typeface="Wingdings" pitchFamily="2" charset="2"/>
              <a:buChar char="Ø"/>
            </a:pPr>
            <a:r>
              <a:rPr lang="en-US" sz="2400" b="1" dirty="0">
                <a:solidFill>
                  <a:srgbClr val="FF0000"/>
                </a:solidFill>
                <a:latin typeface="Times New Roman" pitchFamily="18" charset="0"/>
                <a:cs typeface="Times New Roman" pitchFamily="18" charset="0"/>
              </a:rPr>
              <a:t>Inflation</a:t>
            </a:r>
            <a:endParaRPr lang="en-US" sz="2200" dirty="0">
              <a:solidFill>
                <a:srgbClr val="002060"/>
              </a:solidFill>
              <a:latin typeface="Times New Roman" pitchFamily="18" charset="0"/>
              <a:cs typeface="Times New Roman" pitchFamily="18" charset="0"/>
            </a:endParaRP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Inflation is a quantitative measure of how quickly the price of goods in an economy is increasing. Inflation is caused when goods and services are in high demand, thus creating a drop-in availability.</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The most common measure of inflation is the Consumer Price Index (CPI).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Inflation and Deflation</a:t>
            </a:r>
          </a:p>
        </p:txBody>
      </p:sp>
      <p:sp>
        <p:nvSpPr>
          <p:cNvPr id="3" name="Content Placeholder 2"/>
          <p:cNvSpPr>
            <a:spLocks noGrp="1"/>
          </p:cNvSpPr>
          <p:nvPr>
            <p:ph idx="1"/>
          </p:nvPr>
        </p:nvSpPr>
        <p:spPr>
          <a:xfrm>
            <a:off x="467544" y="764704"/>
            <a:ext cx="8363272" cy="5688632"/>
          </a:xfrm>
        </p:spPr>
        <p:txBody>
          <a:bodyPr>
            <a:noAutofit/>
          </a:bodyPr>
          <a:lstStyle/>
          <a:p>
            <a:pPr marL="463550" indent="-409575" algn="just">
              <a:lnSpc>
                <a:spcPct val="200000"/>
              </a:lnSpc>
              <a:buFont typeface="Wingdings" pitchFamily="2" charset="2"/>
              <a:buChar char="Ø"/>
            </a:pPr>
            <a:r>
              <a:rPr lang="en-US" sz="2400" b="1" dirty="0">
                <a:solidFill>
                  <a:srgbClr val="FF0000"/>
                </a:solidFill>
                <a:latin typeface="Times New Roman" pitchFamily="18" charset="0"/>
                <a:cs typeface="Times New Roman" pitchFamily="18" charset="0"/>
              </a:rPr>
              <a:t>Deflation</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Deflation occurs when too many goods are available or when there is not enough money circulating to purchase those goods. As a result, the price of goods and services drops.</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Companies that find themselves stuck with too much inventory must cut costs, which often leads to layoffs. Unemployed individuals do not have enough money available to purchase items; to coax them into buying, prices get lowered, which continues the trend.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Utility Analysis</a:t>
            </a:r>
          </a:p>
        </p:txBody>
      </p:sp>
      <p:sp>
        <p:nvSpPr>
          <p:cNvPr id="3" name="Content Placeholder 2"/>
          <p:cNvSpPr>
            <a:spLocks noGrp="1"/>
          </p:cNvSpPr>
          <p:nvPr>
            <p:ph idx="1"/>
          </p:nvPr>
        </p:nvSpPr>
        <p:spPr>
          <a:xfrm>
            <a:off x="467544" y="1196752"/>
            <a:ext cx="8363272" cy="5256584"/>
          </a:xfrm>
        </p:spPr>
        <p:txBody>
          <a:bodyPr>
            <a:noAutofit/>
          </a:bodyPr>
          <a:lstStyle/>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The level of happiness or satisfaction that a person receives from his or her circumstances.</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Utility is a measure of well-being and, according to </a:t>
            </a:r>
            <a:r>
              <a:rPr lang="en-US" sz="2200" dirty="0" err="1">
                <a:latin typeface="Times New Roman" pitchFamily="18" charset="0"/>
                <a:cs typeface="Times New Roman" pitchFamily="18" charset="0"/>
              </a:rPr>
              <a:t>utilitarians</a:t>
            </a:r>
            <a:r>
              <a:rPr lang="en-US" sz="2200" dirty="0">
                <a:latin typeface="Times New Roman" pitchFamily="18" charset="0"/>
                <a:cs typeface="Times New Roman" pitchFamily="18" charset="0"/>
              </a:rPr>
              <a:t>, is the ultimate objective of all public and private actions.</a:t>
            </a:r>
          </a:p>
          <a:p>
            <a:pPr marL="463550" indent="-409575" algn="just">
              <a:lnSpc>
                <a:spcPct val="200000"/>
              </a:lnSpc>
              <a:buFont typeface="Wingdings" pitchFamily="2" charset="2"/>
              <a:buChar char="q"/>
            </a:pPr>
            <a:r>
              <a:rPr lang="en-US" sz="2200" dirty="0">
                <a:latin typeface="Times New Roman" pitchFamily="18" charset="0"/>
                <a:cs typeface="Times New Roman" pitchFamily="18" charset="0"/>
              </a:rPr>
              <a:t>The proper goal of the government, they claim, is to maximize the sum of utility achieved by everyone in society.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Total and Marginal Utility</a:t>
            </a:r>
          </a:p>
        </p:txBody>
      </p:sp>
      <p:sp>
        <p:nvSpPr>
          <p:cNvPr id="3" name="Content Placeholder 2"/>
          <p:cNvSpPr>
            <a:spLocks noGrp="1"/>
          </p:cNvSpPr>
          <p:nvPr>
            <p:ph idx="1"/>
          </p:nvPr>
        </p:nvSpPr>
        <p:spPr>
          <a:xfrm>
            <a:off x="467544" y="1196752"/>
            <a:ext cx="8363272" cy="5256584"/>
          </a:xfrm>
        </p:spPr>
        <p:txBody>
          <a:bodyPr>
            <a:noAutofit/>
          </a:bodyPr>
          <a:lstStyle/>
          <a:p>
            <a:pPr>
              <a:lnSpc>
                <a:spcPct val="200000"/>
              </a:lnSpc>
              <a:buFont typeface="Wingdings" pitchFamily="2" charset="2"/>
              <a:buChar char="Ø"/>
            </a:pPr>
            <a:r>
              <a:rPr lang="en-US" sz="2200" dirty="0">
                <a:solidFill>
                  <a:srgbClr val="FF0000"/>
                </a:solidFill>
                <a:latin typeface="Times New Roman" pitchFamily="18" charset="0"/>
                <a:cs typeface="Times New Roman" pitchFamily="18" charset="0"/>
              </a:rPr>
              <a:t>Total utility (TU)</a:t>
            </a:r>
          </a:p>
          <a:p>
            <a:pPr marL="1309688" lvl="2" indent="-395288">
              <a:lnSpc>
                <a:spcPct val="200000"/>
              </a:lnSpc>
              <a:buFont typeface="Wingdings" pitchFamily="2" charset="2"/>
              <a:buChar char="ü"/>
            </a:pPr>
            <a:r>
              <a:rPr lang="en-US" sz="2200" dirty="0">
                <a:latin typeface="Times New Roman" pitchFamily="18" charset="0"/>
                <a:cs typeface="Times New Roman" pitchFamily="18" charset="0"/>
              </a:rPr>
              <a:t>The total satisfaction received from consuming a good or service.</a:t>
            </a:r>
          </a:p>
          <a:p>
            <a:pPr>
              <a:lnSpc>
                <a:spcPct val="200000"/>
              </a:lnSpc>
              <a:buFont typeface="Wingdings" pitchFamily="2" charset="2"/>
              <a:buChar char="Ø"/>
            </a:pPr>
            <a:r>
              <a:rPr lang="en-US" sz="2200" dirty="0">
                <a:solidFill>
                  <a:srgbClr val="FF0000"/>
                </a:solidFill>
                <a:latin typeface="Times New Roman" pitchFamily="18" charset="0"/>
                <a:cs typeface="Times New Roman" pitchFamily="18" charset="0"/>
              </a:rPr>
              <a:t> Marginal utility (MU)</a:t>
            </a:r>
          </a:p>
          <a:p>
            <a:pPr marL="1309688" lvl="2" indent="-395288">
              <a:lnSpc>
                <a:spcPct val="200000"/>
              </a:lnSpc>
              <a:buFont typeface="Wingdings" pitchFamily="2" charset="2"/>
              <a:buChar char="ü"/>
            </a:pPr>
            <a:r>
              <a:rPr lang="en-US" sz="2200" dirty="0">
                <a:latin typeface="Times New Roman" pitchFamily="18" charset="0"/>
                <a:cs typeface="Times New Roman" pitchFamily="18" charset="0"/>
              </a:rPr>
              <a:t>The extra utility received from consuming one additional unit of a good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Total and Marginal Utility</a:t>
            </a:r>
          </a:p>
        </p:txBody>
      </p:sp>
      <p:pic>
        <p:nvPicPr>
          <p:cNvPr id="5122" name="Picture 2"/>
          <p:cNvPicPr>
            <a:picLocks noChangeAspect="1" noChangeArrowheads="1"/>
          </p:cNvPicPr>
          <p:nvPr/>
        </p:nvPicPr>
        <p:blipFill>
          <a:blip r:embed="rId2" cstate="print"/>
          <a:srcRect/>
          <a:stretch>
            <a:fillRect/>
          </a:stretch>
        </p:blipFill>
        <p:spPr bwMode="auto">
          <a:xfrm>
            <a:off x="-108520" y="1708001"/>
            <a:ext cx="4352925" cy="330517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4442280" y="1700808"/>
            <a:ext cx="4810240" cy="331236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latin typeface="Times New Roman" pitchFamily="18" charset="0"/>
                <a:cs typeface="Times New Roman" pitchFamily="18" charset="0"/>
              </a:rPr>
              <a:t>Topics  (Part 2)</a:t>
            </a:r>
            <a:endParaRPr lang="en-IN"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a:bodyPr>
          <a:lstStyle/>
          <a:p>
            <a:pPr algn="just">
              <a:lnSpc>
                <a:spcPct val="160000"/>
              </a:lnSpc>
              <a:buFont typeface="Wingdings" pitchFamily="2" charset="2"/>
              <a:buChar char="Ø"/>
            </a:pPr>
            <a:r>
              <a:rPr lang="en-US" sz="1900" b="1" dirty="0">
                <a:latin typeface="Times New Roman" pitchFamily="18" charset="0"/>
                <a:cs typeface="Times New Roman" pitchFamily="18" charset="0"/>
              </a:rPr>
              <a:t>Intellectual Property Rights</a:t>
            </a:r>
          </a:p>
          <a:p>
            <a:pPr lvl="2" algn="just">
              <a:lnSpc>
                <a:spcPct val="140000"/>
              </a:lnSpc>
              <a:buFont typeface="Wingdings" pitchFamily="2" charset="2"/>
              <a:buChar char="ü"/>
            </a:pPr>
            <a:r>
              <a:rPr lang="en-US" sz="1700" dirty="0">
                <a:latin typeface="Times New Roman" pitchFamily="18" charset="0"/>
                <a:cs typeface="Times New Roman" pitchFamily="18" charset="0"/>
              </a:rPr>
              <a:t>IPR</a:t>
            </a:r>
          </a:p>
          <a:p>
            <a:pPr lvl="2" algn="just">
              <a:lnSpc>
                <a:spcPct val="140000"/>
              </a:lnSpc>
              <a:buFont typeface="Wingdings" pitchFamily="2" charset="2"/>
              <a:buChar char="ü"/>
            </a:pPr>
            <a:r>
              <a:rPr lang="en-US" sz="1700" dirty="0">
                <a:latin typeface="Times New Roman" pitchFamily="18" charset="0"/>
                <a:cs typeface="Times New Roman" pitchFamily="18" charset="0"/>
              </a:rPr>
              <a:t>Patents</a:t>
            </a:r>
          </a:p>
          <a:p>
            <a:pPr lvl="2" algn="just">
              <a:lnSpc>
                <a:spcPct val="140000"/>
              </a:lnSpc>
              <a:buFont typeface="Wingdings" pitchFamily="2" charset="2"/>
              <a:buChar char="ü"/>
            </a:pPr>
            <a:r>
              <a:rPr lang="en-US" sz="1700" dirty="0">
                <a:latin typeface="Times New Roman" pitchFamily="18" charset="0"/>
                <a:cs typeface="Times New Roman" pitchFamily="18" charset="0"/>
              </a:rPr>
              <a:t>Licensing and Technology transfer</a:t>
            </a:r>
          </a:p>
          <a:p>
            <a:pPr lvl="2" algn="just">
              <a:lnSpc>
                <a:spcPct val="140000"/>
              </a:lnSpc>
              <a:buFont typeface="Wingdings" pitchFamily="2" charset="2"/>
              <a:buChar char="ü"/>
            </a:pPr>
            <a:r>
              <a:rPr lang="en-US" sz="1700" dirty="0">
                <a:latin typeface="Times New Roman" pitchFamily="18" charset="0"/>
                <a:cs typeface="Times New Roman" pitchFamily="18" charset="0"/>
              </a:rPr>
              <a:t>Designs and Utility Models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24</a:t>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a:solidFill>
                  <a:srgbClr val="FF0000"/>
                </a:solidFill>
                <a:latin typeface="Times New Roman" pitchFamily="18" charset="0"/>
                <a:cs typeface="Times New Roman" pitchFamily="18" charset="0"/>
              </a:rPr>
              <a:t>Intellectual Property</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363272" cy="5112568"/>
          </a:xfrm>
        </p:spPr>
        <p:txBody>
          <a:bodyPr>
            <a:noAutofit/>
          </a:bodyPr>
          <a:lstStyle/>
          <a:p>
            <a:pPr marL="463550" indent="0" algn="just">
              <a:lnSpc>
                <a:spcPct val="200000"/>
              </a:lnSpc>
              <a:buNone/>
            </a:pPr>
            <a:r>
              <a:rPr lang="en-US" sz="2200" dirty="0">
                <a:latin typeface="Times New Roman" pitchFamily="18" charset="0"/>
                <a:cs typeface="Times New Roman" pitchFamily="18" charset="0"/>
              </a:rPr>
              <a:t>“Intellectual property refers to creations of the mind: inventions; literary and artistic works; and symbols, names and images”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latin typeface="Times New Roman" pitchFamily="18" charset="0"/>
                <a:cs typeface="Times New Roman" pitchFamily="18" charset="0"/>
              </a:rPr>
              <a:t>Intellectual Property Rights</a:t>
            </a:r>
          </a:p>
        </p:txBody>
      </p:sp>
      <p:sp>
        <p:nvSpPr>
          <p:cNvPr id="3" name="Content Placeholder 2"/>
          <p:cNvSpPr>
            <a:spLocks noGrp="1"/>
          </p:cNvSpPr>
          <p:nvPr>
            <p:ph idx="1"/>
          </p:nvPr>
        </p:nvSpPr>
        <p:spPr>
          <a:xfrm>
            <a:off x="467544" y="1196752"/>
            <a:ext cx="8363272" cy="5256584"/>
          </a:xfrm>
        </p:spPr>
        <p:txBody>
          <a:bodyPr>
            <a:noAutofit/>
          </a:bodyPr>
          <a:lstStyle/>
          <a:p>
            <a:pPr marL="463550" indent="0" algn="just">
              <a:lnSpc>
                <a:spcPct val="200000"/>
              </a:lnSpc>
              <a:buNone/>
            </a:pPr>
            <a:r>
              <a:rPr lang="en-US" sz="2200" dirty="0">
                <a:latin typeface="Times New Roman" pitchFamily="18" charset="0"/>
                <a:cs typeface="Times New Roman" pitchFamily="18" charset="0"/>
              </a:rPr>
              <a:t>“Intellectual Property Rights (IPR), very broadly, are rights granted to creators and owners of works that are results of human intellectual creativity. These works can be in the industrial, scientific, literary and artistic domains, which can be in the form of an invention, a manuscript, a suite of software, or a business name”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latin typeface="Times New Roman" pitchFamily="18" charset="0"/>
                <a:cs typeface="Times New Roman" pitchFamily="18" charset="0"/>
              </a:rPr>
              <a:t>Intellectual Property Rights</a:t>
            </a:r>
          </a:p>
        </p:txBody>
      </p:sp>
      <p:sp>
        <p:nvSpPr>
          <p:cNvPr id="3" name="Content Placeholder 2"/>
          <p:cNvSpPr>
            <a:spLocks noGrp="1"/>
          </p:cNvSpPr>
          <p:nvPr>
            <p:ph idx="1"/>
          </p:nvPr>
        </p:nvSpPr>
        <p:spPr>
          <a:xfrm>
            <a:off x="467544" y="1196752"/>
            <a:ext cx="8363272" cy="5256584"/>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Patents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Copyrights and related rights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Trade Marks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Geographical Indications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Industrial Designs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Layout Designs of Integrated Circuits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Protection of Undisclosed Information (Trade Secrets)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Plant varieties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92088"/>
          </a:xfrm>
        </p:spPr>
        <p:txBody>
          <a:bodyPr>
            <a:noAutofit/>
          </a:bodyPr>
          <a:lstStyle/>
          <a:p>
            <a:r>
              <a:rPr lang="en-US" sz="3200" b="1" dirty="0">
                <a:solidFill>
                  <a:srgbClr val="FF0000"/>
                </a:solidFill>
                <a:latin typeface="Times New Roman" pitchFamily="18" charset="0"/>
                <a:cs typeface="Times New Roman" pitchFamily="18" charset="0"/>
              </a:rPr>
              <a:t>Intellectual Property Rights</a:t>
            </a:r>
          </a:p>
        </p:txBody>
      </p:sp>
      <p:sp>
        <p:nvSpPr>
          <p:cNvPr id="3" name="Content Placeholder 2"/>
          <p:cNvSpPr>
            <a:spLocks noGrp="1"/>
          </p:cNvSpPr>
          <p:nvPr>
            <p:ph idx="1"/>
          </p:nvPr>
        </p:nvSpPr>
        <p:spPr>
          <a:xfrm>
            <a:off x="467544" y="1196752"/>
            <a:ext cx="8363272" cy="5256584"/>
          </a:xfrm>
        </p:spPr>
        <p:txBody>
          <a:bodyPr>
            <a:noAutofit/>
          </a:bodyPr>
          <a:lstStyle/>
          <a:p>
            <a:pPr indent="-1588" algn="just">
              <a:lnSpc>
                <a:spcPct val="200000"/>
              </a:lnSpc>
              <a:buNone/>
            </a:pPr>
            <a:r>
              <a:rPr lang="en-US" sz="2200" dirty="0">
                <a:latin typeface="Times New Roman" pitchFamily="18" charset="0"/>
                <a:cs typeface="Times New Roman" pitchFamily="18" charset="0"/>
              </a:rPr>
              <a:t>The importance of intellectual property was first recognized in the Paris Convention for the Protection of Industrial Property (1883) and the Berne Convention for the Protection of Literary and Artistic Works (1886). Both treaties are administered by the World Intellectual Property Organization (WIPO).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640960" cy="936104"/>
          </a:xfrm>
        </p:spPr>
        <p:txBody>
          <a:bodyPr>
            <a:noAutofit/>
          </a:bodyPr>
          <a:lstStyle/>
          <a:p>
            <a:r>
              <a:rPr lang="en-US" sz="3200" b="1" dirty="0">
                <a:solidFill>
                  <a:srgbClr val="FF0000"/>
                </a:solidFill>
                <a:latin typeface="Times New Roman" pitchFamily="18" charset="0"/>
                <a:cs typeface="Times New Roman" pitchFamily="18" charset="0"/>
              </a:rPr>
              <a:t>Why promote and protect Intellectual Property?</a:t>
            </a:r>
          </a:p>
        </p:txBody>
      </p:sp>
      <p:sp>
        <p:nvSpPr>
          <p:cNvPr id="3" name="Content Placeholder 2"/>
          <p:cNvSpPr>
            <a:spLocks noGrp="1"/>
          </p:cNvSpPr>
          <p:nvPr>
            <p:ph idx="1"/>
          </p:nvPr>
        </p:nvSpPr>
        <p:spPr>
          <a:xfrm>
            <a:off x="539552" y="1412776"/>
            <a:ext cx="8208912" cy="5040560"/>
          </a:xfrm>
        </p:spPr>
        <p:txBody>
          <a:bodyPr>
            <a:noAutofit/>
          </a:bodyPr>
          <a:lstStyle/>
          <a:p>
            <a:pPr indent="-1588" algn="just">
              <a:lnSpc>
                <a:spcPct val="150000"/>
              </a:lnSpc>
              <a:buNone/>
            </a:pPr>
            <a:r>
              <a:rPr lang="en-US" sz="2200" dirty="0">
                <a:latin typeface="Times New Roman" pitchFamily="18" charset="0"/>
                <a:cs typeface="Times New Roman" pitchFamily="18" charset="0"/>
              </a:rPr>
              <a:t>There are several compelling reasons. </a:t>
            </a:r>
          </a:p>
          <a:p>
            <a:pPr marL="511175" indent="-457200" algn="just">
              <a:lnSpc>
                <a:spcPct val="150000"/>
              </a:lnSpc>
              <a:buFont typeface="+mj-lt"/>
              <a:buAutoNum type="arabicPeriod"/>
            </a:pPr>
            <a:r>
              <a:rPr lang="en-US" sz="2200" dirty="0">
                <a:latin typeface="Times New Roman" pitchFamily="18" charset="0"/>
                <a:cs typeface="Times New Roman" pitchFamily="18" charset="0"/>
              </a:rPr>
              <a:t>The progress and well-being of humanity rest on its capacity to create and invent new works in the areas of technology and culture.</a:t>
            </a:r>
          </a:p>
          <a:p>
            <a:pPr marL="511175" indent="-457200" algn="just">
              <a:lnSpc>
                <a:spcPct val="150000"/>
              </a:lnSpc>
              <a:buFont typeface="+mj-lt"/>
              <a:buAutoNum type="arabicPeriod"/>
            </a:pPr>
            <a:r>
              <a:rPr lang="en-US" sz="2200" dirty="0">
                <a:latin typeface="Times New Roman" pitchFamily="18" charset="0"/>
                <a:cs typeface="Times New Roman" pitchFamily="18" charset="0"/>
              </a:rPr>
              <a:t>The legal protection of new creations encourages the commitment of additional resources for further innovation. </a:t>
            </a:r>
          </a:p>
          <a:p>
            <a:pPr marL="511175" indent="-457200" algn="just">
              <a:lnSpc>
                <a:spcPct val="150000"/>
              </a:lnSpc>
              <a:buFont typeface="+mj-lt"/>
              <a:buAutoNum type="arabicPeriod"/>
            </a:pPr>
            <a:r>
              <a:rPr lang="en-US" sz="2200" dirty="0">
                <a:latin typeface="Times New Roman" pitchFamily="18" charset="0"/>
                <a:cs typeface="Times New Roman" pitchFamily="18" charset="0"/>
              </a:rPr>
              <a:t>The promotion and protection of intellectual property spurs economic growth, creates new jobs and industries, and enhances the quality and enjoyment of life.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640960" cy="936104"/>
          </a:xfrm>
        </p:spPr>
        <p:txBody>
          <a:bodyPr>
            <a:noAutofit/>
          </a:bodyPr>
          <a:lstStyle/>
          <a:p>
            <a:r>
              <a:rPr lang="en-US" sz="3200" b="1" dirty="0">
                <a:solidFill>
                  <a:srgbClr val="FF0000"/>
                </a:solidFill>
                <a:latin typeface="Times New Roman" pitchFamily="18" charset="0"/>
                <a:cs typeface="Times New Roman" pitchFamily="18" charset="0"/>
              </a:rPr>
              <a:t>Patents</a:t>
            </a:r>
          </a:p>
        </p:txBody>
      </p:sp>
      <p:sp>
        <p:nvSpPr>
          <p:cNvPr id="3" name="Content Placeholder 2"/>
          <p:cNvSpPr>
            <a:spLocks noGrp="1"/>
          </p:cNvSpPr>
          <p:nvPr>
            <p:ph idx="1"/>
          </p:nvPr>
        </p:nvSpPr>
        <p:spPr>
          <a:xfrm>
            <a:off x="539552" y="1412776"/>
            <a:ext cx="8208912" cy="5040560"/>
          </a:xfrm>
        </p:spPr>
        <p:txBody>
          <a:bodyPr>
            <a:noAutofit/>
          </a:bodyPr>
          <a:lstStyle/>
          <a:p>
            <a:pPr indent="-1588" algn="just">
              <a:lnSpc>
                <a:spcPct val="200000"/>
              </a:lnSpc>
              <a:buNone/>
            </a:pPr>
            <a:r>
              <a:rPr lang="en-US" sz="2200" dirty="0">
                <a:latin typeface="Times New Roman" pitchFamily="18" charset="0"/>
                <a:cs typeface="Times New Roman" pitchFamily="18" charset="0"/>
              </a:rPr>
              <a:t>“A patent is a form of intellectual property that gives its owner the legal right to exclude others from making, using, or selling  invention for a limited period of years in exchange for publishing an enabling public disclosure of the inventions. A patent provides patent owners with protection for their inventions. Protection is granted for a limited period, generally 20 years.”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640960" cy="836712"/>
          </a:xfrm>
        </p:spPr>
        <p:txBody>
          <a:bodyPr>
            <a:noAutofit/>
          </a:bodyPr>
          <a:lstStyle/>
          <a:p>
            <a:r>
              <a:rPr lang="en-US" sz="3200" b="1" dirty="0">
                <a:solidFill>
                  <a:srgbClr val="FF0000"/>
                </a:solidFill>
                <a:latin typeface="Times New Roman" pitchFamily="18" charset="0"/>
                <a:cs typeface="Times New Roman" pitchFamily="18" charset="0"/>
              </a:rPr>
              <a:t>Patents - Conditions to be satisfied</a:t>
            </a:r>
          </a:p>
        </p:txBody>
      </p:sp>
      <p:sp>
        <p:nvSpPr>
          <p:cNvPr id="3" name="Content Placeholder 2"/>
          <p:cNvSpPr>
            <a:spLocks noGrp="1"/>
          </p:cNvSpPr>
          <p:nvPr>
            <p:ph idx="1"/>
          </p:nvPr>
        </p:nvSpPr>
        <p:spPr>
          <a:xfrm>
            <a:off x="323528" y="764704"/>
            <a:ext cx="8640960" cy="5688632"/>
          </a:xfrm>
        </p:spPr>
        <p:txBody>
          <a:bodyPr>
            <a:noAutofit/>
          </a:bodyPr>
          <a:lstStyle/>
          <a:p>
            <a:pPr marL="463550" lvl="2" indent="-404813" algn="just">
              <a:lnSpc>
                <a:spcPct val="140000"/>
              </a:lnSpc>
              <a:buFont typeface="Wingdings" pitchFamily="2" charset="2"/>
              <a:buChar char="q"/>
            </a:pPr>
            <a:r>
              <a:rPr lang="en-US" sz="2200" b="1" dirty="0">
                <a:solidFill>
                  <a:srgbClr val="FF0000"/>
                </a:solidFill>
                <a:latin typeface="Times New Roman" pitchFamily="18" charset="0"/>
                <a:cs typeface="Times New Roman" pitchFamily="18" charset="0"/>
              </a:rPr>
              <a:t>Novelty</a:t>
            </a:r>
          </a:p>
          <a:p>
            <a:pPr marL="463550" lvl="2" indent="0" algn="just">
              <a:lnSpc>
                <a:spcPct val="140000"/>
              </a:lnSpc>
              <a:buNone/>
            </a:pPr>
            <a:r>
              <a:rPr lang="en-US" sz="2200" dirty="0">
                <a:latin typeface="Times New Roman" pitchFamily="18" charset="0"/>
                <a:cs typeface="Times New Roman" pitchFamily="18" charset="0"/>
              </a:rPr>
              <a:t>For an invention to be judged as novel, the disclosed information should not be available in the 'prior art'.</a:t>
            </a:r>
          </a:p>
          <a:p>
            <a:pPr marL="463550" lvl="2" indent="-404813" algn="just">
              <a:lnSpc>
                <a:spcPct val="140000"/>
              </a:lnSpc>
              <a:buFont typeface="Wingdings" pitchFamily="2" charset="2"/>
              <a:buChar char="q"/>
            </a:pPr>
            <a:r>
              <a:rPr lang="en-US" sz="2200" b="1" dirty="0">
                <a:solidFill>
                  <a:srgbClr val="FF0000"/>
                </a:solidFill>
                <a:latin typeface="Times New Roman" pitchFamily="18" charset="0"/>
                <a:cs typeface="Times New Roman" pitchFamily="18" charset="0"/>
              </a:rPr>
              <a:t>Inventiveness (Non-obviousness)</a:t>
            </a:r>
          </a:p>
          <a:p>
            <a:pPr marL="463550" lvl="2" indent="-404813" algn="just">
              <a:lnSpc>
                <a:spcPct val="140000"/>
              </a:lnSpc>
              <a:buNone/>
            </a:pPr>
            <a:r>
              <a:rPr lang="en-US" sz="2200" dirty="0">
                <a:latin typeface="Times New Roman" pitchFamily="18" charset="0"/>
                <a:cs typeface="Times New Roman" pitchFamily="18" charset="0"/>
              </a:rPr>
              <a:t> 	A patent application involves an inventive step if the proposed invention is not obvious to a person skilled in the art i.e., skilled in the subject matter of the patent application.</a:t>
            </a:r>
          </a:p>
          <a:p>
            <a:pPr marL="463550" lvl="2" indent="-404813" algn="just">
              <a:lnSpc>
                <a:spcPct val="140000"/>
              </a:lnSpc>
              <a:buFont typeface="Wingdings" pitchFamily="2" charset="2"/>
              <a:buChar char="q"/>
            </a:pPr>
            <a:r>
              <a:rPr lang="en-US" sz="2200" b="1" dirty="0">
                <a:solidFill>
                  <a:srgbClr val="FF0000"/>
                </a:solidFill>
                <a:latin typeface="Times New Roman" pitchFamily="18" charset="0"/>
                <a:cs typeface="Times New Roman" pitchFamily="18" charset="0"/>
              </a:rPr>
              <a:t>Usefulness</a:t>
            </a:r>
          </a:p>
          <a:p>
            <a:pPr marL="463550" lvl="2" indent="-404813" algn="just">
              <a:lnSpc>
                <a:spcPct val="140000"/>
              </a:lnSpc>
              <a:buNone/>
            </a:pPr>
            <a:r>
              <a:rPr lang="en-US" sz="2200" dirty="0">
                <a:latin typeface="Times New Roman" pitchFamily="18" charset="0"/>
                <a:cs typeface="Times New Roman" pitchFamily="18" charset="0"/>
              </a:rPr>
              <a:t>	An invention must possess utility for the grant of patent. The utility requirement often has been interpreted to mean that an invention must have a real use that can be demonstrated.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640960" cy="980728"/>
          </a:xfrm>
        </p:spPr>
        <p:txBody>
          <a:bodyPr>
            <a:noAutofit/>
          </a:bodyPr>
          <a:lstStyle/>
          <a:p>
            <a:r>
              <a:rPr lang="en-US" sz="3200" b="1" dirty="0">
                <a:solidFill>
                  <a:srgbClr val="FF0000"/>
                </a:solidFill>
                <a:latin typeface="Times New Roman" pitchFamily="18" charset="0"/>
                <a:cs typeface="Times New Roman" pitchFamily="18" charset="0"/>
              </a:rPr>
              <a:t>Patents - Patentable Inventions under the Patents Act, 1970</a:t>
            </a:r>
          </a:p>
        </p:txBody>
      </p:sp>
      <p:sp>
        <p:nvSpPr>
          <p:cNvPr id="3" name="Content Placeholder 2"/>
          <p:cNvSpPr>
            <a:spLocks noGrp="1"/>
          </p:cNvSpPr>
          <p:nvPr>
            <p:ph idx="1"/>
          </p:nvPr>
        </p:nvSpPr>
        <p:spPr>
          <a:xfrm>
            <a:off x="323528" y="1124744"/>
            <a:ext cx="8640960" cy="5328592"/>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Art, process, method or manner of manufacture.</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Machine, apparatus or other article, Substances produced by manufacture, which include any new and useful improvements of any of them and an alleged invention.</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However, inventions claiming substance intended for use, or capable of being used, as food or as medicine or drug or relating to substances prepared or produced by chemical processes (including alloys, optical glass, semiconductors and inter-metallic compounds) are not patentable.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640960" cy="1340768"/>
          </a:xfrm>
        </p:spPr>
        <p:txBody>
          <a:bodyPr>
            <a:noAutofit/>
          </a:bodyPr>
          <a:lstStyle/>
          <a:p>
            <a:r>
              <a:rPr lang="en-US" sz="3200" b="1" dirty="0">
                <a:solidFill>
                  <a:srgbClr val="FF0000"/>
                </a:solidFill>
                <a:latin typeface="Times New Roman" pitchFamily="18" charset="0"/>
                <a:cs typeface="Times New Roman" pitchFamily="18" charset="0"/>
              </a:rPr>
              <a:t>Patents - Types of Inventions which are not Patentable in India</a:t>
            </a:r>
          </a:p>
        </p:txBody>
      </p:sp>
      <p:sp>
        <p:nvSpPr>
          <p:cNvPr id="3" name="Content Placeholder 2"/>
          <p:cNvSpPr>
            <a:spLocks noGrp="1"/>
          </p:cNvSpPr>
          <p:nvPr>
            <p:ph idx="1"/>
          </p:nvPr>
        </p:nvSpPr>
        <p:spPr>
          <a:xfrm>
            <a:off x="323528" y="1268760"/>
            <a:ext cx="8640960" cy="5184576"/>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Claims anything obviously contrary to well established natural laws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 Contrary to law or morality or injurious to public health</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 Discovery of a scientific principle or formulation of an abstract theory</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 Discovery of any new property or new use of known substance or the mere use of a known process, machine or apparatus unless such a known process results in a new product or employs at least one new reactant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640960" cy="1340768"/>
          </a:xfrm>
        </p:spPr>
        <p:txBody>
          <a:bodyPr>
            <a:noAutofit/>
          </a:bodyPr>
          <a:lstStyle/>
          <a:p>
            <a:r>
              <a:rPr lang="en-US" sz="3200" b="1" dirty="0">
                <a:solidFill>
                  <a:srgbClr val="FF0000"/>
                </a:solidFill>
                <a:latin typeface="Times New Roman" pitchFamily="18" charset="0"/>
                <a:cs typeface="Times New Roman" pitchFamily="18" charset="0"/>
              </a:rPr>
              <a:t>Patents - Types of Inventions which are not Patentable in India</a:t>
            </a:r>
          </a:p>
        </p:txBody>
      </p:sp>
      <p:sp>
        <p:nvSpPr>
          <p:cNvPr id="3" name="Content Placeholder 2"/>
          <p:cNvSpPr>
            <a:spLocks noGrp="1"/>
          </p:cNvSpPr>
          <p:nvPr>
            <p:ph idx="1"/>
          </p:nvPr>
        </p:nvSpPr>
        <p:spPr>
          <a:xfrm>
            <a:off x="323528" y="1268760"/>
            <a:ext cx="8640960" cy="5184576"/>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Arrangement or rearrangement or duplication of features of known devices</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A method or process of testing applicable during the process of manufacture</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 A method of agriculture or horticulture</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 Any process for medical, surgical, curative, prophylactic or other treatment of human beings, or any process for a similar treatment of animals or plants.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8640960" cy="1340768"/>
          </a:xfrm>
        </p:spPr>
        <p:txBody>
          <a:bodyPr>
            <a:noAutofit/>
          </a:bodyPr>
          <a:lstStyle/>
          <a:p>
            <a:r>
              <a:rPr lang="en-US" sz="3200" b="1" dirty="0">
                <a:solidFill>
                  <a:srgbClr val="FF0000"/>
                </a:solidFill>
                <a:latin typeface="Times New Roman" pitchFamily="18" charset="0"/>
                <a:cs typeface="Times New Roman" pitchFamily="18" charset="0"/>
              </a:rPr>
              <a:t>Why are patents necessary?</a:t>
            </a:r>
          </a:p>
        </p:txBody>
      </p:sp>
      <p:sp>
        <p:nvSpPr>
          <p:cNvPr id="3" name="Content Placeholder 2"/>
          <p:cNvSpPr>
            <a:spLocks noGrp="1"/>
          </p:cNvSpPr>
          <p:nvPr>
            <p:ph idx="1"/>
          </p:nvPr>
        </p:nvSpPr>
        <p:spPr>
          <a:xfrm>
            <a:off x="539552" y="1268760"/>
            <a:ext cx="8136904" cy="5184576"/>
          </a:xfrm>
        </p:spPr>
        <p:txBody>
          <a:bodyPr>
            <a:noAutofit/>
          </a:bodyPr>
          <a:lstStyle/>
          <a:p>
            <a:pPr marL="463550" lvl="2" indent="0" algn="just">
              <a:lnSpc>
                <a:spcPct val="200000"/>
              </a:lnSpc>
              <a:buNone/>
            </a:pPr>
            <a:r>
              <a:rPr lang="en-US" sz="2200" dirty="0">
                <a:latin typeface="Times New Roman" pitchFamily="18" charset="0"/>
                <a:cs typeface="Times New Roman" pitchFamily="18" charset="0"/>
              </a:rPr>
              <a:t>Patents provide incentives to individuals by recognizing their creativity and offering the possibility of material reward for their marketable inventions. These incentives encourage innovation, which in turn enhances the quality of human life.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640960" cy="792088"/>
          </a:xfrm>
        </p:spPr>
        <p:txBody>
          <a:bodyPr>
            <a:noAutofit/>
          </a:bodyPr>
          <a:lstStyle/>
          <a:p>
            <a:r>
              <a:rPr lang="en-US" sz="3200" b="1" dirty="0">
                <a:solidFill>
                  <a:srgbClr val="FF0000"/>
                </a:solidFill>
                <a:latin typeface="Times New Roman" pitchFamily="18" charset="0"/>
                <a:cs typeface="Times New Roman" pitchFamily="18" charset="0"/>
              </a:rPr>
              <a:t>What rights do patent owners have?</a:t>
            </a:r>
          </a:p>
        </p:txBody>
      </p:sp>
      <p:sp>
        <p:nvSpPr>
          <p:cNvPr id="3" name="Content Placeholder 2"/>
          <p:cNvSpPr>
            <a:spLocks noGrp="1"/>
          </p:cNvSpPr>
          <p:nvPr>
            <p:ph idx="1"/>
          </p:nvPr>
        </p:nvSpPr>
        <p:spPr>
          <a:xfrm>
            <a:off x="539552" y="1124744"/>
            <a:ext cx="8136904" cy="5328592"/>
          </a:xfrm>
        </p:spPr>
        <p:txBody>
          <a:bodyPr>
            <a:noAutofit/>
          </a:bodyPr>
          <a:lstStyle/>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A patent owner has the right to decide who may – or may not – use the patented invention for the period during which it is protected.</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Patent owners may give permission to, or license, other parties to use their inventions on mutually agreed terms. </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Owners may also sell their invention rights to someone else, who then becomes the new owner of the patent. </a:t>
            </a:r>
          </a:p>
          <a:p>
            <a:pPr marL="463550" lvl="2" indent="-404813" algn="just">
              <a:lnSpc>
                <a:spcPct val="140000"/>
              </a:lnSpc>
              <a:buFont typeface="Wingdings" pitchFamily="2" charset="2"/>
              <a:buChar char="q"/>
            </a:pPr>
            <a:r>
              <a:rPr lang="en-US" sz="2200" dirty="0">
                <a:latin typeface="Times New Roman" pitchFamily="18" charset="0"/>
                <a:cs typeface="Times New Roman" pitchFamily="18" charset="0"/>
              </a:rPr>
              <a:t>Once a patent expires, protection ends and the invention enters the public domain. This is also known as becoming off patent, meaning the owner no longer holds exclusive rights to the invention, and it becomes available for commercial exploitation by others.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640960" cy="792088"/>
          </a:xfrm>
        </p:spPr>
        <p:txBody>
          <a:bodyPr>
            <a:noAutofit/>
          </a:bodyPr>
          <a:lstStyle/>
          <a:p>
            <a:r>
              <a:rPr lang="en-US" sz="3200" b="1" dirty="0">
                <a:solidFill>
                  <a:srgbClr val="FF0000"/>
                </a:solidFill>
                <a:latin typeface="Times New Roman" pitchFamily="18" charset="0"/>
                <a:cs typeface="Times New Roman" pitchFamily="18" charset="0"/>
              </a:rPr>
              <a:t>Technology Transfer</a:t>
            </a:r>
          </a:p>
        </p:txBody>
      </p:sp>
      <p:sp>
        <p:nvSpPr>
          <p:cNvPr id="3" name="Content Placeholder 2"/>
          <p:cNvSpPr>
            <a:spLocks noGrp="1"/>
          </p:cNvSpPr>
          <p:nvPr>
            <p:ph idx="1"/>
          </p:nvPr>
        </p:nvSpPr>
        <p:spPr>
          <a:xfrm>
            <a:off x="539552" y="1124744"/>
            <a:ext cx="8136904" cy="5328592"/>
          </a:xfrm>
        </p:spPr>
        <p:txBody>
          <a:bodyPr>
            <a:noAutofit/>
          </a:bodyPr>
          <a:lstStyle/>
          <a:p>
            <a:pPr marL="463550" lvl="2" indent="-404813" algn="just">
              <a:lnSpc>
                <a:spcPct val="140000"/>
              </a:lnSpc>
              <a:buNone/>
            </a:pPr>
            <a:r>
              <a:rPr lang="en-US" sz="2200" dirty="0">
                <a:latin typeface="Times New Roman" pitchFamily="18" charset="0"/>
                <a:cs typeface="Times New Roman" pitchFamily="18" charset="0"/>
              </a:rPr>
              <a:t>	“Technology transfer is defined as the process where</a:t>
            </a:r>
          </a:p>
          <a:p>
            <a:pPr marL="2292350" lvl="6" indent="-404813" algn="just">
              <a:lnSpc>
                <a:spcPct val="140000"/>
              </a:lnSpc>
              <a:buFont typeface="Wingdings" pitchFamily="2" charset="2"/>
              <a:buChar char="Ø"/>
            </a:pPr>
            <a:r>
              <a:rPr lang="en-US" sz="2200" dirty="0">
                <a:latin typeface="Times New Roman" pitchFamily="18" charset="0"/>
                <a:cs typeface="Times New Roman" pitchFamily="18" charset="0"/>
              </a:rPr>
              <a:t>Knowledge</a:t>
            </a:r>
          </a:p>
          <a:p>
            <a:pPr marL="2292350" lvl="6" indent="-404813" algn="just">
              <a:lnSpc>
                <a:spcPct val="140000"/>
              </a:lnSpc>
              <a:buFont typeface="Wingdings" pitchFamily="2" charset="2"/>
              <a:buChar char="Ø"/>
            </a:pPr>
            <a:r>
              <a:rPr lang="en-US" sz="2200" dirty="0">
                <a:latin typeface="Times New Roman" pitchFamily="18" charset="0"/>
                <a:cs typeface="Times New Roman" pitchFamily="18" charset="0"/>
              </a:rPr>
              <a:t>Skills and</a:t>
            </a:r>
          </a:p>
          <a:p>
            <a:pPr marL="2292350" lvl="6" indent="-404813" algn="just">
              <a:lnSpc>
                <a:spcPct val="140000"/>
              </a:lnSpc>
              <a:buFont typeface="Wingdings" pitchFamily="2" charset="2"/>
              <a:buChar char="Ø"/>
            </a:pPr>
            <a:r>
              <a:rPr lang="en-US" sz="2200" dirty="0">
                <a:latin typeface="Times New Roman" pitchFamily="18" charset="0"/>
                <a:cs typeface="Times New Roman" pitchFamily="18" charset="0"/>
              </a:rPr>
              <a:t>Equipment</a:t>
            </a:r>
          </a:p>
          <a:p>
            <a:pPr marL="2292350" lvl="6" indent="-404813" algn="just">
              <a:lnSpc>
                <a:spcPct val="140000"/>
              </a:lnSpc>
              <a:buNone/>
            </a:pPr>
            <a:r>
              <a:rPr lang="en-US" sz="2200" dirty="0">
                <a:latin typeface="Times New Roman" pitchFamily="18" charset="0"/>
                <a:cs typeface="Times New Roman" pitchFamily="18" charset="0"/>
              </a:rPr>
              <a:t>			are transferred.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720080"/>
          </a:xfrm>
        </p:spPr>
        <p:txBody>
          <a:bodyPr>
            <a:noAutofit/>
          </a:bodyPr>
          <a:lstStyle/>
          <a:p>
            <a:r>
              <a:rPr lang="en-US" sz="3200" b="1" dirty="0">
                <a:solidFill>
                  <a:srgbClr val="FF0000"/>
                </a:solidFill>
                <a:latin typeface="Times New Roman" pitchFamily="18" charset="0"/>
                <a:cs typeface="Times New Roman" pitchFamily="18" charset="0"/>
              </a:rPr>
              <a:t>Technology Transfer</a:t>
            </a:r>
          </a:p>
        </p:txBody>
      </p:sp>
      <p:sp>
        <p:nvSpPr>
          <p:cNvPr id="3" name="Content Placeholder 2"/>
          <p:cNvSpPr>
            <a:spLocks noGrp="1"/>
          </p:cNvSpPr>
          <p:nvPr>
            <p:ph idx="1"/>
          </p:nvPr>
        </p:nvSpPr>
        <p:spPr>
          <a:xfrm>
            <a:off x="539552" y="836712"/>
            <a:ext cx="8352928" cy="5616624"/>
          </a:xfrm>
        </p:spPr>
        <p:txBody>
          <a:bodyPr>
            <a:noAutofit/>
          </a:bodyPr>
          <a:lstStyle/>
          <a:p>
            <a:pPr marL="463550" lvl="2" indent="-404813" algn="just">
              <a:lnSpc>
                <a:spcPct val="150000"/>
              </a:lnSpc>
              <a:buFont typeface="Wingdings" pitchFamily="2" charset="2"/>
              <a:buChar char="q"/>
            </a:pPr>
            <a:r>
              <a:rPr lang="en-US" sz="2000" dirty="0">
                <a:latin typeface="Times New Roman" pitchFamily="18" charset="0"/>
                <a:cs typeface="Times New Roman" pitchFamily="18" charset="0"/>
              </a:rPr>
              <a:t>Technology Transfer (also called Transfer of Technology (TOT) and Technology Commercialization) are the processes by which the information or knowledge related to the technological aspects travel within the group or between the organizations or entity.</a:t>
            </a:r>
          </a:p>
          <a:p>
            <a:pPr marL="463550" lvl="2" indent="-404813" algn="just">
              <a:lnSpc>
                <a:spcPct val="150000"/>
              </a:lnSpc>
              <a:buFont typeface="Wingdings" pitchFamily="2" charset="2"/>
              <a:buChar char="q"/>
            </a:pPr>
            <a:r>
              <a:rPr lang="en-US" sz="2000" dirty="0">
                <a:latin typeface="Times New Roman" pitchFamily="18" charset="0"/>
                <a:cs typeface="Times New Roman" pitchFamily="18" charset="0"/>
              </a:rPr>
              <a:t>Taking this to the broader scenario, give rise to International technology transfer in which the knowledge travels in between the countries, which is not only limited to the Knowledge and information, rather includes skill transferring, methods of manufacturing, physical assets, know-how, and other technical aspects, and henceforth helps in further development of the technology and innovation, by effectively utilizing the technology transferred and finally incorporating 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720080"/>
          </a:xfrm>
        </p:spPr>
        <p:txBody>
          <a:bodyPr>
            <a:noAutofit/>
          </a:bodyPr>
          <a:lstStyle/>
          <a:p>
            <a:r>
              <a:rPr lang="en-US" sz="3200" b="1" dirty="0">
                <a:solidFill>
                  <a:srgbClr val="FF0000"/>
                </a:solidFill>
                <a:latin typeface="Times New Roman" pitchFamily="18" charset="0"/>
                <a:cs typeface="Times New Roman" pitchFamily="18" charset="0"/>
              </a:rPr>
              <a:t>Technology Transfer</a:t>
            </a:r>
          </a:p>
        </p:txBody>
      </p:sp>
      <p:sp>
        <p:nvSpPr>
          <p:cNvPr id="3" name="Content Placeholder 2"/>
          <p:cNvSpPr>
            <a:spLocks noGrp="1"/>
          </p:cNvSpPr>
          <p:nvPr>
            <p:ph idx="1"/>
          </p:nvPr>
        </p:nvSpPr>
        <p:spPr>
          <a:xfrm>
            <a:off x="539552" y="836712"/>
            <a:ext cx="8352928" cy="5616624"/>
          </a:xfrm>
        </p:spPr>
        <p:txBody>
          <a:bodyPr>
            <a:noAutofit/>
          </a:bodyPr>
          <a:lstStyle/>
          <a:p>
            <a:pPr marL="463550" lvl="2" indent="-404813" algn="just">
              <a:lnSpc>
                <a:spcPct val="150000"/>
              </a:lnSpc>
              <a:buNone/>
            </a:pPr>
            <a:r>
              <a:rPr lang="en-US" sz="2000" dirty="0">
                <a:latin typeface="Times New Roman" pitchFamily="18" charset="0"/>
                <a:cs typeface="Times New Roman" pitchFamily="18" charset="0"/>
              </a:rPr>
              <a:t>The mechanisms of transfer can be categorized in two</a:t>
            </a:r>
          </a:p>
          <a:p>
            <a:pPr marL="463550" lvl="2" indent="-404813" algn="just">
              <a:lnSpc>
                <a:spcPct val="150000"/>
              </a:lnSpc>
              <a:buFont typeface="Wingdings" pitchFamily="2" charset="2"/>
              <a:buChar char="q"/>
            </a:pPr>
            <a:r>
              <a:rPr lang="en-US" sz="2000" dirty="0">
                <a:solidFill>
                  <a:srgbClr val="FF0000"/>
                </a:solidFill>
                <a:latin typeface="Times New Roman" pitchFamily="18" charset="0"/>
                <a:cs typeface="Times New Roman" pitchFamily="18" charset="0"/>
              </a:rPr>
              <a:t> External (Formal)</a:t>
            </a:r>
          </a:p>
          <a:p>
            <a:pPr marL="463550" lvl="2" indent="0" algn="just">
              <a:lnSpc>
                <a:spcPct val="150000"/>
              </a:lnSpc>
              <a:buNone/>
            </a:pPr>
            <a:r>
              <a:rPr lang="en-US" sz="2000" dirty="0">
                <a:latin typeface="Times New Roman" pitchFamily="18" charset="0"/>
                <a:cs typeface="Times New Roman" pitchFamily="18" charset="0"/>
              </a:rPr>
              <a:t>Is the Result of conscious decisions (e.g. going to seminars, attending conferences etc.) and can therefore be controlled and managed.</a:t>
            </a:r>
          </a:p>
          <a:p>
            <a:pPr marL="463550" lvl="2" indent="-404813" algn="just">
              <a:lnSpc>
                <a:spcPct val="150000"/>
              </a:lnSpc>
              <a:buFont typeface="Wingdings" pitchFamily="2" charset="2"/>
              <a:buChar char="q"/>
            </a:pPr>
            <a:r>
              <a:rPr lang="en-US" sz="2000" dirty="0">
                <a:solidFill>
                  <a:srgbClr val="FF0000"/>
                </a:solidFill>
                <a:latin typeface="Times New Roman" pitchFamily="18" charset="0"/>
                <a:cs typeface="Times New Roman" pitchFamily="18" charset="0"/>
              </a:rPr>
              <a:t>Internal (Informal)</a:t>
            </a:r>
          </a:p>
          <a:p>
            <a:pPr marL="463550" lvl="2" indent="0" algn="just">
              <a:lnSpc>
                <a:spcPct val="150000"/>
              </a:lnSpc>
              <a:buNone/>
            </a:pPr>
            <a:r>
              <a:rPr lang="en-US" sz="2000" dirty="0">
                <a:latin typeface="Times New Roman" pitchFamily="18" charset="0"/>
                <a:cs typeface="Times New Roman" pitchFamily="18" charset="0"/>
              </a:rPr>
              <a:t>Certain aspects of internal transfer can also be controlled, but there are aspects like informal discussions in the workplace or the obtaining of information from experienced co-workers that cannot be controlled.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640960" cy="792088"/>
          </a:xfrm>
        </p:spPr>
        <p:txBody>
          <a:bodyPr>
            <a:noAutofit/>
          </a:bodyPr>
          <a:lstStyle/>
          <a:p>
            <a:r>
              <a:rPr lang="en-US" sz="3200" b="1" dirty="0">
                <a:solidFill>
                  <a:srgbClr val="FF0000"/>
                </a:solidFill>
                <a:latin typeface="Times New Roman" pitchFamily="18" charset="0"/>
                <a:cs typeface="Times New Roman" pitchFamily="18" charset="0"/>
              </a:rPr>
              <a:t>Technology Transfer</a:t>
            </a:r>
          </a:p>
        </p:txBody>
      </p:sp>
      <p:pic>
        <p:nvPicPr>
          <p:cNvPr id="1026" name="Picture 2" descr="F:\SOE\POM 2020\Technology Transfer.jpg"/>
          <p:cNvPicPr>
            <a:picLocks noChangeAspect="1" noChangeArrowheads="1"/>
          </p:cNvPicPr>
          <p:nvPr/>
        </p:nvPicPr>
        <p:blipFill>
          <a:blip r:embed="rId2" cstate="print"/>
          <a:srcRect/>
          <a:stretch>
            <a:fillRect/>
          </a:stretch>
        </p:blipFill>
        <p:spPr bwMode="auto">
          <a:xfrm>
            <a:off x="-36512" y="1124744"/>
            <a:ext cx="9180512" cy="576064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720080"/>
          </a:xfrm>
        </p:spPr>
        <p:txBody>
          <a:bodyPr>
            <a:noAutofit/>
          </a:bodyPr>
          <a:lstStyle/>
          <a:p>
            <a:r>
              <a:rPr lang="en-US" sz="3200" b="1" dirty="0">
                <a:solidFill>
                  <a:srgbClr val="FF0000"/>
                </a:solidFill>
                <a:latin typeface="Times New Roman" pitchFamily="18" charset="0"/>
                <a:cs typeface="Times New Roman" pitchFamily="18" charset="0"/>
              </a:rPr>
              <a:t>Technology licenses &amp; Technology Transfer</a:t>
            </a:r>
          </a:p>
        </p:txBody>
      </p:sp>
      <p:sp>
        <p:nvSpPr>
          <p:cNvPr id="3" name="Content Placeholder 2"/>
          <p:cNvSpPr>
            <a:spLocks noGrp="1"/>
          </p:cNvSpPr>
          <p:nvPr>
            <p:ph idx="1"/>
          </p:nvPr>
        </p:nvSpPr>
        <p:spPr>
          <a:xfrm>
            <a:off x="539552" y="836712"/>
            <a:ext cx="8352928" cy="5616624"/>
          </a:xfrm>
        </p:spPr>
        <p:txBody>
          <a:bodyPr>
            <a:noAutofit/>
          </a:bodyPr>
          <a:lstStyle/>
          <a:p>
            <a:pPr marL="463550" lvl="2" indent="-404813" algn="just" fontAlgn="base">
              <a:lnSpc>
                <a:spcPct val="150000"/>
              </a:lnSpc>
              <a:buFont typeface="Wingdings" pitchFamily="2" charset="2"/>
              <a:buChar char="q"/>
            </a:pPr>
            <a:r>
              <a:rPr lang="en-US" sz="2000" dirty="0">
                <a:latin typeface="Times New Roman" pitchFamily="18" charset="0"/>
                <a:cs typeface="Times New Roman" pitchFamily="18" charset="0"/>
              </a:rPr>
              <a:t>Technology licenses allow an organization or person to make use of some technology that might be protected by a variety of intellectual property, including patents. It is primarily involved in the act of permitting a target organization to do something with the permission of the grantor of the license. </a:t>
            </a:r>
          </a:p>
          <a:p>
            <a:pPr marL="463550" lvl="2" indent="-404813" algn="just" fontAlgn="base">
              <a:lnSpc>
                <a:spcPct val="150000"/>
              </a:lnSpc>
              <a:buFont typeface="Wingdings" pitchFamily="2" charset="2"/>
              <a:buChar char="q"/>
            </a:pPr>
            <a:r>
              <a:rPr lang="en-US" sz="2000" dirty="0">
                <a:latin typeface="Times New Roman" pitchFamily="18" charset="0"/>
                <a:cs typeface="Times New Roman" pitchFamily="18" charset="0"/>
              </a:rPr>
              <a:t>Technology transfer is a broader concept that seeks to enable a target organization to up-skill on a technology. It could involve a technology license as well (including patents), but its primary focus is to educate a target organization in a technology to either get a product to market or to create an industry or an academic impetus.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864096"/>
          </a:xfrm>
        </p:spPr>
        <p:txBody>
          <a:bodyPr>
            <a:noAutofit/>
          </a:bodyPr>
          <a:lstStyle/>
          <a:p>
            <a:r>
              <a:rPr lang="en-US" sz="3200" b="1" dirty="0">
                <a:solidFill>
                  <a:srgbClr val="FF0000"/>
                </a:solidFill>
                <a:latin typeface="Times New Roman" pitchFamily="18" charset="0"/>
                <a:cs typeface="Times New Roman" pitchFamily="18" charset="0"/>
              </a:rPr>
              <a:t>Utility Models</a:t>
            </a:r>
          </a:p>
        </p:txBody>
      </p:sp>
      <p:sp>
        <p:nvSpPr>
          <p:cNvPr id="3" name="Content Placeholder 2"/>
          <p:cNvSpPr>
            <a:spLocks noGrp="1"/>
          </p:cNvSpPr>
          <p:nvPr>
            <p:ph idx="1"/>
          </p:nvPr>
        </p:nvSpPr>
        <p:spPr>
          <a:xfrm>
            <a:off x="539552" y="1196752"/>
            <a:ext cx="8136904" cy="5256584"/>
          </a:xfrm>
        </p:spPr>
        <p:txBody>
          <a:bodyPr>
            <a:noAutofit/>
          </a:bodyPr>
          <a:lstStyle/>
          <a:p>
            <a:pPr marL="463550" lvl="2" indent="0" algn="just">
              <a:lnSpc>
                <a:spcPct val="200000"/>
              </a:lnSpc>
              <a:buNone/>
            </a:pPr>
            <a:r>
              <a:rPr lang="en-US" sz="2000" dirty="0">
                <a:latin typeface="Times New Roman" pitchFamily="18" charset="0"/>
                <a:cs typeface="Times New Roman" pitchFamily="18" charset="0"/>
              </a:rPr>
              <a:t>Utility models protect new technical inventions through granting a limited exclusive right to prevent others from commercially exploiting the protected inventions without consents of the right holders.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864096"/>
          </a:xfrm>
        </p:spPr>
        <p:txBody>
          <a:bodyPr>
            <a:noAutofit/>
          </a:bodyPr>
          <a:lstStyle/>
          <a:p>
            <a:r>
              <a:rPr lang="en-US" sz="3200" b="1" dirty="0">
                <a:solidFill>
                  <a:srgbClr val="FF0000"/>
                </a:solidFill>
                <a:latin typeface="Times New Roman" pitchFamily="18" charset="0"/>
                <a:cs typeface="Times New Roman" pitchFamily="18" charset="0"/>
              </a:rPr>
              <a:t>Utility Models</a:t>
            </a:r>
          </a:p>
        </p:txBody>
      </p:sp>
      <p:sp>
        <p:nvSpPr>
          <p:cNvPr id="3" name="Content Placeholder 2"/>
          <p:cNvSpPr>
            <a:spLocks noGrp="1"/>
          </p:cNvSpPr>
          <p:nvPr>
            <p:ph idx="1"/>
          </p:nvPr>
        </p:nvSpPr>
        <p:spPr>
          <a:xfrm>
            <a:off x="539552" y="1340768"/>
            <a:ext cx="8064896" cy="5112568"/>
          </a:xfrm>
        </p:spPr>
        <p:txBody>
          <a:bodyPr>
            <a:noAutofit/>
          </a:bodyPr>
          <a:lstStyle/>
          <a:p>
            <a:pPr marL="463550" lvl="2" indent="0" algn="just">
              <a:lnSpc>
                <a:spcPct val="200000"/>
              </a:lnSpc>
              <a:buNone/>
            </a:pPr>
            <a:r>
              <a:rPr lang="en-US" sz="2000" dirty="0">
                <a:latin typeface="Times New Roman" pitchFamily="18" charset="0"/>
                <a:cs typeface="Times New Roman" pitchFamily="18" charset="0"/>
              </a:rPr>
              <a:t>Utility model protection means that the invention cannot be commercially made, used, distributed, imported or sold by others without the utility model owner's consent for a limited period, often 6 to 15 years from the filing date.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864096"/>
          </a:xfrm>
        </p:spPr>
        <p:txBody>
          <a:bodyPr>
            <a:noAutofit/>
          </a:bodyPr>
          <a:lstStyle/>
          <a:p>
            <a:r>
              <a:rPr lang="en-US" sz="3200" b="1" dirty="0">
                <a:solidFill>
                  <a:srgbClr val="FF0000"/>
                </a:solidFill>
                <a:latin typeface="Times New Roman" pitchFamily="18" charset="0"/>
                <a:cs typeface="Times New Roman" pitchFamily="18" charset="0"/>
              </a:rPr>
              <a:t>What are the main differences between utility models and patents?</a:t>
            </a:r>
          </a:p>
        </p:txBody>
      </p:sp>
      <p:sp>
        <p:nvSpPr>
          <p:cNvPr id="3" name="Content Placeholder 2"/>
          <p:cNvSpPr>
            <a:spLocks noGrp="1"/>
          </p:cNvSpPr>
          <p:nvPr>
            <p:ph idx="1"/>
          </p:nvPr>
        </p:nvSpPr>
        <p:spPr>
          <a:xfrm>
            <a:off x="539552" y="1340768"/>
            <a:ext cx="8064896" cy="4896544"/>
          </a:xfrm>
        </p:spPr>
        <p:txBody>
          <a:bodyPr>
            <a:noAutofit/>
          </a:bodyPr>
          <a:lstStyle/>
          <a:p>
            <a:pPr marL="463550" lvl="2" indent="-404813" algn="just">
              <a:lnSpc>
                <a:spcPct val="140000"/>
              </a:lnSpc>
              <a:buFont typeface="Wingdings" pitchFamily="2" charset="2"/>
              <a:buChar char="q"/>
            </a:pPr>
            <a:r>
              <a:rPr lang="en-US" sz="2000" dirty="0">
                <a:latin typeface="Times New Roman" pitchFamily="18" charset="0"/>
                <a:cs typeface="Times New Roman" pitchFamily="18" charset="0"/>
              </a:rPr>
              <a:t>The term of protection for utility models is shorter than for patents, and varies from country to country (usually between 6 and 15 years).</a:t>
            </a:r>
          </a:p>
          <a:p>
            <a:pPr marL="463550" lvl="2" indent="-404813" algn="just">
              <a:lnSpc>
                <a:spcPct val="140000"/>
              </a:lnSpc>
              <a:buFont typeface="Wingdings" pitchFamily="2" charset="2"/>
              <a:buChar char="q"/>
            </a:pPr>
            <a:r>
              <a:rPr lang="en-US" sz="2000" dirty="0">
                <a:latin typeface="Times New Roman" pitchFamily="18" charset="0"/>
                <a:cs typeface="Times New Roman" pitchFamily="18" charset="0"/>
              </a:rPr>
              <a:t> In most countries, patent offices do not examine utility model applications as to substance prior to registration. This means that the registration process is often simpler and faster, some times it takes six months or less.</a:t>
            </a:r>
          </a:p>
          <a:p>
            <a:pPr marL="463550" lvl="2" indent="-404813" algn="just">
              <a:lnSpc>
                <a:spcPct val="140000"/>
              </a:lnSpc>
              <a:buFont typeface="Wingdings" pitchFamily="2" charset="2"/>
              <a:buChar char="q"/>
            </a:pPr>
            <a:r>
              <a:rPr lang="en-US" sz="2000" dirty="0">
                <a:latin typeface="Times New Roman" pitchFamily="18" charset="0"/>
                <a:cs typeface="Times New Roman" pitchFamily="18" charset="0"/>
              </a:rPr>
              <a:t> Fees for obtaining and maintaining utility models are cheaper.</a:t>
            </a:r>
          </a:p>
          <a:p>
            <a:pPr marL="463550" lvl="2" indent="-404813" algn="just">
              <a:lnSpc>
                <a:spcPct val="140000"/>
              </a:lnSpc>
              <a:buFont typeface="Wingdings" pitchFamily="2" charset="2"/>
              <a:buChar char="q"/>
            </a:pPr>
            <a:r>
              <a:rPr lang="en-US" sz="2000" dirty="0">
                <a:latin typeface="Times New Roman" pitchFamily="18" charset="0"/>
                <a:cs typeface="Times New Roman" pitchFamily="18" charset="0"/>
              </a:rPr>
              <a:t> In some countries, utility model protection can only be obtained for certain fields of technology, such as mechanical devices and apparatus, and only for products but not for processes.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8640"/>
            <a:ext cx="8640960" cy="864096"/>
          </a:xfrm>
        </p:spPr>
        <p:txBody>
          <a:bodyPr>
            <a:noAutofit/>
          </a:bodyPr>
          <a:lstStyle/>
          <a:p>
            <a:r>
              <a:rPr lang="en-US" sz="3200" b="1" dirty="0">
                <a:solidFill>
                  <a:srgbClr val="FF0000"/>
                </a:solidFill>
                <a:latin typeface="Times New Roman" pitchFamily="18" charset="0"/>
                <a:cs typeface="Times New Roman" pitchFamily="18" charset="0"/>
              </a:rPr>
              <a:t>Industrial Designs and Utility models</a:t>
            </a:r>
          </a:p>
        </p:txBody>
      </p:sp>
      <p:sp>
        <p:nvSpPr>
          <p:cNvPr id="3" name="Content Placeholder 2"/>
          <p:cNvSpPr>
            <a:spLocks noGrp="1"/>
          </p:cNvSpPr>
          <p:nvPr>
            <p:ph idx="1"/>
          </p:nvPr>
        </p:nvSpPr>
        <p:spPr>
          <a:xfrm>
            <a:off x="539552" y="1340768"/>
            <a:ext cx="8064896" cy="4896544"/>
          </a:xfrm>
        </p:spPr>
        <p:txBody>
          <a:bodyPr>
            <a:noAutofit/>
          </a:bodyPr>
          <a:lstStyle/>
          <a:p>
            <a:pPr marL="463550" lvl="2" indent="0" algn="just">
              <a:lnSpc>
                <a:spcPct val="200000"/>
              </a:lnSpc>
              <a:buNone/>
            </a:pPr>
            <a:r>
              <a:rPr lang="en-US" sz="2000" dirty="0">
                <a:latin typeface="Times New Roman" pitchFamily="18" charset="0"/>
                <a:cs typeface="Times New Roman" pitchFamily="18" charset="0"/>
              </a:rPr>
              <a:t>Industrial Designs protect the external configuration or appearance of an object, while Utility Model protects the technical function of an invention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29438</TotalTime>
  <Words>2646</Words>
  <Application>Microsoft Office PowerPoint</Application>
  <PresentationFormat>On-screen Show (4:3)</PresentationFormat>
  <Paragraphs>219</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Topics  (Part 1)</vt:lpstr>
      <vt:lpstr>Learning Objectives</vt:lpstr>
      <vt:lpstr>Economics - Definition</vt:lpstr>
      <vt:lpstr>Scarcity - The Basic Economic Problem</vt:lpstr>
      <vt:lpstr>Principles of Economics</vt:lpstr>
      <vt:lpstr>Principles of Economics</vt:lpstr>
      <vt:lpstr>Principles of Economics</vt:lpstr>
      <vt:lpstr>Principles of Economics</vt:lpstr>
      <vt:lpstr>Principles of Economics</vt:lpstr>
      <vt:lpstr>Principles of Economics</vt:lpstr>
      <vt:lpstr>Principles of Economics</vt:lpstr>
      <vt:lpstr>Demand</vt:lpstr>
      <vt:lpstr>Demand</vt:lpstr>
      <vt:lpstr>Supply</vt:lpstr>
      <vt:lpstr>Supply</vt:lpstr>
      <vt:lpstr>Interaction Between Supply and Demand</vt:lpstr>
      <vt:lpstr>Time Value of Money</vt:lpstr>
      <vt:lpstr>Time Value of Money</vt:lpstr>
      <vt:lpstr>Inflation and Deflation</vt:lpstr>
      <vt:lpstr>Inflation and Deflation</vt:lpstr>
      <vt:lpstr>Utility Analysis</vt:lpstr>
      <vt:lpstr>Total and Marginal Utility</vt:lpstr>
      <vt:lpstr>Total and Marginal Utility</vt:lpstr>
      <vt:lpstr>Topics  (Part 2)</vt:lpstr>
      <vt:lpstr>Intellectual Property</vt:lpstr>
      <vt:lpstr>Intellectual Property Rights</vt:lpstr>
      <vt:lpstr>Intellectual Property Rights</vt:lpstr>
      <vt:lpstr>Intellectual Property Rights</vt:lpstr>
      <vt:lpstr>Why promote and protect Intellectual Property?</vt:lpstr>
      <vt:lpstr>Patents</vt:lpstr>
      <vt:lpstr>Patents - Conditions to be satisfied</vt:lpstr>
      <vt:lpstr>Patents - Patentable Inventions under the Patents Act, 1970</vt:lpstr>
      <vt:lpstr>Patents - Types of Inventions which are not Patentable in India</vt:lpstr>
      <vt:lpstr>Patents - Types of Inventions which are not Patentable in India</vt:lpstr>
      <vt:lpstr>Why are patents necessary?</vt:lpstr>
      <vt:lpstr>What rights do patent owners have?</vt:lpstr>
      <vt:lpstr>Technology Transfer</vt:lpstr>
      <vt:lpstr>Technology Transfer</vt:lpstr>
      <vt:lpstr>Technology Transfer</vt:lpstr>
      <vt:lpstr>Technology Transfer</vt:lpstr>
      <vt:lpstr>Technology licenses &amp; Technology Transfer</vt:lpstr>
      <vt:lpstr>Utility Models</vt:lpstr>
      <vt:lpstr>Utility Models</vt:lpstr>
      <vt:lpstr>What are the main differences between utility models and patents?</vt:lpstr>
      <vt:lpstr>Industrial Designs and Utility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Faizal</dc:creator>
  <cp:lastModifiedBy>Febin Suresh</cp:lastModifiedBy>
  <cp:revision>1131</cp:revision>
  <dcterms:created xsi:type="dcterms:W3CDTF">2016-07-20T05:03:16Z</dcterms:created>
  <dcterms:modified xsi:type="dcterms:W3CDTF">2023-12-03T18:11:49Z</dcterms:modified>
</cp:coreProperties>
</file>