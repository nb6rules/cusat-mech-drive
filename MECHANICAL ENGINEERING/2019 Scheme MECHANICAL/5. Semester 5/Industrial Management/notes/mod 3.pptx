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5" r:id="rId3"/>
    <p:sldId id="276" r:id="rId4"/>
    <p:sldId id="277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EC8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6180" y="1418499"/>
            <a:ext cx="4091940" cy="30940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17009" y="555116"/>
            <a:ext cx="41579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C8428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C8428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60831" y="1165860"/>
            <a:ext cx="4364990" cy="4215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C8428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C8428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C8428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EC8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615822"/>
            <a:ext cx="267652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8047" y="2031619"/>
            <a:ext cx="10915904" cy="3874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55881" y="6553952"/>
            <a:ext cx="274320" cy="23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C8428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274256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361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45"/>
              </a:spcBef>
            </a:pPr>
            <a:r>
              <a:rPr lang="en-IN" sz="6000" dirty="0">
                <a:solidFill>
                  <a:srgbClr val="FFFFFF"/>
                </a:solidFill>
              </a:rPr>
              <a:t>INDUSTRIAL </a:t>
            </a:r>
            <a:r>
              <a:rPr sz="6000" spc="-25" dirty="0">
                <a:solidFill>
                  <a:srgbClr val="FFFFFF"/>
                </a:solidFill>
              </a:rPr>
              <a:t>MANAGEMENT</a:t>
            </a:r>
            <a:endParaRPr sz="6000" dirty="0"/>
          </a:p>
          <a:p>
            <a:pPr marR="66675" algn="ctr">
              <a:lnSpc>
                <a:spcPct val="100000"/>
              </a:lnSpc>
              <a:spcBef>
                <a:spcPts val="4345"/>
              </a:spcBef>
            </a:pPr>
            <a:r>
              <a:rPr sz="6000" dirty="0">
                <a:latin typeface="Times New Roman"/>
                <a:cs typeface="Times New Roman"/>
              </a:rPr>
              <a:t>MODULE</a:t>
            </a:r>
            <a:r>
              <a:rPr sz="6000" spc="-65" dirty="0">
                <a:latin typeface="Times New Roman"/>
                <a:cs typeface="Times New Roman"/>
              </a:rPr>
              <a:t> </a:t>
            </a:r>
            <a:r>
              <a:rPr lang="en-IN" sz="6000" spc="-65" dirty="0">
                <a:latin typeface="Times New Roman"/>
                <a:cs typeface="Times New Roman"/>
              </a:rPr>
              <a:t>2</a:t>
            </a:r>
            <a:endParaRPr sz="6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spc="-35" dirty="0">
                <a:solidFill>
                  <a:srgbClr val="FFFFFF"/>
                </a:solidFill>
              </a:rPr>
              <a:t>ORGANIZATIONAL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35" dirty="0">
                <a:solidFill>
                  <a:srgbClr val="FFFFFF"/>
                </a:solidFill>
              </a:rPr>
              <a:t>CHARTS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IN</a:t>
            </a:r>
            <a:r>
              <a:rPr sz="2800" spc="-15" dirty="0">
                <a:solidFill>
                  <a:srgbClr val="FFFFFF"/>
                </a:solidFill>
              </a:rPr>
              <a:t> ORGANIZING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52855" y="4600955"/>
            <a:ext cx="4006850" cy="1324610"/>
          </a:xfrm>
          <a:prstGeom prst="rect">
            <a:avLst/>
          </a:prstGeom>
          <a:solidFill>
            <a:srgbClr val="BDB323"/>
          </a:solidFill>
        </p:spPr>
        <p:txBody>
          <a:bodyPr vert="horz" wrap="square" lIns="0" tIns="40005" rIns="0" bIns="0" rtlCol="0">
            <a:spAutoFit/>
          </a:bodyPr>
          <a:lstStyle/>
          <a:p>
            <a:pPr marL="91440" marR="81280" algn="just">
              <a:lnSpc>
                <a:spcPct val="100000"/>
              </a:lnSpc>
              <a:spcBef>
                <a:spcPts val="315"/>
              </a:spcBef>
            </a:pP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An </a:t>
            </a:r>
            <a:r>
              <a:rPr sz="2000" b="1" spc="-10" dirty="0">
                <a:solidFill>
                  <a:srgbClr val="FFFFFF"/>
                </a:solidFill>
                <a:latin typeface="Cambria"/>
                <a:cs typeface="Cambria"/>
              </a:rPr>
              <a:t>organization 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chart, 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indicates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mbria"/>
                <a:cs typeface="Cambria"/>
              </a:rPr>
              <a:t>how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departments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mbria"/>
                <a:cs typeface="Cambria"/>
              </a:rPr>
              <a:t>are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tied 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together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along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000" b="1" spc="434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principal 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 lines</a:t>
            </a:r>
            <a:r>
              <a:rPr sz="2000" b="1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of authority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7671" y="1984248"/>
            <a:ext cx="6134100" cy="46009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4812" y="2010282"/>
            <a:ext cx="4253865" cy="220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A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major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reason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for</a:t>
            </a:r>
            <a:r>
              <a:rPr sz="2000" spc="-5" dirty="0">
                <a:latin typeface="Cambria"/>
                <a:cs typeface="Cambria"/>
              </a:rPr>
              <a:t> conflict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 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organizations</a:t>
            </a:r>
            <a:r>
              <a:rPr sz="2000" spc="-5" dirty="0">
                <a:latin typeface="Cambria"/>
                <a:cs typeface="Cambria"/>
              </a:rPr>
              <a:t> is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that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people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do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not 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understand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their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assignments</a:t>
            </a:r>
            <a:r>
              <a:rPr sz="2000" dirty="0">
                <a:latin typeface="Cambria"/>
                <a:cs typeface="Cambria"/>
              </a:rPr>
              <a:t> and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those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their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coworkers</a:t>
            </a:r>
            <a:endParaRPr sz="2000">
              <a:latin typeface="Cambria"/>
              <a:cs typeface="Cambria"/>
            </a:endParaRPr>
          </a:p>
          <a:p>
            <a:pPr marL="687705" marR="739140" indent="-48895">
              <a:lnSpc>
                <a:spcPct val="100000"/>
              </a:lnSpc>
              <a:spcBef>
                <a:spcPts val="1830"/>
              </a:spcBef>
            </a:pP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Understand</a:t>
            </a:r>
            <a:r>
              <a:rPr sz="24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Cambria"/>
                <a:cs typeface="Cambria"/>
              </a:rPr>
              <a:t>aid</a:t>
            </a:r>
            <a:r>
              <a:rPr sz="24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30" dirty="0">
                <a:solidFill>
                  <a:srgbClr val="6F2F9F"/>
                </a:solidFill>
                <a:latin typeface="Cambria"/>
                <a:cs typeface="Cambria"/>
              </a:rPr>
              <a:t>by </a:t>
            </a:r>
            <a:r>
              <a:rPr sz="2400" b="1" spc="-509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Organization</a:t>
            </a:r>
            <a:r>
              <a:rPr sz="24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charts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3435"/>
              </a:spcBef>
            </a:pPr>
            <a:r>
              <a:rPr sz="4800" spc="-50" dirty="0">
                <a:solidFill>
                  <a:srgbClr val="FFFFFF"/>
                </a:solidFill>
              </a:rPr>
              <a:t>ORGANIZATIONAL </a:t>
            </a:r>
            <a:r>
              <a:rPr sz="4800" spc="-85" dirty="0">
                <a:solidFill>
                  <a:srgbClr val="FFFFFF"/>
                </a:solidFill>
              </a:rPr>
              <a:t>CULTURE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762138" y="2279649"/>
            <a:ext cx="4086225" cy="3254375"/>
            <a:chOff x="762138" y="2279649"/>
            <a:chExt cx="4086225" cy="3254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138" y="2279649"/>
              <a:ext cx="3506256" cy="32541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9404" y="2552711"/>
              <a:ext cx="568427" cy="5684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886071" y="2507360"/>
            <a:ext cx="4502150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3630">
              <a:lnSpc>
                <a:spcPts val="2155"/>
              </a:lnSpc>
              <a:spcBef>
                <a:spcPts val="100"/>
              </a:spcBef>
            </a:pPr>
            <a:r>
              <a:rPr sz="1800" b="1" spc="-5" dirty="0">
                <a:latin typeface="Cambria"/>
                <a:cs typeface="Cambria"/>
              </a:rPr>
              <a:t>GENERAL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ELECTRIC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395"/>
              </a:lnSpc>
            </a:pPr>
            <a:r>
              <a:rPr sz="2000" spc="-5" dirty="0">
                <a:latin typeface="Cambria"/>
                <a:cs typeface="Cambria"/>
              </a:rPr>
              <a:t>“Progress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our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most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important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product”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3079" y="4002023"/>
            <a:ext cx="1309116" cy="5059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76007" y="4017645"/>
            <a:ext cx="41878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4069" marR="5080" indent="-80200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mbria"/>
                <a:cs typeface="Cambria"/>
              </a:rPr>
              <a:t>“Better things for better </a:t>
            </a:r>
            <a:r>
              <a:rPr sz="2000" spc="-15" dirty="0">
                <a:latin typeface="Cambria"/>
                <a:cs typeface="Cambria"/>
              </a:rPr>
              <a:t>living </a:t>
            </a:r>
            <a:r>
              <a:rPr sz="2000" spc="-10" dirty="0">
                <a:latin typeface="Cambria"/>
                <a:cs typeface="Cambria"/>
              </a:rPr>
              <a:t>through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chemistry”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1348" y="826008"/>
            <a:ext cx="8815070" cy="2123440"/>
            <a:chOff x="1641348" y="826008"/>
            <a:chExt cx="8815070" cy="2123440"/>
          </a:xfrm>
        </p:grpSpPr>
        <p:sp>
          <p:nvSpPr>
            <p:cNvPr id="3" name="object 3"/>
            <p:cNvSpPr/>
            <p:nvPr/>
          </p:nvSpPr>
          <p:spPr>
            <a:xfrm>
              <a:off x="1641348" y="826008"/>
              <a:ext cx="8815070" cy="2123440"/>
            </a:xfrm>
            <a:custGeom>
              <a:avLst/>
              <a:gdLst/>
              <a:ahLst/>
              <a:cxnLst/>
              <a:rect l="l" t="t" r="r" b="b"/>
              <a:pathLst>
                <a:path w="8815070" h="2123440">
                  <a:moveTo>
                    <a:pt x="8814816" y="0"/>
                  </a:moveTo>
                  <a:lnTo>
                    <a:pt x="0" y="0"/>
                  </a:lnTo>
                  <a:lnTo>
                    <a:pt x="0" y="2122932"/>
                  </a:lnTo>
                  <a:lnTo>
                    <a:pt x="8814816" y="2122932"/>
                  </a:lnTo>
                  <a:lnTo>
                    <a:pt x="8814816" y="0"/>
                  </a:lnTo>
                  <a:close/>
                </a:path>
              </a:pathLst>
            </a:custGeom>
            <a:solidFill>
              <a:srgbClr val="BDB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9068" y="929640"/>
              <a:ext cx="7417434" cy="1104900"/>
            </a:xfrm>
            <a:custGeom>
              <a:avLst/>
              <a:gdLst/>
              <a:ahLst/>
              <a:cxnLst/>
              <a:rect l="l" t="t" r="r" b="b"/>
              <a:pathLst>
                <a:path w="7417434" h="1104900">
                  <a:moveTo>
                    <a:pt x="5331206" y="0"/>
                  </a:moveTo>
                  <a:lnTo>
                    <a:pt x="2086102" y="0"/>
                  </a:lnTo>
                  <a:lnTo>
                    <a:pt x="2012839" y="2343"/>
                  </a:lnTo>
                  <a:lnTo>
                    <a:pt x="1949214" y="8875"/>
                  </a:lnTo>
                  <a:lnTo>
                    <a:pt x="1899043" y="18845"/>
                  </a:lnTo>
                  <a:lnTo>
                    <a:pt x="1866142" y="31504"/>
                  </a:lnTo>
                  <a:lnTo>
                    <a:pt x="1854327" y="46100"/>
                  </a:lnTo>
                  <a:lnTo>
                    <a:pt x="1854327" y="184150"/>
                  </a:lnTo>
                  <a:lnTo>
                    <a:pt x="0" y="184150"/>
                  </a:lnTo>
                  <a:lnTo>
                    <a:pt x="927099" y="644525"/>
                  </a:lnTo>
                  <a:lnTo>
                    <a:pt x="0" y="1104900"/>
                  </a:lnTo>
                  <a:lnTo>
                    <a:pt x="2549652" y="1104900"/>
                  </a:lnTo>
                  <a:lnTo>
                    <a:pt x="2622914" y="1102556"/>
                  </a:lnTo>
                  <a:lnTo>
                    <a:pt x="2686539" y="1096024"/>
                  </a:lnTo>
                  <a:lnTo>
                    <a:pt x="2736710" y="1086054"/>
                  </a:lnTo>
                  <a:lnTo>
                    <a:pt x="2781427" y="1058799"/>
                  </a:lnTo>
                  <a:lnTo>
                    <a:pt x="2769611" y="1044264"/>
                  </a:lnTo>
                  <a:lnTo>
                    <a:pt x="2736710" y="1031643"/>
                  </a:lnTo>
                  <a:lnTo>
                    <a:pt x="2686539" y="1021692"/>
                  </a:lnTo>
                  <a:lnTo>
                    <a:pt x="2622914" y="1015167"/>
                  </a:lnTo>
                  <a:lnTo>
                    <a:pt x="2549652" y="1012825"/>
                  </a:lnTo>
                  <a:lnTo>
                    <a:pt x="2086102" y="1012825"/>
                  </a:lnTo>
                  <a:lnTo>
                    <a:pt x="2012839" y="1010481"/>
                  </a:lnTo>
                  <a:lnTo>
                    <a:pt x="1949214" y="1003949"/>
                  </a:lnTo>
                  <a:lnTo>
                    <a:pt x="1899043" y="993979"/>
                  </a:lnTo>
                  <a:lnTo>
                    <a:pt x="1866142" y="981320"/>
                  </a:lnTo>
                  <a:lnTo>
                    <a:pt x="1854327" y="966724"/>
                  </a:lnTo>
                  <a:lnTo>
                    <a:pt x="1866142" y="952189"/>
                  </a:lnTo>
                  <a:lnTo>
                    <a:pt x="1899043" y="939568"/>
                  </a:lnTo>
                  <a:lnTo>
                    <a:pt x="1949214" y="929617"/>
                  </a:lnTo>
                  <a:lnTo>
                    <a:pt x="2012839" y="923092"/>
                  </a:lnTo>
                  <a:lnTo>
                    <a:pt x="2086102" y="920750"/>
                  </a:lnTo>
                  <a:lnTo>
                    <a:pt x="5331206" y="920750"/>
                  </a:lnTo>
                  <a:lnTo>
                    <a:pt x="5404468" y="923093"/>
                  </a:lnTo>
                  <a:lnTo>
                    <a:pt x="5468093" y="929625"/>
                  </a:lnTo>
                  <a:lnTo>
                    <a:pt x="5518264" y="939595"/>
                  </a:lnTo>
                  <a:lnTo>
                    <a:pt x="5562981" y="966851"/>
                  </a:lnTo>
                  <a:lnTo>
                    <a:pt x="5551165" y="981385"/>
                  </a:lnTo>
                  <a:lnTo>
                    <a:pt x="5518264" y="994006"/>
                  </a:lnTo>
                  <a:lnTo>
                    <a:pt x="5468093" y="1003957"/>
                  </a:lnTo>
                  <a:lnTo>
                    <a:pt x="5404468" y="1010482"/>
                  </a:lnTo>
                  <a:lnTo>
                    <a:pt x="5331206" y="1012825"/>
                  </a:lnTo>
                  <a:lnTo>
                    <a:pt x="4867656" y="1012825"/>
                  </a:lnTo>
                  <a:lnTo>
                    <a:pt x="4794380" y="1015168"/>
                  </a:lnTo>
                  <a:lnTo>
                    <a:pt x="4730723" y="1021700"/>
                  </a:lnTo>
                  <a:lnTo>
                    <a:pt x="4680514" y="1031670"/>
                  </a:lnTo>
                  <a:lnTo>
                    <a:pt x="4647582" y="1044329"/>
                  </a:lnTo>
                  <a:lnTo>
                    <a:pt x="4635754" y="1058926"/>
                  </a:lnTo>
                  <a:lnTo>
                    <a:pt x="4647582" y="1073460"/>
                  </a:lnTo>
                  <a:lnTo>
                    <a:pt x="4680514" y="1086081"/>
                  </a:lnTo>
                  <a:lnTo>
                    <a:pt x="4730723" y="1096032"/>
                  </a:lnTo>
                  <a:lnTo>
                    <a:pt x="4794380" y="1102557"/>
                  </a:lnTo>
                  <a:lnTo>
                    <a:pt x="4867656" y="1104900"/>
                  </a:lnTo>
                  <a:lnTo>
                    <a:pt x="7417308" y="1104900"/>
                  </a:lnTo>
                  <a:lnTo>
                    <a:pt x="6490081" y="644525"/>
                  </a:lnTo>
                  <a:lnTo>
                    <a:pt x="7417308" y="184150"/>
                  </a:lnTo>
                  <a:lnTo>
                    <a:pt x="5562981" y="184150"/>
                  </a:lnTo>
                  <a:lnTo>
                    <a:pt x="5562981" y="46100"/>
                  </a:lnTo>
                  <a:lnTo>
                    <a:pt x="5551165" y="31504"/>
                  </a:lnTo>
                  <a:lnTo>
                    <a:pt x="5518264" y="18845"/>
                  </a:lnTo>
                  <a:lnTo>
                    <a:pt x="5468093" y="8875"/>
                  </a:lnTo>
                  <a:lnTo>
                    <a:pt x="5404468" y="2343"/>
                  </a:lnTo>
                  <a:lnTo>
                    <a:pt x="5331206" y="0"/>
                  </a:lnTo>
                  <a:close/>
                </a:path>
              </a:pathLst>
            </a:custGeom>
            <a:solidFill>
              <a:srgbClr val="F88B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3395" y="1850390"/>
              <a:ext cx="3709035" cy="138430"/>
            </a:xfrm>
            <a:custGeom>
              <a:avLst/>
              <a:gdLst/>
              <a:ahLst/>
              <a:cxnLst/>
              <a:rect l="l" t="t" r="r" b="b"/>
              <a:pathLst>
                <a:path w="3709034" h="138430">
                  <a:moveTo>
                    <a:pt x="927100" y="0"/>
                  </a:moveTo>
                  <a:lnTo>
                    <a:pt x="231775" y="0"/>
                  </a:lnTo>
                  <a:lnTo>
                    <a:pt x="158512" y="2342"/>
                  </a:lnTo>
                  <a:lnTo>
                    <a:pt x="94887" y="8867"/>
                  </a:lnTo>
                  <a:lnTo>
                    <a:pt x="44716" y="18818"/>
                  </a:lnTo>
                  <a:lnTo>
                    <a:pt x="11815" y="31439"/>
                  </a:lnTo>
                  <a:lnTo>
                    <a:pt x="0" y="45974"/>
                  </a:lnTo>
                  <a:lnTo>
                    <a:pt x="11815" y="60570"/>
                  </a:lnTo>
                  <a:lnTo>
                    <a:pt x="44716" y="73229"/>
                  </a:lnTo>
                  <a:lnTo>
                    <a:pt x="94887" y="83199"/>
                  </a:lnTo>
                  <a:lnTo>
                    <a:pt x="158512" y="89731"/>
                  </a:lnTo>
                  <a:lnTo>
                    <a:pt x="231775" y="92075"/>
                  </a:lnTo>
                  <a:lnTo>
                    <a:pt x="695325" y="92075"/>
                  </a:lnTo>
                  <a:lnTo>
                    <a:pt x="768587" y="94417"/>
                  </a:lnTo>
                  <a:lnTo>
                    <a:pt x="832212" y="100942"/>
                  </a:lnTo>
                  <a:lnTo>
                    <a:pt x="882383" y="110893"/>
                  </a:lnTo>
                  <a:lnTo>
                    <a:pt x="915284" y="123514"/>
                  </a:lnTo>
                  <a:lnTo>
                    <a:pt x="927100" y="138049"/>
                  </a:lnTo>
                  <a:lnTo>
                    <a:pt x="927100" y="0"/>
                  </a:lnTo>
                  <a:close/>
                </a:path>
                <a:path w="3709034" h="138430">
                  <a:moveTo>
                    <a:pt x="3476879" y="0"/>
                  </a:moveTo>
                  <a:lnTo>
                    <a:pt x="2781427" y="0"/>
                  </a:lnTo>
                  <a:lnTo>
                    <a:pt x="2781427" y="138049"/>
                  </a:lnTo>
                  <a:lnTo>
                    <a:pt x="2793255" y="123514"/>
                  </a:lnTo>
                  <a:lnTo>
                    <a:pt x="2826187" y="110893"/>
                  </a:lnTo>
                  <a:lnTo>
                    <a:pt x="2876396" y="100942"/>
                  </a:lnTo>
                  <a:lnTo>
                    <a:pt x="2940053" y="94417"/>
                  </a:lnTo>
                  <a:lnTo>
                    <a:pt x="3013329" y="92075"/>
                  </a:lnTo>
                  <a:lnTo>
                    <a:pt x="3476879" y="92075"/>
                  </a:lnTo>
                  <a:lnTo>
                    <a:pt x="3550141" y="89731"/>
                  </a:lnTo>
                  <a:lnTo>
                    <a:pt x="3613766" y="83199"/>
                  </a:lnTo>
                  <a:lnTo>
                    <a:pt x="3663937" y="73229"/>
                  </a:lnTo>
                  <a:lnTo>
                    <a:pt x="3696838" y="60570"/>
                  </a:lnTo>
                  <a:lnTo>
                    <a:pt x="3708654" y="45974"/>
                  </a:lnTo>
                  <a:lnTo>
                    <a:pt x="3696838" y="31439"/>
                  </a:lnTo>
                  <a:lnTo>
                    <a:pt x="3663937" y="18818"/>
                  </a:lnTo>
                  <a:lnTo>
                    <a:pt x="3613766" y="8867"/>
                  </a:lnTo>
                  <a:lnTo>
                    <a:pt x="3550141" y="2342"/>
                  </a:lnTo>
                  <a:lnTo>
                    <a:pt x="3476879" y="0"/>
                  </a:lnTo>
                  <a:close/>
                </a:path>
              </a:pathLst>
            </a:custGeom>
            <a:solidFill>
              <a:srgbClr val="C770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49068" y="929640"/>
              <a:ext cx="7417434" cy="1104900"/>
            </a:xfrm>
            <a:custGeom>
              <a:avLst/>
              <a:gdLst/>
              <a:ahLst/>
              <a:cxnLst/>
              <a:rect l="l" t="t" r="r" b="b"/>
              <a:pathLst>
                <a:path w="7417434" h="1104900">
                  <a:moveTo>
                    <a:pt x="0" y="1104900"/>
                  </a:moveTo>
                  <a:lnTo>
                    <a:pt x="927099" y="644525"/>
                  </a:lnTo>
                  <a:lnTo>
                    <a:pt x="0" y="184150"/>
                  </a:lnTo>
                  <a:lnTo>
                    <a:pt x="1854327" y="184150"/>
                  </a:lnTo>
                  <a:lnTo>
                    <a:pt x="1854327" y="46100"/>
                  </a:lnTo>
                  <a:lnTo>
                    <a:pt x="1866142" y="31504"/>
                  </a:lnTo>
                  <a:lnTo>
                    <a:pt x="1899043" y="18845"/>
                  </a:lnTo>
                  <a:lnTo>
                    <a:pt x="1949214" y="8875"/>
                  </a:lnTo>
                  <a:lnTo>
                    <a:pt x="2012839" y="2343"/>
                  </a:lnTo>
                  <a:lnTo>
                    <a:pt x="2086102" y="0"/>
                  </a:lnTo>
                  <a:lnTo>
                    <a:pt x="5331206" y="0"/>
                  </a:lnTo>
                  <a:lnTo>
                    <a:pt x="5404468" y="2343"/>
                  </a:lnTo>
                  <a:lnTo>
                    <a:pt x="5468093" y="8875"/>
                  </a:lnTo>
                  <a:lnTo>
                    <a:pt x="5518264" y="18845"/>
                  </a:lnTo>
                  <a:lnTo>
                    <a:pt x="5562981" y="46100"/>
                  </a:lnTo>
                  <a:lnTo>
                    <a:pt x="5562981" y="184150"/>
                  </a:lnTo>
                  <a:lnTo>
                    <a:pt x="7417308" y="184150"/>
                  </a:lnTo>
                  <a:lnTo>
                    <a:pt x="6490081" y="644525"/>
                  </a:lnTo>
                  <a:lnTo>
                    <a:pt x="7417308" y="1104900"/>
                  </a:lnTo>
                  <a:lnTo>
                    <a:pt x="4867656" y="1104900"/>
                  </a:lnTo>
                  <a:lnTo>
                    <a:pt x="4794380" y="1102556"/>
                  </a:lnTo>
                  <a:lnTo>
                    <a:pt x="4730723" y="1096024"/>
                  </a:lnTo>
                  <a:lnTo>
                    <a:pt x="4680514" y="1086054"/>
                  </a:lnTo>
                  <a:lnTo>
                    <a:pt x="4647582" y="1073395"/>
                  </a:lnTo>
                  <a:lnTo>
                    <a:pt x="4635754" y="1058799"/>
                  </a:lnTo>
                  <a:lnTo>
                    <a:pt x="4647582" y="1044264"/>
                  </a:lnTo>
                  <a:lnTo>
                    <a:pt x="4680514" y="1031643"/>
                  </a:lnTo>
                  <a:lnTo>
                    <a:pt x="4730723" y="1021692"/>
                  </a:lnTo>
                  <a:lnTo>
                    <a:pt x="4794380" y="1015167"/>
                  </a:lnTo>
                  <a:lnTo>
                    <a:pt x="4867656" y="1012825"/>
                  </a:lnTo>
                  <a:lnTo>
                    <a:pt x="5331206" y="1012825"/>
                  </a:lnTo>
                  <a:lnTo>
                    <a:pt x="5404468" y="1010481"/>
                  </a:lnTo>
                  <a:lnTo>
                    <a:pt x="5468093" y="1003949"/>
                  </a:lnTo>
                  <a:lnTo>
                    <a:pt x="5518264" y="993979"/>
                  </a:lnTo>
                  <a:lnTo>
                    <a:pt x="5551165" y="981320"/>
                  </a:lnTo>
                  <a:lnTo>
                    <a:pt x="5562981" y="966724"/>
                  </a:lnTo>
                  <a:lnTo>
                    <a:pt x="5551165" y="952189"/>
                  </a:lnTo>
                  <a:lnTo>
                    <a:pt x="5518264" y="939568"/>
                  </a:lnTo>
                  <a:lnTo>
                    <a:pt x="5468093" y="929617"/>
                  </a:lnTo>
                  <a:lnTo>
                    <a:pt x="5404468" y="923092"/>
                  </a:lnTo>
                  <a:lnTo>
                    <a:pt x="5331206" y="920750"/>
                  </a:lnTo>
                  <a:lnTo>
                    <a:pt x="2086102" y="920750"/>
                  </a:lnTo>
                  <a:lnTo>
                    <a:pt x="2012839" y="923093"/>
                  </a:lnTo>
                  <a:lnTo>
                    <a:pt x="1949214" y="929625"/>
                  </a:lnTo>
                  <a:lnTo>
                    <a:pt x="1899043" y="939595"/>
                  </a:lnTo>
                  <a:lnTo>
                    <a:pt x="1854327" y="966851"/>
                  </a:lnTo>
                  <a:lnTo>
                    <a:pt x="1866142" y="981385"/>
                  </a:lnTo>
                  <a:lnTo>
                    <a:pt x="1899043" y="994006"/>
                  </a:lnTo>
                  <a:lnTo>
                    <a:pt x="1949214" y="1003957"/>
                  </a:lnTo>
                  <a:lnTo>
                    <a:pt x="2012839" y="1010482"/>
                  </a:lnTo>
                  <a:lnTo>
                    <a:pt x="2086102" y="1012825"/>
                  </a:lnTo>
                  <a:lnTo>
                    <a:pt x="2549652" y="1012825"/>
                  </a:lnTo>
                  <a:lnTo>
                    <a:pt x="2622914" y="1015168"/>
                  </a:lnTo>
                  <a:lnTo>
                    <a:pt x="2686539" y="1021700"/>
                  </a:lnTo>
                  <a:lnTo>
                    <a:pt x="2736710" y="1031670"/>
                  </a:lnTo>
                  <a:lnTo>
                    <a:pt x="2769611" y="1044329"/>
                  </a:lnTo>
                  <a:lnTo>
                    <a:pt x="2781427" y="1058926"/>
                  </a:lnTo>
                  <a:lnTo>
                    <a:pt x="2769611" y="1073460"/>
                  </a:lnTo>
                  <a:lnTo>
                    <a:pt x="2736710" y="1086081"/>
                  </a:lnTo>
                  <a:lnTo>
                    <a:pt x="2686539" y="1096032"/>
                  </a:lnTo>
                  <a:lnTo>
                    <a:pt x="2622914" y="1102557"/>
                  </a:lnTo>
                  <a:lnTo>
                    <a:pt x="2549652" y="1104900"/>
                  </a:lnTo>
                  <a:lnTo>
                    <a:pt x="0" y="1104900"/>
                  </a:lnTo>
                  <a:close/>
                </a:path>
                <a:path w="7417434" h="1104900">
                  <a:moveTo>
                    <a:pt x="2781427" y="920750"/>
                  </a:moveTo>
                  <a:lnTo>
                    <a:pt x="2781427" y="1058799"/>
                  </a:lnTo>
                </a:path>
                <a:path w="7417434" h="1104900">
                  <a:moveTo>
                    <a:pt x="4635754" y="1058799"/>
                  </a:moveTo>
                  <a:lnTo>
                    <a:pt x="4635754" y="920750"/>
                  </a:lnTo>
                </a:path>
                <a:path w="7417434" h="1104900">
                  <a:moveTo>
                    <a:pt x="1854327" y="966724"/>
                  </a:moveTo>
                  <a:lnTo>
                    <a:pt x="1854327" y="184150"/>
                  </a:lnTo>
                </a:path>
                <a:path w="7417434" h="1104900">
                  <a:moveTo>
                    <a:pt x="5562981" y="184150"/>
                  </a:moveTo>
                  <a:lnTo>
                    <a:pt x="5562981" y="966724"/>
                  </a:lnTo>
                </a:path>
              </a:pathLst>
            </a:custGeom>
            <a:ln w="12192">
              <a:solidFill>
                <a:srgbClr val="F88B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41348" y="826008"/>
            <a:ext cx="8815070" cy="21234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216910" marR="2988945" algn="ctr">
              <a:lnSpc>
                <a:spcPct val="100000"/>
              </a:lnSpc>
              <a:spcBef>
                <a:spcPts val="755"/>
              </a:spcBef>
            </a:pPr>
            <a:r>
              <a:rPr sz="3000" b="1" spc="-5" dirty="0">
                <a:latin typeface="Cambria"/>
                <a:cs typeface="Cambria"/>
              </a:rPr>
              <a:t>O</a:t>
            </a:r>
            <a:r>
              <a:rPr sz="3000" b="1" spc="-30" dirty="0">
                <a:latin typeface="Cambria"/>
                <a:cs typeface="Cambria"/>
              </a:rPr>
              <a:t>r</a:t>
            </a:r>
            <a:r>
              <a:rPr sz="3000" b="1" spc="-25" dirty="0">
                <a:latin typeface="Cambria"/>
                <a:cs typeface="Cambria"/>
              </a:rPr>
              <a:t>g</a:t>
            </a:r>
            <a:r>
              <a:rPr sz="3000" b="1" spc="-5" dirty="0">
                <a:latin typeface="Cambria"/>
                <a:cs typeface="Cambria"/>
              </a:rPr>
              <a:t>aniz</a:t>
            </a:r>
            <a:r>
              <a:rPr sz="3000" b="1" spc="5" dirty="0">
                <a:latin typeface="Cambria"/>
                <a:cs typeface="Cambria"/>
              </a:rPr>
              <a:t>a</a:t>
            </a:r>
            <a:r>
              <a:rPr sz="3000" b="1" spc="-5" dirty="0">
                <a:latin typeface="Cambria"/>
                <a:cs typeface="Cambria"/>
              </a:rPr>
              <a:t>tional  </a:t>
            </a:r>
            <a:r>
              <a:rPr sz="3000" b="1" spc="-10" dirty="0">
                <a:latin typeface="Cambria"/>
                <a:cs typeface="Cambria"/>
              </a:rPr>
              <a:t>culture</a:t>
            </a:r>
            <a:endParaRPr sz="3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Cambria"/>
              <a:cs typeface="Cambri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  <a:tabLst>
                <a:tab pos="748030" algn="l"/>
                <a:tab pos="1841500" algn="l"/>
                <a:tab pos="2926080" algn="l"/>
                <a:tab pos="3362325" algn="l"/>
                <a:tab pos="4645660" algn="l"/>
                <a:tab pos="5661025" algn="l"/>
                <a:tab pos="6645275" algn="l"/>
                <a:tab pos="7296150" algn="l"/>
                <a:tab pos="8251825" algn="l"/>
              </a:tabLst>
            </a:pPr>
            <a:r>
              <a:rPr sz="2000" b="1" spc="-5" dirty="0">
                <a:latin typeface="Cambria"/>
                <a:cs typeface="Cambria"/>
              </a:rPr>
              <a:t>The	general	pattern	</a:t>
            </a:r>
            <a:r>
              <a:rPr sz="2000" b="1" dirty="0">
                <a:latin typeface="Cambria"/>
                <a:cs typeface="Cambria"/>
              </a:rPr>
              <a:t>of	</a:t>
            </a:r>
            <a:r>
              <a:rPr sz="2000" b="1" spc="-35" dirty="0">
                <a:latin typeface="Cambria"/>
                <a:cs typeface="Cambria"/>
              </a:rPr>
              <a:t>behavior,	</a:t>
            </a:r>
            <a:r>
              <a:rPr sz="2000" b="1" spc="-5" dirty="0">
                <a:latin typeface="Cambria"/>
                <a:cs typeface="Cambria"/>
              </a:rPr>
              <a:t>shared	</a:t>
            </a:r>
            <a:r>
              <a:rPr sz="2000" b="1" spc="-10" dirty="0">
                <a:latin typeface="Cambria"/>
                <a:cs typeface="Cambria"/>
              </a:rPr>
              <a:t>beliefs	</a:t>
            </a:r>
            <a:r>
              <a:rPr sz="2000" b="1" dirty="0">
                <a:latin typeface="Cambria"/>
                <a:cs typeface="Cambria"/>
              </a:rPr>
              <a:t>and	</a:t>
            </a:r>
            <a:r>
              <a:rPr sz="2000" b="1" spc="-15" dirty="0">
                <a:latin typeface="Cambria"/>
                <a:cs typeface="Cambria"/>
              </a:rPr>
              <a:t>values	</a:t>
            </a:r>
            <a:r>
              <a:rPr sz="2000" b="1" spc="-5" dirty="0">
                <a:latin typeface="Cambria"/>
                <a:cs typeface="Cambria"/>
              </a:rPr>
              <a:t>that</a:t>
            </a:r>
            <a:endParaRPr sz="2000">
              <a:latin typeface="Cambria"/>
              <a:cs typeface="Cambria"/>
            </a:endParaRPr>
          </a:p>
          <a:p>
            <a:pPr marL="91440">
              <a:lnSpc>
                <a:spcPct val="100000"/>
              </a:lnSpc>
            </a:pPr>
            <a:r>
              <a:rPr sz="2000" b="1" spc="-5" dirty="0">
                <a:latin typeface="Cambria"/>
                <a:cs typeface="Cambria"/>
              </a:rPr>
              <a:t>organization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members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30" dirty="0">
                <a:latin typeface="Cambria"/>
                <a:cs typeface="Cambria"/>
              </a:rPr>
              <a:t>have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in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common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1720342" y="3156537"/>
            <a:ext cx="8658860" cy="23114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Courier New"/>
              <a:buChar char="o"/>
              <a:tabLst>
                <a:tab pos="355600" algn="l"/>
              </a:tabLst>
            </a:pP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Culture</a:t>
            </a:r>
            <a:r>
              <a:rPr sz="2000" b="1" spc="1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can</a:t>
            </a:r>
            <a:r>
              <a:rPr sz="2000" b="1" spc="1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be</a:t>
            </a:r>
            <a:r>
              <a:rPr sz="2000" b="1" spc="1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inferred</a:t>
            </a:r>
            <a:r>
              <a:rPr sz="2000" b="1" spc="1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from</a:t>
            </a:r>
            <a:r>
              <a:rPr sz="2000" b="1" spc="1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what</a:t>
            </a:r>
            <a:r>
              <a:rPr sz="2000" b="1" spc="1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people</a:t>
            </a:r>
            <a:r>
              <a:rPr sz="2000" b="1" spc="1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65" dirty="0">
                <a:solidFill>
                  <a:srgbClr val="6F2F9F"/>
                </a:solidFill>
                <a:latin typeface="Cambria"/>
                <a:cs typeface="Cambria"/>
              </a:rPr>
              <a:t>say,</a:t>
            </a:r>
            <a:r>
              <a:rPr sz="2000" b="1" spc="1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do</a:t>
            </a:r>
            <a:r>
              <a:rPr sz="2000" b="1" spc="1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2000" b="1" spc="1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think</a:t>
            </a:r>
            <a:r>
              <a:rPr sz="2000" b="1" spc="1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within</a:t>
            </a:r>
            <a:r>
              <a:rPr sz="2000" b="1" spc="1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355600" algn="just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organizational</a:t>
            </a:r>
            <a:r>
              <a:rPr sz="20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setting</a:t>
            </a:r>
            <a:endParaRPr sz="2000">
              <a:latin typeface="Cambria"/>
              <a:cs typeface="Cambria"/>
            </a:endParaRPr>
          </a:p>
          <a:p>
            <a:pPr marL="355600" marR="5080" indent="-342900" algn="just">
              <a:lnSpc>
                <a:spcPct val="15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000" b="1" spc="-5" dirty="0">
                <a:latin typeface="Cambria"/>
                <a:cs typeface="Cambria"/>
              </a:rPr>
              <a:t>It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35" dirty="0">
                <a:latin typeface="Cambria"/>
                <a:cs typeface="Cambria"/>
              </a:rPr>
              <a:t>involves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the</a:t>
            </a:r>
            <a:r>
              <a:rPr sz="2000" b="1" spc="-5" dirty="0">
                <a:latin typeface="Cambria"/>
                <a:cs typeface="Cambria"/>
              </a:rPr>
              <a:t> learning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transmitting</a:t>
            </a:r>
            <a:r>
              <a:rPr sz="2000" b="1" spc="-5" dirty="0">
                <a:latin typeface="Cambria"/>
                <a:cs typeface="Cambria"/>
              </a:rPr>
              <a:t> of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knowledge,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beliefs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 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patterns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of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behavior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30" dirty="0">
                <a:latin typeface="Cambria"/>
                <a:cs typeface="Cambria"/>
              </a:rPr>
              <a:t>over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period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of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time,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which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means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that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 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organization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culture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5" dirty="0">
                <a:latin typeface="Cambria"/>
                <a:cs typeface="Cambria"/>
              </a:rPr>
              <a:t>is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fairly </a:t>
            </a:r>
            <a:r>
              <a:rPr sz="2000" b="1" dirty="0">
                <a:latin typeface="Cambria"/>
                <a:cs typeface="Cambria"/>
              </a:rPr>
              <a:t>stable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and </a:t>
            </a:r>
            <a:r>
              <a:rPr sz="2000" b="1" spc="-5" dirty="0">
                <a:latin typeface="Cambria"/>
                <a:cs typeface="Cambria"/>
              </a:rPr>
              <a:t>does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not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change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fast.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70485" rIns="0" bIns="0" rtlCol="0">
            <a:spAutoFit/>
          </a:bodyPr>
          <a:lstStyle/>
          <a:p>
            <a:pPr marL="4008120" marR="1515110" indent="-2490470">
              <a:lnSpc>
                <a:spcPct val="100000"/>
              </a:lnSpc>
              <a:spcBef>
                <a:spcPts val="555"/>
              </a:spcBef>
            </a:pPr>
            <a:r>
              <a:rPr sz="4800" b="1" spc="-75" dirty="0">
                <a:solidFill>
                  <a:srgbClr val="FFFFFF"/>
                </a:solidFill>
                <a:latin typeface="Cambria"/>
                <a:cs typeface="Cambria"/>
              </a:rPr>
              <a:t>STAFFING</a:t>
            </a:r>
            <a:r>
              <a:rPr sz="48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48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spc="-60" dirty="0">
                <a:solidFill>
                  <a:srgbClr val="FFFFFF"/>
                </a:solidFill>
                <a:latin typeface="Cambria"/>
                <a:cs typeface="Cambria"/>
              </a:rPr>
              <a:t>RELATED</a:t>
            </a:r>
            <a:r>
              <a:rPr sz="4800" b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dirty="0">
                <a:solidFill>
                  <a:srgbClr val="FFFFFF"/>
                </a:solidFill>
                <a:latin typeface="Cambria"/>
                <a:cs typeface="Cambria"/>
              </a:rPr>
              <a:t>HRD </a:t>
            </a:r>
            <a:r>
              <a:rPr sz="4800" b="1" spc="-10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spc="-5" dirty="0">
                <a:solidFill>
                  <a:srgbClr val="FFFFFF"/>
                </a:solidFill>
                <a:latin typeface="Cambria"/>
                <a:cs typeface="Cambria"/>
              </a:rPr>
              <a:t>FUNCTIONS</a:t>
            </a:r>
            <a:endParaRPr sz="48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1371" y="2737104"/>
            <a:ext cx="2212848" cy="21488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07794" y="2726699"/>
            <a:ext cx="4976495" cy="2915920"/>
          </a:xfrm>
          <a:prstGeom prst="rect">
            <a:avLst/>
          </a:prstGeom>
        </p:spPr>
        <p:txBody>
          <a:bodyPr vert="horz" wrap="square" lIns="0" tIns="542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75"/>
              </a:spcBef>
            </a:pPr>
            <a:r>
              <a:rPr sz="6000" spc="-15" dirty="0">
                <a:latin typeface="Cambria"/>
                <a:cs typeface="Cambria"/>
              </a:rPr>
              <a:t>Story</a:t>
            </a:r>
            <a:r>
              <a:rPr sz="6000" spc="-35" dirty="0">
                <a:latin typeface="Cambria"/>
                <a:cs typeface="Cambria"/>
              </a:rPr>
              <a:t> </a:t>
            </a:r>
            <a:r>
              <a:rPr sz="6000" dirty="0">
                <a:latin typeface="Cambria"/>
                <a:cs typeface="Cambria"/>
              </a:rPr>
              <a:t>of</a:t>
            </a:r>
            <a:endParaRPr sz="6000">
              <a:latin typeface="Cambria"/>
              <a:cs typeface="Cambria"/>
            </a:endParaRPr>
          </a:p>
          <a:p>
            <a:pPr marL="3164840">
              <a:lnSpc>
                <a:spcPct val="100000"/>
              </a:lnSpc>
              <a:spcBef>
                <a:spcPts val="4180"/>
              </a:spcBef>
            </a:pPr>
            <a:r>
              <a:rPr sz="6000" spc="-5" dirty="0">
                <a:latin typeface="Cambria"/>
                <a:cs typeface="Cambria"/>
              </a:rPr>
              <a:t>apple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653795"/>
            <a:ext cx="4142232" cy="2072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18582" y="1191005"/>
            <a:ext cx="55892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Cambria"/>
                <a:cs typeface="Cambria"/>
              </a:rPr>
              <a:t>Steve </a:t>
            </a:r>
            <a:r>
              <a:rPr sz="2400" spc="-5" dirty="0">
                <a:latin typeface="Cambria"/>
                <a:cs typeface="Cambria"/>
              </a:rPr>
              <a:t>jobs </a:t>
            </a:r>
            <a:r>
              <a:rPr sz="2400" dirty="0">
                <a:latin typeface="Cambria"/>
                <a:cs typeface="Cambria"/>
              </a:rPr>
              <a:t>&amp; </a:t>
            </a:r>
            <a:r>
              <a:rPr sz="2400" spc="-20" dirty="0">
                <a:latin typeface="Cambria"/>
                <a:cs typeface="Cambria"/>
              </a:rPr>
              <a:t>Steve Wozniak </a:t>
            </a:r>
            <a:r>
              <a:rPr sz="2400" spc="-15" dirty="0">
                <a:latin typeface="Cambria"/>
                <a:cs typeface="Cambria"/>
              </a:rPr>
              <a:t>invented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personal</a:t>
            </a:r>
            <a:r>
              <a:rPr sz="2400" spc="-10" dirty="0">
                <a:latin typeface="Cambria"/>
                <a:cs typeface="Cambria"/>
              </a:rPr>
              <a:t> computer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1976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9211" y="3052572"/>
            <a:ext cx="4809744" cy="32308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5662" y="3078556"/>
            <a:ext cx="480504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1978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personal</a:t>
            </a:r>
            <a:r>
              <a:rPr sz="2400" spc="-10" dirty="0">
                <a:latin typeface="Cambria"/>
                <a:cs typeface="Cambria"/>
              </a:rPr>
              <a:t> computer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Cambria"/>
                <a:cs typeface="Cambria"/>
              </a:rPr>
              <a:t>was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launched</a:t>
            </a:r>
            <a:endParaRPr sz="2400">
              <a:latin typeface="Cambria"/>
              <a:cs typeface="Cambria"/>
            </a:endParaRPr>
          </a:p>
          <a:p>
            <a:pPr marL="355600" marR="7747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solidFill>
                  <a:srgbClr val="C00000"/>
                </a:solidFill>
                <a:latin typeface="Cambria"/>
                <a:cs typeface="Cambria"/>
              </a:rPr>
              <a:t>At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that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time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IBM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mbria"/>
                <a:cs typeface="Cambria"/>
              </a:rPr>
              <a:t>was</a:t>
            </a:r>
            <a:r>
              <a:rPr sz="24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dominant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company</a:t>
            </a:r>
            <a:r>
              <a:rPr sz="2400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400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bid-computer 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market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•"/>
            </a:pPr>
            <a:endParaRPr sz="2450">
              <a:latin typeface="Cambria"/>
              <a:cs typeface="Cambria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1981</a:t>
            </a:r>
            <a:r>
              <a:rPr sz="2400" spc="-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IBM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realized</a:t>
            </a:r>
            <a:r>
              <a:rPr sz="2400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400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importance </a:t>
            </a:r>
            <a:r>
              <a:rPr sz="2400" spc="-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personal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35" dirty="0">
                <a:solidFill>
                  <a:srgbClr val="C00000"/>
                </a:solidFill>
                <a:latin typeface="Cambria"/>
                <a:cs typeface="Cambria"/>
              </a:rPr>
              <a:t>computer,</a:t>
            </a:r>
            <a:r>
              <a:rPr sz="24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jobs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countered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with</a:t>
            </a:r>
            <a:r>
              <a:rPr sz="2400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macintosh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" y="667512"/>
            <a:ext cx="3297935" cy="24734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97426" y="692911"/>
            <a:ext cx="70332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509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/>
                <a:cs typeface="Cambria"/>
              </a:rPr>
              <a:t>Jobs </a:t>
            </a:r>
            <a:r>
              <a:rPr sz="2400" spc="-10" dirty="0">
                <a:latin typeface="Cambria"/>
                <a:cs typeface="Cambria"/>
              </a:rPr>
              <a:t>hired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John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Sculley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who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conducted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advertising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campaign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Pepsico.</a:t>
            </a:r>
            <a:endParaRPr sz="24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/>
                <a:cs typeface="Cambria"/>
              </a:rPr>
              <a:t>Soon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company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visions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by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Sculley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" dirty="0">
                <a:latin typeface="Cambria"/>
                <a:cs typeface="Cambria"/>
              </a:rPr>
              <a:t> jobs departed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9755" y="3351276"/>
            <a:ext cx="4872228" cy="30205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0228" y="4102049"/>
            <a:ext cx="511429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mbria"/>
                <a:cs typeface="Cambria"/>
              </a:rPr>
              <a:t>Sculley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fired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Jobs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1985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2450">
              <a:latin typeface="Cambria"/>
              <a:cs typeface="Cambria"/>
            </a:endParaRPr>
          </a:p>
          <a:p>
            <a:pPr marL="354965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1993 </a:t>
            </a:r>
            <a:r>
              <a:rPr sz="2400" spc="-10" dirty="0">
                <a:latin typeface="Cambria"/>
                <a:cs typeface="Cambria"/>
              </a:rPr>
              <a:t>Sculley </a:t>
            </a:r>
            <a:r>
              <a:rPr sz="2400" spc="-20" dirty="0">
                <a:latin typeface="Cambria"/>
                <a:cs typeface="Cambria"/>
              </a:rPr>
              <a:t>was </a:t>
            </a:r>
            <a:r>
              <a:rPr sz="2400" spc="-5" dirty="0">
                <a:latin typeface="Cambria"/>
                <a:cs typeface="Cambria"/>
              </a:rPr>
              <a:t>replaced </a:t>
            </a:r>
            <a:r>
              <a:rPr sz="2400" spc="-25" dirty="0">
                <a:latin typeface="Cambria"/>
                <a:cs typeface="Cambria"/>
              </a:rPr>
              <a:t>by </a:t>
            </a:r>
            <a:r>
              <a:rPr sz="2400" spc="-5" dirty="0">
                <a:latin typeface="Cambria"/>
                <a:cs typeface="Cambria"/>
              </a:rPr>
              <a:t>Michel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Spindler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due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non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profitability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604" y="708659"/>
            <a:ext cx="2470404" cy="23743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2404" y="3083051"/>
            <a:ext cx="4585715" cy="30601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7640" y="836803"/>
            <a:ext cx="8971915" cy="300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0535" marR="22923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10535" algn="l"/>
                <a:tab pos="3011170" algn="l"/>
              </a:tabLst>
            </a:pPr>
            <a:r>
              <a:rPr sz="2400" spc="-5" dirty="0">
                <a:latin typeface="Cambria"/>
                <a:cs typeface="Cambria"/>
              </a:rPr>
              <a:t>Spindler focused </a:t>
            </a:r>
            <a:r>
              <a:rPr sz="2400" dirty="0">
                <a:latin typeface="Cambria"/>
                <a:cs typeface="Cambria"/>
              </a:rPr>
              <a:t>on </a:t>
            </a:r>
            <a:r>
              <a:rPr sz="2400" spc="-5" dirty="0">
                <a:latin typeface="Cambria"/>
                <a:cs typeface="Cambria"/>
              </a:rPr>
              <a:t>cost-cutting </a:t>
            </a:r>
            <a:r>
              <a:rPr sz="2400" spc="-10" dirty="0">
                <a:latin typeface="Cambria"/>
                <a:cs typeface="Cambria"/>
              </a:rPr>
              <a:t>rather </a:t>
            </a:r>
            <a:r>
              <a:rPr sz="2400" spc="-5" dirty="0">
                <a:latin typeface="Cambria"/>
                <a:cs typeface="Cambria"/>
              </a:rPr>
              <a:t>than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innovative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differentiation</a:t>
            </a:r>
            <a:endParaRPr sz="2400">
              <a:latin typeface="Cambria"/>
              <a:cs typeface="Cambria"/>
            </a:endParaRPr>
          </a:p>
          <a:p>
            <a:pPr marL="3010535" indent="-343535">
              <a:lnSpc>
                <a:spcPct val="100000"/>
              </a:lnSpc>
              <a:buFont typeface="Arial MT"/>
              <a:buChar char="•"/>
              <a:tabLst>
                <a:tab pos="3010535" algn="l"/>
                <a:tab pos="3011170" algn="l"/>
              </a:tabLst>
            </a:pPr>
            <a:r>
              <a:rPr sz="2400" spc="-5" dirty="0">
                <a:latin typeface="Cambria"/>
                <a:cs typeface="Cambria"/>
              </a:rPr>
              <a:t>Losses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continued</a:t>
            </a:r>
            <a:endParaRPr sz="2400">
              <a:latin typeface="Cambria"/>
              <a:cs typeface="Cambria"/>
            </a:endParaRPr>
          </a:p>
          <a:p>
            <a:pPr marL="3010535" indent="-343535">
              <a:lnSpc>
                <a:spcPct val="100000"/>
              </a:lnSpc>
              <a:buFont typeface="Arial MT"/>
              <a:buChar char="•"/>
              <a:tabLst>
                <a:tab pos="3010535" algn="l"/>
                <a:tab pos="3011170" algn="l"/>
              </a:tabLst>
            </a:pPr>
            <a:r>
              <a:rPr sz="2400" dirty="0">
                <a:latin typeface="Cambria"/>
                <a:cs typeface="Cambria"/>
              </a:rPr>
              <a:t>1996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Spindler</a:t>
            </a:r>
            <a:r>
              <a:rPr sz="2400" spc="-20" dirty="0">
                <a:latin typeface="Cambria"/>
                <a:cs typeface="Cambria"/>
              </a:rPr>
              <a:t> was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replaced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by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Gilbert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Amelio</a:t>
            </a:r>
            <a:endParaRPr sz="2400">
              <a:latin typeface="Cambria"/>
              <a:cs typeface="Cambria"/>
            </a:endParaRPr>
          </a:p>
          <a:p>
            <a:pPr marL="3010535" indent="-343535">
              <a:lnSpc>
                <a:spcPct val="100000"/>
              </a:lnSpc>
              <a:buFont typeface="Arial MT"/>
              <a:buChar char="•"/>
              <a:tabLst>
                <a:tab pos="3010535" algn="l"/>
                <a:tab pos="3011170" algn="l"/>
              </a:tabLst>
            </a:pPr>
            <a:r>
              <a:rPr sz="2400" spc="-5" dirty="0">
                <a:latin typeface="Cambria"/>
                <a:cs typeface="Cambria"/>
              </a:rPr>
              <a:t>Apple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continued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being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financial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trouble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50">
              <a:latin typeface="Cambria"/>
              <a:cs typeface="Cambria"/>
            </a:endParaRPr>
          </a:p>
          <a:p>
            <a:pPr marL="35496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1996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apple</a:t>
            </a:r>
            <a:r>
              <a:rPr sz="2400" spc="-10" dirty="0">
                <a:latin typeface="Cambria"/>
                <a:cs typeface="Cambria"/>
              </a:rPr>
              <a:t> rehired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Jobs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to </a:t>
            </a:r>
            <a:r>
              <a:rPr sz="2400" spc="-5" dirty="0">
                <a:latin typeface="Cambria"/>
                <a:cs typeface="Cambria"/>
              </a:rPr>
              <a:t>Apple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0" y="3863340"/>
            <a:ext cx="3962400" cy="28239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420" y="1293698"/>
            <a:ext cx="2678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mbria"/>
                <a:cs typeface="Cambria"/>
              </a:rPr>
              <a:t>Story</a:t>
            </a:r>
            <a:r>
              <a:rPr b="0" spc="-5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of</a:t>
            </a:r>
            <a:r>
              <a:rPr b="0" spc="-25" dirty="0">
                <a:latin typeface="Cambria"/>
                <a:cs typeface="Cambria"/>
              </a:rPr>
              <a:t> </a:t>
            </a:r>
            <a:r>
              <a:rPr b="0" spc="-5" dirty="0">
                <a:latin typeface="Cambria"/>
                <a:cs typeface="Cambria"/>
              </a:rPr>
              <a:t>apple</a:t>
            </a:r>
            <a:r>
              <a:rPr b="0" spc="-35" dirty="0">
                <a:latin typeface="Cambria"/>
                <a:cs typeface="Cambria"/>
              </a:rPr>
              <a:t> </a:t>
            </a:r>
            <a:r>
              <a:rPr b="0" spc="-5" dirty="0">
                <a:latin typeface="Cambria"/>
                <a:cs typeface="Cambria"/>
              </a:rPr>
              <a:t>point</a:t>
            </a:r>
            <a:r>
              <a:rPr b="0" spc="-3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outs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01420" y="2510104"/>
            <a:ext cx="1025525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“The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selection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3000" b="1" i="1" spc="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top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leadership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is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perhaps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most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important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HR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selection;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25" dirty="0">
                <a:solidFill>
                  <a:srgbClr val="6F2F9F"/>
                </a:solidFill>
                <a:latin typeface="Cambria"/>
                <a:cs typeface="Cambria"/>
              </a:rPr>
              <a:t>however,</a:t>
            </a:r>
            <a:r>
              <a:rPr sz="3000" b="1" i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HR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choices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have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 major </a:t>
            </a:r>
            <a:r>
              <a:rPr sz="3000" b="1" i="1" spc="-6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impact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-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positive or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negative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-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at all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levels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of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the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firm and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can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dirty="0">
                <a:solidFill>
                  <a:srgbClr val="6F2F9F"/>
                </a:solidFill>
                <a:latin typeface="Cambria"/>
                <a:cs typeface="Cambria"/>
              </a:rPr>
              <a:t>be a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source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30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innovation</a:t>
            </a:r>
            <a:r>
              <a:rPr sz="3000" b="1" i="1" spc="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6F2F9F"/>
                </a:solidFill>
                <a:latin typeface="Cambria"/>
                <a:cs typeface="Cambria"/>
              </a:rPr>
              <a:t>or</a:t>
            </a:r>
            <a:r>
              <a:rPr sz="3000" b="1" i="1" spc="-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i="1" spc="-25" dirty="0">
                <a:solidFill>
                  <a:srgbClr val="6F2F9F"/>
                </a:solidFill>
                <a:latin typeface="Cambria"/>
                <a:cs typeface="Cambria"/>
              </a:rPr>
              <a:t>stagnation.”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  <a:spcBef>
                <a:spcPts val="5"/>
              </a:spcBef>
            </a:pPr>
            <a:r>
              <a:rPr sz="2800" b="0" spc="-5" dirty="0">
                <a:solidFill>
                  <a:srgbClr val="FFFFFF"/>
                </a:solidFill>
                <a:latin typeface="Cambria"/>
                <a:cs typeface="Cambria"/>
              </a:rPr>
              <a:t>HUMAN </a:t>
            </a:r>
            <a:r>
              <a:rPr sz="2800" b="0" spc="-15" dirty="0">
                <a:solidFill>
                  <a:srgbClr val="FFFFFF"/>
                </a:solidFill>
                <a:latin typeface="Cambria"/>
                <a:cs typeface="Cambria"/>
              </a:rPr>
              <a:t>RESOURCE</a:t>
            </a:r>
            <a:r>
              <a:rPr sz="2800" b="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0" spc="-15" dirty="0">
                <a:solidFill>
                  <a:srgbClr val="FFFFFF"/>
                </a:solidFill>
                <a:latin typeface="Cambria"/>
                <a:cs typeface="Cambria"/>
              </a:rPr>
              <a:t>MANAGEMENT</a:t>
            </a:r>
            <a:r>
              <a:rPr sz="2800" b="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0" spc="-5" dirty="0">
                <a:solidFill>
                  <a:srgbClr val="FFFFFF"/>
                </a:solidFill>
                <a:latin typeface="Cambria"/>
                <a:cs typeface="Cambria"/>
              </a:rPr>
              <a:t>(HRM)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7257" y="2326640"/>
            <a:ext cx="10484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5464" marR="5080" indent="-18034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6F2F9F"/>
                </a:solidFill>
                <a:latin typeface="Cambria"/>
                <a:cs typeface="Cambria"/>
              </a:rPr>
              <a:t>HRM or Staffing is </a:t>
            </a:r>
            <a:r>
              <a:rPr sz="2400" b="1" i="1" dirty="0">
                <a:solidFill>
                  <a:srgbClr val="6F2F9F"/>
                </a:solidFill>
                <a:latin typeface="Cambria"/>
                <a:cs typeface="Cambria"/>
              </a:rPr>
              <a:t>defined as the </a:t>
            </a:r>
            <a:r>
              <a:rPr sz="2400" b="1" i="1" spc="-5" dirty="0">
                <a:solidFill>
                  <a:srgbClr val="6F2F9F"/>
                </a:solidFill>
                <a:latin typeface="Cambria"/>
                <a:cs typeface="Cambria"/>
              </a:rPr>
              <a:t>management function devoted to </a:t>
            </a:r>
            <a:r>
              <a:rPr sz="2400" b="1" i="1" spc="-10" dirty="0">
                <a:solidFill>
                  <a:srgbClr val="6F2F9F"/>
                </a:solidFill>
                <a:latin typeface="Cambria"/>
                <a:cs typeface="Cambria"/>
              </a:rPr>
              <a:t>acquiring, </a:t>
            </a:r>
            <a:r>
              <a:rPr sz="2400" b="1" i="1" spc="-5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mbria"/>
                <a:cs typeface="Cambria"/>
              </a:rPr>
              <a:t>training,</a:t>
            </a:r>
            <a:r>
              <a:rPr sz="2400" b="1" i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mbria"/>
                <a:cs typeface="Cambria"/>
              </a:rPr>
              <a:t>appraising</a:t>
            </a:r>
            <a:r>
              <a:rPr sz="2400" b="1" i="1" spc="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2400" b="1" i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Cambria"/>
                <a:cs typeface="Cambria"/>
              </a:rPr>
              <a:t>compensating</a:t>
            </a:r>
            <a:r>
              <a:rPr sz="2400" b="1" i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mbria"/>
                <a:cs typeface="Cambria"/>
              </a:rPr>
              <a:t>employees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6072" y="3425952"/>
            <a:ext cx="4101465" cy="2842260"/>
          </a:xfrm>
          <a:custGeom>
            <a:avLst/>
            <a:gdLst/>
            <a:ahLst/>
            <a:cxnLst/>
            <a:rect l="l" t="t" r="r" b="b"/>
            <a:pathLst>
              <a:path w="4101465" h="2842260">
                <a:moveTo>
                  <a:pt x="4101084" y="0"/>
                </a:moveTo>
                <a:lnTo>
                  <a:pt x="0" y="0"/>
                </a:lnTo>
                <a:lnTo>
                  <a:pt x="0" y="2842260"/>
                </a:lnTo>
                <a:lnTo>
                  <a:pt x="4101084" y="2842260"/>
                </a:lnTo>
                <a:lnTo>
                  <a:pt x="4101084" y="0"/>
                </a:lnTo>
                <a:close/>
              </a:path>
            </a:pathLst>
          </a:custGeom>
          <a:solidFill>
            <a:srgbClr val="BDB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72182" y="5160009"/>
            <a:ext cx="212598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  <a:tabLst>
                <a:tab pos="1331595" algn="l"/>
              </a:tabLst>
            </a:pPr>
            <a:r>
              <a:rPr sz="2000" b="1" spc="-5" dirty="0">
                <a:latin typeface="Cambria"/>
                <a:cs typeface="Cambria"/>
              </a:rPr>
              <a:t>keeping	</a:t>
            </a:r>
            <a:r>
              <a:rPr sz="2000" b="1" spc="-10" dirty="0">
                <a:latin typeface="Cambria"/>
                <a:cs typeface="Cambria"/>
              </a:rPr>
              <a:t>filled</a:t>
            </a:r>
            <a:endParaRPr sz="20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  <a:tabLst>
                <a:tab pos="624205" algn="l"/>
              </a:tabLst>
            </a:pPr>
            <a:r>
              <a:rPr sz="2000" b="1" spc="-15" dirty="0">
                <a:latin typeface="Cambria"/>
                <a:cs typeface="Cambria"/>
              </a:rPr>
              <a:t>t</a:t>
            </a:r>
            <a:r>
              <a:rPr sz="2000" b="1" spc="-10" dirty="0">
                <a:latin typeface="Cambria"/>
                <a:cs typeface="Cambria"/>
              </a:rPr>
              <a:t>h</a:t>
            </a:r>
            <a:r>
              <a:rPr sz="2000" b="1" dirty="0">
                <a:latin typeface="Cambria"/>
                <a:cs typeface="Cambria"/>
              </a:rPr>
              <a:t>e	</a:t>
            </a:r>
            <a:r>
              <a:rPr sz="2000" b="1" spc="-5" dirty="0">
                <a:latin typeface="Cambria"/>
                <a:cs typeface="Cambria"/>
              </a:rPr>
              <a:t>o</a:t>
            </a:r>
            <a:r>
              <a:rPr sz="2000" b="1" spc="-30" dirty="0">
                <a:latin typeface="Cambria"/>
                <a:cs typeface="Cambria"/>
              </a:rPr>
              <a:t>r</a:t>
            </a:r>
            <a:r>
              <a:rPr sz="2000" b="1" spc="-15" dirty="0">
                <a:latin typeface="Cambria"/>
                <a:cs typeface="Cambria"/>
              </a:rPr>
              <a:t>g</a:t>
            </a:r>
            <a:r>
              <a:rPr sz="2000" b="1" spc="-5" dirty="0">
                <a:latin typeface="Cambria"/>
                <a:cs typeface="Cambria"/>
              </a:rPr>
              <a:t>aniza</a:t>
            </a:r>
            <a:r>
              <a:rPr sz="2000" b="1" spc="-20" dirty="0">
                <a:latin typeface="Cambria"/>
                <a:cs typeface="Cambria"/>
              </a:rPr>
              <a:t>t</a:t>
            </a:r>
            <a:r>
              <a:rPr sz="2000" b="1" spc="-5" dirty="0">
                <a:latin typeface="Cambria"/>
                <a:cs typeface="Cambria"/>
              </a:rPr>
              <a:t>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512" y="5160009"/>
            <a:ext cx="15925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mbria"/>
                <a:cs typeface="Cambria"/>
              </a:rPr>
              <a:t>Filling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positions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5" dirty="0">
                <a:latin typeface="Cambria"/>
                <a:cs typeface="Cambria"/>
              </a:rPr>
              <a:t>in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structure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7927" y="3640835"/>
            <a:ext cx="3484245" cy="1026160"/>
            <a:chOff x="947927" y="3640835"/>
            <a:chExt cx="3484245" cy="1026160"/>
          </a:xfrm>
        </p:grpSpPr>
        <p:sp>
          <p:nvSpPr>
            <p:cNvPr id="8" name="object 8"/>
            <p:cNvSpPr/>
            <p:nvPr/>
          </p:nvSpPr>
          <p:spPr>
            <a:xfrm>
              <a:off x="954023" y="3646931"/>
              <a:ext cx="3472179" cy="1013460"/>
            </a:xfrm>
            <a:custGeom>
              <a:avLst/>
              <a:gdLst/>
              <a:ahLst/>
              <a:cxnLst/>
              <a:rect l="l" t="t" r="r" b="b"/>
              <a:pathLst>
                <a:path w="3472179" h="1013460">
                  <a:moveTo>
                    <a:pt x="2495296" y="0"/>
                  </a:moveTo>
                  <a:lnTo>
                    <a:pt x="976376" y="0"/>
                  </a:lnTo>
                  <a:lnTo>
                    <a:pt x="934140" y="3319"/>
                  </a:lnTo>
                  <a:lnTo>
                    <a:pt x="899668" y="12366"/>
                  </a:lnTo>
                  <a:lnTo>
                    <a:pt x="876434" y="25771"/>
                  </a:lnTo>
                  <a:lnTo>
                    <a:pt x="867918" y="42164"/>
                  </a:lnTo>
                  <a:lnTo>
                    <a:pt x="867918" y="168910"/>
                  </a:lnTo>
                  <a:lnTo>
                    <a:pt x="0" y="168910"/>
                  </a:lnTo>
                  <a:lnTo>
                    <a:pt x="433959" y="591185"/>
                  </a:lnTo>
                  <a:lnTo>
                    <a:pt x="0" y="1013460"/>
                  </a:lnTo>
                  <a:lnTo>
                    <a:pt x="1193419" y="1013460"/>
                  </a:lnTo>
                  <a:lnTo>
                    <a:pt x="1235654" y="1010140"/>
                  </a:lnTo>
                  <a:lnTo>
                    <a:pt x="1270127" y="1001093"/>
                  </a:lnTo>
                  <a:lnTo>
                    <a:pt x="1293360" y="987688"/>
                  </a:lnTo>
                  <a:lnTo>
                    <a:pt x="1301877" y="971296"/>
                  </a:lnTo>
                  <a:lnTo>
                    <a:pt x="1293360" y="954829"/>
                  </a:lnTo>
                  <a:lnTo>
                    <a:pt x="1270127" y="941387"/>
                  </a:lnTo>
                  <a:lnTo>
                    <a:pt x="1235654" y="932326"/>
                  </a:lnTo>
                  <a:lnTo>
                    <a:pt x="1193419" y="929005"/>
                  </a:lnTo>
                  <a:lnTo>
                    <a:pt x="976376" y="929005"/>
                  </a:lnTo>
                  <a:lnTo>
                    <a:pt x="934140" y="925683"/>
                  </a:lnTo>
                  <a:lnTo>
                    <a:pt x="899668" y="916622"/>
                  </a:lnTo>
                  <a:lnTo>
                    <a:pt x="876434" y="903180"/>
                  </a:lnTo>
                  <a:lnTo>
                    <a:pt x="867918" y="886714"/>
                  </a:lnTo>
                  <a:lnTo>
                    <a:pt x="876434" y="870321"/>
                  </a:lnTo>
                  <a:lnTo>
                    <a:pt x="899668" y="856916"/>
                  </a:lnTo>
                  <a:lnTo>
                    <a:pt x="934140" y="847869"/>
                  </a:lnTo>
                  <a:lnTo>
                    <a:pt x="976376" y="844550"/>
                  </a:lnTo>
                  <a:lnTo>
                    <a:pt x="2495296" y="844550"/>
                  </a:lnTo>
                  <a:lnTo>
                    <a:pt x="2537531" y="847869"/>
                  </a:lnTo>
                  <a:lnTo>
                    <a:pt x="2572004" y="856916"/>
                  </a:lnTo>
                  <a:lnTo>
                    <a:pt x="2595237" y="870321"/>
                  </a:lnTo>
                  <a:lnTo>
                    <a:pt x="2603754" y="886714"/>
                  </a:lnTo>
                  <a:lnTo>
                    <a:pt x="2595237" y="903180"/>
                  </a:lnTo>
                  <a:lnTo>
                    <a:pt x="2572004" y="916622"/>
                  </a:lnTo>
                  <a:lnTo>
                    <a:pt x="2537531" y="925683"/>
                  </a:lnTo>
                  <a:lnTo>
                    <a:pt x="2495296" y="929005"/>
                  </a:lnTo>
                  <a:lnTo>
                    <a:pt x="2278253" y="929005"/>
                  </a:lnTo>
                  <a:lnTo>
                    <a:pt x="2236017" y="932324"/>
                  </a:lnTo>
                  <a:lnTo>
                    <a:pt x="2201545" y="941371"/>
                  </a:lnTo>
                  <a:lnTo>
                    <a:pt x="2178311" y="954776"/>
                  </a:lnTo>
                  <a:lnTo>
                    <a:pt x="2169795" y="971169"/>
                  </a:lnTo>
                  <a:lnTo>
                    <a:pt x="2178311" y="987635"/>
                  </a:lnTo>
                  <a:lnTo>
                    <a:pt x="2201545" y="1001077"/>
                  </a:lnTo>
                  <a:lnTo>
                    <a:pt x="2236017" y="1010138"/>
                  </a:lnTo>
                  <a:lnTo>
                    <a:pt x="2278253" y="1013460"/>
                  </a:lnTo>
                  <a:lnTo>
                    <a:pt x="3471672" y="1013460"/>
                  </a:lnTo>
                  <a:lnTo>
                    <a:pt x="3037713" y="591185"/>
                  </a:lnTo>
                  <a:lnTo>
                    <a:pt x="3471672" y="168910"/>
                  </a:lnTo>
                  <a:lnTo>
                    <a:pt x="2603754" y="168910"/>
                  </a:lnTo>
                  <a:lnTo>
                    <a:pt x="2603754" y="42164"/>
                  </a:lnTo>
                  <a:lnTo>
                    <a:pt x="2595237" y="25771"/>
                  </a:lnTo>
                  <a:lnTo>
                    <a:pt x="2572004" y="12366"/>
                  </a:lnTo>
                  <a:lnTo>
                    <a:pt x="2537531" y="3319"/>
                  </a:lnTo>
                  <a:lnTo>
                    <a:pt x="2495296" y="0"/>
                  </a:lnTo>
                  <a:close/>
                </a:path>
              </a:pathLst>
            </a:custGeom>
            <a:solidFill>
              <a:srgbClr val="F88B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1941" y="4491481"/>
              <a:ext cx="1736089" cy="127000"/>
            </a:xfrm>
            <a:custGeom>
              <a:avLst/>
              <a:gdLst/>
              <a:ahLst/>
              <a:cxnLst/>
              <a:rect l="l" t="t" r="r" b="b"/>
              <a:pathLst>
                <a:path w="1736089" h="127000">
                  <a:moveTo>
                    <a:pt x="433958" y="0"/>
                  </a:moveTo>
                  <a:lnTo>
                    <a:pt x="108457" y="0"/>
                  </a:lnTo>
                  <a:lnTo>
                    <a:pt x="66222" y="3319"/>
                  </a:lnTo>
                  <a:lnTo>
                    <a:pt x="31750" y="12366"/>
                  </a:lnTo>
                  <a:lnTo>
                    <a:pt x="8516" y="25771"/>
                  </a:lnTo>
                  <a:lnTo>
                    <a:pt x="0" y="42164"/>
                  </a:lnTo>
                  <a:lnTo>
                    <a:pt x="8516" y="58630"/>
                  </a:lnTo>
                  <a:lnTo>
                    <a:pt x="31750" y="72072"/>
                  </a:lnTo>
                  <a:lnTo>
                    <a:pt x="66222" y="81133"/>
                  </a:lnTo>
                  <a:lnTo>
                    <a:pt x="108457" y="84455"/>
                  </a:lnTo>
                  <a:lnTo>
                    <a:pt x="325500" y="84455"/>
                  </a:lnTo>
                  <a:lnTo>
                    <a:pt x="367736" y="87776"/>
                  </a:lnTo>
                  <a:lnTo>
                    <a:pt x="402208" y="96837"/>
                  </a:lnTo>
                  <a:lnTo>
                    <a:pt x="425442" y="110279"/>
                  </a:lnTo>
                  <a:lnTo>
                    <a:pt x="433958" y="126746"/>
                  </a:lnTo>
                  <a:lnTo>
                    <a:pt x="433958" y="0"/>
                  </a:lnTo>
                  <a:close/>
                </a:path>
                <a:path w="1736089" h="127000">
                  <a:moveTo>
                    <a:pt x="1627378" y="0"/>
                  </a:moveTo>
                  <a:lnTo>
                    <a:pt x="1301877" y="0"/>
                  </a:lnTo>
                  <a:lnTo>
                    <a:pt x="1301877" y="126746"/>
                  </a:lnTo>
                  <a:lnTo>
                    <a:pt x="1310393" y="110279"/>
                  </a:lnTo>
                  <a:lnTo>
                    <a:pt x="1333627" y="96837"/>
                  </a:lnTo>
                  <a:lnTo>
                    <a:pt x="1368099" y="87776"/>
                  </a:lnTo>
                  <a:lnTo>
                    <a:pt x="1410334" y="84455"/>
                  </a:lnTo>
                  <a:lnTo>
                    <a:pt x="1627378" y="84455"/>
                  </a:lnTo>
                  <a:lnTo>
                    <a:pt x="1669613" y="81133"/>
                  </a:lnTo>
                  <a:lnTo>
                    <a:pt x="1704085" y="72072"/>
                  </a:lnTo>
                  <a:lnTo>
                    <a:pt x="1727319" y="58630"/>
                  </a:lnTo>
                  <a:lnTo>
                    <a:pt x="1735835" y="42164"/>
                  </a:lnTo>
                  <a:lnTo>
                    <a:pt x="1727319" y="25771"/>
                  </a:lnTo>
                  <a:lnTo>
                    <a:pt x="1704086" y="12366"/>
                  </a:lnTo>
                  <a:lnTo>
                    <a:pt x="1669613" y="3319"/>
                  </a:lnTo>
                  <a:lnTo>
                    <a:pt x="1627378" y="0"/>
                  </a:lnTo>
                  <a:close/>
                </a:path>
              </a:pathLst>
            </a:custGeom>
            <a:solidFill>
              <a:srgbClr val="C770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4023" y="3646931"/>
              <a:ext cx="3472179" cy="1013460"/>
            </a:xfrm>
            <a:custGeom>
              <a:avLst/>
              <a:gdLst/>
              <a:ahLst/>
              <a:cxnLst/>
              <a:rect l="l" t="t" r="r" b="b"/>
              <a:pathLst>
                <a:path w="3472179" h="1013460">
                  <a:moveTo>
                    <a:pt x="0" y="1013460"/>
                  </a:moveTo>
                  <a:lnTo>
                    <a:pt x="433959" y="591185"/>
                  </a:lnTo>
                  <a:lnTo>
                    <a:pt x="0" y="168910"/>
                  </a:lnTo>
                  <a:lnTo>
                    <a:pt x="867918" y="168910"/>
                  </a:lnTo>
                  <a:lnTo>
                    <a:pt x="867918" y="42164"/>
                  </a:lnTo>
                  <a:lnTo>
                    <a:pt x="876434" y="25771"/>
                  </a:lnTo>
                  <a:lnTo>
                    <a:pt x="899668" y="12366"/>
                  </a:lnTo>
                  <a:lnTo>
                    <a:pt x="934140" y="3319"/>
                  </a:lnTo>
                  <a:lnTo>
                    <a:pt x="976376" y="0"/>
                  </a:lnTo>
                  <a:lnTo>
                    <a:pt x="2495296" y="0"/>
                  </a:lnTo>
                  <a:lnTo>
                    <a:pt x="2537531" y="3319"/>
                  </a:lnTo>
                  <a:lnTo>
                    <a:pt x="2572004" y="12366"/>
                  </a:lnTo>
                  <a:lnTo>
                    <a:pt x="2595237" y="25771"/>
                  </a:lnTo>
                  <a:lnTo>
                    <a:pt x="2603754" y="42164"/>
                  </a:lnTo>
                  <a:lnTo>
                    <a:pt x="2603754" y="168910"/>
                  </a:lnTo>
                  <a:lnTo>
                    <a:pt x="3471672" y="168910"/>
                  </a:lnTo>
                  <a:lnTo>
                    <a:pt x="3037713" y="591185"/>
                  </a:lnTo>
                  <a:lnTo>
                    <a:pt x="3471672" y="1013460"/>
                  </a:lnTo>
                  <a:lnTo>
                    <a:pt x="2278253" y="1013460"/>
                  </a:lnTo>
                  <a:lnTo>
                    <a:pt x="2236017" y="1010140"/>
                  </a:lnTo>
                  <a:lnTo>
                    <a:pt x="2201545" y="1001093"/>
                  </a:lnTo>
                  <a:lnTo>
                    <a:pt x="2178311" y="987688"/>
                  </a:lnTo>
                  <a:lnTo>
                    <a:pt x="2169795" y="971296"/>
                  </a:lnTo>
                  <a:lnTo>
                    <a:pt x="2178311" y="954829"/>
                  </a:lnTo>
                  <a:lnTo>
                    <a:pt x="2201545" y="941387"/>
                  </a:lnTo>
                  <a:lnTo>
                    <a:pt x="2236017" y="932326"/>
                  </a:lnTo>
                  <a:lnTo>
                    <a:pt x="2278253" y="929005"/>
                  </a:lnTo>
                  <a:lnTo>
                    <a:pt x="2495296" y="929005"/>
                  </a:lnTo>
                  <a:lnTo>
                    <a:pt x="2537531" y="925683"/>
                  </a:lnTo>
                  <a:lnTo>
                    <a:pt x="2572004" y="916622"/>
                  </a:lnTo>
                  <a:lnTo>
                    <a:pt x="2595237" y="903180"/>
                  </a:lnTo>
                  <a:lnTo>
                    <a:pt x="2603754" y="886714"/>
                  </a:lnTo>
                  <a:lnTo>
                    <a:pt x="2595237" y="870321"/>
                  </a:lnTo>
                  <a:lnTo>
                    <a:pt x="2572004" y="856916"/>
                  </a:lnTo>
                  <a:lnTo>
                    <a:pt x="2537531" y="847869"/>
                  </a:lnTo>
                  <a:lnTo>
                    <a:pt x="2495296" y="844550"/>
                  </a:lnTo>
                  <a:lnTo>
                    <a:pt x="976376" y="844550"/>
                  </a:lnTo>
                  <a:lnTo>
                    <a:pt x="934140" y="847869"/>
                  </a:lnTo>
                  <a:lnTo>
                    <a:pt x="899668" y="856916"/>
                  </a:lnTo>
                  <a:lnTo>
                    <a:pt x="876434" y="870321"/>
                  </a:lnTo>
                  <a:lnTo>
                    <a:pt x="867918" y="886714"/>
                  </a:lnTo>
                  <a:lnTo>
                    <a:pt x="876434" y="903180"/>
                  </a:lnTo>
                  <a:lnTo>
                    <a:pt x="899668" y="916622"/>
                  </a:lnTo>
                  <a:lnTo>
                    <a:pt x="934140" y="925683"/>
                  </a:lnTo>
                  <a:lnTo>
                    <a:pt x="976376" y="929005"/>
                  </a:lnTo>
                  <a:lnTo>
                    <a:pt x="1193419" y="929005"/>
                  </a:lnTo>
                  <a:lnTo>
                    <a:pt x="1235654" y="932324"/>
                  </a:lnTo>
                  <a:lnTo>
                    <a:pt x="1270127" y="941371"/>
                  </a:lnTo>
                  <a:lnTo>
                    <a:pt x="1293360" y="954776"/>
                  </a:lnTo>
                  <a:lnTo>
                    <a:pt x="1301877" y="971169"/>
                  </a:lnTo>
                  <a:lnTo>
                    <a:pt x="1293360" y="987635"/>
                  </a:lnTo>
                  <a:lnTo>
                    <a:pt x="1270127" y="1001077"/>
                  </a:lnTo>
                  <a:lnTo>
                    <a:pt x="1235654" y="1010138"/>
                  </a:lnTo>
                  <a:lnTo>
                    <a:pt x="1193419" y="1013460"/>
                  </a:lnTo>
                  <a:lnTo>
                    <a:pt x="0" y="1013460"/>
                  </a:lnTo>
                  <a:close/>
                </a:path>
                <a:path w="3472179" h="1013460">
                  <a:moveTo>
                    <a:pt x="1301877" y="844550"/>
                  </a:moveTo>
                  <a:lnTo>
                    <a:pt x="1301877" y="971296"/>
                  </a:lnTo>
                </a:path>
                <a:path w="3472179" h="1013460">
                  <a:moveTo>
                    <a:pt x="2169795" y="971296"/>
                  </a:moveTo>
                  <a:lnTo>
                    <a:pt x="2169795" y="844550"/>
                  </a:lnTo>
                </a:path>
                <a:path w="3472179" h="1013460">
                  <a:moveTo>
                    <a:pt x="867918" y="886714"/>
                  </a:moveTo>
                  <a:lnTo>
                    <a:pt x="867918" y="168910"/>
                  </a:lnTo>
                </a:path>
                <a:path w="3472179" h="1013460">
                  <a:moveTo>
                    <a:pt x="2603754" y="168910"/>
                  </a:moveTo>
                  <a:lnTo>
                    <a:pt x="2603754" y="886714"/>
                  </a:lnTo>
                </a:path>
              </a:pathLst>
            </a:custGeom>
            <a:ln w="12192">
              <a:solidFill>
                <a:srgbClr val="F88B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21713" y="3818001"/>
            <a:ext cx="13481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mbria"/>
                <a:cs typeface="Cambria"/>
              </a:rPr>
              <a:t>Staf</a:t>
            </a:r>
            <a:r>
              <a:rPr sz="3000" b="1" spc="5" dirty="0">
                <a:latin typeface="Cambria"/>
                <a:cs typeface="Cambria"/>
              </a:rPr>
              <a:t>f</a:t>
            </a:r>
            <a:r>
              <a:rPr sz="3000" b="1" spc="-5" dirty="0">
                <a:latin typeface="Cambria"/>
                <a:cs typeface="Cambria"/>
              </a:rPr>
              <a:t>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5772403" y="3384041"/>
            <a:ext cx="57543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  <a:tabLst>
                <a:tab pos="2184400" algn="l"/>
                <a:tab pos="4152265" algn="l"/>
                <a:tab pos="4784725" algn="l"/>
              </a:tabLst>
            </a:pP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Staffing</a:t>
            </a:r>
            <a:r>
              <a:rPr sz="2400" b="1" spc="120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is</a:t>
            </a:r>
            <a:r>
              <a:rPr sz="2400" b="1" spc="9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done</a:t>
            </a:r>
            <a:r>
              <a:rPr sz="2400" b="1" spc="114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30" dirty="0">
                <a:solidFill>
                  <a:srgbClr val="576C31"/>
                </a:solidFill>
                <a:latin typeface="Cambria"/>
                <a:cs typeface="Cambria"/>
              </a:rPr>
              <a:t>by</a:t>
            </a:r>
            <a:r>
              <a:rPr sz="2400" b="1" spc="114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identifying</a:t>
            </a:r>
            <a:r>
              <a:rPr sz="2400" b="1" spc="114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576C31"/>
                </a:solidFill>
                <a:latin typeface="Cambria"/>
                <a:cs typeface="Cambria"/>
              </a:rPr>
              <a:t>workforce </a:t>
            </a:r>
            <a:r>
              <a:rPr sz="2400" b="1" spc="-51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40" dirty="0">
                <a:solidFill>
                  <a:srgbClr val="576C31"/>
                </a:solidFill>
                <a:latin typeface="Cambria"/>
                <a:cs typeface="Cambria"/>
              </a:rPr>
              <a:t>r</a:t>
            </a:r>
            <a:r>
              <a:rPr sz="2400" b="1" spc="5" dirty="0">
                <a:solidFill>
                  <a:srgbClr val="576C31"/>
                </a:solidFill>
                <a:latin typeface="Cambria"/>
                <a:cs typeface="Cambria"/>
              </a:rPr>
              <a:t>eq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ui</a:t>
            </a:r>
            <a:r>
              <a:rPr sz="2400" b="1" spc="-45" dirty="0">
                <a:solidFill>
                  <a:srgbClr val="576C31"/>
                </a:solidFill>
                <a:latin typeface="Cambria"/>
                <a:cs typeface="Cambria"/>
              </a:rPr>
              <a:t>r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eme</a:t>
            </a:r>
            <a:r>
              <a:rPr sz="2400" b="1" spc="5" dirty="0">
                <a:solidFill>
                  <a:srgbClr val="576C31"/>
                </a:solidFill>
                <a:latin typeface="Cambria"/>
                <a:cs typeface="Cambria"/>
              </a:rPr>
              <a:t>n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ts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,	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i</a:t>
            </a:r>
            <a:r>
              <a:rPr sz="2400" b="1" spc="-70" dirty="0">
                <a:solidFill>
                  <a:srgbClr val="576C31"/>
                </a:solidFill>
                <a:latin typeface="Cambria"/>
                <a:cs typeface="Cambria"/>
              </a:rPr>
              <a:t>n</a:t>
            </a:r>
            <a:r>
              <a:rPr sz="2400" b="1" spc="-75" dirty="0">
                <a:solidFill>
                  <a:srgbClr val="576C31"/>
                </a:solidFill>
                <a:latin typeface="Cambria"/>
                <a:cs typeface="Cambria"/>
              </a:rPr>
              <a:t>v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en</a:t>
            </a:r>
            <a:r>
              <a:rPr sz="2400" b="1" spc="-40" dirty="0">
                <a:solidFill>
                  <a:srgbClr val="576C31"/>
                </a:solidFill>
                <a:latin typeface="Cambria"/>
                <a:cs typeface="Cambria"/>
              </a:rPr>
              <a:t>t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oryin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g	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th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e	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p</a:t>
            </a:r>
            <a:r>
              <a:rPr sz="2400" b="1" spc="-10" dirty="0">
                <a:solidFill>
                  <a:srgbClr val="576C31"/>
                </a:solidFill>
                <a:latin typeface="Cambria"/>
                <a:cs typeface="Cambria"/>
              </a:rPr>
              <a:t>e</a:t>
            </a:r>
            <a:r>
              <a:rPr sz="2400" b="1" spc="10" dirty="0">
                <a:solidFill>
                  <a:srgbClr val="576C31"/>
                </a:solidFill>
                <a:latin typeface="Cambria"/>
                <a:cs typeface="Cambria"/>
              </a:rPr>
              <a:t>o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ple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2403" y="4482317"/>
            <a:ext cx="5756275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400" b="1" spc="-20" dirty="0">
                <a:solidFill>
                  <a:srgbClr val="576C31"/>
                </a:solidFill>
                <a:latin typeface="Cambria"/>
                <a:cs typeface="Cambria"/>
              </a:rPr>
              <a:t>available</a:t>
            </a:r>
            <a:r>
              <a:rPr sz="2400" b="1" spc="-1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and,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promoting,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appraising, 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recruiting, selecting,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placing </a:t>
            </a:r>
            <a:r>
              <a:rPr sz="2400" b="1" spc="-10" dirty="0">
                <a:solidFill>
                  <a:srgbClr val="576C31"/>
                </a:solidFill>
                <a:latin typeface="Cambria"/>
                <a:cs typeface="Cambria"/>
              </a:rPr>
              <a:t>careers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of </a:t>
            </a:r>
            <a:r>
              <a:rPr sz="2400" b="1" spc="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candidates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or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576C31"/>
                </a:solidFill>
                <a:latin typeface="Cambria"/>
                <a:cs typeface="Cambria"/>
              </a:rPr>
              <a:t>current</a:t>
            </a:r>
            <a:r>
              <a:rPr sz="2400" b="1" spc="10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job holders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  <a:spcBef>
                <a:spcPts val="5"/>
              </a:spcBef>
            </a:pPr>
            <a:r>
              <a:rPr sz="2800" b="0" spc="-15" dirty="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sz="2800" b="0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0" spc="-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800" b="0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0" spc="-40" dirty="0">
                <a:solidFill>
                  <a:srgbClr val="FFFFFF"/>
                </a:solidFill>
                <a:latin typeface="Cambria"/>
                <a:cs typeface="Cambria"/>
              </a:rPr>
              <a:t>STAFFING</a:t>
            </a:r>
            <a:r>
              <a:rPr sz="2800" b="0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0" spc="-5" dirty="0">
                <a:solidFill>
                  <a:srgbClr val="FFFFFF"/>
                </a:solidFill>
                <a:latin typeface="Cambria"/>
                <a:cs typeface="Cambria"/>
              </a:rPr>
              <a:t>FUNCTION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7747" y="2270760"/>
            <a:ext cx="2095500" cy="619125"/>
          </a:xfrm>
          <a:prstGeom prst="rect">
            <a:avLst/>
          </a:prstGeom>
          <a:solidFill>
            <a:srgbClr val="465258"/>
          </a:solidFill>
          <a:ln w="12192">
            <a:solidFill>
              <a:srgbClr val="303A3E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1180"/>
              </a:spcBef>
            </a:pP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Recruitment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072" y="2270760"/>
            <a:ext cx="2094230" cy="619125"/>
          </a:xfrm>
          <a:prstGeom prst="rect">
            <a:avLst/>
          </a:prstGeom>
          <a:solidFill>
            <a:srgbClr val="465258"/>
          </a:solidFill>
          <a:ln w="12191">
            <a:solidFill>
              <a:srgbClr val="303A3E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525780" marR="388620" indent="-131445">
              <a:lnSpc>
                <a:spcPts val="2400"/>
              </a:lnSpc>
              <a:spcBef>
                <a:spcPts val="60"/>
              </a:spcBef>
            </a:pP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Man</a:t>
            </a:r>
            <a:r>
              <a:rPr sz="2000" b="1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mbria"/>
                <a:cs typeface="Cambria"/>
              </a:rPr>
              <a:t>power </a:t>
            </a:r>
            <a:r>
              <a:rPr sz="2000" b="1" spc="-4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planning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9444" y="2270760"/>
            <a:ext cx="2094230" cy="619125"/>
          </a:xfrm>
          <a:prstGeom prst="rect">
            <a:avLst/>
          </a:prstGeom>
          <a:solidFill>
            <a:srgbClr val="465258"/>
          </a:solidFill>
          <a:ln w="12192">
            <a:solidFill>
              <a:srgbClr val="303A3E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1180"/>
              </a:spcBef>
            </a:pP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Selection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4188" y="2270760"/>
            <a:ext cx="2094230" cy="619125"/>
          </a:xfrm>
          <a:prstGeom prst="rect">
            <a:avLst/>
          </a:prstGeom>
          <a:solidFill>
            <a:srgbClr val="465258"/>
          </a:solidFill>
          <a:ln w="12192">
            <a:solidFill>
              <a:srgbClr val="303A3E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33705" marR="109855" indent="-315595">
              <a:lnSpc>
                <a:spcPts val="2400"/>
              </a:lnSpc>
              <a:spcBef>
                <a:spcPts val="60"/>
              </a:spcBef>
            </a:pP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ientat</a:t>
            </a:r>
            <a:r>
              <a:rPr sz="2000" b="1" spc="5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2000" b="1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and  placement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4188" y="4037076"/>
            <a:ext cx="2094230" cy="619125"/>
          </a:xfrm>
          <a:prstGeom prst="rect">
            <a:avLst/>
          </a:prstGeom>
          <a:solidFill>
            <a:srgbClr val="465258"/>
          </a:solidFill>
          <a:ln w="12192">
            <a:solidFill>
              <a:srgbClr val="303A3E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81305" marR="273050" indent="16510">
              <a:lnSpc>
                <a:spcPts val="2400"/>
              </a:lnSpc>
              <a:spcBef>
                <a:spcPts val="70"/>
              </a:spcBef>
            </a:pPr>
            <a:r>
              <a:rPr sz="2000" b="1" spc="-15" dirty="0">
                <a:solidFill>
                  <a:srgbClr val="FFFFFF"/>
                </a:solidFill>
                <a:latin typeface="Cambria"/>
                <a:cs typeface="Cambria"/>
              </a:rPr>
              <a:t>Training 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2000" b="1" spc="-4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sz="2000" b="1" spc="-30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sz="2000" b="1" spc="-60" dirty="0">
                <a:solidFill>
                  <a:srgbClr val="FFFFFF"/>
                </a:solidFill>
                <a:latin typeface="Cambria"/>
                <a:cs typeface="Cambria"/>
              </a:rPr>
              <a:t>v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elopment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9444" y="4061459"/>
            <a:ext cx="2094230" cy="619125"/>
          </a:xfrm>
          <a:prstGeom prst="rect">
            <a:avLst/>
          </a:prstGeom>
          <a:solidFill>
            <a:srgbClr val="465258"/>
          </a:solidFill>
          <a:ln w="12192">
            <a:solidFill>
              <a:srgbClr val="303A3E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85"/>
              </a:spcBef>
            </a:pPr>
            <a:r>
              <a:rPr sz="2000" b="1" spc="-10" dirty="0">
                <a:solidFill>
                  <a:srgbClr val="FFFFFF"/>
                </a:solidFill>
                <a:latin typeface="Cambria"/>
                <a:cs typeface="Cambria"/>
              </a:rPr>
              <a:t>Remuneration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7747" y="4061459"/>
            <a:ext cx="2095500" cy="619125"/>
          </a:xfrm>
          <a:prstGeom prst="rect">
            <a:avLst/>
          </a:prstGeom>
          <a:solidFill>
            <a:srgbClr val="465258"/>
          </a:solidFill>
          <a:ln w="12192">
            <a:solidFill>
              <a:srgbClr val="303A3E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30530" marR="281940" indent="-142240">
              <a:lnSpc>
                <a:spcPts val="2400"/>
              </a:lnSpc>
              <a:spcBef>
                <a:spcPts val="65"/>
              </a:spcBef>
            </a:pPr>
            <a:r>
              <a:rPr sz="2000" b="1" spc="-55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erforman</a:t>
            </a:r>
            <a:r>
              <a:rPr sz="2000" b="1" spc="-20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e  </a:t>
            </a:r>
            <a:r>
              <a:rPr sz="2000" b="1" spc="-15" dirty="0">
                <a:solidFill>
                  <a:srgbClr val="FFFFFF"/>
                </a:solidFill>
                <a:latin typeface="Cambria"/>
                <a:cs typeface="Cambria"/>
              </a:rPr>
              <a:t>evaluation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072" y="4061459"/>
            <a:ext cx="2094230" cy="619125"/>
          </a:xfrm>
          <a:prstGeom prst="rect">
            <a:avLst/>
          </a:prstGeom>
          <a:solidFill>
            <a:srgbClr val="465258"/>
          </a:solidFill>
          <a:ln w="12191">
            <a:solidFill>
              <a:srgbClr val="303A3E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572770" marR="165100" indent="-402590">
              <a:lnSpc>
                <a:spcPts val="2400"/>
              </a:lnSpc>
              <a:spcBef>
                <a:spcPts val="65"/>
              </a:spcBef>
            </a:pPr>
            <a:r>
              <a:rPr sz="2000" b="1" spc="-10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2000" b="1" spc="-25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omot</a:t>
            </a:r>
            <a:r>
              <a:rPr sz="2000" b="1" spc="5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sz="2000" b="1" spc="-15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20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mbria"/>
                <a:cs typeface="Cambria"/>
              </a:rPr>
              <a:t>and  </a:t>
            </a:r>
            <a:r>
              <a:rPr sz="2000" b="1" spc="-10" dirty="0">
                <a:solidFill>
                  <a:srgbClr val="FFFFFF"/>
                </a:solidFill>
                <a:latin typeface="Cambria"/>
                <a:cs typeface="Cambria"/>
              </a:rPr>
              <a:t>transfer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03576" y="2383535"/>
            <a:ext cx="581025" cy="391795"/>
            <a:chOff x="2703576" y="2383535"/>
            <a:chExt cx="581025" cy="391795"/>
          </a:xfrm>
        </p:grpSpPr>
        <p:sp>
          <p:nvSpPr>
            <p:cNvPr id="12" name="object 12"/>
            <p:cNvSpPr/>
            <p:nvPr/>
          </p:nvSpPr>
          <p:spPr>
            <a:xfrm>
              <a:off x="2709672" y="2389631"/>
              <a:ext cx="568960" cy="379730"/>
            </a:xfrm>
            <a:custGeom>
              <a:avLst/>
              <a:gdLst/>
              <a:ahLst/>
              <a:cxnLst/>
              <a:rect l="l" t="t" r="r" b="b"/>
              <a:pathLst>
                <a:path w="568960" h="379730">
                  <a:moveTo>
                    <a:pt x="378713" y="0"/>
                  </a:moveTo>
                  <a:lnTo>
                    <a:pt x="378713" y="94868"/>
                  </a:lnTo>
                  <a:lnTo>
                    <a:pt x="0" y="94868"/>
                  </a:lnTo>
                  <a:lnTo>
                    <a:pt x="0" y="284606"/>
                  </a:lnTo>
                  <a:lnTo>
                    <a:pt x="378713" y="284606"/>
                  </a:lnTo>
                  <a:lnTo>
                    <a:pt x="378713" y="379475"/>
                  </a:lnTo>
                  <a:lnTo>
                    <a:pt x="568451" y="189737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09672" y="2389631"/>
              <a:ext cx="568960" cy="379730"/>
            </a:xfrm>
            <a:custGeom>
              <a:avLst/>
              <a:gdLst/>
              <a:ahLst/>
              <a:cxnLst/>
              <a:rect l="l" t="t" r="r" b="b"/>
              <a:pathLst>
                <a:path w="568960" h="379730">
                  <a:moveTo>
                    <a:pt x="0" y="94868"/>
                  </a:moveTo>
                  <a:lnTo>
                    <a:pt x="378713" y="94868"/>
                  </a:lnTo>
                  <a:lnTo>
                    <a:pt x="378713" y="0"/>
                  </a:lnTo>
                  <a:lnTo>
                    <a:pt x="568451" y="189737"/>
                  </a:lnTo>
                  <a:lnTo>
                    <a:pt x="378713" y="379475"/>
                  </a:lnTo>
                  <a:lnTo>
                    <a:pt x="378713" y="284606"/>
                  </a:lnTo>
                  <a:lnTo>
                    <a:pt x="0" y="284606"/>
                  </a:lnTo>
                  <a:lnTo>
                    <a:pt x="0" y="94868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529071" y="2369820"/>
            <a:ext cx="582295" cy="391795"/>
            <a:chOff x="5529071" y="2369820"/>
            <a:chExt cx="582295" cy="391795"/>
          </a:xfrm>
        </p:grpSpPr>
        <p:sp>
          <p:nvSpPr>
            <p:cNvPr id="15" name="object 15"/>
            <p:cNvSpPr/>
            <p:nvPr/>
          </p:nvSpPr>
          <p:spPr>
            <a:xfrm>
              <a:off x="5535167" y="2375916"/>
              <a:ext cx="570230" cy="379730"/>
            </a:xfrm>
            <a:custGeom>
              <a:avLst/>
              <a:gdLst/>
              <a:ahLst/>
              <a:cxnLst/>
              <a:rect l="l" t="t" r="r" b="b"/>
              <a:pathLst>
                <a:path w="570229" h="379730">
                  <a:moveTo>
                    <a:pt x="380238" y="0"/>
                  </a:moveTo>
                  <a:lnTo>
                    <a:pt x="380238" y="94869"/>
                  </a:lnTo>
                  <a:lnTo>
                    <a:pt x="0" y="94869"/>
                  </a:lnTo>
                  <a:lnTo>
                    <a:pt x="0" y="284607"/>
                  </a:lnTo>
                  <a:lnTo>
                    <a:pt x="380238" y="284607"/>
                  </a:lnTo>
                  <a:lnTo>
                    <a:pt x="380238" y="379475"/>
                  </a:lnTo>
                  <a:lnTo>
                    <a:pt x="569976" y="189737"/>
                  </a:lnTo>
                  <a:lnTo>
                    <a:pt x="38023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5167" y="2375916"/>
              <a:ext cx="570230" cy="379730"/>
            </a:xfrm>
            <a:custGeom>
              <a:avLst/>
              <a:gdLst/>
              <a:ahLst/>
              <a:cxnLst/>
              <a:rect l="l" t="t" r="r" b="b"/>
              <a:pathLst>
                <a:path w="570229" h="379730">
                  <a:moveTo>
                    <a:pt x="0" y="94869"/>
                  </a:moveTo>
                  <a:lnTo>
                    <a:pt x="380238" y="94869"/>
                  </a:lnTo>
                  <a:lnTo>
                    <a:pt x="380238" y="0"/>
                  </a:lnTo>
                  <a:lnTo>
                    <a:pt x="569976" y="189737"/>
                  </a:lnTo>
                  <a:lnTo>
                    <a:pt x="380238" y="379475"/>
                  </a:lnTo>
                  <a:lnTo>
                    <a:pt x="380238" y="284607"/>
                  </a:lnTo>
                  <a:lnTo>
                    <a:pt x="0" y="284607"/>
                  </a:lnTo>
                  <a:lnTo>
                    <a:pt x="0" y="94869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426195" y="2383535"/>
            <a:ext cx="581025" cy="391795"/>
            <a:chOff x="8426195" y="2383535"/>
            <a:chExt cx="581025" cy="391795"/>
          </a:xfrm>
        </p:grpSpPr>
        <p:sp>
          <p:nvSpPr>
            <p:cNvPr id="18" name="object 18"/>
            <p:cNvSpPr/>
            <p:nvPr/>
          </p:nvSpPr>
          <p:spPr>
            <a:xfrm>
              <a:off x="8432291" y="2389631"/>
              <a:ext cx="568960" cy="379730"/>
            </a:xfrm>
            <a:custGeom>
              <a:avLst/>
              <a:gdLst/>
              <a:ahLst/>
              <a:cxnLst/>
              <a:rect l="l" t="t" r="r" b="b"/>
              <a:pathLst>
                <a:path w="568959" h="379730">
                  <a:moveTo>
                    <a:pt x="378713" y="0"/>
                  </a:moveTo>
                  <a:lnTo>
                    <a:pt x="378713" y="94868"/>
                  </a:lnTo>
                  <a:lnTo>
                    <a:pt x="0" y="94868"/>
                  </a:lnTo>
                  <a:lnTo>
                    <a:pt x="0" y="284606"/>
                  </a:lnTo>
                  <a:lnTo>
                    <a:pt x="378713" y="284606"/>
                  </a:lnTo>
                  <a:lnTo>
                    <a:pt x="378713" y="379475"/>
                  </a:lnTo>
                  <a:lnTo>
                    <a:pt x="568451" y="189737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32291" y="2389631"/>
              <a:ext cx="568960" cy="379730"/>
            </a:xfrm>
            <a:custGeom>
              <a:avLst/>
              <a:gdLst/>
              <a:ahLst/>
              <a:cxnLst/>
              <a:rect l="l" t="t" r="r" b="b"/>
              <a:pathLst>
                <a:path w="568959" h="379730">
                  <a:moveTo>
                    <a:pt x="0" y="94868"/>
                  </a:moveTo>
                  <a:lnTo>
                    <a:pt x="378713" y="94868"/>
                  </a:lnTo>
                  <a:lnTo>
                    <a:pt x="378713" y="0"/>
                  </a:lnTo>
                  <a:lnTo>
                    <a:pt x="568451" y="189737"/>
                  </a:lnTo>
                  <a:lnTo>
                    <a:pt x="378713" y="379475"/>
                  </a:lnTo>
                  <a:lnTo>
                    <a:pt x="378713" y="284606"/>
                  </a:lnTo>
                  <a:lnTo>
                    <a:pt x="0" y="284606"/>
                  </a:lnTo>
                  <a:lnTo>
                    <a:pt x="0" y="94868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0259568" y="3172967"/>
            <a:ext cx="393700" cy="581025"/>
            <a:chOff x="10259568" y="3172967"/>
            <a:chExt cx="393700" cy="581025"/>
          </a:xfrm>
        </p:grpSpPr>
        <p:sp>
          <p:nvSpPr>
            <p:cNvPr id="21" name="object 21"/>
            <p:cNvSpPr/>
            <p:nvPr/>
          </p:nvSpPr>
          <p:spPr>
            <a:xfrm>
              <a:off x="10265664" y="3179063"/>
              <a:ext cx="381000" cy="568960"/>
            </a:xfrm>
            <a:custGeom>
              <a:avLst/>
              <a:gdLst/>
              <a:ahLst/>
              <a:cxnLst/>
              <a:rect l="l" t="t" r="r" b="b"/>
              <a:pathLst>
                <a:path w="381000" h="568960">
                  <a:moveTo>
                    <a:pt x="285750" y="0"/>
                  </a:moveTo>
                  <a:lnTo>
                    <a:pt x="95250" y="0"/>
                  </a:lnTo>
                  <a:lnTo>
                    <a:pt x="95250" y="377951"/>
                  </a:lnTo>
                  <a:lnTo>
                    <a:pt x="0" y="377951"/>
                  </a:lnTo>
                  <a:lnTo>
                    <a:pt x="190500" y="568452"/>
                  </a:lnTo>
                  <a:lnTo>
                    <a:pt x="381000" y="377951"/>
                  </a:lnTo>
                  <a:lnTo>
                    <a:pt x="285750" y="377951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65664" y="3179063"/>
              <a:ext cx="381000" cy="568960"/>
            </a:xfrm>
            <a:custGeom>
              <a:avLst/>
              <a:gdLst/>
              <a:ahLst/>
              <a:cxnLst/>
              <a:rect l="l" t="t" r="r" b="b"/>
              <a:pathLst>
                <a:path w="381000" h="568960">
                  <a:moveTo>
                    <a:pt x="285750" y="0"/>
                  </a:moveTo>
                  <a:lnTo>
                    <a:pt x="285750" y="377951"/>
                  </a:lnTo>
                  <a:lnTo>
                    <a:pt x="381000" y="377951"/>
                  </a:lnTo>
                  <a:lnTo>
                    <a:pt x="190500" y="568452"/>
                  </a:lnTo>
                  <a:lnTo>
                    <a:pt x="0" y="377951"/>
                  </a:lnTo>
                  <a:lnTo>
                    <a:pt x="95250" y="377951"/>
                  </a:lnTo>
                  <a:lnTo>
                    <a:pt x="95250" y="0"/>
                  </a:lnTo>
                  <a:lnTo>
                    <a:pt x="285750" y="0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417052" y="4174235"/>
            <a:ext cx="530860" cy="393700"/>
            <a:chOff x="8417052" y="4174235"/>
            <a:chExt cx="530860" cy="393700"/>
          </a:xfrm>
        </p:grpSpPr>
        <p:sp>
          <p:nvSpPr>
            <p:cNvPr id="24" name="object 24"/>
            <p:cNvSpPr/>
            <p:nvPr/>
          </p:nvSpPr>
          <p:spPr>
            <a:xfrm>
              <a:off x="8423148" y="4180331"/>
              <a:ext cx="518159" cy="381000"/>
            </a:xfrm>
            <a:custGeom>
              <a:avLst/>
              <a:gdLst/>
              <a:ahLst/>
              <a:cxnLst/>
              <a:rect l="l" t="t" r="r" b="b"/>
              <a:pathLst>
                <a:path w="518159" h="381000">
                  <a:moveTo>
                    <a:pt x="190500" y="0"/>
                  </a:move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518159" y="285750"/>
                  </a:lnTo>
                  <a:lnTo>
                    <a:pt x="518159" y="95250"/>
                  </a:lnTo>
                  <a:lnTo>
                    <a:pt x="19050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23148" y="4180331"/>
              <a:ext cx="518159" cy="381000"/>
            </a:xfrm>
            <a:custGeom>
              <a:avLst/>
              <a:gdLst/>
              <a:ahLst/>
              <a:cxnLst/>
              <a:rect l="l" t="t" r="r" b="b"/>
              <a:pathLst>
                <a:path w="518159" h="381000">
                  <a:moveTo>
                    <a:pt x="518159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518159" y="285750"/>
                  </a:lnTo>
                  <a:lnTo>
                    <a:pt x="518159" y="95250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529071" y="4174235"/>
            <a:ext cx="530860" cy="393700"/>
            <a:chOff x="5529071" y="4174235"/>
            <a:chExt cx="530860" cy="393700"/>
          </a:xfrm>
        </p:grpSpPr>
        <p:sp>
          <p:nvSpPr>
            <p:cNvPr id="27" name="object 27"/>
            <p:cNvSpPr/>
            <p:nvPr/>
          </p:nvSpPr>
          <p:spPr>
            <a:xfrm>
              <a:off x="5535167" y="4180331"/>
              <a:ext cx="518159" cy="381000"/>
            </a:xfrm>
            <a:custGeom>
              <a:avLst/>
              <a:gdLst/>
              <a:ahLst/>
              <a:cxnLst/>
              <a:rect l="l" t="t" r="r" b="b"/>
              <a:pathLst>
                <a:path w="518160" h="381000">
                  <a:moveTo>
                    <a:pt x="190500" y="0"/>
                  </a:move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518160" y="285750"/>
                  </a:lnTo>
                  <a:lnTo>
                    <a:pt x="518160" y="95250"/>
                  </a:lnTo>
                  <a:lnTo>
                    <a:pt x="19050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35167" y="4180331"/>
              <a:ext cx="518159" cy="381000"/>
            </a:xfrm>
            <a:custGeom>
              <a:avLst/>
              <a:gdLst/>
              <a:ahLst/>
              <a:cxnLst/>
              <a:rect l="l" t="t" r="r" b="b"/>
              <a:pathLst>
                <a:path w="518160" h="381000">
                  <a:moveTo>
                    <a:pt x="518160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518160" y="285750"/>
                  </a:lnTo>
                  <a:lnTo>
                    <a:pt x="518160" y="95250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729483" y="4174235"/>
            <a:ext cx="528955" cy="393700"/>
            <a:chOff x="2729483" y="4174235"/>
            <a:chExt cx="528955" cy="393700"/>
          </a:xfrm>
        </p:grpSpPr>
        <p:sp>
          <p:nvSpPr>
            <p:cNvPr id="30" name="object 30"/>
            <p:cNvSpPr/>
            <p:nvPr/>
          </p:nvSpPr>
          <p:spPr>
            <a:xfrm>
              <a:off x="2735579" y="4180331"/>
              <a:ext cx="516890" cy="381000"/>
            </a:xfrm>
            <a:custGeom>
              <a:avLst/>
              <a:gdLst/>
              <a:ahLst/>
              <a:cxnLst/>
              <a:rect l="l" t="t" r="r" b="b"/>
              <a:pathLst>
                <a:path w="516889" h="381000">
                  <a:moveTo>
                    <a:pt x="190500" y="0"/>
                  </a:move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516635" y="285750"/>
                  </a:lnTo>
                  <a:lnTo>
                    <a:pt x="516635" y="95250"/>
                  </a:lnTo>
                  <a:lnTo>
                    <a:pt x="19050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35579" y="4180331"/>
              <a:ext cx="516890" cy="381000"/>
            </a:xfrm>
            <a:custGeom>
              <a:avLst/>
              <a:gdLst/>
              <a:ahLst/>
              <a:cxnLst/>
              <a:rect l="l" t="t" r="r" b="b"/>
              <a:pathLst>
                <a:path w="516889" h="381000">
                  <a:moveTo>
                    <a:pt x="516635" y="95250"/>
                  </a:moveTo>
                  <a:lnTo>
                    <a:pt x="190500" y="95250"/>
                  </a:lnTo>
                  <a:lnTo>
                    <a:pt x="190500" y="0"/>
                  </a:ln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516635" y="285750"/>
                  </a:lnTo>
                  <a:lnTo>
                    <a:pt x="516635" y="95250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  <a:spcBef>
                <a:spcPts val="5"/>
              </a:spcBef>
            </a:pPr>
            <a:r>
              <a:rPr sz="2800" b="0" spc="-50" dirty="0">
                <a:solidFill>
                  <a:srgbClr val="FFFFFF"/>
                </a:solidFill>
                <a:latin typeface="Cambria"/>
                <a:cs typeface="Cambria"/>
              </a:rPr>
              <a:t>FACTORS</a:t>
            </a:r>
            <a:r>
              <a:rPr sz="2800" b="0" spc="-10" dirty="0">
                <a:solidFill>
                  <a:srgbClr val="FFFFFF"/>
                </a:solidFill>
                <a:latin typeface="Cambria"/>
                <a:cs typeface="Cambria"/>
              </a:rPr>
              <a:t> AFFECTING</a:t>
            </a:r>
            <a:r>
              <a:rPr sz="2800" b="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0" spc="-40" dirty="0">
                <a:solidFill>
                  <a:srgbClr val="FFFFFF"/>
                </a:solidFill>
                <a:latin typeface="Cambria"/>
                <a:cs typeface="Cambria"/>
              </a:rPr>
              <a:t>STAFFING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68577" y="2153364"/>
            <a:ext cx="4372610" cy="41408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Promotion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policy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Cambria"/>
                <a:cs typeface="Cambria"/>
              </a:rPr>
              <a:t>Future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growth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plans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5" dirty="0">
                <a:latin typeface="Cambria"/>
                <a:cs typeface="Cambria"/>
              </a:rPr>
              <a:t>Technology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used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Support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top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management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Reputation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organization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Cambria"/>
                <a:cs typeface="Cambria"/>
              </a:rPr>
              <a:t>Labour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laws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Pressure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from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socio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political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groups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Cambria"/>
                <a:cs typeface="Cambria"/>
              </a:rPr>
              <a:t>Competition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Other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external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factors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3435"/>
              </a:spcBef>
            </a:pPr>
            <a:r>
              <a:rPr sz="4800" spc="-35" dirty="0">
                <a:solidFill>
                  <a:srgbClr val="FFFFFF"/>
                </a:solidFill>
              </a:rPr>
              <a:t>MANAGER</a:t>
            </a:r>
            <a:r>
              <a:rPr sz="4800" spc="-25" dirty="0">
                <a:solidFill>
                  <a:srgbClr val="FFFFFF"/>
                </a:solidFill>
              </a:rPr>
              <a:t> </a:t>
            </a:r>
            <a:r>
              <a:rPr sz="4800" spc="-40" dirty="0">
                <a:solidFill>
                  <a:srgbClr val="FFFFFF"/>
                </a:solidFill>
              </a:rPr>
              <a:t>INVENTORY </a:t>
            </a:r>
            <a:r>
              <a:rPr sz="4800" spc="-45" dirty="0">
                <a:solidFill>
                  <a:srgbClr val="FFFFFF"/>
                </a:solidFill>
              </a:rPr>
              <a:t>CHART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68983" y="2570226"/>
            <a:ext cx="95053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mbria"/>
                <a:cs typeface="Cambria"/>
              </a:rPr>
              <a:t>At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glance,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controller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can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see </a:t>
            </a:r>
            <a:r>
              <a:rPr sz="2400" spc="-15" dirty="0">
                <a:latin typeface="Cambria"/>
                <a:cs typeface="Cambria"/>
              </a:rPr>
              <a:t>where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he/she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stands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respect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to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staffing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879" y="0"/>
            <a:ext cx="877824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9567" y="2513076"/>
            <a:ext cx="3411220" cy="2089785"/>
          </a:xfrm>
          <a:prstGeom prst="rect">
            <a:avLst/>
          </a:prstGeom>
          <a:solidFill>
            <a:srgbClr val="FFC000"/>
          </a:solidFill>
          <a:ln w="12192">
            <a:solidFill>
              <a:srgbClr val="303A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50">
              <a:latin typeface="Times New Roman"/>
              <a:cs typeface="Times New Roman"/>
            </a:endParaRPr>
          </a:p>
          <a:p>
            <a:pPr marL="1183640" marR="1176020" indent="77470" algn="just">
              <a:lnSpc>
                <a:spcPct val="100000"/>
              </a:lnSpc>
            </a:pPr>
            <a:r>
              <a:rPr sz="1800" spc="-5" dirty="0">
                <a:latin typeface="Cambria"/>
                <a:cs typeface="Cambria"/>
              </a:rPr>
              <a:t>Selection </a:t>
            </a:r>
            <a:r>
              <a:rPr sz="1800" dirty="0">
                <a:latin typeface="Cambria"/>
                <a:cs typeface="Cambria"/>
              </a:rPr>
              <a:t> Placement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p</a:t>
            </a:r>
            <a:r>
              <a:rPr sz="1800" spc="-35" dirty="0">
                <a:latin typeface="Cambria"/>
                <a:cs typeface="Cambria"/>
              </a:rPr>
              <a:t>r</a:t>
            </a:r>
            <a:r>
              <a:rPr sz="1800" dirty="0">
                <a:latin typeface="Cambria"/>
                <a:cs typeface="Cambria"/>
              </a:rPr>
              <a:t>o</a:t>
            </a:r>
            <a:r>
              <a:rPr sz="1800" spc="5" dirty="0">
                <a:latin typeface="Cambria"/>
                <a:cs typeface="Cambria"/>
              </a:rPr>
              <a:t>m</a:t>
            </a:r>
            <a:r>
              <a:rPr sz="1800" dirty="0">
                <a:latin typeface="Cambria"/>
                <a:cs typeface="Cambria"/>
              </a:rPr>
              <a:t>o</a:t>
            </a:r>
            <a:r>
              <a:rPr sz="1800" spc="5" dirty="0">
                <a:latin typeface="Cambria"/>
                <a:cs typeface="Cambria"/>
              </a:rPr>
              <a:t>t</a:t>
            </a:r>
            <a:r>
              <a:rPr sz="1800" dirty="0">
                <a:latin typeface="Cambria"/>
                <a:cs typeface="Cambria"/>
              </a:rPr>
              <a:t>i</a:t>
            </a:r>
            <a:r>
              <a:rPr sz="1800" spc="5" dirty="0">
                <a:latin typeface="Cambria"/>
                <a:cs typeface="Cambria"/>
              </a:rPr>
              <a:t>o</a:t>
            </a:r>
            <a:r>
              <a:rPr sz="1800" dirty="0">
                <a:latin typeface="Cambria"/>
                <a:cs typeface="Cambria"/>
              </a:rPr>
              <a:t>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268211" y="4747258"/>
            <a:ext cx="3615054" cy="2091055"/>
          </a:xfrm>
          <a:prstGeom prst="rect">
            <a:avLst/>
          </a:prstGeom>
          <a:solidFill>
            <a:srgbClr val="F4B57D"/>
          </a:solidFill>
          <a:ln w="12192">
            <a:solidFill>
              <a:srgbClr val="303A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Times New Roman"/>
              <a:cs typeface="Times New Roman"/>
            </a:endParaRPr>
          </a:p>
          <a:p>
            <a:pPr marL="231140" marR="224790" indent="1270" algn="ctr">
              <a:lnSpc>
                <a:spcPct val="100000"/>
              </a:lnSpc>
            </a:pPr>
            <a:r>
              <a:rPr sz="1800" spc="-15" dirty="0">
                <a:latin typeface="Cambria"/>
                <a:cs typeface="Cambria"/>
              </a:rPr>
              <a:t>Training </a:t>
            </a:r>
            <a:r>
              <a:rPr sz="1800" spc="-5" dirty="0">
                <a:latin typeface="Cambria"/>
                <a:cs typeface="Cambria"/>
              </a:rPr>
              <a:t>and </a:t>
            </a:r>
            <a:r>
              <a:rPr sz="1800" spc="-10" dirty="0">
                <a:latin typeface="Cambria"/>
                <a:cs typeface="Cambria"/>
              </a:rPr>
              <a:t>development </a:t>
            </a:r>
            <a:r>
              <a:rPr sz="1800" dirty="0">
                <a:latin typeface="Cambria"/>
                <a:cs typeface="Cambria"/>
              </a:rPr>
              <a:t>if 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change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demand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0" dirty="0">
                <a:latin typeface="Cambria"/>
                <a:cs typeface="Cambria"/>
              </a:rPr>
              <a:t> expected </a:t>
            </a:r>
            <a:r>
              <a:rPr sz="1800" dirty="0">
                <a:latin typeface="Cambria"/>
                <a:cs typeface="Cambria"/>
              </a:rPr>
              <a:t>in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the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future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9567" y="4747258"/>
            <a:ext cx="3411220" cy="2091055"/>
          </a:xfrm>
          <a:prstGeom prst="rect">
            <a:avLst/>
          </a:prstGeom>
          <a:solidFill>
            <a:srgbClr val="C0C5C9"/>
          </a:solidFill>
          <a:ln w="12192">
            <a:solidFill>
              <a:srgbClr val="303A3E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mbria"/>
                <a:cs typeface="Cambria"/>
              </a:rPr>
              <a:t>Change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company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plans</a:t>
            </a:r>
            <a:endParaRPr sz="1800">
              <a:latin typeface="Cambria"/>
              <a:cs typeface="Cambria"/>
            </a:endParaRPr>
          </a:p>
          <a:p>
            <a:pPr marL="898525" marR="889000" indent="-2540" algn="ctr">
              <a:lnSpc>
                <a:spcPct val="100000"/>
              </a:lnSpc>
            </a:pPr>
            <a:r>
              <a:rPr sz="1800" spc="-5" dirty="0">
                <a:latin typeface="Cambria"/>
                <a:cs typeface="Cambria"/>
              </a:rPr>
              <a:t>Outplacement 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Layoffs 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Demotions 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Early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retirement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8211" y="2513076"/>
            <a:ext cx="3615054" cy="2089785"/>
          </a:xfrm>
          <a:prstGeom prst="rect">
            <a:avLst/>
          </a:prstGeom>
          <a:solidFill>
            <a:srgbClr val="FAE6D3"/>
          </a:solidFill>
          <a:ln w="12192">
            <a:solidFill>
              <a:srgbClr val="303A3E"/>
            </a:solidFill>
          </a:ln>
        </p:spPr>
        <p:txBody>
          <a:bodyPr vert="horz" wrap="square" lIns="0" tIns="2159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0"/>
              </a:spcBef>
            </a:pPr>
            <a:r>
              <a:rPr sz="1800" spc="-5" dirty="0">
                <a:latin typeface="Cambria"/>
                <a:cs typeface="Cambria"/>
              </a:rPr>
              <a:t>Internal:</a:t>
            </a:r>
            <a:endParaRPr sz="1800">
              <a:latin typeface="Cambria"/>
              <a:cs typeface="Cambria"/>
            </a:endParaRPr>
          </a:p>
          <a:p>
            <a:pPr marL="523875" marR="518159" algn="ctr">
              <a:lnSpc>
                <a:spcPct val="100000"/>
              </a:lnSpc>
            </a:pPr>
            <a:r>
              <a:rPr sz="1800" spc="-15" dirty="0">
                <a:latin typeface="Cambria"/>
                <a:cs typeface="Cambria"/>
              </a:rPr>
              <a:t>Training </a:t>
            </a:r>
            <a:r>
              <a:rPr sz="1800" spc="-5" dirty="0">
                <a:latin typeface="Cambria"/>
                <a:cs typeface="Cambria"/>
              </a:rPr>
              <a:t>and </a:t>
            </a:r>
            <a:r>
              <a:rPr sz="1800" spc="-10" dirty="0">
                <a:latin typeface="Cambria"/>
                <a:cs typeface="Cambria"/>
              </a:rPr>
              <a:t>development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Compensation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</a:pPr>
            <a:r>
              <a:rPr sz="1800" spc="-5" dirty="0">
                <a:latin typeface="Cambria"/>
                <a:cs typeface="Cambria"/>
              </a:rPr>
              <a:t>External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latin typeface="Cambria"/>
                <a:cs typeface="Cambria"/>
              </a:rPr>
              <a:t>Recruitment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2309" y="3446035"/>
            <a:ext cx="294005" cy="260159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latin typeface="Cambria"/>
                <a:cs typeface="Cambria"/>
              </a:rPr>
              <a:t>DEMAND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MANAGERS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60696" y="1679575"/>
            <a:ext cx="228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mbria"/>
                <a:cs typeface="Cambria"/>
              </a:rPr>
              <a:t>SUPPLY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5" dirty="0">
                <a:latin typeface="Cambria"/>
                <a:cs typeface="Cambria"/>
              </a:rPr>
              <a:t>MANAGERS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739" y="3401059"/>
            <a:ext cx="484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Hi</a:t>
            </a:r>
            <a:r>
              <a:rPr sz="1800" spc="-10" dirty="0">
                <a:latin typeface="Cambria"/>
                <a:cs typeface="Cambria"/>
              </a:rPr>
              <a:t>g</a:t>
            </a:r>
            <a:r>
              <a:rPr sz="1800" dirty="0">
                <a:latin typeface="Cambria"/>
                <a:cs typeface="Cambria"/>
              </a:rPr>
              <a:t>h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7042" y="5636463"/>
            <a:ext cx="44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L</a:t>
            </a:r>
            <a:r>
              <a:rPr sz="1800" spc="-10" dirty="0">
                <a:latin typeface="Cambria"/>
                <a:cs typeface="Cambria"/>
              </a:rPr>
              <a:t>o</a:t>
            </a:r>
            <a:r>
              <a:rPr sz="1800" dirty="0">
                <a:latin typeface="Cambria"/>
                <a:cs typeface="Cambria"/>
              </a:rPr>
              <a:t>w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7526" y="2026411"/>
            <a:ext cx="484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Hi</a:t>
            </a:r>
            <a:r>
              <a:rPr sz="1800" spc="-10" dirty="0">
                <a:latin typeface="Cambria"/>
                <a:cs typeface="Cambria"/>
              </a:rPr>
              <a:t>g</a:t>
            </a:r>
            <a:r>
              <a:rPr sz="1800" dirty="0">
                <a:latin typeface="Cambria"/>
                <a:cs typeface="Cambria"/>
              </a:rPr>
              <a:t>h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14868" y="2049017"/>
            <a:ext cx="44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L</a:t>
            </a:r>
            <a:r>
              <a:rPr sz="1800" spc="-10" dirty="0">
                <a:latin typeface="Cambria"/>
                <a:cs typeface="Cambria"/>
              </a:rPr>
              <a:t>o</a:t>
            </a:r>
            <a:r>
              <a:rPr sz="1800" dirty="0">
                <a:latin typeface="Cambria"/>
                <a:cs typeface="Cambria"/>
              </a:rPr>
              <a:t>w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5025" y="733120"/>
            <a:ext cx="1100137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1F5F"/>
                </a:solidFill>
              </a:rPr>
              <a:t>PERSONNEL</a:t>
            </a:r>
            <a:r>
              <a:rPr sz="2400" spc="-20" dirty="0">
                <a:solidFill>
                  <a:srgbClr val="001F5F"/>
                </a:solidFill>
              </a:rPr>
              <a:t> </a:t>
            </a:r>
            <a:r>
              <a:rPr sz="2400" spc="-10" dirty="0">
                <a:solidFill>
                  <a:srgbClr val="001F5F"/>
                </a:solidFill>
              </a:rPr>
              <a:t>ACTIONS</a:t>
            </a:r>
            <a:r>
              <a:rPr sz="2400" spc="5" dirty="0">
                <a:solidFill>
                  <a:srgbClr val="001F5F"/>
                </a:solidFill>
              </a:rPr>
              <a:t> </a:t>
            </a:r>
            <a:r>
              <a:rPr sz="2400" spc="-20" dirty="0">
                <a:solidFill>
                  <a:srgbClr val="001F5F"/>
                </a:solidFill>
              </a:rPr>
              <a:t>BASED</a:t>
            </a:r>
            <a:r>
              <a:rPr sz="2400" spc="-10" dirty="0">
                <a:solidFill>
                  <a:srgbClr val="001F5F"/>
                </a:solidFill>
              </a:rPr>
              <a:t> </a:t>
            </a:r>
            <a:r>
              <a:rPr sz="2400" spc="-5" dirty="0">
                <a:solidFill>
                  <a:srgbClr val="001F5F"/>
                </a:solidFill>
              </a:rPr>
              <a:t>ON </a:t>
            </a:r>
            <a:r>
              <a:rPr sz="2400" spc="-20" dirty="0">
                <a:solidFill>
                  <a:srgbClr val="001F5F"/>
                </a:solidFill>
              </a:rPr>
              <a:t>MANAGER</a:t>
            </a:r>
            <a:r>
              <a:rPr sz="2400" spc="-10" dirty="0">
                <a:solidFill>
                  <a:srgbClr val="001F5F"/>
                </a:solidFill>
              </a:rPr>
              <a:t> </a:t>
            </a:r>
            <a:r>
              <a:rPr sz="2400" spc="-50" dirty="0">
                <a:solidFill>
                  <a:srgbClr val="001F5F"/>
                </a:solidFill>
              </a:rPr>
              <a:t>SUPPLY</a:t>
            </a:r>
            <a:r>
              <a:rPr sz="2400" spc="-5" dirty="0">
                <a:solidFill>
                  <a:srgbClr val="001F5F"/>
                </a:solidFill>
              </a:rPr>
              <a:t> </a:t>
            </a:r>
            <a:r>
              <a:rPr sz="2400" dirty="0">
                <a:solidFill>
                  <a:srgbClr val="001F5F"/>
                </a:solidFill>
              </a:rPr>
              <a:t>AND</a:t>
            </a:r>
            <a:r>
              <a:rPr sz="2400" spc="-15" dirty="0">
                <a:solidFill>
                  <a:srgbClr val="001F5F"/>
                </a:solidFill>
              </a:rPr>
              <a:t> </a:t>
            </a:r>
            <a:r>
              <a:rPr sz="2400" dirty="0">
                <a:solidFill>
                  <a:srgbClr val="001F5F"/>
                </a:solidFill>
              </a:rPr>
              <a:t>DEMAND</a:t>
            </a:r>
            <a:r>
              <a:rPr sz="2400" spc="-25" dirty="0">
                <a:solidFill>
                  <a:srgbClr val="001F5F"/>
                </a:solidFill>
              </a:rPr>
              <a:t> </a:t>
            </a:r>
            <a:r>
              <a:rPr sz="2400" spc="-5" dirty="0">
                <a:solidFill>
                  <a:srgbClr val="001F5F"/>
                </a:solidFill>
              </a:rPr>
              <a:t>WITHIN THE</a:t>
            </a:r>
            <a:endParaRPr sz="2400"/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1F5F"/>
                </a:solidFill>
              </a:rPr>
              <a:t>ENTERPRISE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L="793115">
              <a:lnSpc>
                <a:spcPct val="100000"/>
              </a:lnSpc>
              <a:spcBef>
                <a:spcPts val="3435"/>
              </a:spcBef>
            </a:pPr>
            <a:r>
              <a:rPr sz="4800" spc="-70" dirty="0">
                <a:solidFill>
                  <a:srgbClr val="FFFFFF"/>
                </a:solidFill>
              </a:rPr>
              <a:t>MATCHING</a:t>
            </a:r>
            <a:r>
              <a:rPr sz="4800" spc="-15" dirty="0">
                <a:solidFill>
                  <a:srgbClr val="FFFFFF"/>
                </a:solidFill>
              </a:rPr>
              <a:t> PERSON </a:t>
            </a:r>
            <a:r>
              <a:rPr sz="4800" spc="-5" dirty="0">
                <a:solidFill>
                  <a:srgbClr val="FFFFFF"/>
                </a:solidFill>
              </a:rPr>
              <a:t>WITH</a:t>
            </a:r>
            <a:r>
              <a:rPr sz="4800" spc="-30" dirty="0">
                <a:solidFill>
                  <a:srgbClr val="FFFFFF"/>
                </a:solidFill>
              </a:rPr>
              <a:t> </a:t>
            </a:r>
            <a:r>
              <a:rPr sz="4800" spc="-5" dirty="0">
                <a:solidFill>
                  <a:srgbClr val="FFFFFF"/>
                </a:solidFill>
              </a:rPr>
              <a:t>THE</a:t>
            </a:r>
            <a:r>
              <a:rPr sz="4800" spc="-15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JOB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2552" y="3072383"/>
            <a:ext cx="4907280" cy="2811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33272" y="3072383"/>
            <a:ext cx="4101465" cy="3046730"/>
          </a:xfrm>
          <a:custGeom>
            <a:avLst/>
            <a:gdLst/>
            <a:ahLst/>
            <a:cxnLst/>
            <a:rect l="l" t="t" r="r" b="b"/>
            <a:pathLst>
              <a:path w="4101465" h="3046729">
                <a:moveTo>
                  <a:pt x="4101084" y="0"/>
                </a:moveTo>
                <a:lnTo>
                  <a:pt x="0" y="0"/>
                </a:lnTo>
                <a:lnTo>
                  <a:pt x="0" y="3046476"/>
                </a:lnTo>
                <a:lnTo>
                  <a:pt x="4101084" y="3046476"/>
                </a:lnTo>
                <a:lnTo>
                  <a:pt x="4101084" y="0"/>
                </a:lnTo>
                <a:close/>
              </a:path>
            </a:pathLst>
          </a:custGeom>
          <a:solidFill>
            <a:srgbClr val="BDB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4711" y="4501134"/>
            <a:ext cx="1343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mbria"/>
                <a:cs typeface="Cambria"/>
              </a:rPr>
              <a:t>Choosing </a:t>
            </a:r>
            <a:r>
              <a:rPr sz="2000" b="1" dirty="0">
                <a:latin typeface="Cambria"/>
                <a:cs typeface="Cambria"/>
              </a:rPr>
              <a:t> c</a:t>
            </a:r>
            <a:r>
              <a:rPr sz="2000" b="1" spc="-10" dirty="0">
                <a:latin typeface="Cambria"/>
                <a:cs typeface="Cambria"/>
              </a:rPr>
              <a:t>a</a:t>
            </a:r>
            <a:r>
              <a:rPr sz="2000" b="1" dirty="0">
                <a:latin typeface="Cambria"/>
                <a:cs typeface="Cambria"/>
              </a:rPr>
              <a:t>nd</a:t>
            </a:r>
            <a:r>
              <a:rPr sz="2000" b="1" spc="10" dirty="0">
                <a:latin typeface="Cambria"/>
                <a:cs typeface="Cambria"/>
              </a:rPr>
              <a:t>i</a:t>
            </a:r>
            <a:r>
              <a:rPr sz="2000" b="1" spc="-5" dirty="0">
                <a:latin typeface="Cambria"/>
                <a:cs typeface="Cambria"/>
              </a:rPr>
              <a:t>da</a:t>
            </a:r>
            <a:r>
              <a:rPr sz="2000" b="1" spc="-25" dirty="0">
                <a:latin typeface="Cambria"/>
                <a:cs typeface="Cambria"/>
              </a:rPr>
              <a:t>t</a:t>
            </a:r>
            <a:r>
              <a:rPr sz="2000" b="1" spc="-10" dirty="0">
                <a:latin typeface="Cambria"/>
                <a:cs typeface="Cambria"/>
              </a:rPr>
              <a:t>e</a:t>
            </a:r>
            <a:r>
              <a:rPr sz="2000" b="1" dirty="0">
                <a:latin typeface="Cambria"/>
                <a:cs typeface="Cambria"/>
              </a:rPr>
              <a:t>s,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4711" y="5110429"/>
            <a:ext cx="33045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119505" algn="l"/>
                <a:tab pos="1744980" algn="l"/>
              </a:tabLst>
            </a:pPr>
            <a:r>
              <a:rPr sz="2000" b="1" spc="-5" dirty="0">
                <a:latin typeface="Cambria"/>
                <a:cs typeface="Cambria"/>
              </a:rPr>
              <a:t>outside	</a:t>
            </a:r>
            <a:r>
              <a:rPr sz="2000" b="1" spc="-10" dirty="0">
                <a:latin typeface="Cambria"/>
                <a:cs typeface="Cambria"/>
              </a:rPr>
              <a:t>the	organization,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7650" y="4501134"/>
            <a:ext cx="226885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50495" algn="r">
              <a:lnSpc>
                <a:spcPct val="100000"/>
              </a:lnSpc>
              <a:spcBef>
                <a:spcPts val="100"/>
              </a:spcBef>
              <a:tabLst>
                <a:tab pos="900430" algn="l"/>
                <a:tab pos="1462405" algn="l"/>
                <a:tab pos="1993264" algn="l"/>
              </a:tabLst>
            </a:pPr>
            <a:r>
              <a:rPr sz="2000" b="1" spc="-5" dirty="0">
                <a:latin typeface="Cambria"/>
                <a:cs typeface="Cambria"/>
              </a:rPr>
              <a:t>f</a:t>
            </a:r>
            <a:r>
              <a:rPr sz="2000" b="1" spc="-35" dirty="0">
                <a:latin typeface="Cambria"/>
                <a:cs typeface="Cambria"/>
              </a:rPr>
              <a:t>r</a:t>
            </a:r>
            <a:r>
              <a:rPr sz="2000" b="1" spc="-15" dirty="0">
                <a:latin typeface="Cambria"/>
                <a:cs typeface="Cambria"/>
              </a:rPr>
              <a:t>o</a:t>
            </a:r>
            <a:r>
              <a:rPr sz="2000" b="1" dirty="0">
                <a:latin typeface="Cambria"/>
                <a:cs typeface="Cambria"/>
              </a:rPr>
              <a:t>m		</a:t>
            </a:r>
            <a:r>
              <a:rPr sz="2000" b="1" spc="-5" dirty="0">
                <a:latin typeface="Cambria"/>
                <a:cs typeface="Cambria"/>
              </a:rPr>
              <a:t>amo</a:t>
            </a:r>
            <a:r>
              <a:rPr sz="2000" b="1" spc="-15" dirty="0">
                <a:latin typeface="Cambria"/>
                <a:cs typeface="Cambria"/>
              </a:rPr>
              <a:t>n</a:t>
            </a:r>
            <a:r>
              <a:rPr sz="2000" b="1" dirty="0">
                <a:latin typeface="Cambria"/>
                <a:cs typeface="Cambria"/>
              </a:rPr>
              <a:t>g  </a:t>
            </a:r>
            <a:r>
              <a:rPr sz="2000" b="1" spc="-5" dirty="0">
                <a:latin typeface="Cambria"/>
                <a:cs typeface="Cambria"/>
              </a:rPr>
              <a:t>f</a:t>
            </a:r>
            <a:r>
              <a:rPr sz="2000" b="1" spc="-35" dirty="0">
                <a:latin typeface="Cambria"/>
                <a:cs typeface="Cambria"/>
              </a:rPr>
              <a:t>r</a:t>
            </a:r>
            <a:r>
              <a:rPr sz="2000" b="1" spc="-15" dirty="0">
                <a:latin typeface="Cambria"/>
                <a:cs typeface="Cambria"/>
              </a:rPr>
              <a:t>o</a:t>
            </a:r>
            <a:r>
              <a:rPr sz="2000" b="1" dirty="0">
                <a:latin typeface="Cambria"/>
                <a:cs typeface="Cambria"/>
              </a:rPr>
              <a:t>m	</a:t>
            </a:r>
            <a:r>
              <a:rPr sz="2000" b="1" spc="-5" dirty="0">
                <a:latin typeface="Cambria"/>
                <a:cs typeface="Cambria"/>
              </a:rPr>
              <a:t>w</a:t>
            </a:r>
            <a:r>
              <a:rPr sz="2000" b="1" spc="-10" dirty="0">
                <a:latin typeface="Cambria"/>
                <a:cs typeface="Cambria"/>
              </a:rPr>
              <a:t>i</a:t>
            </a:r>
            <a:r>
              <a:rPr sz="2000" b="1" spc="-15" dirty="0">
                <a:latin typeface="Cambria"/>
                <a:cs typeface="Cambria"/>
              </a:rPr>
              <a:t>t</a:t>
            </a:r>
            <a:r>
              <a:rPr sz="2000" b="1" spc="-10" dirty="0">
                <a:latin typeface="Cambria"/>
                <a:cs typeface="Cambria"/>
              </a:rPr>
              <a:t>h</a:t>
            </a:r>
            <a:r>
              <a:rPr sz="2000" b="1" dirty="0">
                <a:latin typeface="Cambria"/>
                <a:cs typeface="Cambria"/>
              </a:rPr>
              <a:t>in	</a:t>
            </a:r>
            <a:r>
              <a:rPr sz="2000" b="1" spc="-5" dirty="0"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</a:pPr>
            <a:r>
              <a:rPr sz="2000" b="1" spc="-5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4711" y="5415788"/>
            <a:ext cx="392937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851535" algn="l"/>
                <a:tab pos="2068195" algn="l"/>
                <a:tab pos="3160395" algn="l"/>
                <a:tab pos="3779520" algn="l"/>
              </a:tabLst>
            </a:pPr>
            <a:r>
              <a:rPr sz="2000" b="1" spc="-5" dirty="0">
                <a:latin typeface="Cambria"/>
                <a:cs typeface="Cambria"/>
              </a:rPr>
              <a:t>m</a:t>
            </a:r>
            <a:r>
              <a:rPr sz="2000" b="1" spc="-10" dirty="0">
                <a:latin typeface="Cambria"/>
                <a:cs typeface="Cambria"/>
              </a:rPr>
              <a:t>os</a:t>
            </a:r>
            <a:r>
              <a:rPr sz="2000" b="1" dirty="0">
                <a:latin typeface="Cambria"/>
                <a:cs typeface="Cambria"/>
              </a:rPr>
              <a:t>t	suit</a:t>
            </a:r>
            <a:r>
              <a:rPr sz="2000" b="1" spc="-15" dirty="0">
                <a:latin typeface="Cambria"/>
                <a:cs typeface="Cambria"/>
              </a:rPr>
              <a:t>a</a:t>
            </a:r>
            <a:r>
              <a:rPr sz="2000" b="1" spc="-5" dirty="0">
                <a:latin typeface="Cambria"/>
                <a:cs typeface="Cambria"/>
              </a:rPr>
              <a:t>bl</a:t>
            </a:r>
            <a:r>
              <a:rPr sz="2000" b="1" dirty="0">
                <a:latin typeface="Cambria"/>
                <a:cs typeface="Cambria"/>
              </a:rPr>
              <a:t>e	</a:t>
            </a:r>
            <a:r>
              <a:rPr sz="2000" b="1" spc="-10" dirty="0">
                <a:latin typeface="Cambria"/>
                <a:cs typeface="Cambria"/>
              </a:rPr>
              <a:t>p</a:t>
            </a:r>
            <a:r>
              <a:rPr sz="2000" b="1" dirty="0">
                <a:latin typeface="Cambria"/>
                <a:cs typeface="Cambria"/>
              </a:rPr>
              <a:t>e</a:t>
            </a:r>
            <a:r>
              <a:rPr sz="2000" b="1" spc="-10" dirty="0">
                <a:latin typeface="Cambria"/>
                <a:cs typeface="Cambria"/>
              </a:rPr>
              <a:t>r</a:t>
            </a:r>
            <a:r>
              <a:rPr sz="2000" b="1" dirty="0">
                <a:latin typeface="Cambria"/>
                <a:cs typeface="Cambria"/>
              </a:rPr>
              <a:t>son	</a:t>
            </a:r>
            <a:r>
              <a:rPr sz="2000" b="1" spc="-5" dirty="0">
                <a:latin typeface="Cambria"/>
                <a:cs typeface="Cambria"/>
              </a:rPr>
              <a:t>fo</a:t>
            </a:r>
            <a:r>
              <a:rPr sz="2000" b="1" dirty="0">
                <a:latin typeface="Cambria"/>
                <a:cs typeface="Cambria"/>
              </a:rPr>
              <a:t>r	a  </a:t>
            </a:r>
            <a:r>
              <a:rPr sz="2000" b="1" spc="-5" dirty="0">
                <a:latin typeface="Cambria"/>
                <a:cs typeface="Cambria"/>
              </a:rPr>
              <a:t>position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7175" y="3066288"/>
            <a:ext cx="4113529" cy="1026160"/>
            <a:chOff x="1027175" y="3066288"/>
            <a:chExt cx="4113529" cy="1026160"/>
          </a:xfrm>
        </p:grpSpPr>
        <p:sp>
          <p:nvSpPr>
            <p:cNvPr id="10" name="object 10"/>
            <p:cNvSpPr/>
            <p:nvPr/>
          </p:nvSpPr>
          <p:spPr>
            <a:xfrm>
              <a:off x="1033271" y="3072384"/>
              <a:ext cx="4101465" cy="1013460"/>
            </a:xfrm>
            <a:custGeom>
              <a:avLst/>
              <a:gdLst/>
              <a:ahLst/>
              <a:cxnLst/>
              <a:rect l="l" t="t" r="r" b="b"/>
              <a:pathLst>
                <a:path w="4101465" h="1013460">
                  <a:moveTo>
                    <a:pt x="2947669" y="0"/>
                  </a:moveTo>
                  <a:lnTo>
                    <a:pt x="1153414" y="0"/>
                  </a:lnTo>
                  <a:lnTo>
                    <a:pt x="1103548" y="3319"/>
                  </a:lnTo>
                  <a:lnTo>
                    <a:pt x="1062815" y="12366"/>
                  </a:lnTo>
                  <a:lnTo>
                    <a:pt x="1035345" y="25771"/>
                  </a:lnTo>
                  <a:lnTo>
                    <a:pt x="1025271" y="42163"/>
                  </a:lnTo>
                  <a:lnTo>
                    <a:pt x="1025271" y="168910"/>
                  </a:lnTo>
                  <a:lnTo>
                    <a:pt x="0" y="168910"/>
                  </a:lnTo>
                  <a:lnTo>
                    <a:pt x="512572" y="591184"/>
                  </a:lnTo>
                  <a:lnTo>
                    <a:pt x="0" y="1013459"/>
                  </a:lnTo>
                  <a:lnTo>
                    <a:pt x="1409700" y="1013459"/>
                  </a:lnTo>
                  <a:lnTo>
                    <a:pt x="1459618" y="1010140"/>
                  </a:lnTo>
                  <a:lnTo>
                    <a:pt x="1500346" y="1001093"/>
                  </a:lnTo>
                  <a:lnTo>
                    <a:pt x="1527786" y="987688"/>
                  </a:lnTo>
                  <a:lnTo>
                    <a:pt x="1537842" y="971295"/>
                  </a:lnTo>
                  <a:lnTo>
                    <a:pt x="1527786" y="954829"/>
                  </a:lnTo>
                  <a:lnTo>
                    <a:pt x="1500346" y="941387"/>
                  </a:lnTo>
                  <a:lnTo>
                    <a:pt x="1459618" y="932326"/>
                  </a:lnTo>
                  <a:lnTo>
                    <a:pt x="1409700" y="929004"/>
                  </a:lnTo>
                  <a:lnTo>
                    <a:pt x="1153414" y="929004"/>
                  </a:lnTo>
                  <a:lnTo>
                    <a:pt x="1103548" y="925683"/>
                  </a:lnTo>
                  <a:lnTo>
                    <a:pt x="1062815" y="916622"/>
                  </a:lnTo>
                  <a:lnTo>
                    <a:pt x="1035345" y="903180"/>
                  </a:lnTo>
                  <a:lnTo>
                    <a:pt x="1025271" y="886713"/>
                  </a:lnTo>
                  <a:lnTo>
                    <a:pt x="1035345" y="870321"/>
                  </a:lnTo>
                  <a:lnTo>
                    <a:pt x="1062815" y="856916"/>
                  </a:lnTo>
                  <a:lnTo>
                    <a:pt x="1103548" y="847869"/>
                  </a:lnTo>
                  <a:lnTo>
                    <a:pt x="1153414" y="844549"/>
                  </a:lnTo>
                  <a:lnTo>
                    <a:pt x="2947669" y="844549"/>
                  </a:lnTo>
                  <a:lnTo>
                    <a:pt x="2997535" y="847869"/>
                  </a:lnTo>
                  <a:lnTo>
                    <a:pt x="3038268" y="856916"/>
                  </a:lnTo>
                  <a:lnTo>
                    <a:pt x="3065738" y="870321"/>
                  </a:lnTo>
                  <a:lnTo>
                    <a:pt x="3075813" y="886713"/>
                  </a:lnTo>
                  <a:lnTo>
                    <a:pt x="3065738" y="903180"/>
                  </a:lnTo>
                  <a:lnTo>
                    <a:pt x="3038268" y="916622"/>
                  </a:lnTo>
                  <a:lnTo>
                    <a:pt x="2997535" y="925683"/>
                  </a:lnTo>
                  <a:lnTo>
                    <a:pt x="2947669" y="929004"/>
                  </a:lnTo>
                  <a:lnTo>
                    <a:pt x="2691383" y="929004"/>
                  </a:lnTo>
                  <a:lnTo>
                    <a:pt x="2641445" y="932324"/>
                  </a:lnTo>
                  <a:lnTo>
                    <a:pt x="2600674" y="941371"/>
                  </a:lnTo>
                  <a:lnTo>
                    <a:pt x="2573190" y="954776"/>
                  </a:lnTo>
                  <a:lnTo>
                    <a:pt x="2563114" y="971168"/>
                  </a:lnTo>
                  <a:lnTo>
                    <a:pt x="2573190" y="987635"/>
                  </a:lnTo>
                  <a:lnTo>
                    <a:pt x="2600674" y="1001077"/>
                  </a:lnTo>
                  <a:lnTo>
                    <a:pt x="2641445" y="1010138"/>
                  </a:lnTo>
                  <a:lnTo>
                    <a:pt x="2691383" y="1013459"/>
                  </a:lnTo>
                  <a:lnTo>
                    <a:pt x="4101083" y="1013459"/>
                  </a:lnTo>
                  <a:lnTo>
                    <a:pt x="3588385" y="591184"/>
                  </a:lnTo>
                  <a:lnTo>
                    <a:pt x="4101083" y="168910"/>
                  </a:lnTo>
                  <a:lnTo>
                    <a:pt x="3075813" y="168910"/>
                  </a:lnTo>
                  <a:lnTo>
                    <a:pt x="3075813" y="42163"/>
                  </a:lnTo>
                  <a:lnTo>
                    <a:pt x="3065738" y="25771"/>
                  </a:lnTo>
                  <a:lnTo>
                    <a:pt x="3038268" y="12366"/>
                  </a:lnTo>
                  <a:lnTo>
                    <a:pt x="2997535" y="3319"/>
                  </a:lnTo>
                  <a:lnTo>
                    <a:pt x="2947669" y="0"/>
                  </a:lnTo>
                  <a:close/>
                </a:path>
              </a:pathLst>
            </a:custGeom>
            <a:solidFill>
              <a:srgbClr val="F88B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8542" y="3916934"/>
              <a:ext cx="2051050" cy="127000"/>
            </a:xfrm>
            <a:custGeom>
              <a:avLst/>
              <a:gdLst/>
              <a:ahLst/>
              <a:cxnLst/>
              <a:rect l="l" t="t" r="r" b="b"/>
              <a:pathLst>
                <a:path w="2051050" h="127000">
                  <a:moveTo>
                    <a:pt x="512571" y="0"/>
                  </a:moveTo>
                  <a:lnTo>
                    <a:pt x="128143" y="0"/>
                  </a:lnTo>
                  <a:lnTo>
                    <a:pt x="78277" y="3319"/>
                  </a:lnTo>
                  <a:lnTo>
                    <a:pt x="37544" y="12366"/>
                  </a:lnTo>
                  <a:lnTo>
                    <a:pt x="10074" y="25771"/>
                  </a:lnTo>
                  <a:lnTo>
                    <a:pt x="0" y="42164"/>
                  </a:lnTo>
                  <a:lnTo>
                    <a:pt x="10074" y="58630"/>
                  </a:lnTo>
                  <a:lnTo>
                    <a:pt x="37544" y="72072"/>
                  </a:lnTo>
                  <a:lnTo>
                    <a:pt x="78277" y="81133"/>
                  </a:lnTo>
                  <a:lnTo>
                    <a:pt x="128143" y="84455"/>
                  </a:lnTo>
                  <a:lnTo>
                    <a:pt x="384429" y="84455"/>
                  </a:lnTo>
                  <a:lnTo>
                    <a:pt x="434347" y="87776"/>
                  </a:lnTo>
                  <a:lnTo>
                    <a:pt x="475075" y="96837"/>
                  </a:lnTo>
                  <a:lnTo>
                    <a:pt x="502515" y="110279"/>
                  </a:lnTo>
                  <a:lnTo>
                    <a:pt x="512571" y="126746"/>
                  </a:lnTo>
                  <a:lnTo>
                    <a:pt x="512571" y="0"/>
                  </a:lnTo>
                  <a:close/>
                </a:path>
                <a:path w="2051050" h="127000">
                  <a:moveTo>
                    <a:pt x="1922398" y="0"/>
                  </a:moveTo>
                  <a:lnTo>
                    <a:pt x="1537843" y="0"/>
                  </a:lnTo>
                  <a:lnTo>
                    <a:pt x="1537843" y="126746"/>
                  </a:lnTo>
                  <a:lnTo>
                    <a:pt x="1547919" y="110279"/>
                  </a:lnTo>
                  <a:lnTo>
                    <a:pt x="1575403" y="96837"/>
                  </a:lnTo>
                  <a:lnTo>
                    <a:pt x="1616174" y="87776"/>
                  </a:lnTo>
                  <a:lnTo>
                    <a:pt x="1666112" y="84455"/>
                  </a:lnTo>
                  <a:lnTo>
                    <a:pt x="1922398" y="84455"/>
                  </a:lnTo>
                  <a:lnTo>
                    <a:pt x="1972264" y="81133"/>
                  </a:lnTo>
                  <a:lnTo>
                    <a:pt x="2012997" y="72072"/>
                  </a:lnTo>
                  <a:lnTo>
                    <a:pt x="2040467" y="58630"/>
                  </a:lnTo>
                  <a:lnTo>
                    <a:pt x="2050542" y="42164"/>
                  </a:lnTo>
                  <a:lnTo>
                    <a:pt x="2040467" y="25771"/>
                  </a:lnTo>
                  <a:lnTo>
                    <a:pt x="2012997" y="12366"/>
                  </a:lnTo>
                  <a:lnTo>
                    <a:pt x="1972264" y="3319"/>
                  </a:lnTo>
                  <a:lnTo>
                    <a:pt x="1922398" y="0"/>
                  </a:lnTo>
                  <a:close/>
                </a:path>
              </a:pathLst>
            </a:custGeom>
            <a:solidFill>
              <a:srgbClr val="C770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3271" y="3072384"/>
              <a:ext cx="4101465" cy="1013460"/>
            </a:xfrm>
            <a:custGeom>
              <a:avLst/>
              <a:gdLst/>
              <a:ahLst/>
              <a:cxnLst/>
              <a:rect l="l" t="t" r="r" b="b"/>
              <a:pathLst>
                <a:path w="4101465" h="1013460">
                  <a:moveTo>
                    <a:pt x="0" y="1013459"/>
                  </a:moveTo>
                  <a:lnTo>
                    <a:pt x="512572" y="591184"/>
                  </a:lnTo>
                  <a:lnTo>
                    <a:pt x="0" y="168910"/>
                  </a:lnTo>
                  <a:lnTo>
                    <a:pt x="1025271" y="168910"/>
                  </a:lnTo>
                  <a:lnTo>
                    <a:pt x="1025271" y="42163"/>
                  </a:lnTo>
                  <a:lnTo>
                    <a:pt x="1035345" y="25771"/>
                  </a:lnTo>
                  <a:lnTo>
                    <a:pt x="1062815" y="12366"/>
                  </a:lnTo>
                  <a:lnTo>
                    <a:pt x="1103548" y="3319"/>
                  </a:lnTo>
                  <a:lnTo>
                    <a:pt x="1153414" y="0"/>
                  </a:lnTo>
                  <a:lnTo>
                    <a:pt x="2947669" y="0"/>
                  </a:lnTo>
                  <a:lnTo>
                    <a:pt x="2997535" y="3319"/>
                  </a:lnTo>
                  <a:lnTo>
                    <a:pt x="3038268" y="12366"/>
                  </a:lnTo>
                  <a:lnTo>
                    <a:pt x="3065738" y="25771"/>
                  </a:lnTo>
                  <a:lnTo>
                    <a:pt x="3075813" y="42163"/>
                  </a:lnTo>
                  <a:lnTo>
                    <a:pt x="3075813" y="168910"/>
                  </a:lnTo>
                  <a:lnTo>
                    <a:pt x="4101083" y="168910"/>
                  </a:lnTo>
                  <a:lnTo>
                    <a:pt x="3588385" y="591184"/>
                  </a:lnTo>
                  <a:lnTo>
                    <a:pt x="4101083" y="1013459"/>
                  </a:lnTo>
                  <a:lnTo>
                    <a:pt x="2691383" y="1013459"/>
                  </a:lnTo>
                  <a:lnTo>
                    <a:pt x="2641445" y="1010140"/>
                  </a:lnTo>
                  <a:lnTo>
                    <a:pt x="2600674" y="1001093"/>
                  </a:lnTo>
                  <a:lnTo>
                    <a:pt x="2573190" y="987688"/>
                  </a:lnTo>
                  <a:lnTo>
                    <a:pt x="2563114" y="971295"/>
                  </a:lnTo>
                  <a:lnTo>
                    <a:pt x="2573190" y="954829"/>
                  </a:lnTo>
                  <a:lnTo>
                    <a:pt x="2600674" y="941387"/>
                  </a:lnTo>
                  <a:lnTo>
                    <a:pt x="2641445" y="932326"/>
                  </a:lnTo>
                  <a:lnTo>
                    <a:pt x="2691383" y="929004"/>
                  </a:lnTo>
                  <a:lnTo>
                    <a:pt x="2947669" y="929004"/>
                  </a:lnTo>
                  <a:lnTo>
                    <a:pt x="2997535" y="925683"/>
                  </a:lnTo>
                  <a:lnTo>
                    <a:pt x="3038268" y="916622"/>
                  </a:lnTo>
                  <a:lnTo>
                    <a:pt x="3065738" y="903180"/>
                  </a:lnTo>
                  <a:lnTo>
                    <a:pt x="3075813" y="886713"/>
                  </a:lnTo>
                  <a:lnTo>
                    <a:pt x="3065738" y="870321"/>
                  </a:lnTo>
                  <a:lnTo>
                    <a:pt x="3038268" y="856916"/>
                  </a:lnTo>
                  <a:lnTo>
                    <a:pt x="2997535" y="847869"/>
                  </a:lnTo>
                  <a:lnTo>
                    <a:pt x="2947669" y="844549"/>
                  </a:lnTo>
                  <a:lnTo>
                    <a:pt x="1153414" y="844549"/>
                  </a:lnTo>
                  <a:lnTo>
                    <a:pt x="1103548" y="847869"/>
                  </a:lnTo>
                  <a:lnTo>
                    <a:pt x="1062815" y="856916"/>
                  </a:lnTo>
                  <a:lnTo>
                    <a:pt x="1035345" y="870321"/>
                  </a:lnTo>
                  <a:lnTo>
                    <a:pt x="1025271" y="886713"/>
                  </a:lnTo>
                  <a:lnTo>
                    <a:pt x="1035345" y="903180"/>
                  </a:lnTo>
                  <a:lnTo>
                    <a:pt x="1062815" y="916622"/>
                  </a:lnTo>
                  <a:lnTo>
                    <a:pt x="1103548" y="925683"/>
                  </a:lnTo>
                  <a:lnTo>
                    <a:pt x="1153414" y="929004"/>
                  </a:lnTo>
                  <a:lnTo>
                    <a:pt x="1409700" y="929004"/>
                  </a:lnTo>
                  <a:lnTo>
                    <a:pt x="1459618" y="932324"/>
                  </a:lnTo>
                  <a:lnTo>
                    <a:pt x="1500346" y="941371"/>
                  </a:lnTo>
                  <a:lnTo>
                    <a:pt x="1527786" y="954776"/>
                  </a:lnTo>
                  <a:lnTo>
                    <a:pt x="1537842" y="971168"/>
                  </a:lnTo>
                  <a:lnTo>
                    <a:pt x="1527786" y="987635"/>
                  </a:lnTo>
                  <a:lnTo>
                    <a:pt x="1500346" y="1001077"/>
                  </a:lnTo>
                  <a:lnTo>
                    <a:pt x="1459618" y="1010138"/>
                  </a:lnTo>
                  <a:lnTo>
                    <a:pt x="1409700" y="1013459"/>
                  </a:lnTo>
                  <a:lnTo>
                    <a:pt x="0" y="1013459"/>
                  </a:lnTo>
                  <a:close/>
                </a:path>
                <a:path w="4101465" h="1013460">
                  <a:moveTo>
                    <a:pt x="1537842" y="844549"/>
                  </a:moveTo>
                  <a:lnTo>
                    <a:pt x="1537842" y="971295"/>
                  </a:lnTo>
                </a:path>
                <a:path w="4101465" h="1013460">
                  <a:moveTo>
                    <a:pt x="2563114" y="971295"/>
                  </a:moveTo>
                  <a:lnTo>
                    <a:pt x="2563114" y="844549"/>
                  </a:lnTo>
                </a:path>
                <a:path w="4101465" h="1013460">
                  <a:moveTo>
                    <a:pt x="1025271" y="886713"/>
                  </a:moveTo>
                  <a:lnTo>
                    <a:pt x="1025271" y="168910"/>
                  </a:lnTo>
                </a:path>
                <a:path w="4101465" h="1013460">
                  <a:moveTo>
                    <a:pt x="3075813" y="168910"/>
                  </a:moveTo>
                  <a:lnTo>
                    <a:pt x="3075813" y="886713"/>
                  </a:lnTo>
                </a:path>
              </a:pathLst>
            </a:custGeom>
            <a:ln w="12192">
              <a:solidFill>
                <a:srgbClr val="F88B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1427" y="3243833"/>
            <a:ext cx="16179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b="1" spc="15" dirty="0">
                <a:latin typeface="Cambria"/>
                <a:cs typeface="Cambria"/>
              </a:rPr>
              <a:t>S</a:t>
            </a:r>
            <a:r>
              <a:rPr sz="3000" b="1" dirty="0">
                <a:latin typeface="Cambria"/>
                <a:cs typeface="Cambria"/>
              </a:rPr>
              <a:t>election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7192" y="3060192"/>
            <a:ext cx="8671560" cy="1483360"/>
          </a:xfrm>
          <a:prstGeom prst="rect">
            <a:avLst/>
          </a:prstGeom>
          <a:solidFill>
            <a:srgbClr val="FAE6D3"/>
          </a:solidFill>
          <a:ln w="12192">
            <a:solidFill>
              <a:srgbClr val="303A3E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351155" marR="345440" indent="-3810" algn="ctr">
              <a:lnSpc>
                <a:spcPct val="100000"/>
              </a:lnSpc>
              <a:spcBef>
                <a:spcPts val="355"/>
              </a:spcBef>
            </a:pPr>
            <a:r>
              <a:rPr sz="3000" b="1" spc="-5" dirty="0">
                <a:solidFill>
                  <a:srgbClr val="6F2F9F"/>
                </a:solidFill>
                <a:latin typeface="Cambria"/>
                <a:cs typeface="Cambria"/>
              </a:rPr>
              <a:t>The quality of manager is one of the most </a:t>
            </a:r>
            <a:r>
              <a:rPr sz="3000" b="1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spc="-5" dirty="0">
                <a:solidFill>
                  <a:srgbClr val="6F2F9F"/>
                </a:solidFill>
                <a:latin typeface="Cambria"/>
                <a:cs typeface="Cambria"/>
              </a:rPr>
              <a:t>important </a:t>
            </a:r>
            <a:r>
              <a:rPr sz="3000" b="1" spc="-10" dirty="0">
                <a:solidFill>
                  <a:srgbClr val="6F2F9F"/>
                </a:solidFill>
                <a:latin typeface="Cambria"/>
                <a:cs typeface="Cambria"/>
              </a:rPr>
              <a:t>factors </a:t>
            </a:r>
            <a:r>
              <a:rPr sz="3000" b="1" spc="-5" dirty="0">
                <a:solidFill>
                  <a:srgbClr val="6F2F9F"/>
                </a:solidFill>
                <a:latin typeface="Cambria"/>
                <a:cs typeface="Cambria"/>
              </a:rPr>
              <a:t>determining the </a:t>
            </a:r>
            <a:r>
              <a:rPr sz="3000" b="1" spc="-10" dirty="0">
                <a:solidFill>
                  <a:srgbClr val="6F2F9F"/>
                </a:solidFill>
                <a:latin typeface="Cambria"/>
                <a:cs typeface="Cambria"/>
              </a:rPr>
              <a:t>continuing </a:t>
            </a:r>
            <a:r>
              <a:rPr sz="3000" b="1" spc="-6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spc="-10" dirty="0">
                <a:solidFill>
                  <a:srgbClr val="6F2F9F"/>
                </a:solidFill>
                <a:latin typeface="Cambria"/>
                <a:cs typeface="Cambria"/>
              </a:rPr>
              <a:t>success</a:t>
            </a:r>
            <a:r>
              <a:rPr sz="3000" b="1" spc="-5" dirty="0">
                <a:solidFill>
                  <a:srgbClr val="6F2F9F"/>
                </a:solidFill>
                <a:latin typeface="Cambria"/>
                <a:cs typeface="Cambria"/>
              </a:rPr>
              <a:t> of</a:t>
            </a:r>
            <a:r>
              <a:rPr sz="30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spc="-35" dirty="0">
                <a:solidFill>
                  <a:srgbClr val="6F2F9F"/>
                </a:solidFill>
                <a:latin typeface="Cambria"/>
                <a:cs typeface="Cambria"/>
              </a:rPr>
              <a:t>any</a:t>
            </a:r>
            <a:r>
              <a:rPr sz="3000" b="1" spc="-10" dirty="0">
                <a:solidFill>
                  <a:srgbClr val="6F2F9F"/>
                </a:solidFill>
                <a:latin typeface="Cambria"/>
                <a:cs typeface="Cambria"/>
              </a:rPr>
              <a:t> organization.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6820" y="1648206"/>
            <a:ext cx="84677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Plant </a:t>
            </a:r>
            <a:r>
              <a:rPr spc="5" dirty="0"/>
              <a:t>equipment, </a:t>
            </a:r>
            <a:r>
              <a:rPr spc="-5" dirty="0"/>
              <a:t>materials and </a:t>
            </a:r>
            <a:r>
              <a:rPr dirty="0"/>
              <a:t>people </a:t>
            </a:r>
            <a:r>
              <a:rPr spc="-5" dirty="0"/>
              <a:t>do </a:t>
            </a:r>
            <a:r>
              <a:rPr dirty="0"/>
              <a:t>not </a:t>
            </a:r>
            <a:r>
              <a:rPr spc="-10" dirty="0"/>
              <a:t>make </a:t>
            </a:r>
            <a:r>
              <a:rPr dirty="0"/>
              <a:t>a business </a:t>
            </a:r>
            <a:r>
              <a:rPr spc="-25" dirty="0"/>
              <a:t>any </a:t>
            </a:r>
            <a:r>
              <a:rPr spc="-10" dirty="0"/>
              <a:t>more </a:t>
            </a:r>
            <a:r>
              <a:rPr spc="-430" dirty="0"/>
              <a:t> </a:t>
            </a:r>
            <a:r>
              <a:rPr spc="-5" dirty="0"/>
              <a:t>than</a:t>
            </a:r>
            <a:r>
              <a:rPr spc="-20" dirty="0"/>
              <a:t> </a:t>
            </a:r>
            <a:r>
              <a:rPr spc="-5" dirty="0"/>
              <a:t>airplanes,</a:t>
            </a:r>
            <a:r>
              <a:rPr spc="-15" dirty="0"/>
              <a:t> </a:t>
            </a:r>
            <a:r>
              <a:rPr spc="-5" dirty="0"/>
              <a:t>tanks,</a:t>
            </a:r>
            <a:r>
              <a:rPr spc="5" dirty="0"/>
              <a:t> </a:t>
            </a:r>
            <a:r>
              <a:rPr dirty="0"/>
              <a:t>ships</a:t>
            </a:r>
            <a:r>
              <a:rPr spc="-50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dirty="0"/>
              <a:t>people</a:t>
            </a:r>
            <a:r>
              <a:rPr spc="-5" dirty="0"/>
              <a:t> </a:t>
            </a:r>
            <a:r>
              <a:rPr spc="-10" dirty="0"/>
              <a:t>make</a:t>
            </a:r>
            <a:r>
              <a:rPr spc="-5" dirty="0"/>
              <a:t> an</a:t>
            </a:r>
            <a:r>
              <a:rPr dirty="0"/>
              <a:t> </a:t>
            </a:r>
            <a:r>
              <a:rPr spc="-15" dirty="0"/>
              <a:t>effective</a:t>
            </a:r>
            <a:r>
              <a:rPr spc="-20" dirty="0"/>
              <a:t> </a:t>
            </a:r>
            <a:r>
              <a:rPr spc="-5" dirty="0"/>
              <a:t>military</a:t>
            </a:r>
            <a:r>
              <a:rPr spc="-30" dirty="0"/>
              <a:t> </a:t>
            </a:r>
            <a:r>
              <a:rPr spc="-15" dirty="0"/>
              <a:t>force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L="647065">
              <a:lnSpc>
                <a:spcPct val="100000"/>
              </a:lnSpc>
              <a:spcBef>
                <a:spcPts val="3435"/>
              </a:spcBef>
            </a:pPr>
            <a:r>
              <a:rPr sz="4800" spc="-30" dirty="0">
                <a:solidFill>
                  <a:srgbClr val="FFFFFF"/>
                </a:solidFill>
              </a:rPr>
              <a:t>SYSTEMS</a:t>
            </a:r>
            <a:r>
              <a:rPr sz="4800" spc="-15" dirty="0">
                <a:solidFill>
                  <a:srgbClr val="FFFFFF"/>
                </a:solidFill>
              </a:rPr>
              <a:t> </a:t>
            </a:r>
            <a:r>
              <a:rPr sz="4800" spc="-50" dirty="0">
                <a:solidFill>
                  <a:srgbClr val="FFFFFF"/>
                </a:solidFill>
              </a:rPr>
              <a:t>APPROACH</a:t>
            </a:r>
            <a:r>
              <a:rPr sz="4800" spc="-35" dirty="0">
                <a:solidFill>
                  <a:srgbClr val="FFFFFF"/>
                </a:solidFill>
              </a:rPr>
              <a:t> </a:t>
            </a:r>
            <a:r>
              <a:rPr sz="4800" spc="-65" dirty="0">
                <a:solidFill>
                  <a:srgbClr val="FFFFFF"/>
                </a:solidFill>
              </a:rPr>
              <a:t>TO</a:t>
            </a:r>
            <a:r>
              <a:rPr sz="4800" spc="-10" dirty="0">
                <a:solidFill>
                  <a:srgbClr val="FFFFFF"/>
                </a:solidFill>
              </a:rPr>
              <a:t> </a:t>
            </a:r>
            <a:r>
              <a:rPr sz="4800" spc="-15" dirty="0">
                <a:solidFill>
                  <a:srgbClr val="FFFFFF"/>
                </a:solidFill>
              </a:rPr>
              <a:t>SELECTION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58469" y="2299207"/>
            <a:ext cx="108712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A</a:t>
            </a:r>
            <a:r>
              <a:rPr sz="20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systematic</a:t>
            </a:r>
            <a:r>
              <a:rPr sz="2000" b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approach</a:t>
            </a:r>
            <a:r>
              <a:rPr sz="20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is</a:t>
            </a:r>
            <a:r>
              <a:rPr sz="20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essential</a:t>
            </a:r>
            <a:r>
              <a:rPr sz="20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to</a:t>
            </a:r>
            <a:r>
              <a:rPr sz="2000" b="1" spc="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manager</a:t>
            </a:r>
            <a:r>
              <a:rPr sz="2000" b="1" spc="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selection</a:t>
            </a:r>
            <a:r>
              <a:rPr sz="2000" b="1" spc="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20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to</a:t>
            </a:r>
            <a:r>
              <a:rPr sz="20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r>
              <a:rPr sz="2000" b="1" spc="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assessment</a:t>
            </a:r>
            <a:r>
              <a:rPr sz="2000" b="1" spc="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20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present</a:t>
            </a:r>
            <a:r>
              <a:rPr sz="2000" b="1" spc="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6F2F9F"/>
                </a:solidFill>
                <a:latin typeface="Cambria"/>
                <a:cs typeface="Cambria"/>
              </a:rPr>
              <a:t>future</a:t>
            </a:r>
            <a:r>
              <a:rPr sz="20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needs</a:t>
            </a:r>
            <a:r>
              <a:rPr sz="20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for</a:t>
            </a:r>
            <a:r>
              <a:rPr sz="20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managerial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Cambria"/>
                <a:cs typeface="Cambria"/>
              </a:rPr>
              <a:t>personnel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119" y="3506723"/>
            <a:ext cx="4701540" cy="1938655"/>
          </a:xfrm>
          <a:custGeom>
            <a:avLst/>
            <a:gdLst/>
            <a:ahLst/>
            <a:cxnLst/>
            <a:rect l="l" t="t" r="r" b="b"/>
            <a:pathLst>
              <a:path w="4701540" h="1938654">
                <a:moveTo>
                  <a:pt x="4701540" y="0"/>
                </a:moveTo>
                <a:lnTo>
                  <a:pt x="0" y="0"/>
                </a:lnTo>
                <a:lnTo>
                  <a:pt x="0" y="1938527"/>
                </a:lnTo>
                <a:lnTo>
                  <a:pt x="4701540" y="1938527"/>
                </a:lnTo>
                <a:lnTo>
                  <a:pt x="4701540" y="0"/>
                </a:lnTo>
                <a:close/>
              </a:path>
            </a:pathLst>
          </a:custGeom>
          <a:solidFill>
            <a:srgbClr val="F8CE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8469" y="3533013"/>
            <a:ext cx="45440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spc="26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managerial</a:t>
            </a:r>
            <a:r>
              <a:rPr sz="2000" b="1" spc="27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requirements</a:t>
            </a:r>
            <a:r>
              <a:rPr sz="2000" b="1" spc="28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plan</a:t>
            </a:r>
            <a:endParaRPr sz="20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</a:pPr>
            <a:r>
              <a:rPr sz="2000" b="1" spc="5" dirty="0">
                <a:latin typeface="Cambria"/>
                <a:cs typeface="Cambria"/>
              </a:rPr>
              <a:t>is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based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669" y="4142994"/>
            <a:ext cx="288988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000" b="1" dirty="0">
                <a:latin typeface="Cambria"/>
                <a:cs typeface="Cambria"/>
              </a:rPr>
              <a:t>The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firm’s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objectives</a:t>
            </a:r>
            <a:endParaRPr sz="20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265" algn="l"/>
                <a:tab pos="470534" algn="l"/>
              </a:tabLst>
            </a:pPr>
            <a:r>
              <a:rPr sz="2000" b="1" spc="-15" dirty="0">
                <a:latin typeface="Cambria"/>
                <a:cs typeface="Cambria"/>
              </a:rPr>
              <a:t>Forecasts</a:t>
            </a:r>
            <a:endParaRPr sz="20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265" algn="l"/>
                <a:tab pos="470534" algn="l"/>
              </a:tabLst>
            </a:pPr>
            <a:r>
              <a:rPr sz="2000" b="1" spc="-5" dirty="0">
                <a:latin typeface="Cambria"/>
                <a:cs typeface="Cambria"/>
              </a:rPr>
              <a:t>Plans</a:t>
            </a:r>
            <a:endParaRPr sz="20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000" b="1" spc="-10" dirty="0">
                <a:latin typeface="Cambria"/>
                <a:cs typeface="Cambria"/>
              </a:rPr>
              <a:t>Strategies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77940" y="3288791"/>
            <a:ext cx="5232400" cy="2862580"/>
          </a:xfrm>
          <a:custGeom>
            <a:avLst/>
            <a:gdLst/>
            <a:ahLst/>
            <a:cxnLst/>
            <a:rect l="l" t="t" r="r" b="b"/>
            <a:pathLst>
              <a:path w="5232400" h="2862579">
                <a:moveTo>
                  <a:pt x="5231892" y="0"/>
                </a:moveTo>
                <a:lnTo>
                  <a:pt x="0" y="0"/>
                </a:lnTo>
                <a:lnTo>
                  <a:pt x="0" y="2862072"/>
                </a:lnTo>
                <a:lnTo>
                  <a:pt x="5231892" y="2862072"/>
                </a:lnTo>
                <a:lnTo>
                  <a:pt x="5231892" y="0"/>
                </a:lnTo>
                <a:close/>
              </a:path>
            </a:pathLst>
          </a:custGeom>
          <a:solidFill>
            <a:srgbClr val="F8CE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70903" y="3315080"/>
            <a:ext cx="505968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42900" algn="l"/>
              </a:tabLst>
            </a:pPr>
            <a:r>
              <a:rPr sz="2000" b="1" spc="-5" dirty="0">
                <a:latin typeface="Cambria"/>
                <a:cs typeface="Cambria"/>
              </a:rPr>
              <a:t>This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plan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translated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into</a:t>
            </a:r>
            <a:r>
              <a:rPr sz="2000" b="1" spc="-10" dirty="0">
                <a:latin typeface="Cambria"/>
                <a:cs typeface="Cambria"/>
              </a:rPr>
              <a:t> position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requirements </a:t>
            </a:r>
            <a:r>
              <a:rPr sz="2000" b="1" spc="-5" dirty="0">
                <a:latin typeface="Cambria"/>
                <a:cs typeface="Cambria"/>
              </a:rPr>
              <a:t>and job design, </a:t>
            </a:r>
            <a:r>
              <a:rPr sz="2000" b="1" spc="-10" dirty="0">
                <a:latin typeface="Cambria"/>
                <a:cs typeface="Cambria"/>
              </a:rPr>
              <a:t>which </a:t>
            </a:r>
            <a:r>
              <a:rPr sz="2000" b="1" spc="-15" dirty="0">
                <a:latin typeface="Cambria"/>
                <a:cs typeface="Cambria"/>
              </a:rPr>
              <a:t>are </a:t>
            </a:r>
            <a:r>
              <a:rPr sz="2000" b="1" spc="-10" dirty="0">
                <a:latin typeface="Cambria"/>
                <a:cs typeface="Cambria"/>
              </a:rPr>
              <a:t> matched</a:t>
            </a:r>
            <a:r>
              <a:rPr sz="2000" b="1" spc="-5" dirty="0">
                <a:latin typeface="Cambria"/>
                <a:cs typeface="Cambria"/>
              </a:rPr>
              <a:t> with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such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individual </a:t>
            </a:r>
            <a:r>
              <a:rPr sz="2000" b="1" spc="-5" dirty="0">
                <a:latin typeface="Cambria"/>
                <a:cs typeface="Cambria"/>
              </a:rPr>
              <a:t> characteristics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28104" y="4534661"/>
            <a:ext cx="184848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 indent="-4565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56565" algn="l"/>
                <a:tab pos="457200" algn="l"/>
              </a:tabLst>
            </a:pPr>
            <a:r>
              <a:rPr sz="2000" b="1" spc="-5" dirty="0">
                <a:latin typeface="Cambria"/>
                <a:cs typeface="Cambria"/>
              </a:rPr>
              <a:t>Intelligence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2000" b="1" spc="-10" dirty="0">
                <a:latin typeface="Cambria"/>
                <a:cs typeface="Cambria"/>
              </a:rPr>
              <a:t>Knowledge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2000" b="1" spc="-5" dirty="0">
                <a:latin typeface="Cambria"/>
                <a:cs typeface="Cambria"/>
              </a:rPr>
              <a:t>Skills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56565" algn="l"/>
                <a:tab pos="457200" algn="l"/>
              </a:tabLst>
            </a:pPr>
            <a:r>
              <a:rPr sz="2000" b="1" spc="-5" dirty="0">
                <a:latin typeface="Cambria"/>
                <a:cs typeface="Cambria"/>
              </a:rPr>
              <a:t>Attitudes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2000" b="1" spc="-5" dirty="0">
                <a:latin typeface="Cambria"/>
                <a:cs typeface="Cambria"/>
              </a:rPr>
              <a:t>experience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34000" y="4229100"/>
            <a:ext cx="990600" cy="497205"/>
            <a:chOff x="5334000" y="4229100"/>
            <a:chExt cx="990600" cy="497205"/>
          </a:xfrm>
        </p:grpSpPr>
        <p:sp>
          <p:nvSpPr>
            <p:cNvPr id="11" name="object 11"/>
            <p:cNvSpPr/>
            <p:nvPr/>
          </p:nvSpPr>
          <p:spPr>
            <a:xfrm>
              <a:off x="5340095" y="4235195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1" y="0"/>
                  </a:moveTo>
                  <a:lnTo>
                    <a:pt x="736091" y="121157"/>
                  </a:lnTo>
                  <a:lnTo>
                    <a:pt x="0" y="121157"/>
                  </a:lnTo>
                  <a:lnTo>
                    <a:pt x="0" y="363473"/>
                  </a:lnTo>
                  <a:lnTo>
                    <a:pt x="736091" y="363473"/>
                  </a:lnTo>
                  <a:lnTo>
                    <a:pt x="736091" y="484631"/>
                  </a:lnTo>
                  <a:lnTo>
                    <a:pt x="978407" y="242315"/>
                  </a:lnTo>
                  <a:lnTo>
                    <a:pt x="736091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0095" y="4235195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552188" y="4799076"/>
            <a:ext cx="763905" cy="683260"/>
            <a:chOff x="4552188" y="4799076"/>
            <a:chExt cx="763905" cy="683260"/>
          </a:xfrm>
        </p:grpSpPr>
        <p:sp>
          <p:nvSpPr>
            <p:cNvPr id="14" name="object 14"/>
            <p:cNvSpPr/>
            <p:nvPr/>
          </p:nvSpPr>
          <p:spPr>
            <a:xfrm>
              <a:off x="4558284" y="4805172"/>
              <a:ext cx="751840" cy="670560"/>
            </a:xfrm>
            <a:custGeom>
              <a:avLst/>
              <a:gdLst/>
              <a:ahLst/>
              <a:cxnLst/>
              <a:rect l="l" t="t" r="r" b="b"/>
              <a:pathLst>
                <a:path w="751839" h="670560">
                  <a:moveTo>
                    <a:pt x="375665" y="0"/>
                  </a:moveTo>
                  <a:lnTo>
                    <a:pt x="324681" y="3060"/>
                  </a:lnTo>
                  <a:lnTo>
                    <a:pt x="275784" y="11976"/>
                  </a:lnTo>
                  <a:lnTo>
                    <a:pt x="229421" y="26348"/>
                  </a:lnTo>
                  <a:lnTo>
                    <a:pt x="186040" y="45776"/>
                  </a:lnTo>
                  <a:lnTo>
                    <a:pt x="146089" y="69861"/>
                  </a:lnTo>
                  <a:lnTo>
                    <a:pt x="110013" y="98202"/>
                  </a:lnTo>
                  <a:lnTo>
                    <a:pt x="78261" y="130402"/>
                  </a:lnTo>
                  <a:lnTo>
                    <a:pt x="51279" y="166059"/>
                  </a:lnTo>
                  <a:lnTo>
                    <a:pt x="29515" y="204775"/>
                  </a:lnTo>
                  <a:lnTo>
                    <a:pt x="13416" y="246150"/>
                  </a:lnTo>
                  <a:lnTo>
                    <a:pt x="3428" y="289785"/>
                  </a:lnTo>
                  <a:lnTo>
                    <a:pt x="0" y="335279"/>
                  </a:lnTo>
                  <a:lnTo>
                    <a:pt x="3428" y="380774"/>
                  </a:lnTo>
                  <a:lnTo>
                    <a:pt x="13416" y="424409"/>
                  </a:lnTo>
                  <a:lnTo>
                    <a:pt x="29515" y="465784"/>
                  </a:lnTo>
                  <a:lnTo>
                    <a:pt x="51279" y="504500"/>
                  </a:lnTo>
                  <a:lnTo>
                    <a:pt x="78261" y="540157"/>
                  </a:lnTo>
                  <a:lnTo>
                    <a:pt x="110013" y="572357"/>
                  </a:lnTo>
                  <a:lnTo>
                    <a:pt x="146089" y="600698"/>
                  </a:lnTo>
                  <a:lnTo>
                    <a:pt x="186040" y="624783"/>
                  </a:lnTo>
                  <a:lnTo>
                    <a:pt x="229421" y="644211"/>
                  </a:lnTo>
                  <a:lnTo>
                    <a:pt x="275784" y="658583"/>
                  </a:lnTo>
                  <a:lnTo>
                    <a:pt x="324681" y="667499"/>
                  </a:lnTo>
                  <a:lnTo>
                    <a:pt x="375665" y="670559"/>
                  </a:lnTo>
                  <a:lnTo>
                    <a:pt x="426650" y="667499"/>
                  </a:lnTo>
                  <a:lnTo>
                    <a:pt x="475547" y="658583"/>
                  </a:lnTo>
                  <a:lnTo>
                    <a:pt x="521910" y="644211"/>
                  </a:lnTo>
                  <a:lnTo>
                    <a:pt x="565291" y="624783"/>
                  </a:lnTo>
                  <a:lnTo>
                    <a:pt x="605242" y="600698"/>
                  </a:lnTo>
                  <a:lnTo>
                    <a:pt x="641318" y="572357"/>
                  </a:lnTo>
                  <a:lnTo>
                    <a:pt x="673070" y="540157"/>
                  </a:lnTo>
                  <a:lnTo>
                    <a:pt x="700052" y="504500"/>
                  </a:lnTo>
                  <a:lnTo>
                    <a:pt x="721816" y="465784"/>
                  </a:lnTo>
                  <a:lnTo>
                    <a:pt x="737915" y="424409"/>
                  </a:lnTo>
                  <a:lnTo>
                    <a:pt x="747903" y="380774"/>
                  </a:lnTo>
                  <a:lnTo>
                    <a:pt x="751331" y="335279"/>
                  </a:lnTo>
                  <a:lnTo>
                    <a:pt x="747903" y="289785"/>
                  </a:lnTo>
                  <a:lnTo>
                    <a:pt x="737915" y="246150"/>
                  </a:lnTo>
                  <a:lnTo>
                    <a:pt x="721816" y="204775"/>
                  </a:lnTo>
                  <a:lnTo>
                    <a:pt x="700052" y="166059"/>
                  </a:lnTo>
                  <a:lnTo>
                    <a:pt x="673070" y="130402"/>
                  </a:lnTo>
                  <a:lnTo>
                    <a:pt x="641318" y="98202"/>
                  </a:lnTo>
                  <a:lnTo>
                    <a:pt x="605242" y="69861"/>
                  </a:lnTo>
                  <a:lnTo>
                    <a:pt x="565291" y="45776"/>
                  </a:lnTo>
                  <a:lnTo>
                    <a:pt x="521910" y="26348"/>
                  </a:lnTo>
                  <a:lnTo>
                    <a:pt x="475547" y="11976"/>
                  </a:lnTo>
                  <a:lnTo>
                    <a:pt x="426650" y="3060"/>
                  </a:lnTo>
                  <a:lnTo>
                    <a:pt x="375665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58284" y="4805172"/>
              <a:ext cx="751840" cy="670560"/>
            </a:xfrm>
            <a:custGeom>
              <a:avLst/>
              <a:gdLst/>
              <a:ahLst/>
              <a:cxnLst/>
              <a:rect l="l" t="t" r="r" b="b"/>
              <a:pathLst>
                <a:path w="751839" h="670560">
                  <a:moveTo>
                    <a:pt x="0" y="335279"/>
                  </a:moveTo>
                  <a:lnTo>
                    <a:pt x="3428" y="289785"/>
                  </a:lnTo>
                  <a:lnTo>
                    <a:pt x="13416" y="246150"/>
                  </a:lnTo>
                  <a:lnTo>
                    <a:pt x="29515" y="204775"/>
                  </a:lnTo>
                  <a:lnTo>
                    <a:pt x="51279" y="166059"/>
                  </a:lnTo>
                  <a:lnTo>
                    <a:pt x="78261" y="130402"/>
                  </a:lnTo>
                  <a:lnTo>
                    <a:pt x="110013" y="98202"/>
                  </a:lnTo>
                  <a:lnTo>
                    <a:pt x="146089" y="69861"/>
                  </a:lnTo>
                  <a:lnTo>
                    <a:pt x="186040" y="45776"/>
                  </a:lnTo>
                  <a:lnTo>
                    <a:pt x="229421" y="26348"/>
                  </a:lnTo>
                  <a:lnTo>
                    <a:pt x="275784" y="11976"/>
                  </a:lnTo>
                  <a:lnTo>
                    <a:pt x="324681" y="3060"/>
                  </a:lnTo>
                  <a:lnTo>
                    <a:pt x="375665" y="0"/>
                  </a:lnTo>
                  <a:lnTo>
                    <a:pt x="426650" y="3060"/>
                  </a:lnTo>
                  <a:lnTo>
                    <a:pt x="475547" y="11976"/>
                  </a:lnTo>
                  <a:lnTo>
                    <a:pt x="521910" y="26348"/>
                  </a:lnTo>
                  <a:lnTo>
                    <a:pt x="565291" y="45776"/>
                  </a:lnTo>
                  <a:lnTo>
                    <a:pt x="605242" y="69861"/>
                  </a:lnTo>
                  <a:lnTo>
                    <a:pt x="641318" y="98202"/>
                  </a:lnTo>
                  <a:lnTo>
                    <a:pt x="673070" y="130402"/>
                  </a:lnTo>
                  <a:lnTo>
                    <a:pt x="700052" y="166059"/>
                  </a:lnTo>
                  <a:lnTo>
                    <a:pt x="721816" y="204775"/>
                  </a:lnTo>
                  <a:lnTo>
                    <a:pt x="737915" y="246150"/>
                  </a:lnTo>
                  <a:lnTo>
                    <a:pt x="747903" y="289785"/>
                  </a:lnTo>
                  <a:lnTo>
                    <a:pt x="751331" y="335279"/>
                  </a:lnTo>
                  <a:lnTo>
                    <a:pt x="747903" y="380774"/>
                  </a:lnTo>
                  <a:lnTo>
                    <a:pt x="737915" y="424409"/>
                  </a:lnTo>
                  <a:lnTo>
                    <a:pt x="721816" y="465784"/>
                  </a:lnTo>
                  <a:lnTo>
                    <a:pt x="700052" y="504500"/>
                  </a:lnTo>
                  <a:lnTo>
                    <a:pt x="673070" y="540157"/>
                  </a:lnTo>
                  <a:lnTo>
                    <a:pt x="641318" y="572357"/>
                  </a:lnTo>
                  <a:lnTo>
                    <a:pt x="605242" y="600698"/>
                  </a:lnTo>
                  <a:lnTo>
                    <a:pt x="565291" y="624783"/>
                  </a:lnTo>
                  <a:lnTo>
                    <a:pt x="521910" y="644211"/>
                  </a:lnTo>
                  <a:lnTo>
                    <a:pt x="475547" y="658583"/>
                  </a:lnTo>
                  <a:lnTo>
                    <a:pt x="426650" y="667499"/>
                  </a:lnTo>
                  <a:lnTo>
                    <a:pt x="375665" y="670559"/>
                  </a:lnTo>
                  <a:lnTo>
                    <a:pt x="324681" y="667499"/>
                  </a:lnTo>
                  <a:lnTo>
                    <a:pt x="275784" y="658583"/>
                  </a:lnTo>
                  <a:lnTo>
                    <a:pt x="229421" y="644211"/>
                  </a:lnTo>
                  <a:lnTo>
                    <a:pt x="186040" y="624783"/>
                  </a:lnTo>
                  <a:lnTo>
                    <a:pt x="146089" y="600698"/>
                  </a:lnTo>
                  <a:lnTo>
                    <a:pt x="110013" y="572357"/>
                  </a:lnTo>
                  <a:lnTo>
                    <a:pt x="78261" y="540157"/>
                  </a:lnTo>
                  <a:lnTo>
                    <a:pt x="51279" y="504500"/>
                  </a:lnTo>
                  <a:lnTo>
                    <a:pt x="29515" y="465784"/>
                  </a:lnTo>
                  <a:lnTo>
                    <a:pt x="13416" y="424409"/>
                  </a:lnTo>
                  <a:lnTo>
                    <a:pt x="3428" y="380774"/>
                  </a:lnTo>
                  <a:lnTo>
                    <a:pt x="0" y="335279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57750" y="4985766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54511" y="5527547"/>
            <a:ext cx="661670" cy="603885"/>
            <a:chOff x="10954511" y="5527547"/>
            <a:chExt cx="661670" cy="603885"/>
          </a:xfrm>
        </p:grpSpPr>
        <p:sp>
          <p:nvSpPr>
            <p:cNvPr id="18" name="object 18"/>
            <p:cNvSpPr/>
            <p:nvPr/>
          </p:nvSpPr>
          <p:spPr>
            <a:xfrm>
              <a:off x="10960607" y="5533643"/>
              <a:ext cx="649605" cy="591820"/>
            </a:xfrm>
            <a:custGeom>
              <a:avLst/>
              <a:gdLst/>
              <a:ahLst/>
              <a:cxnLst/>
              <a:rect l="l" t="t" r="r" b="b"/>
              <a:pathLst>
                <a:path w="649604" h="591820">
                  <a:moveTo>
                    <a:pt x="324612" y="0"/>
                  </a:moveTo>
                  <a:lnTo>
                    <a:pt x="276632" y="3205"/>
                  </a:lnTo>
                  <a:lnTo>
                    <a:pt x="230843" y="12517"/>
                  </a:lnTo>
                  <a:lnTo>
                    <a:pt x="187743" y="27479"/>
                  </a:lnTo>
                  <a:lnTo>
                    <a:pt x="147837" y="47632"/>
                  </a:lnTo>
                  <a:lnTo>
                    <a:pt x="111624" y="72520"/>
                  </a:lnTo>
                  <a:lnTo>
                    <a:pt x="79606" y="101684"/>
                  </a:lnTo>
                  <a:lnTo>
                    <a:pt x="52285" y="134669"/>
                  </a:lnTo>
                  <a:lnTo>
                    <a:pt x="30162" y="171015"/>
                  </a:lnTo>
                  <a:lnTo>
                    <a:pt x="13740" y="210267"/>
                  </a:lnTo>
                  <a:lnTo>
                    <a:pt x="3518" y="251966"/>
                  </a:lnTo>
                  <a:lnTo>
                    <a:pt x="0" y="295655"/>
                  </a:lnTo>
                  <a:lnTo>
                    <a:pt x="3518" y="339345"/>
                  </a:lnTo>
                  <a:lnTo>
                    <a:pt x="13740" y="381044"/>
                  </a:lnTo>
                  <a:lnTo>
                    <a:pt x="30162" y="420296"/>
                  </a:lnTo>
                  <a:lnTo>
                    <a:pt x="52285" y="456642"/>
                  </a:lnTo>
                  <a:lnTo>
                    <a:pt x="79606" y="489627"/>
                  </a:lnTo>
                  <a:lnTo>
                    <a:pt x="111624" y="518791"/>
                  </a:lnTo>
                  <a:lnTo>
                    <a:pt x="147837" y="543679"/>
                  </a:lnTo>
                  <a:lnTo>
                    <a:pt x="187743" y="563832"/>
                  </a:lnTo>
                  <a:lnTo>
                    <a:pt x="230843" y="578794"/>
                  </a:lnTo>
                  <a:lnTo>
                    <a:pt x="276632" y="588106"/>
                  </a:lnTo>
                  <a:lnTo>
                    <a:pt x="324612" y="591311"/>
                  </a:lnTo>
                  <a:lnTo>
                    <a:pt x="372591" y="588106"/>
                  </a:lnTo>
                  <a:lnTo>
                    <a:pt x="418380" y="578794"/>
                  </a:lnTo>
                  <a:lnTo>
                    <a:pt x="461480" y="563832"/>
                  </a:lnTo>
                  <a:lnTo>
                    <a:pt x="501386" y="543679"/>
                  </a:lnTo>
                  <a:lnTo>
                    <a:pt x="537599" y="518791"/>
                  </a:lnTo>
                  <a:lnTo>
                    <a:pt x="569617" y="489627"/>
                  </a:lnTo>
                  <a:lnTo>
                    <a:pt x="596938" y="456642"/>
                  </a:lnTo>
                  <a:lnTo>
                    <a:pt x="619061" y="420296"/>
                  </a:lnTo>
                  <a:lnTo>
                    <a:pt x="635483" y="381044"/>
                  </a:lnTo>
                  <a:lnTo>
                    <a:pt x="645705" y="339345"/>
                  </a:lnTo>
                  <a:lnTo>
                    <a:pt x="649224" y="295655"/>
                  </a:lnTo>
                  <a:lnTo>
                    <a:pt x="645705" y="251966"/>
                  </a:lnTo>
                  <a:lnTo>
                    <a:pt x="635483" y="210267"/>
                  </a:lnTo>
                  <a:lnTo>
                    <a:pt x="619061" y="171015"/>
                  </a:lnTo>
                  <a:lnTo>
                    <a:pt x="596938" y="134669"/>
                  </a:lnTo>
                  <a:lnTo>
                    <a:pt x="569617" y="101684"/>
                  </a:lnTo>
                  <a:lnTo>
                    <a:pt x="537599" y="72520"/>
                  </a:lnTo>
                  <a:lnTo>
                    <a:pt x="501386" y="47632"/>
                  </a:lnTo>
                  <a:lnTo>
                    <a:pt x="461480" y="27479"/>
                  </a:lnTo>
                  <a:lnTo>
                    <a:pt x="418380" y="12517"/>
                  </a:lnTo>
                  <a:lnTo>
                    <a:pt x="372591" y="3205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60607" y="5533643"/>
              <a:ext cx="649605" cy="591820"/>
            </a:xfrm>
            <a:custGeom>
              <a:avLst/>
              <a:gdLst/>
              <a:ahLst/>
              <a:cxnLst/>
              <a:rect l="l" t="t" r="r" b="b"/>
              <a:pathLst>
                <a:path w="649604" h="591820">
                  <a:moveTo>
                    <a:pt x="0" y="295655"/>
                  </a:moveTo>
                  <a:lnTo>
                    <a:pt x="3518" y="251966"/>
                  </a:lnTo>
                  <a:lnTo>
                    <a:pt x="13740" y="210267"/>
                  </a:lnTo>
                  <a:lnTo>
                    <a:pt x="30162" y="171015"/>
                  </a:lnTo>
                  <a:lnTo>
                    <a:pt x="52285" y="134669"/>
                  </a:lnTo>
                  <a:lnTo>
                    <a:pt x="79606" y="101684"/>
                  </a:lnTo>
                  <a:lnTo>
                    <a:pt x="111624" y="72520"/>
                  </a:lnTo>
                  <a:lnTo>
                    <a:pt x="147837" y="47632"/>
                  </a:lnTo>
                  <a:lnTo>
                    <a:pt x="187743" y="27479"/>
                  </a:lnTo>
                  <a:lnTo>
                    <a:pt x="230843" y="12517"/>
                  </a:lnTo>
                  <a:lnTo>
                    <a:pt x="276632" y="3205"/>
                  </a:lnTo>
                  <a:lnTo>
                    <a:pt x="324612" y="0"/>
                  </a:lnTo>
                  <a:lnTo>
                    <a:pt x="372591" y="3205"/>
                  </a:lnTo>
                  <a:lnTo>
                    <a:pt x="418380" y="12517"/>
                  </a:lnTo>
                  <a:lnTo>
                    <a:pt x="461480" y="27479"/>
                  </a:lnTo>
                  <a:lnTo>
                    <a:pt x="501386" y="47632"/>
                  </a:lnTo>
                  <a:lnTo>
                    <a:pt x="537599" y="72520"/>
                  </a:lnTo>
                  <a:lnTo>
                    <a:pt x="569617" y="101684"/>
                  </a:lnTo>
                  <a:lnTo>
                    <a:pt x="596938" y="134669"/>
                  </a:lnTo>
                  <a:lnTo>
                    <a:pt x="619061" y="171015"/>
                  </a:lnTo>
                  <a:lnTo>
                    <a:pt x="635483" y="210267"/>
                  </a:lnTo>
                  <a:lnTo>
                    <a:pt x="645705" y="251966"/>
                  </a:lnTo>
                  <a:lnTo>
                    <a:pt x="649224" y="295655"/>
                  </a:lnTo>
                  <a:lnTo>
                    <a:pt x="645705" y="339345"/>
                  </a:lnTo>
                  <a:lnTo>
                    <a:pt x="635483" y="381044"/>
                  </a:lnTo>
                  <a:lnTo>
                    <a:pt x="619061" y="420296"/>
                  </a:lnTo>
                  <a:lnTo>
                    <a:pt x="596938" y="456642"/>
                  </a:lnTo>
                  <a:lnTo>
                    <a:pt x="569617" y="489627"/>
                  </a:lnTo>
                  <a:lnTo>
                    <a:pt x="537599" y="518791"/>
                  </a:lnTo>
                  <a:lnTo>
                    <a:pt x="501386" y="543679"/>
                  </a:lnTo>
                  <a:lnTo>
                    <a:pt x="461480" y="563832"/>
                  </a:lnTo>
                  <a:lnTo>
                    <a:pt x="418380" y="578794"/>
                  </a:lnTo>
                  <a:lnTo>
                    <a:pt x="372591" y="588106"/>
                  </a:lnTo>
                  <a:lnTo>
                    <a:pt x="324612" y="591311"/>
                  </a:lnTo>
                  <a:lnTo>
                    <a:pt x="276632" y="588106"/>
                  </a:lnTo>
                  <a:lnTo>
                    <a:pt x="230843" y="578794"/>
                  </a:lnTo>
                  <a:lnTo>
                    <a:pt x="187743" y="563832"/>
                  </a:lnTo>
                  <a:lnTo>
                    <a:pt x="147837" y="543679"/>
                  </a:lnTo>
                  <a:lnTo>
                    <a:pt x="111624" y="518791"/>
                  </a:lnTo>
                  <a:lnTo>
                    <a:pt x="79606" y="489627"/>
                  </a:lnTo>
                  <a:lnTo>
                    <a:pt x="52285" y="456642"/>
                  </a:lnTo>
                  <a:lnTo>
                    <a:pt x="30162" y="420296"/>
                  </a:lnTo>
                  <a:lnTo>
                    <a:pt x="13740" y="381044"/>
                  </a:lnTo>
                  <a:lnTo>
                    <a:pt x="3518" y="339345"/>
                  </a:lnTo>
                  <a:lnTo>
                    <a:pt x="0" y="295655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222101" y="567456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93981" y="6566652"/>
            <a:ext cx="19812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</a:pPr>
            <a:r>
              <a:rPr sz="1400" dirty="0">
                <a:solidFill>
                  <a:srgbClr val="EC8428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78180"/>
            <a:ext cx="3686810" cy="1938655"/>
          </a:xfrm>
          <a:custGeom>
            <a:avLst/>
            <a:gdLst/>
            <a:ahLst/>
            <a:cxnLst/>
            <a:rect l="l" t="t" r="r" b="b"/>
            <a:pathLst>
              <a:path w="3686810" h="1938655">
                <a:moveTo>
                  <a:pt x="3686555" y="0"/>
                </a:moveTo>
                <a:lnTo>
                  <a:pt x="0" y="0"/>
                </a:lnTo>
                <a:lnTo>
                  <a:pt x="0" y="1938527"/>
                </a:lnTo>
                <a:lnTo>
                  <a:pt x="3686555" y="1938527"/>
                </a:lnTo>
                <a:lnTo>
                  <a:pt x="3686555" y="0"/>
                </a:lnTo>
                <a:close/>
              </a:path>
            </a:pathLst>
          </a:custGeom>
          <a:solidFill>
            <a:srgbClr val="F8CE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40" y="704214"/>
            <a:ext cx="1085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27050" algn="l"/>
              </a:tabLst>
            </a:pPr>
            <a:r>
              <a:rPr sz="2000" spc="-160" dirty="0">
                <a:latin typeface="Cambria"/>
                <a:cs typeface="Cambria"/>
              </a:rPr>
              <a:t>T</a:t>
            </a:r>
            <a:r>
              <a:rPr sz="2000" dirty="0">
                <a:latin typeface="Cambria"/>
                <a:cs typeface="Cambria"/>
              </a:rPr>
              <a:t>o	</a:t>
            </a:r>
            <a:r>
              <a:rPr sz="2000" spc="-5" dirty="0">
                <a:latin typeface="Cambria"/>
                <a:cs typeface="Cambria"/>
              </a:rPr>
              <a:t>me</a:t>
            </a:r>
            <a:r>
              <a:rPr sz="2000" spc="-15" dirty="0">
                <a:latin typeface="Cambria"/>
                <a:cs typeface="Cambria"/>
              </a:rPr>
              <a:t>e</a:t>
            </a:r>
            <a:r>
              <a:rPr sz="2000" dirty="0">
                <a:latin typeface="Cambria"/>
                <a:cs typeface="Cambria"/>
              </a:rPr>
              <a:t>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2394" y="704214"/>
            <a:ext cx="2184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610870" algn="l"/>
              </a:tabLst>
            </a:pPr>
            <a:r>
              <a:rPr sz="2000" spc="-5" dirty="0">
                <a:latin typeface="Cambria"/>
                <a:cs typeface="Cambria"/>
              </a:rPr>
              <a:t>the	</a:t>
            </a:r>
            <a:r>
              <a:rPr sz="2000" spc="-10" dirty="0">
                <a:latin typeface="Cambria"/>
                <a:cs typeface="Cambria"/>
              </a:rPr>
              <a:t>organizational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640" y="1009014"/>
            <a:ext cx="26060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mbria"/>
                <a:cs typeface="Cambria"/>
              </a:rPr>
              <a:t>requirements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managers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640" y="1313814"/>
            <a:ext cx="219392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6565" indent="-4565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56565" algn="l"/>
                <a:tab pos="457200" algn="l"/>
              </a:tabLst>
            </a:pPr>
            <a:r>
              <a:rPr sz="2000" dirty="0">
                <a:latin typeface="Cambria"/>
                <a:cs typeface="Cambria"/>
              </a:rPr>
              <a:t>Recruit,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2000" dirty="0">
                <a:latin typeface="Cambria"/>
                <a:cs typeface="Cambria"/>
              </a:rPr>
              <a:t>Select,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2000" dirty="0">
                <a:latin typeface="Cambria"/>
                <a:cs typeface="Cambria"/>
              </a:rPr>
              <a:t>Place</a:t>
            </a:r>
            <a:endParaRPr sz="2000">
              <a:latin typeface="Cambria"/>
              <a:cs typeface="Cambria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2000" dirty="0">
                <a:latin typeface="Cambria"/>
                <a:cs typeface="Cambria"/>
              </a:rPr>
              <a:t>P</a:t>
            </a:r>
            <a:r>
              <a:rPr sz="2000" spc="-20" dirty="0">
                <a:latin typeface="Cambria"/>
                <a:cs typeface="Cambria"/>
              </a:rPr>
              <a:t>r</a:t>
            </a:r>
            <a:r>
              <a:rPr sz="2000" dirty="0">
                <a:latin typeface="Cambria"/>
                <a:cs typeface="Cambria"/>
              </a:rPr>
              <a:t>o</a:t>
            </a:r>
            <a:r>
              <a:rPr sz="2000" spc="-5" dirty="0">
                <a:latin typeface="Cambria"/>
                <a:cs typeface="Cambria"/>
              </a:rPr>
              <a:t>m</a:t>
            </a:r>
            <a:r>
              <a:rPr sz="2000" spc="5" dirty="0">
                <a:latin typeface="Cambria"/>
                <a:cs typeface="Cambria"/>
              </a:rPr>
              <a:t>o</a:t>
            </a:r>
            <a:r>
              <a:rPr sz="2000" spc="-15" dirty="0">
                <a:latin typeface="Cambria"/>
                <a:cs typeface="Cambria"/>
              </a:rPr>
              <a:t>t</a:t>
            </a:r>
            <a:r>
              <a:rPr sz="2000" dirty="0">
                <a:latin typeface="Cambria"/>
                <a:cs typeface="Cambria"/>
              </a:rPr>
              <a:t>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35" dirty="0">
                <a:latin typeface="Cambria"/>
                <a:cs typeface="Cambria"/>
              </a:rPr>
              <a:t>P</a:t>
            </a:r>
            <a:r>
              <a:rPr sz="2000" dirty="0">
                <a:latin typeface="Cambria"/>
                <a:cs typeface="Cambria"/>
              </a:rPr>
              <a:t>eople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59479" y="2036064"/>
            <a:ext cx="690880" cy="586740"/>
            <a:chOff x="3459479" y="2036064"/>
            <a:chExt cx="690880" cy="586740"/>
          </a:xfrm>
        </p:grpSpPr>
        <p:sp>
          <p:nvSpPr>
            <p:cNvPr id="9" name="object 9"/>
            <p:cNvSpPr/>
            <p:nvPr/>
          </p:nvSpPr>
          <p:spPr>
            <a:xfrm>
              <a:off x="3465575" y="2042160"/>
              <a:ext cx="678180" cy="574675"/>
            </a:xfrm>
            <a:custGeom>
              <a:avLst/>
              <a:gdLst/>
              <a:ahLst/>
              <a:cxnLst/>
              <a:rect l="l" t="t" r="r" b="b"/>
              <a:pathLst>
                <a:path w="678179" h="574675">
                  <a:moveTo>
                    <a:pt x="339089" y="0"/>
                  </a:moveTo>
                  <a:lnTo>
                    <a:pt x="288970" y="3115"/>
                  </a:lnTo>
                  <a:lnTo>
                    <a:pt x="241137" y="12165"/>
                  </a:lnTo>
                  <a:lnTo>
                    <a:pt x="196116" y="26705"/>
                  </a:lnTo>
                  <a:lnTo>
                    <a:pt x="154429" y="46290"/>
                  </a:lnTo>
                  <a:lnTo>
                    <a:pt x="116601" y="70474"/>
                  </a:lnTo>
                  <a:lnTo>
                    <a:pt x="83155" y="98814"/>
                  </a:lnTo>
                  <a:lnTo>
                    <a:pt x="54616" y="130865"/>
                  </a:lnTo>
                  <a:lnTo>
                    <a:pt x="31507" y="166181"/>
                  </a:lnTo>
                  <a:lnTo>
                    <a:pt x="14352" y="204317"/>
                  </a:lnTo>
                  <a:lnTo>
                    <a:pt x="3675" y="244830"/>
                  </a:lnTo>
                  <a:lnTo>
                    <a:pt x="0" y="287274"/>
                  </a:lnTo>
                  <a:lnTo>
                    <a:pt x="3675" y="329717"/>
                  </a:lnTo>
                  <a:lnTo>
                    <a:pt x="14352" y="370230"/>
                  </a:lnTo>
                  <a:lnTo>
                    <a:pt x="31507" y="408366"/>
                  </a:lnTo>
                  <a:lnTo>
                    <a:pt x="54616" y="443682"/>
                  </a:lnTo>
                  <a:lnTo>
                    <a:pt x="83155" y="475733"/>
                  </a:lnTo>
                  <a:lnTo>
                    <a:pt x="116601" y="504073"/>
                  </a:lnTo>
                  <a:lnTo>
                    <a:pt x="154429" y="528257"/>
                  </a:lnTo>
                  <a:lnTo>
                    <a:pt x="196116" y="547842"/>
                  </a:lnTo>
                  <a:lnTo>
                    <a:pt x="241137" y="562382"/>
                  </a:lnTo>
                  <a:lnTo>
                    <a:pt x="288970" y="571432"/>
                  </a:lnTo>
                  <a:lnTo>
                    <a:pt x="339089" y="574548"/>
                  </a:lnTo>
                  <a:lnTo>
                    <a:pt x="389209" y="571432"/>
                  </a:lnTo>
                  <a:lnTo>
                    <a:pt x="437042" y="562382"/>
                  </a:lnTo>
                  <a:lnTo>
                    <a:pt x="482063" y="547842"/>
                  </a:lnTo>
                  <a:lnTo>
                    <a:pt x="523750" y="528257"/>
                  </a:lnTo>
                  <a:lnTo>
                    <a:pt x="561578" y="504073"/>
                  </a:lnTo>
                  <a:lnTo>
                    <a:pt x="595024" y="475733"/>
                  </a:lnTo>
                  <a:lnTo>
                    <a:pt x="623563" y="443682"/>
                  </a:lnTo>
                  <a:lnTo>
                    <a:pt x="646672" y="408366"/>
                  </a:lnTo>
                  <a:lnTo>
                    <a:pt x="663827" y="370230"/>
                  </a:lnTo>
                  <a:lnTo>
                    <a:pt x="674504" y="329717"/>
                  </a:lnTo>
                  <a:lnTo>
                    <a:pt x="678179" y="287274"/>
                  </a:lnTo>
                  <a:lnTo>
                    <a:pt x="674504" y="244830"/>
                  </a:lnTo>
                  <a:lnTo>
                    <a:pt x="663827" y="204317"/>
                  </a:lnTo>
                  <a:lnTo>
                    <a:pt x="646672" y="166181"/>
                  </a:lnTo>
                  <a:lnTo>
                    <a:pt x="623563" y="130865"/>
                  </a:lnTo>
                  <a:lnTo>
                    <a:pt x="595024" y="98814"/>
                  </a:lnTo>
                  <a:lnTo>
                    <a:pt x="561578" y="70474"/>
                  </a:lnTo>
                  <a:lnTo>
                    <a:pt x="523750" y="46290"/>
                  </a:lnTo>
                  <a:lnTo>
                    <a:pt x="482063" y="26705"/>
                  </a:lnTo>
                  <a:lnTo>
                    <a:pt x="437042" y="12165"/>
                  </a:lnTo>
                  <a:lnTo>
                    <a:pt x="389209" y="3115"/>
                  </a:lnTo>
                  <a:lnTo>
                    <a:pt x="339089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5575" y="2042160"/>
              <a:ext cx="678180" cy="574675"/>
            </a:xfrm>
            <a:custGeom>
              <a:avLst/>
              <a:gdLst/>
              <a:ahLst/>
              <a:cxnLst/>
              <a:rect l="l" t="t" r="r" b="b"/>
              <a:pathLst>
                <a:path w="678179" h="574675">
                  <a:moveTo>
                    <a:pt x="0" y="287274"/>
                  </a:moveTo>
                  <a:lnTo>
                    <a:pt x="3675" y="244830"/>
                  </a:lnTo>
                  <a:lnTo>
                    <a:pt x="14352" y="204317"/>
                  </a:lnTo>
                  <a:lnTo>
                    <a:pt x="31507" y="166181"/>
                  </a:lnTo>
                  <a:lnTo>
                    <a:pt x="54616" y="130865"/>
                  </a:lnTo>
                  <a:lnTo>
                    <a:pt x="83155" y="98814"/>
                  </a:lnTo>
                  <a:lnTo>
                    <a:pt x="116601" y="70474"/>
                  </a:lnTo>
                  <a:lnTo>
                    <a:pt x="154429" y="46290"/>
                  </a:lnTo>
                  <a:lnTo>
                    <a:pt x="196116" y="26705"/>
                  </a:lnTo>
                  <a:lnTo>
                    <a:pt x="241137" y="12165"/>
                  </a:lnTo>
                  <a:lnTo>
                    <a:pt x="288970" y="3115"/>
                  </a:lnTo>
                  <a:lnTo>
                    <a:pt x="339089" y="0"/>
                  </a:lnTo>
                  <a:lnTo>
                    <a:pt x="389209" y="3115"/>
                  </a:lnTo>
                  <a:lnTo>
                    <a:pt x="437042" y="12165"/>
                  </a:lnTo>
                  <a:lnTo>
                    <a:pt x="482063" y="26705"/>
                  </a:lnTo>
                  <a:lnTo>
                    <a:pt x="523750" y="46290"/>
                  </a:lnTo>
                  <a:lnTo>
                    <a:pt x="561578" y="70474"/>
                  </a:lnTo>
                  <a:lnTo>
                    <a:pt x="595024" y="98814"/>
                  </a:lnTo>
                  <a:lnTo>
                    <a:pt x="623563" y="130865"/>
                  </a:lnTo>
                  <a:lnTo>
                    <a:pt x="646672" y="166181"/>
                  </a:lnTo>
                  <a:lnTo>
                    <a:pt x="663827" y="204317"/>
                  </a:lnTo>
                  <a:lnTo>
                    <a:pt x="674504" y="244830"/>
                  </a:lnTo>
                  <a:lnTo>
                    <a:pt x="678179" y="287274"/>
                  </a:lnTo>
                  <a:lnTo>
                    <a:pt x="674504" y="329717"/>
                  </a:lnTo>
                  <a:lnTo>
                    <a:pt x="663827" y="370230"/>
                  </a:lnTo>
                  <a:lnTo>
                    <a:pt x="646672" y="408366"/>
                  </a:lnTo>
                  <a:lnTo>
                    <a:pt x="623563" y="443682"/>
                  </a:lnTo>
                  <a:lnTo>
                    <a:pt x="595024" y="475733"/>
                  </a:lnTo>
                  <a:lnTo>
                    <a:pt x="561578" y="504073"/>
                  </a:lnTo>
                  <a:lnTo>
                    <a:pt x="523750" y="528257"/>
                  </a:lnTo>
                  <a:lnTo>
                    <a:pt x="482063" y="547842"/>
                  </a:lnTo>
                  <a:lnTo>
                    <a:pt x="437042" y="562382"/>
                  </a:lnTo>
                  <a:lnTo>
                    <a:pt x="389209" y="571432"/>
                  </a:lnTo>
                  <a:lnTo>
                    <a:pt x="339089" y="574548"/>
                  </a:lnTo>
                  <a:lnTo>
                    <a:pt x="288970" y="571432"/>
                  </a:lnTo>
                  <a:lnTo>
                    <a:pt x="241137" y="562382"/>
                  </a:lnTo>
                  <a:lnTo>
                    <a:pt x="196116" y="547842"/>
                  </a:lnTo>
                  <a:lnTo>
                    <a:pt x="154429" y="528257"/>
                  </a:lnTo>
                  <a:lnTo>
                    <a:pt x="116601" y="504073"/>
                  </a:lnTo>
                  <a:lnTo>
                    <a:pt x="83155" y="475733"/>
                  </a:lnTo>
                  <a:lnTo>
                    <a:pt x="54616" y="443682"/>
                  </a:lnTo>
                  <a:lnTo>
                    <a:pt x="31507" y="408366"/>
                  </a:lnTo>
                  <a:lnTo>
                    <a:pt x="14352" y="370230"/>
                  </a:lnTo>
                  <a:lnTo>
                    <a:pt x="3675" y="329717"/>
                  </a:lnTo>
                  <a:lnTo>
                    <a:pt x="0" y="287274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35578" y="2157171"/>
            <a:ext cx="154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581" y="2793949"/>
            <a:ext cx="377825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Done </a:t>
            </a:r>
            <a:r>
              <a:rPr sz="2000" b="1" spc="-25" dirty="0">
                <a:solidFill>
                  <a:srgbClr val="C00000"/>
                </a:solidFill>
                <a:latin typeface="Cambria"/>
                <a:cs typeface="Cambria"/>
              </a:rPr>
              <a:t>by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considering </a:t>
            </a:r>
            <a:r>
              <a:rPr sz="2000" b="1" spc="-5" dirty="0">
                <a:solidFill>
                  <a:srgbClr val="00AF50"/>
                </a:solidFill>
                <a:latin typeface="Cambria"/>
                <a:cs typeface="Cambria"/>
              </a:rPr>
              <a:t>internal </a:t>
            </a:r>
            <a:r>
              <a:rPr sz="2000" b="1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environment 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(</a:t>
            </a:r>
            <a:r>
              <a:rPr sz="2000" b="1" spc="-15" dirty="0">
                <a:solidFill>
                  <a:srgbClr val="475055"/>
                </a:solidFill>
                <a:latin typeface="Cambria"/>
                <a:cs typeface="Cambria"/>
              </a:rPr>
              <a:t>company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policies, </a:t>
            </a:r>
            <a:r>
              <a:rPr sz="2000" b="1" spc="-430" dirty="0">
                <a:solidFill>
                  <a:srgbClr val="475055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manager </a:t>
            </a:r>
            <a:r>
              <a:rPr sz="2000" b="1" spc="-10" dirty="0">
                <a:solidFill>
                  <a:srgbClr val="475055"/>
                </a:solidFill>
                <a:latin typeface="Cambria"/>
                <a:cs typeface="Cambria"/>
              </a:rPr>
              <a:t>supply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and </a:t>
            </a:r>
            <a:r>
              <a:rPr sz="2000" b="1" dirty="0">
                <a:solidFill>
                  <a:srgbClr val="475055"/>
                </a:solidFill>
                <a:latin typeface="Cambria"/>
                <a:cs typeface="Cambria"/>
              </a:rPr>
              <a:t>demand, </a:t>
            </a:r>
            <a:r>
              <a:rPr sz="2000" b="1" spc="5" dirty="0">
                <a:solidFill>
                  <a:srgbClr val="475055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organizational climate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) and 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external environment 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(</a:t>
            </a:r>
            <a:r>
              <a:rPr sz="2000" b="1" spc="-20" dirty="0">
                <a:solidFill>
                  <a:srgbClr val="475055"/>
                </a:solidFill>
                <a:latin typeface="Cambria"/>
                <a:cs typeface="Cambria"/>
              </a:rPr>
              <a:t>laws, </a:t>
            </a:r>
            <a:r>
              <a:rPr sz="2000" b="1" spc="-15" dirty="0">
                <a:solidFill>
                  <a:srgbClr val="475055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regulations, </a:t>
            </a:r>
            <a:r>
              <a:rPr sz="2000" b="1" spc="-15" dirty="0">
                <a:solidFill>
                  <a:srgbClr val="475055"/>
                </a:solidFill>
                <a:latin typeface="Cambria"/>
                <a:cs typeface="Cambria"/>
              </a:rPr>
              <a:t>availability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of </a:t>
            </a:r>
            <a:r>
              <a:rPr sz="2000" b="1" dirty="0">
                <a:solidFill>
                  <a:srgbClr val="475055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475055"/>
                </a:solidFill>
                <a:latin typeface="Cambria"/>
                <a:cs typeface="Cambria"/>
              </a:rPr>
              <a:t>managers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66815" y="678180"/>
            <a:ext cx="3472179" cy="2560955"/>
            <a:chOff x="5766815" y="678180"/>
            <a:chExt cx="3472179" cy="2560955"/>
          </a:xfrm>
        </p:grpSpPr>
        <p:sp>
          <p:nvSpPr>
            <p:cNvPr id="14" name="object 14"/>
            <p:cNvSpPr/>
            <p:nvPr/>
          </p:nvSpPr>
          <p:spPr>
            <a:xfrm>
              <a:off x="5766815" y="678180"/>
              <a:ext cx="3465829" cy="2554605"/>
            </a:xfrm>
            <a:custGeom>
              <a:avLst/>
              <a:gdLst/>
              <a:ahLst/>
              <a:cxnLst/>
              <a:rect l="l" t="t" r="r" b="b"/>
              <a:pathLst>
                <a:path w="3465829" h="2554605">
                  <a:moveTo>
                    <a:pt x="3465576" y="0"/>
                  </a:moveTo>
                  <a:lnTo>
                    <a:pt x="0" y="0"/>
                  </a:lnTo>
                  <a:lnTo>
                    <a:pt x="0" y="2554224"/>
                  </a:lnTo>
                  <a:lnTo>
                    <a:pt x="3465576" y="2554224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F8C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54211" y="2657856"/>
              <a:ext cx="678180" cy="574675"/>
            </a:xfrm>
            <a:custGeom>
              <a:avLst/>
              <a:gdLst/>
              <a:ahLst/>
              <a:cxnLst/>
              <a:rect l="l" t="t" r="r" b="b"/>
              <a:pathLst>
                <a:path w="678179" h="574675">
                  <a:moveTo>
                    <a:pt x="339090" y="0"/>
                  </a:moveTo>
                  <a:lnTo>
                    <a:pt x="288970" y="3115"/>
                  </a:lnTo>
                  <a:lnTo>
                    <a:pt x="241137" y="12165"/>
                  </a:lnTo>
                  <a:lnTo>
                    <a:pt x="196116" y="26705"/>
                  </a:lnTo>
                  <a:lnTo>
                    <a:pt x="154429" y="46290"/>
                  </a:lnTo>
                  <a:lnTo>
                    <a:pt x="116601" y="70474"/>
                  </a:lnTo>
                  <a:lnTo>
                    <a:pt x="83155" y="98814"/>
                  </a:lnTo>
                  <a:lnTo>
                    <a:pt x="54616" y="130865"/>
                  </a:lnTo>
                  <a:lnTo>
                    <a:pt x="31507" y="166181"/>
                  </a:lnTo>
                  <a:lnTo>
                    <a:pt x="14352" y="204317"/>
                  </a:lnTo>
                  <a:lnTo>
                    <a:pt x="3675" y="244830"/>
                  </a:lnTo>
                  <a:lnTo>
                    <a:pt x="0" y="287274"/>
                  </a:lnTo>
                  <a:lnTo>
                    <a:pt x="3675" y="329717"/>
                  </a:lnTo>
                  <a:lnTo>
                    <a:pt x="14352" y="370230"/>
                  </a:lnTo>
                  <a:lnTo>
                    <a:pt x="31507" y="408366"/>
                  </a:lnTo>
                  <a:lnTo>
                    <a:pt x="54616" y="443682"/>
                  </a:lnTo>
                  <a:lnTo>
                    <a:pt x="83155" y="475733"/>
                  </a:lnTo>
                  <a:lnTo>
                    <a:pt x="116601" y="504073"/>
                  </a:lnTo>
                  <a:lnTo>
                    <a:pt x="154429" y="528257"/>
                  </a:lnTo>
                  <a:lnTo>
                    <a:pt x="196116" y="547842"/>
                  </a:lnTo>
                  <a:lnTo>
                    <a:pt x="241137" y="562382"/>
                  </a:lnTo>
                  <a:lnTo>
                    <a:pt x="288970" y="571432"/>
                  </a:lnTo>
                  <a:lnTo>
                    <a:pt x="339090" y="574548"/>
                  </a:lnTo>
                  <a:lnTo>
                    <a:pt x="389209" y="571432"/>
                  </a:lnTo>
                  <a:lnTo>
                    <a:pt x="437042" y="562382"/>
                  </a:lnTo>
                  <a:lnTo>
                    <a:pt x="482063" y="547842"/>
                  </a:lnTo>
                  <a:lnTo>
                    <a:pt x="523750" y="528257"/>
                  </a:lnTo>
                  <a:lnTo>
                    <a:pt x="561578" y="504073"/>
                  </a:lnTo>
                  <a:lnTo>
                    <a:pt x="595024" y="475733"/>
                  </a:lnTo>
                  <a:lnTo>
                    <a:pt x="623563" y="443682"/>
                  </a:lnTo>
                  <a:lnTo>
                    <a:pt x="646672" y="408366"/>
                  </a:lnTo>
                  <a:lnTo>
                    <a:pt x="663827" y="370230"/>
                  </a:lnTo>
                  <a:lnTo>
                    <a:pt x="674504" y="329717"/>
                  </a:lnTo>
                  <a:lnTo>
                    <a:pt x="678180" y="287274"/>
                  </a:lnTo>
                  <a:lnTo>
                    <a:pt x="674504" y="244830"/>
                  </a:lnTo>
                  <a:lnTo>
                    <a:pt x="663827" y="204317"/>
                  </a:lnTo>
                  <a:lnTo>
                    <a:pt x="646672" y="166181"/>
                  </a:lnTo>
                  <a:lnTo>
                    <a:pt x="623563" y="130865"/>
                  </a:lnTo>
                  <a:lnTo>
                    <a:pt x="595024" y="98814"/>
                  </a:lnTo>
                  <a:lnTo>
                    <a:pt x="561578" y="70474"/>
                  </a:lnTo>
                  <a:lnTo>
                    <a:pt x="523750" y="46290"/>
                  </a:lnTo>
                  <a:lnTo>
                    <a:pt x="482063" y="26705"/>
                  </a:lnTo>
                  <a:lnTo>
                    <a:pt x="437042" y="12165"/>
                  </a:lnTo>
                  <a:lnTo>
                    <a:pt x="389209" y="3115"/>
                  </a:lnTo>
                  <a:lnTo>
                    <a:pt x="339090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54211" y="2657856"/>
              <a:ext cx="678180" cy="574675"/>
            </a:xfrm>
            <a:custGeom>
              <a:avLst/>
              <a:gdLst/>
              <a:ahLst/>
              <a:cxnLst/>
              <a:rect l="l" t="t" r="r" b="b"/>
              <a:pathLst>
                <a:path w="678179" h="574675">
                  <a:moveTo>
                    <a:pt x="0" y="287274"/>
                  </a:moveTo>
                  <a:lnTo>
                    <a:pt x="3675" y="244830"/>
                  </a:lnTo>
                  <a:lnTo>
                    <a:pt x="14352" y="204317"/>
                  </a:lnTo>
                  <a:lnTo>
                    <a:pt x="31507" y="166181"/>
                  </a:lnTo>
                  <a:lnTo>
                    <a:pt x="54616" y="130865"/>
                  </a:lnTo>
                  <a:lnTo>
                    <a:pt x="83155" y="98814"/>
                  </a:lnTo>
                  <a:lnTo>
                    <a:pt x="116601" y="70474"/>
                  </a:lnTo>
                  <a:lnTo>
                    <a:pt x="154429" y="46290"/>
                  </a:lnTo>
                  <a:lnTo>
                    <a:pt x="196116" y="26705"/>
                  </a:lnTo>
                  <a:lnTo>
                    <a:pt x="241137" y="12165"/>
                  </a:lnTo>
                  <a:lnTo>
                    <a:pt x="288970" y="3115"/>
                  </a:lnTo>
                  <a:lnTo>
                    <a:pt x="339090" y="0"/>
                  </a:lnTo>
                  <a:lnTo>
                    <a:pt x="389209" y="3115"/>
                  </a:lnTo>
                  <a:lnTo>
                    <a:pt x="437042" y="12165"/>
                  </a:lnTo>
                  <a:lnTo>
                    <a:pt x="482063" y="26705"/>
                  </a:lnTo>
                  <a:lnTo>
                    <a:pt x="523750" y="46290"/>
                  </a:lnTo>
                  <a:lnTo>
                    <a:pt x="561578" y="70474"/>
                  </a:lnTo>
                  <a:lnTo>
                    <a:pt x="595024" y="98814"/>
                  </a:lnTo>
                  <a:lnTo>
                    <a:pt x="623563" y="130865"/>
                  </a:lnTo>
                  <a:lnTo>
                    <a:pt x="646672" y="166181"/>
                  </a:lnTo>
                  <a:lnTo>
                    <a:pt x="663827" y="204317"/>
                  </a:lnTo>
                  <a:lnTo>
                    <a:pt x="674504" y="244830"/>
                  </a:lnTo>
                  <a:lnTo>
                    <a:pt x="678180" y="287274"/>
                  </a:lnTo>
                  <a:lnTo>
                    <a:pt x="674504" y="329717"/>
                  </a:lnTo>
                  <a:lnTo>
                    <a:pt x="663827" y="370230"/>
                  </a:lnTo>
                  <a:lnTo>
                    <a:pt x="646672" y="408366"/>
                  </a:lnTo>
                  <a:lnTo>
                    <a:pt x="623563" y="443682"/>
                  </a:lnTo>
                  <a:lnTo>
                    <a:pt x="595024" y="475733"/>
                  </a:lnTo>
                  <a:lnTo>
                    <a:pt x="561578" y="504073"/>
                  </a:lnTo>
                  <a:lnTo>
                    <a:pt x="523750" y="528257"/>
                  </a:lnTo>
                  <a:lnTo>
                    <a:pt x="482063" y="547842"/>
                  </a:lnTo>
                  <a:lnTo>
                    <a:pt x="437042" y="562382"/>
                  </a:lnTo>
                  <a:lnTo>
                    <a:pt x="389209" y="571432"/>
                  </a:lnTo>
                  <a:lnTo>
                    <a:pt x="339090" y="574548"/>
                  </a:lnTo>
                  <a:lnTo>
                    <a:pt x="288970" y="571432"/>
                  </a:lnTo>
                  <a:lnTo>
                    <a:pt x="241137" y="562382"/>
                  </a:lnTo>
                  <a:lnTo>
                    <a:pt x="196116" y="547842"/>
                  </a:lnTo>
                  <a:lnTo>
                    <a:pt x="154429" y="528257"/>
                  </a:lnTo>
                  <a:lnTo>
                    <a:pt x="116601" y="504073"/>
                  </a:lnTo>
                  <a:lnTo>
                    <a:pt x="83155" y="475733"/>
                  </a:lnTo>
                  <a:lnTo>
                    <a:pt x="54616" y="443682"/>
                  </a:lnTo>
                  <a:lnTo>
                    <a:pt x="31507" y="408366"/>
                  </a:lnTo>
                  <a:lnTo>
                    <a:pt x="14352" y="370230"/>
                  </a:lnTo>
                  <a:lnTo>
                    <a:pt x="3675" y="329717"/>
                  </a:lnTo>
                  <a:lnTo>
                    <a:pt x="0" y="287274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66815" y="678180"/>
            <a:ext cx="3465829" cy="255460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92075" marR="82550" algn="just">
              <a:lnSpc>
                <a:spcPct val="100000"/>
              </a:lnSpc>
              <a:spcBef>
                <a:spcPts val="305"/>
              </a:spcBef>
            </a:pPr>
            <a:r>
              <a:rPr sz="2000" spc="-10" dirty="0">
                <a:latin typeface="Cambria"/>
                <a:cs typeface="Cambria"/>
              </a:rPr>
              <a:t>After </a:t>
            </a:r>
            <a:r>
              <a:rPr sz="2000" spc="-5" dirty="0">
                <a:latin typeface="Cambria"/>
                <a:cs typeface="Cambria"/>
              </a:rPr>
              <a:t>selection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placement,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managers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are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introduced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to </a:t>
            </a:r>
            <a:r>
              <a:rPr sz="2000" spc="-5" dirty="0">
                <a:latin typeface="Cambria"/>
                <a:cs typeface="Cambria"/>
              </a:rPr>
              <a:t> new job.</a:t>
            </a:r>
            <a:endParaRPr sz="2000">
              <a:latin typeface="Cambria"/>
              <a:cs typeface="Cambria"/>
            </a:endParaRPr>
          </a:p>
          <a:p>
            <a:pPr marL="92075" marR="80645" algn="just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orientation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involves 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learning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about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company, 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its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operation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its</a:t>
            </a:r>
            <a:r>
              <a:rPr sz="2000" spc="-5" dirty="0">
                <a:latin typeface="Cambria"/>
                <a:cs typeface="Cambria"/>
              </a:rPr>
              <a:t> social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aspects</a:t>
            </a:r>
            <a:endParaRPr sz="2000">
              <a:latin typeface="Cambria"/>
              <a:cs typeface="Cambria"/>
            </a:endParaRPr>
          </a:p>
          <a:p>
            <a:pPr marR="259079" algn="r">
              <a:lnSpc>
                <a:spcPts val="1889"/>
              </a:lnSpc>
            </a:pPr>
            <a:r>
              <a:rPr sz="200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33900" y="1464563"/>
            <a:ext cx="990600" cy="497205"/>
            <a:chOff x="4533900" y="1464563"/>
            <a:chExt cx="990600" cy="497205"/>
          </a:xfrm>
        </p:grpSpPr>
        <p:sp>
          <p:nvSpPr>
            <p:cNvPr id="19" name="object 19"/>
            <p:cNvSpPr/>
            <p:nvPr/>
          </p:nvSpPr>
          <p:spPr>
            <a:xfrm>
              <a:off x="4539995" y="147065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1" y="0"/>
                  </a:moveTo>
                  <a:lnTo>
                    <a:pt x="736091" y="121157"/>
                  </a:lnTo>
                  <a:lnTo>
                    <a:pt x="0" y="121157"/>
                  </a:lnTo>
                  <a:lnTo>
                    <a:pt x="0" y="363474"/>
                  </a:lnTo>
                  <a:lnTo>
                    <a:pt x="736091" y="363474"/>
                  </a:lnTo>
                  <a:lnTo>
                    <a:pt x="736091" y="484631"/>
                  </a:lnTo>
                  <a:lnTo>
                    <a:pt x="978407" y="242315"/>
                  </a:lnTo>
                  <a:lnTo>
                    <a:pt x="736091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39995" y="147065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4"/>
                  </a:lnTo>
                  <a:lnTo>
                    <a:pt x="0" y="363474"/>
                  </a:lnTo>
                  <a:lnTo>
                    <a:pt x="0" y="121157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4777740" y="4483608"/>
            <a:ext cx="7376159" cy="2246630"/>
          </a:xfrm>
          <a:custGeom>
            <a:avLst/>
            <a:gdLst/>
            <a:ahLst/>
            <a:cxnLst/>
            <a:rect l="l" t="t" r="r" b="b"/>
            <a:pathLst>
              <a:path w="7376159" h="2246629">
                <a:moveTo>
                  <a:pt x="7376159" y="0"/>
                </a:moveTo>
                <a:lnTo>
                  <a:pt x="0" y="0"/>
                </a:lnTo>
                <a:lnTo>
                  <a:pt x="0" y="2246376"/>
                </a:lnTo>
                <a:lnTo>
                  <a:pt x="7376159" y="2246376"/>
                </a:lnTo>
                <a:lnTo>
                  <a:pt x="7376159" y="0"/>
                </a:lnTo>
                <a:close/>
              </a:path>
            </a:pathLst>
          </a:custGeom>
          <a:solidFill>
            <a:srgbClr val="F8CE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58003" y="4509896"/>
            <a:ext cx="72193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newly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placed</a:t>
            </a:r>
            <a:r>
              <a:rPr sz="2000" spc="39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managers</a:t>
            </a:r>
            <a:r>
              <a:rPr sz="2000" spc="4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then</a:t>
            </a:r>
            <a:r>
              <a:rPr sz="2000" spc="39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carry</a:t>
            </a:r>
            <a:r>
              <a:rPr sz="2000" spc="39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out</a:t>
            </a:r>
            <a:r>
              <a:rPr sz="2000" spc="3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their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managerial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00903" y="4814696"/>
            <a:ext cx="68764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1670" algn="l"/>
                <a:tab pos="2536190" algn="l"/>
                <a:tab pos="3790315" algn="l"/>
                <a:tab pos="4439920" algn="l"/>
                <a:tab pos="5647055" algn="l"/>
              </a:tabLst>
            </a:pPr>
            <a:r>
              <a:rPr sz="2000" dirty="0">
                <a:latin typeface="Cambria"/>
                <a:cs typeface="Cambria"/>
              </a:rPr>
              <a:t>and	</a:t>
            </a:r>
            <a:r>
              <a:rPr sz="2000" spc="-5" dirty="0">
                <a:latin typeface="Cambria"/>
                <a:cs typeface="Cambria"/>
              </a:rPr>
              <a:t>nonmanagerial	functions	and	</a:t>
            </a:r>
            <a:r>
              <a:rPr sz="2000" spc="-10" dirty="0">
                <a:latin typeface="Cambria"/>
                <a:cs typeface="Cambria"/>
              </a:rPr>
              <a:t>resulting	managerial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58003" y="5119192"/>
            <a:ext cx="72186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/>
                <a:cs typeface="Cambria"/>
              </a:rPr>
              <a:t>performance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will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eventually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enterprise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performance</a:t>
            </a:r>
            <a:endParaRPr sz="20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mbria"/>
                <a:cs typeface="Cambria"/>
              </a:rPr>
              <a:t>Managers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who</a:t>
            </a:r>
            <a:r>
              <a:rPr sz="2000" spc="-5" dirty="0">
                <a:latin typeface="Cambria"/>
                <a:cs typeface="Cambria"/>
              </a:rPr>
              <a:t> meet</a:t>
            </a:r>
            <a:r>
              <a:rPr sz="200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their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performance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goals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are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rewarded.</a:t>
            </a:r>
            <a:endParaRPr sz="20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mbria"/>
                <a:cs typeface="Cambria"/>
              </a:rPr>
              <a:t>Appraisal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may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also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become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basis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for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promotion,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demotion,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00903" y="6034227"/>
            <a:ext cx="41382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mbria"/>
                <a:cs typeface="Cambria"/>
              </a:rPr>
              <a:t>replacement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retirement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decisions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12152" y="3226307"/>
            <a:ext cx="375285" cy="775970"/>
            <a:chOff x="7312152" y="3226307"/>
            <a:chExt cx="375285" cy="775970"/>
          </a:xfrm>
        </p:grpSpPr>
        <p:sp>
          <p:nvSpPr>
            <p:cNvPr id="27" name="object 27"/>
            <p:cNvSpPr/>
            <p:nvPr/>
          </p:nvSpPr>
          <p:spPr>
            <a:xfrm>
              <a:off x="7318248" y="3232403"/>
              <a:ext cx="363220" cy="763905"/>
            </a:xfrm>
            <a:custGeom>
              <a:avLst/>
              <a:gdLst/>
              <a:ahLst/>
              <a:cxnLst/>
              <a:rect l="l" t="t" r="r" b="b"/>
              <a:pathLst>
                <a:path w="363220" h="763904">
                  <a:moveTo>
                    <a:pt x="272033" y="0"/>
                  </a:moveTo>
                  <a:lnTo>
                    <a:pt x="90677" y="0"/>
                  </a:lnTo>
                  <a:lnTo>
                    <a:pt x="90677" y="582168"/>
                  </a:lnTo>
                  <a:lnTo>
                    <a:pt x="0" y="582168"/>
                  </a:lnTo>
                  <a:lnTo>
                    <a:pt x="181355" y="763524"/>
                  </a:lnTo>
                  <a:lnTo>
                    <a:pt x="362711" y="582168"/>
                  </a:lnTo>
                  <a:lnTo>
                    <a:pt x="272033" y="582168"/>
                  </a:lnTo>
                  <a:lnTo>
                    <a:pt x="272033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18248" y="3232403"/>
              <a:ext cx="363220" cy="763905"/>
            </a:xfrm>
            <a:custGeom>
              <a:avLst/>
              <a:gdLst/>
              <a:ahLst/>
              <a:cxnLst/>
              <a:rect l="l" t="t" r="r" b="b"/>
              <a:pathLst>
                <a:path w="363220" h="763904">
                  <a:moveTo>
                    <a:pt x="272033" y="0"/>
                  </a:moveTo>
                  <a:lnTo>
                    <a:pt x="272033" y="582168"/>
                  </a:lnTo>
                  <a:lnTo>
                    <a:pt x="362711" y="582168"/>
                  </a:lnTo>
                  <a:lnTo>
                    <a:pt x="181355" y="763524"/>
                  </a:lnTo>
                  <a:lnTo>
                    <a:pt x="0" y="582168"/>
                  </a:lnTo>
                  <a:lnTo>
                    <a:pt x="90677" y="582168"/>
                  </a:lnTo>
                  <a:lnTo>
                    <a:pt x="90677" y="0"/>
                  </a:lnTo>
                  <a:lnTo>
                    <a:pt x="272033" y="0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1469623" y="6108191"/>
            <a:ext cx="690880" cy="586740"/>
            <a:chOff x="11469623" y="6108191"/>
            <a:chExt cx="690880" cy="586740"/>
          </a:xfrm>
        </p:grpSpPr>
        <p:sp>
          <p:nvSpPr>
            <p:cNvPr id="30" name="object 30"/>
            <p:cNvSpPr/>
            <p:nvPr/>
          </p:nvSpPr>
          <p:spPr>
            <a:xfrm>
              <a:off x="11475719" y="6114287"/>
              <a:ext cx="678180" cy="574675"/>
            </a:xfrm>
            <a:custGeom>
              <a:avLst/>
              <a:gdLst/>
              <a:ahLst/>
              <a:cxnLst/>
              <a:rect l="l" t="t" r="r" b="b"/>
              <a:pathLst>
                <a:path w="678179" h="574675">
                  <a:moveTo>
                    <a:pt x="339089" y="0"/>
                  </a:moveTo>
                  <a:lnTo>
                    <a:pt x="288970" y="3114"/>
                  </a:lnTo>
                  <a:lnTo>
                    <a:pt x="241137" y="12162"/>
                  </a:lnTo>
                  <a:lnTo>
                    <a:pt x="196116" y="26699"/>
                  </a:lnTo>
                  <a:lnTo>
                    <a:pt x="154429" y="46280"/>
                  </a:lnTo>
                  <a:lnTo>
                    <a:pt x="116601" y="70462"/>
                  </a:lnTo>
                  <a:lnTo>
                    <a:pt x="83155" y="98799"/>
                  </a:lnTo>
                  <a:lnTo>
                    <a:pt x="54616" y="130848"/>
                  </a:lnTo>
                  <a:lnTo>
                    <a:pt x="31507" y="166164"/>
                  </a:lnTo>
                  <a:lnTo>
                    <a:pt x="14352" y="204303"/>
                  </a:lnTo>
                  <a:lnTo>
                    <a:pt x="3675" y="244821"/>
                  </a:lnTo>
                  <a:lnTo>
                    <a:pt x="0" y="287274"/>
                  </a:lnTo>
                  <a:lnTo>
                    <a:pt x="3675" y="329726"/>
                  </a:lnTo>
                  <a:lnTo>
                    <a:pt x="14352" y="370244"/>
                  </a:lnTo>
                  <a:lnTo>
                    <a:pt x="31507" y="408383"/>
                  </a:lnTo>
                  <a:lnTo>
                    <a:pt x="54616" y="443699"/>
                  </a:lnTo>
                  <a:lnTo>
                    <a:pt x="83155" y="475748"/>
                  </a:lnTo>
                  <a:lnTo>
                    <a:pt x="116601" y="504085"/>
                  </a:lnTo>
                  <a:lnTo>
                    <a:pt x="154429" y="528267"/>
                  </a:lnTo>
                  <a:lnTo>
                    <a:pt x="196116" y="547848"/>
                  </a:lnTo>
                  <a:lnTo>
                    <a:pt x="241137" y="562385"/>
                  </a:lnTo>
                  <a:lnTo>
                    <a:pt x="288970" y="571433"/>
                  </a:lnTo>
                  <a:lnTo>
                    <a:pt x="339089" y="574548"/>
                  </a:lnTo>
                  <a:lnTo>
                    <a:pt x="389209" y="571433"/>
                  </a:lnTo>
                  <a:lnTo>
                    <a:pt x="437042" y="562385"/>
                  </a:lnTo>
                  <a:lnTo>
                    <a:pt x="482063" y="547848"/>
                  </a:lnTo>
                  <a:lnTo>
                    <a:pt x="523750" y="528267"/>
                  </a:lnTo>
                  <a:lnTo>
                    <a:pt x="561578" y="504085"/>
                  </a:lnTo>
                  <a:lnTo>
                    <a:pt x="595024" y="475748"/>
                  </a:lnTo>
                  <a:lnTo>
                    <a:pt x="623563" y="443699"/>
                  </a:lnTo>
                  <a:lnTo>
                    <a:pt x="646672" y="408383"/>
                  </a:lnTo>
                  <a:lnTo>
                    <a:pt x="663827" y="370244"/>
                  </a:lnTo>
                  <a:lnTo>
                    <a:pt x="674504" y="329726"/>
                  </a:lnTo>
                  <a:lnTo>
                    <a:pt x="678179" y="287274"/>
                  </a:lnTo>
                  <a:lnTo>
                    <a:pt x="674504" y="244821"/>
                  </a:lnTo>
                  <a:lnTo>
                    <a:pt x="663827" y="204303"/>
                  </a:lnTo>
                  <a:lnTo>
                    <a:pt x="646672" y="166164"/>
                  </a:lnTo>
                  <a:lnTo>
                    <a:pt x="623563" y="130848"/>
                  </a:lnTo>
                  <a:lnTo>
                    <a:pt x="595024" y="98799"/>
                  </a:lnTo>
                  <a:lnTo>
                    <a:pt x="561578" y="70462"/>
                  </a:lnTo>
                  <a:lnTo>
                    <a:pt x="523750" y="46280"/>
                  </a:lnTo>
                  <a:lnTo>
                    <a:pt x="482063" y="26699"/>
                  </a:lnTo>
                  <a:lnTo>
                    <a:pt x="437042" y="12162"/>
                  </a:lnTo>
                  <a:lnTo>
                    <a:pt x="389209" y="3114"/>
                  </a:lnTo>
                  <a:lnTo>
                    <a:pt x="339089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475719" y="6114287"/>
              <a:ext cx="678180" cy="574675"/>
            </a:xfrm>
            <a:custGeom>
              <a:avLst/>
              <a:gdLst/>
              <a:ahLst/>
              <a:cxnLst/>
              <a:rect l="l" t="t" r="r" b="b"/>
              <a:pathLst>
                <a:path w="678179" h="574675">
                  <a:moveTo>
                    <a:pt x="0" y="287274"/>
                  </a:moveTo>
                  <a:lnTo>
                    <a:pt x="3675" y="244821"/>
                  </a:lnTo>
                  <a:lnTo>
                    <a:pt x="14352" y="204303"/>
                  </a:lnTo>
                  <a:lnTo>
                    <a:pt x="31507" y="166164"/>
                  </a:lnTo>
                  <a:lnTo>
                    <a:pt x="54616" y="130848"/>
                  </a:lnTo>
                  <a:lnTo>
                    <a:pt x="83155" y="98799"/>
                  </a:lnTo>
                  <a:lnTo>
                    <a:pt x="116601" y="70462"/>
                  </a:lnTo>
                  <a:lnTo>
                    <a:pt x="154429" y="46280"/>
                  </a:lnTo>
                  <a:lnTo>
                    <a:pt x="196116" y="26699"/>
                  </a:lnTo>
                  <a:lnTo>
                    <a:pt x="241137" y="12162"/>
                  </a:lnTo>
                  <a:lnTo>
                    <a:pt x="288970" y="3114"/>
                  </a:lnTo>
                  <a:lnTo>
                    <a:pt x="339089" y="0"/>
                  </a:lnTo>
                  <a:lnTo>
                    <a:pt x="389209" y="3114"/>
                  </a:lnTo>
                  <a:lnTo>
                    <a:pt x="437042" y="12162"/>
                  </a:lnTo>
                  <a:lnTo>
                    <a:pt x="482063" y="26699"/>
                  </a:lnTo>
                  <a:lnTo>
                    <a:pt x="523750" y="46280"/>
                  </a:lnTo>
                  <a:lnTo>
                    <a:pt x="561578" y="70462"/>
                  </a:lnTo>
                  <a:lnTo>
                    <a:pt x="595024" y="98799"/>
                  </a:lnTo>
                  <a:lnTo>
                    <a:pt x="623563" y="130848"/>
                  </a:lnTo>
                  <a:lnTo>
                    <a:pt x="646672" y="166164"/>
                  </a:lnTo>
                  <a:lnTo>
                    <a:pt x="663827" y="204303"/>
                  </a:lnTo>
                  <a:lnTo>
                    <a:pt x="674504" y="244821"/>
                  </a:lnTo>
                  <a:lnTo>
                    <a:pt x="678179" y="287274"/>
                  </a:lnTo>
                  <a:lnTo>
                    <a:pt x="674504" y="329726"/>
                  </a:lnTo>
                  <a:lnTo>
                    <a:pt x="663827" y="370244"/>
                  </a:lnTo>
                  <a:lnTo>
                    <a:pt x="646672" y="408383"/>
                  </a:lnTo>
                  <a:lnTo>
                    <a:pt x="623563" y="443699"/>
                  </a:lnTo>
                  <a:lnTo>
                    <a:pt x="595024" y="475748"/>
                  </a:lnTo>
                  <a:lnTo>
                    <a:pt x="561578" y="504085"/>
                  </a:lnTo>
                  <a:lnTo>
                    <a:pt x="523750" y="528267"/>
                  </a:lnTo>
                  <a:lnTo>
                    <a:pt x="482063" y="547848"/>
                  </a:lnTo>
                  <a:lnTo>
                    <a:pt x="437042" y="562385"/>
                  </a:lnTo>
                  <a:lnTo>
                    <a:pt x="389209" y="571433"/>
                  </a:lnTo>
                  <a:lnTo>
                    <a:pt x="339089" y="574548"/>
                  </a:lnTo>
                  <a:lnTo>
                    <a:pt x="288970" y="571433"/>
                  </a:lnTo>
                  <a:lnTo>
                    <a:pt x="241137" y="562385"/>
                  </a:lnTo>
                  <a:lnTo>
                    <a:pt x="196116" y="547848"/>
                  </a:lnTo>
                  <a:lnTo>
                    <a:pt x="154429" y="528267"/>
                  </a:lnTo>
                  <a:lnTo>
                    <a:pt x="116601" y="504085"/>
                  </a:lnTo>
                  <a:lnTo>
                    <a:pt x="83155" y="475748"/>
                  </a:lnTo>
                  <a:lnTo>
                    <a:pt x="54616" y="443699"/>
                  </a:lnTo>
                  <a:lnTo>
                    <a:pt x="31507" y="408383"/>
                  </a:lnTo>
                  <a:lnTo>
                    <a:pt x="14352" y="370244"/>
                  </a:lnTo>
                  <a:lnTo>
                    <a:pt x="3675" y="329726"/>
                  </a:lnTo>
                  <a:lnTo>
                    <a:pt x="0" y="287274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733656" y="6230213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3227" y="128014"/>
            <a:ext cx="8615172" cy="67299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572" y="0"/>
            <a:ext cx="9396984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35"/>
              </a:spcBef>
            </a:pPr>
            <a:r>
              <a:rPr sz="4800" dirty="0">
                <a:solidFill>
                  <a:srgbClr val="FFFFFF"/>
                </a:solidFill>
              </a:rPr>
              <a:t>JOB</a:t>
            </a:r>
            <a:r>
              <a:rPr sz="4800" spc="-20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DESIGN</a:t>
            </a:r>
            <a:r>
              <a:rPr sz="4800" spc="-15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AND</a:t>
            </a:r>
            <a:r>
              <a:rPr sz="4800" spc="-15" dirty="0">
                <a:solidFill>
                  <a:srgbClr val="FFFFFF"/>
                </a:solidFill>
              </a:rPr>
              <a:t> </a:t>
            </a:r>
            <a:r>
              <a:rPr sz="4800" spc="-90" dirty="0">
                <a:solidFill>
                  <a:srgbClr val="FFFFFF"/>
                </a:solidFill>
              </a:rPr>
              <a:t>ANALYSIS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0032" y="2273807"/>
            <a:ext cx="6170675" cy="44516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8469" y="3742385"/>
            <a:ext cx="470725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Selecting</a:t>
            </a:r>
            <a:r>
              <a:rPr sz="2400" b="1" spc="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manager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576C31"/>
                </a:solidFill>
                <a:latin typeface="Cambria"/>
                <a:cs typeface="Cambria"/>
              </a:rPr>
              <a:t>effectively </a:t>
            </a:r>
            <a:r>
              <a:rPr sz="2400" b="1" spc="-15" dirty="0">
                <a:solidFill>
                  <a:srgbClr val="576C31"/>
                </a:solidFill>
                <a:latin typeface="Cambria"/>
                <a:cs typeface="Cambria"/>
              </a:rPr>
              <a:t> requires 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a clear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understanding 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of </a:t>
            </a:r>
            <a:r>
              <a:rPr sz="2400" b="1" spc="-51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the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nature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and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purpose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of</a:t>
            </a:r>
            <a:r>
              <a:rPr sz="2400" b="1" spc="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the 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position</a:t>
            </a:r>
            <a:r>
              <a:rPr sz="2400" b="1" spc="-30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that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is</a:t>
            </a:r>
            <a:r>
              <a:rPr sz="2400" b="1" spc="-15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576C31"/>
                </a:solidFill>
                <a:latin typeface="Cambria"/>
                <a:cs typeface="Cambria"/>
              </a:rPr>
              <a:t>to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be</a:t>
            </a:r>
            <a:r>
              <a:rPr sz="2400" b="1" dirty="0">
                <a:solidFill>
                  <a:srgbClr val="576C31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576C31"/>
                </a:solidFill>
                <a:latin typeface="Cambria"/>
                <a:cs typeface="Cambria"/>
              </a:rPr>
              <a:t>filled.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8459" y="1883075"/>
            <a:ext cx="4899659" cy="36185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7224" y="1514932"/>
            <a:ext cx="589280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A</a:t>
            </a:r>
            <a:r>
              <a:rPr sz="2400" b="1" spc="5" dirty="0"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mbria"/>
                <a:cs typeface="Cambria"/>
              </a:rPr>
              <a:t>analysis</a:t>
            </a:r>
            <a:r>
              <a:rPr sz="2400" b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of</a:t>
            </a:r>
            <a:r>
              <a:rPr sz="2400" b="1" spc="5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position</a:t>
            </a:r>
            <a:r>
              <a:rPr sz="2400" b="1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requirements </a:t>
            </a:r>
            <a:r>
              <a:rPr sz="2400" b="1" spc="-5" dirty="0">
                <a:latin typeface="Cambria"/>
                <a:cs typeface="Cambria"/>
              </a:rPr>
              <a:t> must</a:t>
            </a:r>
            <a:r>
              <a:rPr sz="2400" b="1" spc="30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be</a:t>
            </a:r>
            <a:r>
              <a:rPr sz="2400" b="1" spc="305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made</a:t>
            </a:r>
            <a:r>
              <a:rPr sz="2400" b="1" spc="315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and</a:t>
            </a:r>
            <a:r>
              <a:rPr sz="2400" b="1" spc="315" dirty="0"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r>
              <a:rPr sz="2400" b="1" spc="3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must</a:t>
            </a:r>
            <a:r>
              <a:rPr sz="2400" b="1" spc="3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be</a:t>
            </a:r>
            <a:r>
              <a:rPr sz="2400" b="1" spc="3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designed </a:t>
            </a:r>
            <a:r>
              <a:rPr sz="2400" b="1" spc="-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to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meet</a:t>
            </a:r>
            <a:r>
              <a:rPr sz="2400" b="1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organizational</a:t>
            </a:r>
            <a:r>
              <a:rPr sz="2400" b="1" spc="-5" dirty="0">
                <a:latin typeface="Cambria"/>
                <a:cs typeface="Cambria"/>
              </a:rPr>
              <a:t> and</a:t>
            </a:r>
            <a:r>
              <a:rPr sz="2400" b="1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individual </a:t>
            </a:r>
            <a:r>
              <a:rPr sz="2400" b="1" spc="-10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needs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35"/>
              </a:spcBef>
            </a:pPr>
            <a:r>
              <a:rPr sz="4800" dirty="0">
                <a:solidFill>
                  <a:srgbClr val="FFFFFF"/>
                </a:solidFill>
              </a:rPr>
              <a:t>JOB</a:t>
            </a:r>
            <a:r>
              <a:rPr sz="4800" spc="-35" dirty="0">
                <a:solidFill>
                  <a:srgbClr val="FFFFFF"/>
                </a:solidFill>
              </a:rPr>
              <a:t> </a:t>
            </a:r>
            <a:r>
              <a:rPr sz="4800" spc="-90" dirty="0">
                <a:solidFill>
                  <a:srgbClr val="FFFFFF"/>
                </a:solidFill>
              </a:rPr>
              <a:t>ANALYSIS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2376" y="2919983"/>
            <a:ext cx="10692765" cy="1201420"/>
          </a:xfrm>
          <a:prstGeom prst="rect">
            <a:avLst/>
          </a:prstGeom>
          <a:solidFill>
            <a:srgbClr val="F8CEA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 marR="81280" algn="just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Job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analysis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is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the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process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of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gathering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relevant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information about </a:t>
            </a:r>
            <a:r>
              <a:rPr sz="2400" b="1" spc="-15" dirty="0">
                <a:solidFill>
                  <a:srgbClr val="001F5F"/>
                </a:solidFill>
                <a:latin typeface="Cambria"/>
                <a:cs typeface="Cambria"/>
              </a:rPr>
              <a:t>various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aspects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of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including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its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content,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context</a:t>
            </a:r>
            <a:r>
              <a:rPr sz="2400" b="1" spc="-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and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performer's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skill </a:t>
            </a:r>
            <a:r>
              <a:rPr sz="2400" b="1" spc="-5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requirements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420" y="4318253"/>
            <a:ext cx="9387840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mbria"/>
                <a:cs typeface="Cambria"/>
              </a:rPr>
              <a:t>analysis</a:t>
            </a:r>
            <a:r>
              <a:rPr sz="20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answers</a:t>
            </a:r>
            <a:r>
              <a:rPr sz="20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0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questions</a:t>
            </a:r>
            <a:endParaRPr sz="2000">
              <a:latin typeface="Cambria"/>
              <a:cs typeface="Cambria"/>
            </a:endParaRPr>
          </a:p>
          <a:p>
            <a:pPr marL="812800" indent="-343535">
              <a:lnSpc>
                <a:spcPct val="100000"/>
              </a:lnSpc>
              <a:buAutoNum type="arabicPeriod"/>
              <a:tabLst>
                <a:tab pos="812800" algn="l"/>
                <a:tab pos="813435" algn="l"/>
              </a:tabLst>
            </a:pP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What</a:t>
            </a:r>
            <a:r>
              <a:rPr sz="20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0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do?</a:t>
            </a:r>
            <a:endParaRPr sz="2000">
              <a:latin typeface="Cambria"/>
              <a:cs typeface="Cambria"/>
            </a:endParaRPr>
          </a:p>
          <a:p>
            <a:pPr marL="812800" indent="-343535">
              <a:lnSpc>
                <a:spcPct val="100000"/>
              </a:lnSpc>
              <a:buAutoNum type="arabicPeriod"/>
              <a:tabLst>
                <a:tab pos="812800" algn="l"/>
                <a:tab pos="813435" algn="l"/>
              </a:tabLst>
            </a:pPr>
            <a:r>
              <a:rPr sz="2000" b="1" spc="-15" dirty="0">
                <a:solidFill>
                  <a:srgbClr val="001F5F"/>
                </a:solidFill>
                <a:latin typeface="Cambria"/>
                <a:cs typeface="Cambria"/>
              </a:rPr>
              <a:t>Why?</a:t>
            </a:r>
            <a:endParaRPr sz="2000">
              <a:latin typeface="Cambria"/>
              <a:cs typeface="Cambria"/>
            </a:endParaRPr>
          </a:p>
          <a:p>
            <a:pPr marL="812800" indent="-343535">
              <a:lnSpc>
                <a:spcPct val="100000"/>
              </a:lnSpc>
              <a:buAutoNum type="arabicPeriod"/>
              <a:tabLst>
                <a:tab pos="812800" algn="l"/>
                <a:tab pos="813435" algn="l"/>
              </a:tabLst>
            </a:pP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How</a:t>
            </a:r>
            <a:r>
              <a:rPr sz="20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000" b="1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mbria"/>
                <a:cs typeface="Cambria"/>
              </a:rPr>
              <a:t>do</a:t>
            </a:r>
            <a:r>
              <a:rPr sz="20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mbria"/>
                <a:cs typeface="Cambria"/>
              </a:rPr>
              <a:t>it?</a:t>
            </a:r>
            <a:endParaRPr sz="2000">
              <a:latin typeface="Cambria"/>
              <a:cs typeface="Cambria"/>
            </a:endParaRPr>
          </a:p>
          <a:p>
            <a:pPr marL="1009650">
              <a:lnSpc>
                <a:spcPct val="100000"/>
              </a:lnSpc>
              <a:spcBef>
                <a:spcPts val="795"/>
              </a:spcBef>
            </a:pPr>
            <a:r>
              <a:rPr sz="3000" b="1" dirty="0">
                <a:latin typeface="Cambria"/>
                <a:cs typeface="Cambria"/>
              </a:rPr>
              <a:t>Helps</a:t>
            </a:r>
            <a:r>
              <a:rPr sz="3000" b="1" spc="-30" dirty="0">
                <a:latin typeface="Cambria"/>
                <a:cs typeface="Cambria"/>
              </a:rPr>
              <a:t> </a:t>
            </a:r>
            <a:r>
              <a:rPr sz="3000" b="1" spc="-15" dirty="0">
                <a:latin typeface="Cambria"/>
                <a:cs typeface="Cambria"/>
              </a:rPr>
              <a:t>mainly</a:t>
            </a:r>
            <a:r>
              <a:rPr sz="3000" b="1" spc="-20" dirty="0">
                <a:latin typeface="Cambria"/>
                <a:cs typeface="Cambria"/>
              </a:rPr>
              <a:t> to</a:t>
            </a:r>
            <a:r>
              <a:rPr sz="3000" b="1" spc="-15" dirty="0">
                <a:latin typeface="Cambria"/>
                <a:cs typeface="Cambria"/>
              </a:rPr>
              <a:t> </a:t>
            </a:r>
            <a:r>
              <a:rPr sz="3000" b="1" spc="-5" dirty="0">
                <a:latin typeface="Cambria"/>
                <a:cs typeface="Cambria"/>
              </a:rPr>
              <a:t>identify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problems</a:t>
            </a:r>
            <a:r>
              <a:rPr sz="3000" b="1" spc="-5" dirty="0">
                <a:latin typeface="Cambria"/>
                <a:cs typeface="Cambria"/>
              </a:rPr>
              <a:t> and</a:t>
            </a:r>
            <a:r>
              <a:rPr sz="3000" b="1" spc="-2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solutions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063" y="1820966"/>
            <a:ext cx="8235174" cy="49902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8832" y="778002"/>
            <a:ext cx="108819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Results</a:t>
            </a:r>
            <a:r>
              <a:rPr sz="2400" spc="170" dirty="0"/>
              <a:t> </a:t>
            </a:r>
            <a:r>
              <a:rPr sz="2400" dirty="0"/>
              <a:t>of</a:t>
            </a:r>
            <a:r>
              <a:rPr sz="2400" spc="170" dirty="0"/>
              <a:t> </a:t>
            </a:r>
            <a:r>
              <a:rPr sz="2400" spc="-5" dirty="0"/>
              <a:t>job</a:t>
            </a:r>
            <a:r>
              <a:rPr sz="2400" spc="175" dirty="0"/>
              <a:t> </a:t>
            </a:r>
            <a:r>
              <a:rPr sz="2400" spc="-15" dirty="0"/>
              <a:t>analysis</a:t>
            </a:r>
            <a:r>
              <a:rPr sz="2400" spc="175" dirty="0"/>
              <a:t> </a:t>
            </a:r>
            <a:r>
              <a:rPr sz="2400" spc="-15" dirty="0"/>
              <a:t>are</a:t>
            </a:r>
            <a:r>
              <a:rPr sz="2400" spc="175" dirty="0"/>
              <a:t> </a:t>
            </a:r>
            <a:r>
              <a:rPr sz="2400" spc="-10" dirty="0"/>
              <a:t>normally</a:t>
            </a:r>
            <a:r>
              <a:rPr sz="2400" spc="165" dirty="0"/>
              <a:t> </a:t>
            </a:r>
            <a:r>
              <a:rPr sz="2400" spc="-10" dirty="0"/>
              <a:t>presented</a:t>
            </a:r>
            <a:r>
              <a:rPr sz="2400" spc="170" dirty="0"/>
              <a:t> </a:t>
            </a:r>
            <a:r>
              <a:rPr sz="2400" dirty="0"/>
              <a:t>in</a:t>
            </a:r>
            <a:r>
              <a:rPr sz="2400" spc="175" dirty="0"/>
              <a:t> </a:t>
            </a:r>
            <a:r>
              <a:rPr sz="2400" spc="-5" dirty="0"/>
              <a:t>the</a:t>
            </a:r>
            <a:r>
              <a:rPr sz="2400" spc="180" dirty="0"/>
              <a:t> </a:t>
            </a:r>
            <a:r>
              <a:rPr sz="2400" spc="-5" dirty="0"/>
              <a:t>form</a:t>
            </a:r>
            <a:r>
              <a:rPr sz="2400" spc="175" dirty="0"/>
              <a:t> </a:t>
            </a:r>
            <a:r>
              <a:rPr sz="2400" dirty="0"/>
              <a:t>of</a:t>
            </a:r>
            <a:r>
              <a:rPr sz="2400" spc="170" dirty="0"/>
              <a:t> </a:t>
            </a:r>
            <a:r>
              <a:rPr sz="2400" dirty="0"/>
              <a:t>job</a:t>
            </a:r>
            <a:r>
              <a:rPr sz="2400" spc="175" dirty="0"/>
              <a:t> </a:t>
            </a:r>
            <a:r>
              <a:rPr sz="2400" dirty="0"/>
              <a:t>description </a:t>
            </a:r>
            <a:r>
              <a:rPr sz="2400" spc="-515" dirty="0"/>
              <a:t> </a:t>
            </a:r>
            <a:r>
              <a:rPr sz="2400" spc="-5" dirty="0"/>
              <a:t>and</a:t>
            </a:r>
            <a:r>
              <a:rPr sz="2400" dirty="0"/>
              <a:t> </a:t>
            </a:r>
            <a:r>
              <a:rPr sz="2400" spc="-5" dirty="0"/>
              <a:t>job</a:t>
            </a:r>
            <a:r>
              <a:rPr sz="2400" spc="-10" dirty="0"/>
              <a:t> </a:t>
            </a:r>
            <a:r>
              <a:rPr sz="2400" dirty="0"/>
              <a:t>specification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831" y="1165860"/>
            <a:ext cx="4364990" cy="4215765"/>
          </a:xfrm>
          <a:prstGeom prst="rect">
            <a:avLst/>
          </a:prstGeom>
          <a:solidFill>
            <a:srgbClr val="F8CEA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4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description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Cambria"/>
              <a:cs typeface="Cambria"/>
            </a:endParaRPr>
          </a:p>
          <a:p>
            <a:pPr marL="433705" indent="-343535">
              <a:lnSpc>
                <a:spcPct val="100000"/>
              </a:lnSpc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It</a:t>
            </a:r>
            <a:r>
              <a:rPr sz="2000" b="1" spc="21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is</a:t>
            </a:r>
            <a:r>
              <a:rPr sz="2000" b="1" spc="21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80410A"/>
                </a:solidFill>
                <a:latin typeface="Cambria"/>
                <a:cs typeface="Cambria"/>
              </a:rPr>
              <a:t>narration</a:t>
            </a:r>
            <a:r>
              <a:rPr sz="2000" b="1" spc="21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of</a:t>
            </a:r>
            <a:r>
              <a:rPr sz="2000" b="1" spc="204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the</a:t>
            </a:r>
            <a:r>
              <a:rPr sz="2000" b="1" spc="21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80410A"/>
                </a:solidFill>
                <a:latin typeface="Cambria"/>
                <a:cs typeface="Cambria"/>
              </a:rPr>
              <a:t>contents</a:t>
            </a:r>
            <a:r>
              <a:rPr sz="2000" b="1" spc="22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  <a:p>
            <a:pPr marL="433705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80410A"/>
                </a:solidFill>
                <a:latin typeface="Cambria"/>
                <a:cs typeface="Cambria"/>
              </a:rPr>
              <a:t>a</a:t>
            </a:r>
            <a:r>
              <a:rPr sz="2000" b="1" spc="-4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job</a:t>
            </a:r>
            <a:endParaRPr sz="2000">
              <a:latin typeface="Cambria"/>
              <a:cs typeface="Cambria"/>
            </a:endParaRPr>
          </a:p>
          <a:p>
            <a:pPr marL="433705" marR="78740" indent="-342900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34340" algn="l"/>
              </a:tabLst>
            </a:pP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It is the description of </a:t>
            </a:r>
            <a:r>
              <a:rPr sz="2000" b="1" spc="-10" dirty="0">
                <a:solidFill>
                  <a:srgbClr val="80410A"/>
                </a:solidFill>
                <a:latin typeface="Cambria"/>
                <a:cs typeface="Cambria"/>
              </a:rPr>
              <a:t>activities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 and duties </a:t>
            </a:r>
            <a:r>
              <a:rPr sz="2000" b="1" spc="-20" dirty="0">
                <a:solidFill>
                  <a:srgbClr val="80410A"/>
                </a:solidFill>
                <a:latin typeface="Cambria"/>
                <a:cs typeface="Cambria"/>
              </a:rPr>
              <a:t>to </a:t>
            </a:r>
            <a:r>
              <a:rPr sz="2000" b="1" dirty="0">
                <a:solidFill>
                  <a:srgbClr val="80410A"/>
                </a:solidFill>
                <a:latin typeface="Cambria"/>
                <a:cs typeface="Cambria"/>
              </a:rPr>
              <a:t>be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performed </a:t>
            </a:r>
            <a:r>
              <a:rPr sz="2000" b="1" dirty="0">
                <a:solidFill>
                  <a:srgbClr val="80410A"/>
                </a:solidFill>
                <a:latin typeface="Cambria"/>
                <a:cs typeface="Cambria"/>
              </a:rPr>
              <a:t>in a </a:t>
            </a:r>
            <a:r>
              <a:rPr sz="2000" b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80410A"/>
                </a:solidFill>
                <a:latin typeface="Cambria"/>
                <a:cs typeface="Cambria"/>
              </a:rPr>
              <a:t>job,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 relation</a:t>
            </a:r>
            <a:r>
              <a:rPr sz="2000" b="1" dirty="0">
                <a:solidFill>
                  <a:srgbClr val="80410A"/>
                </a:solidFill>
                <a:latin typeface="Cambria"/>
                <a:cs typeface="Cambria"/>
              </a:rPr>
              <a:t> of</a:t>
            </a:r>
            <a:r>
              <a:rPr sz="2000" b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job</a:t>
            </a:r>
            <a:r>
              <a:rPr sz="2000" b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80410A"/>
                </a:solidFill>
                <a:latin typeface="Cambria"/>
                <a:cs typeface="Cambria"/>
              </a:rPr>
              <a:t>with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 other </a:t>
            </a:r>
            <a:r>
              <a:rPr sz="2000" b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jobs,</a:t>
            </a:r>
            <a:r>
              <a:rPr sz="2000" b="1" spc="-2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hazards</a:t>
            </a:r>
            <a:r>
              <a:rPr sz="2000" b="1" spc="-2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of the</a:t>
            </a:r>
            <a:r>
              <a:rPr sz="2000" b="1" spc="-3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80410A"/>
                </a:solidFill>
                <a:latin typeface="Cambria"/>
                <a:cs typeface="Cambria"/>
              </a:rPr>
              <a:t>jobs</a:t>
            </a:r>
            <a:r>
              <a:rPr sz="2000" b="1" spc="-2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80410A"/>
                </a:solidFill>
                <a:latin typeface="Cambria"/>
                <a:cs typeface="Cambria"/>
              </a:rPr>
              <a:t>etc.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63383" y="1165860"/>
            <a:ext cx="4364990" cy="4215765"/>
          </a:xfrm>
          <a:custGeom>
            <a:avLst/>
            <a:gdLst/>
            <a:ahLst/>
            <a:cxnLst/>
            <a:rect l="l" t="t" r="r" b="b"/>
            <a:pathLst>
              <a:path w="4364990" h="4215765">
                <a:moveTo>
                  <a:pt x="4364735" y="0"/>
                </a:moveTo>
                <a:lnTo>
                  <a:pt x="0" y="0"/>
                </a:lnTo>
                <a:lnTo>
                  <a:pt x="0" y="4215384"/>
                </a:lnTo>
                <a:lnTo>
                  <a:pt x="4364735" y="4215384"/>
                </a:lnTo>
                <a:lnTo>
                  <a:pt x="4364735" y="0"/>
                </a:lnTo>
                <a:close/>
              </a:path>
            </a:pathLst>
          </a:custGeom>
          <a:solidFill>
            <a:srgbClr val="D9A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458" y="1191005"/>
            <a:ext cx="2327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1F5F"/>
                </a:solidFill>
              </a:rPr>
              <a:t>Job</a:t>
            </a:r>
            <a:r>
              <a:rPr sz="2400" spc="-45" dirty="0">
                <a:solidFill>
                  <a:srgbClr val="001F5F"/>
                </a:solidFill>
              </a:rPr>
              <a:t> </a:t>
            </a:r>
            <a:r>
              <a:rPr sz="2400" spc="-5" dirty="0">
                <a:solidFill>
                  <a:srgbClr val="001F5F"/>
                </a:solidFill>
              </a:rPr>
              <a:t>specification</a:t>
            </a:r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355458" y="1867233"/>
            <a:ext cx="419671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It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is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statement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minimum</a:t>
            </a:r>
            <a:endParaRPr sz="2000">
              <a:latin typeface="Cambria"/>
              <a:cs typeface="Cambria"/>
            </a:endParaRPr>
          </a:p>
          <a:p>
            <a:pPr marL="342900">
              <a:lnSpc>
                <a:spcPct val="100000"/>
              </a:lnSpc>
              <a:spcBef>
                <a:spcPts val="1200"/>
              </a:spcBef>
              <a:tabLst>
                <a:tab pos="1135380" algn="l"/>
                <a:tab pos="1604645" algn="l"/>
                <a:tab pos="3505200" algn="l"/>
              </a:tabLst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000" b="1" spc="-45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2000" b="1" spc="-60" dirty="0">
                <a:solidFill>
                  <a:srgbClr val="C00000"/>
                </a:solidFill>
                <a:latin typeface="Cambria"/>
                <a:cs typeface="Cambria"/>
              </a:rPr>
              <a:t>v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el	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f	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q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ua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ifica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t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io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s,	s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il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s,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1881" y="2781401"/>
            <a:ext cx="20897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65735" algn="just">
              <a:lnSpc>
                <a:spcPct val="15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other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abilities, </a:t>
            </a:r>
            <a:r>
              <a:rPr sz="2000" b="1" spc="-4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attributes </a:t>
            </a:r>
            <a:r>
              <a:rPr sz="2000" b="1" spc="-4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performing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8358" y="2781401"/>
            <a:ext cx="167513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  <a:tabLst>
                <a:tab pos="1222375" algn="l"/>
                <a:tab pos="1284605" algn="l"/>
              </a:tabLst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000" b="1" spc="-55" dirty="0">
                <a:solidFill>
                  <a:srgbClr val="C00000"/>
                </a:solidFill>
                <a:latin typeface="Cambria"/>
                <a:cs typeface="Cambria"/>
              </a:rPr>
              <a:t>h</a:t>
            </a:r>
            <a:r>
              <a:rPr sz="2000" b="1" spc="-45" dirty="0">
                <a:solidFill>
                  <a:srgbClr val="C00000"/>
                </a:solidFill>
                <a:latin typeface="Cambria"/>
                <a:cs typeface="Cambria"/>
              </a:rPr>
              <a:t>y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ic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l	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d 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experience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 required		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for </a:t>
            </a:r>
            <a:r>
              <a:rPr sz="2000" b="1" spc="-4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effectively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L="1087755">
              <a:lnSpc>
                <a:spcPct val="100000"/>
              </a:lnSpc>
              <a:spcBef>
                <a:spcPts val="3435"/>
              </a:spcBef>
            </a:pPr>
            <a:r>
              <a:rPr sz="4800" spc="-10" dirty="0">
                <a:solidFill>
                  <a:srgbClr val="FFFFFF"/>
                </a:solidFill>
              </a:rPr>
              <a:t>POSITION</a:t>
            </a:r>
            <a:r>
              <a:rPr sz="4800" spc="-20" dirty="0">
                <a:solidFill>
                  <a:srgbClr val="FFFFFF"/>
                </a:solidFill>
              </a:rPr>
              <a:t> </a:t>
            </a:r>
            <a:r>
              <a:rPr sz="4800" spc="25" dirty="0">
                <a:solidFill>
                  <a:srgbClr val="FFFFFF"/>
                </a:solidFill>
              </a:rPr>
              <a:t>(JOB)</a:t>
            </a:r>
            <a:r>
              <a:rPr sz="4800" spc="5" dirty="0">
                <a:solidFill>
                  <a:srgbClr val="FFFFFF"/>
                </a:solidFill>
              </a:rPr>
              <a:t> </a:t>
            </a:r>
            <a:r>
              <a:rPr sz="4800" spc="-15" dirty="0">
                <a:solidFill>
                  <a:srgbClr val="FFFFFF"/>
                </a:solidFill>
              </a:rPr>
              <a:t>REQUIREMENTS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58469" y="2535484"/>
            <a:ext cx="10873740" cy="14770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mbria"/>
                <a:cs typeface="Cambria"/>
              </a:rPr>
              <a:t>Selecting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manager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effectively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requires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clear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understanding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of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nature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purpose</a:t>
            </a:r>
            <a:r>
              <a:rPr sz="2000" b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of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mbria"/>
                <a:cs typeface="Cambria"/>
              </a:rPr>
              <a:t>position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be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filled.</a:t>
            </a:r>
            <a:endParaRPr sz="20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job must</a:t>
            </a:r>
            <a:r>
              <a:rPr sz="2400" b="1" spc="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be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designed</a:t>
            </a:r>
            <a:r>
              <a:rPr sz="2400" b="1" spc="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meet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organizational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and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individual</a:t>
            </a:r>
            <a:r>
              <a:rPr sz="2400" b="1" spc="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needs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136" y="630428"/>
            <a:ext cx="9591675" cy="452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002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mbria"/>
                <a:cs typeface="Cambria"/>
              </a:rPr>
              <a:t>IDENTIFYING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JOB</a:t>
            </a:r>
            <a:r>
              <a:rPr sz="2400" b="1" spc="-10" dirty="0">
                <a:latin typeface="Cambria"/>
                <a:cs typeface="Cambria"/>
              </a:rPr>
              <a:t> REQUIREMENTS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400" dirty="0">
                <a:latin typeface="Cambria"/>
                <a:cs typeface="Cambria"/>
              </a:rPr>
              <a:t>Firm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must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answer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questions</a:t>
            </a:r>
            <a:endParaRPr sz="2400">
              <a:latin typeface="Cambria"/>
              <a:cs typeface="Cambria"/>
            </a:endParaRPr>
          </a:p>
          <a:p>
            <a:pPr marL="927100" indent="-457834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What</a:t>
            </a:r>
            <a:r>
              <a:rPr sz="2400" b="1" i="1" spc="-2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has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 to</a:t>
            </a:r>
            <a:r>
              <a:rPr sz="2400" b="1" i="1" spc="-2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be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done</a:t>
            </a: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in</a:t>
            </a: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this</a:t>
            </a: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job?</a:t>
            </a:r>
            <a:endParaRPr sz="2400">
              <a:latin typeface="Cambria"/>
              <a:cs typeface="Cambria"/>
            </a:endParaRPr>
          </a:p>
          <a:p>
            <a:pPr marL="927100" indent="-457834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How</a:t>
            </a:r>
            <a:r>
              <a:rPr sz="2400" b="1" i="1" spc="-3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it</a:t>
            </a:r>
            <a:r>
              <a:rPr sz="2400" b="1" i="1" spc="-2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is</a:t>
            </a:r>
            <a:r>
              <a:rPr sz="2400" b="1" i="1" spc="-2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done?</a:t>
            </a:r>
            <a:endParaRPr sz="2400">
              <a:latin typeface="Cambria"/>
              <a:cs typeface="Cambria"/>
            </a:endParaRPr>
          </a:p>
          <a:p>
            <a:pPr marL="927100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What</a:t>
            </a: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background knowledge,</a:t>
            </a:r>
            <a:r>
              <a:rPr sz="2400" b="1" i="1" spc="-5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attitudes</a:t>
            </a:r>
            <a:r>
              <a:rPr sz="2400" b="1" i="1" spc="-3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and</a:t>
            </a:r>
            <a:r>
              <a:rPr sz="2400" b="1" i="1" spc="-2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skills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 are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required?</a:t>
            </a:r>
            <a:endParaRPr sz="2400">
              <a:latin typeface="Cambria"/>
              <a:cs typeface="Cambria"/>
            </a:endParaRPr>
          </a:p>
          <a:p>
            <a:pPr marL="927100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Can</a:t>
            </a:r>
            <a:r>
              <a:rPr sz="2400" b="1" i="1" spc="-3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the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 job</a:t>
            </a: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be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 done</a:t>
            </a:r>
            <a:r>
              <a:rPr sz="2400" b="1" i="1" spc="-2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differently?</a:t>
            </a:r>
            <a:endParaRPr sz="2400">
              <a:latin typeface="Cambria"/>
              <a:cs typeface="Cambria"/>
            </a:endParaRPr>
          </a:p>
          <a:p>
            <a:pPr marL="927100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What</a:t>
            </a:r>
            <a:r>
              <a:rPr sz="2400" b="1" i="1" spc="-3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C0610F"/>
                </a:solidFill>
                <a:latin typeface="Cambria"/>
                <a:cs typeface="Cambria"/>
              </a:rPr>
              <a:t>are</a:t>
            </a:r>
            <a:r>
              <a:rPr sz="2400" b="1" i="1" spc="-15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610F"/>
                </a:solidFill>
                <a:latin typeface="Cambria"/>
                <a:cs typeface="Cambria"/>
              </a:rPr>
              <a:t>the</a:t>
            </a:r>
            <a:r>
              <a:rPr sz="2400" b="1" i="1" spc="-2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new</a:t>
            </a:r>
            <a:r>
              <a:rPr sz="2400" b="1" i="1" spc="-40" dirty="0">
                <a:solidFill>
                  <a:srgbClr val="C0610F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C0610F"/>
                </a:solidFill>
                <a:latin typeface="Cambria"/>
                <a:cs typeface="Cambria"/>
              </a:rPr>
              <a:t>requirements?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Cambria"/>
              <a:cs typeface="Cambria"/>
            </a:endParaRPr>
          </a:p>
          <a:p>
            <a:pPr marL="1377315" algn="ctr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Finding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answer to</a:t>
            </a:r>
            <a:r>
              <a:rPr sz="2400" dirty="0">
                <a:latin typeface="Cambria"/>
                <a:cs typeface="Cambria"/>
              </a:rPr>
              <a:t> these questions </a:t>
            </a:r>
            <a:r>
              <a:rPr sz="2400" spc="-10" dirty="0">
                <a:latin typeface="Cambria"/>
                <a:cs typeface="Cambria"/>
              </a:rPr>
              <a:t>requires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mbria"/>
                <a:cs typeface="Cambria"/>
              </a:rPr>
              <a:t>analysis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701" y="399161"/>
            <a:ext cx="5607685" cy="57664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Cambria"/>
                <a:cs typeface="Cambria"/>
              </a:rPr>
              <a:t>Job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done</a:t>
            </a:r>
            <a:r>
              <a:rPr sz="2400" spc="-10" dirty="0">
                <a:latin typeface="Cambria"/>
                <a:cs typeface="Cambria"/>
              </a:rPr>
              <a:t> through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45"/>
              </a:spcBef>
              <a:buFont typeface="Wingdings"/>
              <a:buChar char=""/>
              <a:tabLst>
                <a:tab pos="1270635" algn="l"/>
              </a:tabLst>
            </a:pPr>
            <a:r>
              <a:rPr sz="2400" spc="-10" dirty="0">
                <a:latin typeface="Cambria"/>
                <a:cs typeface="Cambria"/>
              </a:rPr>
              <a:t>Observation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35"/>
              </a:spcBef>
              <a:buFont typeface="Wingdings"/>
              <a:buChar char=""/>
              <a:tabLst>
                <a:tab pos="1270635" algn="l"/>
              </a:tabLst>
            </a:pPr>
            <a:r>
              <a:rPr sz="2400" spc="-5" dirty="0">
                <a:latin typeface="Cambria"/>
                <a:cs typeface="Cambria"/>
              </a:rPr>
              <a:t>Interviews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40"/>
              </a:spcBef>
              <a:buFont typeface="Wingdings"/>
              <a:buChar char=""/>
              <a:tabLst>
                <a:tab pos="1270635" algn="l"/>
              </a:tabLst>
            </a:pPr>
            <a:r>
              <a:rPr sz="2400" spc="-5" dirty="0">
                <a:latin typeface="Cambria"/>
                <a:cs typeface="Cambria"/>
              </a:rPr>
              <a:t>Questionnaires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45"/>
              </a:spcBef>
              <a:buFont typeface="Wingdings"/>
              <a:buChar char=""/>
              <a:tabLst>
                <a:tab pos="1270635" algn="l"/>
              </a:tabLst>
            </a:pPr>
            <a:r>
              <a:rPr sz="2400" spc="-15" dirty="0">
                <a:latin typeface="Cambria"/>
                <a:cs typeface="Cambria"/>
              </a:rPr>
              <a:t>Systems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Job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analysis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describes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900"/>
              </a:spcBef>
              <a:buFont typeface="Wingdings"/>
              <a:buChar char=""/>
              <a:tabLst>
                <a:tab pos="1270635" algn="l"/>
              </a:tabLst>
            </a:pP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Important</a:t>
            </a:r>
            <a:r>
              <a:rPr sz="24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duties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45"/>
              </a:spcBef>
              <a:buFont typeface="Wingdings"/>
              <a:buChar char=""/>
              <a:tabLst>
                <a:tab pos="1270635" algn="l"/>
              </a:tabLst>
            </a:pPr>
            <a:r>
              <a:rPr sz="2400" b="1" spc="-15" dirty="0">
                <a:solidFill>
                  <a:srgbClr val="001F5F"/>
                </a:solidFill>
                <a:latin typeface="Cambria"/>
                <a:cs typeface="Cambria"/>
              </a:rPr>
              <a:t>Authority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1270635" algn="l"/>
              </a:tabLst>
            </a:pP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Responsibility</a:t>
            </a:r>
            <a:endParaRPr sz="2400">
              <a:latin typeface="Cambria"/>
              <a:cs typeface="Cambria"/>
            </a:endParaRPr>
          </a:p>
          <a:p>
            <a:pPr marL="1270000" indent="-34353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1270635" algn="l"/>
              </a:tabLst>
            </a:pP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Relationship</a:t>
            </a:r>
            <a:r>
              <a:rPr sz="24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4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other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positions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35"/>
              </a:spcBef>
            </a:pPr>
            <a:r>
              <a:rPr sz="4800" dirty="0">
                <a:solidFill>
                  <a:srgbClr val="FFFFFF"/>
                </a:solidFill>
              </a:rPr>
              <a:t>JOB</a:t>
            </a:r>
            <a:r>
              <a:rPr sz="4800" spc="-40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DESIGN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58469" y="2670383"/>
            <a:ext cx="10873740" cy="3319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400" b="1" spc="1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design</a:t>
            </a:r>
            <a:r>
              <a:rPr sz="2400" b="1" spc="1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2400" b="1" spc="1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process</a:t>
            </a:r>
            <a:r>
              <a:rPr sz="2400" b="1" spc="1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of</a:t>
            </a:r>
            <a:r>
              <a:rPr sz="2400" b="1" spc="1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organizing</a:t>
            </a:r>
            <a:r>
              <a:rPr sz="2400" b="1" spc="1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tasks,</a:t>
            </a:r>
            <a:r>
              <a:rPr sz="2400" b="1" spc="1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duties</a:t>
            </a:r>
            <a:r>
              <a:rPr sz="2400" b="1" spc="1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and</a:t>
            </a:r>
            <a:r>
              <a:rPr sz="2400" b="1" spc="1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responsibilities</a:t>
            </a:r>
            <a:r>
              <a:rPr sz="2400" b="1" spc="1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mbria"/>
                <a:cs typeface="Cambria"/>
              </a:rPr>
              <a:t>into</a:t>
            </a:r>
            <a:r>
              <a:rPr sz="2400" b="1" spc="1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unit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 of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work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achieve</a:t>
            </a:r>
            <a:r>
              <a:rPr sz="2400" b="1" spc="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organizational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mbria"/>
                <a:cs typeface="Cambria"/>
              </a:rPr>
              <a:t>objectives</a:t>
            </a:r>
            <a:endParaRPr sz="2400">
              <a:latin typeface="Cambria"/>
              <a:cs typeface="Cambria"/>
            </a:endParaRPr>
          </a:p>
          <a:p>
            <a:pPr marL="355600" marR="8255" indent="-342900">
              <a:lnSpc>
                <a:spcPts val="432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r>
              <a:rPr sz="2400" b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r>
              <a:rPr sz="2400" b="1" spc="2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defines</a:t>
            </a:r>
            <a:r>
              <a:rPr sz="2400" b="1" spc="2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400" b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mbria"/>
                <a:cs typeface="Cambria"/>
              </a:rPr>
              <a:t>various</a:t>
            </a:r>
            <a:r>
              <a:rPr sz="2400" b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tasks</a:t>
            </a:r>
            <a:r>
              <a:rPr sz="2400" b="1" spc="2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required</a:t>
            </a:r>
            <a:r>
              <a:rPr sz="2400" b="1" spc="2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2400" b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do</a:t>
            </a:r>
            <a:r>
              <a:rPr sz="2400" b="1" spc="2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400" b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specific</a:t>
            </a:r>
            <a:r>
              <a:rPr sz="2400" b="1" spc="2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r>
              <a:rPr sz="2400" b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400" b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5" dirty="0">
                <a:solidFill>
                  <a:srgbClr val="C00000"/>
                </a:solidFill>
                <a:latin typeface="Cambria"/>
                <a:cs typeface="Cambria"/>
              </a:rPr>
              <a:t>the </a:t>
            </a:r>
            <a:r>
              <a:rPr sz="2400" b="1" spc="-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method</a:t>
            </a:r>
            <a:r>
              <a:rPr sz="2400" b="1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 performing</a:t>
            </a:r>
            <a:r>
              <a:rPr sz="2400" b="1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 tasks.</a:t>
            </a:r>
            <a:endParaRPr sz="2400">
              <a:latin typeface="Cambria"/>
              <a:cs typeface="Cambria"/>
            </a:endParaRPr>
          </a:p>
          <a:p>
            <a:pPr marL="355600" marR="6350" indent="-342900">
              <a:lnSpc>
                <a:spcPts val="432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400" b="1" spc="2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design</a:t>
            </a:r>
            <a:r>
              <a:rPr sz="2400" b="1" spc="2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establishes</a:t>
            </a:r>
            <a:r>
              <a:rPr sz="2400" b="1" spc="2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400" b="1" spc="2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relationships</a:t>
            </a:r>
            <a:r>
              <a:rPr sz="2400" b="1" spc="2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that</a:t>
            </a:r>
            <a:r>
              <a:rPr sz="2400" b="1" spc="2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should</a:t>
            </a:r>
            <a:r>
              <a:rPr sz="2400" b="1" spc="2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mbria"/>
                <a:cs typeface="Cambria"/>
              </a:rPr>
              <a:t>exist</a:t>
            </a:r>
            <a:r>
              <a:rPr sz="2400" b="1" spc="229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mbria"/>
                <a:cs typeface="Cambria"/>
              </a:rPr>
              <a:t>between</a:t>
            </a:r>
            <a:r>
              <a:rPr sz="2400" b="1" spc="2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400" b="1" spc="2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job </a:t>
            </a:r>
            <a:r>
              <a:rPr sz="2400" b="1" spc="-5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holder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and</a:t>
            </a:r>
            <a:r>
              <a:rPr sz="24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his</a:t>
            </a:r>
            <a:r>
              <a:rPr sz="24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mbria"/>
                <a:cs typeface="Cambria"/>
              </a:rPr>
              <a:t>superiors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3" y="745363"/>
            <a:ext cx="55981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C00000"/>
                </a:solidFill>
              </a:rPr>
              <a:t>STEPS</a:t>
            </a:r>
            <a:r>
              <a:rPr sz="3000" spc="-10" dirty="0">
                <a:solidFill>
                  <a:srgbClr val="C00000"/>
                </a:solidFill>
              </a:rPr>
              <a:t> </a:t>
            </a:r>
            <a:r>
              <a:rPr sz="3000" spc="-50" dirty="0">
                <a:solidFill>
                  <a:srgbClr val="C00000"/>
                </a:solidFill>
              </a:rPr>
              <a:t>INVOLVED</a:t>
            </a:r>
            <a:r>
              <a:rPr sz="3000" spc="-20" dirty="0">
                <a:solidFill>
                  <a:srgbClr val="C00000"/>
                </a:solidFill>
              </a:rPr>
              <a:t> </a:t>
            </a:r>
            <a:r>
              <a:rPr sz="3000" spc="-5" dirty="0">
                <a:solidFill>
                  <a:srgbClr val="C00000"/>
                </a:solidFill>
              </a:rPr>
              <a:t>IN</a:t>
            </a:r>
            <a:r>
              <a:rPr sz="3000" dirty="0">
                <a:solidFill>
                  <a:srgbClr val="C00000"/>
                </a:solidFill>
              </a:rPr>
              <a:t> JOB</a:t>
            </a:r>
            <a:r>
              <a:rPr sz="3000" spc="-10" dirty="0">
                <a:solidFill>
                  <a:srgbClr val="C00000"/>
                </a:solidFill>
              </a:rPr>
              <a:t> </a:t>
            </a:r>
            <a:r>
              <a:rPr sz="3000" dirty="0">
                <a:solidFill>
                  <a:srgbClr val="C00000"/>
                </a:solidFill>
              </a:rPr>
              <a:t>DESIGN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283208" y="2025395"/>
            <a:ext cx="2964180" cy="707390"/>
          </a:xfrm>
          <a:prstGeom prst="rect">
            <a:avLst/>
          </a:prstGeom>
          <a:solidFill>
            <a:srgbClr val="F4B5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00"/>
              </a:spcBef>
            </a:pPr>
            <a:r>
              <a:rPr sz="2000" b="1" dirty="0">
                <a:latin typeface="Cambria"/>
                <a:cs typeface="Cambria"/>
              </a:rPr>
              <a:t>Specifying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individual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2000" b="1" spc="-5" dirty="0">
                <a:latin typeface="Cambria"/>
                <a:cs typeface="Cambria"/>
              </a:rPr>
              <a:t>tasks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3208" y="3628644"/>
            <a:ext cx="2964180" cy="399415"/>
          </a:xfrm>
          <a:prstGeom prst="rect">
            <a:avLst/>
          </a:prstGeom>
          <a:solidFill>
            <a:srgbClr val="F4B57D"/>
          </a:solidFill>
        </p:spPr>
        <p:txBody>
          <a:bodyPr vert="horz" wrap="square" lIns="0" tIns="38735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latin typeface="Cambria"/>
                <a:cs typeface="Cambria"/>
              </a:rPr>
              <a:t>Specifying</a:t>
            </a:r>
            <a:r>
              <a:rPr sz="2000" b="1" spc="-8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methods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3208" y="4985003"/>
            <a:ext cx="2964180" cy="707390"/>
          </a:xfrm>
          <a:prstGeom prst="rect">
            <a:avLst/>
          </a:prstGeom>
          <a:solidFill>
            <a:srgbClr val="F4B57D"/>
          </a:solidFill>
        </p:spPr>
        <p:txBody>
          <a:bodyPr vert="horz" wrap="square" lIns="0" tIns="40005" rIns="0" bIns="0" rtlCol="0">
            <a:spAutoFit/>
          </a:bodyPr>
          <a:lstStyle/>
          <a:p>
            <a:pPr marL="1237615" marR="247015" indent="-982980">
              <a:lnSpc>
                <a:spcPct val="100000"/>
              </a:lnSpc>
              <a:spcBef>
                <a:spcPts val="315"/>
              </a:spcBef>
            </a:pPr>
            <a:r>
              <a:rPr sz="2000" b="1" dirty="0">
                <a:latin typeface="Cambria"/>
                <a:cs typeface="Cambria"/>
              </a:rPr>
              <a:t>Combining</a:t>
            </a:r>
            <a:r>
              <a:rPr sz="2000" b="1" spc="-7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tasks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into </a:t>
            </a:r>
            <a:r>
              <a:rPr sz="2000" b="1" spc="-4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jobs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15183" y="2799588"/>
            <a:ext cx="300355" cy="760730"/>
            <a:chOff x="2615183" y="2799588"/>
            <a:chExt cx="300355" cy="760730"/>
          </a:xfrm>
        </p:grpSpPr>
        <p:sp>
          <p:nvSpPr>
            <p:cNvPr id="7" name="object 7"/>
            <p:cNvSpPr/>
            <p:nvPr/>
          </p:nvSpPr>
          <p:spPr>
            <a:xfrm>
              <a:off x="2621279" y="2805684"/>
              <a:ext cx="288290" cy="748665"/>
            </a:xfrm>
            <a:custGeom>
              <a:avLst/>
              <a:gdLst/>
              <a:ahLst/>
              <a:cxnLst/>
              <a:rect l="l" t="t" r="r" b="b"/>
              <a:pathLst>
                <a:path w="288289" h="748664">
                  <a:moveTo>
                    <a:pt x="216026" y="0"/>
                  </a:moveTo>
                  <a:lnTo>
                    <a:pt x="72008" y="0"/>
                  </a:lnTo>
                  <a:lnTo>
                    <a:pt x="72008" y="604265"/>
                  </a:lnTo>
                  <a:lnTo>
                    <a:pt x="0" y="604265"/>
                  </a:lnTo>
                  <a:lnTo>
                    <a:pt x="144018" y="748283"/>
                  </a:lnTo>
                  <a:lnTo>
                    <a:pt x="288036" y="604265"/>
                  </a:lnTo>
                  <a:lnTo>
                    <a:pt x="216026" y="604265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21279" y="2805684"/>
              <a:ext cx="288290" cy="748665"/>
            </a:xfrm>
            <a:custGeom>
              <a:avLst/>
              <a:gdLst/>
              <a:ahLst/>
              <a:cxnLst/>
              <a:rect l="l" t="t" r="r" b="b"/>
              <a:pathLst>
                <a:path w="288289" h="748664">
                  <a:moveTo>
                    <a:pt x="0" y="604265"/>
                  </a:moveTo>
                  <a:lnTo>
                    <a:pt x="72008" y="604265"/>
                  </a:lnTo>
                  <a:lnTo>
                    <a:pt x="72008" y="0"/>
                  </a:lnTo>
                  <a:lnTo>
                    <a:pt x="216026" y="0"/>
                  </a:lnTo>
                  <a:lnTo>
                    <a:pt x="216026" y="604265"/>
                  </a:lnTo>
                  <a:lnTo>
                    <a:pt x="288036" y="604265"/>
                  </a:lnTo>
                  <a:lnTo>
                    <a:pt x="144018" y="748283"/>
                  </a:lnTo>
                  <a:lnTo>
                    <a:pt x="0" y="604265"/>
                  </a:lnTo>
                  <a:close/>
                </a:path>
              </a:pathLst>
            </a:custGeom>
            <a:ln w="12191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633472" y="4113276"/>
            <a:ext cx="300355" cy="759460"/>
            <a:chOff x="2633472" y="4113276"/>
            <a:chExt cx="300355" cy="759460"/>
          </a:xfrm>
        </p:grpSpPr>
        <p:sp>
          <p:nvSpPr>
            <p:cNvPr id="10" name="object 10"/>
            <p:cNvSpPr/>
            <p:nvPr/>
          </p:nvSpPr>
          <p:spPr>
            <a:xfrm>
              <a:off x="2639568" y="4119372"/>
              <a:ext cx="288290" cy="746760"/>
            </a:xfrm>
            <a:custGeom>
              <a:avLst/>
              <a:gdLst/>
              <a:ahLst/>
              <a:cxnLst/>
              <a:rect l="l" t="t" r="r" b="b"/>
              <a:pathLst>
                <a:path w="288289" h="746760">
                  <a:moveTo>
                    <a:pt x="216026" y="0"/>
                  </a:moveTo>
                  <a:lnTo>
                    <a:pt x="72008" y="0"/>
                  </a:lnTo>
                  <a:lnTo>
                    <a:pt x="72008" y="602741"/>
                  </a:lnTo>
                  <a:lnTo>
                    <a:pt x="0" y="602741"/>
                  </a:lnTo>
                  <a:lnTo>
                    <a:pt x="144018" y="746759"/>
                  </a:lnTo>
                  <a:lnTo>
                    <a:pt x="288036" y="602741"/>
                  </a:lnTo>
                  <a:lnTo>
                    <a:pt x="216026" y="60274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9568" y="4119372"/>
              <a:ext cx="288290" cy="746760"/>
            </a:xfrm>
            <a:custGeom>
              <a:avLst/>
              <a:gdLst/>
              <a:ahLst/>
              <a:cxnLst/>
              <a:rect l="l" t="t" r="r" b="b"/>
              <a:pathLst>
                <a:path w="288289" h="746760">
                  <a:moveTo>
                    <a:pt x="0" y="602741"/>
                  </a:moveTo>
                  <a:lnTo>
                    <a:pt x="72008" y="602741"/>
                  </a:lnTo>
                  <a:lnTo>
                    <a:pt x="72008" y="0"/>
                  </a:lnTo>
                  <a:lnTo>
                    <a:pt x="216026" y="0"/>
                  </a:lnTo>
                  <a:lnTo>
                    <a:pt x="216026" y="602741"/>
                  </a:lnTo>
                  <a:lnTo>
                    <a:pt x="288036" y="602741"/>
                  </a:lnTo>
                  <a:lnTo>
                    <a:pt x="144018" y="746759"/>
                  </a:lnTo>
                  <a:lnTo>
                    <a:pt x="0" y="602741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98821" y="1980692"/>
            <a:ext cx="70345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/>
                <a:cs typeface="Cambria"/>
              </a:rPr>
              <a:t>This</a:t>
            </a:r>
            <a:r>
              <a:rPr sz="2000" spc="2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means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that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different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tasks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to</a:t>
            </a:r>
            <a:r>
              <a:rPr sz="2000" spc="2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be</a:t>
            </a:r>
            <a:r>
              <a:rPr sz="2000" spc="29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included</a:t>
            </a:r>
            <a:r>
              <a:rPr sz="2000" spc="2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job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are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specified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are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categorized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4798821" y="3580638"/>
            <a:ext cx="674941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543050" algn="l"/>
                <a:tab pos="1898014" algn="l"/>
                <a:tab pos="2984500" algn="l"/>
                <a:tab pos="4074160" algn="l"/>
                <a:tab pos="4566920" algn="l"/>
                <a:tab pos="5264785" algn="l"/>
                <a:tab pos="6519545" algn="l"/>
              </a:tabLst>
            </a:pPr>
            <a:r>
              <a:rPr sz="2000" spc="-5" dirty="0">
                <a:latin typeface="Cambria"/>
                <a:cs typeface="Cambria"/>
              </a:rPr>
              <a:t>Spec</a:t>
            </a:r>
            <a:r>
              <a:rPr sz="2000" spc="-20" dirty="0">
                <a:latin typeface="Cambria"/>
                <a:cs typeface="Cambria"/>
              </a:rPr>
              <a:t>i</a:t>
            </a:r>
            <a:r>
              <a:rPr sz="2000" dirty="0">
                <a:latin typeface="Cambria"/>
                <a:cs typeface="Cambria"/>
              </a:rPr>
              <a:t>fi</a:t>
            </a:r>
            <a:r>
              <a:rPr sz="2000" spc="-10" dirty="0">
                <a:latin typeface="Cambria"/>
                <a:cs typeface="Cambria"/>
              </a:rPr>
              <a:t>c</a:t>
            </a:r>
            <a:r>
              <a:rPr sz="2000" spc="-5" dirty="0">
                <a:latin typeface="Cambria"/>
                <a:cs typeface="Cambria"/>
              </a:rPr>
              <a:t>ati</a:t>
            </a:r>
            <a:r>
              <a:rPr sz="2000" spc="-15" dirty="0">
                <a:latin typeface="Cambria"/>
                <a:cs typeface="Cambria"/>
              </a:rPr>
              <a:t>o</a:t>
            </a:r>
            <a:r>
              <a:rPr sz="2000" dirty="0">
                <a:latin typeface="Cambria"/>
                <a:cs typeface="Cambria"/>
              </a:rPr>
              <a:t>n	of	</a:t>
            </a:r>
            <a:r>
              <a:rPr sz="2000" spc="-5" dirty="0">
                <a:latin typeface="Cambria"/>
                <a:cs typeface="Cambria"/>
              </a:rPr>
              <a:t>m</a:t>
            </a:r>
            <a:r>
              <a:rPr sz="2000" spc="-20" dirty="0">
                <a:latin typeface="Cambria"/>
                <a:cs typeface="Cambria"/>
              </a:rPr>
              <a:t>e</a:t>
            </a:r>
            <a:r>
              <a:rPr sz="2000" dirty="0">
                <a:latin typeface="Cambria"/>
                <a:cs typeface="Cambria"/>
              </a:rPr>
              <a:t>t</a:t>
            </a:r>
            <a:r>
              <a:rPr sz="2000" spc="-15" dirty="0">
                <a:latin typeface="Cambria"/>
                <a:cs typeface="Cambria"/>
              </a:rPr>
              <a:t>h</a:t>
            </a:r>
            <a:r>
              <a:rPr sz="2000" dirty="0">
                <a:latin typeface="Cambria"/>
                <a:cs typeface="Cambria"/>
              </a:rPr>
              <a:t>o</a:t>
            </a:r>
            <a:r>
              <a:rPr sz="2000" spc="5" dirty="0">
                <a:latin typeface="Cambria"/>
                <a:cs typeface="Cambria"/>
              </a:rPr>
              <a:t>d</a:t>
            </a:r>
            <a:r>
              <a:rPr sz="2000" dirty="0">
                <a:latin typeface="Cambria"/>
                <a:cs typeface="Cambria"/>
              </a:rPr>
              <a:t>s	</a:t>
            </a:r>
            <a:r>
              <a:rPr sz="2000" spc="-5" dirty="0">
                <a:latin typeface="Cambria"/>
                <a:cs typeface="Cambria"/>
              </a:rPr>
              <a:t>p</a:t>
            </a:r>
            <a:r>
              <a:rPr sz="2000" spc="-40" dirty="0">
                <a:latin typeface="Cambria"/>
                <a:cs typeface="Cambria"/>
              </a:rPr>
              <a:t>r</a:t>
            </a:r>
            <a:r>
              <a:rPr sz="2000" spc="-20" dirty="0">
                <a:latin typeface="Cambria"/>
                <a:cs typeface="Cambria"/>
              </a:rPr>
              <a:t>o</a:t>
            </a:r>
            <a:r>
              <a:rPr sz="2000" dirty="0">
                <a:latin typeface="Cambria"/>
                <a:cs typeface="Cambria"/>
              </a:rPr>
              <a:t>v</a:t>
            </a:r>
            <a:r>
              <a:rPr sz="2000" spc="-10" dirty="0">
                <a:latin typeface="Cambria"/>
                <a:cs typeface="Cambria"/>
              </a:rPr>
              <a:t>i</a:t>
            </a:r>
            <a:r>
              <a:rPr sz="2000" dirty="0">
                <a:latin typeface="Cambria"/>
                <a:cs typeface="Cambria"/>
              </a:rPr>
              <a:t>des	</a:t>
            </a:r>
            <a:r>
              <a:rPr sz="2000" spc="-5" dirty="0">
                <a:latin typeface="Cambria"/>
                <a:cs typeface="Cambria"/>
              </a:rPr>
              <a:t>t</a:t>
            </a:r>
            <a:r>
              <a:rPr sz="2000" spc="-10" dirty="0">
                <a:latin typeface="Cambria"/>
                <a:cs typeface="Cambria"/>
              </a:rPr>
              <a:t>h</a:t>
            </a:r>
            <a:r>
              <a:rPr sz="2000" dirty="0">
                <a:latin typeface="Cambria"/>
                <a:cs typeface="Cambria"/>
              </a:rPr>
              <a:t>e	</a:t>
            </a:r>
            <a:r>
              <a:rPr sz="2000" spc="-5" dirty="0">
                <a:latin typeface="Cambria"/>
                <a:cs typeface="Cambria"/>
              </a:rPr>
              <a:t>basi</a:t>
            </a:r>
            <a:r>
              <a:rPr sz="2000" dirty="0">
                <a:latin typeface="Cambria"/>
                <a:cs typeface="Cambria"/>
              </a:rPr>
              <a:t>c	</a:t>
            </a:r>
            <a:r>
              <a:rPr sz="2000" spc="-5" dirty="0">
                <a:latin typeface="Cambria"/>
                <a:cs typeface="Cambria"/>
              </a:rPr>
              <a:t>g</a:t>
            </a:r>
            <a:r>
              <a:rPr sz="2000" spc="-10" dirty="0">
                <a:latin typeface="Cambria"/>
                <a:cs typeface="Cambria"/>
              </a:rPr>
              <a:t>u</a:t>
            </a:r>
            <a:r>
              <a:rPr sz="2000" dirty="0">
                <a:latin typeface="Cambria"/>
                <a:cs typeface="Cambria"/>
              </a:rPr>
              <a:t>id</a:t>
            </a:r>
            <a:r>
              <a:rPr sz="2000" spc="-10" dirty="0">
                <a:latin typeface="Cambria"/>
                <a:cs typeface="Cambria"/>
              </a:rPr>
              <a:t>e</a:t>
            </a:r>
            <a:r>
              <a:rPr sz="2000" spc="-20" dirty="0">
                <a:latin typeface="Cambria"/>
                <a:cs typeface="Cambria"/>
              </a:rPr>
              <a:t>l</a:t>
            </a:r>
            <a:r>
              <a:rPr sz="2000" dirty="0">
                <a:latin typeface="Cambria"/>
                <a:cs typeface="Cambria"/>
              </a:rPr>
              <a:t>i</a:t>
            </a:r>
            <a:r>
              <a:rPr sz="2000" spc="-10" dirty="0">
                <a:latin typeface="Cambria"/>
                <a:cs typeface="Cambria"/>
              </a:rPr>
              <a:t>n</a:t>
            </a:r>
            <a:r>
              <a:rPr sz="2000" dirty="0">
                <a:latin typeface="Cambria"/>
                <a:cs typeface="Cambria"/>
              </a:rPr>
              <a:t>es	</a:t>
            </a:r>
            <a:r>
              <a:rPr sz="2000" spc="-20" dirty="0">
                <a:latin typeface="Cambria"/>
                <a:cs typeface="Cambria"/>
              </a:rPr>
              <a:t>to  </a:t>
            </a:r>
            <a:r>
              <a:rPr sz="2000" spc="-5" dirty="0">
                <a:latin typeface="Cambria"/>
                <a:cs typeface="Cambria"/>
              </a:rPr>
              <a:t>perform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job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8821" y="4893309"/>
            <a:ext cx="67525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Individual</a:t>
            </a:r>
            <a:r>
              <a:rPr sz="2000" spc="3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tasks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are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combined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into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group</a:t>
            </a:r>
            <a:r>
              <a:rPr sz="2000" spc="3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and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assigned</a:t>
            </a:r>
            <a:r>
              <a:rPr sz="2000" spc="3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to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individual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employee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group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0267" y="627379"/>
            <a:ext cx="580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5" dirty="0">
                <a:solidFill>
                  <a:srgbClr val="6F2F9F"/>
                </a:solidFill>
              </a:rPr>
              <a:t>FACTORS</a:t>
            </a:r>
            <a:r>
              <a:rPr sz="3000" spc="-40" dirty="0">
                <a:solidFill>
                  <a:srgbClr val="6F2F9F"/>
                </a:solidFill>
              </a:rPr>
              <a:t> </a:t>
            </a:r>
            <a:r>
              <a:rPr sz="3000" spc="-5" dirty="0">
                <a:solidFill>
                  <a:srgbClr val="6F2F9F"/>
                </a:solidFill>
              </a:rPr>
              <a:t>AFFECTING</a:t>
            </a:r>
            <a:r>
              <a:rPr sz="3000" spc="-35" dirty="0">
                <a:solidFill>
                  <a:srgbClr val="6F2F9F"/>
                </a:solidFill>
              </a:rPr>
              <a:t> </a:t>
            </a:r>
            <a:r>
              <a:rPr sz="3000" dirty="0">
                <a:solidFill>
                  <a:srgbClr val="6F2F9F"/>
                </a:solidFill>
              </a:rPr>
              <a:t>JOB</a:t>
            </a:r>
            <a:r>
              <a:rPr sz="3000" spc="-20" dirty="0">
                <a:solidFill>
                  <a:srgbClr val="6F2F9F"/>
                </a:solidFill>
              </a:rPr>
              <a:t> </a:t>
            </a:r>
            <a:r>
              <a:rPr sz="3000" spc="-5" dirty="0">
                <a:solidFill>
                  <a:srgbClr val="6F2F9F"/>
                </a:solidFill>
              </a:rPr>
              <a:t>DESIGN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24636" y="1736851"/>
            <a:ext cx="4987290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spc="-10" dirty="0">
                <a:latin typeface="Cambria"/>
                <a:cs typeface="Cambria"/>
              </a:rPr>
              <a:t>Organization’s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requirements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30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spc="-5" dirty="0">
                <a:latin typeface="Cambria"/>
                <a:cs typeface="Cambria"/>
              </a:rPr>
              <a:t>Individual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differences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"/>
            </a:pPr>
            <a:endParaRPr sz="30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spc="-15" dirty="0">
                <a:latin typeface="Cambria"/>
                <a:cs typeface="Cambria"/>
              </a:rPr>
              <a:t>Technology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involved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30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Cost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associated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with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restructuring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jobs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"/>
            </a:pPr>
            <a:endParaRPr sz="30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organization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structure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"/>
            </a:pPr>
            <a:endParaRPr sz="30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internal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climate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49225" rIns="0" bIns="0" rtlCol="0">
            <a:spAutoFit/>
          </a:bodyPr>
          <a:lstStyle/>
          <a:p>
            <a:pPr marL="2783840" marR="348615" indent="-2430145">
              <a:lnSpc>
                <a:spcPct val="100000"/>
              </a:lnSpc>
              <a:spcBef>
                <a:spcPts val="1175"/>
              </a:spcBef>
            </a:pPr>
            <a:r>
              <a:rPr sz="4300" spc="-10" dirty="0">
                <a:solidFill>
                  <a:srgbClr val="FFFFFF"/>
                </a:solidFill>
              </a:rPr>
              <a:t>SKILLS </a:t>
            </a:r>
            <a:r>
              <a:rPr sz="4300" spc="-5" dirty="0">
                <a:solidFill>
                  <a:srgbClr val="FFFFFF"/>
                </a:solidFill>
              </a:rPr>
              <a:t>AND</a:t>
            </a:r>
            <a:r>
              <a:rPr sz="4300" spc="15" dirty="0">
                <a:solidFill>
                  <a:srgbClr val="FFFFFF"/>
                </a:solidFill>
              </a:rPr>
              <a:t> </a:t>
            </a:r>
            <a:r>
              <a:rPr sz="4300" spc="-20" dirty="0">
                <a:solidFill>
                  <a:srgbClr val="FFFFFF"/>
                </a:solidFill>
              </a:rPr>
              <a:t>PERSONAL</a:t>
            </a:r>
            <a:r>
              <a:rPr sz="4300" spc="20" dirty="0">
                <a:solidFill>
                  <a:srgbClr val="FFFFFF"/>
                </a:solidFill>
              </a:rPr>
              <a:t> </a:t>
            </a:r>
            <a:r>
              <a:rPr sz="4300" spc="-20" dirty="0">
                <a:solidFill>
                  <a:srgbClr val="FFFFFF"/>
                </a:solidFill>
              </a:rPr>
              <a:t>CHARACTERISTICS </a:t>
            </a:r>
            <a:r>
              <a:rPr sz="4300" spc="-935" dirty="0">
                <a:solidFill>
                  <a:srgbClr val="FFFFFF"/>
                </a:solidFill>
              </a:rPr>
              <a:t> </a:t>
            </a:r>
            <a:r>
              <a:rPr sz="4300" spc="-10" dirty="0">
                <a:solidFill>
                  <a:srgbClr val="FFFFFF"/>
                </a:solidFill>
              </a:rPr>
              <a:t>NEEDED</a:t>
            </a:r>
            <a:r>
              <a:rPr sz="4300" spc="-5" dirty="0">
                <a:solidFill>
                  <a:srgbClr val="FFFFFF"/>
                </a:solidFill>
              </a:rPr>
              <a:t> IN</a:t>
            </a:r>
            <a:r>
              <a:rPr sz="4300" dirty="0">
                <a:solidFill>
                  <a:srgbClr val="FFFFFF"/>
                </a:solidFill>
              </a:rPr>
              <a:t> </a:t>
            </a:r>
            <a:r>
              <a:rPr sz="4300" spc="-35" dirty="0">
                <a:solidFill>
                  <a:srgbClr val="FFFFFF"/>
                </a:solidFill>
              </a:rPr>
              <a:t>MANAGERS</a:t>
            </a:r>
            <a:endParaRPr sz="43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0228" y="2435585"/>
            <a:ext cx="6015355" cy="331787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5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spc="-25" dirty="0">
                <a:latin typeface="Cambria"/>
                <a:cs typeface="Cambria"/>
              </a:rPr>
              <a:t>Technical</a:t>
            </a:r>
            <a:endParaRPr sz="2400">
              <a:latin typeface="Cambria"/>
              <a:cs typeface="Cambria"/>
            </a:endParaRPr>
          </a:p>
          <a:p>
            <a:pPr marL="469265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Cambria"/>
                <a:cs typeface="Cambria"/>
              </a:rPr>
              <a:t>Human</a:t>
            </a:r>
            <a:endParaRPr sz="2400">
              <a:latin typeface="Cambria"/>
              <a:cs typeface="Cambria"/>
            </a:endParaRPr>
          </a:p>
          <a:p>
            <a:pPr marL="469265" indent="-4572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spc="-10" dirty="0">
                <a:latin typeface="Cambria"/>
                <a:cs typeface="Cambria"/>
              </a:rPr>
              <a:t>Conceptual</a:t>
            </a:r>
            <a:endParaRPr sz="2400">
              <a:latin typeface="Cambria"/>
              <a:cs typeface="Cambria"/>
            </a:endParaRPr>
          </a:p>
          <a:p>
            <a:pPr marL="469265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dirty="0">
                <a:latin typeface="Cambria"/>
                <a:cs typeface="Cambria"/>
              </a:rPr>
              <a:t>Design</a:t>
            </a:r>
            <a:endParaRPr sz="2400">
              <a:latin typeface="Cambria"/>
              <a:cs typeface="Cambria"/>
            </a:endParaRPr>
          </a:p>
          <a:p>
            <a:pPr marL="469265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Analytical</a:t>
            </a:r>
            <a:r>
              <a:rPr sz="2400" b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and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problem</a:t>
            </a:r>
            <a:r>
              <a:rPr sz="2400" b="1" spc="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solving</a:t>
            </a:r>
            <a:r>
              <a:rPr sz="2400" b="1" spc="-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abilities</a:t>
            </a:r>
            <a:endParaRPr sz="2400">
              <a:latin typeface="Cambria"/>
              <a:cs typeface="Cambria"/>
            </a:endParaRPr>
          </a:p>
          <a:p>
            <a:pPr marL="469265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Personal</a:t>
            </a:r>
            <a:r>
              <a:rPr sz="2400" b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characteristics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722" y="767333"/>
            <a:ext cx="3672840" cy="206248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 algn="just">
              <a:lnSpc>
                <a:spcPct val="100000"/>
              </a:lnSpc>
              <a:spcBef>
                <a:spcPts val="300"/>
              </a:spcBef>
            </a:pPr>
            <a:r>
              <a:rPr sz="2400" b="1" spc="-25" dirty="0">
                <a:solidFill>
                  <a:srgbClr val="C00000"/>
                </a:solidFill>
                <a:latin typeface="Cambria"/>
                <a:cs typeface="Cambria"/>
              </a:rPr>
              <a:t>Technical</a:t>
            </a:r>
            <a:r>
              <a:rPr sz="2400" b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skill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Cambria"/>
              <a:cs typeface="Cambria"/>
            </a:endParaRPr>
          </a:p>
          <a:p>
            <a:pPr marL="90805" marR="83185" algn="just">
              <a:lnSpc>
                <a:spcPct val="100000"/>
              </a:lnSpc>
            </a:pPr>
            <a:r>
              <a:rPr sz="2000" b="1" spc="-10" dirty="0">
                <a:latin typeface="Cambria"/>
                <a:cs typeface="Cambria"/>
              </a:rPr>
              <a:t>Ability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to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use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equipment, 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methods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techniques 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35" dirty="0">
                <a:latin typeface="Cambria"/>
                <a:cs typeface="Cambria"/>
              </a:rPr>
              <a:t>involved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performing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specific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tasks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248150" y="767333"/>
            <a:ext cx="3686810" cy="267779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 algn="just">
              <a:lnSpc>
                <a:spcPct val="100000"/>
              </a:lnSpc>
              <a:spcBef>
                <a:spcPts val="300"/>
              </a:spcBef>
            </a:pP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Conceptual</a:t>
            </a:r>
            <a:r>
              <a:rPr sz="2400" b="1" spc="-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skill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Cambria"/>
              <a:cs typeface="Cambria"/>
            </a:endParaRPr>
          </a:p>
          <a:p>
            <a:pPr marL="90805" marR="81280" algn="just">
              <a:lnSpc>
                <a:spcPct val="100000"/>
              </a:lnSpc>
            </a:pPr>
            <a:r>
              <a:rPr sz="2000" b="1" spc="-5" dirty="0">
                <a:latin typeface="Cambria"/>
                <a:cs typeface="Cambria"/>
              </a:rPr>
              <a:t>It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ability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to</a:t>
            </a:r>
            <a:r>
              <a:rPr sz="2000" b="1" spc="-5" dirty="0">
                <a:latin typeface="Cambria"/>
                <a:cs typeface="Cambria"/>
              </a:rPr>
              <a:t> recognize 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different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functions</a:t>
            </a:r>
            <a:r>
              <a:rPr sz="2000" b="1" spc="-5" dirty="0">
                <a:latin typeface="Cambria"/>
                <a:cs typeface="Cambria"/>
              </a:rPr>
              <a:t> of </a:t>
            </a:r>
            <a:r>
              <a:rPr sz="2000" b="1" dirty="0">
                <a:latin typeface="Cambria"/>
                <a:cs typeface="Cambria"/>
              </a:rPr>
              <a:t> business </a:t>
            </a:r>
            <a:r>
              <a:rPr sz="2000" b="1" spc="-5" dirty="0">
                <a:latin typeface="Cambria"/>
                <a:cs typeface="Cambria"/>
              </a:rPr>
              <a:t>and ability </a:t>
            </a:r>
            <a:r>
              <a:rPr sz="2000" b="1" spc="-15" dirty="0">
                <a:latin typeface="Cambria"/>
                <a:cs typeface="Cambria"/>
              </a:rPr>
              <a:t>to </a:t>
            </a:r>
            <a:r>
              <a:rPr sz="2000" b="1" dirty="0">
                <a:latin typeface="Cambria"/>
                <a:cs typeface="Cambria"/>
              </a:rPr>
              <a:t>guide 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organizational</a:t>
            </a:r>
            <a:r>
              <a:rPr sz="2000" b="1" spc="-5" dirty="0">
                <a:latin typeface="Cambria"/>
                <a:cs typeface="Cambria"/>
              </a:rPr>
              <a:t> efforts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to 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achieve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dirty="0">
                <a:latin typeface="Cambria"/>
                <a:cs typeface="Cambria"/>
              </a:rPr>
              <a:t> goal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of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the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enterprise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2533" y="767333"/>
            <a:ext cx="3672840" cy="360172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400" b="1" spc="-5" dirty="0">
                <a:solidFill>
                  <a:srgbClr val="C00000"/>
                </a:solidFill>
                <a:latin typeface="Cambria"/>
                <a:cs typeface="Cambria"/>
              </a:rPr>
              <a:t>Human relational</a:t>
            </a:r>
            <a:r>
              <a:rPr sz="2400" b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skill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Cambria"/>
              <a:cs typeface="Cambria"/>
            </a:endParaRPr>
          </a:p>
          <a:p>
            <a:pPr marL="92075" marR="410845">
              <a:lnSpc>
                <a:spcPct val="100000"/>
              </a:lnSpc>
            </a:pPr>
            <a:r>
              <a:rPr sz="2000" b="1" dirty="0">
                <a:latin typeface="Cambria"/>
                <a:cs typeface="Cambria"/>
              </a:rPr>
              <a:t>The </a:t>
            </a:r>
            <a:r>
              <a:rPr sz="2000" b="1" spc="-5" dirty="0">
                <a:latin typeface="Cambria"/>
                <a:cs typeface="Cambria"/>
              </a:rPr>
              <a:t>ability </a:t>
            </a:r>
            <a:r>
              <a:rPr sz="2000" b="1" dirty="0">
                <a:latin typeface="Cambria"/>
                <a:cs typeface="Cambria"/>
              </a:rPr>
              <a:t>of a </a:t>
            </a:r>
            <a:r>
              <a:rPr sz="2000" b="1" spc="-5" dirty="0">
                <a:latin typeface="Cambria"/>
                <a:cs typeface="Cambria"/>
              </a:rPr>
              <a:t>manager </a:t>
            </a:r>
            <a:r>
              <a:rPr sz="2000" b="1" spc="-10" dirty="0">
                <a:latin typeface="Cambria"/>
                <a:cs typeface="Cambria"/>
              </a:rPr>
              <a:t>to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work </a:t>
            </a:r>
            <a:r>
              <a:rPr sz="2000" b="1" spc="-5" dirty="0">
                <a:latin typeface="Cambria"/>
                <a:cs typeface="Cambria"/>
              </a:rPr>
              <a:t>with,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understand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motivate </a:t>
            </a:r>
            <a:r>
              <a:rPr sz="2000" b="1" spc="-5" dirty="0">
                <a:latin typeface="Cambria"/>
                <a:cs typeface="Cambria"/>
              </a:rPr>
              <a:t>people </a:t>
            </a:r>
            <a:r>
              <a:rPr sz="2000" b="1" dirty="0">
                <a:latin typeface="Cambria"/>
                <a:cs typeface="Cambria"/>
              </a:rPr>
              <a:t>in </a:t>
            </a:r>
            <a:r>
              <a:rPr sz="2000" b="1" spc="-5" dirty="0">
                <a:latin typeface="Cambria"/>
                <a:cs typeface="Cambria"/>
              </a:rPr>
              <a:t>the 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organization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sz="2000" b="1" dirty="0">
                <a:latin typeface="Cambria"/>
                <a:cs typeface="Cambria"/>
              </a:rPr>
              <a:t>Human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relation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skill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include</a:t>
            </a:r>
            <a:endParaRPr sz="2000">
              <a:latin typeface="Cambria"/>
              <a:cs typeface="Cambria"/>
            </a:endParaRPr>
          </a:p>
          <a:p>
            <a:pPr marL="549275" indent="-457834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sz="2000" b="1" spc="-15" dirty="0">
                <a:latin typeface="Cambria"/>
                <a:cs typeface="Cambria"/>
              </a:rPr>
              <a:t>Motivating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skills</a:t>
            </a:r>
            <a:endParaRPr sz="2000">
              <a:latin typeface="Cambria"/>
              <a:cs typeface="Cambria"/>
            </a:endParaRPr>
          </a:p>
          <a:p>
            <a:pPr marL="549275" indent="-45783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49275" algn="l"/>
                <a:tab pos="549910" algn="l"/>
              </a:tabLst>
            </a:pPr>
            <a:r>
              <a:rPr sz="2000" b="1" dirty="0">
                <a:latin typeface="Cambria"/>
                <a:cs typeface="Cambria"/>
              </a:rPr>
              <a:t>Leadership</a:t>
            </a:r>
            <a:r>
              <a:rPr sz="2000" b="1" spc="-7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skill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2722" y="959358"/>
            <a:ext cx="3657600" cy="4802505"/>
          </a:xfrm>
          <a:custGeom>
            <a:avLst/>
            <a:gdLst/>
            <a:ahLst/>
            <a:cxnLst/>
            <a:rect l="l" t="t" r="r" b="b"/>
            <a:pathLst>
              <a:path w="3657600" h="4802505">
                <a:moveTo>
                  <a:pt x="0" y="4802124"/>
                </a:moveTo>
                <a:lnTo>
                  <a:pt x="3657600" y="4802124"/>
                </a:lnTo>
                <a:lnTo>
                  <a:pt x="3657600" y="0"/>
                </a:lnTo>
                <a:lnTo>
                  <a:pt x="0" y="0"/>
                </a:lnTo>
                <a:lnTo>
                  <a:pt x="0" y="480212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9" y="1098550"/>
            <a:ext cx="2237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</a:rPr>
              <a:t>Analytical</a:t>
            </a:r>
            <a:r>
              <a:rPr sz="2400" spc="-65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skills</a:t>
            </a:r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21309" y="1476304"/>
            <a:ext cx="349948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mbria"/>
                <a:cs typeface="Cambria"/>
              </a:rPr>
              <a:t>Managers </a:t>
            </a:r>
            <a:r>
              <a:rPr sz="2000" b="1" spc="-5" dirty="0">
                <a:latin typeface="Cambria"/>
                <a:cs typeface="Cambria"/>
              </a:rPr>
              <a:t>must </a:t>
            </a:r>
            <a:r>
              <a:rPr sz="2000" b="1" dirty="0">
                <a:latin typeface="Cambria"/>
                <a:cs typeface="Cambria"/>
              </a:rPr>
              <a:t>be </a:t>
            </a:r>
            <a:r>
              <a:rPr sz="2000" b="1" spc="-5" dirty="0">
                <a:latin typeface="Cambria"/>
                <a:cs typeface="Cambria"/>
              </a:rPr>
              <a:t>able </a:t>
            </a:r>
            <a:r>
              <a:rPr sz="2000" b="1" spc="-40" dirty="0">
                <a:latin typeface="Cambria"/>
                <a:cs typeface="Cambria"/>
              </a:rPr>
              <a:t>to 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identify problems, </a:t>
            </a:r>
            <a:r>
              <a:rPr sz="2000" b="1" spc="-10" dirty="0">
                <a:latin typeface="Cambria"/>
                <a:cs typeface="Cambria"/>
              </a:rPr>
              <a:t>analyze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complex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situations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-45" dirty="0">
                <a:latin typeface="Cambria"/>
                <a:cs typeface="Cambria"/>
              </a:rPr>
              <a:t>by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909" y="2848412"/>
            <a:ext cx="3145155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5"/>
              </a:spcBef>
              <a:tabLst>
                <a:tab pos="1234440" algn="l"/>
                <a:tab pos="2016125" algn="l"/>
              </a:tabLst>
            </a:pPr>
            <a:r>
              <a:rPr sz="2000" b="1" spc="-10" dirty="0">
                <a:latin typeface="Cambria"/>
                <a:cs typeface="Cambria"/>
              </a:rPr>
              <a:t>solving	the	problems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2320925" algn="l"/>
              </a:tabLst>
            </a:pPr>
            <a:r>
              <a:rPr sz="2000" b="1" dirty="0">
                <a:latin typeface="Cambria"/>
                <a:cs typeface="Cambria"/>
              </a:rPr>
              <a:t>en</a:t>
            </a:r>
            <a:r>
              <a:rPr sz="2000" b="1" spc="-10" dirty="0">
                <a:latin typeface="Cambria"/>
                <a:cs typeface="Cambria"/>
              </a:rPr>
              <a:t>c</a:t>
            </a:r>
            <a:r>
              <a:rPr sz="2000" b="1" spc="-5" dirty="0">
                <a:latin typeface="Cambria"/>
                <a:cs typeface="Cambria"/>
              </a:rPr>
              <a:t>oun</a:t>
            </a:r>
            <a:r>
              <a:rPr sz="2000" b="1" spc="-35" dirty="0">
                <a:latin typeface="Cambria"/>
                <a:cs typeface="Cambria"/>
              </a:rPr>
              <a:t>t</a:t>
            </a:r>
            <a:r>
              <a:rPr sz="2000" b="1" dirty="0">
                <a:latin typeface="Cambria"/>
                <a:cs typeface="Cambria"/>
              </a:rPr>
              <a:t>e</a:t>
            </a:r>
            <a:r>
              <a:rPr sz="2000" b="1" spc="-35" dirty="0">
                <a:latin typeface="Cambria"/>
                <a:cs typeface="Cambria"/>
              </a:rPr>
              <a:t>r</a:t>
            </a:r>
            <a:r>
              <a:rPr sz="2000" b="1" dirty="0">
                <a:latin typeface="Cambria"/>
                <a:cs typeface="Cambria"/>
              </a:rPr>
              <a:t>e</a:t>
            </a:r>
            <a:r>
              <a:rPr sz="2000" b="1" spc="5" dirty="0">
                <a:latin typeface="Cambria"/>
                <a:cs typeface="Cambria"/>
              </a:rPr>
              <a:t>d</a:t>
            </a:r>
            <a:r>
              <a:rPr sz="2000" b="1" dirty="0">
                <a:latin typeface="Cambria"/>
                <a:cs typeface="Cambria"/>
              </a:rPr>
              <a:t>,	</a:t>
            </a:r>
            <a:r>
              <a:rPr sz="2000" b="1" spc="-35" dirty="0">
                <a:latin typeface="Cambria"/>
                <a:cs typeface="Cambria"/>
              </a:rPr>
              <a:t>e</a:t>
            </a:r>
            <a:r>
              <a:rPr sz="2000" b="1" spc="-5" dirty="0">
                <a:latin typeface="Cambria"/>
                <a:cs typeface="Cambria"/>
              </a:rPr>
              <a:t>x</a:t>
            </a:r>
            <a:r>
              <a:rPr sz="2000" b="1" spc="5" dirty="0">
                <a:latin typeface="Cambria"/>
                <a:cs typeface="Cambria"/>
              </a:rPr>
              <a:t>p</a:t>
            </a:r>
            <a:r>
              <a:rPr sz="2000" b="1" spc="-5" dirty="0">
                <a:latin typeface="Cambria"/>
                <a:cs typeface="Cambria"/>
              </a:rPr>
              <a:t>l</a:t>
            </a:r>
            <a:r>
              <a:rPr sz="2000" b="1" spc="-20" dirty="0">
                <a:latin typeface="Cambria"/>
                <a:cs typeface="Cambria"/>
              </a:rPr>
              <a:t>o</a:t>
            </a:r>
            <a:r>
              <a:rPr sz="2000" b="1" spc="-5" dirty="0">
                <a:latin typeface="Cambria"/>
                <a:cs typeface="Cambria"/>
              </a:rPr>
              <a:t>it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009" y="3764232"/>
            <a:ext cx="3486785" cy="1854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1295"/>
              </a:spcBef>
            </a:pPr>
            <a:r>
              <a:rPr sz="2000" b="1" spc="-5" dirty="0">
                <a:latin typeface="Cambria"/>
                <a:cs typeface="Cambria"/>
              </a:rPr>
              <a:t>opportunities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presented</a:t>
            </a:r>
            <a:endParaRPr sz="2000">
              <a:latin typeface="Cambria"/>
              <a:cs typeface="Cambria"/>
            </a:endParaRPr>
          </a:p>
          <a:p>
            <a:pPr marL="3422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2000" b="1" spc="-10" dirty="0">
                <a:latin typeface="Cambria"/>
                <a:cs typeface="Cambria"/>
              </a:rPr>
              <a:t>Analytical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skills</a:t>
            </a:r>
            <a:r>
              <a:rPr sz="2000" b="1" spc="24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should</a:t>
            </a:r>
            <a:r>
              <a:rPr sz="2000" b="1" spc="254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be</a:t>
            </a:r>
            <a:endParaRPr sz="2000">
              <a:latin typeface="Cambria"/>
              <a:cs typeface="Cambria"/>
            </a:endParaRPr>
          </a:p>
          <a:p>
            <a:pPr marL="342900" marR="5080">
              <a:lnSpc>
                <a:spcPct val="150000"/>
              </a:lnSpc>
            </a:pPr>
            <a:r>
              <a:rPr sz="2000" b="1" dirty="0">
                <a:latin typeface="Cambria"/>
                <a:cs typeface="Cambria"/>
              </a:rPr>
              <a:t>used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to</a:t>
            </a:r>
            <a:r>
              <a:rPr sz="2000" b="1" spc="4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find</a:t>
            </a:r>
            <a:r>
              <a:rPr sz="2000" b="1" spc="2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spc="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needs</a:t>
            </a:r>
            <a:r>
              <a:rPr sz="2000" b="1" spc="1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of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present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customers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2346" y="959358"/>
            <a:ext cx="3702050" cy="263207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30"/>
              </a:spcBef>
            </a:pPr>
            <a:r>
              <a:rPr sz="2200" b="1" spc="-15" dirty="0">
                <a:solidFill>
                  <a:srgbClr val="C00000"/>
                </a:solidFill>
                <a:latin typeface="Cambria"/>
                <a:cs typeface="Cambria"/>
              </a:rPr>
              <a:t>Personal</a:t>
            </a:r>
            <a:r>
              <a:rPr sz="2200" b="1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/>
                <a:cs typeface="Cambria"/>
              </a:rPr>
              <a:t>characteristics</a:t>
            </a:r>
            <a:endParaRPr sz="2200">
              <a:latin typeface="Cambria"/>
              <a:cs typeface="Cambria"/>
            </a:endParaRPr>
          </a:p>
          <a:p>
            <a:pPr marL="434340" indent="-34353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34340" algn="l"/>
                <a:tab pos="434975" algn="l"/>
              </a:tabLst>
            </a:pPr>
            <a:r>
              <a:rPr sz="2200" b="1" spc="-10" dirty="0">
                <a:latin typeface="Cambria"/>
                <a:cs typeface="Cambria"/>
              </a:rPr>
              <a:t>Desire</a:t>
            </a:r>
            <a:r>
              <a:rPr sz="2200" b="1" spc="-20" dirty="0">
                <a:latin typeface="Cambria"/>
                <a:cs typeface="Cambria"/>
              </a:rPr>
              <a:t> </a:t>
            </a:r>
            <a:r>
              <a:rPr sz="2200" b="1" spc="-15" dirty="0">
                <a:latin typeface="Cambria"/>
                <a:cs typeface="Cambria"/>
              </a:rPr>
              <a:t>to</a:t>
            </a:r>
            <a:r>
              <a:rPr sz="2200" b="1" spc="-25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manage</a:t>
            </a:r>
            <a:endParaRPr sz="2200">
              <a:latin typeface="Cambria"/>
              <a:cs typeface="Cambria"/>
            </a:endParaRPr>
          </a:p>
          <a:p>
            <a:pPr marL="434340" marR="483234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34340" algn="l"/>
                <a:tab pos="434975" algn="l"/>
              </a:tabLst>
            </a:pPr>
            <a:r>
              <a:rPr sz="2200" b="1" spc="-10" dirty="0">
                <a:latin typeface="Cambria"/>
                <a:cs typeface="Cambria"/>
              </a:rPr>
              <a:t>Communication </a:t>
            </a:r>
            <a:r>
              <a:rPr sz="2200" b="1" spc="-5" dirty="0">
                <a:latin typeface="Cambria"/>
                <a:cs typeface="Cambria"/>
              </a:rPr>
              <a:t>skills </a:t>
            </a:r>
            <a:r>
              <a:rPr sz="2200" b="1" spc="-470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and </a:t>
            </a:r>
            <a:r>
              <a:rPr sz="2200" b="1" spc="-15" dirty="0">
                <a:latin typeface="Cambria"/>
                <a:cs typeface="Cambria"/>
              </a:rPr>
              <a:t>empathy</a:t>
            </a:r>
            <a:endParaRPr sz="2200">
              <a:latin typeface="Cambria"/>
              <a:cs typeface="Cambria"/>
            </a:endParaRPr>
          </a:p>
          <a:p>
            <a:pPr marL="434340" indent="-34353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34340" algn="l"/>
                <a:tab pos="434975" algn="l"/>
              </a:tabLst>
            </a:pPr>
            <a:r>
              <a:rPr sz="2200" b="1" spc="-10" dirty="0">
                <a:latin typeface="Cambria"/>
                <a:cs typeface="Cambria"/>
              </a:rPr>
              <a:t>Integrity</a:t>
            </a:r>
            <a:r>
              <a:rPr sz="2200" b="1" spc="-20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and</a:t>
            </a:r>
            <a:r>
              <a:rPr sz="2200" b="1" spc="-15" dirty="0">
                <a:latin typeface="Cambria"/>
                <a:cs typeface="Cambria"/>
              </a:rPr>
              <a:t> </a:t>
            </a:r>
            <a:r>
              <a:rPr sz="2200" b="1" spc="-5" dirty="0">
                <a:latin typeface="Cambria"/>
                <a:cs typeface="Cambria"/>
              </a:rPr>
              <a:t>honesty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475232"/>
            <a:ext cx="10978896" cy="46299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3435"/>
              </a:spcBef>
            </a:pPr>
            <a:r>
              <a:rPr sz="4800" spc="-25" dirty="0">
                <a:solidFill>
                  <a:srgbClr val="FFFFFF"/>
                </a:solidFill>
              </a:rPr>
              <a:t>RECRUITMENT</a:t>
            </a:r>
            <a:r>
              <a:rPr sz="4800" spc="-10" dirty="0">
                <a:solidFill>
                  <a:srgbClr val="FFFFFF"/>
                </a:solidFill>
              </a:rPr>
              <a:t> </a:t>
            </a:r>
            <a:r>
              <a:rPr sz="4800" spc="-5" dirty="0">
                <a:solidFill>
                  <a:srgbClr val="FFFFFF"/>
                </a:solidFill>
              </a:rPr>
              <a:t>OF</a:t>
            </a:r>
            <a:r>
              <a:rPr sz="4800" spc="-20" dirty="0">
                <a:solidFill>
                  <a:srgbClr val="FFFFFF"/>
                </a:solidFill>
              </a:rPr>
              <a:t> </a:t>
            </a:r>
            <a:r>
              <a:rPr sz="4800" spc="-35" dirty="0">
                <a:solidFill>
                  <a:srgbClr val="FFFFFF"/>
                </a:solidFill>
              </a:rPr>
              <a:t>MANAGERS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79119" y="2438400"/>
            <a:ext cx="4101465" cy="2430780"/>
          </a:xfrm>
          <a:custGeom>
            <a:avLst/>
            <a:gdLst/>
            <a:ahLst/>
            <a:cxnLst/>
            <a:rect l="l" t="t" r="r" b="b"/>
            <a:pathLst>
              <a:path w="4101465" h="2430779">
                <a:moveTo>
                  <a:pt x="4101084" y="0"/>
                </a:moveTo>
                <a:lnTo>
                  <a:pt x="0" y="0"/>
                </a:lnTo>
                <a:lnTo>
                  <a:pt x="0" y="2430780"/>
                </a:lnTo>
                <a:lnTo>
                  <a:pt x="4101084" y="2430780"/>
                </a:lnTo>
                <a:lnTo>
                  <a:pt x="4101084" y="0"/>
                </a:lnTo>
                <a:close/>
              </a:path>
            </a:pathLst>
          </a:custGeom>
          <a:solidFill>
            <a:srgbClr val="BDB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95551" y="3866769"/>
            <a:ext cx="26066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53670">
              <a:lnSpc>
                <a:spcPct val="100000"/>
              </a:lnSpc>
              <a:spcBef>
                <a:spcPts val="100"/>
              </a:spcBef>
              <a:tabLst>
                <a:tab pos="480059" algn="l"/>
                <a:tab pos="1104900" algn="l"/>
                <a:tab pos="1732914" algn="l"/>
                <a:tab pos="2275205" algn="l"/>
              </a:tabLst>
            </a:pPr>
            <a:r>
              <a:rPr sz="2000" b="1" dirty="0">
                <a:latin typeface="Cambria"/>
                <a:cs typeface="Cambria"/>
              </a:rPr>
              <a:t>cand</a:t>
            </a:r>
            <a:r>
              <a:rPr sz="2000" b="1" spc="5" dirty="0">
                <a:latin typeface="Cambria"/>
                <a:cs typeface="Cambria"/>
              </a:rPr>
              <a:t>i</a:t>
            </a:r>
            <a:r>
              <a:rPr sz="2000" b="1" spc="-5" dirty="0">
                <a:latin typeface="Cambria"/>
                <a:cs typeface="Cambria"/>
              </a:rPr>
              <a:t>da</a:t>
            </a:r>
            <a:r>
              <a:rPr sz="2000" b="1" spc="-20" dirty="0">
                <a:latin typeface="Cambria"/>
                <a:cs typeface="Cambria"/>
              </a:rPr>
              <a:t>t</a:t>
            </a:r>
            <a:r>
              <a:rPr sz="2000" b="1" dirty="0">
                <a:latin typeface="Cambria"/>
                <a:cs typeface="Cambria"/>
              </a:rPr>
              <a:t>es	</a:t>
            </a:r>
            <a:r>
              <a:rPr sz="2000" b="1" spc="-25" dirty="0">
                <a:latin typeface="Cambria"/>
                <a:cs typeface="Cambria"/>
              </a:rPr>
              <a:t>t</a:t>
            </a:r>
            <a:r>
              <a:rPr sz="2000" b="1" dirty="0">
                <a:latin typeface="Cambria"/>
                <a:cs typeface="Cambria"/>
              </a:rPr>
              <a:t>o	</a:t>
            </a:r>
            <a:r>
              <a:rPr sz="2000" b="1" spc="-20" dirty="0">
                <a:latin typeface="Cambria"/>
                <a:cs typeface="Cambria"/>
              </a:rPr>
              <a:t>f</a:t>
            </a:r>
            <a:r>
              <a:rPr sz="2000" b="1" dirty="0">
                <a:latin typeface="Cambria"/>
                <a:cs typeface="Cambria"/>
              </a:rPr>
              <a:t>i</a:t>
            </a:r>
            <a:r>
              <a:rPr sz="2000" b="1" spc="-5" dirty="0">
                <a:latin typeface="Cambria"/>
                <a:cs typeface="Cambria"/>
              </a:rPr>
              <a:t>ll  </a:t>
            </a:r>
            <a:r>
              <a:rPr sz="2000" b="1" spc="5" dirty="0">
                <a:latin typeface="Cambria"/>
                <a:cs typeface="Cambria"/>
              </a:rPr>
              <a:t>i</a:t>
            </a:r>
            <a:r>
              <a:rPr sz="2000" b="1" dirty="0">
                <a:latin typeface="Cambria"/>
                <a:cs typeface="Cambria"/>
              </a:rPr>
              <a:t>n	</a:t>
            </a:r>
            <a:r>
              <a:rPr sz="2000" b="1" spc="-15" dirty="0">
                <a:latin typeface="Cambria"/>
                <a:cs typeface="Cambria"/>
              </a:rPr>
              <a:t>t</a:t>
            </a:r>
            <a:r>
              <a:rPr sz="2000" b="1" spc="-10" dirty="0">
                <a:latin typeface="Cambria"/>
                <a:cs typeface="Cambria"/>
              </a:rPr>
              <a:t>h</a:t>
            </a:r>
            <a:r>
              <a:rPr sz="2000" b="1" dirty="0">
                <a:latin typeface="Cambria"/>
                <a:cs typeface="Cambria"/>
              </a:rPr>
              <a:t>e	</a:t>
            </a:r>
            <a:r>
              <a:rPr sz="2000" b="1" spc="-5" dirty="0">
                <a:latin typeface="Cambria"/>
                <a:cs typeface="Cambria"/>
              </a:rPr>
              <a:t>o</a:t>
            </a:r>
            <a:r>
              <a:rPr sz="2000" b="1" spc="-25" dirty="0">
                <a:latin typeface="Cambria"/>
                <a:cs typeface="Cambria"/>
              </a:rPr>
              <a:t>r</a:t>
            </a:r>
            <a:r>
              <a:rPr sz="2000" b="1" spc="-15" dirty="0">
                <a:latin typeface="Cambria"/>
                <a:cs typeface="Cambria"/>
              </a:rPr>
              <a:t>g</a:t>
            </a:r>
            <a:r>
              <a:rPr sz="2000" b="1" spc="-5" dirty="0">
                <a:latin typeface="Cambria"/>
                <a:cs typeface="Cambria"/>
              </a:rPr>
              <a:t>aniza</a:t>
            </a:r>
            <a:r>
              <a:rPr sz="2000" b="1" spc="-15" dirty="0">
                <a:latin typeface="Cambria"/>
                <a:cs typeface="Cambria"/>
              </a:rPr>
              <a:t>t</a:t>
            </a:r>
            <a:r>
              <a:rPr sz="2000" b="1" dirty="0">
                <a:latin typeface="Cambria"/>
                <a:cs typeface="Cambria"/>
              </a:rPr>
              <a:t>i</a:t>
            </a:r>
            <a:r>
              <a:rPr sz="2000" b="1" spc="-5" dirty="0">
                <a:latin typeface="Cambria"/>
                <a:cs typeface="Cambria"/>
              </a:rPr>
              <a:t>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169" y="3866769"/>
            <a:ext cx="11842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mbria"/>
                <a:cs typeface="Cambria"/>
              </a:rPr>
              <a:t>A</a:t>
            </a:r>
            <a:r>
              <a:rPr sz="2000" b="1" spc="-5" dirty="0">
                <a:latin typeface="Cambria"/>
                <a:cs typeface="Cambria"/>
              </a:rPr>
              <a:t>tt</a:t>
            </a:r>
            <a:r>
              <a:rPr sz="2000" b="1" spc="-35" dirty="0">
                <a:latin typeface="Cambria"/>
                <a:cs typeface="Cambria"/>
              </a:rPr>
              <a:t>r</a:t>
            </a:r>
            <a:r>
              <a:rPr sz="2000" b="1" spc="-5" dirty="0">
                <a:latin typeface="Cambria"/>
                <a:cs typeface="Cambria"/>
              </a:rPr>
              <a:t>a</a:t>
            </a:r>
            <a:r>
              <a:rPr sz="2000" b="1" spc="-10" dirty="0">
                <a:latin typeface="Cambria"/>
                <a:cs typeface="Cambria"/>
              </a:rPr>
              <a:t>c</a:t>
            </a:r>
            <a:r>
              <a:rPr sz="2000" b="1" spc="-15" dirty="0">
                <a:latin typeface="Cambria"/>
                <a:cs typeface="Cambria"/>
              </a:rPr>
              <a:t>t</a:t>
            </a:r>
            <a:r>
              <a:rPr sz="2000" b="1" dirty="0">
                <a:latin typeface="Cambria"/>
                <a:cs typeface="Cambria"/>
              </a:rPr>
              <a:t>ing  </a:t>
            </a:r>
            <a:r>
              <a:rPr sz="2000" b="1" spc="-10" dirty="0">
                <a:latin typeface="Cambria"/>
                <a:cs typeface="Cambria"/>
              </a:rPr>
              <a:t>positions </a:t>
            </a:r>
            <a:r>
              <a:rPr sz="2000" b="1" spc="-5" dirty="0">
                <a:latin typeface="Cambria"/>
                <a:cs typeface="Cambria"/>
              </a:rPr>
              <a:t> structure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3023" y="2432304"/>
            <a:ext cx="4113529" cy="1026160"/>
            <a:chOff x="573023" y="2432304"/>
            <a:chExt cx="4113529" cy="1026160"/>
          </a:xfrm>
        </p:grpSpPr>
        <p:sp>
          <p:nvSpPr>
            <p:cNvPr id="7" name="object 7"/>
            <p:cNvSpPr/>
            <p:nvPr/>
          </p:nvSpPr>
          <p:spPr>
            <a:xfrm>
              <a:off x="579119" y="2438400"/>
              <a:ext cx="4101465" cy="1013460"/>
            </a:xfrm>
            <a:custGeom>
              <a:avLst/>
              <a:gdLst/>
              <a:ahLst/>
              <a:cxnLst/>
              <a:rect l="l" t="t" r="r" b="b"/>
              <a:pathLst>
                <a:path w="4101465" h="1013460">
                  <a:moveTo>
                    <a:pt x="2947670" y="0"/>
                  </a:moveTo>
                  <a:lnTo>
                    <a:pt x="1153414" y="0"/>
                  </a:lnTo>
                  <a:lnTo>
                    <a:pt x="1103548" y="3319"/>
                  </a:lnTo>
                  <a:lnTo>
                    <a:pt x="1062815" y="12366"/>
                  </a:lnTo>
                  <a:lnTo>
                    <a:pt x="1035345" y="25771"/>
                  </a:lnTo>
                  <a:lnTo>
                    <a:pt x="1025270" y="42163"/>
                  </a:lnTo>
                  <a:lnTo>
                    <a:pt x="1025270" y="168910"/>
                  </a:lnTo>
                  <a:lnTo>
                    <a:pt x="0" y="168910"/>
                  </a:lnTo>
                  <a:lnTo>
                    <a:pt x="512635" y="591185"/>
                  </a:lnTo>
                  <a:lnTo>
                    <a:pt x="0" y="1013460"/>
                  </a:lnTo>
                  <a:lnTo>
                    <a:pt x="1409700" y="1013460"/>
                  </a:lnTo>
                  <a:lnTo>
                    <a:pt x="1459618" y="1010140"/>
                  </a:lnTo>
                  <a:lnTo>
                    <a:pt x="1500346" y="1001093"/>
                  </a:lnTo>
                  <a:lnTo>
                    <a:pt x="1527786" y="987688"/>
                  </a:lnTo>
                  <a:lnTo>
                    <a:pt x="1537843" y="971296"/>
                  </a:lnTo>
                  <a:lnTo>
                    <a:pt x="1527786" y="954829"/>
                  </a:lnTo>
                  <a:lnTo>
                    <a:pt x="1500346" y="941387"/>
                  </a:lnTo>
                  <a:lnTo>
                    <a:pt x="1459618" y="932326"/>
                  </a:lnTo>
                  <a:lnTo>
                    <a:pt x="1409700" y="929004"/>
                  </a:lnTo>
                  <a:lnTo>
                    <a:pt x="1153414" y="929004"/>
                  </a:lnTo>
                  <a:lnTo>
                    <a:pt x="1103548" y="925683"/>
                  </a:lnTo>
                  <a:lnTo>
                    <a:pt x="1062815" y="916622"/>
                  </a:lnTo>
                  <a:lnTo>
                    <a:pt x="1035345" y="903180"/>
                  </a:lnTo>
                  <a:lnTo>
                    <a:pt x="1025270" y="886713"/>
                  </a:lnTo>
                  <a:lnTo>
                    <a:pt x="1035345" y="870321"/>
                  </a:lnTo>
                  <a:lnTo>
                    <a:pt x="1062815" y="856916"/>
                  </a:lnTo>
                  <a:lnTo>
                    <a:pt x="1103548" y="847869"/>
                  </a:lnTo>
                  <a:lnTo>
                    <a:pt x="1153414" y="844550"/>
                  </a:lnTo>
                  <a:lnTo>
                    <a:pt x="2947670" y="844550"/>
                  </a:lnTo>
                  <a:lnTo>
                    <a:pt x="2997535" y="847869"/>
                  </a:lnTo>
                  <a:lnTo>
                    <a:pt x="3038268" y="856916"/>
                  </a:lnTo>
                  <a:lnTo>
                    <a:pt x="3065738" y="870321"/>
                  </a:lnTo>
                  <a:lnTo>
                    <a:pt x="3075813" y="886713"/>
                  </a:lnTo>
                  <a:lnTo>
                    <a:pt x="3065738" y="903180"/>
                  </a:lnTo>
                  <a:lnTo>
                    <a:pt x="3038268" y="916622"/>
                  </a:lnTo>
                  <a:lnTo>
                    <a:pt x="2997535" y="925683"/>
                  </a:lnTo>
                  <a:lnTo>
                    <a:pt x="2947670" y="929004"/>
                  </a:lnTo>
                  <a:lnTo>
                    <a:pt x="2691384" y="929004"/>
                  </a:lnTo>
                  <a:lnTo>
                    <a:pt x="2641445" y="932324"/>
                  </a:lnTo>
                  <a:lnTo>
                    <a:pt x="2600674" y="941371"/>
                  </a:lnTo>
                  <a:lnTo>
                    <a:pt x="2573190" y="954776"/>
                  </a:lnTo>
                  <a:lnTo>
                    <a:pt x="2563114" y="971169"/>
                  </a:lnTo>
                  <a:lnTo>
                    <a:pt x="2573190" y="987635"/>
                  </a:lnTo>
                  <a:lnTo>
                    <a:pt x="2600674" y="1001077"/>
                  </a:lnTo>
                  <a:lnTo>
                    <a:pt x="2641445" y="1010138"/>
                  </a:lnTo>
                  <a:lnTo>
                    <a:pt x="2691384" y="1013460"/>
                  </a:lnTo>
                  <a:lnTo>
                    <a:pt x="4101083" y="1013460"/>
                  </a:lnTo>
                  <a:lnTo>
                    <a:pt x="3588512" y="591185"/>
                  </a:lnTo>
                  <a:lnTo>
                    <a:pt x="4101083" y="168910"/>
                  </a:lnTo>
                  <a:lnTo>
                    <a:pt x="3075813" y="168910"/>
                  </a:lnTo>
                  <a:lnTo>
                    <a:pt x="3075813" y="42163"/>
                  </a:lnTo>
                  <a:lnTo>
                    <a:pt x="3065738" y="25771"/>
                  </a:lnTo>
                  <a:lnTo>
                    <a:pt x="3038268" y="12366"/>
                  </a:lnTo>
                  <a:lnTo>
                    <a:pt x="2997535" y="3319"/>
                  </a:lnTo>
                  <a:lnTo>
                    <a:pt x="2947670" y="0"/>
                  </a:lnTo>
                  <a:close/>
                </a:path>
              </a:pathLst>
            </a:custGeom>
            <a:solidFill>
              <a:srgbClr val="F88B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04390" y="3282950"/>
              <a:ext cx="2051050" cy="127000"/>
            </a:xfrm>
            <a:custGeom>
              <a:avLst/>
              <a:gdLst/>
              <a:ahLst/>
              <a:cxnLst/>
              <a:rect l="l" t="t" r="r" b="b"/>
              <a:pathLst>
                <a:path w="2051050" h="127000">
                  <a:moveTo>
                    <a:pt x="512572" y="0"/>
                  </a:moveTo>
                  <a:lnTo>
                    <a:pt x="128142" y="0"/>
                  </a:lnTo>
                  <a:lnTo>
                    <a:pt x="78277" y="3319"/>
                  </a:lnTo>
                  <a:lnTo>
                    <a:pt x="37544" y="12366"/>
                  </a:lnTo>
                  <a:lnTo>
                    <a:pt x="10074" y="25771"/>
                  </a:lnTo>
                  <a:lnTo>
                    <a:pt x="0" y="42163"/>
                  </a:lnTo>
                  <a:lnTo>
                    <a:pt x="10074" y="58630"/>
                  </a:lnTo>
                  <a:lnTo>
                    <a:pt x="37544" y="72072"/>
                  </a:lnTo>
                  <a:lnTo>
                    <a:pt x="78277" y="81133"/>
                  </a:lnTo>
                  <a:lnTo>
                    <a:pt x="128142" y="84454"/>
                  </a:lnTo>
                  <a:lnTo>
                    <a:pt x="384428" y="84454"/>
                  </a:lnTo>
                  <a:lnTo>
                    <a:pt x="434347" y="87776"/>
                  </a:lnTo>
                  <a:lnTo>
                    <a:pt x="475075" y="96837"/>
                  </a:lnTo>
                  <a:lnTo>
                    <a:pt x="502515" y="110279"/>
                  </a:lnTo>
                  <a:lnTo>
                    <a:pt x="512572" y="126746"/>
                  </a:lnTo>
                  <a:lnTo>
                    <a:pt x="512572" y="0"/>
                  </a:lnTo>
                  <a:close/>
                </a:path>
                <a:path w="2051050" h="127000">
                  <a:moveTo>
                    <a:pt x="1922399" y="0"/>
                  </a:moveTo>
                  <a:lnTo>
                    <a:pt x="1537842" y="0"/>
                  </a:lnTo>
                  <a:lnTo>
                    <a:pt x="1537842" y="126746"/>
                  </a:lnTo>
                  <a:lnTo>
                    <a:pt x="1547919" y="110279"/>
                  </a:lnTo>
                  <a:lnTo>
                    <a:pt x="1575403" y="96837"/>
                  </a:lnTo>
                  <a:lnTo>
                    <a:pt x="1616174" y="87776"/>
                  </a:lnTo>
                  <a:lnTo>
                    <a:pt x="1666113" y="84454"/>
                  </a:lnTo>
                  <a:lnTo>
                    <a:pt x="1922399" y="84454"/>
                  </a:lnTo>
                  <a:lnTo>
                    <a:pt x="1972264" y="81133"/>
                  </a:lnTo>
                  <a:lnTo>
                    <a:pt x="2012997" y="72072"/>
                  </a:lnTo>
                  <a:lnTo>
                    <a:pt x="2040467" y="58630"/>
                  </a:lnTo>
                  <a:lnTo>
                    <a:pt x="2050542" y="42163"/>
                  </a:lnTo>
                  <a:lnTo>
                    <a:pt x="2040467" y="25771"/>
                  </a:lnTo>
                  <a:lnTo>
                    <a:pt x="2012997" y="12366"/>
                  </a:lnTo>
                  <a:lnTo>
                    <a:pt x="1972264" y="3319"/>
                  </a:lnTo>
                  <a:lnTo>
                    <a:pt x="1922399" y="0"/>
                  </a:lnTo>
                  <a:close/>
                </a:path>
              </a:pathLst>
            </a:custGeom>
            <a:solidFill>
              <a:srgbClr val="C770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9119" y="2438400"/>
              <a:ext cx="4101465" cy="1013460"/>
            </a:xfrm>
            <a:custGeom>
              <a:avLst/>
              <a:gdLst/>
              <a:ahLst/>
              <a:cxnLst/>
              <a:rect l="l" t="t" r="r" b="b"/>
              <a:pathLst>
                <a:path w="4101465" h="1013460">
                  <a:moveTo>
                    <a:pt x="0" y="1013460"/>
                  </a:moveTo>
                  <a:lnTo>
                    <a:pt x="512635" y="591185"/>
                  </a:lnTo>
                  <a:lnTo>
                    <a:pt x="0" y="168910"/>
                  </a:lnTo>
                  <a:lnTo>
                    <a:pt x="1025270" y="168910"/>
                  </a:lnTo>
                  <a:lnTo>
                    <a:pt x="1025270" y="42163"/>
                  </a:lnTo>
                  <a:lnTo>
                    <a:pt x="1035345" y="25771"/>
                  </a:lnTo>
                  <a:lnTo>
                    <a:pt x="1062815" y="12366"/>
                  </a:lnTo>
                  <a:lnTo>
                    <a:pt x="1103548" y="3319"/>
                  </a:lnTo>
                  <a:lnTo>
                    <a:pt x="1153414" y="0"/>
                  </a:lnTo>
                  <a:lnTo>
                    <a:pt x="2947670" y="0"/>
                  </a:lnTo>
                  <a:lnTo>
                    <a:pt x="2997535" y="3319"/>
                  </a:lnTo>
                  <a:lnTo>
                    <a:pt x="3038268" y="12366"/>
                  </a:lnTo>
                  <a:lnTo>
                    <a:pt x="3065738" y="25771"/>
                  </a:lnTo>
                  <a:lnTo>
                    <a:pt x="3075813" y="42163"/>
                  </a:lnTo>
                  <a:lnTo>
                    <a:pt x="3075813" y="168910"/>
                  </a:lnTo>
                  <a:lnTo>
                    <a:pt x="4101083" y="168910"/>
                  </a:lnTo>
                  <a:lnTo>
                    <a:pt x="3588512" y="591185"/>
                  </a:lnTo>
                  <a:lnTo>
                    <a:pt x="4101083" y="1013460"/>
                  </a:lnTo>
                  <a:lnTo>
                    <a:pt x="2691384" y="1013460"/>
                  </a:lnTo>
                  <a:lnTo>
                    <a:pt x="2641445" y="1010140"/>
                  </a:lnTo>
                  <a:lnTo>
                    <a:pt x="2600674" y="1001093"/>
                  </a:lnTo>
                  <a:lnTo>
                    <a:pt x="2573190" y="987688"/>
                  </a:lnTo>
                  <a:lnTo>
                    <a:pt x="2563114" y="971296"/>
                  </a:lnTo>
                  <a:lnTo>
                    <a:pt x="2573190" y="954829"/>
                  </a:lnTo>
                  <a:lnTo>
                    <a:pt x="2600674" y="941387"/>
                  </a:lnTo>
                  <a:lnTo>
                    <a:pt x="2641445" y="932326"/>
                  </a:lnTo>
                  <a:lnTo>
                    <a:pt x="2691384" y="929004"/>
                  </a:lnTo>
                  <a:lnTo>
                    <a:pt x="2947670" y="929004"/>
                  </a:lnTo>
                  <a:lnTo>
                    <a:pt x="2997535" y="925683"/>
                  </a:lnTo>
                  <a:lnTo>
                    <a:pt x="3038268" y="916622"/>
                  </a:lnTo>
                  <a:lnTo>
                    <a:pt x="3065738" y="903180"/>
                  </a:lnTo>
                  <a:lnTo>
                    <a:pt x="3075813" y="886713"/>
                  </a:lnTo>
                  <a:lnTo>
                    <a:pt x="3065738" y="870321"/>
                  </a:lnTo>
                  <a:lnTo>
                    <a:pt x="3038268" y="856916"/>
                  </a:lnTo>
                  <a:lnTo>
                    <a:pt x="2997535" y="847869"/>
                  </a:lnTo>
                  <a:lnTo>
                    <a:pt x="2947670" y="844550"/>
                  </a:lnTo>
                  <a:lnTo>
                    <a:pt x="1153414" y="844550"/>
                  </a:lnTo>
                  <a:lnTo>
                    <a:pt x="1103548" y="847869"/>
                  </a:lnTo>
                  <a:lnTo>
                    <a:pt x="1062815" y="856916"/>
                  </a:lnTo>
                  <a:lnTo>
                    <a:pt x="1035345" y="870321"/>
                  </a:lnTo>
                  <a:lnTo>
                    <a:pt x="1025270" y="886713"/>
                  </a:lnTo>
                  <a:lnTo>
                    <a:pt x="1035345" y="903180"/>
                  </a:lnTo>
                  <a:lnTo>
                    <a:pt x="1062815" y="916622"/>
                  </a:lnTo>
                  <a:lnTo>
                    <a:pt x="1103548" y="925683"/>
                  </a:lnTo>
                  <a:lnTo>
                    <a:pt x="1153414" y="929004"/>
                  </a:lnTo>
                  <a:lnTo>
                    <a:pt x="1409700" y="929004"/>
                  </a:lnTo>
                  <a:lnTo>
                    <a:pt x="1459618" y="932324"/>
                  </a:lnTo>
                  <a:lnTo>
                    <a:pt x="1500346" y="941371"/>
                  </a:lnTo>
                  <a:lnTo>
                    <a:pt x="1527786" y="954776"/>
                  </a:lnTo>
                  <a:lnTo>
                    <a:pt x="1537843" y="971169"/>
                  </a:lnTo>
                  <a:lnTo>
                    <a:pt x="1527786" y="987635"/>
                  </a:lnTo>
                  <a:lnTo>
                    <a:pt x="1500346" y="1001077"/>
                  </a:lnTo>
                  <a:lnTo>
                    <a:pt x="1459618" y="1010138"/>
                  </a:lnTo>
                  <a:lnTo>
                    <a:pt x="1409700" y="1013460"/>
                  </a:lnTo>
                  <a:lnTo>
                    <a:pt x="0" y="1013460"/>
                  </a:lnTo>
                  <a:close/>
                </a:path>
                <a:path w="4101465" h="1013460">
                  <a:moveTo>
                    <a:pt x="1537843" y="844550"/>
                  </a:moveTo>
                  <a:lnTo>
                    <a:pt x="1537843" y="971296"/>
                  </a:lnTo>
                </a:path>
                <a:path w="4101465" h="1013460">
                  <a:moveTo>
                    <a:pt x="2563114" y="971296"/>
                  </a:moveTo>
                  <a:lnTo>
                    <a:pt x="2563114" y="844550"/>
                  </a:lnTo>
                </a:path>
                <a:path w="4101465" h="1013460">
                  <a:moveTo>
                    <a:pt x="1025270" y="886713"/>
                  </a:moveTo>
                  <a:lnTo>
                    <a:pt x="1025270" y="168910"/>
                  </a:lnTo>
                </a:path>
                <a:path w="4101465" h="1013460">
                  <a:moveTo>
                    <a:pt x="3075813" y="168910"/>
                  </a:moveTo>
                  <a:lnTo>
                    <a:pt x="3075813" y="886713"/>
                  </a:lnTo>
                </a:path>
              </a:pathLst>
            </a:custGeom>
            <a:ln w="12192">
              <a:solidFill>
                <a:srgbClr val="F88B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12086" y="2609469"/>
            <a:ext cx="1851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mbria"/>
                <a:cs typeface="Cambria"/>
              </a:rPr>
              <a:t>Recruiting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4916804" y="3334334"/>
            <a:ext cx="66160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ambria"/>
                <a:cs typeface="Cambria"/>
              </a:rPr>
              <a:t>Recruitment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is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process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of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searching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for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prospective 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employees </a:t>
            </a:r>
            <a:r>
              <a:rPr sz="2000" b="1" spc="-5" dirty="0">
                <a:latin typeface="Cambria"/>
                <a:cs typeface="Cambria"/>
              </a:rPr>
              <a:t>and </a:t>
            </a:r>
            <a:r>
              <a:rPr sz="2000" b="1" spc="-10" dirty="0">
                <a:latin typeface="Cambria"/>
                <a:cs typeface="Cambria"/>
              </a:rPr>
              <a:t>stimulating </a:t>
            </a:r>
            <a:r>
              <a:rPr sz="2000" b="1" spc="-5" dirty="0">
                <a:latin typeface="Cambria"/>
                <a:cs typeface="Cambria"/>
              </a:rPr>
              <a:t>them </a:t>
            </a:r>
            <a:r>
              <a:rPr sz="2000" b="1" spc="-20" dirty="0">
                <a:latin typeface="Cambria"/>
                <a:cs typeface="Cambria"/>
              </a:rPr>
              <a:t>to </a:t>
            </a:r>
            <a:r>
              <a:rPr sz="2000" b="1" spc="-15" dirty="0">
                <a:latin typeface="Cambria"/>
                <a:cs typeface="Cambria"/>
              </a:rPr>
              <a:t>apply </a:t>
            </a:r>
            <a:r>
              <a:rPr sz="2000" b="1" spc="-5" dirty="0">
                <a:latin typeface="Cambria"/>
                <a:cs typeface="Cambria"/>
              </a:rPr>
              <a:t>for jobs </a:t>
            </a:r>
            <a:r>
              <a:rPr sz="2000" b="1" dirty="0">
                <a:latin typeface="Cambria"/>
                <a:cs typeface="Cambria"/>
              </a:rPr>
              <a:t>in </a:t>
            </a:r>
            <a:r>
              <a:rPr sz="2000" b="1" spc="-10" dirty="0">
                <a:latin typeface="Cambria"/>
                <a:cs typeface="Cambria"/>
              </a:rPr>
              <a:t>the </a:t>
            </a:r>
            <a:r>
              <a:rPr sz="2000" b="1" spc="-5" dirty="0">
                <a:latin typeface="Cambria"/>
                <a:cs typeface="Cambria"/>
              </a:rPr>
              <a:t> concern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81281" y="6545071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EC8428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Main</a:t>
            </a:r>
            <a:r>
              <a:rPr spc="-30" dirty="0"/>
              <a:t> </a:t>
            </a:r>
            <a:r>
              <a:rPr spc="-5" dirty="0"/>
              <a:t>sources</a:t>
            </a:r>
            <a:r>
              <a:rPr spc="-6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labour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701" y="864844"/>
            <a:ext cx="3281045" cy="1397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i="1" spc="-15" dirty="0">
                <a:solidFill>
                  <a:srgbClr val="80410A"/>
                </a:solidFill>
                <a:latin typeface="Cambria"/>
                <a:cs typeface="Cambria"/>
              </a:rPr>
              <a:t>From </a:t>
            </a:r>
            <a:r>
              <a:rPr sz="2000" b="1" i="1" dirty="0">
                <a:solidFill>
                  <a:srgbClr val="80410A"/>
                </a:solidFill>
                <a:latin typeface="Cambria"/>
                <a:cs typeface="Cambria"/>
              </a:rPr>
              <a:t>within</a:t>
            </a:r>
            <a:r>
              <a:rPr sz="2000" b="1" i="1" spc="-2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80410A"/>
                </a:solidFill>
                <a:latin typeface="Cambria"/>
                <a:cs typeface="Cambria"/>
              </a:rPr>
              <a:t>the</a:t>
            </a:r>
            <a:r>
              <a:rPr sz="2000" b="1" i="1" spc="-2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80410A"/>
                </a:solidFill>
                <a:latin typeface="Cambria"/>
                <a:cs typeface="Cambria"/>
              </a:rPr>
              <a:t>company</a:t>
            </a:r>
            <a:endParaRPr sz="2000">
              <a:latin typeface="Cambria"/>
              <a:cs typeface="Cambri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  <a:tabLst>
                <a:tab pos="935355" algn="l"/>
              </a:tabLst>
            </a:pPr>
            <a:r>
              <a:rPr sz="2000" b="1" spc="-10" dirty="0">
                <a:latin typeface="Cambria"/>
                <a:cs typeface="Cambria"/>
              </a:rPr>
              <a:t>By	</a:t>
            </a:r>
            <a:r>
              <a:rPr sz="2000" b="1" spc="-5" dirty="0">
                <a:latin typeface="Cambria"/>
                <a:cs typeface="Cambria"/>
              </a:rPr>
              <a:t>1.</a:t>
            </a:r>
            <a:r>
              <a:rPr sz="2000" b="1" spc="38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promotion</a:t>
            </a:r>
            <a:endParaRPr sz="20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  <a:tabLst>
                <a:tab pos="1384300" algn="l"/>
              </a:tabLst>
            </a:pPr>
            <a:r>
              <a:rPr sz="2000" b="1" dirty="0">
                <a:latin typeface="Cambria"/>
                <a:cs typeface="Cambria"/>
              </a:rPr>
              <a:t>2.	</a:t>
            </a:r>
            <a:r>
              <a:rPr sz="2000" b="1" spc="-20" dirty="0">
                <a:latin typeface="Cambria"/>
                <a:cs typeface="Cambria"/>
              </a:rPr>
              <a:t>Transfer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701" y="3913479"/>
            <a:ext cx="3830954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i="1" spc="-15" dirty="0">
                <a:solidFill>
                  <a:srgbClr val="80410A"/>
                </a:solidFill>
                <a:latin typeface="Cambria"/>
                <a:cs typeface="Cambria"/>
              </a:rPr>
              <a:t>From</a:t>
            </a:r>
            <a:r>
              <a:rPr sz="2000" b="1" i="1" spc="-1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80410A"/>
                </a:solidFill>
                <a:latin typeface="Cambria"/>
                <a:cs typeface="Cambria"/>
              </a:rPr>
              <a:t>outside</a:t>
            </a:r>
            <a:r>
              <a:rPr sz="2000" b="1" i="1" spc="-2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80410A"/>
                </a:solidFill>
                <a:latin typeface="Cambria"/>
                <a:cs typeface="Cambria"/>
              </a:rPr>
              <a:t>the</a:t>
            </a:r>
            <a:r>
              <a:rPr sz="2000" b="1" i="1" spc="-1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80410A"/>
                </a:solidFill>
                <a:latin typeface="Cambria"/>
                <a:cs typeface="Cambria"/>
              </a:rPr>
              <a:t>company</a:t>
            </a:r>
            <a:endParaRPr sz="2000">
              <a:latin typeface="Cambria"/>
              <a:cs typeface="Cambri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  <a:tabLst>
                <a:tab pos="927100" algn="l"/>
              </a:tabLst>
            </a:pPr>
            <a:r>
              <a:rPr sz="2000" b="1" spc="-10" dirty="0">
                <a:latin typeface="Cambria"/>
                <a:cs typeface="Cambria"/>
              </a:rPr>
              <a:t>By	</a:t>
            </a:r>
            <a:r>
              <a:rPr sz="2000" b="1" spc="-5" dirty="0">
                <a:latin typeface="Cambria"/>
                <a:cs typeface="Cambria"/>
              </a:rPr>
              <a:t>1.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Employment</a:t>
            </a:r>
            <a:r>
              <a:rPr sz="2000" b="1" spc="-7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exchange</a:t>
            </a:r>
            <a:endParaRPr sz="2000">
              <a:latin typeface="Cambria"/>
              <a:cs typeface="Cambria"/>
            </a:endParaRPr>
          </a:p>
          <a:p>
            <a:pPr marL="1192530" lvl="1" indent="-266065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1193165" algn="l"/>
              </a:tabLst>
            </a:pPr>
            <a:r>
              <a:rPr sz="2000" b="1" spc="-10" dirty="0">
                <a:latin typeface="Cambria"/>
                <a:cs typeface="Cambria"/>
              </a:rPr>
              <a:t>Advertisements</a:t>
            </a:r>
            <a:endParaRPr sz="2000">
              <a:latin typeface="Cambria"/>
              <a:cs typeface="Cambria"/>
            </a:endParaRPr>
          </a:p>
          <a:p>
            <a:pPr marL="1192530" lvl="1" indent="-266065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1193165" algn="l"/>
              </a:tabLst>
            </a:pPr>
            <a:r>
              <a:rPr sz="2000" b="1" spc="-5" dirty="0">
                <a:latin typeface="Cambria"/>
                <a:cs typeface="Cambria"/>
              </a:rPr>
              <a:t>Colleges</a:t>
            </a:r>
            <a:endParaRPr sz="2000">
              <a:latin typeface="Cambria"/>
              <a:cs typeface="Cambria"/>
            </a:endParaRPr>
          </a:p>
          <a:p>
            <a:pPr marL="1192530" lvl="1" indent="-266065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1193165" algn="l"/>
              </a:tabLst>
            </a:pPr>
            <a:r>
              <a:rPr sz="2000" b="1" spc="-20" dirty="0">
                <a:latin typeface="Cambria"/>
                <a:cs typeface="Cambria"/>
              </a:rPr>
              <a:t>Foreign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agencies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380" y="6351828"/>
            <a:ext cx="31902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mbria"/>
                <a:cs typeface="Cambria"/>
              </a:rPr>
              <a:t>5.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Manpower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consultancies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351" y="2499360"/>
            <a:ext cx="11097895" cy="95885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22860" rIns="0" bIns="0" rtlCol="0">
            <a:spAutoFit/>
          </a:bodyPr>
          <a:lstStyle/>
          <a:p>
            <a:pPr marL="1346200" marR="305435" indent="-289560">
              <a:lnSpc>
                <a:spcPts val="3600"/>
              </a:lnSpc>
              <a:spcBef>
                <a:spcPts val="180"/>
              </a:spcBef>
            </a:pPr>
            <a:r>
              <a:rPr sz="1800" dirty="0">
                <a:latin typeface="Segoe UI Symbol"/>
                <a:cs typeface="Segoe UI Symbol"/>
              </a:rPr>
              <a:t>✔</a:t>
            </a:r>
            <a:r>
              <a:rPr sz="1800" spc="320" dirty="0">
                <a:latin typeface="Segoe UI Symbol"/>
                <a:cs typeface="Segoe UI Symbol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Internal recruitment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may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lead</a:t>
            </a:r>
            <a:r>
              <a:rPr sz="2000" b="1" spc="10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to</a:t>
            </a:r>
            <a:r>
              <a:rPr sz="2000" b="1" spc="-5" dirty="0">
                <a:latin typeface="Cambria"/>
                <a:cs typeface="Cambria"/>
              </a:rPr>
              <a:t> increase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in</a:t>
            </a:r>
            <a:r>
              <a:rPr sz="2000" b="1" spc="-10" dirty="0">
                <a:latin typeface="Cambria"/>
                <a:cs typeface="Cambria"/>
              </a:rPr>
              <a:t> employee’s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productivity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,</a:t>
            </a:r>
            <a:r>
              <a:rPr sz="2000" b="1" spc="10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saves </a:t>
            </a:r>
            <a:r>
              <a:rPr sz="2000" b="1" spc="-5" dirty="0">
                <a:latin typeface="Cambria"/>
                <a:cs typeface="Cambria"/>
              </a:rPr>
              <a:t>time, </a:t>
            </a:r>
            <a:r>
              <a:rPr sz="2000" b="1" spc="-425" dirty="0">
                <a:latin typeface="Cambria"/>
                <a:cs typeface="Cambria"/>
              </a:rPr>
              <a:t> </a:t>
            </a:r>
            <a:r>
              <a:rPr sz="2000" b="1" spc="-40" dirty="0">
                <a:latin typeface="Cambria"/>
                <a:cs typeface="Cambria"/>
              </a:rPr>
              <a:t>money,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efforts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351" y="3514344"/>
            <a:ext cx="11097895" cy="462280"/>
          </a:xfrm>
          <a:prstGeom prst="rect">
            <a:avLst/>
          </a:prstGeom>
          <a:solidFill>
            <a:srgbClr val="FF2C2C"/>
          </a:solidFill>
        </p:spPr>
        <p:txBody>
          <a:bodyPr vert="horz" wrap="square" lIns="0" tIns="38735" rIns="0" bIns="0" rtlCol="0">
            <a:spAutoFit/>
          </a:bodyPr>
          <a:lstStyle/>
          <a:p>
            <a:pPr marL="1073785">
              <a:lnSpc>
                <a:spcPct val="100000"/>
              </a:lnSpc>
              <a:spcBef>
                <a:spcPts val="305"/>
              </a:spcBef>
              <a:tabLst>
                <a:tab pos="1375410" algn="l"/>
              </a:tabLst>
            </a:pPr>
            <a:r>
              <a:rPr sz="2400" dirty="0">
                <a:latin typeface="Cambria"/>
                <a:cs typeface="Cambria"/>
              </a:rPr>
              <a:t>×	</a:t>
            </a:r>
            <a:r>
              <a:rPr sz="2000" spc="-5" dirty="0">
                <a:latin typeface="Cambria"/>
                <a:cs typeface="Cambria"/>
              </a:rPr>
              <a:t>It</a:t>
            </a:r>
            <a:r>
              <a:rPr sz="2000" dirty="0">
                <a:latin typeface="Cambria"/>
                <a:cs typeface="Cambria"/>
              </a:rPr>
              <a:t> does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not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allow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the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organization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to</a:t>
            </a:r>
            <a:r>
              <a:rPr sz="2000" spc="-20" dirty="0">
                <a:latin typeface="Cambria"/>
                <a:cs typeface="Cambria"/>
              </a:rPr>
              <a:t> have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fresh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brains.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solidFill>
                  <a:srgbClr val="FFFFFF"/>
                </a:solidFill>
              </a:rPr>
              <a:t>RECRUITMENT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PROCESS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70203" y="2286000"/>
            <a:ext cx="2758440" cy="797560"/>
          </a:xfrm>
          <a:prstGeom prst="rect">
            <a:avLst/>
          </a:prstGeom>
          <a:solidFill>
            <a:srgbClr val="FF9933"/>
          </a:solidFill>
          <a:ln w="12192">
            <a:solidFill>
              <a:srgbClr val="303A3E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000" b="1" dirty="0">
                <a:latin typeface="Cambria"/>
                <a:cs typeface="Cambria"/>
              </a:rPr>
              <a:t>Identifying</a:t>
            </a:r>
            <a:r>
              <a:rPr sz="2000" b="1" spc="-8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2000" b="1" spc="-15" dirty="0">
                <a:latin typeface="Cambria"/>
                <a:cs typeface="Cambria"/>
              </a:rPr>
              <a:t>vacancy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0203" y="4166615"/>
            <a:ext cx="3008630" cy="1054735"/>
          </a:xfrm>
          <a:prstGeom prst="rect">
            <a:avLst/>
          </a:prstGeom>
          <a:solidFill>
            <a:srgbClr val="FF3300"/>
          </a:solidFill>
          <a:ln w="12192">
            <a:solidFill>
              <a:srgbClr val="303A3E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44780" marR="139700" indent="2540" algn="ctr">
              <a:lnSpc>
                <a:spcPct val="100000"/>
              </a:lnSpc>
              <a:spcBef>
                <a:spcPts val="500"/>
              </a:spcBef>
            </a:pPr>
            <a:r>
              <a:rPr sz="2000" b="1" spc="-5" dirty="0">
                <a:latin typeface="Cambria"/>
                <a:cs typeface="Cambria"/>
              </a:rPr>
              <a:t>Preparing the job </a:t>
            </a:r>
            <a:r>
              <a:rPr sz="2000" b="1" dirty="0">
                <a:latin typeface="Cambria"/>
                <a:cs typeface="Cambria"/>
              </a:rPr>
              <a:t> description</a:t>
            </a:r>
            <a:r>
              <a:rPr sz="2000" b="1" spc="-7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person </a:t>
            </a:r>
            <a:r>
              <a:rPr sz="2000" b="1" spc="-4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specification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7591" y="3709415"/>
            <a:ext cx="2714625" cy="1673860"/>
          </a:xfrm>
          <a:prstGeom prst="rect">
            <a:avLst/>
          </a:prstGeom>
          <a:solidFill>
            <a:srgbClr val="FF7B80"/>
          </a:solidFill>
          <a:ln w="12192">
            <a:solidFill>
              <a:srgbClr val="303A3E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213995" marR="207010" indent="1905" algn="ctr">
              <a:lnSpc>
                <a:spcPct val="100000"/>
              </a:lnSpc>
              <a:spcBef>
                <a:spcPts val="540"/>
              </a:spcBef>
            </a:pPr>
            <a:r>
              <a:rPr sz="2000" b="1" dirty="0">
                <a:latin typeface="Cambria"/>
                <a:cs typeface="Cambria"/>
              </a:rPr>
              <a:t>Locating </a:t>
            </a:r>
            <a:r>
              <a:rPr sz="2000" b="1" spc="-5" dirty="0">
                <a:latin typeface="Cambria"/>
                <a:cs typeface="Cambria"/>
              </a:rPr>
              <a:t>and 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developing </a:t>
            </a:r>
            <a:r>
              <a:rPr sz="2000" b="1" dirty="0">
                <a:latin typeface="Cambria"/>
                <a:cs typeface="Cambria"/>
              </a:rPr>
              <a:t>the 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sources of required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number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type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of </a:t>
            </a:r>
            <a:r>
              <a:rPr sz="2000" b="1" spc="-425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employees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31452" y="4102608"/>
            <a:ext cx="2432685" cy="856615"/>
          </a:xfrm>
          <a:prstGeom prst="rect">
            <a:avLst/>
          </a:prstGeom>
          <a:solidFill>
            <a:srgbClr val="FF5050"/>
          </a:solidFill>
          <a:ln w="12192">
            <a:solidFill>
              <a:srgbClr val="303A3E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6381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mbria"/>
                <a:cs typeface="Cambria"/>
              </a:rPr>
              <a:t>Screening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25979" y="3154679"/>
            <a:ext cx="497205" cy="990600"/>
            <a:chOff x="2125979" y="3154679"/>
            <a:chExt cx="497205" cy="990600"/>
          </a:xfrm>
        </p:grpSpPr>
        <p:sp>
          <p:nvSpPr>
            <p:cNvPr id="8" name="object 8"/>
            <p:cNvSpPr/>
            <p:nvPr/>
          </p:nvSpPr>
          <p:spPr>
            <a:xfrm>
              <a:off x="2132075" y="3160775"/>
              <a:ext cx="485140" cy="978535"/>
            </a:xfrm>
            <a:custGeom>
              <a:avLst/>
              <a:gdLst/>
              <a:ahLst/>
              <a:cxnLst/>
              <a:rect l="l" t="t" r="r" b="b"/>
              <a:pathLst>
                <a:path w="485139" h="978535">
                  <a:moveTo>
                    <a:pt x="363474" y="0"/>
                  </a:moveTo>
                  <a:lnTo>
                    <a:pt x="121157" y="0"/>
                  </a:lnTo>
                  <a:lnTo>
                    <a:pt x="121157" y="736092"/>
                  </a:lnTo>
                  <a:lnTo>
                    <a:pt x="0" y="736092"/>
                  </a:lnTo>
                  <a:lnTo>
                    <a:pt x="242316" y="978407"/>
                  </a:lnTo>
                  <a:lnTo>
                    <a:pt x="484631" y="736092"/>
                  </a:lnTo>
                  <a:lnTo>
                    <a:pt x="363474" y="73609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2075" y="3160775"/>
              <a:ext cx="485140" cy="978535"/>
            </a:xfrm>
            <a:custGeom>
              <a:avLst/>
              <a:gdLst/>
              <a:ahLst/>
              <a:cxnLst/>
              <a:rect l="l" t="t" r="r" b="b"/>
              <a:pathLst>
                <a:path w="485139" h="978535">
                  <a:moveTo>
                    <a:pt x="0" y="736092"/>
                  </a:moveTo>
                  <a:lnTo>
                    <a:pt x="121157" y="736092"/>
                  </a:lnTo>
                  <a:lnTo>
                    <a:pt x="121157" y="0"/>
                  </a:lnTo>
                  <a:lnTo>
                    <a:pt x="363474" y="0"/>
                  </a:lnTo>
                  <a:lnTo>
                    <a:pt x="363474" y="736092"/>
                  </a:lnTo>
                  <a:lnTo>
                    <a:pt x="484631" y="736092"/>
                  </a:lnTo>
                  <a:lnTo>
                    <a:pt x="242316" y="978407"/>
                  </a:lnTo>
                  <a:lnTo>
                    <a:pt x="0" y="736092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03547" y="4319015"/>
            <a:ext cx="990600" cy="497205"/>
            <a:chOff x="4003547" y="4319015"/>
            <a:chExt cx="990600" cy="497205"/>
          </a:xfrm>
        </p:grpSpPr>
        <p:sp>
          <p:nvSpPr>
            <p:cNvPr id="11" name="object 11"/>
            <p:cNvSpPr/>
            <p:nvPr/>
          </p:nvSpPr>
          <p:spPr>
            <a:xfrm>
              <a:off x="4009643" y="4325111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1" y="0"/>
                  </a:moveTo>
                  <a:lnTo>
                    <a:pt x="736091" y="121157"/>
                  </a:lnTo>
                  <a:lnTo>
                    <a:pt x="0" y="121157"/>
                  </a:lnTo>
                  <a:lnTo>
                    <a:pt x="0" y="363474"/>
                  </a:lnTo>
                  <a:lnTo>
                    <a:pt x="736091" y="363474"/>
                  </a:lnTo>
                  <a:lnTo>
                    <a:pt x="736091" y="484631"/>
                  </a:lnTo>
                  <a:lnTo>
                    <a:pt x="978407" y="242315"/>
                  </a:lnTo>
                  <a:lnTo>
                    <a:pt x="736091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9643" y="4325111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4"/>
                  </a:lnTo>
                  <a:lnTo>
                    <a:pt x="0" y="363474"/>
                  </a:lnTo>
                  <a:lnTo>
                    <a:pt x="0" y="121157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086343" y="4282440"/>
            <a:ext cx="990600" cy="497205"/>
            <a:chOff x="8086343" y="4282440"/>
            <a:chExt cx="990600" cy="497205"/>
          </a:xfrm>
        </p:grpSpPr>
        <p:sp>
          <p:nvSpPr>
            <p:cNvPr id="14" name="object 14"/>
            <p:cNvSpPr/>
            <p:nvPr/>
          </p:nvSpPr>
          <p:spPr>
            <a:xfrm>
              <a:off x="8092439" y="4288536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736091" y="0"/>
                  </a:moveTo>
                  <a:lnTo>
                    <a:pt x="736091" y="121157"/>
                  </a:lnTo>
                  <a:lnTo>
                    <a:pt x="0" y="121157"/>
                  </a:lnTo>
                  <a:lnTo>
                    <a:pt x="0" y="363474"/>
                  </a:lnTo>
                  <a:lnTo>
                    <a:pt x="736091" y="363474"/>
                  </a:lnTo>
                  <a:lnTo>
                    <a:pt x="736091" y="484631"/>
                  </a:lnTo>
                  <a:lnTo>
                    <a:pt x="978407" y="242315"/>
                  </a:lnTo>
                  <a:lnTo>
                    <a:pt x="736091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2439" y="4288536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0" y="121157"/>
                  </a:moveTo>
                  <a:lnTo>
                    <a:pt x="736091" y="121157"/>
                  </a:lnTo>
                  <a:lnTo>
                    <a:pt x="736091" y="0"/>
                  </a:lnTo>
                  <a:lnTo>
                    <a:pt x="978407" y="242315"/>
                  </a:lnTo>
                  <a:lnTo>
                    <a:pt x="736091" y="484631"/>
                  </a:lnTo>
                  <a:lnTo>
                    <a:pt x="736091" y="363474"/>
                  </a:lnTo>
                  <a:lnTo>
                    <a:pt x="0" y="363474"/>
                  </a:lnTo>
                  <a:lnTo>
                    <a:pt x="0" y="121157"/>
                  </a:lnTo>
                  <a:close/>
                </a:path>
              </a:pathLst>
            </a:custGeom>
            <a:ln w="12192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70485" rIns="0" bIns="0" rtlCol="0">
            <a:spAutoFit/>
          </a:bodyPr>
          <a:lstStyle/>
          <a:p>
            <a:pPr marL="2669540" marR="789940" indent="-1887220">
              <a:lnSpc>
                <a:spcPct val="100000"/>
              </a:lnSpc>
              <a:spcBef>
                <a:spcPts val="555"/>
              </a:spcBef>
            </a:pPr>
            <a:r>
              <a:rPr sz="4800" spc="-15" dirty="0">
                <a:solidFill>
                  <a:srgbClr val="FFFFFF"/>
                </a:solidFill>
              </a:rPr>
              <a:t>SELECTION</a:t>
            </a:r>
            <a:r>
              <a:rPr sz="4800" dirty="0">
                <a:solidFill>
                  <a:srgbClr val="FFFFFF"/>
                </a:solidFill>
              </a:rPr>
              <a:t> </a:t>
            </a:r>
            <a:r>
              <a:rPr sz="4800" spc="-20" dirty="0">
                <a:solidFill>
                  <a:srgbClr val="FFFFFF"/>
                </a:solidFill>
              </a:rPr>
              <a:t>PROCESS,</a:t>
            </a:r>
            <a:r>
              <a:rPr sz="4800" spc="-10" dirty="0">
                <a:solidFill>
                  <a:srgbClr val="FFFFFF"/>
                </a:solidFill>
              </a:rPr>
              <a:t> TECHNIQUES </a:t>
            </a:r>
            <a:r>
              <a:rPr sz="4800" spc="-1045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AND</a:t>
            </a:r>
            <a:r>
              <a:rPr sz="4800" spc="-5" dirty="0">
                <a:solidFill>
                  <a:srgbClr val="FFFFFF"/>
                </a:solidFill>
              </a:rPr>
              <a:t> </a:t>
            </a:r>
            <a:r>
              <a:rPr sz="4800" spc="-25" dirty="0">
                <a:solidFill>
                  <a:srgbClr val="FFFFFF"/>
                </a:solidFill>
              </a:rPr>
              <a:t>INSTRUMENTS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79119" y="4143755"/>
            <a:ext cx="4081779" cy="1016635"/>
          </a:xfrm>
          <a:prstGeom prst="rect">
            <a:avLst/>
          </a:prstGeom>
          <a:solidFill>
            <a:srgbClr val="D9A724"/>
          </a:solidFill>
        </p:spPr>
        <p:txBody>
          <a:bodyPr vert="horz" wrap="square" lIns="0" tIns="40005" rIns="0" bIns="0" rtlCol="0">
            <a:spAutoFit/>
          </a:bodyPr>
          <a:lstStyle/>
          <a:p>
            <a:pPr marL="91440" marR="82550" algn="just">
              <a:lnSpc>
                <a:spcPct val="100000"/>
              </a:lnSpc>
              <a:spcBef>
                <a:spcPts val="315"/>
              </a:spcBef>
            </a:pPr>
            <a:r>
              <a:rPr sz="2000" b="1" spc="-35" dirty="0">
                <a:latin typeface="Cambria"/>
                <a:cs typeface="Cambria"/>
              </a:rPr>
              <a:t>For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good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selection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process,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the </a:t>
            </a:r>
            <a:r>
              <a:rPr sz="2000" b="1" spc="-5" dirty="0">
                <a:latin typeface="Cambria"/>
                <a:cs typeface="Cambria"/>
              </a:rPr>
              <a:t> information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about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the</a:t>
            </a:r>
            <a:r>
              <a:rPr sz="2000" b="1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applicant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should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be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valid</a:t>
            </a:r>
            <a:r>
              <a:rPr sz="2000" b="1" i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reliable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5771" y="2523744"/>
            <a:ext cx="3850004" cy="1871980"/>
          </a:xfrm>
          <a:prstGeom prst="rect">
            <a:avLst/>
          </a:prstGeom>
          <a:solidFill>
            <a:srgbClr val="CCCC00"/>
          </a:solidFill>
          <a:ln w="12192">
            <a:solidFill>
              <a:srgbClr val="303A3E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0"/>
              </a:spcBef>
            </a:pP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Validity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1800" b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degree</a:t>
            </a:r>
            <a:r>
              <a:rPr sz="1800" b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mbria"/>
                <a:cs typeface="Cambria"/>
              </a:rPr>
              <a:t>to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which</a:t>
            </a:r>
            <a:r>
              <a:rPr sz="18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1800" b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data</a:t>
            </a:r>
            <a:endParaRPr sz="18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predict</a:t>
            </a:r>
            <a:r>
              <a:rPr sz="1800" b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candidate’s</a:t>
            </a: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success</a:t>
            </a: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as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1800" b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manager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52085" y="3761866"/>
            <a:ext cx="883285" cy="733425"/>
            <a:chOff x="4752085" y="3761866"/>
            <a:chExt cx="883285" cy="733425"/>
          </a:xfrm>
        </p:grpSpPr>
        <p:sp>
          <p:nvSpPr>
            <p:cNvPr id="6" name="object 6"/>
            <p:cNvSpPr/>
            <p:nvPr/>
          </p:nvSpPr>
          <p:spPr>
            <a:xfrm>
              <a:off x="4758435" y="3768216"/>
              <a:ext cx="870585" cy="720725"/>
            </a:xfrm>
            <a:custGeom>
              <a:avLst/>
              <a:gdLst/>
              <a:ahLst/>
              <a:cxnLst/>
              <a:rect l="l" t="t" r="r" b="b"/>
              <a:pathLst>
                <a:path w="870585" h="720725">
                  <a:moveTo>
                    <a:pt x="532511" y="0"/>
                  </a:moveTo>
                  <a:lnTo>
                    <a:pt x="602106" y="99186"/>
                  </a:lnTo>
                  <a:lnTo>
                    <a:pt x="0" y="522477"/>
                  </a:lnTo>
                  <a:lnTo>
                    <a:pt x="139318" y="720724"/>
                  </a:lnTo>
                  <a:lnTo>
                    <a:pt x="741552" y="297306"/>
                  </a:lnTo>
                  <a:lnTo>
                    <a:pt x="811149" y="396493"/>
                  </a:lnTo>
                  <a:lnTo>
                    <a:pt x="870076" y="58800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8435" y="3768216"/>
              <a:ext cx="870585" cy="720725"/>
            </a:xfrm>
            <a:custGeom>
              <a:avLst/>
              <a:gdLst/>
              <a:ahLst/>
              <a:cxnLst/>
              <a:rect l="l" t="t" r="r" b="b"/>
              <a:pathLst>
                <a:path w="870585" h="720725">
                  <a:moveTo>
                    <a:pt x="0" y="522477"/>
                  </a:moveTo>
                  <a:lnTo>
                    <a:pt x="602106" y="99186"/>
                  </a:lnTo>
                  <a:lnTo>
                    <a:pt x="532511" y="0"/>
                  </a:lnTo>
                  <a:lnTo>
                    <a:pt x="870076" y="58800"/>
                  </a:lnTo>
                  <a:lnTo>
                    <a:pt x="811149" y="396493"/>
                  </a:lnTo>
                  <a:lnTo>
                    <a:pt x="741552" y="297306"/>
                  </a:lnTo>
                  <a:lnTo>
                    <a:pt x="139318" y="720724"/>
                  </a:lnTo>
                  <a:lnTo>
                    <a:pt x="0" y="522477"/>
                  </a:lnTo>
                  <a:close/>
                </a:path>
              </a:pathLst>
            </a:custGeom>
            <a:ln w="12700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750053" y="4661534"/>
            <a:ext cx="948690" cy="656590"/>
            <a:chOff x="4750053" y="4661534"/>
            <a:chExt cx="948690" cy="656590"/>
          </a:xfrm>
        </p:grpSpPr>
        <p:sp>
          <p:nvSpPr>
            <p:cNvPr id="9" name="object 9"/>
            <p:cNvSpPr/>
            <p:nvPr/>
          </p:nvSpPr>
          <p:spPr>
            <a:xfrm>
              <a:off x="4756403" y="4667884"/>
              <a:ext cx="935990" cy="643890"/>
            </a:xfrm>
            <a:custGeom>
              <a:avLst/>
              <a:gdLst/>
              <a:ahLst/>
              <a:cxnLst/>
              <a:rect l="l" t="t" r="r" b="b"/>
              <a:pathLst>
                <a:path w="935989" h="643889">
                  <a:moveTo>
                    <a:pt x="103759" y="0"/>
                  </a:moveTo>
                  <a:lnTo>
                    <a:pt x="0" y="218947"/>
                  </a:lnTo>
                  <a:lnTo>
                    <a:pt x="664972" y="534415"/>
                  </a:lnTo>
                  <a:lnTo>
                    <a:pt x="613029" y="643889"/>
                  </a:lnTo>
                  <a:lnTo>
                    <a:pt x="935863" y="528827"/>
                  </a:lnTo>
                  <a:lnTo>
                    <a:pt x="820801" y="205994"/>
                  </a:lnTo>
                  <a:lnTo>
                    <a:pt x="768858" y="315467"/>
                  </a:lnTo>
                  <a:lnTo>
                    <a:pt x="103759" y="0"/>
                  </a:lnTo>
                  <a:close/>
                </a:path>
              </a:pathLst>
            </a:custGeom>
            <a:solidFill>
              <a:srgbClr val="46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56403" y="4667884"/>
              <a:ext cx="935990" cy="643890"/>
            </a:xfrm>
            <a:custGeom>
              <a:avLst/>
              <a:gdLst/>
              <a:ahLst/>
              <a:cxnLst/>
              <a:rect l="l" t="t" r="r" b="b"/>
              <a:pathLst>
                <a:path w="935989" h="643889">
                  <a:moveTo>
                    <a:pt x="103759" y="0"/>
                  </a:moveTo>
                  <a:lnTo>
                    <a:pt x="768858" y="315467"/>
                  </a:lnTo>
                  <a:lnTo>
                    <a:pt x="820801" y="205994"/>
                  </a:lnTo>
                  <a:lnTo>
                    <a:pt x="935863" y="528827"/>
                  </a:lnTo>
                  <a:lnTo>
                    <a:pt x="613029" y="643889"/>
                  </a:lnTo>
                  <a:lnTo>
                    <a:pt x="664972" y="534415"/>
                  </a:lnTo>
                  <a:lnTo>
                    <a:pt x="0" y="218947"/>
                  </a:lnTo>
                  <a:lnTo>
                    <a:pt x="103759" y="0"/>
                  </a:lnTo>
                  <a:close/>
                </a:path>
              </a:pathLst>
            </a:custGeom>
            <a:ln w="12700">
              <a:solidFill>
                <a:srgbClr val="303A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768340" y="4957571"/>
            <a:ext cx="3848100" cy="1871980"/>
          </a:xfrm>
          <a:prstGeom prst="rect">
            <a:avLst/>
          </a:prstGeom>
          <a:solidFill>
            <a:srgbClr val="CCCC00"/>
          </a:solidFill>
          <a:ln w="12192">
            <a:solidFill>
              <a:srgbClr val="303A3E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b="1" spc="-5" dirty="0">
                <a:solidFill>
                  <a:srgbClr val="001F5F"/>
                </a:solidFill>
                <a:latin typeface="Cambria"/>
                <a:cs typeface="Cambria"/>
              </a:rPr>
              <a:t>Reliability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1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accuracy</a:t>
            </a:r>
            <a:r>
              <a:rPr sz="1800" b="1" spc="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1800" b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consistency</a:t>
            </a:r>
            <a:r>
              <a:rPr sz="1800" b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mbria"/>
                <a:cs typeface="Cambria"/>
              </a:rPr>
              <a:t>measurement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7009" y="555116"/>
            <a:ext cx="3637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mbria"/>
                <a:cs typeface="Cambria"/>
              </a:rPr>
              <a:t>SELECTION</a:t>
            </a:r>
            <a:r>
              <a:rPr sz="3000" b="1" spc="-35" dirty="0">
                <a:latin typeface="Cambria"/>
                <a:cs typeface="Cambria"/>
              </a:rPr>
              <a:t> </a:t>
            </a:r>
            <a:r>
              <a:rPr sz="3000" b="1" spc="-20" dirty="0">
                <a:latin typeface="Cambria"/>
                <a:cs typeface="Cambria"/>
              </a:rPr>
              <a:t>PROCESS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7432" y="2212060"/>
            <a:ext cx="608266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It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is 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a </a:t>
            </a:r>
            <a:r>
              <a:rPr sz="2000" b="1" i="1" spc="-15" dirty="0">
                <a:solidFill>
                  <a:srgbClr val="001F5F"/>
                </a:solidFill>
                <a:latin typeface="Cambria"/>
                <a:cs typeface="Cambria"/>
              </a:rPr>
              <a:t>process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of </a:t>
            </a:r>
            <a:r>
              <a:rPr sz="2000" b="1" i="1" spc="-10" dirty="0">
                <a:solidFill>
                  <a:srgbClr val="001F5F"/>
                </a:solidFill>
                <a:latin typeface="Cambria"/>
                <a:cs typeface="Cambria"/>
              </a:rPr>
              <a:t>examining 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the </a:t>
            </a:r>
            <a:r>
              <a:rPr sz="2000" b="1" i="1" spc="-10" dirty="0">
                <a:solidFill>
                  <a:srgbClr val="001F5F"/>
                </a:solidFill>
                <a:latin typeface="Cambria"/>
                <a:cs typeface="Cambria"/>
              </a:rPr>
              <a:t>applicants </a:t>
            </a:r>
            <a:r>
              <a:rPr sz="2000" b="1" i="1" spc="-15" dirty="0">
                <a:solidFill>
                  <a:srgbClr val="001F5F"/>
                </a:solidFill>
                <a:latin typeface="Cambria"/>
                <a:cs typeface="Cambria"/>
              </a:rPr>
              <a:t>to </a:t>
            </a:r>
            <a:r>
              <a:rPr sz="2000" b="1" i="1" spc="-10" dirty="0">
                <a:solidFill>
                  <a:srgbClr val="001F5F"/>
                </a:solidFill>
                <a:latin typeface="Cambria"/>
                <a:cs typeface="Cambria"/>
              </a:rPr>
              <a:t>find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out 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 the</a:t>
            </a:r>
            <a:r>
              <a:rPr sz="2000" b="1" i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suitability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of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 the</a:t>
            </a:r>
            <a:r>
              <a:rPr sz="2000" b="1" i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applicant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for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 the</a:t>
            </a:r>
            <a:r>
              <a:rPr sz="2000" b="1" i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ambria"/>
                <a:cs typeface="Cambria"/>
              </a:rPr>
              <a:t>job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and </a:t>
            </a:r>
            <a:r>
              <a:rPr sz="2000" b="1" i="1" spc="-4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choosing</a:t>
            </a:r>
            <a:r>
              <a:rPr sz="2000" b="1" i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000" b="1" i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001F5F"/>
                </a:solidFill>
                <a:latin typeface="Cambria"/>
                <a:cs typeface="Cambria"/>
              </a:rPr>
              <a:t>best </a:t>
            </a:r>
            <a:r>
              <a:rPr sz="2000" b="1" i="1" spc="-10" dirty="0">
                <a:solidFill>
                  <a:srgbClr val="001F5F"/>
                </a:solidFill>
                <a:latin typeface="Cambria"/>
                <a:cs typeface="Cambria"/>
              </a:rPr>
              <a:t>from</a:t>
            </a:r>
            <a:r>
              <a:rPr sz="2000" b="1" i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ambria"/>
                <a:cs typeface="Cambria"/>
              </a:rPr>
              <a:t>them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51482"/>
            <a:ext cx="9737090" cy="3683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latin typeface="Cambria"/>
                <a:cs typeface="Cambria"/>
              </a:rPr>
              <a:t>Selection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criteria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are</a:t>
            </a:r>
            <a:r>
              <a:rPr sz="2000" b="1" spc="1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established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(Education,</a:t>
            </a:r>
            <a:r>
              <a:rPr sz="2000" b="1" spc="-10" dirty="0">
                <a:latin typeface="Cambria"/>
                <a:cs typeface="Cambria"/>
              </a:rPr>
              <a:t> knowledge,</a:t>
            </a:r>
            <a:r>
              <a:rPr sz="2000" b="1" dirty="0">
                <a:latin typeface="Cambria"/>
                <a:cs typeface="Cambria"/>
              </a:rPr>
              <a:t> skills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and</a:t>
            </a:r>
            <a:r>
              <a:rPr sz="2000" b="1" spc="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experience)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5" dirty="0">
                <a:latin typeface="Cambria"/>
                <a:cs typeface="Cambria"/>
              </a:rPr>
              <a:t>Candidate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fill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the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application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form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latin typeface="Cambria"/>
                <a:cs typeface="Cambria"/>
              </a:rPr>
              <a:t>Screening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interviews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are</a:t>
            </a:r>
            <a:r>
              <a:rPr sz="2000" b="1" dirty="0">
                <a:latin typeface="Cambria"/>
                <a:cs typeface="Cambria"/>
              </a:rPr>
              <a:t> done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spc="-15" dirty="0">
                <a:latin typeface="Cambria"/>
                <a:cs typeface="Cambria"/>
              </a:rPr>
              <a:t>to </a:t>
            </a:r>
            <a:r>
              <a:rPr sz="2000" b="1" dirty="0">
                <a:latin typeface="Cambria"/>
                <a:cs typeface="Cambria"/>
              </a:rPr>
              <a:t>identify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more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promising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candidates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45" dirty="0">
                <a:latin typeface="Cambria"/>
                <a:cs typeface="Cambria"/>
              </a:rPr>
              <a:t>Test </a:t>
            </a:r>
            <a:r>
              <a:rPr sz="2000" b="1" spc="-5" dirty="0">
                <a:latin typeface="Cambria"/>
                <a:cs typeface="Cambria"/>
              </a:rPr>
              <a:t>candidate’s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qualification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20" dirty="0">
                <a:latin typeface="Cambria"/>
                <a:cs typeface="Cambria"/>
              </a:rPr>
              <a:t>Formal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interviews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are</a:t>
            </a:r>
            <a:r>
              <a:rPr sz="2000" b="1" dirty="0">
                <a:latin typeface="Cambria"/>
                <a:cs typeface="Cambria"/>
              </a:rPr>
              <a:t> then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conducted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by</a:t>
            </a:r>
            <a:r>
              <a:rPr sz="2000" b="1" dirty="0">
                <a:latin typeface="Cambria"/>
                <a:cs typeface="Cambria"/>
              </a:rPr>
              <a:t> the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manager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latin typeface="Cambria"/>
                <a:cs typeface="Cambria"/>
              </a:rPr>
              <a:t>Information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provided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by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the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candidate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is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checked and</a:t>
            </a:r>
            <a:r>
              <a:rPr sz="2000" b="1" spc="1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verified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10" dirty="0">
                <a:latin typeface="Cambria"/>
                <a:cs typeface="Cambria"/>
              </a:rPr>
              <a:t>Physical</a:t>
            </a:r>
            <a:r>
              <a:rPr sz="2000" b="1" spc="-6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examination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10" dirty="0">
                <a:latin typeface="Cambria"/>
                <a:cs typeface="Cambria"/>
              </a:rPr>
              <a:t>Provide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Job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offer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4503" y="686180"/>
            <a:ext cx="1593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001F5F"/>
                </a:solidFill>
              </a:rPr>
              <a:t>PROCESS</a:t>
            </a:r>
            <a:endParaRPr sz="3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27" y="635508"/>
            <a:ext cx="11291570" cy="1638300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43624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3435"/>
              </a:spcBef>
            </a:pPr>
            <a:r>
              <a:rPr sz="4800" spc="-10" dirty="0">
                <a:solidFill>
                  <a:srgbClr val="FFFFFF"/>
                </a:solidFill>
              </a:rPr>
              <a:t>TECHNIQUES</a:t>
            </a:r>
            <a:r>
              <a:rPr sz="4800" spc="-25" dirty="0">
                <a:solidFill>
                  <a:srgbClr val="FFFFFF"/>
                </a:solidFill>
              </a:rPr>
              <a:t> </a:t>
            </a:r>
            <a:r>
              <a:rPr sz="4800" spc="-30" dirty="0">
                <a:solidFill>
                  <a:srgbClr val="FFFFFF"/>
                </a:solidFill>
              </a:rPr>
              <a:t>FOR</a:t>
            </a:r>
            <a:r>
              <a:rPr sz="4800" spc="-20" dirty="0">
                <a:solidFill>
                  <a:srgbClr val="FFFFFF"/>
                </a:solidFill>
              </a:rPr>
              <a:t> </a:t>
            </a:r>
            <a:r>
              <a:rPr sz="4800" spc="-15" dirty="0">
                <a:solidFill>
                  <a:srgbClr val="FFFFFF"/>
                </a:solidFill>
              </a:rPr>
              <a:t>SELECTION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3463" y="2641854"/>
            <a:ext cx="1881505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mbria"/>
                <a:cs typeface="Cambria"/>
              </a:rPr>
              <a:t>In</a:t>
            </a:r>
            <a:r>
              <a:rPr sz="2400" spc="-15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er</a:t>
            </a:r>
            <a:r>
              <a:rPr sz="2400" spc="5" dirty="0">
                <a:latin typeface="Cambria"/>
                <a:cs typeface="Cambria"/>
              </a:rPr>
              <a:t>v</a:t>
            </a:r>
            <a:r>
              <a:rPr sz="2400" dirty="0">
                <a:latin typeface="Cambria"/>
                <a:cs typeface="Cambria"/>
              </a:rPr>
              <a:t>i</a:t>
            </a:r>
            <a:r>
              <a:rPr sz="2400" spc="5" dirty="0">
                <a:latin typeface="Cambria"/>
                <a:cs typeface="Cambria"/>
              </a:rPr>
              <a:t>e</a:t>
            </a:r>
            <a:r>
              <a:rPr sz="2400" spc="-25" dirty="0">
                <a:latin typeface="Cambria"/>
                <a:cs typeface="Cambria"/>
              </a:rPr>
              <a:t>w</a:t>
            </a:r>
            <a:r>
              <a:rPr sz="2400" dirty="0">
                <a:latin typeface="Cambria"/>
                <a:cs typeface="Cambria"/>
              </a:rPr>
              <a:t>s</a:t>
            </a:r>
            <a:endParaRPr sz="24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40" dirty="0">
                <a:latin typeface="Cambria"/>
                <a:cs typeface="Cambria"/>
              </a:rPr>
              <a:t>Tests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800" b="0" spc="-20" dirty="0">
                <a:solidFill>
                  <a:srgbClr val="FFFFFF"/>
                </a:solidFill>
                <a:latin typeface="Cambria"/>
                <a:cs typeface="Cambria"/>
              </a:rPr>
              <a:t>INTERVIEW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54812" y="2109677"/>
            <a:ext cx="1089787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400" b="1" i="1" spc="-15" dirty="0">
                <a:solidFill>
                  <a:srgbClr val="80410A"/>
                </a:solidFill>
                <a:latin typeface="Cambria"/>
                <a:cs typeface="Cambria"/>
              </a:rPr>
              <a:t>An</a:t>
            </a:r>
            <a:r>
              <a:rPr sz="2400" b="1" i="1" spc="-1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interview</a:t>
            </a:r>
            <a:r>
              <a:rPr sz="2400" b="1" i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is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 a</a:t>
            </a:r>
            <a:r>
              <a:rPr sz="2400" b="1" i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80410A"/>
                </a:solidFill>
                <a:latin typeface="Cambria"/>
                <a:cs typeface="Cambria"/>
              </a:rPr>
              <a:t>conversation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between</a:t>
            </a:r>
            <a:r>
              <a:rPr sz="2400" b="1" i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an</a:t>
            </a:r>
            <a:r>
              <a:rPr sz="2400" b="1" i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applicant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and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the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interviewer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(recruiting officer) in </a:t>
            </a:r>
            <a:r>
              <a:rPr sz="2400" b="1" i="1" spc="-10" dirty="0">
                <a:solidFill>
                  <a:srgbClr val="80410A"/>
                </a:solidFill>
                <a:latin typeface="Cambria"/>
                <a:cs typeface="Cambria"/>
              </a:rPr>
              <a:t>which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the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interviewer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asks </a:t>
            </a:r>
            <a:r>
              <a:rPr sz="2400" b="1" i="1" spc="-10" dirty="0">
                <a:solidFill>
                  <a:srgbClr val="80410A"/>
                </a:solidFill>
                <a:latin typeface="Cambria"/>
                <a:cs typeface="Cambria"/>
              </a:rPr>
              <a:t>questions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to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the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applicant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on </a:t>
            </a:r>
            <a:r>
              <a:rPr sz="2400" b="1" i="1" spc="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various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80410A"/>
                </a:solidFill>
                <a:latin typeface="Cambria"/>
                <a:cs typeface="Cambria"/>
              </a:rPr>
              <a:t>topics</a:t>
            </a:r>
            <a:r>
              <a:rPr sz="2400" b="1" i="1" spc="1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and</a:t>
            </a:r>
            <a:r>
              <a:rPr sz="2400" b="1" i="1" spc="-3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judge</a:t>
            </a:r>
            <a:r>
              <a:rPr sz="2400" b="1" i="1" spc="-1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their</a:t>
            </a:r>
            <a:r>
              <a:rPr sz="2400" b="1" i="1" spc="-5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ability</a:t>
            </a:r>
            <a:r>
              <a:rPr sz="2400" b="1" i="1" spc="1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80410A"/>
                </a:solidFill>
                <a:latin typeface="Cambria"/>
                <a:cs typeface="Cambria"/>
              </a:rPr>
              <a:t>and</a:t>
            </a:r>
            <a:r>
              <a:rPr sz="2400" b="1" i="1" spc="-30" dirty="0">
                <a:solidFill>
                  <a:srgbClr val="80410A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80410A"/>
                </a:solidFill>
                <a:latin typeface="Cambria"/>
                <a:cs typeface="Cambria"/>
              </a:rPr>
              <a:t>sustainability.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072" y="3966971"/>
            <a:ext cx="11052175" cy="1420495"/>
          </a:xfrm>
          <a:prstGeom prst="rect">
            <a:avLst/>
          </a:prstGeom>
          <a:solidFill>
            <a:srgbClr val="C8CF8D"/>
          </a:solidFill>
        </p:spPr>
        <p:txBody>
          <a:bodyPr vert="horz" wrap="square" lIns="0" tIns="135890" rIns="0" bIns="0" rtlCol="0">
            <a:spAutoFit/>
          </a:bodyPr>
          <a:lstStyle/>
          <a:p>
            <a:pPr marL="377825" indent="-287020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Interview</a:t>
            </a:r>
            <a:r>
              <a:rPr sz="2000" b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helps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find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out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communication</a:t>
            </a:r>
            <a:r>
              <a:rPr sz="2000" b="1" spc="-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abilities</a:t>
            </a:r>
            <a:r>
              <a:rPr sz="2000" b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applicant</a:t>
            </a:r>
            <a:endParaRPr sz="2000">
              <a:latin typeface="Cambria"/>
              <a:cs typeface="Cambria"/>
            </a:endParaRPr>
          </a:p>
          <a:p>
            <a:pPr marL="37782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It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ambria"/>
                <a:cs typeface="Cambria"/>
              </a:rPr>
              <a:t>gives</a:t>
            </a:r>
            <a:r>
              <a:rPr sz="2000" b="1" spc="4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000" b="1" spc="48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applicant</a:t>
            </a:r>
            <a:r>
              <a:rPr sz="2000" b="1" spc="48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2000" b="1" spc="4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learn</a:t>
            </a:r>
            <a:r>
              <a:rPr sz="2000" b="1" spc="4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000" b="1" spc="4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opportunities</a:t>
            </a:r>
            <a:r>
              <a:rPr sz="2000" b="1" spc="4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4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job</a:t>
            </a:r>
            <a:r>
              <a:rPr sz="2000" b="1" spc="4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possibilities</a:t>
            </a:r>
            <a:r>
              <a:rPr sz="2000" b="1" spc="48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that</a:t>
            </a:r>
            <a:r>
              <a:rPr sz="2000" b="1" spc="4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C00000"/>
                </a:solidFill>
                <a:latin typeface="Cambria"/>
                <a:cs typeface="Cambria"/>
              </a:rPr>
              <a:t>exist</a:t>
            </a:r>
            <a:r>
              <a:rPr sz="2000" b="1" spc="4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C00000"/>
                </a:solidFill>
                <a:latin typeface="Cambria"/>
                <a:cs typeface="Cambria"/>
              </a:rPr>
              <a:t>in </a:t>
            </a:r>
            <a:r>
              <a:rPr sz="2000" b="1" spc="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organization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03859"/>
            <a:ext cx="32080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-15" dirty="0">
                <a:latin typeface="Cambria"/>
                <a:cs typeface="Cambria"/>
              </a:rPr>
              <a:t>Types</a:t>
            </a:r>
            <a:r>
              <a:rPr sz="3000" b="0" spc="-40" dirty="0">
                <a:latin typeface="Cambria"/>
                <a:cs typeface="Cambria"/>
              </a:rPr>
              <a:t> </a:t>
            </a:r>
            <a:r>
              <a:rPr sz="3000" b="0" dirty="0">
                <a:latin typeface="Cambria"/>
                <a:cs typeface="Cambria"/>
              </a:rPr>
              <a:t>of</a:t>
            </a:r>
            <a:r>
              <a:rPr sz="3000" b="0" spc="-30" dirty="0">
                <a:latin typeface="Cambria"/>
                <a:cs typeface="Cambria"/>
              </a:rPr>
              <a:t> </a:t>
            </a:r>
            <a:r>
              <a:rPr sz="3000" b="0" spc="-10" dirty="0">
                <a:latin typeface="Cambria"/>
                <a:cs typeface="Cambria"/>
              </a:rPr>
              <a:t>interviews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03577"/>
            <a:ext cx="4094479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Cambria"/>
                <a:cs typeface="Cambria"/>
              </a:rPr>
              <a:t>Traditional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face-to-face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interview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17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Panel/Committee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interview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/>
            </a:pPr>
            <a:endParaRPr sz="17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20" dirty="0">
                <a:latin typeface="Cambria"/>
                <a:cs typeface="Cambria"/>
              </a:rPr>
              <a:t>Telephonic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interview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17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mbria"/>
                <a:cs typeface="Cambria"/>
              </a:rPr>
              <a:t>Stress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interview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18332" y="1031747"/>
            <a:ext cx="3647440" cy="4514215"/>
            <a:chOff x="3418332" y="1031747"/>
            <a:chExt cx="3647440" cy="4514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2139" y="1031747"/>
              <a:ext cx="1373123" cy="13746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5548" y="2406395"/>
              <a:ext cx="1504146" cy="11353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3830" y="3089147"/>
              <a:ext cx="1151717" cy="11963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8332" y="4241291"/>
              <a:ext cx="2377440" cy="130454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06551"/>
            <a:ext cx="11300460" cy="1259205"/>
          </a:xfrm>
          <a:prstGeom prst="rect">
            <a:avLst/>
          </a:prstGeom>
          <a:solidFill>
            <a:srgbClr val="465258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solidFill>
                  <a:srgbClr val="FFFFFF"/>
                </a:solidFill>
              </a:rPr>
              <a:t>TESTS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ourier New"/>
                <a:cs typeface="Courier New"/>
              </a:rPr>
              <a:t>o</a:t>
            </a:r>
            <a:r>
              <a:rPr spc="305" dirty="0">
                <a:latin typeface="Courier New"/>
                <a:cs typeface="Courier New"/>
              </a:rPr>
              <a:t> </a:t>
            </a:r>
            <a:r>
              <a:rPr dirty="0"/>
              <a:t>The</a:t>
            </a:r>
            <a:r>
              <a:rPr spc="120" dirty="0"/>
              <a:t> </a:t>
            </a:r>
            <a:r>
              <a:rPr spc="-10" dirty="0"/>
              <a:t>primary</a:t>
            </a:r>
            <a:r>
              <a:rPr spc="125" dirty="0"/>
              <a:t> </a:t>
            </a:r>
            <a:r>
              <a:rPr dirty="0"/>
              <a:t>aim</a:t>
            </a:r>
            <a:r>
              <a:rPr spc="110" dirty="0"/>
              <a:t> </a:t>
            </a:r>
            <a:r>
              <a:rPr spc="-5" dirty="0"/>
              <a:t>of</a:t>
            </a:r>
            <a:r>
              <a:rPr spc="120" dirty="0"/>
              <a:t> </a:t>
            </a:r>
            <a:r>
              <a:rPr spc="-10" dirty="0"/>
              <a:t>testing</a:t>
            </a:r>
            <a:r>
              <a:rPr spc="125" dirty="0"/>
              <a:t> </a:t>
            </a:r>
            <a:r>
              <a:rPr spc="-5" dirty="0"/>
              <a:t>is</a:t>
            </a:r>
            <a:r>
              <a:rPr spc="114" dirty="0"/>
              <a:t> </a:t>
            </a:r>
            <a:r>
              <a:rPr spc="-5" dirty="0"/>
              <a:t>to</a:t>
            </a:r>
            <a:r>
              <a:rPr spc="120" dirty="0"/>
              <a:t> </a:t>
            </a:r>
            <a:r>
              <a:rPr spc="-5" dirty="0"/>
              <a:t>obtain</a:t>
            </a:r>
            <a:r>
              <a:rPr spc="105" dirty="0"/>
              <a:t> </a:t>
            </a:r>
            <a:r>
              <a:rPr spc="-5" dirty="0"/>
              <a:t>data</a:t>
            </a:r>
            <a:r>
              <a:rPr spc="120" dirty="0"/>
              <a:t> </a:t>
            </a:r>
            <a:r>
              <a:rPr spc="-5" dirty="0"/>
              <a:t>about</a:t>
            </a:r>
            <a:r>
              <a:rPr spc="125" dirty="0"/>
              <a:t> </a:t>
            </a:r>
            <a:r>
              <a:rPr spc="-5" dirty="0"/>
              <a:t>applicants</a:t>
            </a:r>
            <a:r>
              <a:rPr spc="125" dirty="0"/>
              <a:t> </a:t>
            </a:r>
            <a:r>
              <a:rPr spc="-5" dirty="0"/>
              <a:t>that</a:t>
            </a:r>
            <a:r>
              <a:rPr spc="114" dirty="0"/>
              <a:t> </a:t>
            </a:r>
            <a:r>
              <a:rPr spc="-5" dirty="0"/>
              <a:t>help</a:t>
            </a:r>
            <a:r>
              <a:rPr spc="110" dirty="0"/>
              <a:t> </a:t>
            </a:r>
            <a:r>
              <a:rPr spc="-5" dirty="0"/>
              <a:t>to</a:t>
            </a:r>
            <a:r>
              <a:rPr spc="120" dirty="0"/>
              <a:t> </a:t>
            </a:r>
            <a:r>
              <a:rPr spc="-10" dirty="0"/>
              <a:t>predict</a:t>
            </a:r>
            <a:r>
              <a:rPr spc="135" dirty="0"/>
              <a:t> </a:t>
            </a:r>
            <a:r>
              <a:rPr spc="-5" dirty="0"/>
              <a:t>their</a:t>
            </a:r>
            <a:r>
              <a:rPr spc="130" dirty="0"/>
              <a:t> </a:t>
            </a:r>
            <a:r>
              <a:rPr spc="-5" dirty="0"/>
              <a:t>probable</a:t>
            </a:r>
          </a:p>
          <a:p>
            <a:pPr marL="372110">
              <a:lnSpc>
                <a:spcPct val="100000"/>
              </a:lnSpc>
            </a:pPr>
            <a:r>
              <a:rPr dirty="0"/>
              <a:t>success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spc="-5" dirty="0"/>
              <a:t>managers</a:t>
            </a:r>
          </a:p>
          <a:p>
            <a:pPr marL="29209">
              <a:lnSpc>
                <a:spcPct val="100000"/>
              </a:lnSpc>
              <a:spcBef>
                <a:spcPts val="745"/>
              </a:spcBef>
            </a:pPr>
            <a:r>
              <a:rPr sz="3000" dirty="0"/>
              <a:t>TYPES</a:t>
            </a:r>
            <a:r>
              <a:rPr sz="3000" spc="-35" dirty="0"/>
              <a:t> </a:t>
            </a:r>
            <a:r>
              <a:rPr sz="3000" spc="-5" dirty="0"/>
              <a:t>OF</a:t>
            </a:r>
            <a:r>
              <a:rPr sz="3000" spc="-25" dirty="0"/>
              <a:t> </a:t>
            </a:r>
            <a:r>
              <a:rPr sz="3000" spc="-10" dirty="0"/>
              <a:t>TESTS</a:t>
            </a:r>
            <a:endParaRPr sz="3000"/>
          </a:p>
          <a:p>
            <a:pPr marL="372110" marR="7620" indent="-3429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371475" algn="l"/>
                <a:tab pos="372110" algn="l"/>
                <a:tab pos="2112645" algn="l"/>
                <a:tab pos="2889885" algn="l"/>
                <a:tab pos="3179445" algn="l"/>
              </a:tabLst>
            </a:pPr>
            <a:r>
              <a:rPr sz="2400" b="1" i="1" spc="-10" dirty="0">
                <a:latin typeface="Cambria"/>
                <a:cs typeface="Cambria"/>
              </a:rPr>
              <a:t>Intelligence	tests	</a:t>
            </a:r>
            <a:r>
              <a:rPr sz="2400" i="1" dirty="0">
                <a:latin typeface="Cambria"/>
                <a:cs typeface="Cambria"/>
              </a:rPr>
              <a:t>–	</a:t>
            </a:r>
            <a:r>
              <a:rPr dirty="0"/>
              <a:t>designed</a:t>
            </a:r>
            <a:r>
              <a:rPr spc="425" dirty="0"/>
              <a:t> </a:t>
            </a:r>
            <a:r>
              <a:rPr spc="-10" dirty="0"/>
              <a:t>to</a:t>
            </a:r>
            <a:r>
              <a:rPr spc="15" dirty="0"/>
              <a:t> </a:t>
            </a:r>
            <a:r>
              <a:rPr spc="-10" dirty="0"/>
              <a:t>measure</a:t>
            </a:r>
            <a:r>
              <a:rPr dirty="0"/>
              <a:t> </a:t>
            </a:r>
            <a:r>
              <a:rPr spc="-5" dirty="0"/>
              <a:t>mental</a:t>
            </a:r>
            <a:r>
              <a:rPr spc="10" dirty="0"/>
              <a:t> </a:t>
            </a:r>
            <a:r>
              <a:rPr spc="-5" dirty="0"/>
              <a:t>capacity</a:t>
            </a:r>
            <a:r>
              <a:rPr spc="5" dirty="0"/>
              <a:t> </a:t>
            </a:r>
            <a:r>
              <a:rPr spc="-5" dirty="0"/>
              <a:t>and</a:t>
            </a:r>
            <a:r>
              <a:rPr spc="10"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5" dirty="0"/>
              <a:t>test</a:t>
            </a:r>
            <a:r>
              <a:rPr dirty="0"/>
              <a:t> </a:t>
            </a:r>
            <a:r>
              <a:rPr spc="-30" dirty="0"/>
              <a:t>memory,</a:t>
            </a:r>
            <a:r>
              <a:rPr spc="40" dirty="0"/>
              <a:t> </a:t>
            </a:r>
            <a:r>
              <a:rPr spc="-5" dirty="0"/>
              <a:t>speed</a:t>
            </a:r>
            <a:r>
              <a:rPr spc="425" dirty="0"/>
              <a:t> </a:t>
            </a:r>
            <a:r>
              <a:rPr spc="-10" dirty="0"/>
              <a:t>of </a:t>
            </a:r>
            <a:r>
              <a:rPr spc="-430" dirty="0"/>
              <a:t> </a:t>
            </a:r>
            <a:r>
              <a:rPr dirty="0"/>
              <a:t>thought</a:t>
            </a:r>
            <a:r>
              <a:rPr spc="-4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ability</a:t>
            </a:r>
            <a:r>
              <a:rPr spc="-15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dirty="0"/>
              <a:t>see</a:t>
            </a:r>
            <a:r>
              <a:rPr spc="-10" dirty="0"/>
              <a:t> </a:t>
            </a:r>
            <a:r>
              <a:rPr spc="-5" dirty="0"/>
              <a:t>relationships</a:t>
            </a:r>
            <a:r>
              <a:rPr spc="-40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complex</a:t>
            </a:r>
            <a:r>
              <a:rPr spc="-20" dirty="0"/>
              <a:t> </a:t>
            </a:r>
            <a:r>
              <a:rPr spc="-5" dirty="0"/>
              <a:t>problem</a:t>
            </a:r>
            <a:r>
              <a:rPr spc="-20" dirty="0"/>
              <a:t> </a:t>
            </a:r>
            <a:r>
              <a:rPr spc="-5" dirty="0"/>
              <a:t>situations</a:t>
            </a:r>
            <a:endParaRPr sz="2400">
              <a:latin typeface="Cambria"/>
              <a:cs typeface="Cambria"/>
            </a:endParaRPr>
          </a:p>
          <a:p>
            <a:pPr marL="372110" marR="5080" indent="-342900">
              <a:lnSpc>
                <a:spcPct val="100000"/>
              </a:lnSpc>
              <a:buFont typeface="Wingdings"/>
              <a:buChar char=""/>
              <a:tabLst>
                <a:tab pos="371475" algn="l"/>
                <a:tab pos="372110" algn="l"/>
                <a:tab pos="2052955" algn="l"/>
                <a:tab pos="2732405" algn="l"/>
                <a:tab pos="4054475" algn="l"/>
                <a:tab pos="4850130" algn="l"/>
                <a:tab pos="5107305" algn="l"/>
                <a:tab pos="6154420" algn="l"/>
                <a:tab pos="7285355" algn="l"/>
                <a:tab pos="8260715" algn="l"/>
                <a:tab pos="8948420" algn="l"/>
                <a:tab pos="9486265" algn="l"/>
                <a:tab pos="10588625" algn="l"/>
              </a:tabLst>
            </a:pPr>
            <a:r>
              <a:rPr sz="2400" b="1" i="1" spc="-5" dirty="0">
                <a:latin typeface="Cambria"/>
                <a:cs typeface="Cambria"/>
              </a:rPr>
              <a:t>P</a:t>
            </a:r>
            <a:r>
              <a:rPr sz="2400" b="1" i="1" spc="-30" dirty="0">
                <a:latin typeface="Cambria"/>
                <a:cs typeface="Cambria"/>
              </a:rPr>
              <a:t>r</a:t>
            </a:r>
            <a:r>
              <a:rPr sz="2400" b="1" i="1" spc="-5" dirty="0">
                <a:latin typeface="Cambria"/>
                <a:cs typeface="Cambria"/>
              </a:rPr>
              <a:t>o</a:t>
            </a:r>
            <a:r>
              <a:rPr sz="2400" b="1" i="1" spc="5" dirty="0">
                <a:latin typeface="Cambria"/>
                <a:cs typeface="Cambria"/>
              </a:rPr>
              <a:t>f</a:t>
            </a:r>
            <a:r>
              <a:rPr sz="2400" b="1" i="1" spc="-5" dirty="0">
                <a:latin typeface="Cambria"/>
                <a:cs typeface="Cambria"/>
              </a:rPr>
              <a:t>icien</a:t>
            </a:r>
            <a:r>
              <a:rPr sz="2400" b="1" i="1" dirty="0">
                <a:latin typeface="Cambria"/>
                <a:cs typeface="Cambria"/>
              </a:rPr>
              <a:t>cy	and	aptitude	</a:t>
            </a:r>
            <a:r>
              <a:rPr sz="2400" b="1" i="1" spc="-10" dirty="0">
                <a:latin typeface="Cambria"/>
                <a:cs typeface="Cambria"/>
              </a:rPr>
              <a:t>te</a:t>
            </a:r>
            <a:r>
              <a:rPr sz="2400" b="1" i="1" spc="-5" dirty="0">
                <a:latin typeface="Cambria"/>
                <a:cs typeface="Cambria"/>
              </a:rPr>
              <a:t>st</a:t>
            </a:r>
            <a:r>
              <a:rPr sz="2400" b="1" i="1" dirty="0">
                <a:latin typeface="Cambria"/>
                <a:cs typeface="Cambria"/>
              </a:rPr>
              <a:t>s	</a:t>
            </a:r>
            <a:r>
              <a:rPr dirty="0"/>
              <a:t>–	dis</a:t>
            </a:r>
            <a:r>
              <a:rPr spc="-10" dirty="0"/>
              <a:t>c</a:t>
            </a:r>
            <a:r>
              <a:rPr spc="-20" dirty="0"/>
              <a:t>o</a:t>
            </a:r>
            <a:r>
              <a:rPr spc="-40" dirty="0"/>
              <a:t>v</a:t>
            </a:r>
            <a:r>
              <a:rPr dirty="0"/>
              <a:t>er	i</a:t>
            </a:r>
            <a:r>
              <a:rPr spc="-15" dirty="0"/>
              <a:t>n</a:t>
            </a:r>
            <a:r>
              <a:rPr spc="-5" dirty="0"/>
              <a:t>t</a:t>
            </a:r>
            <a:r>
              <a:rPr spc="-20" dirty="0"/>
              <a:t>e</a:t>
            </a:r>
            <a:r>
              <a:rPr spc="-25" dirty="0"/>
              <a:t>r</a:t>
            </a:r>
            <a:r>
              <a:rPr dirty="0"/>
              <a:t>es</a:t>
            </a:r>
            <a:r>
              <a:rPr spc="5" dirty="0"/>
              <a:t>t</a:t>
            </a:r>
            <a:r>
              <a:rPr dirty="0"/>
              <a:t>s,	</a:t>
            </a:r>
            <a:r>
              <a:rPr spc="-30" dirty="0"/>
              <a:t>e</a:t>
            </a:r>
            <a:r>
              <a:rPr spc="-5" dirty="0"/>
              <a:t>x</a:t>
            </a:r>
            <a:r>
              <a:rPr spc="-15" dirty="0"/>
              <a:t>i</a:t>
            </a:r>
            <a:r>
              <a:rPr dirty="0"/>
              <a:t>s</a:t>
            </a:r>
            <a:r>
              <a:rPr spc="5" dirty="0"/>
              <a:t>t</a:t>
            </a:r>
            <a:r>
              <a:rPr spc="-20" dirty="0"/>
              <a:t>i</a:t>
            </a:r>
            <a:r>
              <a:rPr spc="-5" dirty="0"/>
              <a:t>n</a:t>
            </a:r>
            <a:r>
              <a:rPr dirty="0"/>
              <a:t>g	skil</a:t>
            </a:r>
            <a:r>
              <a:rPr spc="-10" dirty="0"/>
              <a:t>l</a:t>
            </a:r>
            <a:r>
              <a:rPr dirty="0"/>
              <a:t>s	a</a:t>
            </a:r>
            <a:r>
              <a:rPr spc="-5" dirty="0"/>
              <a:t>n</a:t>
            </a:r>
            <a:r>
              <a:rPr dirty="0"/>
              <a:t>d	</a:t>
            </a:r>
            <a:r>
              <a:rPr spc="-5" dirty="0"/>
              <a:t>p</a:t>
            </a:r>
            <a:r>
              <a:rPr spc="-10" dirty="0"/>
              <a:t>o</a:t>
            </a:r>
            <a:r>
              <a:rPr spc="-5" dirty="0"/>
              <a:t>t</a:t>
            </a:r>
            <a:r>
              <a:rPr spc="-25" dirty="0"/>
              <a:t>e</a:t>
            </a:r>
            <a:r>
              <a:rPr spc="-5" dirty="0"/>
              <a:t>n</a:t>
            </a:r>
            <a:r>
              <a:rPr spc="-10" dirty="0"/>
              <a:t>t</a:t>
            </a:r>
            <a:r>
              <a:rPr dirty="0"/>
              <a:t>i</a:t>
            </a:r>
            <a:r>
              <a:rPr spc="-15" dirty="0"/>
              <a:t>a</a:t>
            </a:r>
            <a:r>
              <a:rPr dirty="0"/>
              <a:t>l	</a:t>
            </a:r>
            <a:r>
              <a:rPr spc="-30" dirty="0"/>
              <a:t>f</a:t>
            </a:r>
            <a:r>
              <a:rPr dirty="0"/>
              <a:t>or  </a:t>
            </a:r>
            <a:r>
              <a:rPr spc="-5" dirty="0"/>
              <a:t>acquiring</a:t>
            </a:r>
            <a:r>
              <a:rPr spc="-35" dirty="0"/>
              <a:t> </a:t>
            </a:r>
            <a:r>
              <a:rPr spc="-5" dirty="0"/>
              <a:t>skills</a:t>
            </a:r>
            <a:endParaRPr sz="2400">
              <a:latin typeface="Cambria"/>
              <a:cs typeface="Cambria"/>
            </a:endParaRPr>
          </a:p>
          <a:p>
            <a:pPr marL="372110" indent="-342900">
              <a:lnSpc>
                <a:spcPct val="100000"/>
              </a:lnSpc>
              <a:buFont typeface="Wingdings"/>
              <a:buChar char=""/>
              <a:tabLst>
                <a:tab pos="371475" algn="l"/>
                <a:tab pos="372110" algn="l"/>
              </a:tabLst>
            </a:pPr>
            <a:r>
              <a:rPr sz="2400" b="1" i="1" spc="-20" dirty="0">
                <a:latin typeface="Cambria"/>
                <a:cs typeface="Cambria"/>
              </a:rPr>
              <a:t>Vocational</a:t>
            </a:r>
            <a:r>
              <a:rPr sz="2400" b="1" i="1" spc="310" dirty="0">
                <a:latin typeface="Cambria"/>
                <a:cs typeface="Cambria"/>
              </a:rPr>
              <a:t> </a:t>
            </a:r>
            <a:r>
              <a:rPr sz="2400" b="1" i="1" spc="-5" dirty="0">
                <a:latin typeface="Cambria"/>
                <a:cs typeface="Cambria"/>
              </a:rPr>
              <a:t>tests</a:t>
            </a:r>
            <a:r>
              <a:rPr sz="2400" b="1" i="1" spc="305" dirty="0">
                <a:latin typeface="Cambria"/>
                <a:cs typeface="Cambria"/>
              </a:rPr>
              <a:t> </a:t>
            </a:r>
            <a:r>
              <a:rPr dirty="0"/>
              <a:t>–</a:t>
            </a:r>
            <a:r>
              <a:rPr spc="204" dirty="0"/>
              <a:t> </a:t>
            </a:r>
            <a:r>
              <a:rPr spc="-5" dirty="0"/>
              <a:t>designed</a:t>
            </a:r>
            <a:r>
              <a:rPr spc="200" dirty="0"/>
              <a:t> </a:t>
            </a:r>
            <a:r>
              <a:rPr spc="-5" dirty="0"/>
              <a:t>to</a:t>
            </a:r>
            <a:r>
              <a:rPr spc="200" dirty="0"/>
              <a:t> </a:t>
            </a:r>
            <a:r>
              <a:rPr spc="-10" dirty="0"/>
              <a:t>indicate</a:t>
            </a:r>
            <a:r>
              <a:rPr spc="190" dirty="0"/>
              <a:t> </a:t>
            </a:r>
            <a:r>
              <a:rPr spc="-5" dirty="0"/>
              <a:t>candidates</a:t>
            </a:r>
            <a:r>
              <a:rPr spc="175" dirty="0"/>
              <a:t> </a:t>
            </a:r>
            <a:r>
              <a:rPr spc="-5" dirty="0"/>
              <a:t>most</a:t>
            </a:r>
            <a:r>
              <a:rPr spc="210" dirty="0"/>
              <a:t> </a:t>
            </a:r>
            <a:r>
              <a:rPr spc="-5" dirty="0"/>
              <a:t>suitable</a:t>
            </a:r>
            <a:r>
              <a:rPr spc="185" dirty="0"/>
              <a:t> </a:t>
            </a:r>
            <a:r>
              <a:rPr spc="-5" dirty="0"/>
              <a:t>occupation</a:t>
            </a:r>
            <a:r>
              <a:rPr spc="204" dirty="0"/>
              <a:t> </a:t>
            </a:r>
            <a:r>
              <a:rPr spc="-5" dirty="0"/>
              <a:t>or</a:t>
            </a:r>
            <a:r>
              <a:rPr spc="195" dirty="0"/>
              <a:t> </a:t>
            </a:r>
            <a:r>
              <a:rPr spc="-5" dirty="0"/>
              <a:t>the</a:t>
            </a:r>
            <a:r>
              <a:rPr spc="185" dirty="0"/>
              <a:t> </a:t>
            </a:r>
            <a:r>
              <a:rPr spc="-10" dirty="0"/>
              <a:t>areas</a:t>
            </a:r>
            <a:r>
              <a:rPr spc="215" dirty="0"/>
              <a:t> </a:t>
            </a:r>
            <a:r>
              <a:rPr spc="-20" dirty="0"/>
              <a:t>in</a:t>
            </a:r>
            <a:endParaRPr sz="2400">
              <a:latin typeface="Cambria"/>
              <a:cs typeface="Cambria"/>
            </a:endParaRPr>
          </a:p>
          <a:p>
            <a:pPr marL="372110">
              <a:lnSpc>
                <a:spcPts val="2400"/>
              </a:lnSpc>
              <a:spcBef>
                <a:spcPts val="5"/>
              </a:spcBef>
            </a:pPr>
            <a:r>
              <a:rPr spc="-10" dirty="0"/>
              <a:t>which</a:t>
            </a:r>
            <a:r>
              <a:rPr dirty="0"/>
              <a:t> the</a:t>
            </a:r>
            <a:r>
              <a:rPr spc="-10" dirty="0"/>
              <a:t> </a:t>
            </a:r>
            <a:r>
              <a:rPr spc="-5" dirty="0"/>
              <a:t>candidates'</a:t>
            </a:r>
            <a:r>
              <a:rPr spc="-30" dirty="0"/>
              <a:t> </a:t>
            </a:r>
            <a:r>
              <a:rPr spc="-5" dirty="0"/>
              <a:t>interests</a:t>
            </a:r>
            <a:r>
              <a:rPr spc="-25" dirty="0"/>
              <a:t> </a:t>
            </a:r>
            <a:r>
              <a:rPr dirty="0"/>
              <a:t>match</a:t>
            </a:r>
            <a:r>
              <a:rPr spc="-4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interest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people</a:t>
            </a:r>
            <a:r>
              <a:rPr spc="-25" dirty="0"/>
              <a:t> </a:t>
            </a:r>
            <a:r>
              <a:rPr spc="-10" dirty="0"/>
              <a:t>working </a:t>
            </a:r>
            <a:r>
              <a:rPr spc="-5" dirty="0"/>
              <a:t>in </a:t>
            </a:r>
            <a:r>
              <a:rPr dirty="0"/>
              <a:t>those</a:t>
            </a:r>
            <a:r>
              <a:rPr spc="-15" dirty="0"/>
              <a:t> </a:t>
            </a:r>
            <a:r>
              <a:rPr spc="-5" dirty="0"/>
              <a:t>areas</a:t>
            </a:r>
          </a:p>
          <a:p>
            <a:pPr marL="372110" marR="6350" indent="-342900">
              <a:lnSpc>
                <a:spcPts val="2480"/>
              </a:lnSpc>
              <a:spcBef>
                <a:spcPts val="415"/>
              </a:spcBef>
              <a:buFont typeface="Wingdings"/>
              <a:buChar char=""/>
              <a:tabLst>
                <a:tab pos="371475" algn="l"/>
                <a:tab pos="372110" algn="l"/>
              </a:tabLst>
            </a:pPr>
            <a:r>
              <a:rPr sz="2400" b="1" i="1" spc="-5" dirty="0">
                <a:latin typeface="Cambria"/>
                <a:cs typeface="Cambria"/>
              </a:rPr>
              <a:t>Personality</a:t>
            </a:r>
            <a:r>
              <a:rPr sz="2400" b="1" i="1" spc="470" dirty="0">
                <a:latin typeface="Cambria"/>
                <a:cs typeface="Cambria"/>
              </a:rPr>
              <a:t> </a:t>
            </a:r>
            <a:r>
              <a:rPr sz="2400" b="1" i="1" spc="-10" dirty="0">
                <a:latin typeface="Cambria"/>
                <a:cs typeface="Cambria"/>
              </a:rPr>
              <a:t>tests</a:t>
            </a:r>
            <a:r>
              <a:rPr sz="2400" b="1" i="1" spc="465" dirty="0">
                <a:latin typeface="Cambria"/>
                <a:cs typeface="Cambria"/>
              </a:rPr>
              <a:t> </a:t>
            </a:r>
            <a:r>
              <a:rPr dirty="0"/>
              <a:t>–</a:t>
            </a:r>
            <a:r>
              <a:rPr spc="355" dirty="0"/>
              <a:t> </a:t>
            </a:r>
            <a:r>
              <a:rPr dirty="0"/>
              <a:t>designed</a:t>
            </a:r>
            <a:r>
              <a:rPr spc="345" dirty="0"/>
              <a:t> </a:t>
            </a:r>
            <a:r>
              <a:rPr spc="-10" dirty="0"/>
              <a:t>to</a:t>
            </a:r>
            <a:r>
              <a:rPr spc="350" dirty="0"/>
              <a:t> </a:t>
            </a:r>
            <a:r>
              <a:rPr spc="-15" dirty="0"/>
              <a:t>reveal</a:t>
            </a:r>
            <a:r>
              <a:rPr spc="335" dirty="0"/>
              <a:t> </a:t>
            </a:r>
            <a:r>
              <a:rPr dirty="0"/>
              <a:t>a</a:t>
            </a:r>
            <a:r>
              <a:rPr spc="365" dirty="0"/>
              <a:t> </a:t>
            </a:r>
            <a:r>
              <a:rPr spc="-5" dirty="0"/>
              <a:t>candidate’s</a:t>
            </a:r>
            <a:r>
              <a:rPr spc="360" dirty="0"/>
              <a:t> </a:t>
            </a:r>
            <a:r>
              <a:rPr spc="-5" dirty="0"/>
              <a:t>personal</a:t>
            </a:r>
            <a:r>
              <a:rPr spc="340" dirty="0"/>
              <a:t> </a:t>
            </a:r>
            <a:r>
              <a:rPr spc="-10" dirty="0"/>
              <a:t>characteristics</a:t>
            </a:r>
            <a:r>
              <a:rPr spc="370" dirty="0"/>
              <a:t> </a:t>
            </a:r>
            <a:r>
              <a:rPr spc="-5" dirty="0"/>
              <a:t>and</a:t>
            </a:r>
            <a:r>
              <a:rPr spc="360" dirty="0"/>
              <a:t> </a:t>
            </a:r>
            <a:r>
              <a:rPr spc="-5" dirty="0"/>
              <a:t>the</a:t>
            </a:r>
            <a:r>
              <a:rPr spc="355" dirty="0"/>
              <a:t> </a:t>
            </a:r>
            <a:r>
              <a:rPr spc="-30" dirty="0"/>
              <a:t>way </a:t>
            </a:r>
            <a:r>
              <a:rPr spc="-425" dirty="0"/>
              <a:t> </a:t>
            </a:r>
            <a:r>
              <a:rPr spc="-5" dirty="0"/>
              <a:t>candidate</a:t>
            </a:r>
            <a:r>
              <a:rPr spc="-40" dirty="0"/>
              <a:t> </a:t>
            </a:r>
            <a:r>
              <a:rPr spc="-10" dirty="0"/>
              <a:t>may</a:t>
            </a:r>
            <a:r>
              <a:rPr spc="-25" dirty="0"/>
              <a:t> </a:t>
            </a:r>
            <a:r>
              <a:rPr spc="-10" dirty="0"/>
              <a:t>interact</a:t>
            </a:r>
            <a:r>
              <a:rPr spc="-20" dirty="0"/>
              <a:t> </a:t>
            </a:r>
            <a:r>
              <a:rPr spc="-5" dirty="0"/>
              <a:t>with</a:t>
            </a:r>
            <a:r>
              <a:rPr spc="-20" dirty="0"/>
              <a:t> </a:t>
            </a:r>
            <a:r>
              <a:rPr dirty="0"/>
              <a:t>others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1848</Words>
  <Application>Microsoft Office PowerPoint</Application>
  <PresentationFormat>Widescreen</PresentationFormat>
  <Paragraphs>364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 MT</vt:lpstr>
      <vt:lpstr>Calibri</vt:lpstr>
      <vt:lpstr>Cambria</vt:lpstr>
      <vt:lpstr>Courier New</vt:lpstr>
      <vt:lpstr>Segoe UI Symbol</vt:lpstr>
      <vt:lpstr>Times New Roman</vt:lpstr>
      <vt:lpstr>Wingdings</vt:lpstr>
      <vt:lpstr>Office Theme</vt:lpstr>
      <vt:lpstr>INDUSTRIAL MANAGEMENT MODULE 2</vt:lpstr>
      <vt:lpstr> ORGANIZATIONAL CHARTS IN ORGANIZING</vt:lpstr>
      <vt:lpstr>ORGANIZATIONAL CULTURE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Story of apple point outs</vt:lpstr>
      <vt:lpstr> HUMAN RESOURCE MANAGEMENT (HRM)</vt:lpstr>
      <vt:lpstr> PROCESS OF STAFFING FUNCTION</vt:lpstr>
      <vt:lpstr> FACTORS AFFECTING STAFFING</vt:lpstr>
      <vt:lpstr>MANAGER INVENTORY CHART</vt:lpstr>
      <vt:lpstr>PowerPoint Presentation</vt:lpstr>
      <vt:lpstr>PERSONNEL ACTIONS BASED ON MANAGER SUPPLY AND DEMAND WITHIN THE ENTERPRISE</vt:lpstr>
      <vt:lpstr>MATCHING PERSON WITH THE JOB</vt:lpstr>
      <vt:lpstr>Plant equipment, materials and people do not make a business any more  than airplanes, tanks, ships and people make an effective military force</vt:lpstr>
      <vt:lpstr>SYSTEMS APPROACH TO SELECTION</vt:lpstr>
      <vt:lpstr>PowerPoint Presentation</vt:lpstr>
      <vt:lpstr>PowerPoint Presentation</vt:lpstr>
      <vt:lpstr>PowerPoint Presentation</vt:lpstr>
      <vt:lpstr>JOB DESIGN AND ANALYSIS</vt:lpstr>
      <vt:lpstr>PowerPoint Presentation</vt:lpstr>
      <vt:lpstr>JOB ANALYSIS</vt:lpstr>
      <vt:lpstr>Results of job analysis are normally presented in the form of job description  and job specification</vt:lpstr>
      <vt:lpstr>Job specification</vt:lpstr>
      <vt:lpstr>POSITION (JOB) REQUIREMENTS</vt:lpstr>
      <vt:lpstr>PowerPoint Presentation</vt:lpstr>
      <vt:lpstr>PowerPoint Presentation</vt:lpstr>
      <vt:lpstr>JOB DESIGN</vt:lpstr>
      <vt:lpstr>STEPS INVOLVED IN JOB DESIGN</vt:lpstr>
      <vt:lpstr>FACTORS AFFECTING JOB DESIGN</vt:lpstr>
      <vt:lpstr>SKILLS AND PERSONAL CHARACTERISTICS  NEEDED IN MANAGERS</vt:lpstr>
      <vt:lpstr>PowerPoint Presentation</vt:lpstr>
      <vt:lpstr>Analytical skills</vt:lpstr>
      <vt:lpstr>PowerPoint Presentation</vt:lpstr>
      <vt:lpstr>RECRUITMENT OF MANAGERS</vt:lpstr>
      <vt:lpstr>Main sources of labour</vt:lpstr>
      <vt:lpstr> RECRUITMENT PROCESS</vt:lpstr>
      <vt:lpstr>SELECTION PROCESS, TECHNIQUES  AND INSTRUMENTS</vt:lpstr>
      <vt:lpstr>PowerPoint Presentation</vt:lpstr>
      <vt:lpstr>PROCESS</vt:lpstr>
      <vt:lpstr>TECHNIQUES FOR SELECTION</vt:lpstr>
      <vt:lpstr> INTERVIEW</vt:lpstr>
      <vt:lpstr>Types of interviews</vt:lpstr>
      <vt:lpstr> TESTS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AITHEN</dc:creator>
  <cp:lastModifiedBy>yadhu gopinath</cp:lastModifiedBy>
  <cp:revision>1</cp:revision>
  <dcterms:created xsi:type="dcterms:W3CDTF">2024-09-25T08:34:03Z</dcterms:created>
  <dcterms:modified xsi:type="dcterms:W3CDTF">2024-09-25T09:28:06Z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2024-09-25T00:00:00Z</vt:filetime>
  </property>
</Properties>
</file>