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374" r:id="rId3"/>
    <p:sldId id="380" r:id="rId4"/>
    <p:sldId id="377" r:id="rId5"/>
    <p:sldId id="372" r:id="rId6"/>
    <p:sldId id="379" r:id="rId7"/>
    <p:sldId id="349" r:id="rId8"/>
    <p:sldId id="350" r:id="rId9"/>
    <p:sldId id="351" r:id="rId10"/>
    <p:sldId id="353" r:id="rId11"/>
    <p:sldId id="354" r:id="rId12"/>
    <p:sldId id="355" r:id="rId13"/>
    <p:sldId id="357" r:id="rId14"/>
    <p:sldId id="358" r:id="rId15"/>
    <p:sldId id="359" r:id="rId16"/>
    <p:sldId id="361" r:id="rId17"/>
    <p:sldId id="362" r:id="rId18"/>
    <p:sldId id="363" r:id="rId19"/>
    <p:sldId id="365" r:id="rId20"/>
    <p:sldId id="366" r:id="rId21"/>
    <p:sldId id="347" r:id="rId22"/>
    <p:sldId id="431" r:id="rId23"/>
  </p:sldIdLst>
  <p:sldSz cx="9144000" cy="5143500" type="screen16x9"/>
  <p:notesSz cx="6858000" cy="9144000"/>
  <p:embeddedFontLs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Raleway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393B9D6A-3BE3-4CD5-ADFF-AD2B5AFB35BB}">
          <p14:sldIdLst>
            <p14:sldId id="256"/>
            <p14:sldId id="374"/>
            <p14:sldId id="380"/>
            <p14:sldId id="377"/>
            <p14:sldId id="372"/>
            <p14:sldId id="379"/>
            <p14:sldId id="349"/>
            <p14:sldId id="350"/>
            <p14:sldId id="351"/>
            <p14:sldId id="353"/>
            <p14:sldId id="354"/>
            <p14:sldId id="355"/>
            <p14:sldId id="357"/>
            <p14:sldId id="358"/>
            <p14:sldId id="359"/>
            <p14:sldId id="361"/>
            <p14:sldId id="362"/>
            <p14:sldId id="363"/>
            <p14:sldId id="365"/>
            <p14:sldId id="366"/>
          </p14:sldIdLst>
        </p14:section>
        <p14:section name="Untitled Section" id="{CEC85403-C16F-428C-8D46-1BB4B193746D}">
          <p14:sldIdLst>
            <p14:sldId id="347"/>
            <p14:sldId id="4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592"/>
  </p:normalViewPr>
  <p:slideViewPr>
    <p:cSldViewPr snapToGrid="0">
      <p:cViewPr varScale="1">
        <p:scale>
          <a:sx n="103" d="100"/>
          <a:sy n="103" d="100"/>
        </p:scale>
        <p:origin x="653" y="-2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9264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6c76ec42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e6c76ec42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userDrawn="1">
  <p:cSld name="Front pag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7" name="Rectangle 16"/>
          <p:cNvSpPr/>
          <p:nvPr userDrawn="1"/>
        </p:nvSpPr>
        <p:spPr>
          <a:xfrm>
            <a:off x="7095207" y="4169129"/>
            <a:ext cx="1715445" cy="5807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7744088" cy="5727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grpSp>
        <p:nvGrpSpPr>
          <p:cNvPr id="4" name="Google Shape;63;p9"/>
          <p:cNvGrpSpPr/>
          <p:nvPr userDrawn="1"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11150" y="1524000"/>
            <a:ext cx="2393950" cy="28829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806700" y="1524000"/>
            <a:ext cx="5249088" cy="28829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43227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 preserve="1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6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2133600"/>
            <a:ext cx="3305950" cy="1786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575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  <a:defRPr sz="1600">
                <a:solidFill>
                  <a:srgbClr val="00206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0" name="Rectangle 9"/>
          <p:cNvSpPr/>
          <p:nvPr userDrawn="1"/>
        </p:nvSpPr>
        <p:spPr>
          <a:xfrm>
            <a:off x="475325" y="3920525"/>
            <a:ext cx="914400" cy="9144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41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7" name="Rectangle 6"/>
          <p:cNvSpPr/>
          <p:nvPr userDrawn="1"/>
        </p:nvSpPr>
        <p:spPr>
          <a:xfrm>
            <a:off x="7216957" y="4070887"/>
            <a:ext cx="1715445" cy="5807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" name="Rectangle 3"/>
          <p:cNvSpPr/>
          <p:nvPr userDrawn="1"/>
        </p:nvSpPr>
        <p:spPr>
          <a:xfrm>
            <a:off x="7965150" y="0"/>
            <a:ext cx="914400" cy="9144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" name="Rectangle 1"/>
          <p:cNvSpPr/>
          <p:nvPr userDrawn="1"/>
        </p:nvSpPr>
        <p:spPr>
          <a:xfrm>
            <a:off x="7216957" y="4070887"/>
            <a:ext cx="1715445" cy="5807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86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470FF-B805-4771-9235-962ECC72ADEA}" type="datetime1">
              <a:rPr lang="en-US" smtClean="0"/>
              <a:pPr/>
              <a:t>9/27/2024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397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774408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grpSp>
        <p:nvGrpSpPr>
          <p:cNvPr id="9" name="Google Shape;33;p5"/>
          <p:cNvGrpSpPr/>
          <p:nvPr userDrawn="1"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Rectangle 11"/>
          <p:cNvSpPr/>
          <p:nvPr userDrawn="1"/>
        </p:nvSpPr>
        <p:spPr>
          <a:xfrm>
            <a:off x="8055788" y="3854083"/>
            <a:ext cx="914400" cy="914400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70013"/>
            <a:ext cx="7744088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1" r:id="rId2"/>
    <p:sldLayoutId id="2147483660" r:id="rId3"/>
    <p:sldLayoutId id="2147483649" r:id="rId4"/>
    <p:sldLayoutId id="2147483651" r:id="rId5"/>
    <p:sldLayoutId id="2147483653" r:id="rId6"/>
    <p:sldLayoutId id="2147483656" r:id="rId7"/>
    <p:sldLayoutId id="2147483657" r:id="rId8"/>
    <p:sldLayoutId id="2147483662" r:id="rId9"/>
    <p:sldLayoutId id="2147483663" r:id="rId10"/>
  </p:sldLayoutIdLst>
  <p:transition spd="slow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667499" y="494181"/>
            <a:ext cx="6357989" cy="4129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br>
              <a:rPr lang="en-US" sz="4600" dirty="0">
                <a:solidFill>
                  <a:schemeClr val="lt1"/>
                </a:solidFill>
              </a:rPr>
            </a:br>
            <a:r>
              <a:rPr lang="en-US" sz="4600" dirty="0">
                <a:solidFill>
                  <a:schemeClr val="lt1"/>
                </a:solidFill>
              </a:rPr>
              <a:t>SPAN OF CONTROL</a:t>
            </a:r>
            <a:br>
              <a:rPr lang="en-US" sz="4600" dirty="0">
                <a:solidFill>
                  <a:schemeClr val="lt1"/>
                </a:solidFill>
              </a:rPr>
            </a:br>
            <a:br>
              <a:rPr lang="en-US" sz="4600" dirty="0">
                <a:solidFill>
                  <a:schemeClr val="lt1"/>
                </a:solidFill>
              </a:rPr>
            </a:br>
            <a:r>
              <a:rPr lang="en-US" sz="4600" dirty="0">
                <a:solidFill>
                  <a:schemeClr val="lt1"/>
                </a:solidFill>
              </a:rPr>
              <a:t> </a:t>
            </a:r>
            <a:r>
              <a:rPr lang="en-IN" sz="4600" dirty="0">
                <a:solidFill>
                  <a:schemeClr val="lt1"/>
                </a:solidFill>
              </a:rPr>
              <a:t>ORGANIZATIONAL STRUCTURES</a:t>
            </a:r>
            <a:endParaRPr sz="4600" dirty="0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6998328" y="1855960"/>
            <a:ext cx="1682534" cy="2642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/>
                </a:solidFill>
              </a:rPr>
              <a:t>FACULTY: YADHU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6392-7412-624A-7E31-72E291A3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465810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SPAN OF CONTROL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E0134-AFD0-60D7-D51E-7A88240CD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169231"/>
            <a:ext cx="7688700" cy="3974269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It’s the number of people or employees who are reporting to a manager </a:t>
            </a:r>
            <a:r>
              <a:rPr lang="en-US" sz="2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directly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Also called as Span of management or management ratio.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5600" dirty="0">
              <a:latin typeface="Times New Roman" pitchFamily="18" charset="0"/>
              <a:cs typeface="Times New Roman" pitchFamily="18" charset="0"/>
            </a:endParaRPr>
          </a:p>
          <a:p>
            <a:endParaRPr lang="en-US" sz="5600" dirty="0">
              <a:latin typeface="Times New Roman" pitchFamily="18" charset="0"/>
              <a:cs typeface="Times New Roman" pitchFamily="18" charset="0"/>
            </a:endParaRPr>
          </a:p>
          <a:p>
            <a:pPr marL="146050" indent="0">
              <a:buNone/>
            </a:pPr>
            <a:endParaRPr lang="en-US" sz="5600" dirty="0">
              <a:latin typeface="Times New Roman" pitchFamily="18" charset="0"/>
              <a:cs typeface="Times New Roman" pitchFamily="18" charset="0"/>
            </a:endParaRPr>
          </a:p>
          <a:p>
            <a:endParaRPr lang="en-US" sz="5600" dirty="0">
              <a:latin typeface="Times New Roman" pitchFamily="18" charset="0"/>
              <a:cs typeface="Times New Roman" pitchFamily="18" charset="0"/>
            </a:endParaRPr>
          </a:p>
          <a:p>
            <a:endParaRPr lang="en-US" sz="5600" dirty="0">
              <a:latin typeface="Times New Roman" pitchFamily="18" charset="0"/>
              <a:cs typeface="Times New Roman" pitchFamily="18" charset="0"/>
            </a:endParaRPr>
          </a:p>
          <a:p>
            <a:pPr marL="14605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5" name="Picture 2" descr="C:\Users\user\Desktop\s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1032" y="2815628"/>
            <a:ext cx="5143792" cy="18823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444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50" y="339978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" y="546283"/>
            <a:ext cx="7411845" cy="3402518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sz="8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8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WIDE /FLAT</a:t>
            </a:r>
          </a:p>
          <a:p>
            <a:pPr lvl="1"/>
            <a:endParaRPr lang="en-US" sz="23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More people under one manager.</a:t>
            </a:r>
          </a:p>
          <a:p>
            <a:pPr lvl="2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Management ratio can be high (1:20).</a:t>
            </a:r>
          </a:p>
          <a:p>
            <a:pPr lvl="2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Quick decision making is possible.</a:t>
            </a:r>
          </a:p>
          <a:p>
            <a:pPr lvl="2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More suitable for dynamic environment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>
              <a:lnSpc>
                <a:spcPct val="17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6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NARROW /TALL</a:t>
            </a:r>
          </a:p>
          <a:p>
            <a:pPr lvl="1"/>
            <a:endParaRPr lang="en-US" sz="23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US" sz="64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Less people under one manager.</a:t>
            </a:r>
          </a:p>
          <a:p>
            <a:pPr lvl="2">
              <a:lnSpc>
                <a:spcPct val="170000"/>
              </a:lnSpc>
            </a:pPr>
            <a:r>
              <a:rPr lang="en-US" sz="64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Organized and people oriented structure.</a:t>
            </a:r>
          </a:p>
          <a:p>
            <a:pPr lvl="2">
              <a:lnSpc>
                <a:spcPct val="170000"/>
              </a:lnSpc>
            </a:pPr>
            <a:r>
              <a:rPr lang="en-US" sz="64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Suitable for stable and predictable system.</a:t>
            </a:r>
          </a:p>
          <a:p>
            <a:pPr lvl="2">
              <a:lnSpc>
                <a:spcPct val="170000"/>
              </a:lnSpc>
            </a:pPr>
            <a:r>
              <a:rPr lang="en-US" sz="64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Disadvantages-High administrative overheads, slow communication and decision making.</a:t>
            </a:r>
          </a:p>
          <a:p>
            <a:pPr>
              <a:lnSpc>
                <a:spcPct val="170000"/>
              </a:lnSpc>
            </a:pPr>
            <a:endParaRPr lang="en-US" sz="4900" dirty="0"/>
          </a:p>
        </p:txBody>
      </p:sp>
      <p:pic>
        <p:nvPicPr>
          <p:cNvPr id="4" name="Picture 2" descr="C:\Users\user\Desktop\sp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96130" y="823865"/>
            <a:ext cx="2947870" cy="27975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50" y="486456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GRAICUNA’S THEORY OF SPAN OF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50" y="1215859"/>
            <a:ext cx="7688700" cy="2261100"/>
          </a:xfrm>
        </p:spPr>
        <p:txBody>
          <a:bodyPr/>
          <a:lstStyle/>
          <a:p>
            <a:pPr algn="just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Graicunas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 suggested that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when the number of subordinates increases then there is an increase in the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Direct Single Relationships, Direct Group Relationships and Cross Relationships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So, as the number of subordinates increases arithmetically, the number of relationships among them also increases almost geometrically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user\Desktop\Graicunas-Formul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25393" y="3380195"/>
            <a:ext cx="3493213" cy="15924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50" y="693993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AUTHORITY AND RESPONSIBILITY</a:t>
            </a:r>
          </a:p>
        </p:txBody>
      </p:sp>
      <p:pic>
        <p:nvPicPr>
          <p:cNvPr id="1026" name="Picture 2" descr="C:\Users\user\Desktop\051b5f4db13b88b375e99e0738bef0326189f0a8_2_1024x27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2507" y="1439501"/>
            <a:ext cx="6853473" cy="34507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50" y="621569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ORGANIZATIONAL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50" y="1502875"/>
            <a:ext cx="7688700" cy="28371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is the systematic arrangement of people working for the organization and their relationship between positions.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LINE OS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LINE AND STAFF OS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FUNCTIONAL OS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PROJECT OS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MATRIX OS</a:t>
            </a:r>
          </a:p>
        </p:txBody>
      </p:sp>
      <p:pic>
        <p:nvPicPr>
          <p:cNvPr id="1026" name="Picture 2" descr="C:\Users\user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33207" y="2329543"/>
            <a:ext cx="2552700" cy="1790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6392-7412-624A-7E31-72E291A3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568550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LINE ORGANIZATION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E0134-AFD0-60D7-D51E-7A88240CD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557338"/>
            <a:ext cx="7688700" cy="2782637"/>
          </a:xfrm>
        </p:spPr>
        <p:txBody>
          <a:bodyPr>
            <a:normAutofit fontScale="25000" lnSpcReduction="20000"/>
          </a:bodyPr>
          <a:lstStyle/>
          <a:p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Line Organization is also called </a:t>
            </a:r>
            <a:r>
              <a:rPr lang="en-US" sz="6400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military or scalar organization</a:t>
            </a: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sz="6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Authority flows from top to bottom in a vertical line.</a:t>
            </a:r>
          </a:p>
          <a:p>
            <a:pPr lvl="1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Unity of command is maintained.</a:t>
            </a:r>
          </a:p>
          <a:p>
            <a:pPr marL="146050" indent="0">
              <a:buNone/>
            </a:pPr>
            <a:endParaRPr lang="en-US" sz="6400" dirty="0">
              <a:latin typeface="Times New Roman" pitchFamily="18" charset="0"/>
              <a:cs typeface="Times New Roman" pitchFamily="18" charset="0"/>
            </a:endParaRPr>
          </a:p>
          <a:p>
            <a:endParaRPr lang="en-US" sz="6400" dirty="0">
              <a:latin typeface="Times New Roman" pitchFamily="18" charset="0"/>
              <a:cs typeface="Times New Roman" pitchFamily="18" charset="0"/>
            </a:endParaRPr>
          </a:p>
          <a:p>
            <a:endParaRPr lang="en-US" sz="6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6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APPLICATION</a:t>
            </a:r>
          </a:p>
          <a:p>
            <a:pPr lvl="1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 Small concerns /businesses</a:t>
            </a:r>
          </a:p>
          <a:p>
            <a:pPr lvl="1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Automatic and continuous process industries such as </a:t>
            </a:r>
            <a:r>
              <a:rPr lang="fr-FR" sz="6400" dirty="0" err="1">
                <a:latin typeface="Times New Roman" pitchFamily="18" charset="0"/>
                <a:cs typeface="Times New Roman" pitchFamily="18" charset="0"/>
              </a:rPr>
              <a:t>paper</a:t>
            </a:r>
            <a:r>
              <a:rPr lang="fr-FR" sz="6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400" dirty="0" err="1">
                <a:latin typeface="Times New Roman" pitchFamily="18" charset="0"/>
                <a:cs typeface="Times New Roman" pitchFamily="18" charset="0"/>
              </a:rPr>
              <a:t>sugar</a:t>
            </a:r>
            <a:r>
              <a:rPr lang="fr-FR" sz="6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400" dirty="0" err="1">
                <a:latin typeface="Times New Roman" pitchFamily="18" charset="0"/>
                <a:cs typeface="Times New Roman" pitchFamily="18" charset="0"/>
              </a:rPr>
              <a:t>cement</a:t>
            </a:r>
            <a:r>
              <a:rPr lang="fr-FR" sz="6400" dirty="0">
                <a:latin typeface="Times New Roman" pitchFamily="18" charset="0"/>
                <a:cs typeface="Times New Roman" pitchFamily="18" charset="0"/>
              </a:rPr>
              <a:t>, textile, etc.</a:t>
            </a:r>
          </a:p>
          <a:p>
            <a:pPr lvl="1">
              <a:lnSpc>
                <a:spcPct val="170000"/>
              </a:lnSpc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Educational institutions</a:t>
            </a:r>
          </a:p>
          <a:p>
            <a:pPr marL="14605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44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6D3089D-AD64-E35F-1200-C11186C0F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8067" y="975407"/>
            <a:ext cx="2394143" cy="4081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5E063-4B8A-47B8-B9FF-D5C03F2F3283}"/>
              </a:ext>
            </a:extLst>
          </p:cNvPr>
          <p:cNvSpPr txBox="1"/>
          <p:nvPr/>
        </p:nvSpPr>
        <p:spPr>
          <a:xfrm>
            <a:off x="692935" y="667630"/>
            <a:ext cx="5482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LINE ORGANIZATION</a:t>
            </a:r>
            <a:endParaRPr lang="en-IN" sz="2400" dirty="0"/>
          </a:p>
        </p:txBody>
      </p:sp>
      <p:pic>
        <p:nvPicPr>
          <p:cNvPr id="7" name="Picture 4" descr="F:\SOE\POM 2020\Line Structure.jpg">
            <a:extLst>
              <a:ext uri="{FF2B5EF4-FFF2-40B4-BE49-F238E27FC236}">
                <a16:creationId xmlns:a16="http://schemas.microsoft.com/office/drawing/2014/main" id="{9C4C2D2F-AAD7-2D19-6F06-DDE7783E6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4573" y="1435894"/>
            <a:ext cx="5072063" cy="37076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291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81000-5995-D563-FC6D-95DEB068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425672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Advantages of Line structure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09098-4B3D-836B-06ED-5C1DDEC06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107314"/>
            <a:ext cx="7688700" cy="2261100"/>
          </a:xfrm>
        </p:spPr>
        <p:txBody>
          <a:bodyPr/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Simple OS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Clear cut authority and responsibility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Strong discipline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Capable of developing all round executives at higher levels of authority.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D16010-B595-8548-FC39-CF5450353F13}"/>
              </a:ext>
            </a:extLst>
          </p:cNvPr>
          <p:cNvSpPr txBox="1">
            <a:spLocks/>
          </p:cNvSpPr>
          <p:nvPr/>
        </p:nvSpPr>
        <p:spPr>
          <a:xfrm>
            <a:off x="729450" y="319747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Disadvantages of Line structure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9F1F8-B8F7-00D2-B161-1FD713E1F149}"/>
              </a:ext>
            </a:extLst>
          </p:cNvPr>
          <p:cNvSpPr txBox="1"/>
          <p:nvPr/>
        </p:nvSpPr>
        <p:spPr>
          <a:xfrm>
            <a:off x="1278730" y="3584521"/>
            <a:ext cx="457200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Neglects specialists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Overloads a few important executives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Encourages dictatorial way of working</a:t>
            </a:r>
          </a:p>
        </p:txBody>
      </p:sp>
    </p:spTree>
    <p:extLst>
      <p:ext uri="{BB962C8B-B14F-4D97-AF65-F5344CB8AC3E}">
        <p14:creationId xmlns:p14="http://schemas.microsoft.com/office/powerpoint/2010/main" val="290534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F25F9-1EE6-3201-9CCB-150CFFE19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511402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LINE AND STAFF ORGANIZATION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C57D0-C649-4249-1B6F-1C8F16C6E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514475"/>
            <a:ext cx="7688700" cy="2825500"/>
          </a:xfrm>
        </p:spPr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In a big organization manager will have to do a variety of functions and he may not be expertise in all areas.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6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Special executives will be employed to assist line executives and they were known as staff, whom to perform specialized function.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6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Supervisory authority will be given for line executives and the staff executives gives advices and expert opinion, have no direct authority. 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6400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6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APPLICATION</a:t>
            </a:r>
            <a:r>
              <a:rPr lang="en-US" sz="6400" dirty="0">
                <a:latin typeface="Times New Roman" pitchFamily="18" charset="0"/>
                <a:cs typeface="Times New Roman" pitchFamily="18" charset="0"/>
              </a:rPr>
              <a:t>- Steel plant, Automobile plant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799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FB9D46-C276-AFD4-CD0A-D1F70EDC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016" y="1031574"/>
            <a:ext cx="4797968" cy="41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90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16C8-9039-1EF1-1846-752B4425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454256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Advantages of Line and staff organization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0D8AB-78BD-0E3F-09E5-0B77D6506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107277"/>
            <a:ext cx="7688700" cy="2889794"/>
          </a:xfrm>
        </p:spPr>
        <p:txBody>
          <a:bodyPr/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Specialization benefits of staff can be profitably utilized to have standard operations.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Line executives are relieved of some of their workloads and are thus able to concentrate on other important matters.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E06C0E-E775-3DEF-AF1E-FDE25E93A4E2}"/>
              </a:ext>
            </a:extLst>
          </p:cNvPr>
          <p:cNvSpPr txBox="1">
            <a:spLocks/>
          </p:cNvSpPr>
          <p:nvPr/>
        </p:nvSpPr>
        <p:spPr>
          <a:xfrm>
            <a:off x="729450" y="2783126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Disadvantages of Line and staff organization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DCB3BE-E530-D50E-440C-01A0ADA78319}"/>
              </a:ext>
            </a:extLst>
          </p:cNvPr>
          <p:cNvSpPr txBox="1"/>
          <p:nvPr/>
        </p:nvSpPr>
        <p:spPr>
          <a:xfrm>
            <a:off x="1346595" y="3318326"/>
            <a:ext cx="6450809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Staff – line conflict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Increased product cost because of high salaries of staff executives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Too much staff activity may complicate a line executive’s job of leadership and control</a:t>
            </a:r>
          </a:p>
        </p:txBody>
      </p:sp>
    </p:spTree>
    <p:extLst>
      <p:ext uri="{BB962C8B-B14F-4D97-AF65-F5344CB8AC3E}">
        <p14:creationId xmlns:p14="http://schemas.microsoft.com/office/powerpoint/2010/main" val="2701072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6F90-15A7-CCCF-3778-B530E0E7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618558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FUNCTIONAL ORGANIZATION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5014A-5FEC-5639-A694-043697431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221580"/>
            <a:ext cx="7688700" cy="3707607"/>
          </a:xfrm>
        </p:spPr>
        <p:txBody>
          <a:bodyPr>
            <a:normAutofit lnSpcReduction="10000"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Introduced by </a:t>
            </a:r>
            <a:r>
              <a:rPr lang="en-US" sz="18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F. W  Taylor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Employees are grouped and located by specialty into functional departments: each headed by a functional manager. Each member of staff has one clear boss.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Authority rests with functional heads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Functional manager are specialists in their respective areas and is based on high degree of specialization.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specialization leads to greater efficiency and refinement of particular expertise.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3894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51D4-EA0E-9BA9-2AA8-0D6A50D13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575696"/>
            <a:ext cx="7688700" cy="535200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FUNCTIONAL ORGANIZATION</a:t>
            </a:r>
            <a:endParaRPr lang="en-IN" sz="2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AADE781-5E0F-E085-357B-5E25480ED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0898" y="1407319"/>
            <a:ext cx="6222206" cy="232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46824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195A-07AA-29D0-9672-5959DA5B6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561408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Advantages of Functional organization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85374-3A46-E27B-969F-3AD4630AF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128707"/>
            <a:ext cx="7688700" cy="2246851"/>
          </a:xfrm>
        </p:spPr>
        <p:txBody>
          <a:bodyPr/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Efficient use of resources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Simplifies training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Centralized control of strategic decisions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Improved quality of work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1A6A69-1797-76B8-BD8B-37C535953C22}"/>
              </a:ext>
            </a:extLst>
          </p:cNvPr>
          <p:cNvSpPr txBox="1">
            <a:spLocks/>
          </p:cNvSpPr>
          <p:nvPr/>
        </p:nvSpPr>
        <p:spPr>
          <a:xfrm>
            <a:off x="881850" y="299982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Disadvantages of Functional organization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68AEC-1FF5-1FB4-2329-633FBDA95691}"/>
              </a:ext>
            </a:extLst>
          </p:cNvPr>
          <p:cNvSpPr txBox="1"/>
          <p:nvPr/>
        </p:nvSpPr>
        <p:spPr>
          <a:xfrm>
            <a:off x="1393024" y="3655957"/>
            <a:ext cx="6222214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Limits development of general managers or all-round executives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Difficulty in multifunctional decision making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Promotes narrow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1361956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E2DA9-1AA2-8C81-648C-4E1169F7D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575696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PROJECT ORGANIZATION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4268E-1945-97F5-1462-84B6D93BB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357313"/>
            <a:ext cx="7688700" cy="298266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Firms dealing with multiple products or different projects usually adopt project organization.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consist of an autonomous project team, existing independently of the rest of organization.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emphasis in project organization is on creation of teams for the accomplishment of specific objectives.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project team is assembled for a specific project under the action of project manager.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team is thus temporary and will be dispersed when the project is completed.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0055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F735A-3F5F-0BB9-4772-748FFF183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568552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PROJECT ORGANIZATION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386013B-9768-13FC-C4A9-A7CA5D7E0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2969" y="1400174"/>
            <a:ext cx="6558063" cy="3169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6508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8288-9798-A894-32C5-67B774723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397097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Advantages of Project Organization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1B42F-E5BB-3ABA-CD6A-98915EDAC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907292"/>
            <a:ext cx="7688700" cy="2261100"/>
          </a:xfrm>
        </p:spPr>
        <p:txBody>
          <a:bodyPr/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Flexibility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Responsive to changing environment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Encourages team work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98AF37-2DE1-3206-DDB0-9F8A395296F2}"/>
              </a:ext>
            </a:extLst>
          </p:cNvPr>
          <p:cNvSpPr txBox="1">
            <a:spLocks/>
          </p:cNvSpPr>
          <p:nvPr/>
        </p:nvSpPr>
        <p:spPr>
          <a:xfrm>
            <a:off x="881850" y="232115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Disadvantages of Project Organization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A2498-5C11-7ED4-9DAD-AD6B3572F5D3}"/>
              </a:ext>
            </a:extLst>
          </p:cNvPr>
          <p:cNvSpPr txBox="1"/>
          <p:nvPr/>
        </p:nvSpPr>
        <p:spPr>
          <a:xfrm>
            <a:off x="1271587" y="3027305"/>
            <a:ext cx="6986587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Projects can be of short duration leading to frequent change in organization structure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Trained professionals need not tolerate the insecurity of frequent organization change</a:t>
            </a:r>
          </a:p>
        </p:txBody>
      </p:sp>
    </p:spTree>
    <p:extLst>
      <p:ext uri="{BB962C8B-B14F-4D97-AF65-F5344CB8AC3E}">
        <p14:creationId xmlns:p14="http://schemas.microsoft.com/office/powerpoint/2010/main" val="3390657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4550-7831-3296-59BE-23D90F02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597124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MATRIX ORGANIZATION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B3681-2E35-FE31-8A32-7806656F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364456"/>
            <a:ext cx="7688700" cy="3421857"/>
          </a:xfrm>
        </p:spPr>
        <p:txBody>
          <a:bodyPr>
            <a:normAutofit lnSpcReduction="10000"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They are those that comes between fully functional and fully project organizational structure.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matrix organization is an organization structure that establishes 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two chains of command, one vertical and one horizontal, at the same time.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It is intended to combine the advantages of functional structure and project structure.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APPLICATION –IT  industries ,R&amp;D</a:t>
            </a:r>
          </a:p>
          <a:p>
            <a:pPr marL="1460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8643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F491-3742-437D-6EEB-864780867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475684"/>
            <a:ext cx="7688700" cy="535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MATRIX ORGANIZATION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84CC8E7-A006-3A96-0B1F-E260A49D1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0798" y="1253728"/>
            <a:ext cx="6693694" cy="379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9388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263128"/>
            <a:ext cx="6172200" cy="691586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Advantages of Matrix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57300"/>
            <a:ext cx="6172200" cy="4723418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Decentralized decision making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Capable of adapting to fast environmental changes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Flexibility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A43B-CC61-4C08-A01B-A84C4E0E89A8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C61E51-0632-6B1B-9E6D-DC95BF82ADA3}"/>
              </a:ext>
            </a:extLst>
          </p:cNvPr>
          <p:cNvSpPr txBox="1">
            <a:spLocks/>
          </p:cNvSpPr>
          <p:nvPr/>
        </p:nvSpPr>
        <p:spPr>
          <a:xfrm>
            <a:off x="1638300" y="2608672"/>
            <a:ext cx="6172200" cy="691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Disadvantages of Matrix Organization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EAEBD-DA8B-5337-F12B-DDEE0884DCBD}"/>
              </a:ext>
            </a:extLst>
          </p:cNvPr>
          <p:cNvSpPr txBox="1"/>
          <p:nvPr/>
        </p:nvSpPr>
        <p:spPr>
          <a:xfrm>
            <a:off x="1435894" y="3288048"/>
            <a:ext cx="6122194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Violates the principle of unity of command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High administrative costs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Requires tremendous horizontal and vertical co-ordination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Chances of interpersonal conflicts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istockphoto-1271311350-612x61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6587" y="1199407"/>
            <a:ext cx="6334887" cy="29332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779</Words>
  <Application>Microsoft Office PowerPoint</Application>
  <PresentationFormat>On-screen Show (16:9)</PresentationFormat>
  <Paragraphs>128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Times New Roman</vt:lpstr>
      <vt:lpstr>Wingdings</vt:lpstr>
      <vt:lpstr>Lato</vt:lpstr>
      <vt:lpstr>Arial</vt:lpstr>
      <vt:lpstr>Raleway</vt:lpstr>
      <vt:lpstr>Streamline</vt:lpstr>
      <vt:lpstr> SPAN OF CONTROL   ORGANIZATIONAL STRUCTURES</vt:lpstr>
      <vt:lpstr>SPAN OF CONTROL</vt:lpstr>
      <vt:lpstr>TYPES</vt:lpstr>
      <vt:lpstr>GRAICUNA’S THEORY OF SPAN OF MANAGEMENT</vt:lpstr>
      <vt:lpstr>AUTHORITY AND RESPONSIBILITY</vt:lpstr>
      <vt:lpstr>ORGANIZATIONAL STRUCTURE</vt:lpstr>
      <vt:lpstr>LINE ORGANIZATION</vt:lpstr>
      <vt:lpstr>PowerPoint Presentation</vt:lpstr>
      <vt:lpstr>Advantages of Line structure</vt:lpstr>
      <vt:lpstr>LINE AND STAFF ORGANIZATION</vt:lpstr>
      <vt:lpstr>PowerPoint Presentation</vt:lpstr>
      <vt:lpstr>Advantages of Line and staff organization</vt:lpstr>
      <vt:lpstr>FUNCTIONAL ORGANIZATION</vt:lpstr>
      <vt:lpstr>FUNCTIONAL ORGANIZATION</vt:lpstr>
      <vt:lpstr>Advantages of Functional organization</vt:lpstr>
      <vt:lpstr>PROJECT ORGANIZATION</vt:lpstr>
      <vt:lpstr>PROJECT ORGANIZATION</vt:lpstr>
      <vt:lpstr>Advantages of Project Organization</vt:lpstr>
      <vt:lpstr>MATRIX ORGANIZATION</vt:lpstr>
      <vt:lpstr>MATRIX ORGANIZATION</vt:lpstr>
      <vt:lpstr>Advantages of Matrix Organization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 Processors</dc:title>
  <dc:creator>MY PC</dc:creator>
  <cp:lastModifiedBy>yadhu gopinath</cp:lastModifiedBy>
  <cp:revision>60</cp:revision>
  <dcterms:modified xsi:type="dcterms:W3CDTF">2024-09-27T08:10:13Z</dcterms:modified>
</cp:coreProperties>
</file>