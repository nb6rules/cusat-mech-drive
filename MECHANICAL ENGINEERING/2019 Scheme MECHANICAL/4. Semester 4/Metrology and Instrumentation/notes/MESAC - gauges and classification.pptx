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4" r:id="rId6"/>
    <p:sldId id="260" r:id="rId7"/>
    <p:sldId id="261" r:id="rId8"/>
    <p:sldId id="269" r:id="rId9"/>
    <p:sldId id="273" r:id="rId10"/>
    <p:sldId id="262" r:id="rId11"/>
    <p:sldId id="270" r:id="rId12"/>
    <p:sldId id="271" r:id="rId13"/>
    <p:sldId id="266" r:id="rId14"/>
    <p:sldId id="272" r:id="rId15"/>
    <p:sldId id="276" r:id="rId16"/>
    <p:sldId id="267" r:id="rId17"/>
    <p:sldId id="268"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42" autoAdjust="0"/>
    <p:restoredTop sz="94660"/>
  </p:normalViewPr>
  <p:slideViewPr>
    <p:cSldViewPr snapToGrid="0">
      <p:cViewPr varScale="1">
        <p:scale>
          <a:sx n="49" d="100"/>
          <a:sy n="49" d="100"/>
        </p:scale>
        <p:origin x="7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CA524801-F2E0-4A68-B6AA-D2C87739382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6577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2751520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908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F5A59D0-5863-477F-9428-64080FFF53B9}" type="datetimeFigureOut">
              <a:rPr lang="en-US" smtClean="0"/>
              <a:t>1/31/2017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1453482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F5A59D0-5863-477F-9428-64080FFF53B9}" type="datetimeFigureOut">
              <a:rPr lang="en-US" smtClean="0"/>
              <a:t>1/31/2017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524801-F2E0-4A68-B6AA-D2C87739382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284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F5A59D0-5863-477F-9428-64080FFF53B9}" type="datetimeFigureOut">
              <a:rPr lang="en-US" smtClean="0"/>
              <a:t>1/31/2017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524801-F2E0-4A68-B6AA-D2C87739382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865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5A59D0-5863-477F-9428-64080FFF53B9}" type="datetimeFigureOut">
              <a:rPr lang="en-US" smtClean="0"/>
              <a:t>1/31/2017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391647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5A59D0-5863-477F-9428-64080FFF53B9}" type="datetimeFigureOut">
              <a:rPr lang="en-US" smtClean="0"/>
              <a:t>1/31/2017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24801-F2E0-4A68-B6AA-D2C87739382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225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5A59D0-5863-477F-9428-64080FFF53B9}" type="datetimeFigureOut">
              <a:rPr lang="en-US" smtClean="0"/>
              <a:t>1/31/2017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3985961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5A59D0-5863-477F-9428-64080FFF53B9}" type="datetimeFigureOut">
              <a:rPr lang="en-US" smtClean="0"/>
              <a:t>1/31/2017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89183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8558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1988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spTree>
    <p:extLst>
      <p:ext uri="{BB962C8B-B14F-4D97-AF65-F5344CB8AC3E}">
        <p14:creationId xmlns:p14="http://schemas.microsoft.com/office/powerpoint/2010/main" val="845038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328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8479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1774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5A59D0-5863-477F-9428-64080FFF53B9}" type="datetimeFigureOut">
              <a:rPr lang="en-US" smtClean="0"/>
              <a:t>1/31/2017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24801-F2E0-4A68-B6AA-D2C87739382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593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5A59D0-5863-477F-9428-64080FFF53B9}" type="datetimeFigureOut">
              <a:rPr lang="en-US" smtClean="0"/>
              <a:t>1/31/2017</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A524801-F2E0-4A68-B6AA-D2C877393821}" type="slidenum">
              <a:rPr lang="en-US" smtClean="0"/>
              <a:t>‹#›</a:t>
            </a:fld>
            <a:endParaRPr lang="en-US"/>
          </a:p>
        </p:txBody>
      </p:sp>
    </p:spTree>
    <p:extLst>
      <p:ext uri="{BB962C8B-B14F-4D97-AF65-F5344CB8AC3E}">
        <p14:creationId xmlns:p14="http://schemas.microsoft.com/office/powerpoint/2010/main" val="2908476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anose="02020603050405020304" pitchFamily="18" charset="0"/>
                <a:cs typeface="Times New Roman" panose="02020603050405020304" pitchFamily="18" charset="0"/>
              </a:rPr>
              <a:t>GAUGES &amp; IT’S CLASSIFICATION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748448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Gauges</a:t>
            </a:r>
            <a:br>
              <a:rPr lang="en-US" dirty="0" smtClean="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0" i="0" u="none" strike="noStrike" baseline="0" dirty="0" smtClean="0">
                <a:solidFill>
                  <a:srgbClr val="000000"/>
                </a:solidFill>
                <a:latin typeface="Times New Roman" panose="02020603050405020304" pitchFamily="18" charset="0"/>
              </a:rPr>
              <a:t>single-size fixed-type measuring tools. </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Gauge do not indicate the actual value of the inspected part of the component.</a:t>
            </a:r>
          </a:p>
          <a:p>
            <a:pPr>
              <a:buFont typeface="Wingdings" panose="05000000000000000000" pitchFamily="2" charset="2"/>
              <a:buChar char="Ø"/>
            </a:pP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They are used to determine whether the part is made within the specified limit</a:t>
            </a:r>
            <a:r>
              <a:rPr lang="en-GB"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Materials which are used for making gauges are</a:t>
            </a:r>
            <a:r>
              <a:rPr lang="en-US" b="1" dirty="0">
                <a:latin typeface="Times New Roman" panose="02020603050405020304" pitchFamily="18" charset="0"/>
                <a:cs typeface="Times New Roman" panose="02020603050405020304" pitchFamily="18" charset="0"/>
              </a:rPr>
              <a:t> high </a:t>
            </a:r>
            <a:r>
              <a:rPr lang="en-US" b="1" dirty="0" smtClean="0">
                <a:latin typeface="Times New Roman" panose="02020603050405020304" pitchFamily="18" charset="0"/>
                <a:cs typeface="Times New Roman" panose="02020603050405020304" pitchFamily="18" charset="0"/>
              </a:rPr>
              <a:t>carbon steel</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alloy </a:t>
            </a:r>
            <a:r>
              <a:rPr lang="en-US" b="1" dirty="0">
                <a:latin typeface="Times New Roman" panose="02020603050405020304" pitchFamily="18" charset="0"/>
                <a:cs typeface="Times New Roman" panose="02020603050405020304" pitchFamily="18" charset="0"/>
              </a:rPr>
              <a:t>steels, cemented carbides, etc</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660454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Classifications of Gauges </a:t>
            </a:r>
            <a:endParaRPr lang="en-US" dirty="0"/>
          </a:p>
        </p:txBody>
      </p:sp>
      <p:sp>
        <p:nvSpPr>
          <p:cNvPr id="3" name="Content Placeholder 2"/>
          <p:cNvSpPr>
            <a:spLocks noGrp="1"/>
          </p:cNvSpPr>
          <p:nvPr>
            <p:ph idx="1"/>
          </p:nvPr>
        </p:nvSpPr>
        <p:spPr/>
        <p:txBody>
          <a:bodyPr/>
          <a:lstStyle/>
          <a:p>
            <a:endParaRPr lang="en-US" dirty="0"/>
          </a:p>
          <a:p>
            <a:r>
              <a:rPr lang="en-US" sz="2800" dirty="0"/>
              <a:t>(</a:t>
            </a:r>
            <a:r>
              <a:rPr lang="en-US" sz="2800" dirty="0">
                <a:latin typeface="Times New Roman" panose="02020603050405020304" pitchFamily="18" charset="0"/>
                <a:cs typeface="Times New Roman" panose="02020603050405020304" pitchFamily="18" charset="0"/>
              </a:rPr>
              <a:t>a) Based on the standard and limit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(b) Based on the consistency in manufacturing and inspection </a:t>
            </a:r>
          </a:p>
          <a:p>
            <a:r>
              <a:rPr lang="en-US" sz="2800" dirty="0">
                <a:latin typeface="Times New Roman" panose="02020603050405020304" pitchFamily="18" charset="0"/>
                <a:cs typeface="Times New Roman" panose="02020603050405020304" pitchFamily="18" charset="0"/>
              </a:rPr>
              <a:t>(c) Depending on the elements to be checked </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6421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3975"/>
          </a:xfrm>
        </p:spPr>
        <p:txBody>
          <a:bodyPr/>
          <a:lstStyle/>
          <a:p>
            <a:pPr marL="228600" lvl="0" indent="-228600">
              <a:spcBef>
                <a:spcPts val="1000"/>
              </a:spcBef>
            </a:pPr>
            <a:r>
              <a:rPr lang="en-US" sz="2800" b="1" dirty="0">
                <a:solidFill>
                  <a:prstClr val="black"/>
                </a:solidFill>
                <a:latin typeface="Times New Roman" panose="02020603050405020304" pitchFamily="18" charset="0"/>
                <a:cs typeface="Times New Roman" panose="02020603050405020304" pitchFamily="18" charset="0"/>
              </a:rPr>
              <a:t>(a) Based on the standard and limit</a:t>
            </a:r>
            <a:r>
              <a:rPr lang="en-US" sz="2800" b="1" dirty="0">
                <a:solidFill>
                  <a:prstClr val="black"/>
                </a:solidFill>
                <a:latin typeface="Calibri" panose="020F0502020204030204"/>
              </a:rPr>
              <a:t> </a:t>
            </a:r>
            <a:r>
              <a:rPr lang="en-US" sz="2800" dirty="0">
                <a:solidFill>
                  <a:prstClr val="black"/>
                </a:solidFill>
                <a:latin typeface="Calibri" panose="020F0502020204030204"/>
              </a:rPr>
              <a:t/>
            </a:r>
            <a:br>
              <a:rPr lang="en-US" sz="2800" dirty="0">
                <a:solidFill>
                  <a:prstClr val="black"/>
                </a:solidFill>
                <a:latin typeface="Calibri" panose="020F0502020204030204"/>
              </a:rPr>
            </a:br>
            <a:endParaRPr lang="en-US" dirty="0"/>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19426" y="3540525"/>
            <a:ext cx="4389388" cy="2636368"/>
          </a:xfrm>
        </p:spPr>
      </p:pic>
      <p:cxnSp>
        <p:nvCxnSpPr>
          <p:cNvPr id="5" name="Straight Arrow Connector 4"/>
          <p:cNvCxnSpPr/>
          <p:nvPr/>
        </p:nvCxnSpPr>
        <p:spPr>
          <a:xfrm flipH="1">
            <a:off x="2235200" y="914400"/>
            <a:ext cx="1574800" cy="660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4089400" y="914400"/>
            <a:ext cx="1358900" cy="7271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460500" y="1689100"/>
            <a:ext cx="213360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Standard gauges</a:t>
            </a:r>
            <a:endParaRPr lang="en-US"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080000" y="1689100"/>
            <a:ext cx="191770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Limit gauges</a:t>
            </a:r>
            <a:endParaRPr lang="en-US" dirty="0">
              <a:latin typeface="Times New Roman" panose="02020603050405020304" pitchFamily="18" charset="0"/>
              <a:cs typeface="Times New Roman" panose="02020603050405020304" pitchFamily="18" charset="0"/>
            </a:endParaRPr>
          </a:p>
        </p:txBody>
      </p:sp>
      <p:sp>
        <p:nvSpPr>
          <p:cNvPr id="11" name="Rectangle 10"/>
          <p:cNvSpPr/>
          <p:nvPr/>
        </p:nvSpPr>
        <p:spPr>
          <a:xfrm>
            <a:off x="937941" y="2487883"/>
            <a:ext cx="6972300" cy="369332"/>
          </a:xfrm>
          <a:prstGeom prst="rect">
            <a:avLst/>
          </a:prstGeom>
        </p:spPr>
        <p:txBody>
          <a:bodyPr wrap="square">
            <a:spAutoFit/>
          </a:bodyPr>
          <a:lstStyle/>
          <a:p>
            <a:r>
              <a:rPr lang="en-GB" dirty="0">
                <a:latin typeface="Times New Roman" panose="02020603050405020304" pitchFamily="18" charset="0"/>
                <a:cs typeface="Times New Roman" panose="02020603050405020304" pitchFamily="18" charset="0"/>
              </a:rPr>
              <a:t>Standard gauges- made as an exact copy of opposed(mating) part</a:t>
            </a:r>
          </a:p>
        </p:txBody>
      </p:sp>
      <p:sp>
        <p:nvSpPr>
          <p:cNvPr id="12" name="Rectangle 11"/>
          <p:cNvSpPr/>
          <p:nvPr/>
        </p:nvSpPr>
        <p:spPr>
          <a:xfrm>
            <a:off x="876300" y="2917334"/>
            <a:ext cx="7859486" cy="2031325"/>
          </a:xfrm>
          <a:prstGeom prst="rect">
            <a:avLst/>
          </a:prstGeom>
        </p:spPr>
        <p:txBody>
          <a:bodyPr wrap="square">
            <a:spAutoFit/>
          </a:bodyPr>
          <a:lstStyle/>
          <a:p>
            <a:r>
              <a:rPr lang="en-GB" b="1" dirty="0" smtClean="0"/>
              <a:t> </a:t>
            </a:r>
            <a:r>
              <a:rPr lang="en-GB" dirty="0">
                <a:latin typeface="Times New Roman" panose="02020603050405020304" pitchFamily="18" charset="0"/>
                <a:cs typeface="Times New Roman" panose="02020603050405020304" pitchFamily="18" charset="0"/>
              </a:rPr>
              <a:t>Limit gauges- made to the limits of the </a:t>
            </a:r>
            <a:r>
              <a:rPr lang="en-GB" dirty="0" smtClean="0">
                <a:latin typeface="Times New Roman" panose="02020603050405020304" pitchFamily="18" charset="0"/>
                <a:cs typeface="Times New Roman" panose="02020603050405020304" pitchFamily="18" charset="0"/>
              </a:rPr>
              <a:t>dimensions (GO and NO GO gauges)</a:t>
            </a:r>
          </a:p>
          <a:p>
            <a:endParaRPr lang="en-GB" dirty="0">
              <a:latin typeface="Times New Roman" panose="02020603050405020304" pitchFamily="18" charset="0"/>
              <a:cs typeface="Times New Roman" panose="02020603050405020304" pitchFamily="18" charset="0"/>
            </a:endParaRPr>
          </a:p>
          <a:p>
            <a:endParaRPr lang="en-GB" dirty="0" smtClean="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smtClean="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540524"/>
            <a:ext cx="5166299" cy="2636369"/>
          </a:xfrm>
          <a:prstGeom prst="rect">
            <a:avLst/>
          </a:prstGeom>
        </p:spPr>
      </p:pic>
      <p:sp>
        <p:nvSpPr>
          <p:cNvPr id="14" name="Rectangle 13"/>
          <p:cNvSpPr/>
          <p:nvPr/>
        </p:nvSpPr>
        <p:spPr>
          <a:xfrm>
            <a:off x="5668510" y="5571849"/>
            <a:ext cx="255711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GO and NO GO gauges</a:t>
            </a:r>
          </a:p>
        </p:txBody>
      </p:sp>
    </p:spTree>
    <p:extLst>
      <p:ext uri="{BB962C8B-B14F-4D97-AF65-F5344CB8AC3E}">
        <p14:creationId xmlns:p14="http://schemas.microsoft.com/office/powerpoint/2010/main" val="38905927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104375" y="1293543"/>
            <a:ext cx="9983249" cy="3781776"/>
          </a:xfrm>
          <a:prstGeom prst="rect">
            <a:avLst/>
          </a:prstGeom>
        </p:spPr>
      </p:pic>
    </p:spTree>
    <p:extLst>
      <p:ext uri="{BB962C8B-B14F-4D97-AF65-F5344CB8AC3E}">
        <p14:creationId xmlns:p14="http://schemas.microsoft.com/office/powerpoint/2010/main" val="3358785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90" y="538842"/>
            <a:ext cx="10528610" cy="5894615"/>
          </a:xfrm>
        </p:spPr>
        <p:txBody>
          <a:bodyPr>
            <a:normAutofit/>
          </a:bodyPr>
          <a:lstStyle/>
          <a:p>
            <a:pPr marL="0" indent="0">
              <a:buNone/>
            </a:pPr>
            <a:r>
              <a:rPr lang="en-US" dirty="0"/>
              <a:t>(</a:t>
            </a:r>
            <a:r>
              <a:rPr lang="en-US" b="1" dirty="0"/>
              <a:t>b) Based on the consistency in manufacturing and inspection </a:t>
            </a:r>
            <a:endParaRPr lang="en-US" b="1" dirty="0" smtClean="0"/>
          </a:p>
          <a:p>
            <a:pPr marL="0" indent="0">
              <a:buNone/>
            </a:pPr>
            <a:r>
              <a:rPr lang="en-US" dirty="0"/>
              <a:t>To promote consistency in manufacturing and inspection, gauges may be classified as working, inspection, and reference or master gauges : </a:t>
            </a:r>
          </a:p>
          <a:p>
            <a:r>
              <a:rPr lang="en-US" b="1" dirty="0"/>
              <a:t>Working Gauges </a:t>
            </a:r>
            <a:endParaRPr lang="en-US" dirty="0"/>
          </a:p>
          <a:p>
            <a:pPr marL="0" indent="0">
              <a:buNone/>
            </a:pPr>
            <a:r>
              <a:rPr lang="en-US" dirty="0"/>
              <a:t>Working gauges are those used at the bench or machine in gauging the work as it being made. </a:t>
            </a:r>
          </a:p>
          <a:p>
            <a:r>
              <a:rPr lang="en-US" b="1" dirty="0"/>
              <a:t>Inspection Gauges </a:t>
            </a:r>
            <a:endParaRPr lang="en-US" dirty="0"/>
          </a:p>
          <a:p>
            <a:pPr marL="0" indent="0">
              <a:buNone/>
            </a:pPr>
            <a:r>
              <a:rPr lang="en-US" dirty="0"/>
              <a:t>These gauges are used by the inspection personnel to inspect manufactured parts when finished. </a:t>
            </a:r>
          </a:p>
          <a:p>
            <a:r>
              <a:rPr lang="en-US" b="1" dirty="0"/>
              <a:t>Reference Gauges </a:t>
            </a:r>
            <a:endParaRPr lang="en-US" dirty="0"/>
          </a:p>
          <a:p>
            <a:pPr marL="0" indent="0">
              <a:buNone/>
            </a:pPr>
            <a:r>
              <a:rPr lang="en-US" dirty="0"/>
              <a:t>These are also called master gauges. These are used only for checking the size or condition of other gauges and represent as exactly as possible the physical dimensions of the product. </a:t>
            </a:r>
          </a:p>
        </p:txBody>
      </p:sp>
    </p:spTree>
    <p:extLst>
      <p:ext uri="{BB962C8B-B14F-4D97-AF65-F5344CB8AC3E}">
        <p14:creationId xmlns:p14="http://schemas.microsoft.com/office/powerpoint/2010/main" val="33353197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115122" y="-802888"/>
            <a:ext cx="10238678" cy="1182029"/>
          </a:xfrm>
        </p:spPr>
        <p:txBody>
          <a:bodyPr/>
          <a:lstStyle/>
          <a:p>
            <a:endParaRPr lang="en-US" dirty="0"/>
          </a:p>
        </p:txBody>
      </p:sp>
      <p:sp>
        <p:nvSpPr>
          <p:cNvPr id="3" name="Content Placeholder 2"/>
          <p:cNvSpPr>
            <a:spLocks noGrp="1"/>
          </p:cNvSpPr>
          <p:nvPr>
            <p:ph idx="1"/>
          </p:nvPr>
        </p:nvSpPr>
        <p:spPr>
          <a:xfrm>
            <a:off x="869795" y="111512"/>
            <a:ext cx="10484005" cy="5976241"/>
          </a:xfrm>
        </p:spPr>
        <p:txBody>
          <a:bodyPr>
            <a:normAutofit/>
          </a:bodyPr>
          <a:lstStyle/>
          <a:p>
            <a:endParaRPr lang="en-US" b="1" dirty="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 Depending on the elements to </a:t>
            </a:r>
            <a:r>
              <a:rPr lang="en-US" b="1" dirty="0" smtClean="0">
                <a:latin typeface="Times New Roman" panose="02020603050405020304" pitchFamily="18" charset="0"/>
                <a:cs typeface="Times New Roman" panose="02020603050405020304" pitchFamily="18" charset="0"/>
              </a:rPr>
              <a:t>be </a:t>
            </a:r>
            <a:r>
              <a:rPr lang="en-US" b="1" dirty="0">
                <a:latin typeface="Times New Roman" panose="02020603050405020304" pitchFamily="18" charset="0"/>
                <a:cs typeface="Times New Roman" panose="02020603050405020304" pitchFamily="18" charset="0"/>
              </a:rPr>
              <a:t>checked </a:t>
            </a:r>
            <a:endParaRPr lang="en-US" b="1" dirty="0" smtClean="0">
              <a:latin typeface="Times New Roman" panose="02020603050405020304" pitchFamily="18" charset="0"/>
              <a:cs typeface="Times New Roman" panose="02020603050405020304" pitchFamily="18" charset="0"/>
            </a:endParaRPr>
          </a:p>
          <a:p>
            <a:r>
              <a:rPr lang="en-US" b="1" dirty="0" smtClean="0"/>
              <a:t>Gauges for checking holes (plug gauges) </a:t>
            </a:r>
            <a:endParaRPr lang="en-US" dirty="0"/>
          </a:p>
          <a:p>
            <a:pPr marL="0" indent="0">
              <a:buNone/>
            </a:pPr>
            <a:r>
              <a:rPr lang="en-US" dirty="0"/>
              <a:t>These gauges are used for checking holes of many different shapes and sizes. There are plug gauges for straight cylindrical holes, tapered, threaded square and splined holes. </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9486" y="2729593"/>
            <a:ext cx="3102429" cy="310242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7599" y="2606232"/>
            <a:ext cx="3017157" cy="3225790"/>
          </a:xfrm>
          <a:prstGeom prst="rect">
            <a:avLst/>
          </a:prstGeom>
        </p:spPr>
      </p:pic>
    </p:spTree>
    <p:extLst>
      <p:ext uri="{BB962C8B-B14F-4D97-AF65-F5344CB8AC3E}">
        <p14:creationId xmlns:p14="http://schemas.microsoft.com/office/powerpoint/2010/main" val="9825553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295401" y="604157"/>
            <a:ext cx="9601196" cy="6253843"/>
          </a:xfrm>
        </p:spPr>
        <p:txBody>
          <a:bodyPr>
            <a:normAutofit/>
          </a:bodyPr>
          <a:lstStyle/>
          <a:p>
            <a:r>
              <a:rPr lang="en-US" b="1" dirty="0">
                <a:latin typeface="Times New Roman" panose="02020603050405020304" pitchFamily="18" charset="0"/>
                <a:cs typeface="Times New Roman" panose="02020603050405020304" pitchFamily="18" charset="0"/>
              </a:rPr>
              <a:t>Gauges </a:t>
            </a:r>
            <a:r>
              <a:rPr lang="en-US" b="1" dirty="0" smtClean="0">
                <a:latin typeface="Times New Roman" panose="02020603050405020304" pitchFamily="18" charset="0"/>
                <a:cs typeface="Times New Roman" panose="02020603050405020304" pitchFamily="18" charset="0"/>
              </a:rPr>
              <a:t>for </a:t>
            </a:r>
            <a:r>
              <a:rPr lang="en-US" b="1" dirty="0">
                <a:latin typeface="Times New Roman" panose="02020603050405020304" pitchFamily="18" charset="0"/>
                <a:cs typeface="Times New Roman" panose="02020603050405020304" pitchFamily="18" charset="0"/>
              </a:rPr>
              <a:t>checking Shafts (ring gauges and snap gauges)</a:t>
            </a:r>
          </a:p>
          <a:p>
            <a:pPr marL="0" indent="0">
              <a:buNone/>
            </a:pPr>
            <a:r>
              <a:rPr lang="en-US" dirty="0"/>
              <a:t>Ring gauges are used to test external diameters. They allow shafts to be checked more accurately since they embrace the whole of their surface</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b="1" dirty="0"/>
          </a:p>
          <a:p>
            <a:pPr marL="0" indent="0">
              <a:buNone/>
            </a:pPr>
            <a:r>
              <a:rPr lang="en-US" b="1" dirty="0" smtClean="0"/>
              <a:t>       RING GAUGES                                            SNAP GAUGE</a:t>
            </a:r>
          </a:p>
          <a:p>
            <a:pPr marL="0" indent="0">
              <a:buNone/>
            </a:pPr>
            <a:r>
              <a:rPr lang="en-US" dirty="0" smtClean="0"/>
              <a:t>Snap </a:t>
            </a:r>
            <a:r>
              <a:rPr lang="en-US" dirty="0"/>
              <a:t>gauges are used for checking external dimensions. Shafts are mainly checked by snap gauges. They may be solid and progressive or adjustable or double-ended</a:t>
            </a:r>
          </a:p>
          <a:p>
            <a:pPr marL="0" indent="0">
              <a:buNone/>
            </a:pPr>
            <a:r>
              <a:rPr lang="en-US" dirty="0" smtClean="0"/>
              <a: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814" y="2285999"/>
            <a:ext cx="3454400" cy="233498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237012"/>
            <a:ext cx="3692979" cy="2334987"/>
          </a:xfrm>
          <a:prstGeom prst="rect">
            <a:avLst/>
          </a:prstGeom>
        </p:spPr>
      </p:pic>
    </p:spTree>
    <p:extLst>
      <p:ext uri="{BB962C8B-B14F-4D97-AF65-F5344CB8AC3E}">
        <p14:creationId xmlns:p14="http://schemas.microsoft.com/office/powerpoint/2010/main" val="12155547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3024758" y="920618"/>
            <a:ext cx="6142483" cy="4053288"/>
          </a:xfrm>
          <a:prstGeom prst="rect">
            <a:avLst/>
          </a:prstGeom>
        </p:spPr>
      </p:pic>
      <p:sp>
        <p:nvSpPr>
          <p:cNvPr id="5" name="Rectangle 4"/>
          <p:cNvSpPr/>
          <p:nvPr/>
        </p:nvSpPr>
        <p:spPr>
          <a:xfrm>
            <a:off x="2369910" y="5236142"/>
            <a:ext cx="7994496"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Snap </a:t>
            </a:r>
            <a:r>
              <a:rPr lang="en-US" sz="3200" dirty="0" smtClean="0">
                <a:latin typeface="Times New Roman" panose="02020603050405020304" pitchFamily="18" charset="0"/>
                <a:cs typeface="Times New Roman" panose="02020603050405020304" pitchFamily="18" charset="0"/>
              </a:rPr>
              <a:t> gauge </a:t>
            </a:r>
            <a:r>
              <a:rPr lang="en-US" sz="3200" dirty="0">
                <a:latin typeface="Times New Roman" panose="02020603050405020304" pitchFamily="18" charset="0"/>
                <a:cs typeface="Times New Roman" panose="02020603050405020304" pitchFamily="18" charset="0"/>
              </a:rPr>
              <a:t>for checking </a:t>
            </a:r>
            <a:r>
              <a:rPr lang="en-US" sz="3200" dirty="0" smtClean="0">
                <a:latin typeface="Times New Roman" panose="02020603050405020304" pitchFamily="18" charset="0"/>
                <a:cs typeface="Times New Roman" panose="02020603050405020304" pitchFamily="18" charset="0"/>
              </a:rPr>
              <a:t>shafts (double ended)</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6487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9004" y="963386"/>
            <a:ext cx="10394795" cy="5213577"/>
          </a:xfrm>
        </p:spPr>
        <p:txBody>
          <a:bodyPr>
            <a:normAutofit/>
          </a:bodyPr>
          <a:lstStyle/>
          <a:p>
            <a:r>
              <a:rPr lang="en-US" b="1" dirty="0">
                <a:latin typeface="Times New Roman" panose="02020603050405020304" pitchFamily="18" charset="0"/>
                <a:cs typeface="Times New Roman" panose="02020603050405020304" pitchFamily="18" charset="0"/>
              </a:rPr>
              <a:t>Gauges </a:t>
            </a:r>
            <a:r>
              <a:rPr lang="en-US" b="1" dirty="0" smtClean="0">
                <a:latin typeface="Times New Roman" panose="02020603050405020304" pitchFamily="18" charset="0"/>
                <a:cs typeface="Times New Roman" panose="02020603050405020304" pitchFamily="18" charset="0"/>
              </a:rPr>
              <a:t>for </a:t>
            </a:r>
            <a:r>
              <a:rPr lang="en-US" b="1" dirty="0">
                <a:latin typeface="Times New Roman" panose="02020603050405020304" pitchFamily="18" charset="0"/>
                <a:cs typeface="Times New Roman" panose="02020603050405020304" pitchFamily="18" charset="0"/>
              </a:rPr>
              <a:t>checking taper (Taper Gauges</a:t>
            </a:r>
            <a:r>
              <a:rPr lang="en-US" b="1" dirty="0"/>
              <a:t>) </a:t>
            </a:r>
          </a:p>
          <a:p>
            <a:pPr marL="0" indent="0">
              <a:buNone/>
            </a:pPr>
            <a:r>
              <a:rPr lang="en-US" dirty="0">
                <a:latin typeface="Times New Roman" panose="02020603050405020304" pitchFamily="18" charset="0"/>
                <a:cs typeface="Times New Roman" panose="02020603050405020304" pitchFamily="18" charset="0"/>
              </a:rPr>
              <a:t>The most satisfactory method of testing a taper is to use taper gauges</a:t>
            </a:r>
            <a:r>
              <a:rPr lang="en-US">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2178" y="3249386"/>
            <a:ext cx="8168445" cy="2008413"/>
          </a:xfrm>
          <a:prstGeom prst="rect">
            <a:avLst/>
          </a:prstGeom>
        </p:spPr>
      </p:pic>
    </p:spTree>
    <p:extLst>
      <p:ext uri="{BB962C8B-B14F-4D97-AF65-F5344CB8AC3E}">
        <p14:creationId xmlns:p14="http://schemas.microsoft.com/office/powerpoint/2010/main" val="3347790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295401" y="604157"/>
            <a:ext cx="9601196" cy="5271711"/>
          </a:xfrm>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Gauges for </a:t>
            </a:r>
            <a:r>
              <a:rPr lang="en-US" b="1" dirty="0">
                <a:latin typeface="Times New Roman" panose="02020603050405020304" pitchFamily="18" charset="0"/>
                <a:cs typeface="Times New Roman" panose="02020603050405020304" pitchFamily="18" charset="0"/>
              </a:rPr>
              <a:t>checking threads (Thread Gauge) </a:t>
            </a:r>
          </a:p>
          <a:p>
            <a:pPr marL="0" indent="0">
              <a:buNone/>
            </a:pPr>
            <a:r>
              <a:rPr lang="en-US" dirty="0"/>
              <a:t>Thread gauges are used to check the pitch diameter of the thread. For checking internal threads (nut, bushes, etc.), plug thread gauges are used, while for checking external threads (screws, bolts, etc.), ring thread gauges are used </a:t>
            </a:r>
          </a:p>
          <a:p>
            <a:endParaRPr lang="en-US" dirty="0"/>
          </a:p>
          <a:p>
            <a:pPr marL="0" indent="0">
              <a:buNone/>
            </a:pPr>
            <a:r>
              <a:rPr lang="en-US" dirty="0" smtClean="0"/>
              <a:t>. </a:t>
            </a:r>
            <a:endParaRPr lang="en-US" dirty="0"/>
          </a:p>
          <a:p>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8498" y="2856971"/>
            <a:ext cx="3479180" cy="286702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262" y="2856971"/>
            <a:ext cx="3300761" cy="2867025"/>
          </a:xfrm>
          <a:prstGeom prst="rect">
            <a:avLst/>
          </a:prstGeom>
        </p:spPr>
      </p:pic>
      <p:sp>
        <p:nvSpPr>
          <p:cNvPr id="4" name="TextBox 3"/>
          <p:cNvSpPr txBox="1"/>
          <p:nvPr/>
        </p:nvSpPr>
        <p:spPr>
          <a:xfrm>
            <a:off x="5776332" y="4839629"/>
            <a:ext cx="869795" cy="923330"/>
          </a:xfrm>
          <a:prstGeom prst="rect">
            <a:avLst/>
          </a:prstGeom>
          <a:noFill/>
        </p:spPr>
        <p:txBody>
          <a:bodyPr wrap="square" rtlCol="0">
            <a:spAutoFit/>
          </a:bodyPr>
          <a:lstStyle/>
          <a:p>
            <a:r>
              <a:rPr lang="en-US" b="1" dirty="0" smtClean="0"/>
              <a:t>Ring thread gauge</a:t>
            </a:r>
            <a:endParaRPr lang="en-US" b="1" dirty="0"/>
          </a:p>
        </p:txBody>
      </p:sp>
      <p:sp>
        <p:nvSpPr>
          <p:cNvPr id="5" name="TextBox 4"/>
          <p:cNvSpPr txBox="1"/>
          <p:nvPr/>
        </p:nvSpPr>
        <p:spPr>
          <a:xfrm>
            <a:off x="10125307" y="5062654"/>
            <a:ext cx="1115122" cy="923330"/>
          </a:xfrm>
          <a:prstGeom prst="rect">
            <a:avLst/>
          </a:prstGeom>
          <a:noFill/>
        </p:spPr>
        <p:txBody>
          <a:bodyPr wrap="square" rtlCol="0">
            <a:spAutoFit/>
          </a:bodyPr>
          <a:lstStyle/>
          <a:p>
            <a:r>
              <a:rPr lang="en-US" b="1" dirty="0" smtClean="0"/>
              <a:t>Plug thread gauge</a:t>
            </a:r>
            <a:endParaRPr lang="en-US" b="1" dirty="0"/>
          </a:p>
        </p:txBody>
      </p:sp>
    </p:spTree>
    <p:extLst>
      <p:ext uri="{BB962C8B-B14F-4D97-AF65-F5344CB8AC3E}">
        <p14:creationId xmlns:p14="http://schemas.microsoft.com/office/powerpoint/2010/main" val="18185268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982132"/>
            <a:ext cx="9601196" cy="4893736"/>
          </a:xfrm>
        </p:spPr>
        <p:txBody>
          <a:bodyPr/>
          <a:lstStyle/>
          <a:p>
            <a:pPr marL="0" indent="0">
              <a:buNone/>
            </a:pPr>
            <a:r>
              <a:rPr lang="en-US" b="1" dirty="0">
                <a:latin typeface="Times New Roman" panose="02020603050405020304" pitchFamily="18" charset="0"/>
                <a:cs typeface="Times New Roman" panose="02020603050405020304" pitchFamily="18" charset="0"/>
              </a:rPr>
              <a:t>Gauges </a:t>
            </a:r>
            <a:r>
              <a:rPr lang="en-US" b="1" dirty="0" smtClean="0">
                <a:latin typeface="Times New Roman" panose="02020603050405020304" pitchFamily="18" charset="0"/>
                <a:cs typeface="Times New Roman" panose="02020603050405020304" pitchFamily="18" charset="0"/>
              </a:rPr>
              <a:t>for </a:t>
            </a:r>
            <a:r>
              <a:rPr lang="en-US" b="1" dirty="0">
                <a:latin typeface="Times New Roman" panose="02020603050405020304" pitchFamily="18" charset="0"/>
                <a:cs typeface="Times New Roman" panose="02020603050405020304" pitchFamily="18" charset="0"/>
              </a:rPr>
              <a:t>checking forms (Form Gauge)</a:t>
            </a:r>
            <a:r>
              <a:rPr lang="en-US" dirty="0"/>
              <a:t> </a:t>
            </a:r>
          </a:p>
          <a:p>
            <a:r>
              <a:rPr lang="en-US" dirty="0"/>
              <a:t>Form gauges may be used to check the contour of a profile of </a:t>
            </a:r>
            <a:r>
              <a:rPr lang="en-US" dirty="0" err="1"/>
              <a:t>workpiece</a:t>
            </a:r>
            <a:r>
              <a:rPr lang="en-US" dirty="0"/>
              <a:t> for conformance to certain shape or form specifications</a:t>
            </a:r>
          </a:p>
        </p:txBody>
      </p:sp>
    </p:spTree>
    <p:extLst>
      <p:ext uri="{BB962C8B-B14F-4D97-AF65-F5344CB8AC3E}">
        <p14:creationId xmlns:p14="http://schemas.microsoft.com/office/powerpoint/2010/main" val="41477042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8699"/>
            <a:ext cx="10515600" cy="5148263"/>
          </a:xfrm>
        </p:spPr>
        <p:txBody>
          <a:bodyPr/>
          <a:lstStyle/>
          <a:p>
            <a:pPr marL="0" indent="0">
              <a:buNone/>
            </a:pPr>
            <a:r>
              <a:rPr lang="en-US" b="1" dirty="0">
                <a:latin typeface="Times New Roman" panose="02020603050405020304" pitchFamily="18" charset="0"/>
                <a:cs typeface="Times New Roman" panose="02020603050405020304" pitchFamily="18" charset="0"/>
              </a:rPr>
              <a:t>Screw Pitch Gauges </a:t>
            </a:r>
            <a:endParaRPr lang="en-US" dirty="0">
              <a:latin typeface="Times New Roman" panose="02020603050405020304" pitchFamily="18" charset="0"/>
              <a:cs typeface="Times New Roman" panose="02020603050405020304" pitchFamily="18" charset="0"/>
            </a:endParaRPr>
          </a:p>
          <a:p>
            <a:r>
              <a:rPr lang="en-US" dirty="0"/>
              <a:t>Screw pitch gauges serve as an everyday tool used in picking out a required screw and for checking the pitch of the screw threads. </a:t>
            </a:r>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2810107"/>
            <a:ext cx="4419600" cy="267629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640" y="2810107"/>
            <a:ext cx="4796534" cy="2676293"/>
          </a:xfrm>
          <a:prstGeom prst="rect">
            <a:avLst/>
          </a:prstGeom>
        </p:spPr>
      </p:pic>
    </p:spTree>
    <p:extLst>
      <p:ext uri="{BB962C8B-B14F-4D97-AF65-F5344CB8AC3E}">
        <p14:creationId xmlns:p14="http://schemas.microsoft.com/office/powerpoint/2010/main" val="29886998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982132"/>
            <a:ext cx="9601196" cy="4893736"/>
          </a:xfrm>
        </p:spPr>
        <p:txBody>
          <a:bodyPr/>
          <a:lstStyle/>
          <a:p>
            <a:pPr marL="0" indent="0">
              <a:buNone/>
            </a:pPr>
            <a:r>
              <a:rPr lang="en-US" b="1" dirty="0">
                <a:latin typeface="Times New Roman" panose="02020603050405020304" pitchFamily="18" charset="0"/>
                <a:cs typeface="Times New Roman" panose="02020603050405020304" pitchFamily="18" charset="0"/>
              </a:rPr>
              <a:t>Radius and Fillet Gauges </a:t>
            </a:r>
          </a:p>
          <a:p>
            <a:r>
              <a:rPr lang="en-US" dirty="0"/>
              <a:t>The function of these gauges is to check the radius of curvature of convex and concave surfaces over a range from 1 to 25 mm </a:t>
            </a:r>
          </a:p>
          <a:p>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8732" y="2614548"/>
            <a:ext cx="7850458" cy="3261320"/>
          </a:xfrm>
          <a:prstGeom prst="rect">
            <a:avLst/>
          </a:prstGeom>
        </p:spPr>
      </p:pic>
    </p:spTree>
    <p:extLst>
      <p:ext uri="{BB962C8B-B14F-4D97-AF65-F5344CB8AC3E}">
        <p14:creationId xmlns:p14="http://schemas.microsoft.com/office/powerpoint/2010/main" val="34511702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Fillet Gauges </a:t>
            </a:r>
          </a:p>
        </p:txBody>
      </p:sp>
      <p:pic>
        <p:nvPicPr>
          <p:cNvPr id="5" name="Content Placeholder 4"/>
          <p:cNvPicPr>
            <a:picLocks noGrp="1" noChangeAspect="1"/>
          </p:cNvPicPr>
          <p:nvPr>
            <p:ph idx="1"/>
          </p:nvPr>
        </p:nvPicPr>
        <p:blipFill>
          <a:blip r:embed="rId2"/>
          <a:stretch>
            <a:fillRect/>
          </a:stretch>
        </p:blipFill>
        <p:spPr>
          <a:xfrm>
            <a:off x="893958" y="4393580"/>
            <a:ext cx="3888478" cy="1610092"/>
          </a:xfrm>
          <a:prstGeom prst="rect">
            <a:avLst/>
          </a:prstGeom>
        </p:spPr>
      </p:pic>
      <p:pic>
        <p:nvPicPr>
          <p:cNvPr id="8" name="Picture 7"/>
          <p:cNvPicPr>
            <a:picLocks noChangeAspect="1"/>
          </p:cNvPicPr>
          <p:nvPr/>
        </p:nvPicPr>
        <p:blipFill>
          <a:blip r:embed="rId3"/>
          <a:stretch>
            <a:fillRect/>
          </a:stretch>
        </p:blipFill>
        <p:spPr>
          <a:xfrm>
            <a:off x="4348976" y="2369631"/>
            <a:ext cx="3380776" cy="1867831"/>
          </a:xfrm>
          <a:prstGeom prst="rect">
            <a:avLst/>
          </a:prstGeom>
        </p:spPr>
      </p:pic>
      <p:pic>
        <p:nvPicPr>
          <p:cNvPr id="9" name="Picture 8"/>
          <p:cNvPicPr>
            <a:picLocks noChangeAspect="1"/>
          </p:cNvPicPr>
          <p:nvPr/>
        </p:nvPicPr>
        <p:blipFill>
          <a:blip r:embed="rId4"/>
          <a:stretch>
            <a:fillRect/>
          </a:stretch>
        </p:blipFill>
        <p:spPr>
          <a:xfrm>
            <a:off x="8051179" y="4023007"/>
            <a:ext cx="3278459" cy="2351238"/>
          </a:xfrm>
          <a:prstGeom prst="rect">
            <a:avLst/>
          </a:prstGeom>
        </p:spPr>
      </p:pic>
    </p:spTree>
    <p:extLst>
      <p:ext uri="{BB962C8B-B14F-4D97-AF65-F5344CB8AC3E}">
        <p14:creationId xmlns:p14="http://schemas.microsoft.com/office/powerpoint/2010/main" val="17648082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702129"/>
            <a:ext cx="9601196" cy="5173739"/>
          </a:xfrm>
        </p:spPr>
        <p:txBody>
          <a:bodyPr/>
          <a:lstStyle/>
          <a:p>
            <a:pPr marL="0" indent="0">
              <a:buNone/>
            </a:pPr>
            <a:r>
              <a:rPr lang="en-US" b="1" dirty="0">
                <a:latin typeface="Times New Roman" panose="02020603050405020304" pitchFamily="18" charset="0"/>
                <a:cs typeface="Times New Roman" panose="02020603050405020304" pitchFamily="18" charset="0"/>
              </a:rPr>
              <a:t>Feeler Gauges </a:t>
            </a:r>
          </a:p>
          <a:p>
            <a:r>
              <a:rPr lang="en-US" dirty="0" smtClean="0"/>
              <a:t>Feeler </a:t>
            </a:r>
            <a:r>
              <a:rPr lang="en-US" dirty="0"/>
              <a:t>gauges are used for checking clearances between mating surfaces. They are made in form of a set of steel, precision machined blade 0.03 to 1.0 mm thick and 100 mm long.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2566002"/>
            <a:ext cx="3886196" cy="327885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9160" y="2655629"/>
            <a:ext cx="5478967" cy="3189228"/>
          </a:xfrm>
          <a:prstGeom prst="rect">
            <a:avLst/>
          </a:prstGeom>
        </p:spPr>
      </p:pic>
    </p:spTree>
    <p:extLst>
      <p:ext uri="{BB962C8B-B14F-4D97-AF65-F5344CB8AC3E}">
        <p14:creationId xmlns:p14="http://schemas.microsoft.com/office/powerpoint/2010/main" val="22710826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982132"/>
            <a:ext cx="9601196" cy="4893736"/>
          </a:xfrm>
        </p:spPr>
        <p:txBody>
          <a:bodyPr/>
          <a:lstStyle/>
          <a:p>
            <a:pPr marL="0" indent="0">
              <a:buNone/>
            </a:pPr>
            <a:r>
              <a:rPr lang="en-US" b="1" dirty="0">
                <a:latin typeface="Times New Roman" panose="02020603050405020304" pitchFamily="18" charset="0"/>
                <a:cs typeface="Times New Roman" panose="02020603050405020304" pitchFamily="18" charset="0"/>
              </a:rPr>
              <a:t>Plate and Wire Gauges </a:t>
            </a:r>
          </a:p>
          <a:p>
            <a:r>
              <a:rPr lang="en-US" dirty="0"/>
              <a:t>The thickness of a sheet metal is checked by means of plate gauges and wire diameters by wire gauges.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000" y="2644140"/>
            <a:ext cx="2794000" cy="156972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059" y="4406689"/>
            <a:ext cx="3590925" cy="127635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1462" y="3376509"/>
            <a:ext cx="2857500" cy="2857500"/>
          </a:xfrm>
          <a:prstGeom prst="rect">
            <a:avLst/>
          </a:prstGeom>
        </p:spPr>
      </p:pic>
    </p:spTree>
    <p:extLst>
      <p:ext uri="{BB962C8B-B14F-4D97-AF65-F5344CB8AC3E}">
        <p14:creationId xmlns:p14="http://schemas.microsoft.com/office/powerpoint/2010/main" val="11728166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538389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10566</TotalTime>
  <Words>610</Words>
  <Application>Microsoft Office PowerPoint</Application>
  <PresentationFormat>Widescreen</PresentationFormat>
  <Paragraphs>64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Garamond</vt:lpstr>
      <vt:lpstr>Times New Roman</vt:lpstr>
      <vt:lpstr>Wingdings</vt:lpstr>
      <vt:lpstr>Organic</vt:lpstr>
      <vt:lpstr>GAUGES &amp; IT’S CLASSIFICATION</vt:lpstr>
      <vt:lpstr>Gauges </vt:lpstr>
      <vt:lpstr>Classifications of Gauges </vt:lpstr>
      <vt:lpstr>(a) Based on the standard and limit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Fillet Gauges </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GAUGES</dc:title>
  <dc:creator>RAKESH</dc:creator>
  <cp:lastModifiedBy>RAKESH</cp:lastModifiedBy>
  <cp:revision>37</cp:revision>
  <dcterms:created xsi:type="dcterms:W3CDTF">2016-01-20T15:42:28Z</dcterms:created>
  <dcterms:modified xsi:type="dcterms:W3CDTF">2017-01-31T18:07:29Z</dcterms:modified>
</cp:coreProperties>
</file>