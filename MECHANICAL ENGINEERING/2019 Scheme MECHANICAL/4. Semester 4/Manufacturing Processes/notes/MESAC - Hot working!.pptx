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s>
</file>

<file path=ppt/presentation.xml><?xml version="1.0" encoding="utf-8"?>
<p:presentation xmlns:p="http://schemas.openxmlformats.org/presentationml/2006/main" xmlns:r="http://schemas.openxmlformats.org/officeDocument/2006/relationships" xmlns:a="http://schemas.openxmlformats.org/drawingml/2006/main" firstSlideNum="1" rtl="0" saveSubsetFonts="0" serverZoom="0" showSpecialPlsOnTitleSld="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Lst>
  <p:sldSz type="screen4x3" cy="6858000" cx="9144000"/>
  <p:notesSz cx="6858000" cy="9144000"/>
  <p:defaultTex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View">
  <p:normalViewPr showOutlineIcons="1" snapVertSplitter="0" vertBarState="restored" horzBarState="restored" preferSingleView="0">
    <p:restoredLeft sz="21811" autoAdjust="0"/>
    <p:restoredTop sz="94652" autoAdjust="0"/>
  </p:normalViewPr>
  <p:slideViewPr>
    <p:cSldViewPr showGuides="0" snapToGrid="1" snapToObjects="0">
      <p:cViewPr varScale="1">
        <p:scale>
          <a:sx n="86" d="100"/>
          <a:sy n="86" d="100"/>
        </p:scale>
        <p:origin x="-894" y="-90"/>
      </p:cViewPr>
      <p:guideLst>
        <p:guide orient="horz" pos="2160"/>
        <p:guide orient="vert" pos="2880"/>
      </p:guideLst>
    </p:cSldViewPr>
  </p:slideViewPr>
  <p:gridSpacing cx="0" cy="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tableStyles" Target="tableStyles.xml"/><Relationship Id="rId49" Type="http://schemas.openxmlformats.org/officeDocument/2006/relationships/presProps" Target="presProps.xml"/><Relationship Id="rId5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p:bgPr>
    </p:bg>
    <p:spTree>
      <p:nvGrpSpPr>
        <p:cNvPr id="115" name=""/>
        <p:cNvGrpSpPr/>
        <p:nvPr/>
      </p:nvGrpSpPr>
      <p:grpSpPr>
        <a:xfrm>
          <a:off x="0" y="0"/>
          <a:ext cx="0" cy="0"/>
          <a:chOff x="0" y="0"/>
          <a:chExt cx="0" cy="0"/>
        </a:xfrm>
      </p:grpSpPr>
      <p:sp>
        <p:nvSpPr>
          <p:cNvPr id="1048682"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683"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684"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685"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686"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687"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111" name=""/>
        <p:cNvGrpSpPr/>
        <p:nvPr/>
      </p:nvGrpSpPr>
      <p:grpSpPr>
        <a:xfrm>
          <a:off x="0" y="0"/>
          <a:ext cx="0" cy="0"/>
          <a:chOff x="0" y="0"/>
          <a:chExt cx="0" cy="0"/>
        </a:xfrm>
      </p:grpSpPr>
      <p:sp>
        <p:nvSpPr>
          <p:cNvPr id="1048676" name="Title 1"/>
          <p:cNvSpPr>
            <a:spLocks noGrp="1"/>
          </p:cNvSpPr>
          <p:nvPr>
            <p:ph type="ctrTitle"/>
          </p:nvPr>
        </p:nvSpPr>
        <p:spPr>
          <a:xfrm>
            <a:off x="685800" y="2130425"/>
            <a:ext cx="7772400" cy="1470025"/>
          </a:xfrm>
        </p:spPr>
        <p:txBody>
          <a:bodyPr/>
          <a:p>
            <a:r>
              <a:rPr lang="en-US" smtClean="0"/>
              <a:t>Click to edit Master title style</a:t>
            </a:r>
            <a:endParaRPr lang="en-IN"/>
          </a:p>
        </p:txBody>
      </p:sp>
      <p:sp>
        <p:nvSpPr>
          <p:cNvPr id="1048677" name="Subtitle 2"/>
          <p:cNvSpPr>
            <a:spLocks noGrp="1"/>
          </p:cNvSpPr>
          <p:nvPr>
            <p:ph type="subTitle" idx="1"/>
          </p:nvPr>
        </p:nvSpPr>
        <p:spPr>
          <a:xfrm>
            <a:off x="1371600" y="3886200"/>
            <a:ext cx="6400800" cy="1752600"/>
          </a:xfrm>
        </p:spPr>
        <p:txBody>
          <a:bodyPr/>
          <a:lstStyle>
            <a:lvl1pPr algn="ctr" indent="0" marL="0">
              <a:buNone/>
            </a:lvl1pPr>
            <a:lvl2pPr algn="ctr" indent="0" marL="457200">
              <a:buNone/>
            </a:lvl2pPr>
            <a:lvl3pPr algn="ctr" indent="0" marL="914400">
              <a:buNone/>
            </a:lvl3pPr>
            <a:lvl4pPr algn="ctr" indent="0" marL="1371600">
              <a:buNone/>
            </a:lvl4pPr>
            <a:lvl5pPr algn="ctr" indent="0" marL="1828800">
              <a:buNone/>
            </a:lvl5pPr>
            <a:lvl6pPr algn="ctr" indent="0" marL="2286000">
              <a:buNone/>
            </a:lvl6pPr>
            <a:lvl7pPr algn="ctr" indent="0" marL="2743200">
              <a:buNone/>
            </a:lvl7pPr>
            <a:lvl8pPr algn="ctr" indent="0" marL="3200400">
              <a:buNone/>
            </a:lvl8pPr>
            <a:lvl9pPr algn="ctr" indent="0" marL="3657600">
              <a:buNone/>
            </a:lvl9pPr>
          </a:lstStyle>
          <a:p>
            <a:r>
              <a:rPr lang="en-US" smtClean="0"/>
              <a:t>Click to edit Master subtitle style</a:t>
            </a:r>
            <a:endParaRPr lang="en-IN"/>
          </a:p>
        </p:txBody>
      </p:sp>
      <p:sp>
        <p:nvSpPr>
          <p:cNvPr id="1048578" name=""/>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atinLnBrk="1" lvl="0"/>
            <a:endParaRPr altLang="en-US" sz="1400" lang="es-ES"/>
          </a:p>
        </p:txBody>
      </p:sp>
      <p:sp>
        <p:nvSpPr>
          <p:cNvPr id="1048580" name=""/>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r" eaLnBrk="1" hangingPunct="1" latinLnBrk="1" lvl="0"/>
            <a:fld id="{566ABCEB-ACFC-4714-9973-3DA970169C29}" type="slidenum">
              <a:rPr altLang="en-US" sz="1400" lang="es-ES"/>
              <a:pPr algn="r" eaLnBrk="1" hangingPunct="1" latinLnBrk="1" lvl="0"/>
            </a:fld>
            <a:endParaRPr altLang="en-US" sz="1400" lang="es-ES"/>
          </a:p>
        </p:txBody>
      </p:sp>
      <p:sp>
        <p:nvSpPr>
          <p:cNvPr id="1048579" name=""/>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atinLnBrk="1" lvl="0"/>
            <a:endParaRPr altLang="en-US" sz="1400"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13" name=""/>
        <p:cNvGrpSpPr/>
        <p:nvPr/>
      </p:nvGrpSpPr>
      <p:grpSpPr>
        <a:xfrm>
          <a:off x="0" y="0"/>
          <a:ext cx="0" cy="0"/>
          <a:chOff x="0" y="0"/>
          <a:chExt cx="0" cy="0"/>
        </a:xfrm>
      </p:grpSpPr>
      <p:sp>
        <p:nvSpPr>
          <p:cNvPr id="1048680" name="Title 1"/>
          <p:cNvSpPr>
            <a:spLocks noGrp="1"/>
          </p:cNvSpPr>
          <p:nvPr>
            <p:ph type="title"/>
          </p:nvPr>
        </p:nvSpPr>
        <p:spPr/>
        <p:txBody>
          <a:bodyPr/>
          <a:p>
            <a:r>
              <a:rPr lang="en-US" smtClean="0"/>
              <a:t>Click to edit Master title style</a:t>
            </a:r>
            <a:endParaRPr lang="en-IN"/>
          </a:p>
        </p:txBody>
      </p:sp>
      <p:sp>
        <p:nvSpPr>
          <p:cNvPr id="1048681" name="Content Placeholder 2"/>
          <p:cNvSpPr>
            <a:spLocks noGrp="1"/>
          </p:cNvSpPr>
          <p:nvPr>
            <p:ph idx="1"/>
          </p:nvPr>
        </p:nvSpPr>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1048578" name=""/>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atinLnBrk="1" lvl="0"/>
            <a:endParaRPr altLang="en-US" sz="1400" lang="es-ES"/>
          </a:p>
        </p:txBody>
      </p:sp>
      <p:sp>
        <p:nvSpPr>
          <p:cNvPr id="1048580" name=""/>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r" eaLnBrk="1" hangingPunct="1" latinLnBrk="1" lvl="0"/>
            <a:fld id="{566ABCEB-ACFC-4714-9973-3DA970169C29}" type="slidenum">
              <a:rPr altLang="en-US" sz="1400" lang="es-ES"/>
              <a:pPr algn="r" eaLnBrk="1" hangingPunct="1" latinLnBrk="1" lvl="0"/>
            </a:fld>
            <a:endParaRPr altLang="en-US" sz="1400" lang="es-ES"/>
          </a:p>
        </p:txBody>
      </p:sp>
      <p:sp>
        <p:nvSpPr>
          <p:cNvPr id="1048579" name=""/>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atinLnBrk="1" lvl="0"/>
            <a:endParaRPr altLang="en-US" sz="1400"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109" name=""/>
        <p:cNvGrpSpPr/>
        <p:nvPr/>
      </p:nvGrpSpPr>
      <p:grpSpPr>
        <a:xfrm>
          <a:off x="0" y="0"/>
          <a:ext cx="0" cy="0"/>
          <a:chOff x="0" y="0"/>
          <a:chExt cx="0" cy="0"/>
        </a:xfrm>
      </p:grpSpPr>
      <p:sp>
        <p:nvSpPr>
          <p:cNvPr id="1048671" name="Title 1"/>
          <p:cNvSpPr>
            <a:spLocks noGrp="1"/>
          </p:cNvSpPr>
          <p:nvPr>
            <p:ph type="title"/>
          </p:nvPr>
        </p:nvSpPr>
        <p:spPr>
          <a:xfrm>
            <a:off x="722313" y="4406900"/>
            <a:ext cx="7772400" cy="1362075"/>
          </a:xfrm>
        </p:spPr>
        <p:txBody>
          <a:bodyPr anchor="t"/>
          <a:lstStyle>
            <a:lvl1pPr algn="l">
              <a:defRPr b="1" cap="all" sz="4000"/>
            </a:lvl1pPr>
          </a:lstStyle>
          <a:p>
            <a:r>
              <a:rPr lang="en-US" smtClean="0"/>
              <a:t>Click to edit Master title style</a:t>
            </a:r>
            <a:endParaRPr lang="en-IN"/>
          </a:p>
        </p:txBody>
      </p:sp>
      <p:sp>
        <p:nvSpPr>
          <p:cNvPr id="1048672" name="Text Placeholder 2"/>
          <p:cNvSpPr>
            <a:spLocks noGrp="1"/>
          </p:cNvSpPr>
          <p:nvPr>
            <p:ph type="body" idx="1"/>
          </p:nvPr>
        </p:nvSpPr>
        <p:spPr>
          <a:xfrm>
            <a:off x="722313" y="2906713"/>
            <a:ext cx="7772400" cy="1500187"/>
          </a:xfrm>
        </p:spPr>
        <p:txBody>
          <a:bodyPr anchor="b"/>
          <a:lstStyle>
            <a:lvl1pPr indent="0" marL="0">
              <a:buNone/>
              <a:defRPr sz="2000"/>
            </a:lvl1pPr>
            <a:lvl2pPr indent="0" marL="457200">
              <a:buNone/>
              <a:defRPr sz="1800"/>
            </a:lvl2pPr>
            <a:lvl3pPr indent="0" marL="914400">
              <a:buNone/>
              <a:defRPr sz="1600"/>
            </a:lvl3pPr>
            <a:lvl4pPr indent="0" marL="1371600">
              <a:buNone/>
              <a:defRPr sz="1400"/>
            </a:lvl4pPr>
            <a:lvl5pPr indent="0" marL="1828800">
              <a:buNone/>
              <a:defRPr sz="1400"/>
            </a:lvl5pPr>
            <a:lvl6pPr indent="0" marL="2286000">
              <a:buNone/>
              <a:defRPr sz="1400"/>
            </a:lvl6pPr>
            <a:lvl7pPr indent="0" marL="2743200">
              <a:buNone/>
              <a:defRPr sz="1400"/>
            </a:lvl7pPr>
            <a:lvl8pPr indent="0" marL="3200400">
              <a:buNone/>
              <a:defRPr sz="1400"/>
            </a:lvl8pPr>
            <a:lvl9pPr indent="0" marL="3657600">
              <a:buNone/>
              <a:defRPr sz="1400"/>
            </a:lvl9pPr>
          </a:lstStyle>
          <a:p>
            <a:pPr lvl="0"/>
            <a:r>
              <a:rPr lang="en-US" smtClean="0"/>
              <a:t>Click to edit Master text styles</a:t>
            </a:r>
          </a:p>
        </p:txBody>
      </p:sp>
      <p:sp>
        <p:nvSpPr>
          <p:cNvPr id="1048578" name=""/>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atinLnBrk="1" lvl="0"/>
            <a:endParaRPr altLang="en-US" sz="1400" lang="es-ES"/>
          </a:p>
        </p:txBody>
      </p:sp>
      <p:sp>
        <p:nvSpPr>
          <p:cNvPr id="1048580" name=""/>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r" eaLnBrk="1" hangingPunct="1" latinLnBrk="1" lvl="0"/>
            <a:fld id="{566ABCEB-ACFC-4714-9973-3DA970169C29}" type="slidenum">
              <a:rPr altLang="en-US" sz="1400" lang="es-ES"/>
              <a:pPr algn="r" eaLnBrk="1" hangingPunct="1" latinLnBrk="1" lvl="0"/>
            </a:fld>
            <a:endParaRPr altLang="en-US" sz="1400" lang="es-ES"/>
          </a:p>
        </p:txBody>
      </p:sp>
      <p:sp>
        <p:nvSpPr>
          <p:cNvPr id="1048579" name=""/>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atinLnBrk="1" lvl="0"/>
            <a:endParaRPr altLang="en-US" sz="1400" lang="es-E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110" name=""/>
        <p:cNvGrpSpPr/>
        <p:nvPr/>
      </p:nvGrpSpPr>
      <p:grpSpPr>
        <a:xfrm>
          <a:off x="0" y="0"/>
          <a:ext cx="0" cy="0"/>
          <a:chOff x="0" y="0"/>
          <a:chExt cx="0" cy="0"/>
        </a:xfrm>
      </p:grpSpPr>
      <p:sp>
        <p:nvSpPr>
          <p:cNvPr id="1048673" name="Title 1"/>
          <p:cNvSpPr>
            <a:spLocks noGrp="1"/>
          </p:cNvSpPr>
          <p:nvPr>
            <p:ph type="title"/>
          </p:nvPr>
        </p:nvSpPr>
        <p:spPr/>
        <p:txBody>
          <a:bodyPr/>
          <a:p>
            <a:r>
              <a:rPr lang="en-US" smtClean="0"/>
              <a:t>Click to edit Master title style</a:t>
            </a:r>
            <a:endParaRPr lang="en-IN"/>
          </a:p>
        </p:txBody>
      </p:sp>
      <p:sp>
        <p:nvSpPr>
          <p:cNvPr id="1048674"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1048675"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1048578" name=""/>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atinLnBrk="1" lvl="0"/>
            <a:endParaRPr altLang="en-US" sz="1400" lang="es-ES"/>
          </a:p>
        </p:txBody>
      </p:sp>
      <p:sp>
        <p:nvSpPr>
          <p:cNvPr id="1048580" name=""/>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r" eaLnBrk="1" hangingPunct="1" latinLnBrk="1" lvl="0"/>
            <a:fld id="{566ABCEB-ACFC-4714-9973-3DA970169C29}" type="slidenum">
              <a:rPr altLang="en-US" sz="1400" lang="es-ES"/>
              <a:pPr algn="r" eaLnBrk="1" hangingPunct="1" latinLnBrk="1" lvl="0"/>
            </a:fld>
            <a:endParaRPr altLang="en-US" sz="1400" lang="es-ES"/>
          </a:p>
        </p:txBody>
      </p:sp>
      <p:sp>
        <p:nvSpPr>
          <p:cNvPr id="1048579" name=""/>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atinLnBrk="1" lvl="0"/>
            <a:endParaRPr altLang="en-US" sz="1400"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108" name=""/>
        <p:cNvGrpSpPr/>
        <p:nvPr/>
      </p:nvGrpSpPr>
      <p:grpSpPr>
        <a:xfrm>
          <a:off x="0" y="0"/>
          <a:ext cx="0" cy="0"/>
          <a:chOff x="0" y="0"/>
          <a:chExt cx="0" cy="0"/>
        </a:xfrm>
      </p:grpSpPr>
      <p:sp>
        <p:nvSpPr>
          <p:cNvPr id="1048666" name="Title 1"/>
          <p:cNvSpPr>
            <a:spLocks noGrp="1"/>
          </p:cNvSpPr>
          <p:nvPr>
            <p:ph type="title"/>
          </p:nvPr>
        </p:nvSpPr>
        <p:spPr/>
        <p:txBody>
          <a:bodyPr/>
          <a:p>
            <a:r>
              <a:rPr lang="en-US" smtClean="0"/>
              <a:t>Click to edit Master title style</a:t>
            </a:r>
            <a:endParaRPr lang="en-IN"/>
          </a:p>
        </p:txBody>
      </p:sp>
      <p:sp>
        <p:nvSpPr>
          <p:cNvPr id="1048667" name="Text Placeholder 2"/>
          <p:cNvSpPr>
            <a:spLocks noGrp="1"/>
          </p:cNvSpPr>
          <p:nvPr>
            <p:ph type="body" idx="1"/>
          </p:nvPr>
        </p:nvSpPr>
        <p:spPr>
          <a:xfrm>
            <a:off x="457200" y="1535113"/>
            <a:ext cx="4040188"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668"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1048669" name="Text Placeholder 4"/>
          <p:cNvSpPr>
            <a:spLocks noGrp="1"/>
          </p:cNvSpPr>
          <p:nvPr>
            <p:ph type="body" sz="quarter" idx="3"/>
          </p:nvPr>
        </p:nvSpPr>
        <p:spPr>
          <a:xfrm>
            <a:off x="4645025" y="1535113"/>
            <a:ext cx="4041775"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670"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1048578" name=""/>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atinLnBrk="1" lvl="0"/>
            <a:endParaRPr altLang="en-US" sz="1400" lang="es-ES"/>
          </a:p>
        </p:txBody>
      </p:sp>
      <p:sp>
        <p:nvSpPr>
          <p:cNvPr id="1048580" name=""/>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r" eaLnBrk="1" hangingPunct="1" latinLnBrk="1" lvl="0"/>
            <a:fld id="{566ABCEB-ACFC-4714-9973-3DA970169C29}" type="slidenum">
              <a:rPr altLang="en-US" sz="1400" lang="es-ES"/>
              <a:pPr algn="r" eaLnBrk="1" hangingPunct="1" latinLnBrk="1" lvl="0"/>
            </a:fld>
            <a:endParaRPr altLang="en-US" sz="1400" lang="es-ES"/>
          </a:p>
        </p:txBody>
      </p:sp>
      <p:sp>
        <p:nvSpPr>
          <p:cNvPr id="1048579" name=""/>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atinLnBrk="1" lvl="0"/>
            <a:endParaRPr altLang="en-US" sz="1400"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24" name=""/>
        <p:cNvGrpSpPr/>
        <p:nvPr/>
      </p:nvGrpSpPr>
      <p:grpSpPr>
        <a:xfrm>
          <a:off x="0" y="0"/>
          <a:ext cx="0" cy="0"/>
          <a:chOff x="0" y="0"/>
          <a:chExt cx="0" cy="0"/>
        </a:xfrm>
      </p:grpSpPr>
      <p:sp>
        <p:nvSpPr>
          <p:cNvPr id="1048582" name="Title 1"/>
          <p:cNvSpPr>
            <a:spLocks noGrp="1"/>
          </p:cNvSpPr>
          <p:nvPr>
            <p:ph type="title"/>
          </p:nvPr>
        </p:nvSpPr>
        <p:spPr/>
        <p:txBody>
          <a:bodyPr/>
          <a:p>
            <a:r>
              <a:rPr lang="en-US" smtClean="0"/>
              <a:t>Click to edit Master title style</a:t>
            </a:r>
            <a:endParaRPr lang="en-IN"/>
          </a:p>
        </p:txBody>
      </p:sp>
      <p:sp>
        <p:nvSpPr>
          <p:cNvPr id="1048578" name=""/>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atinLnBrk="1" lvl="0"/>
            <a:endParaRPr altLang="en-US" sz="1400" lang="es-ES"/>
          </a:p>
        </p:txBody>
      </p:sp>
      <p:sp>
        <p:nvSpPr>
          <p:cNvPr id="1048580" name=""/>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r" eaLnBrk="1" hangingPunct="1" latinLnBrk="1" lvl="0"/>
            <a:fld id="{566ABCEB-ACFC-4714-9973-3DA970169C29}" type="slidenum">
              <a:rPr altLang="en-US" sz="1400" lang="es-ES"/>
              <a:pPr algn="r" eaLnBrk="1" hangingPunct="1" latinLnBrk="1" lvl="0"/>
            </a:fld>
            <a:endParaRPr altLang="en-US" sz="1400" lang="es-ES"/>
          </a:p>
        </p:txBody>
      </p:sp>
      <p:sp>
        <p:nvSpPr>
          <p:cNvPr id="1048579" name=""/>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atinLnBrk="1" lvl="0"/>
            <a:endParaRPr altLang="en-US" sz="1400"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61" name=""/>
        <p:cNvGrpSpPr/>
        <p:nvPr/>
      </p:nvGrpSpPr>
      <p:grpSpPr>
        <a:xfrm>
          <a:off x="0" y="0"/>
          <a:ext cx="0" cy="0"/>
          <a:chOff x="0" y="0"/>
          <a:chExt cx="0" cy="0"/>
        </a:xfrm>
      </p:grpSpPr>
      <p:sp>
        <p:nvSpPr>
          <p:cNvPr id="1048578" name=""/>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atinLnBrk="1" lvl="0"/>
            <a:endParaRPr altLang="en-US" sz="1400" lang="es-ES"/>
          </a:p>
        </p:txBody>
      </p:sp>
      <p:sp>
        <p:nvSpPr>
          <p:cNvPr id="1048580" name=""/>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r" eaLnBrk="1" hangingPunct="1" latinLnBrk="1" lvl="0"/>
            <a:fld id="{566ABCEB-ACFC-4714-9973-3DA970169C29}" type="slidenum">
              <a:rPr altLang="en-US" sz="1400" lang="es-ES"/>
              <a:pPr algn="r" eaLnBrk="1" hangingPunct="1" latinLnBrk="1" lvl="0"/>
            </a:fld>
            <a:endParaRPr altLang="en-US" sz="1400" lang="es-ES"/>
          </a:p>
        </p:txBody>
      </p:sp>
      <p:sp>
        <p:nvSpPr>
          <p:cNvPr id="1048579" name=""/>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atinLnBrk="1" lvl="0"/>
            <a:endParaRPr altLang="en-US" sz="1400"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105" name=""/>
        <p:cNvGrpSpPr/>
        <p:nvPr/>
      </p:nvGrpSpPr>
      <p:grpSpPr>
        <a:xfrm>
          <a:off x="0" y="0"/>
          <a:ext cx="0" cy="0"/>
          <a:chOff x="0" y="0"/>
          <a:chExt cx="0" cy="0"/>
        </a:xfrm>
      </p:grpSpPr>
      <p:sp>
        <p:nvSpPr>
          <p:cNvPr id="1048658" name="Title 1"/>
          <p:cNvSpPr>
            <a:spLocks noGrp="1"/>
          </p:cNvSpPr>
          <p:nvPr>
            <p:ph type="title"/>
          </p:nvPr>
        </p:nvSpPr>
        <p:spPr>
          <a:xfrm>
            <a:off x="457200" y="273050"/>
            <a:ext cx="3008313" cy="1162050"/>
          </a:xfrm>
        </p:spPr>
        <p:txBody>
          <a:bodyPr anchor="b"/>
          <a:lstStyle>
            <a:lvl1pPr algn="l">
              <a:defRPr b="1" sz="2000"/>
            </a:lvl1pPr>
          </a:lstStyle>
          <a:p>
            <a:r>
              <a:rPr lang="en-US" smtClean="0"/>
              <a:t>Click to edit Master title style</a:t>
            </a:r>
            <a:endParaRPr lang="en-IN"/>
          </a:p>
        </p:txBody>
      </p:sp>
      <p:sp>
        <p:nvSpPr>
          <p:cNvPr id="1048659"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1048660" name="Text Placeholder 3"/>
          <p:cNvSpPr>
            <a:spLocks noGrp="1"/>
          </p:cNvSpPr>
          <p:nvPr>
            <p:ph type="body" sz="half" idx="2"/>
          </p:nvPr>
        </p:nvSpPr>
        <p:spPr>
          <a:xfrm>
            <a:off x="457200" y="1435100"/>
            <a:ext cx="3008313" cy="4691063"/>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578" name=""/>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atinLnBrk="1" lvl="0"/>
            <a:endParaRPr altLang="en-US" sz="1400" lang="es-ES"/>
          </a:p>
        </p:txBody>
      </p:sp>
      <p:sp>
        <p:nvSpPr>
          <p:cNvPr id="1048580" name=""/>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r" eaLnBrk="1" hangingPunct="1" latinLnBrk="1" lvl="0"/>
            <a:fld id="{566ABCEB-ACFC-4714-9973-3DA970169C29}" type="slidenum">
              <a:rPr altLang="en-US" sz="1400" lang="es-ES"/>
              <a:pPr algn="r" eaLnBrk="1" hangingPunct="1" latinLnBrk="1" lvl="0"/>
            </a:fld>
            <a:endParaRPr altLang="en-US" sz="1400" lang="es-ES"/>
          </a:p>
        </p:txBody>
      </p:sp>
      <p:sp>
        <p:nvSpPr>
          <p:cNvPr id="1048579" name=""/>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atinLnBrk="1" lvl="0"/>
            <a:endParaRPr altLang="en-US" sz="1400"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107" name=""/>
        <p:cNvGrpSpPr/>
        <p:nvPr/>
      </p:nvGrpSpPr>
      <p:grpSpPr>
        <a:xfrm>
          <a:off x="0" y="0"/>
          <a:ext cx="0" cy="0"/>
          <a:chOff x="0" y="0"/>
          <a:chExt cx="0" cy="0"/>
        </a:xfrm>
      </p:grpSpPr>
      <p:sp>
        <p:nvSpPr>
          <p:cNvPr id="1048663" name="Title 1"/>
          <p:cNvSpPr>
            <a:spLocks noGrp="1"/>
          </p:cNvSpPr>
          <p:nvPr>
            <p:ph type="title"/>
          </p:nvPr>
        </p:nvSpPr>
        <p:spPr>
          <a:xfrm>
            <a:off x="1792288" y="4800600"/>
            <a:ext cx="5486400" cy="566738"/>
          </a:xfrm>
        </p:spPr>
        <p:txBody>
          <a:bodyPr anchor="b"/>
          <a:lstStyle>
            <a:lvl1pPr algn="l">
              <a:defRPr b="1" sz="2000"/>
            </a:lvl1pPr>
          </a:lstStyle>
          <a:p>
            <a:r>
              <a:rPr lang="en-US" smtClean="0"/>
              <a:t>Click to edit Master title style</a:t>
            </a:r>
            <a:endParaRPr lang="en-IN"/>
          </a:p>
        </p:txBody>
      </p:sp>
      <p:sp>
        <p:nvSpPr>
          <p:cNvPr id="1048664" name="Picture Placeholder 2"/>
          <p:cNvSpPr>
            <a:spLocks noGrp="1"/>
          </p:cNvSpPr>
          <p:nvPr>
            <p:ph type="pic" idx="1"/>
          </p:nvPr>
        </p:nvSpPr>
        <p:spPr>
          <a:xfrm>
            <a:off x="1792288" y="612775"/>
            <a:ext cx="5486400" cy="4114800"/>
          </a:xfrm>
        </p:spPr>
        <p:txBody>
          <a:bodyPr anchor="t" anchorCtr="0" bIns="45720" compatLnSpc="1" lIns="91440" numCol="1" rIns="91440" tIns="45720" vert="horz" wrap="square">
            <a:prstTxWarp prst="textNoShape"/>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pPr algn="l" defTabSz="914400" eaLnBrk="0" fontAlgn="base" hangingPunct="0" indent="0" latinLnBrk="0" lvl="0" marL="0" marR="0" rtl="0">
              <a:lnSpc>
                <a:spcPct val="100000"/>
              </a:lnSpc>
              <a:spcBef>
                <a:spcPct val="20000"/>
              </a:spcBef>
              <a:spcAft>
                <a:spcPct val="0"/>
              </a:spcAft>
              <a:buClrTx/>
              <a:buSzTx/>
              <a:buFontTx/>
              <a:buNone/>
            </a:pPr>
            <a:endParaRPr baseline="0" b="0" cap="none" sz="3200" i="0" kern="0" kumimoji="0" lang="en-IN" noProof="0" normalizeH="0" spc="0" strike="noStrike" u="none" smtClean="0">
              <a:ln>
                <a:noFill/>
              </a:ln>
              <a:solidFill>
                <a:schemeClr val="tx1"/>
              </a:solidFill>
              <a:effectLst/>
              <a:uLnTx/>
              <a:uFillTx/>
              <a:latin typeface="+mn-lt"/>
              <a:ea typeface="+mn-ea"/>
              <a:cs typeface="+mn-cs"/>
            </a:endParaRPr>
          </a:p>
        </p:txBody>
      </p:sp>
      <p:sp>
        <p:nvSpPr>
          <p:cNvPr id="1048665" name="Text Placeholder 3"/>
          <p:cNvSpPr>
            <a:spLocks noGrp="1"/>
          </p:cNvSpPr>
          <p:nvPr>
            <p:ph type="body" sz="half" idx="2"/>
          </p:nvPr>
        </p:nvSpPr>
        <p:spPr>
          <a:xfrm>
            <a:off x="1792288" y="5367338"/>
            <a:ext cx="5486400" cy="804862"/>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578" name=""/>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atinLnBrk="1" lvl="0"/>
            <a:endParaRPr altLang="en-US" sz="1400" lang="es-ES"/>
          </a:p>
        </p:txBody>
      </p:sp>
      <p:sp>
        <p:nvSpPr>
          <p:cNvPr id="1048580" name=""/>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r" eaLnBrk="1" hangingPunct="1" latinLnBrk="1" lvl="0"/>
            <a:fld id="{566ABCEB-ACFC-4714-9973-3DA970169C29}" type="slidenum">
              <a:rPr altLang="en-US" sz="1400" lang="es-ES"/>
              <a:pPr algn="r" eaLnBrk="1" hangingPunct="1" latinLnBrk="1" lvl="0"/>
            </a:fld>
            <a:endParaRPr altLang="en-US" sz="1400" lang="es-ES"/>
          </a:p>
        </p:txBody>
      </p:sp>
      <p:sp>
        <p:nvSpPr>
          <p:cNvPr id="1048579" name=""/>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atinLnBrk="1" lvl="0"/>
            <a:endParaRPr altLang="en-US" sz="1400"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112" name=""/>
        <p:cNvGrpSpPr/>
        <p:nvPr/>
      </p:nvGrpSpPr>
      <p:grpSpPr>
        <a:xfrm>
          <a:off x="0" y="0"/>
          <a:ext cx="0" cy="0"/>
          <a:chOff x="0" y="0"/>
          <a:chExt cx="0" cy="0"/>
        </a:xfrm>
      </p:grpSpPr>
      <p:sp>
        <p:nvSpPr>
          <p:cNvPr id="1048678" name="Title 1"/>
          <p:cNvSpPr>
            <a:spLocks noGrp="1"/>
          </p:cNvSpPr>
          <p:nvPr>
            <p:ph type="title"/>
          </p:nvPr>
        </p:nvSpPr>
        <p:spPr/>
        <p:txBody>
          <a:bodyPr/>
          <a:p>
            <a:r>
              <a:rPr lang="en-US" smtClean="0"/>
              <a:t>Click to edit Master title style</a:t>
            </a:r>
            <a:endParaRPr lang="en-IN"/>
          </a:p>
        </p:txBody>
      </p:sp>
      <p:sp>
        <p:nvSpPr>
          <p:cNvPr id="1048679" name="Vertical Text Placeholder 2"/>
          <p:cNvSpPr>
            <a:spLocks noGrp="1"/>
          </p:cNvSpPr>
          <p:nvPr>
            <p:ph type="body" orient="vert" idx="1"/>
          </p:nvPr>
        </p:nvSpPr>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1048578" name=""/>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atinLnBrk="1" lvl="0"/>
            <a:endParaRPr altLang="en-US" sz="1400" lang="es-ES"/>
          </a:p>
        </p:txBody>
      </p:sp>
      <p:sp>
        <p:nvSpPr>
          <p:cNvPr id="1048580" name=""/>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r" eaLnBrk="1" hangingPunct="1" latinLnBrk="1" lvl="0"/>
            <a:fld id="{566ABCEB-ACFC-4714-9973-3DA970169C29}" type="slidenum">
              <a:rPr altLang="en-US" sz="1400" lang="es-ES"/>
              <a:pPr algn="r" eaLnBrk="1" hangingPunct="1" latinLnBrk="1" lvl="0"/>
            </a:fld>
            <a:endParaRPr altLang="en-US" sz="1400" lang="es-ES"/>
          </a:p>
        </p:txBody>
      </p:sp>
      <p:sp>
        <p:nvSpPr>
          <p:cNvPr id="1048579" name=""/>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atinLnBrk="1" lvl="0"/>
            <a:endParaRPr altLang="en-US" sz="1400"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106" name=""/>
        <p:cNvGrpSpPr/>
        <p:nvPr/>
      </p:nvGrpSpPr>
      <p:grpSpPr>
        <a:xfrm>
          <a:off x="0" y="0"/>
          <a:ext cx="0" cy="0"/>
          <a:chOff x="0" y="0"/>
          <a:chExt cx="0" cy="0"/>
        </a:xfrm>
      </p:grpSpPr>
      <p:sp>
        <p:nvSpPr>
          <p:cNvPr id="1048661" name="Vertical Title 1"/>
          <p:cNvSpPr>
            <a:spLocks noGrp="1"/>
          </p:cNvSpPr>
          <p:nvPr>
            <p:ph type="title" orient="vert"/>
          </p:nvPr>
        </p:nvSpPr>
        <p:spPr>
          <a:xfrm>
            <a:off x="6629400" y="274638"/>
            <a:ext cx="2057400" cy="5851525"/>
          </a:xfrm>
        </p:spPr>
        <p:txBody>
          <a:bodyPr vert="eaVert"/>
          <a:p>
            <a:r>
              <a:rPr lang="en-US" smtClean="0"/>
              <a:t>Click to edit Master title style</a:t>
            </a:r>
            <a:endParaRPr lang="en-IN"/>
          </a:p>
        </p:txBody>
      </p:sp>
      <p:sp>
        <p:nvSpPr>
          <p:cNvPr id="1048662" name="Vertical Text Placeholder 2"/>
          <p:cNvSpPr>
            <a:spLocks noGrp="1"/>
          </p:cNvSpPr>
          <p:nvPr>
            <p:ph type="body" orient="vert" idx="1"/>
          </p:nvPr>
        </p:nvSpPr>
        <p:spPr>
          <a:xfrm>
            <a:off x="457200" y="274638"/>
            <a:ext cx="6019800" cy="5851525"/>
          </a:xfrm>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1048578" name=""/>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atinLnBrk="1" lvl="0"/>
            <a:endParaRPr altLang="en-US" sz="1400" lang="es-ES"/>
          </a:p>
        </p:txBody>
      </p:sp>
      <p:sp>
        <p:nvSpPr>
          <p:cNvPr id="1048580" name=""/>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r" eaLnBrk="1" hangingPunct="1" latinLnBrk="1" lvl="0"/>
            <a:fld id="{566ABCEB-ACFC-4714-9973-3DA970169C29}" type="slidenum">
              <a:rPr altLang="en-US" sz="1400" lang="es-ES"/>
              <a:pPr algn="r" eaLnBrk="1" hangingPunct="1" latinLnBrk="1" lvl="0"/>
            </a:fld>
            <a:endParaRPr altLang="en-US" sz="1400" lang="es-ES"/>
          </a:p>
        </p:txBody>
      </p:sp>
      <p:sp>
        <p:nvSpPr>
          <p:cNvPr id="1048579" name=""/>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atinLnBrk="1" lvl="0"/>
            <a:endParaRPr altLang="en-US" sz="1400" lang="es-E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image" Target="../media/image1.jpeg"/><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white">
      <p:bgPr>
        <a:blipFill rotWithShape="0">
          <a:blip xmlns:r="http://schemas.openxmlformats.org/officeDocument/2006/relationships" r:embed="rId12">
            <a:alphaModFix amt="100000"/>
          </a:blip>
          <a:srcRect/>
          <a:stretch>
            <a:fillRect/>
          </a:stretch>
        </a:blipFill>
      </p:bgPr>
    </p:bg>
    <p:spTree>
      <p:nvGrpSpPr>
        <p:cNvPr id="22" name=""/>
        <p:cNvGrpSpPr/>
        <p:nvPr/>
      </p:nvGrpSpPr>
      <p:grpSpPr>
        <a:xfrm rot="0">
          <a:off x="0" y="0"/>
          <a:ext cx="0" cy="0"/>
          <a:chOff x="0" y="0"/>
          <a:chExt cx="0" cy="0"/>
        </a:xfrm>
      </p:grpSpPr>
      <p:sp>
        <p:nvSpPr>
          <p:cNvPr id="1048576" name=""/>
          <p:cNvSpPr/>
          <p:nvPr>
            <p:ph type="title" sz="full" idx="0"/>
          </p:nvPr>
        </p:nvSpPr>
        <p:spPr>
          <a:xfrm rot="0">
            <a:off x="457200" y="274637"/>
            <a:ext cx="8229600" cy="1143000"/>
          </a:xfrm>
          <a:prstGeom prst="rect"/>
          <a:noFill/>
          <a:ln>
            <a:noFill/>
          </a:ln>
        </p:spPr>
        <p:txBody>
          <a:bodyPr anchor="ctr" bIns="45720" lIns="91440" rIns="91440" tIns="45720" vert="horz"/>
          <a:p>
            <a:pPr lvl="0"/>
            <a:r>
              <a:rPr altLang="en-US" lang="es-ES"/>
              <a:t>Haga clic para cambiar el estilo de título	</a:t>
            </a:r>
          </a:p>
        </p:txBody>
      </p:sp>
      <p:sp>
        <p:nvSpPr>
          <p:cNvPr id="1048577" name=""/>
          <p:cNvSpPr/>
          <p:nvPr>
            <p:ph type="body" sz="full" idx="1"/>
          </p:nvPr>
        </p:nvSpPr>
        <p:spPr>
          <a:xfrm rot="0">
            <a:off x="457200" y="1600200"/>
            <a:ext cx="8229600" cy="4525962"/>
          </a:xfrm>
          <a:prstGeom prst="rect"/>
          <a:noFill/>
          <a:ln>
            <a:noFill/>
          </a:ln>
        </p:spPr>
        <p:txBody>
          <a:bodyPr anchor="t" bIns="45720" lIns="91440" rIns="91440" tIns="45720" vert="horz"/>
          <a:p>
            <a:pPr lvl="0"/>
            <a:r>
              <a:rPr altLang="en-US" lang="es-ES"/>
              <a:t>Haga clic para modificar el estilo de texto del patrón</a:t>
            </a:r>
          </a:p>
          <a:p>
            <a:pPr lvl="1"/>
            <a:r>
              <a:rPr altLang="en-US" lang="es-ES"/>
              <a:t>Segundo nivel</a:t>
            </a:r>
          </a:p>
          <a:p>
            <a:pPr lvl="2"/>
            <a:r>
              <a:rPr altLang="en-US" lang="es-ES"/>
              <a:t>Tercer nivel</a:t>
            </a:r>
          </a:p>
          <a:p>
            <a:pPr lvl="3"/>
            <a:r>
              <a:rPr altLang="en-US" lang="es-ES"/>
              <a:t>Cuarto nivel</a:t>
            </a:r>
          </a:p>
          <a:p>
            <a:pPr lvl="4"/>
            <a:r>
              <a:rPr altLang="en-US" lang="es-ES"/>
              <a:t>Quinto nivel</a:t>
            </a:r>
          </a:p>
        </p:txBody>
      </p:sp>
      <p:sp>
        <p:nvSpPr>
          <p:cNvPr id="1048578" name=""/>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atinLnBrk="1" lvl="0"/>
            <a:endParaRPr altLang="en-US" sz="1400" lang="es-ES"/>
          </a:p>
        </p:txBody>
      </p:sp>
      <p:sp>
        <p:nvSpPr>
          <p:cNvPr id="1048579" name=""/>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atinLnBrk="1" lvl="0"/>
            <a:endParaRPr altLang="en-US" sz="1400" lang="es-ES"/>
          </a:p>
        </p:txBody>
      </p:sp>
      <p:sp>
        <p:nvSpPr>
          <p:cNvPr id="1048580" name=""/>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r" eaLnBrk="1" hangingPunct="1" latinLnBrk="1" lvl="0"/>
            <a:fld id="{566ABCEB-ACFC-4714-9973-3DA970169C29}" type="slidenum">
              <a:rPr altLang="en-US" sz="1400" lang="es-ES"/>
              <a:pPr algn="r" eaLnBrk="1" hangingPunct="1" latinLnBrk="1" lvl="0"/>
            </a:fld>
            <a:endParaRPr altLang="en-US" sz="1400" lang="es-ES"/>
          </a:p>
        </p:txBody>
      </p:sp>
    </p:spTree>
  </p:cSld>
  <p:clrMap accent1="accent1" accent2="accent2" accent3="accent3" accent4="accent4" accent5="accent5" accent6="accent6" bg1="lt1" bg2="dk2" tx1="dk1" tx2="lt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sldNum="0"/>
  <p:txStyles>
    <p:titleStyle>
      <a:lvl1pPr algn="ctr" eaLnBrk="0" fontAlgn="base" hangingPunct="0" rtl="0">
        <a:spcBef>
          <a:spcPct val="0"/>
        </a:spcBef>
        <a:spcAft>
          <a:spcPct val="0"/>
        </a:spcAft>
        <a:defRPr sz="4400">
          <a:solidFill>
            <a:schemeClr val="tx2"/>
          </a:solidFill>
          <a:latin typeface="+mj-lt"/>
          <a:ea typeface="+mj-ea"/>
          <a:cs typeface="+mj-cs"/>
        </a:defRPr>
      </a:lvl1pPr>
      <a:lvl2pPr algn="ctr" eaLnBrk="0" fontAlgn="base" hangingPunct="0" rtl="0">
        <a:spcBef>
          <a:spcPct val="0"/>
        </a:spcBef>
        <a:spcAft>
          <a:spcPct val="0"/>
        </a:spcAft>
        <a:defRPr sz="4400">
          <a:solidFill>
            <a:schemeClr val="tx2"/>
          </a:solidFill>
          <a:latin typeface="Arial" charset="0"/>
          <a:cs typeface="Arial" charset="0"/>
        </a:defRPr>
      </a:lvl2pPr>
      <a:lvl3pPr algn="ctr" eaLnBrk="0" fontAlgn="base" hangingPunct="0" rtl="0">
        <a:spcBef>
          <a:spcPct val="0"/>
        </a:spcBef>
        <a:spcAft>
          <a:spcPct val="0"/>
        </a:spcAft>
        <a:defRPr sz="4400">
          <a:solidFill>
            <a:schemeClr val="tx2"/>
          </a:solidFill>
          <a:latin typeface="Arial" charset="0"/>
          <a:cs typeface="Arial" charset="0"/>
        </a:defRPr>
      </a:lvl3pPr>
      <a:lvl4pPr algn="ctr" eaLnBrk="0" fontAlgn="base" hangingPunct="0" rtl="0">
        <a:spcBef>
          <a:spcPct val="0"/>
        </a:spcBef>
        <a:spcAft>
          <a:spcPct val="0"/>
        </a:spcAft>
        <a:defRPr sz="4400">
          <a:solidFill>
            <a:schemeClr val="tx2"/>
          </a:solidFill>
          <a:latin typeface="Arial" charset="0"/>
          <a:cs typeface="Arial" charset="0"/>
        </a:defRPr>
      </a:lvl4pPr>
      <a:lvl5pPr algn="ctr" eaLnBrk="0" fontAlgn="base" hangingPunct="0" rtl="0">
        <a:spcBef>
          <a:spcPct val="0"/>
        </a:spcBef>
        <a:spcAft>
          <a:spcPct val="0"/>
        </a:spcAft>
        <a:defRPr sz="4400">
          <a:solidFill>
            <a:schemeClr val="tx2"/>
          </a:solidFill>
          <a:latin typeface="Arial" charset="0"/>
          <a:cs typeface="Arial" charset="0"/>
        </a:defRPr>
      </a:lvl5pPr>
      <a:lvl6pPr algn="ctr" fontAlgn="base" marL="457200" rtl="0">
        <a:spcBef>
          <a:spcPct val="0"/>
        </a:spcBef>
        <a:spcAft>
          <a:spcPct val="0"/>
        </a:spcAft>
        <a:defRPr sz="4400">
          <a:solidFill>
            <a:schemeClr val="tx2"/>
          </a:solidFill>
          <a:latin typeface="Arial" charset="0"/>
          <a:cs typeface="Arial" charset="0"/>
        </a:defRPr>
      </a:lvl6pPr>
      <a:lvl7pPr algn="ctr" fontAlgn="base" marL="914400" rtl="0">
        <a:spcBef>
          <a:spcPct val="0"/>
        </a:spcBef>
        <a:spcAft>
          <a:spcPct val="0"/>
        </a:spcAft>
        <a:defRPr sz="4400">
          <a:solidFill>
            <a:schemeClr val="tx2"/>
          </a:solidFill>
          <a:latin typeface="Arial" charset="0"/>
          <a:cs typeface="Arial" charset="0"/>
        </a:defRPr>
      </a:lvl7pPr>
      <a:lvl8pPr algn="ctr" fontAlgn="base" marL="1371600" rtl="0">
        <a:spcBef>
          <a:spcPct val="0"/>
        </a:spcBef>
        <a:spcAft>
          <a:spcPct val="0"/>
        </a:spcAft>
        <a:defRPr sz="4400">
          <a:solidFill>
            <a:schemeClr val="tx2"/>
          </a:solidFill>
          <a:latin typeface="Arial" charset="0"/>
          <a:cs typeface="Arial" charset="0"/>
        </a:defRPr>
      </a:lvl8pPr>
      <a:lvl9pPr algn="ctr" fontAlgn="base" marL="1828800" rtl="0">
        <a:spcBef>
          <a:spcPct val="0"/>
        </a:spcBef>
        <a:spcAft>
          <a:spcPct val="0"/>
        </a:spcAft>
        <a:defRPr sz="4400">
          <a:solidFill>
            <a:schemeClr val="tx2"/>
          </a:solidFill>
          <a:latin typeface="Arial" charset="0"/>
          <a:cs typeface="Arial" charset="0"/>
        </a:defRPr>
      </a:lvl9pPr>
    </p:titleStyle>
    <p:bodyStyle>
      <a:lvl1pPr algn="l" eaLnBrk="0" fontAlgn="base" hangingPunct="0" indent="-342900" marL="342900" rtl="0">
        <a:spcBef>
          <a:spcPct val="20000"/>
        </a:spcBef>
        <a:spcAft>
          <a:spcPct val="0"/>
        </a:spcAft>
        <a:buChar char="•"/>
        <a:defRPr sz="3200">
          <a:solidFill>
            <a:schemeClr val="tx1"/>
          </a:solidFill>
          <a:latin typeface="+mn-lt"/>
          <a:ea typeface="+mn-ea"/>
          <a:cs typeface="+mn-cs"/>
        </a:defRPr>
      </a:lvl1pPr>
      <a:lvl2pPr algn="l" eaLnBrk="0" fontAlgn="base" hangingPunct="0" indent="-285750" marL="742950" rtl="0">
        <a:spcBef>
          <a:spcPct val="20000"/>
        </a:spcBef>
        <a:spcAft>
          <a:spcPct val="0"/>
        </a:spcAft>
        <a:buChar char="–"/>
        <a:defRPr sz="2800">
          <a:solidFill>
            <a:schemeClr val="tx1"/>
          </a:solidFill>
          <a:latin typeface="+mn-lt"/>
          <a:cs typeface="+mn-cs"/>
        </a:defRPr>
      </a:lvl2pPr>
      <a:lvl3pPr algn="l" eaLnBrk="0" fontAlgn="base" hangingPunct="0" indent="-228600" marL="1143000" rtl="0">
        <a:spcBef>
          <a:spcPct val="20000"/>
        </a:spcBef>
        <a:spcAft>
          <a:spcPct val="0"/>
        </a:spcAft>
        <a:buChar char="•"/>
        <a:defRPr sz="2400">
          <a:solidFill>
            <a:schemeClr val="tx1"/>
          </a:solidFill>
          <a:latin typeface="+mn-lt"/>
          <a:cs typeface="+mn-cs"/>
        </a:defRPr>
      </a:lvl3pPr>
      <a:lvl4pPr algn="l" eaLnBrk="0" fontAlgn="base" hangingPunct="0" indent="-228600" marL="1600200" rtl="0">
        <a:spcBef>
          <a:spcPct val="20000"/>
        </a:spcBef>
        <a:spcAft>
          <a:spcPct val="0"/>
        </a:spcAft>
        <a:buChar char="–"/>
        <a:defRPr sz="2000">
          <a:solidFill>
            <a:schemeClr val="tx1"/>
          </a:solidFill>
          <a:latin typeface="+mn-lt"/>
          <a:cs typeface="+mn-cs"/>
        </a:defRPr>
      </a:lvl4pPr>
      <a:lvl5pPr algn="l" eaLnBrk="0" fontAlgn="base" hangingPunct="0" indent="-228600" marL="2057400" rtl="0">
        <a:spcBef>
          <a:spcPct val="20000"/>
        </a:spcBef>
        <a:spcAft>
          <a:spcPct val="0"/>
        </a:spcAft>
        <a:buChar char="»"/>
        <a:defRPr sz="2000">
          <a:solidFill>
            <a:schemeClr val="tx1"/>
          </a:solidFill>
          <a:latin typeface="+mn-lt"/>
          <a:cs typeface="+mn-cs"/>
        </a:defRPr>
      </a:lvl5pPr>
      <a:lvl6pPr algn="l" fontAlgn="base" indent="-228600" marL="2514600" rtl="0">
        <a:spcBef>
          <a:spcPct val="20000"/>
        </a:spcBef>
        <a:spcAft>
          <a:spcPct val="0"/>
        </a:spcAft>
        <a:buChar char="»"/>
        <a:defRPr sz="2000">
          <a:solidFill>
            <a:schemeClr val="tx1"/>
          </a:solidFill>
          <a:latin typeface="+mn-lt"/>
          <a:cs typeface="+mn-cs"/>
        </a:defRPr>
      </a:lvl6pPr>
      <a:lvl7pPr algn="l" fontAlgn="base" indent="-228600" marL="2971800" rtl="0">
        <a:spcBef>
          <a:spcPct val="20000"/>
        </a:spcBef>
        <a:spcAft>
          <a:spcPct val="0"/>
        </a:spcAft>
        <a:buChar char="»"/>
        <a:defRPr sz="2000">
          <a:solidFill>
            <a:schemeClr val="tx1"/>
          </a:solidFill>
          <a:latin typeface="+mn-lt"/>
          <a:cs typeface="+mn-cs"/>
        </a:defRPr>
      </a:lvl7pPr>
      <a:lvl8pPr algn="l" fontAlgn="base" indent="-228600" marL="3429000" rtl="0">
        <a:spcBef>
          <a:spcPct val="20000"/>
        </a:spcBef>
        <a:spcAft>
          <a:spcPct val="0"/>
        </a:spcAft>
        <a:buChar char="»"/>
        <a:defRPr sz="2000">
          <a:solidFill>
            <a:schemeClr val="tx1"/>
          </a:solidFill>
          <a:latin typeface="+mn-lt"/>
          <a:cs typeface="+mn-cs"/>
        </a:defRPr>
      </a:lvl8pPr>
      <a:lvl9pPr algn="l" fontAlgn="base" indent="-228600" marL="3886200" rtl="0">
        <a:spcBef>
          <a:spcPct val="20000"/>
        </a:spcBef>
        <a:spcAft>
          <a:spcPct val="0"/>
        </a:spcAft>
        <a:buChar char="»"/>
        <a:defRPr sz="2000">
          <a:solidFill>
            <a:schemeClr val="tx1"/>
          </a:solidFill>
          <a:latin typeface="+mn-lt"/>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1">
  <p:cSld>
    <p:spTree>
      <p:nvGrpSpPr>
        <p:cNvPr id="23" name=""/>
        <p:cNvGrpSpPr/>
        <p:nvPr/>
      </p:nvGrpSpPr>
      <p:grpSpPr>
        <a:xfrm rot="0">
          <a:off x="0" y="0"/>
          <a:ext cx="0" cy="0"/>
          <a:chOff x="0" y="0"/>
          <a:chExt cx="0" cy="0"/>
        </a:xfrm>
      </p:grpSpPr>
      <p:sp>
        <p:nvSpPr>
          <p:cNvPr id="1048581" name=""/>
          <p:cNvSpPr/>
          <p:nvPr>
            <p:ph type="title" sz="full" idx="0"/>
          </p:nvPr>
        </p:nvSpPr>
        <p:spPr>
          <a:xfrm rot="0">
            <a:off x="428625" y="2143125"/>
            <a:ext cx="8229600" cy="1143000"/>
          </a:xfrm>
          <a:prstGeom prst="rect"/>
          <a:noFill/>
          <a:ln>
            <a:noFill/>
          </a:ln>
        </p:spPr>
        <p:txBody>
          <a:bodyPr anchor="ctr" bIns="45720" lIns="91440" rIns="91440" tIns="45720" vert="horz"/>
          <a:lstStyle>
            <a:lvl1pPr algn="ctr" fontAlgn="base" indent="0" latinLnBrk="1" marL="0" rtl="0">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lvl="0"/>
            <a:r>
              <a:rPr altLang="en-US" b="1" lang="en-US" u="sng">
                <a:solidFill>
                  <a:srgbClr val="990033"/>
                </a:solidFill>
              </a:rPr>
              <a:t>HOT- WORKING  PROCESSES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1">
  <p:cSld>
    <p:spTree>
      <p:nvGrpSpPr>
        <p:cNvPr id="60" name=""/>
        <p:cNvGrpSpPr/>
        <p:nvPr/>
      </p:nvGrpSpPr>
      <p:grpSpPr>
        <a:xfrm rot="0">
          <a:off x="0" y="0"/>
          <a:ext cx="0" cy="0"/>
          <a:chOff x="0" y="0"/>
          <a:chExt cx="0" cy="0"/>
        </a:xfrm>
      </p:grpSpPr>
      <p:sp>
        <p:nvSpPr>
          <p:cNvPr id="1048583" name=""/>
          <p:cNvSpPr/>
          <p:nvPr/>
        </p:nvSpPr>
        <p:spPr>
          <a:xfrm rot="0">
            <a:off x="642937" y="357187"/>
            <a:ext cx="8072437" cy="5958840"/>
          </a:xfrm>
          <a:prstGeom prst="rect"/>
          <a:noFill/>
          <a:ln>
            <a:noFill/>
          </a:ln>
        </p:spPr>
        <p:txBody>
          <a:bodyPr anchor="t" bIns="45720" lIns="91440" rIns="91440" tIns="45720" vert="horz">
            <a:spAutoFit/>
          </a:bodyPr>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indent="-228600" latinLnBrk="1" lvl="0" marL="228600">
              <a:lnSpc>
                <a:spcPct val="110000"/>
              </a:lnSpc>
              <a:buFontTx/>
              <a:buChar char="•"/>
            </a:pPr>
            <a:r>
              <a:rPr altLang="en-US" sz="3200" lang="en-US">
                <a:solidFill>
                  <a:srgbClr val="003399"/>
                </a:solidFill>
              </a:rPr>
              <a:t>Shaping of metal by deformation is a very very old tradition.</a:t>
            </a:r>
          </a:p>
          <a:p>
            <a:pPr algn="just" eaLnBrk="1" hangingPunct="1" indent="-228600" latinLnBrk="1" lvl="0" marL="228600">
              <a:lnSpc>
                <a:spcPct val="110000"/>
              </a:lnSpc>
              <a:buFontTx/>
              <a:buChar char="•"/>
            </a:pPr>
            <a:r>
              <a:rPr altLang="en-US" sz="3200" lang="en-US">
                <a:solidFill>
                  <a:srgbClr val="006600"/>
                </a:solidFill>
              </a:rPr>
              <a:t>Processes such as rolling, wire drawing  etc. were common in the Middle Ages. </a:t>
            </a:r>
            <a:r>
              <a:rPr altLang="en-US" sz="3200" lang="en-US">
                <a:solidFill>
                  <a:srgbClr val="003399"/>
                </a:solidFill>
              </a:rPr>
              <a:t>In North America, by 1680 the Saugus Iron Works near Boston had an operating drop forge, rolling mill, and slitting mill. </a:t>
            </a:r>
          </a:p>
          <a:p>
            <a:pPr algn="just" eaLnBrk="1" hangingPunct="1" indent="-228600" latinLnBrk="1" lvl="0" marL="228600">
              <a:lnSpc>
                <a:spcPct val="110000"/>
              </a:lnSpc>
              <a:buFontTx/>
              <a:buChar char="•"/>
            </a:pPr>
            <a:r>
              <a:rPr altLang="en-US" sz="3200" lang="en-US">
                <a:solidFill>
                  <a:srgbClr val="006600"/>
                </a:solidFill>
              </a:rPr>
              <a:t>Although basic concepts of many forming processes have remained largely unchanged throughout history, details and equipment have evolved considerably</a:t>
            </a:r>
            <a:r>
              <a:rPr altLang="en-US" sz="3200" lang="en-US">
                <a:solidFill>
                  <a:srgbClr val="003399"/>
                </a:solidFill>
              </a:rPr>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1">
  <p:cSld>
    <p:spTree>
      <p:nvGrpSpPr>
        <p:cNvPr id="62" name=""/>
        <p:cNvGrpSpPr/>
        <p:nvPr/>
      </p:nvGrpSpPr>
      <p:grpSpPr>
        <a:xfrm rot="0">
          <a:off x="0" y="0"/>
          <a:ext cx="0" cy="0"/>
          <a:chOff x="0" y="0"/>
          <a:chExt cx="0" cy="0"/>
        </a:xfrm>
      </p:grpSpPr>
      <p:sp>
        <p:nvSpPr>
          <p:cNvPr id="1048584" name=""/>
          <p:cNvSpPr txBox="1"/>
          <p:nvPr/>
        </p:nvSpPr>
        <p:spPr>
          <a:xfrm rot="0">
            <a:off x="381000" y="0"/>
            <a:ext cx="8458200" cy="6096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atinLnBrk="1" lvl="0"/>
            <a:r>
              <a:rPr altLang="en-US" b="1" sz="2800" lang="en-US" u="sng">
                <a:solidFill>
                  <a:srgbClr val="990033"/>
                </a:solidFill>
              </a:rPr>
              <a:t>INTRODUCTION</a:t>
            </a:r>
          </a:p>
        </p:txBody>
      </p:sp>
      <p:sp>
        <p:nvSpPr>
          <p:cNvPr id="1048585" name=""/>
          <p:cNvSpPr txBox="1"/>
          <p:nvPr/>
        </p:nvSpPr>
        <p:spPr>
          <a:xfrm rot="0">
            <a:off x="0" y="609600"/>
            <a:ext cx="9144000" cy="62484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indent="-228600" latinLnBrk="1" lvl="0" marL="228600">
              <a:lnSpc>
                <a:spcPct val="110000"/>
              </a:lnSpc>
              <a:spcBef>
                <a:spcPct val="20000"/>
              </a:spcBef>
              <a:buFontTx/>
              <a:buChar char="•"/>
            </a:pPr>
            <a:r>
              <a:rPr altLang="en-US" sz="3200" lang="en-US">
                <a:solidFill>
                  <a:srgbClr val="003399"/>
                </a:solidFill>
              </a:rPr>
              <a:t>Manual processes were converted into machine processes during the industrial revolution. </a:t>
            </a:r>
          </a:p>
          <a:p>
            <a:pPr algn="just" eaLnBrk="1" hangingPunct="1" indent="-228600" latinLnBrk="1" lvl="0" marL="228600">
              <a:lnSpc>
                <a:spcPct val="110000"/>
              </a:lnSpc>
              <a:spcBef>
                <a:spcPct val="20000"/>
              </a:spcBef>
              <a:buFontTx/>
              <a:buChar char="•"/>
            </a:pPr>
            <a:r>
              <a:rPr altLang="en-US" sz="3200" lang="en-US">
                <a:solidFill>
                  <a:srgbClr val="006600"/>
                </a:solidFill>
              </a:rPr>
              <a:t>The machinery then became bigger, faster, and more powerful</a:t>
            </a:r>
            <a:r>
              <a:rPr altLang="en-US" sz="3200" lang="en-US">
                <a:solidFill>
                  <a:srgbClr val="003399"/>
                </a:solidFill>
              </a:rPr>
              <a:t>. </a:t>
            </a:r>
          </a:p>
          <a:p>
            <a:pPr algn="just" eaLnBrk="1" hangingPunct="1" indent="-228600" latinLnBrk="1" lvl="0" marL="228600">
              <a:lnSpc>
                <a:spcPct val="110000"/>
              </a:lnSpc>
              <a:spcBef>
                <a:spcPct val="20000"/>
              </a:spcBef>
              <a:buFontTx/>
              <a:buChar char="•"/>
            </a:pPr>
            <a:r>
              <a:rPr altLang="en-US" sz="3200" lang="en-US">
                <a:solidFill>
                  <a:srgbClr val="003399"/>
                </a:solidFill>
              </a:rPr>
              <a:t>Waterwheel power was replaced by steam and then electricity. </a:t>
            </a:r>
          </a:p>
          <a:p>
            <a:pPr algn="just" eaLnBrk="1" hangingPunct="1" indent="-228600" latinLnBrk="1" lvl="0" marL="228600">
              <a:lnSpc>
                <a:spcPct val="110000"/>
              </a:lnSpc>
              <a:spcBef>
                <a:spcPct val="20000"/>
              </a:spcBef>
              <a:buFontTx/>
              <a:buChar char="•"/>
            </a:pPr>
            <a:r>
              <a:rPr altLang="en-US" sz="3200" lang="en-US">
                <a:solidFill>
                  <a:srgbClr val="006600"/>
                </a:solidFill>
              </a:rPr>
              <a:t>More recently, computer-controlled, automated operations  have emerged </a:t>
            </a:r>
          </a:p>
        </p:txBody>
      </p:sp>
    </p:spTree>
  </p:cSld>
  <p:clrMapOvr>
    <a:masterClrMapping/>
  </p:clrMapOvr>
  <p:timing>
    <p:tnLst>
      <p:par>
        <p:cTn dur="indefinite" id="1" nodeType="tmRoot">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3" presetSubtype="10">
                                  <p:stCondLst>
                                    <p:cond delay="0"/>
                                  </p:stCondLst>
                                  <p:childTnLst>
                                    <p:set>
                                      <p:cBhvr>
                                        <p:cTn dur="1" fill="hold" id="7">
                                          <p:stCondLst>
                                            <p:cond delay="0"/>
                                          </p:stCondLst>
                                        </p:cTn>
                                        <p:tgtEl>
                                          <p:spTgt spid="1048585">
                                            <p:txEl>
                                              <p:charRg st="0" end="90"/>
                                            </p:txEl>
                                          </p:spTgt>
                                        </p:tgtEl>
                                        <p:attrNameLst>
                                          <p:attrName>style.visibility</p:attrName>
                                        </p:attrNameLst>
                                      </p:cBhvr>
                                      <p:to>
                                        <p:strVal val="visible"/>
                                      </p:to>
                                    </p:set>
                                    <p:animEffect transition="in" filter="blinds(horizontal)">
                                      <p:cBhvr>
                                        <p:cTn dur="500" id="8"/>
                                        <p:tgtEl>
                                          <p:spTgt spid="1048585">
                                            <p:txEl>
                                              <p:charRg st="0" end="90"/>
                                            </p:txEl>
                                          </p:spTgt>
                                        </p:tgtEl>
                                      </p:cBhvr>
                                    </p:animEffect>
                                  </p:childTnLst>
                                  <p:subTnLst>
                                    <p:set>
                                      <p:cBhvr override="childStyle">
                                        <p:cTn afterEffect="1" display="0" dur="1" fill="hold" id="6" masterRel="nextClick" presetSubtype="1"/>
                                        <p:tgtEl>
                                          <p:spTgt spid="1048585">
                                            <p:txEl>
                                              <p:charRg st="0" end="90"/>
                                            </p:txEl>
                                          </p:spTgt>
                                        </p:tgtEl>
                                        <p:attrNameLst>
                                          <p:attrName>style.visibility</p:attrName>
                                        </p:attrNameLst>
                                      </p:cBhvr>
                                      <p:to>
                                        <p:strVal val="hidden"/>
                                      </p:to>
                                    </p:set>
                                  </p:subTnLst>
                                </p:cTn>
                              </p:par>
                            </p:childTnLst>
                          </p:cTn>
                        </p:par>
                      </p:childTnLst>
                    </p:cTn>
                  </p:par>
                  <p:par>
                    <p:cTn fill="hold" id="9">
                      <p:stCondLst>
                        <p:cond delay="indefinite"/>
                      </p:stCondLst>
                      <p:childTnLst>
                        <p:par>
                          <p:cTn fill="hold" id="10">
                            <p:stCondLst>
                              <p:cond delay="0"/>
                            </p:stCondLst>
                            <p:childTnLst>
                              <p:par>
                                <p:cTn fill="hold" grpId="0" id="11" nodeType="clickEffect" presetClass="entr" presetID="3" presetSubtype="10">
                                  <p:stCondLst>
                                    <p:cond delay="0"/>
                                  </p:stCondLst>
                                  <p:childTnLst>
                                    <p:set>
                                      <p:cBhvr>
                                        <p:cTn dur="1" fill="hold" id="13">
                                          <p:stCondLst>
                                            <p:cond delay="0"/>
                                          </p:stCondLst>
                                        </p:cTn>
                                        <p:tgtEl>
                                          <p:spTgt spid="1048585">
                                            <p:txEl>
                                              <p:charRg st="90" end="152"/>
                                            </p:txEl>
                                          </p:spTgt>
                                        </p:tgtEl>
                                        <p:attrNameLst>
                                          <p:attrName>style.visibility</p:attrName>
                                        </p:attrNameLst>
                                      </p:cBhvr>
                                      <p:to>
                                        <p:strVal val="visible"/>
                                      </p:to>
                                    </p:set>
                                    <p:animEffect transition="in" filter="blinds(horizontal)">
                                      <p:cBhvr>
                                        <p:cTn dur="500" id="14"/>
                                        <p:tgtEl>
                                          <p:spTgt spid="1048585">
                                            <p:txEl>
                                              <p:charRg st="90" end="152"/>
                                            </p:txEl>
                                          </p:spTgt>
                                        </p:tgtEl>
                                      </p:cBhvr>
                                    </p:animEffect>
                                  </p:childTnLst>
                                  <p:subTnLst>
                                    <p:set>
                                      <p:cBhvr override="childStyle">
                                        <p:cTn afterEffect="1" display="0" dur="1" fill="hold" id="12" masterRel="nextClick" presetSubtype="1"/>
                                        <p:tgtEl>
                                          <p:spTgt spid="1048585">
                                            <p:txEl>
                                              <p:charRg st="90" end="152"/>
                                            </p:txEl>
                                          </p:spTgt>
                                        </p:tgtEl>
                                        <p:attrNameLst>
                                          <p:attrName>style.visibility</p:attrName>
                                        </p:attrNameLst>
                                      </p:cBhvr>
                                      <p:to>
                                        <p:strVal val="hidden"/>
                                      </p:to>
                                    </p:set>
                                  </p:subTnLst>
                                </p:cTn>
                              </p:par>
                            </p:childTnLst>
                          </p:cTn>
                        </p:par>
                      </p:childTnLst>
                    </p:cTn>
                  </p:par>
                  <p:par>
                    <p:cTn fill="hold" id="15">
                      <p:stCondLst>
                        <p:cond delay="indefinite"/>
                      </p:stCondLst>
                      <p:childTnLst>
                        <p:par>
                          <p:cTn fill="hold" id="16">
                            <p:stCondLst>
                              <p:cond delay="0"/>
                            </p:stCondLst>
                            <p:childTnLst>
                              <p:par>
                                <p:cTn fill="hold" grpId="0" id="17" nodeType="clickEffect" presetClass="entr" presetID="3" presetSubtype="10">
                                  <p:stCondLst>
                                    <p:cond delay="0"/>
                                  </p:stCondLst>
                                  <p:childTnLst>
                                    <p:set>
                                      <p:cBhvr>
                                        <p:cTn dur="1" fill="hold" id="19">
                                          <p:stCondLst>
                                            <p:cond delay="0"/>
                                          </p:stCondLst>
                                        </p:cTn>
                                        <p:tgtEl>
                                          <p:spTgt spid="1048585">
                                            <p:txEl>
                                              <p:charRg st="152" end="214"/>
                                            </p:txEl>
                                          </p:spTgt>
                                        </p:tgtEl>
                                        <p:attrNameLst>
                                          <p:attrName>style.visibility</p:attrName>
                                        </p:attrNameLst>
                                      </p:cBhvr>
                                      <p:to>
                                        <p:strVal val="visible"/>
                                      </p:to>
                                    </p:set>
                                    <p:animEffect transition="in" filter="blinds(horizontal)">
                                      <p:cBhvr>
                                        <p:cTn dur="500" id="20"/>
                                        <p:tgtEl>
                                          <p:spTgt spid="1048585">
                                            <p:txEl>
                                              <p:charRg st="152" end="214"/>
                                            </p:txEl>
                                          </p:spTgt>
                                        </p:tgtEl>
                                      </p:cBhvr>
                                    </p:animEffect>
                                  </p:childTnLst>
                                  <p:subTnLst>
                                    <p:set>
                                      <p:cBhvr override="childStyle">
                                        <p:cTn afterEffect="1" display="0" dur="1" fill="hold" id="18" masterRel="nextClick" presetSubtype="1"/>
                                        <p:tgtEl>
                                          <p:spTgt spid="1048585">
                                            <p:txEl>
                                              <p:charRg st="152" end="214"/>
                                            </p:txEl>
                                          </p:spTgt>
                                        </p:tgtEl>
                                        <p:attrNameLst>
                                          <p:attrName>style.visibility</p:attrName>
                                        </p:attrNameLst>
                                      </p:cBhvr>
                                      <p:to>
                                        <p:strVal val="hidden"/>
                                      </p:to>
                                    </p:set>
                                  </p:subTnLst>
                                </p:cTn>
                              </p:par>
                            </p:childTnLst>
                          </p:cTn>
                        </p:par>
                      </p:childTnLst>
                    </p:cTn>
                  </p:par>
                  <p:par>
                    <p:cTn fill="hold" id="21">
                      <p:stCondLst>
                        <p:cond delay="indefinite"/>
                      </p:stCondLst>
                      <p:childTnLst>
                        <p:par>
                          <p:cTn fill="hold" id="22">
                            <p:stCondLst>
                              <p:cond delay="0"/>
                            </p:stCondLst>
                            <p:childTnLst>
                              <p:par>
                                <p:cTn fill="hold" grpId="0" id="23" nodeType="clickEffect" presetClass="entr" presetID="3" presetSubtype="10">
                                  <p:stCondLst>
                                    <p:cond delay="0"/>
                                  </p:stCondLst>
                                  <p:childTnLst>
                                    <p:set>
                                      <p:cBhvr>
                                        <p:cTn dur="1" fill="hold" id="24">
                                          <p:stCondLst>
                                            <p:cond delay="0"/>
                                          </p:stCondLst>
                                        </p:cTn>
                                        <p:tgtEl>
                                          <p:spTgt spid="1048585">
                                            <p:txEl>
                                              <p:charRg st="214" end="286"/>
                                            </p:txEl>
                                          </p:spTgt>
                                        </p:tgtEl>
                                        <p:attrNameLst>
                                          <p:attrName>style.visibility</p:attrName>
                                        </p:attrNameLst>
                                      </p:cBhvr>
                                      <p:to>
                                        <p:strVal val="visible"/>
                                      </p:to>
                                    </p:set>
                                    <p:animEffect transition="in" filter="blinds(horizontal)">
                                      <p:cBhvr>
                                        <p:cTn dur="500" id="25"/>
                                        <p:tgtEl>
                                          <p:spTgt spid="1048585">
                                            <p:txEl>
                                              <p:charRg st="214" end="28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585" grpId="0" uiExpand="0" build="p" bldLvl="1"/>
    </p:bldLst>
  </p:timing>
</p:sld>
</file>

<file path=ppt/slides/slide4.xml><?xml version="1.0" encoding="utf-8"?>
<p:sld xmlns:a="http://schemas.openxmlformats.org/drawingml/2006/main" xmlns:r="http://schemas.openxmlformats.org/officeDocument/2006/relationships" xmlns:p="http://schemas.openxmlformats.org/presentationml/2006/main" showMasterSp="1">
  <p:cSld>
    <p:spTree>
      <p:nvGrpSpPr>
        <p:cNvPr id="63" name=""/>
        <p:cNvGrpSpPr/>
        <p:nvPr/>
      </p:nvGrpSpPr>
      <p:grpSpPr>
        <a:xfrm rot="0">
          <a:off x="0" y="0"/>
          <a:ext cx="0" cy="0"/>
          <a:chOff x="0" y="0"/>
          <a:chExt cx="0" cy="0"/>
        </a:xfrm>
      </p:grpSpPr>
      <p:sp>
        <p:nvSpPr>
          <p:cNvPr id="1048586" name=""/>
          <p:cNvSpPr txBox="1"/>
          <p:nvPr/>
        </p:nvSpPr>
        <p:spPr>
          <a:xfrm rot="0">
            <a:off x="0" y="381000"/>
            <a:ext cx="9144000" cy="5334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atinLnBrk="1" lvl="0"/>
            <a:r>
              <a:rPr altLang="en-US" b="1" sz="2800" lang="en-US" u="sng">
                <a:solidFill>
                  <a:srgbClr val="990033"/>
                </a:solidFill>
              </a:rPr>
              <a:t>CLASSIFICATION OF DEFORMATION  PROCESSES</a:t>
            </a:r>
          </a:p>
        </p:txBody>
      </p:sp>
      <p:sp>
        <p:nvSpPr>
          <p:cNvPr id="1048587" name=""/>
          <p:cNvSpPr txBox="1"/>
          <p:nvPr/>
        </p:nvSpPr>
        <p:spPr>
          <a:xfrm rot="0">
            <a:off x="0" y="838200"/>
            <a:ext cx="9144000" cy="60198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indent="-349250" latinLnBrk="1" lvl="0" marL="349250">
              <a:spcBef>
                <a:spcPct val="20000"/>
              </a:spcBef>
              <a:buFontTx/>
              <a:buChar char="•"/>
            </a:pPr>
            <a:r>
              <a:rPr altLang="en-US" sz="3200" lang="en-US">
                <a:solidFill>
                  <a:srgbClr val="660066"/>
                </a:solidFill>
              </a:rPr>
              <a:t>Processes divide into the following :-</a:t>
            </a:r>
            <a:r>
              <a:rPr altLang="en-US" sz="3200" lang="en-US">
                <a:solidFill>
                  <a:srgbClr val="003399"/>
                </a:solidFill>
              </a:rPr>
              <a:t> </a:t>
            </a:r>
          </a:p>
          <a:p>
            <a:pPr algn="just" eaLnBrk="1" hangingPunct="1" indent="-222250" latinLnBrk="1" lvl="1" marL="685800">
              <a:spcBef>
                <a:spcPct val="20000"/>
              </a:spcBef>
              <a:buFontTx/>
              <a:buChar char="–"/>
            </a:pPr>
            <a:r>
              <a:rPr altLang="en-US" sz="3200" lang="en-US" u="sng">
                <a:solidFill>
                  <a:srgbClr val="003399"/>
                </a:solidFill>
              </a:rPr>
              <a:t>Primary processes</a:t>
            </a:r>
            <a:r>
              <a:rPr altLang="en-US" sz="3200" lang="en-US">
                <a:solidFill>
                  <a:srgbClr val="003399"/>
                </a:solidFill>
              </a:rPr>
              <a:t> reduce a cast material into intermediate shapes, such as slabs, plates, or billets.</a:t>
            </a:r>
          </a:p>
          <a:p>
            <a:pPr algn="just" eaLnBrk="1" hangingPunct="1" indent="-222250" latinLnBrk="1" lvl="1" marL="685800">
              <a:spcBef>
                <a:spcPct val="20000"/>
              </a:spcBef>
              <a:buFontTx/>
              <a:buChar char="–"/>
            </a:pPr>
            <a:r>
              <a:rPr altLang="en-US" sz="3200" lang="en-US">
                <a:solidFill>
                  <a:srgbClr val="003399"/>
                </a:solidFill>
              </a:rPr>
              <a:t> </a:t>
            </a:r>
            <a:r>
              <a:rPr altLang="en-US" sz="3200" lang="en-US" u="sng">
                <a:solidFill>
                  <a:srgbClr val="006600"/>
                </a:solidFill>
              </a:rPr>
              <a:t>Secondary processes</a:t>
            </a:r>
            <a:r>
              <a:rPr altLang="en-US" sz="3200" lang="en-US">
                <a:solidFill>
                  <a:srgbClr val="006600"/>
                </a:solidFill>
              </a:rPr>
              <a:t> further convert these shapes into finished or semi-finished products.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1">
  <p:cSld>
    <p:spTree>
      <p:nvGrpSpPr>
        <p:cNvPr id="64" name=""/>
        <p:cNvGrpSpPr/>
        <p:nvPr/>
      </p:nvGrpSpPr>
      <p:grpSpPr>
        <a:xfrm rot="0">
          <a:off x="0" y="0"/>
          <a:ext cx="0" cy="0"/>
          <a:chOff x="0" y="0"/>
          <a:chExt cx="0" cy="0"/>
        </a:xfrm>
      </p:grpSpPr>
      <p:sp>
        <p:nvSpPr>
          <p:cNvPr id="1048588" name=""/>
          <p:cNvSpPr txBox="1"/>
          <p:nvPr/>
        </p:nvSpPr>
        <p:spPr>
          <a:xfrm rot="0">
            <a:off x="0" y="0"/>
            <a:ext cx="9144000" cy="5334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atinLnBrk="1" lvl="0"/>
            <a:r>
              <a:rPr altLang="en-US" b="1" sz="2800" lang="en-US" u="sng">
                <a:solidFill>
                  <a:srgbClr val="990033"/>
                </a:solidFill>
              </a:rPr>
              <a:t>CLASSIFICATION OF DEFORMATION  PROCESSES</a:t>
            </a:r>
          </a:p>
        </p:txBody>
      </p:sp>
      <p:sp>
        <p:nvSpPr>
          <p:cNvPr id="1048589" name=""/>
          <p:cNvSpPr txBox="1"/>
          <p:nvPr/>
        </p:nvSpPr>
        <p:spPr>
          <a:xfrm rot="0">
            <a:off x="0" y="457200"/>
            <a:ext cx="9144000" cy="60198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indent="-349250" latinLnBrk="1" lvl="0" marL="349250">
              <a:lnSpc>
                <a:spcPct val="90000"/>
              </a:lnSpc>
              <a:spcBef>
                <a:spcPct val="20000"/>
              </a:spcBef>
              <a:buFontTx/>
              <a:buChar char="•"/>
            </a:pPr>
            <a:endParaRPr altLang="en-US" sz="3000" lang="en-US" u="sng">
              <a:solidFill>
                <a:srgbClr val="003399"/>
              </a:solidFill>
            </a:endParaRPr>
          </a:p>
          <a:p>
            <a:pPr algn="just" eaLnBrk="1" hangingPunct="1" indent="-349250" latinLnBrk="1" lvl="0" marL="349250">
              <a:lnSpc>
                <a:spcPct val="90000"/>
              </a:lnSpc>
              <a:spcBef>
                <a:spcPct val="20000"/>
              </a:spcBef>
              <a:buFontTx/>
              <a:buChar char="•"/>
            </a:pPr>
            <a:r>
              <a:rPr altLang="en-US" sz="3000" lang="en-US" u="sng">
                <a:solidFill>
                  <a:srgbClr val="003399"/>
                </a:solidFill>
              </a:rPr>
              <a:t>Bulk deformation processes</a:t>
            </a:r>
            <a:r>
              <a:rPr altLang="en-US" sz="3000" lang="en-US">
                <a:solidFill>
                  <a:srgbClr val="003399"/>
                </a:solidFill>
              </a:rPr>
              <a:t> </a:t>
            </a:r>
          </a:p>
          <a:p>
            <a:pPr algn="just" eaLnBrk="1" hangingPunct="1" indent="-222250" latinLnBrk="1" lvl="1" marL="685800">
              <a:lnSpc>
                <a:spcPct val="90000"/>
              </a:lnSpc>
              <a:spcBef>
                <a:spcPct val="20000"/>
              </a:spcBef>
              <a:buFontTx/>
              <a:buChar char="–"/>
            </a:pPr>
            <a:r>
              <a:rPr altLang="en-US" sz="3000" lang="en-US">
                <a:solidFill>
                  <a:srgbClr val="003399"/>
                </a:solidFill>
              </a:rPr>
              <a:t>Surface area of  work piece changes significantly.</a:t>
            </a:r>
          </a:p>
          <a:p>
            <a:pPr algn="just" eaLnBrk="1" hangingPunct="1" indent="-222250" latinLnBrk="1" lvl="1" marL="685800">
              <a:lnSpc>
                <a:spcPct val="90000"/>
              </a:lnSpc>
              <a:spcBef>
                <a:spcPct val="20000"/>
              </a:spcBef>
              <a:buFontTx/>
              <a:buChar char="–"/>
            </a:pPr>
            <a:r>
              <a:rPr altLang="en-US" sz="3000" lang="en-US">
                <a:solidFill>
                  <a:srgbClr val="006600"/>
                </a:solidFill>
              </a:rPr>
              <a:t>Thicknesses or cross sections of material are reduced</a:t>
            </a:r>
          </a:p>
          <a:p>
            <a:pPr algn="just" eaLnBrk="1" hangingPunct="1" indent="-222250" latinLnBrk="1" lvl="1" marL="685800">
              <a:lnSpc>
                <a:spcPct val="90000"/>
              </a:lnSpc>
              <a:spcBef>
                <a:spcPct val="20000"/>
              </a:spcBef>
              <a:buFontTx/>
              <a:buChar char="–"/>
            </a:pPr>
            <a:r>
              <a:rPr altLang="en-US" sz="3000" lang="en-US">
                <a:solidFill>
                  <a:srgbClr val="006600"/>
                </a:solidFill>
              </a:rPr>
              <a:t>Shapes are changed.</a:t>
            </a:r>
          </a:p>
          <a:p>
            <a:pPr algn="just" eaLnBrk="1" hangingPunct="1" indent="-222250" latinLnBrk="1" lvl="1" marL="685800">
              <a:lnSpc>
                <a:spcPct val="90000"/>
              </a:lnSpc>
              <a:spcBef>
                <a:spcPct val="20000"/>
              </a:spcBef>
              <a:buFontTx/>
              <a:buChar char="–"/>
            </a:pPr>
            <a:r>
              <a:rPr altLang="en-US" sz="3000" lang="en-US">
                <a:solidFill>
                  <a:srgbClr val="003399"/>
                </a:solidFill>
              </a:rPr>
              <a:t>As volume of material remains constant, other dimensions must change in proportion. </a:t>
            </a:r>
          </a:p>
          <a:p>
            <a:pPr algn="just" eaLnBrk="1" hangingPunct="1" indent="-222250" latinLnBrk="1" lvl="1" marL="685800">
              <a:lnSpc>
                <a:spcPct val="90000"/>
              </a:lnSpc>
              <a:spcBef>
                <a:spcPct val="20000"/>
              </a:spcBef>
              <a:buFontTx/>
              <a:buChar char="–"/>
            </a:pPr>
            <a:r>
              <a:rPr altLang="en-US" sz="3000" lang="en-US">
                <a:solidFill>
                  <a:srgbClr val="006600"/>
                </a:solidFill>
              </a:rPr>
              <a:t>Enveloping surface area is altered, usually increasing as product lengthens.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1">
  <p:cSld>
    <p:spTree>
      <p:nvGrpSpPr>
        <p:cNvPr id="65" name=""/>
        <p:cNvGrpSpPr/>
        <p:nvPr/>
      </p:nvGrpSpPr>
      <p:grpSpPr>
        <a:xfrm rot="0">
          <a:off x="0" y="0"/>
          <a:ext cx="0" cy="0"/>
          <a:chOff x="0" y="0"/>
          <a:chExt cx="0" cy="0"/>
        </a:xfrm>
      </p:grpSpPr>
      <p:sp>
        <p:nvSpPr>
          <p:cNvPr id="1048590" name=""/>
          <p:cNvSpPr txBox="1"/>
          <p:nvPr/>
        </p:nvSpPr>
        <p:spPr>
          <a:xfrm rot="0">
            <a:off x="0" y="0"/>
            <a:ext cx="9144000" cy="8382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atinLnBrk="1" lvl="0"/>
            <a:r>
              <a:rPr altLang="en-US" b="1" sz="2800" lang="en-US" u="sng">
                <a:solidFill>
                  <a:srgbClr val="990033"/>
                </a:solidFill>
              </a:rPr>
              <a:t>CLASSIFICATION OF DEFORMATION  PROCESSES</a:t>
            </a:r>
          </a:p>
        </p:txBody>
      </p:sp>
      <p:sp>
        <p:nvSpPr>
          <p:cNvPr id="1048591" name=""/>
          <p:cNvSpPr txBox="1"/>
          <p:nvPr/>
        </p:nvSpPr>
        <p:spPr>
          <a:xfrm rot="0">
            <a:off x="0" y="685800"/>
            <a:ext cx="9144000" cy="60198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indent="-349250" latinLnBrk="1" lvl="0" marL="349250">
              <a:lnSpc>
                <a:spcPct val="120000"/>
              </a:lnSpc>
              <a:spcBef>
                <a:spcPct val="20000"/>
              </a:spcBef>
              <a:buFontTx/>
              <a:buChar char="•"/>
            </a:pPr>
            <a:r>
              <a:rPr altLang="en-US" sz="3200" lang="en-US" u="sng">
                <a:solidFill>
                  <a:srgbClr val="003399"/>
                </a:solidFill>
              </a:rPr>
              <a:t>Sheet-forming operations</a:t>
            </a:r>
            <a:r>
              <a:rPr altLang="en-US" sz="3200" lang="en-US">
                <a:solidFill>
                  <a:srgbClr val="003399"/>
                </a:solidFill>
              </a:rPr>
              <a:t> </a:t>
            </a:r>
          </a:p>
          <a:p>
            <a:pPr algn="just" eaLnBrk="1" hangingPunct="1" indent="-222250" latinLnBrk="1" lvl="1" marL="685800">
              <a:lnSpc>
                <a:spcPct val="120000"/>
              </a:lnSpc>
              <a:spcBef>
                <a:spcPct val="20000"/>
              </a:spcBef>
              <a:buFontTx/>
              <a:buChar char="–"/>
            </a:pPr>
            <a:r>
              <a:rPr altLang="en-US" sz="3200" lang="en-US">
                <a:solidFill>
                  <a:srgbClr val="003399"/>
                </a:solidFill>
              </a:rPr>
              <a:t>Involve deformation of material where thickness and surface area remain relatively constant. </a:t>
            </a:r>
          </a:p>
          <a:p>
            <a:pPr algn="just" eaLnBrk="1" hangingPunct="1" indent="-222250" latinLnBrk="1" lvl="1" marL="685800">
              <a:lnSpc>
                <a:spcPct val="120000"/>
              </a:lnSpc>
              <a:spcBef>
                <a:spcPct val="20000"/>
              </a:spcBef>
              <a:buFontTx/>
              <a:buChar char="–"/>
            </a:pPr>
            <a:r>
              <a:rPr altLang="en-US" sz="3200" lang="en-US">
                <a:solidFill>
                  <a:srgbClr val="006600"/>
                </a:solidFill>
              </a:rPr>
              <a:t>Coining, for example, begins with sheet material but alters the thickness in a complex manner that is essentially bulk deformation.</a:t>
            </a:r>
          </a:p>
          <a:p>
            <a:pPr algn="just" eaLnBrk="1" hangingPunct="1" indent="-349250" latinLnBrk="1" lvl="0" marL="349250">
              <a:lnSpc>
                <a:spcPct val="120000"/>
              </a:lnSpc>
              <a:spcBef>
                <a:spcPct val="20000"/>
              </a:spcBef>
              <a:buFontTx/>
              <a:buChar char="•"/>
            </a:pPr>
            <a:endParaRPr altLang="en-US" sz="3200" lang="en-US">
              <a:solidFill>
                <a:srgbClr val="0066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1">
  <p:cSld>
    <p:spTree>
      <p:nvGrpSpPr>
        <p:cNvPr id="66" name=""/>
        <p:cNvGrpSpPr/>
        <p:nvPr/>
      </p:nvGrpSpPr>
      <p:grpSpPr>
        <a:xfrm rot="0">
          <a:off x="0" y="0"/>
          <a:ext cx="0" cy="0"/>
          <a:chOff x="0" y="0"/>
          <a:chExt cx="0" cy="0"/>
        </a:xfrm>
      </p:grpSpPr>
      <p:sp>
        <p:nvSpPr>
          <p:cNvPr id="1048592" name=""/>
          <p:cNvSpPr txBox="1"/>
          <p:nvPr/>
        </p:nvSpPr>
        <p:spPr>
          <a:xfrm rot="0">
            <a:off x="381000" y="0"/>
            <a:ext cx="8458200" cy="4572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atinLnBrk="1" lvl="0"/>
            <a:r>
              <a:rPr altLang="en-US" b="1" sz="2400" lang="en-US" u="sng">
                <a:solidFill>
                  <a:srgbClr val="990033"/>
                </a:solidFill>
              </a:rPr>
              <a:t>HOT-WORKING PROCESSES</a:t>
            </a:r>
          </a:p>
        </p:txBody>
      </p:sp>
      <p:sp>
        <p:nvSpPr>
          <p:cNvPr id="1048593" name=""/>
          <p:cNvSpPr txBox="1"/>
          <p:nvPr/>
        </p:nvSpPr>
        <p:spPr>
          <a:xfrm rot="0">
            <a:off x="0" y="457200"/>
            <a:ext cx="9144000" cy="64008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indent="-228600" latinLnBrk="1" lvl="0" marL="228600">
              <a:spcBef>
                <a:spcPct val="20000"/>
              </a:spcBef>
              <a:buFontTx/>
              <a:buChar char="•"/>
            </a:pPr>
            <a:r>
              <a:rPr altLang="en-US" sz="3200" lang="en-US">
                <a:solidFill>
                  <a:srgbClr val="003399"/>
                </a:solidFill>
              </a:rPr>
              <a:t>Hot-working processes provide means of producing a desired shape. </a:t>
            </a:r>
          </a:p>
          <a:p>
            <a:pPr algn="just" eaLnBrk="1" hangingPunct="1" indent="-228600" latinLnBrk="1" lvl="0" marL="228600">
              <a:spcBef>
                <a:spcPct val="20000"/>
              </a:spcBef>
              <a:buFontTx/>
              <a:buChar char="•"/>
            </a:pPr>
            <a:endParaRPr altLang="en-US" sz="3200" lang="en-US">
              <a:solidFill>
                <a:srgbClr val="003399"/>
              </a:solidFill>
            </a:endParaRPr>
          </a:p>
          <a:p>
            <a:pPr algn="just" eaLnBrk="1" hangingPunct="1" indent="-228600" latinLnBrk="1" lvl="0" marL="228600">
              <a:spcBef>
                <a:spcPct val="20000"/>
              </a:spcBef>
              <a:buFontTx/>
              <a:buChar char="•"/>
            </a:pPr>
            <a:r>
              <a:rPr altLang="en-US" sz="3200" lang="en-US">
                <a:solidFill>
                  <a:srgbClr val="006600"/>
                </a:solidFill>
              </a:rPr>
              <a:t>At elevated temperatures, metals weaken and become more ductile.</a:t>
            </a:r>
          </a:p>
          <a:p>
            <a:pPr algn="just" eaLnBrk="1" hangingPunct="1" indent="-228600" latinLnBrk="1" lvl="0" marL="228600">
              <a:spcBef>
                <a:spcPct val="20000"/>
              </a:spcBef>
              <a:buFontTx/>
              <a:buChar char="•"/>
            </a:pPr>
            <a:endParaRPr altLang="en-US" sz="3200" lang="en-US">
              <a:solidFill>
                <a:srgbClr val="006600"/>
              </a:solidFill>
            </a:endParaRPr>
          </a:p>
          <a:p>
            <a:pPr algn="just" eaLnBrk="1" hangingPunct="1" indent="-228600" latinLnBrk="1" lvl="0" marL="228600">
              <a:spcBef>
                <a:spcPct val="20000"/>
              </a:spcBef>
              <a:buFontTx/>
              <a:buChar char="•"/>
            </a:pPr>
            <a:r>
              <a:rPr altLang="en-US" sz="3200" lang="en-US">
                <a:solidFill>
                  <a:srgbClr val="003399"/>
                </a:solidFill>
              </a:rPr>
              <a:t>With continual re-crystallization, massive deformation take place without exhausting material plasticity.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1">
  <p:cSld>
    <p:spTree>
      <p:nvGrpSpPr>
        <p:cNvPr id="67" name=""/>
        <p:cNvGrpSpPr/>
        <p:nvPr/>
      </p:nvGrpSpPr>
      <p:grpSpPr>
        <a:xfrm rot="0">
          <a:off x="0" y="0"/>
          <a:ext cx="0" cy="0"/>
          <a:chOff x="0" y="0"/>
          <a:chExt cx="0" cy="0"/>
        </a:xfrm>
      </p:grpSpPr>
      <p:sp>
        <p:nvSpPr>
          <p:cNvPr id="1048594" name=""/>
          <p:cNvSpPr txBox="1"/>
          <p:nvPr/>
        </p:nvSpPr>
        <p:spPr>
          <a:xfrm rot="0">
            <a:off x="381000" y="0"/>
            <a:ext cx="8458200" cy="4572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atinLnBrk="1" lvl="0"/>
            <a:r>
              <a:rPr altLang="en-US" b="1" sz="3200" lang="en-US" u="sng">
                <a:solidFill>
                  <a:srgbClr val="990033"/>
                </a:solidFill>
              </a:rPr>
              <a:t>HOT-WORKING PROCESSES</a:t>
            </a:r>
          </a:p>
        </p:txBody>
      </p:sp>
      <p:sp>
        <p:nvSpPr>
          <p:cNvPr id="1048595" name=""/>
          <p:cNvSpPr txBox="1"/>
          <p:nvPr/>
        </p:nvSpPr>
        <p:spPr>
          <a:xfrm rot="0">
            <a:off x="0" y="457200"/>
            <a:ext cx="9144000" cy="64008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indent="-228600" latinLnBrk="1" lvl="0" marL="228600">
              <a:spcBef>
                <a:spcPct val="20000"/>
              </a:spcBef>
              <a:buFontTx/>
              <a:buChar char="•"/>
            </a:pPr>
            <a:endParaRPr altLang="en-US" sz="3200" lang="en-US">
              <a:solidFill>
                <a:srgbClr val="003399"/>
              </a:solidFill>
            </a:endParaRPr>
          </a:p>
          <a:p>
            <a:pPr algn="just" eaLnBrk="1" hangingPunct="1" indent="-228600" latinLnBrk="1" lvl="0" marL="228600">
              <a:spcBef>
                <a:spcPct val="20000"/>
              </a:spcBef>
              <a:buFontTx/>
              <a:buChar char="•"/>
            </a:pPr>
            <a:r>
              <a:rPr altLang="en-US" sz="3200" lang="en-US">
                <a:solidFill>
                  <a:srgbClr val="003399"/>
                </a:solidFill>
              </a:rPr>
              <a:t>Some major modern hot-working manufacturing processes are:</a:t>
            </a:r>
          </a:p>
          <a:p>
            <a:pPr algn="just" eaLnBrk="1" hangingPunct="1" indent="-479107" latinLnBrk="1" lvl="1" marL="798512">
              <a:spcBef>
                <a:spcPct val="20000"/>
              </a:spcBef>
              <a:buFontTx/>
              <a:buChar char="–"/>
            </a:pPr>
            <a:r>
              <a:rPr altLang="en-US" sz="3200" lang="en-US">
                <a:solidFill>
                  <a:srgbClr val="003399"/>
                </a:solidFill>
              </a:rPr>
              <a:t>Rolling</a:t>
            </a:r>
          </a:p>
          <a:p>
            <a:pPr algn="just" eaLnBrk="1" hangingPunct="1" indent="-479107" latinLnBrk="1" lvl="1" marL="798512">
              <a:spcBef>
                <a:spcPct val="20000"/>
              </a:spcBef>
              <a:buFontTx/>
              <a:buChar char="–"/>
            </a:pPr>
            <a:r>
              <a:rPr altLang="en-US" sz="3200" lang="en-US">
                <a:solidFill>
                  <a:srgbClr val="006600"/>
                </a:solidFill>
              </a:rPr>
              <a:t>Forging</a:t>
            </a:r>
          </a:p>
          <a:p>
            <a:pPr algn="just" eaLnBrk="1" hangingPunct="1" indent="-479107" latinLnBrk="1" lvl="1" marL="798512">
              <a:spcBef>
                <a:spcPct val="20000"/>
              </a:spcBef>
              <a:buFontTx/>
              <a:buChar char="–"/>
            </a:pPr>
            <a:r>
              <a:rPr altLang="en-US" sz="3200" lang="en-US">
                <a:solidFill>
                  <a:srgbClr val="003399"/>
                </a:solidFill>
              </a:rPr>
              <a:t>Extrusion</a:t>
            </a:r>
          </a:p>
          <a:p>
            <a:pPr algn="just" eaLnBrk="1" hangingPunct="1" indent="-479107" latinLnBrk="1" lvl="1" marL="798512">
              <a:spcBef>
                <a:spcPct val="20000"/>
              </a:spcBef>
              <a:buFontTx/>
              <a:buChar char="–"/>
            </a:pPr>
            <a:r>
              <a:rPr altLang="en-US" sz="3200" lang="en-US">
                <a:solidFill>
                  <a:srgbClr val="006600"/>
                </a:solidFill>
              </a:rPr>
              <a:t>Hot drawing</a:t>
            </a:r>
          </a:p>
          <a:p>
            <a:pPr algn="just" eaLnBrk="1" hangingPunct="1" indent="-479107" latinLnBrk="1" lvl="1" marL="798512">
              <a:spcBef>
                <a:spcPct val="20000"/>
              </a:spcBef>
              <a:buFontTx/>
              <a:buChar char="–"/>
            </a:pPr>
            <a:r>
              <a:rPr altLang="en-US" sz="3200" lang="en-US">
                <a:solidFill>
                  <a:srgbClr val="003399"/>
                </a:solidFill>
              </a:rPr>
              <a:t>Pipe welding</a:t>
            </a:r>
          </a:p>
          <a:p>
            <a:pPr algn="just" eaLnBrk="1" hangingPunct="1" indent="-479107" latinLnBrk="1" lvl="1" marL="798512">
              <a:spcBef>
                <a:spcPct val="20000"/>
              </a:spcBef>
              <a:buFontTx/>
              <a:buChar char="–"/>
            </a:pPr>
            <a:r>
              <a:rPr altLang="en-US" sz="3200" lang="en-US">
                <a:solidFill>
                  <a:srgbClr val="006600"/>
                </a:solidFill>
              </a:rPr>
              <a:t>Piercing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1">
  <p:cSld>
    <p:spTree>
      <p:nvGrpSpPr>
        <p:cNvPr id="68" name=""/>
        <p:cNvGrpSpPr/>
        <p:nvPr/>
      </p:nvGrpSpPr>
      <p:grpSpPr>
        <a:xfrm rot="0">
          <a:off x="0" y="0"/>
          <a:ext cx="0" cy="0"/>
          <a:chOff x="0" y="0"/>
          <a:chExt cx="0" cy="0"/>
        </a:xfrm>
      </p:grpSpPr>
      <p:sp>
        <p:nvSpPr>
          <p:cNvPr id="1048596" name=""/>
          <p:cNvSpPr txBox="1"/>
          <p:nvPr/>
        </p:nvSpPr>
        <p:spPr>
          <a:xfrm rot="0">
            <a:off x="381000" y="0"/>
            <a:ext cx="8458200" cy="4572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atinLnBrk="1" lvl="0">
              <a:lnSpc>
                <a:spcPct val="80000"/>
              </a:lnSpc>
            </a:pPr>
            <a:r>
              <a:rPr altLang="en-US" b="1" sz="2900" lang="en-US" u="sng">
                <a:solidFill>
                  <a:srgbClr val="990033"/>
                </a:solidFill>
              </a:rPr>
              <a:t>ROLLING</a:t>
            </a:r>
          </a:p>
        </p:txBody>
      </p:sp>
      <p:sp>
        <p:nvSpPr>
          <p:cNvPr id="1048597" name=""/>
          <p:cNvSpPr txBox="1"/>
          <p:nvPr/>
        </p:nvSpPr>
        <p:spPr>
          <a:xfrm rot="0">
            <a:off x="0" y="533400"/>
            <a:ext cx="9144000" cy="63246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indent="-349250" latinLnBrk="1" lvl="0" marL="349250">
              <a:lnSpc>
                <a:spcPct val="140000"/>
              </a:lnSpc>
              <a:spcBef>
                <a:spcPct val="20000"/>
              </a:spcBef>
              <a:buFontTx/>
              <a:buChar char="•"/>
            </a:pPr>
            <a:r>
              <a:rPr altLang="en-US" sz="3200" i="1" lang="en-US">
                <a:solidFill>
                  <a:srgbClr val="003399"/>
                </a:solidFill>
              </a:rPr>
              <a:t>Rolling </a:t>
            </a:r>
            <a:r>
              <a:rPr altLang="en-US" sz="3200" lang="en-US">
                <a:solidFill>
                  <a:srgbClr val="003399"/>
                </a:solidFill>
              </a:rPr>
              <a:t>is usually first process used to convert material into a finished wrought product. </a:t>
            </a:r>
          </a:p>
          <a:p>
            <a:pPr algn="just" eaLnBrk="1" hangingPunct="1" indent="-349250" latinLnBrk="1" lvl="0" marL="349250">
              <a:lnSpc>
                <a:spcPct val="140000"/>
              </a:lnSpc>
              <a:spcBef>
                <a:spcPct val="20000"/>
              </a:spcBef>
              <a:buFontTx/>
              <a:buChar char="•"/>
            </a:pPr>
            <a:r>
              <a:rPr altLang="en-US" sz="3200" lang="en-US">
                <a:solidFill>
                  <a:srgbClr val="006600"/>
                </a:solidFill>
              </a:rPr>
              <a:t>Stock can be rolled into blooms, billets, slabs, or these shapes can be obtained directly from continuous casting.</a:t>
            </a:r>
          </a:p>
          <a:p>
            <a:pPr algn="just" eaLnBrk="1" hangingPunct="1" indent="-288925" latinLnBrk="1" lvl="1" marL="806450">
              <a:lnSpc>
                <a:spcPct val="140000"/>
              </a:lnSpc>
              <a:spcBef>
                <a:spcPct val="20000"/>
              </a:spcBef>
              <a:buFontTx/>
              <a:buChar char="–"/>
            </a:pPr>
            <a:r>
              <a:rPr altLang="en-US" b="1" sz="3200" lang="en-US" u="sng">
                <a:solidFill>
                  <a:srgbClr val="006600"/>
                </a:solidFill>
              </a:rPr>
              <a:t>A </a:t>
            </a:r>
            <a:r>
              <a:rPr altLang="en-US" b="1" sz="3200" i="1" lang="en-US" u="sng">
                <a:solidFill>
                  <a:srgbClr val="006600"/>
                </a:solidFill>
              </a:rPr>
              <a:t>bloom</a:t>
            </a:r>
            <a:r>
              <a:rPr altLang="en-US" sz="3200" i="1" lang="en-US">
                <a:solidFill>
                  <a:srgbClr val="006600"/>
                </a:solidFill>
              </a:rPr>
              <a:t> </a:t>
            </a:r>
            <a:r>
              <a:rPr altLang="en-US" sz="3200" lang="en-US">
                <a:solidFill>
                  <a:srgbClr val="006600"/>
                </a:solidFill>
              </a:rPr>
              <a:t>has a square or rectangular cross section, with a thickness greater than 6 inches and a width no greater than twice the thickness.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1">
  <p:cSld>
    <p:spTree>
      <p:nvGrpSpPr>
        <p:cNvPr id="69" name=""/>
        <p:cNvGrpSpPr/>
        <p:nvPr/>
      </p:nvGrpSpPr>
      <p:grpSpPr>
        <a:xfrm rot="0">
          <a:off x="0" y="0"/>
          <a:ext cx="0" cy="0"/>
          <a:chOff x="0" y="0"/>
          <a:chExt cx="0" cy="0"/>
        </a:xfrm>
      </p:grpSpPr>
      <p:sp>
        <p:nvSpPr>
          <p:cNvPr id="1048598" name=""/>
          <p:cNvSpPr txBox="1"/>
          <p:nvPr/>
        </p:nvSpPr>
        <p:spPr>
          <a:xfrm rot="0">
            <a:off x="381000" y="0"/>
            <a:ext cx="8458200" cy="4572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atinLnBrk="1" lvl="0">
              <a:lnSpc>
                <a:spcPct val="90000"/>
              </a:lnSpc>
            </a:pPr>
            <a:r>
              <a:rPr altLang="en-US" b="1" sz="2500" lang="en-US" u="sng">
                <a:solidFill>
                  <a:srgbClr val="990033"/>
                </a:solidFill>
              </a:rPr>
              <a:t>ROLLING</a:t>
            </a:r>
          </a:p>
        </p:txBody>
      </p:sp>
      <p:sp>
        <p:nvSpPr>
          <p:cNvPr id="1048599" name=""/>
          <p:cNvSpPr txBox="1"/>
          <p:nvPr/>
        </p:nvSpPr>
        <p:spPr>
          <a:xfrm rot="0">
            <a:off x="0" y="533400"/>
            <a:ext cx="9144000" cy="63246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indent="-288925" latinLnBrk="1" lvl="1" marL="806450">
              <a:lnSpc>
                <a:spcPct val="150000"/>
              </a:lnSpc>
              <a:spcBef>
                <a:spcPct val="20000"/>
              </a:spcBef>
              <a:buFontTx/>
              <a:buChar char="–"/>
            </a:pPr>
            <a:r>
              <a:rPr altLang="en-US" b="1" sz="3200" lang="en-US" u="sng">
                <a:solidFill>
                  <a:srgbClr val="003399"/>
                </a:solidFill>
              </a:rPr>
              <a:t>A </a:t>
            </a:r>
            <a:r>
              <a:rPr altLang="en-US" b="1" sz="3200" i="1" lang="en-US" u="sng">
                <a:solidFill>
                  <a:srgbClr val="003399"/>
                </a:solidFill>
              </a:rPr>
              <a:t>billet</a:t>
            </a:r>
            <a:r>
              <a:rPr altLang="en-US" sz="3200" i="1" lang="en-US">
                <a:solidFill>
                  <a:srgbClr val="003399"/>
                </a:solidFill>
              </a:rPr>
              <a:t> </a:t>
            </a:r>
            <a:r>
              <a:rPr altLang="en-US" sz="3200" lang="en-US">
                <a:solidFill>
                  <a:srgbClr val="003399"/>
                </a:solidFill>
              </a:rPr>
              <a:t>is usually smaller than a bloom and has a square or circular cross section. Billets are usually produced by some form of deformation process, such as rolling or extrusion. </a:t>
            </a:r>
          </a:p>
          <a:p>
            <a:pPr algn="just" eaLnBrk="1" hangingPunct="1" indent="-288925" latinLnBrk="1" lvl="1" marL="806450">
              <a:lnSpc>
                <a:spcPct val="150000"/>
              </a:lnSpc>
              <a:spcBef>
                <a:spcPct val="20000"/>
              </a:spcBef>
              <a:buFontTx/>
              <a:buChar char="–"/>
            </a:pPr>
            <a:r>
              <a:rPr altLang="en-US" b="1" sz="3200" lang="en-US" u="sng">
                <a:solidFill>
                  <a:srgbClr val="006600"/>
                </a:solidFill>
              </a:rPr>
              <a:t>A </a:t>
            </a:r>
            <a:r>
              <a:rPr altLang="en-US" b="1" sz="3200" i="1" lang="en-US" u="sng">
                <a:solidFill>
                  <a:srgbClr val="006600"/>
                </a:solidFill>
              </a:rPr>
              <a:t>slab</a:t>
            </a:r>
            <a:r>
              <a:rPr altLang="en-US" sz="3200" i="1" lang="en-US">
                <a:solidFill>
                  <a:srgbClr val="006600"/>
                </a:solidFill>
              </a:rPr>
              <a:t> </a:t>
            </a:r>
            <a:r>
              <a:rPr altLang="en-US" sz="2800" lang="en-US">
                <a:solidFill>
                  <a:srgbClr val="006600"/>
                </a:solidFill>
              </a:rPr>
              <a:t>is a rectangular solid where the width is greater than twice the thickness. Slabs can be further rolled to produce </a:t>
            </a:r>
            <a:r>
              <a:rPr altLang="en-US" sz="2800" i="1" lang="en-US">
                <a:solidFill>
                  <a:srgbClr val="006600"/>
                </a:solidFill>
              </a:rPr>
              <a:t>plate, sheet, </a:t>
            </a:r>
            <a:r>
              <a:rPr altLang="en-US" sz="2800" lang="en-US">
                <a:solidFill>
                  <a:srgbClr val="006600"/>
                </a:solidFill>
              </a:rPr>
              <a:t>and </a:t>
            </a:r>
            <a:r>
              <a:rPr altLang="en-US" sz="2800" i="1" lang="en-US">
                <a:solidFill>
                  <a:srgbClr val="006600"/>
                </a:solidFill>
              </a:rPr>
              <a:t>strip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1">
  <p:cSld>
    <p:spTree>
      <p:nvGrpSpPr>
        <p:cNvPr id="70" name=""/>
        <p:cNvGrpSpPr/>
        <p:nvPr/>
      </p:nvGrpSpPr>
      <p:grpSpPr>
        <a:xfrm rot="0">
          <a:off x="0" y="0"/>
          <a:ext cx="0" cy="0"/>
          <a:chOff x="0" y="0"/>
          <a:chExt cx="0" cy="0"/>
        </a:xfrm>
      </p:grpSpPr>
      <p:sp>
        <p:nvSpPr>
          <p:cNvPr id="1048600" name=""/>
          <p:cNvSpPr txBox="1"/>
          <p:nvPr/>
        </p:nvSpPr>
        <p:spPr>
          <a:xfrm rot="0">
            <a:off x="381000" y="0"/>
            <a:ext cx="8458200" cy="8382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atinLnBrk="1" lvl="0"/>
            <a:r>
              <a:rPr altLang="en-US" b="1" sz="2800" lang="en-US" u="sng">
                <a:solidFill>
                  <a:srgbClr val="990033"/>
                </a:solidFill>
              </a:rPr>
              <a:t>ROLLING</a:t>
            </a:r>
          </a:p>
        </p:txBody>
      </p:sp>
      <p:sp>
        <p:nvSpPr>
          <p:cNvPr id="1048601" name=""/>
          <p:cNvSpPr txBox="1"/>
          <p:nvPr/>
        </p:nvSpPr>
        <p:spPr>
          <a:xfrm rot="0">
            <a:off x="0" y="685800"/>
            <a:ext cx="9144000" cy="58674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indent="-349250" latinLnBrk="1" lvl="0" marL="349250">
              <a:lnSpc>
                <a:spcPct val="110000"/>
              </a:lnSpc>
              <a:spcBef>
                <a:spcPct val="20000"/>
              </a:spcBef>
              <a:buFontTx/>
              <a:buChar char="•"/>
            </a:pPr>
            <a:r>
              <a:rPr altLang="en-US" sz="3200" lang="en-US">
                <a:solidFill>
                  <a:srgbClr val="003399"/>
                </a:solidFill>
              </a:rPr>
              <a:t>These hot-worked products use for subsequent processing techniques such as cold forming or for machining. </a:t>
            </a:r>
          </a:p>
          <a:p>
            <a:pPr algn="just" eaLnBrk="1" hangingPunct="1" indent="-342900" latinLnBrk="1" lvl="1" marL="806450">
              <a:lnSpc>
                <a:spcPct val="110000"/>
              </a:lnSpc>
              <a:spcBef>
                <a:spcPct val="20000"/>
              </a:spcBef>
              <a:buFontTx/>
              <a:buChar char="–"/>
            </a:pPr>
            <a:r>
              <a:rPr altLang="en-US" sz="3200" lang="en-US" u="sng">
                <a:solidFill>
                  <a:srgbClr val="006600"/>
                </a:solidFill>
              </a:rPr>
              <a:t>Sheet and strip</a:t>
            </a:r>
            <a:r>
              <a:rPr altLang="en-US" sz="3200" lang="en-US">
                <a:solidFill>
                  <a:srgbClr val="006600"/>
                </a:solidFill>
              </a:rPr>
              <a:t> fabricated into products or cold rolled into thinner, stronger material even into foil.</a:t>
            </a:r>
          </a:p>
          <a:p>
            <a:pPr algn="just" eaLnBrk="1" hangingPunct="1" indent="-342900" latinLnBrk="1" lvl="1" marL="806450">
              <a:lnSpc>
                <a:spcPct val="110000"/>
              </a:lnSpc>
              <a:spcBef>
                <a:spcPct val="20000"/>
              </a:spcBef>
              <a:buFontTx/>
              <a:buChar char="–"/>
            </a:pPr>
            <a:r>
              <a:rPr altLang="en-US" sz="3200" lang="en-US" u="sng">
                <a:solidFill>
                  <a:srgbClr val="003399"/>
                </a:solidFill>
              </a:rPr>
              <a:t>Blooms and billets</a:t>
            </a:r>
            <a:r>
              <a:rPr altLang="en-US" sz="3200" lang="en-US">
                <a:solidFill>
                  <a:srgbClr val="003399"/>
                </a:solidFill>
              </a:rPr>
              <a:t> rolled into finished products, such as structural shapes or railroad rail, or processed into semi-finished shapes, such as bar, rod, tube, or pipe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1">
  <p:cSld>
    <p:spTree>
      <p:nvGrpSpPr>
        <p:cNvPr id="71" name=""/>
        <p:cNvGrpSpPr/>
        <p:nvPr/>
      </p:nvGrpSpPr>
      <p:grpSpPr>
        <a:xfrm rot="0">
          <a:off x="0" y="0"/>
          <a:ext cx="0" cy="0"/>
          <a:chOff x="0" y="0"/>
          <a:chExt cx="0" cy="0"/>
        </a:xfrm>
      </p:grpSpPr>
      <p:sp>
        <p:nvSpPr>
          <p:cNvPr id="1048602" name=""/>
          <p:cNvSpPr txBox="1"/>
          <p:nvPr/>
        </p:nvSpPr>
        <p:spPr>
          <a:xfrm rot="0">
            <a:off x="381000" y="0"/>
            <a:ext cx="8458200" cy="8382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atinLnBrk="1" lvl="0"/>
            <a:r>
              <a:rPr altLang="en-US" b="1" sz="2800" lang="en-US" u="sng">
                <a:solidFill>
                  <a:srgbClr val="990033"/>
                </a:solidFill>
              </a:rPr>
              <a:t>ROLLING</a:t>
            </a:r>
          </a:p>
        </p:txBody>
      </p:sp>
      <p:sp>
        <p:nvSpPr>
          <p:cNvPr id="1048603" name=""/>
          <p:cNvSpPr txBox="1"/>
          <p:nvPr/>
        </p:nvSpPr>
        <p:spPr>
          <a:xfrm rot="0">
            <a:off x="152400" y="685800"/>
            <a:ext cx="8686800" cy="58674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indent="-349250" latinLnBrk="1" lvl="0" marL="349250">
              <a:lnSpc>
                <a:spcPct val="110000"/>
              </a:lnSpc>
              <a:spcBef>
                <a:spcPct val="20000"/>
              </a:spcBef>
              <a:buFontTx/>
              <a:buChar char="•"/>
            </a:pPr>
            <a:r>
              <a:rPr altLang="en-US" sz="2800" lang="en-US">
                <a:solidFill>
                  <a:srgbClr val="006600"/>
                </a:solidFill>
              </a:rPr>
              <a:t>Hot  Rolling :-</a:t>
            </a:r>
          </a:p>
          <a:p>
            <a:pPr algn="just" eaLnBrk="1" hangingPunct="1" indent="-342900" latinLnBrk="1" lvl="1" marL="806450">
              <a:lnSpc>
                <a:spcPct val="110000"/>
              </a:lnSpc>
              <a:spcBef>
                <a:spcPct val="20000"/>
              </a:spcBef>
              <a:buFontTx/>
              <a:buChar char="–"/>
            </a:pPr>
            <a:r>
              <a:rPr altLang="en-US" sz="2800" lang="en-US">
                <a:solidFill>
                  <a:srgbClr val="006600"/>
                </a:solidFill>
              </a:rPr>
              <a:t>is prominent among all manufacturing processes</a:t>
            </a:r>
          </a:p>
          <a:p>
            <a:pPr algn="just" eaLnBrk="1" hangingPunct="1" indent="-342900" latinLnBrk="1" lvl="1" marL="806450">
              <a:lnSpc>
                <a:spcPct val="110000"/>
              </a:lnSpc>
              <a:spcBef>
                <a:spcPct val="20000"/>
              </a:spcBef>
              <a:buFontTx/>
              <a:buChar char="–"/>
            </a:pPr>
            <a:r>
              <a:rPr altLang="en-US" sz="2800" lang="en-US">
                <a:solidFill>
                  <a:srgbClr val="003399"/>
                </a:solidFill>
              </a:rPr>
              <a:t>equipment and practices are sufficiently advanced</a:t>
            </a:r>
          </a:p>
          <a:p>
            <a:pPr algn="just" eaLnBrk="1" hangingPunct="1" indent="-342900" latinLnBrk="1" lvl="1" marL="806450">
              <a:lnSpc>
                <a:spcPct val="110000"/>
              </a:lnSpc>
              <a:spcBef>
                <a:spcPct val="20000"/>
              </a:spcBef>
              <a:buFontTx/>
              <a:buChar char="–"/>
            </a:pPr>
            <a:r>
              <a:rPr altLang="en-US" sz="2800" lang="en-US">
                <a:solidFill>
                  <a:srgbClr val="006600"/>
                </a:solidFill>
              </a:rPr>
              <a:t>is standardized</a:t>
            </a:r>
          </a:p>
          <a:p>
            <a:pPr algn="just" eaLnBrk="1" hangingPunct="1" indent="-342900" latinLnBrk="1" lvl="1" marL="806450">
              <a:lnSpc>
                <a:spcPct val="110000"/>
              </a:lnSpc>
              <a:spcBef>
                <a:spcPct val="20000"/>
              </a:spcBef>
              <a:buFontTx/>
              <a:buChar char="–"/>
            </a:pPr>
            <a:r>
              <a:rPr altLang="en-US" sz="2800" lang="en-US">
                <a:solidFill>
                  <a:srgbClr val="003399"/>
                </a:solidFill>
              </a:rPr>
              <a:t>produce uniform-quality products at relatively low cost</a:t>
            </a:r>
          </a:p>
          <a:p>
            <a:pPr algn="just" eaLnBrk="1" hangingPunct="1" indent="-342900" latinLnBrk="1" lvl="1" marL="806450">
              <a:lnSpc>
                <a:spcPct val="110000"/>
              </a:lnSpc>
              <a:spcBef>
                <a:spcPct val="20000"/>
              </a:spcBef>
              <a:buFontTx/>
              <a:buChar char="–"/>
            </a:pPr>
            <a:r>
              <a:rPr altLang="en-US" sz="2800" lang="en-US">
                <a:solidFill>
                  <a:srgbClr val="006600"/>
                </a:solidFill>
              </a:rPr>
              <a:t>products are normally obtained in standard shapes and sizes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1">
  <p:cSld>
    <p:spTree>
      <p:nvGrpSpPr>
        <p:cNvPr id="72" name=""/>
        <p:cNvGrpSpPr/>
        <p:nvPr/>
      </p:nvGrpSpPr>
      <p:grpSpPr>
        <a:xfrm rot="0">
          <a:off x="0" y="0"/>
          <a:ext cx="0" cy="0"/>
          <a:chOff x="0" y="0"/>
          <a:chExt cx="0" cy="0"/>
        </a:xfrm>
      </p:grpSpPr>
      <p:pic>
        <p:nvPicPr>
          <p:cNvPr id="2097152" name="" descr="scan0001"/>
          <p:cNvPicPr>
            <a:picLocks/>
          </p:cNvPicPr>
          <p:nvPr/>
        </p:nvPicPr>
        <p:blipFill>
          <a:blip xmlns:r="http://schemas.openxmlformats.org/officeDocument/2006/relationships" r:embed="rId1">
            <a:lum bright="-18000" contrast="30000"/>
          </a:blip>
          <a:srcRect l="16814" t="7489" r="0" b="0"/>
          <a:stretch>
            <a:fillRect/>
          </a:stretch>
        </p:blipFill>
        <p:spPr>
          <a:xfrm rot="0">
            <a:off x="0" y="20637"/>
            <a:ext cx="9144000" cy="6837362"/>
          </a:xfrm>
          <a:prstGeom prst="rect"/>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1">
  <p:cSld>
    <p:spTree>
      <p:nvGrpSpPr>
        <p:cNvPr id="73" name=""/>
        <p:cNvGrpSpPr/>
        <p:nvPr/>
      </p:nvGrpSpPr>
      <p:grpSpPr>
        <a:xfrm rot="0">
          <a:off x="0" y="0"/>
          <a:ext cx="0" cy="0"/>
          <a:chOff x="0" y="0"/>
          <a:chExt cx="0" cy="0"/>
        </a:xfrm>
      </p:grpSpPr>
      <p:sp>
        <p:nvSpPr>
          <p:cNvPr id="1048604" name=""/>
          <p:cNvSpPr txBox="1"/>
          <p:nvPr/>
        </p:nvSpPr>
        <p:spPr>
          <a:xfrm rot="0">
            <a:off x="381000" y="0"/>
            <a:ext cx="8458200" cy="5334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atinLnBrk="1" lvl="0"/>
            <a:r>
              <a:rPr altLang="en-US" b="1" sz="2800" lang="en-US" u="sng">
                <a:solidFill>
                  <a:srgbClr val="990033"/>
                </a:solidFill>
              </a:rPr>
              <a:t>Basic Rolling Process</a:t>
            </a:r>
          </a:p>
        </p:txBody>
      </p:sp>
      <p:sp>
        <p:nvSpPr>
          <p:cNvPr id="1048605" name=""/>
          <p:cNvSpPr txBox="1"/>
          <p:nvPr/>
        </p:nvSpPr>
        <p:spPr>
          <a:xfrm rot="0">
            <a:off x="0" y="533400"/>
            <a:ext cx="9144000" cy="63246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indent="-349250" latinLnBrk="1" lvl="0" marL="349250">
              <a:lnSpc>
                <a:spcPct val="150000"/>
              </a:lnSpc>
              <a:spcBef>
                <a:spcPct val="20000"/>
              </a:spcBef>
              <a:buFontTx/>
              <a:buChar char="•"/>
            </a:pPr>
            <a:r>
              <a:rPr altLang="en-US" sz="3200" lang="en-US">
                <a:solidFill>
                  <a:srgbClr val="003399"/>
                </a:solidFill>
              </a:rPr>
              <a:t>Heated metal is passed between two rolls that rotate in opposite directions</a:t>
            </a:r>
          </a:p>
          <a:p>
            <a:pPr algn="just" eaLnBrk="1" hangingPunct="1" indent="-349250" latinLnBrk="1" lvl="0" marL="349250">
              <a:lnSpc>
                <a:spcPct val="150000"/>
              </a:lnSpc>
              <a:spcBef>
                <a:spcPct val="20000"/>
              </a:spcBef>
              <a:buFontTx/>
              <a:buChar char="•"/>
            </a:pPr>
            <a:r>
              <a:rPr altLang="en-US" sz="3200" lang="en-US">
                <a:solidFill>
                  <a:srgbClr val="006600"/>
                </a:solidFill>
              </a:rPr>
              <a:t>Gap between rolls is less than thickness of entering metal.</a:t>
            </a:r>
          </a:p>
          <a:p>
            <a:pPr algn="just" eaLnBrk="1" hangingPunct="1" indent="-349250" latinLnBrk="1" lvl="0" marL="349250">
              <a:lnSpc>
                <a:spcPct val="150000"/>
              </a:lnSpc>
              <a:spcBef>
                <a:spcPct val="20000"/>
              </a:spcBef>
              <a:buFontTx/>
              <a:buChar char="•"/>
            </a:pPr>
            <a:r>
              <a:rPr altLang="en-US" sz="3200" lang="en-US">
                <a:solidFill>
                  <a:srgbClr val="003399"/>
                </a:solidFill>
              </a:rPr>
              <a:t>Rolls rotate with surface velocity that exceeds speed of  incoming metal, friction along the contact interface acts to propel the metal forward.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1">
  <p:cSld>
    <p:spTree>
      <p:nvGrpSpPr>
        <p:cNvPr id="74" name=""/>
        <p:cNvGrpSpPr/>
        <p:nvPr/>
      </p:nvGrpSpPr>
      <p:grpSpPr>
        <a:xfrm rot="0">
          <a:off x="0" y="0"/>
          <a:ext cx="0" cy="0"/>
          <a:chOff x="0" y="0"/>
          <a:chExt cx="0" cy="0"/>
        </a:xfrm>
      </p:grpSpPr>
      <p:sp>
        <p:nvSpPr>
          <p:cNvPr id="1048606" name=""/>
          <p:cNvSpPr txBox="1"/>
          <p:nvPr/>
        </p:nvSpPr>
        <p:spPr>
          <a:xfrm rot="0">
            <a:off x="381000" y="0"/>
            <a:ext cx="8458200" cy="5334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atinLnBrk="1" lvl="0"/>
            <a:r>
              <a:rPr altLang="en-US" b="1" sz="2800" lang="en-US" u="sng">
                <a:solidFill>
                  <a:srgbClr val="990033"/>
                </a:solidFill>
              </a:rPr>
              <a:t>Basic Rolling Process</a:t>
            </a:r>
          </a:p>
        </p:txBody>
      </p:sp>
      <p:sp>
        <p:nvSpPr>
          <p:cNvPr id="1048607" name=""/>
          <p:cNvSpPr txBox="1"/>
          <p:nvPr/>
        </p:nvSpPr>
        <p:spPr>
          <a:xfrm rot="0">
            <a:off x="0" y="533400"/>
            <a:ext cx="9144000" cy="63246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indent="-349250" latinLnBrk="1" lvl="0" marL="349250">
              <a:lnSpc>
                <a:spcPct val="140000"/>
              </a:lnSpc>
              <a:spcBef>
                <a:spcPct val="20000"/>
              </a:spcBef>
              <a:buFontTx/>
              <a:buChar char="•"/>
            </a:pPr>
            <a:r>
              <a:rPr altLang="en-US" sz="2800" lang="en-US">
                <a:solidFill>
                  <a:srgbClr val="006600"/>
                </a:solidFill>
              </a:rPr>
              <a:t>Metal is squeezed and elongates result in decrease of the cross-sectional area. </a:t>
            </a:r>
          </a:p>
          <a:p>
            <a:pPr algn="just" eaLnBrk="1" hangingPunct="1" indent="-349250" latinLnBrk="1" lvl="0" marL="349250">
              <a:lnSpc>
                <a:spcPct val="140000"/>
              </a:lnSpc>
              <a:spcBef>
                <a:spcPct val="20000"/>
              </a:spcBef>
              <a:buFontTx/>
              <a:buChar char="•"/>
            </a:pPr>
            <a:r>
              <a:rPr altLang="en-US" sz="2800" lang="en-US">
                <a:solidFill>
                  <a:srgbClr val="003399"/>
                </a:solidFill>
              </a:rPr>
              <a:t>Amount of deformation in a single pass depends on the friction conditions along the interface.</a:t>
            </a:r>
          </a:p>
          <a:p>
            <a:pPr algn="just" eaLnBrk="1" hangingPunct="1" indent="-349250" latinLnBrk="1" lvl="0" marL="349250">
              <a:lnSpc>
                <a:spcPct val="140000"/>
              </a:lnSpc>
              <a:spcBef>
                <a:spcPct val="20000"/>
              </a:spcBef>
              <a:buFontTx/>
              <a:buChar char="•"/>
            </a:pPr>
            <a:r>
              <a:rPr altLang="en-US" sz="2800" lang="en-US">
                <a:solidFill>
                  <a:srgbClr val="006600"/>
                </a:solidFill>
              </a:rPr>
              <a:t>If too much material flow is demanded, rolls cannot advance the material and simply skid over its surface. </a:t>
            </a:r>
          </a:p>
          <a:p>
            <a:pPr algn="just" eaLnBrk="1" hangingPunct="1" indent="-349250" latinLnBrk="1" lvl="0" marL="349250">
              <a:lnSpc>
                <a:spcPct val="140000"/>
              </a:lnSpc>
              <a:spcBef>
                <a:spcPct val="20000"/>
              </a:spcBef>
              <a:buFontTx/>
              <a:buChar char="•"/>
            </a:pPr>
            <a:r>
              <a:rPr altLang="en-US" sz="2800" lang="en-US">
                <a:solidFill>
                  <a:srgbClr val="003399"/>
                </a:solidFill>
              </a:rPr>
              <a:t>Too little deformation per pass results in excessive production cost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1">
  <p:cSld>
    <p:spTree>
      <p:nvGrpSpPr>
        <p:cNvPr id="75" name=""/>
        <p:cNvGrpSpPr/>
        <p:nvPr/>
      </p:nvGrpSpPr>
      <p:grpSpPr>
        <a:xfrm rot="0">
          <a:off x="0" y="0"/>
          <a:ext cx="0" cy="0"/>
          <a:chOff x="0" y="0"/>
          <a:chExt cx="0" cy="0"/>
        </a:xfrm>
      </p:grpSpPr>
      <p:pic>
        <p:nvPicPr>
          <p:cNvPr id="2097153" name="" descr="scan0002"/>
          <p:cNvPicPr>
            <a:picLocks/>
          </p:cNvPicPr>
          <p:nvPr/>
        </p:nvPicPr>
        <p:blipFill>
          <a:blip xmlns:r="http://schemas.openxmlformats.org/officeDocument/2006/relationships" r:embed="rId1">
            <a:lum bright="-18000" contrast="42000"/>
          </a:blip>
          <a:srcRect l="0" t="10428" r="0" b="0"/>
          <a:stretch>
            <a:fillRect/>
          </a:stretch>
        </p:blipFill>
        <p:spPr>
          <a:xfrm rot="0">
            <a:off x="990600" y="119062"/>
            <a:ext cx="7924800" cy="6683375"/>
          </a:xfrm>
          <a:prstGeom prst="rect"/>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1">
  <p:cSld>
    <p:spTree>
      <p:nvGrpSpPr>
        <p:cNvPr id="76" name=""/>
        <p:cNvGrpSpPr/>
        <p:nvPr/>
      </p:nvGrpSpPr>
      <p:grpSpPr>
        <a:xfrm rot="0">
          <a:off x="0" y="0"/>
          <a:ext cx="0" cy="0"/>
          <a:chOff x="0" y="0"/>
          <a:chExt cx="0" cy="0"/>
        </a:xfrm>
      </p:grpSpPr>
      <p:sp>
        <p:nvSpPr>
          <p:cNvPr id="1048608" name=""/>
          <p:cNvSpPr txBox="1"/>
          <p:nvPr/>
        </p:nvSpPr>
        <p:spPr>
          <a:xfrm rot="0">
            <a:off x="381000" y="0"/>
            <a:ext cx="8458200" cy="4572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atinLnBrk="1" lvl="0"/>
            <a:r>
              <a:rPr altLang="en-US" b="1" sz="2400" lang="en-US" u="sng">
                <a:solidFill>
                  <a:srgbClr val="990033"/>
                </a:solidFill>
              </a:rPr>
              <a:t>Rolling Temperatures</a:t>
            </a:r>
          </a:p>
        </p:txBody>
      </p:sp>
      <p:sp>
        <p:nvSpPr>
          <p:cNvPr id="1048609" name=""/>
          <p:cNvSpPr txBox="1"/>
          <p:nvPr/>
        </p:nvSpPr>
        <p:spPr>
          <a:xfrm rot="0">
            <a:off x="0" y="533400"/>
            <a:ext cx="9144000" cy="63246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indent="-349250" latinLnBrk="1" lvl="0" marL="349250">
              <a:lnSpc>
                <a:spcPct val="140000"/>
              </a:lnSpc>
              <a:spcBef>
                <a:spcPct val="20000"/>
              </a:spcBef>
              <a:buFontTx/>
              <a:buChar char="•"/>
            </a:pPr>
            <a:r>
              <a:rPr altLang="en-US" sz="3200" lang="en-US">
                <a:solidFill>
                  <a:srgbClr val="003399"/>
                </a:solidFill>
              </a:rPr>
              <a:t>Temperature control is crucial to the success of the hot rolling process. </a:t>
            </a:r>
          </a:p>
          <a:p>
            <a:pPr eaLnBrk="1" hangingPunct="1" indent="-349250" latinLnBrk="1" lvl="0" marL="349250">
              <a:lnSpc>
                <a:spcPct val="140000"/>
              </a:lnSpc>
              <a:spcBef>
                <a:spcPct val="20000"/>
              </a:spcBef>
              <a:buFontTx/>
              <a:buChar char="•"/>
            </a:pPr>
            <a:endParaRPr altLang="en-US" sz="3200" lang="en-US">
              <a:solidFill>
                <a:srgbClr val="003399"/>
              </a:solidFill>
            </a:endParaRPr>
          </a:p>
          <a:p>
            <a:pPr eaLnBrk="1" hangingPunct="1" indent="-349250" latinLnBrk="1" lvl="0" marL="349250">
              <a:lnSpc>
                <a:spcPct val="140000"/>
              </a:lnSpc>
              <a:spcBef>
                <a:spcPct val="20000"/>
              </a:spcBef>
              <a:buFontTx/>
              <a:buChar char="•"/>
            </a:pPr>
            <a:r>
              <a:rPr altLang="en-US" sz="3200" lang="en-US">
                <a:solidFill>
                  <a:srgbClr val="003399"/>
                </a:solidFill>
              </a:rPr>
              <a:t>If the temperature of the billet is not uniform, the subsequent deformation will not be uniform.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1">
  <p:cSld>
    <p:spTree>
      <p:nvGrpSpPr>
        <p:cNvPr id="77" name=""/>
        <p:cNvGrpSpPr/>
        <p:nvPr/>
      </p:nvGrpSpPr>
      <p:grpSpPr>
        <a:xfrm rot="0">
          <a:off x="0" y="0"/>
          <a:ext cx="0" cy="0"/>
          <a:chOff x="0" y="0"/>
          <a:chExt cx="0" cy="0"/>
        </a:xfrm>
      </p:grpSpPr>
      <p:sp>
        <p:nvSpPr>
          <p:cNvPr id="1048610" name=""/>
          <p:cNvSpPr txBox="1"/>
          <p:nvPr/>
        </p:nvSpPr>
        <p:spPr>
          <a:xfrm rot="0">
            <a:off x="381000" y="0"/>
            <a:ext cx="8458200" cy="4572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atinLnBrk="1" lvl="0"/>
            <a:r>
              <a:rPr altLang="en-US" b="1" sz="2400" lang="en-US" u="sng">
                <a:solidFill>
                  <a:srgbClr val="990033"/>
                </a:solidFill>
              </a:rPr>
              <a:t>Rolling Temperatures</a:t>
            </a:r>
          </a:p>
        </p:txBody>
      </p:sp>
      <p:sp>
        <p:nvSpPr>
          <p:cNvPr id="1048611" name=""/>
          <p:cNvSpPr txBox="1"/>
          <p:nvPr/>
        </p:nvSpPr>
        <p:spPr>
          <a:xfrm rot="0">
            <a:off x="0" y="533400"/>
            <a:ext cx="9144000" cy="63246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indent="-349250" latinLnBrk="1" lvl="0" marL="349250">
              <a:lnSpc>
                <a:spcPct val="130000"/>
              </a:lnSpc>
              <a:spcBef>
                <a:spcPct val="20000"/>
              </a:spcBef>
              <a:buFontTx/>
              <a:buChar char="•"/>
            </a:pPr>
            <a:r>
              <a:rPr altLang="en-US" sz="3200" lang="en-US">
                <a:solidFill>
                  <a:srgbClr val="006600"/>
                </a:solidFill>
              </a:rPr>
              <a:t>For example</a:t>
            </a:r>
          </a:p>
          <a:p>
            <a:pPr algn="just" eaLnBrk="1" hangingPunct="1" indent="-342900" latinLnBrk="1" lvl="1" marL="806450">
              <a:lnSpc>
                <a:spcPct val="130000"/>
              </a:lnSpc>
              <a:spcBef>
                <a:spcPct val="20000"/>
              </a:spcBef>
              <a:buFontTx/>
              <a:buChar char="–"/>
            </a:pPr>
            <a:r>
              <a:rPr altLang="en-US" sz="3200" lang="en-US">
                <a:solidFill>
                  <a:srgbClr val="003399"/>
                </a:solidFill>
              </a:rPr>
              <a:t>  If a part cools prior to working, the cooler surfaces will tend to resist deformation.</a:t>
            </a:r>
          </a:p>
          <a:p>
            <a:pPr algn="just" eaLnBrk="1" hangingPunct="1" indent="-342900" latinLnBrk="1" lvl="1" marL="806450">
              <a:lnSpc>
                <a:spcPct val="130000"/>
              </a:lnSpc>
              <a:spcBef>
                <a:spcPct val="20000"/>
              </a:spcBef>
              <a:buFontTx/>
              <a:buChar char="–"/>
            </a:pPr>
            <a:endParaRPr altLang="en-US" sz="3200" lang="en-US">
              <a:solidFill>
                <a:srgbClr val="003399"/>
              </a:solidFill>
            </a:endParaRPr>
          </a:p>
          <a:p>
            <a:pPr algn="just" eaLnBrk="1" hangingPunct="1" indent="-342900" latinLnBrk="1" lvl="1" marL="806450">
              <a:lnSpc>
                <a:spcPct val="130000"/>
              </a:lnSpc>
              <a:spcBef>
                <a:spcPct val="20000"/>
              </a:spcBef>
              <a:buFontTx/>
              <a:buChar char="–"/>
            </a:pPr>
            <a:r>
              <a:rPr altLang="en-US" sz="3200" lang="en-US">
                <a:solidFill>
                  <a:srgbClr val="003399"/>
                </a:solidFill>
              </a:rPr>
              <a:t>   Cracking and tearing of surface may result as hotter, weaker interior tries to deform.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1">
  <p:cSld>
    <p:spTree>
      <p:nvGrpSpPr>
        <p:cNvPr id="78" name=""/>
        <p:cNvGrpSpPr/>
        <p:nvPr/>
      </p:nvGrpSpPr>
      <p:grpSpPr>
        <a:xfrm rot="0">
          <a:off x="0" y="0"/>
          <a:ext cx="0" cy="0"/>
          <a:chOff x="0" y="0"/>
          <a:chExt cx="0" cy="0"/>
        </a:xfrm>
      </p:grpSpPr>
      <p:sp>
        <p:nvSpPr>
          <p:cNvPr id="1048612" name=""/>
          <p:cNvSpPr txBox="1"/>
          <p:nvPr/>
        </p:nvSpPr>
        <p:spPr>
          <a:xfrm rot="0">
            <a:off x="381000" y="0"/>
            <a:ext cx="8458200" cy="4572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atinLnBrk="1" lvl="0"/>
            <a:r>
              <a:rPr altLang="en-US" b="1" sz="2400" lang="en-US" u="sng">
                <a:solidFill>
                  <a:srgbClr val="990033"/>
                </a:solidFill>
              </a:rPr>
              <a:t>Rolling Temperatures</a:t>
            </a:r>
          </a:p>
        </p:txBody>
      </p:sp>
      <p:sp>
        <p:nvSpPr>
          <p:cNvPr id="1048613" name=""/>
          <p:cNvSpPr txBox="1"/>
          <p:nvPr/>
        </p:nvSpPr>
        <p:spPr>
          <a:xfrm rot="0">
            <a:off x="0" y="533400"/>
            <a:ext cx="9144000" cy="63246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indent="-349250" latinLnBrk="1" lvl="0" marL="349250">
              <a:lnSpc>
                <a:spcPct val="120000"/>
              </a:lnSpc>
              <a:spcBef>
                <a:spcPct val="20000"/>
              </a:spcBef>
              <a:buFontTx/>
              <a:buChar char="•"/>
            </a:pPr>
            <a:r>
              <a:rPr altLang="en-US" sz="3200" lang="en-US">
                <a:solidFill>
                  <a:srgbClr val="006600"/>
                </a:solidFill>
              </a:rPr>
              <a:t>Cooling from solidification is controlled to enable direct insertion into a hot-rolling operation without additional handling or reheating.</a:t>
            </a:r>
          </a:p>
          <a:p>
            <a:pPr algn="just" eaLnBrk="1" hangingPunct="1" indent="-349250" latinLnBrk="1" lvl="0" marL="349250">
              <a:lnSpc>
                <a:spcPct val="120000"/>
              </a:lnSpc>
              <a:spcBef>
                <a:spcPct val="20000"/>
              </a:spcBef>
              <a:buFontTx/>
              <a:buChar char="•"/>
            </a:pPr>
            <a:r>
              <a:rPr altLang="en-US" sz="3200" lang="en-US">
                <a:solidFill>
                  <a:srgbClr val="006600"/>
                </a:solidFill>
              </a:rPr>
              <a:t>Brought to rolling temperature, usually gas- or oil-fired soaking pits or furnaces are normally used. </a:t>
            </a:r>
          </a:p>
          <a:p>
            <a:pPr algn="just" eaLnBrk="1" hangingPunct="1" indent="-349250" latinLnBrk="1" lvl="0" marL="349250">
              <a:lnSpc>
                <a:spcPct val="120000"/>
              </a:lnSpc>
              <a:spcBef>
                <a:spcPct val="20000"/>
              </a:spcBef>
              <a:buFontTx/>
              <a:buChar char="•"/>
            </a:pPr>
            <a:r>
              <a:rPr altLang="en-US" sz="3200" lang="en-US">
                <a:solidFill>
                  <a:srgbClr val="003399"/>
                </a:solidFill>
              </a:rPr>
              <a:t>Plain-carbon and low-alloy steels soaking temperature is approximately 2200</a:t>
            </a:r>
            <a:r>
              <a:rPr altLang="en-US" baseline="30000" sz="3200" lang="en-US">
                <a:solidFill>
                  <a:srgbClr val="003399"/>
                </a:solidFill>
              </a:rPr>
              <a:t>0</a:t>
            </a:r>
            <a:r>
              <a:rPr altLang="en-US" sz="3200" lang="en-US">
                <a:solidFill>
                  <a:srgbClr val="003399"/>
                </a:solidFill>
              </a:rPr>
              <a:t>F (l200</a:t>
            </a:r>
            <a:r>
              <a:rPr altLang="en-US" baseline="30000" sz="3200" lang="en-US">
                <a:solidFill>
                  <a:srgbClr val="003399"/>
                </a:solidFill>
              </a:rPr>
              <a:t>0</a:t>
            </a:r>
            <a:r>
              <a:rPr altLang="en-US" sz="3200" lang="en-US">
                <a:solidFill>
                  <a:srgbClr val="003399"/>
                </a:solidFill>
              </a:rPr>
              <a:t>C)</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1">
  <p:cSld>
    <p:spTree>
      <p:nvGrpSpPr>
        <p:cNvPr id="79" name=""/>
        <p:cNvGrpSpPr/>
        <p:nvPr/>
      </p:nvGrpSpPr>
      <p:grpSpPr>
        <a:xfrm rot="0">
          <a:off x="0" y="0"/>
          <a:ext cx="0" cy="0"/>
          <a:chOff x="0" y="0"/>
          <a:chExt cx="0" cy="0"/>
        </a:xfrm>
      </p:grpSpPr>
      <p:sp>
        <p:nvSpPr>
          <p:cNvPr id="1048614" name=""/>
          <p:cNvSpPr txBox="1"/>
          <p:nvPr/>
        </p:nvSpPr>
        <p:spPr>
          <a:xfrm rot="0">
            <a:off x="428625" y="-457200"/>
            <a:ext cx="8458200" cy="4572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atinLnBrk="1" lvl="0"/>
            <a:br/>
            <a:br/>
            <a:r>
              <a:rPr altLang="en-US" b="1" sz="2400" lang="en-US" u="sng">
                <a:solidFill>
                  <a:srgbClr val="990033"/>
                </a:solidFill>
              </a:rPr>
              <a:t>Rolling Temperatures</a:t>
            </a:r>
          </a:p>
        </p:txBody>
      </p:sp>
      <p:sp>
        <p:nvSpPr>
          <p:cNvPr id="1048615" name=""/>
          <p:cNvSpPr txBox="1"/>
          <p:nvPr/>
        </p:nvSpPr>
        <p:spPr>
          <a:xfrm rot="0">
            <a:off x="214312" y="714375"/>
            <a:ext cx="9144000" cy="63246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indent="-349250" latinLnBrk="1" lvl="0" marL="349250">
              <a:lnSpc>
                <a:spcPct val="110000"/>
              </a:lnSpc>
              <a:spcBef>
                <a:spcPct val="20000"/>
              </a:spcBef>
              <a:buFontTx/>
              <a:buChar char="•"/>
            </a:pPr>
            <a:r>
              <a:rPr altLang="en-US" sz="2800" lang="en-US">
                <a:solidFill>
                  <a:srgbClr val="006600"/>
                </a:solidFill>
              </a:rPr>
              <a:t>For smaller cross sections, induction coils may be used to heat material for rolling</a:t>
            </a:r>
          </a:p>
          <a:p>
            <a:pPr algn="just" eaLnBrk="1" hangingPunct="1" indent="-349250" latinLnBrk="1" lvl="0" marL="349250">
              <a:lnSpc>
                <a:spcPct val="110000"/>
              </a:lnSpc>
              <a:spcBef>
                <a:spcPct val="20000"/>
              </a:spcBef>
              <a:buFontTx/>
              <a:buChar char="•"/>
            </a:pPr>
            <a:r>
              <a:rPr altLang="en-US" sz="2800" lang="en-US">
                <a:solidFill>
                  <a:srgbClr val="003399"/>
                </a:solidFill>
              </a:rPr>
              <a:t>Hot rolling is usually terminated when temperature falls to about 100 to 200</a:t>
            </a:r>
            <a:r>
              <a:rPr altLang="en-US" baseline="30000" sz="2800" lang="en-US">
                <a:solidFill>
                  <a:srgbClr val="003399"/>
                </a:solidFill>
              </a:rPr>
              <a:t>0</a:t>
            </a:r>
            <a:r>
              <a:rPr altLang="en-US" sz="2800" lang="en-US">
                <a:solidFill>
                  <a:srgbClr val="003399"/>
                </a:solidFill>
              </a:rPr>
              <a:t>F (50 to 100°C) above the recrystallization temperature of  material</a:t>
            </a:r>
          </a:p>
          <a:p>
            <a:pPr algn="just" eaLnBrk="1" hangingPunct="1" indent="-349250" latinLnBrk="1" lvl="0" marL="349250">
              <a:lnSpc>
                <a:spcPct val="110000"/>
              </a:lnSpc>
              <a:spcBef>
                <a:spcPct val="20000"/>
              </a:spcBef>
              <a:buFontTx/>
              <a:buChar char="•"/>
            </a:pPr>
            <a:r>
              <a:rPr altLang="en-US" sz="2800" lang="en-US">
                <a:solidFill>
                  <a:srgbClr val="006600"/>
                </a:solidFill>
              </a:rPr>
              <a:t>Finishing temperature assures the production of a uniform fine grain size and prevents possibility of unwanted hardening</a:t>
            </a:r>
          </a:p>
          <a:p>
            <a:pPr algn="just" eaLnBrk="1" hangingPunct="1" indent="-349250" latinLnBrk="1" lvl="0" marL="349250">
              <a:lnSpc>
                <a:spcPct val="110000"/>
              </a:lnSpc>
              <a:spcBef>
                <a:spcPct val="20000"/>
              </a:spcBef>
              <a:buFontTx/>
              <a:buChar char="•"/>
            </a:pPr>
            <a:r>
              <a:rPr altLang="en-US" sz="2800" lang="en-US">
                <a:solidFill>
                  <a:srgbClr val="003399"/>
                </a:solidFill>
              </a:rPr>
              <a:t>Before additional deformation, a period of reheating is required to reestablish desirable hot-working conditions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1">
  <p:cSld>
    <p:spTree>
      <p:nvGrpSpPr>
        <p:cNvPr id="80" name=""/>
        <p:cNvGrpSpPr/>
        <p:nvPr/>
      </p:nvGrpSpPr>
      <p:grpSpPr>
        <a:xfrm rot="0">
          <a:off x="0" y="0"/>
          <a:ext cx="0" cy="0"/>
          <a:chOff x="0" y="0"/>
          <a:chExt cx="0" cy="0"/>
        </a:xfrm>
      </p:grpSpPr>
      <p:pic>
        <p:nvPicPr>
          <p:cNvPr id="2097154" name="" descr="scan0003"/>
          <p:cNvPicPr>
            <a:picLocks/>
          </p:cNvPicPr>
          <p:nvPr/>
        </p:nvPicPr>
        <p:blipFill>
          <a:blip xmlns:r="http://schemas.openxmlformats.org/officeDocument/2006/relationships" r:embed="rId1">
            <a:lum bright="-36000" contrast="54000"/>
          </a:blip>
          <a:srcRect l="17500" t="7092" r="11667" b="0"/>
          <a:stretch>
            <a:fillRect/>
          </a:stretch>
        </p:blipFill>
        <p:spPr>
          <a:xfrm rot="0">
            <a:off x="0" y="0"/>
            <a:ext cx="9144000" cy="6781800"/>
          </a:xfrm>
          <a:prstGeom prst="rect"/>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1">
  <p:cSld>
    <p:spTree>
      <p:nvGrpSpPr>
        <p:cNvPr id="81" name=""/>
        <p:cNvGrpSpPr/>
        <p:nvPr/>
      </p:nvGrpSpPr>
      <p:grpSpPr>
        <a:xfrm rot="0">
          <a:off x="0" y="0"/>
          <a:ext cx="0" cy="0"/>
          <a:chOff x="0" y="0"/>
          <a:chExt cx="0" cy="0"/>
        </a:xfrm>
      </p:grpSpPr>
      <p:sp>
        <p:nvSpPr>
          <p:cNvPr id="1048616" name=""/>
          <p:cNvSpPr txBox="1"/>
          <p:nvPr/>
        </p:nvSpPr>
        <p:spPr>
          <a:xfrm rot="0">
            <a:off x="533400" y="0"/>
            <a:ext cx="8458200" cy="4572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atinLnBrk="1" lvl="0"/>
            <a:r>
              <a:rPr altLang="en-US" b="1" sz="2400" lang="en-US">
                <a:solidFill>
                  <a:srgbClr val="990033"/>
                </a:solidFill>
              </a:rPr>
              <a:t>Rolling Mill Configurations</a:t>
            </a:r>
          </a:p>
        </p:txBody>
      </p:sp>
      <p:sp>
        <p:nvSpPr>
          <p:cNvPr id="1048617" name=""/>
          <p:cNvSpPr txBox="1"/>
          <p:nvPr/>
        </p:nvSpPr>
        <p:spPr>
          <a:xfrm rot="0">
            <a:off x="0" y="533400"/>
            <a:ext cx="9144000" cy="63246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indent="-349250" latinLnBrk="1" lvl="0" marL="349250">
              <a:spcBef>
                <a:spcPct val="20000"/>
              </a:spcBef>
              <a:buFontTx/>
              <a:buChar char="•"/>
            </a:pPr>
            <a:r>
              <a:rPr altLang="en-US" sz="3200" lang="en-US">
                <a:solidFill>
                  <a:srgbClr val="003399"/>
                </a:solidFill>
              </a:rPr>
              <a:t>Rolling mill stands are available in a variety of roll configurations. </a:t>
            </a:r>
          </a:p>
          <a:p>
            <a:pPr algn="just" eaLnBrk="1" hangingPunct="1" indent="-349250" latinLnBrk="1" lvl="0" marL="349250">
              <a:spcBef>
                <a:spcPct val="20000"/>
              </a:spcBef>
              <a:buFontTx/>
              <a:buChar char="•"/>
            </a:pPr>
            <a:r>
              <a:rPr altLang="en-US" sz="3200" lang="en-US" u="sng">
                <a:solidFill>
                  <a:srgbClr val="006600"/>
                </a:solidFill>
              </a:rPr>
              <a:t>Early reductions</a:t>
            </a:r>
            <a:r>
              <a:rPr altLang="en-US" sz="3200" lang="en-US">
                <a:solidFill>
                  <a:srgbClr val="006600"/>
                </a:solidFill>
              </a:rPr>
              <a:t> (often called primary roughing or breakdown passes), employ  two- or three-high configuration with 24- to 55-in. (600- to 1400-mm) diameter rolls</a:t>
            </a:r>
          </a:p>
          <a:p>
            <a:pPr algn="just" eaLnBrk="1" hangingPunct="1" indent="-349250" latinLnBrk="1" lvl="0" marL="349250">
              <a:spcBef>
                <a:spcPct val="20000"/>
              </a:spcBef>
              <a:buFontTx/>
              <a:buChar char="•"/>
            </a:pPr>
            <a:r>
              <a:rPr altLang="en-US" sz="3200" lang="en-US" u="sng">
                <a:solidFill>
                  <a:srgbClr val="003399"/>
                </a:solidFill>
              </a:rPr>
              <a:t>Two-high non-reversing mill</a:t>
            </a:r>
            <a:r>
              <a:rPr altLang="en-US" sz="3200" lang="en-US">
                <a:solidFill>
                  <a:srgbClr val="003399"/>
                </a:solidFill>
              </a:rPr>
              <a:t> simplest design  from which material can only pass in one direction</a:t>
            </a:r>
          </a:p>
          <a:p>
            <a:pPr algn="just" eaLnBrk="1" hangingPunct="1" indent="-349250" latinLnBrk="1" lvl="0" marL="349250">
              <a:spcBef>
                <a:spcPct val="20000"/>
              </a:spcBef>
              <a:buFontTx/>
              <a:buChar char="•"/>
            </a:pPr>
            <a:r>
              <a:rPr altLang="en-US" sz="3200" lang="en-US" u="sng">
                <a:solidFill>
                  <a:srgbClr val="006600"/>
                </a:solidFill>
              </a:rPr>
              <a:t>Two-high reversing mill</a:t>
            </a:r>
            <a:r>
              <a:rPr altLang="en-US" sz="3200" lang="en-US">
                <a:solidFill>
                  <a:srgbClr val="006600"/>
                </a:solidFill>
              </a:rPr>
              <a:t> permits back-and-forth rolling, rolls may stop, reversed, and brought back to rolling speed between each pass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1">
  <p:cSld>
    <p:spTree>
      <p:nvGrpSpPr>
        <p:cNvPr id="82" name=""/>
        <p:cNvGrpSpPr/>
        <p:nvPr/>
      </p:nvGrpSpPr>
      <p:grpSpPr>
        <a:xfrm rot="0">
          <a:off x="0" y="0"/>
          <a:ext cx="0" cy="0"/>
          <a:chOff x="0" y="0"/>
          <a:chExt cx="0" cy="0"/>
        </a:xfrm>
      </p:grpSpPr>
      <p:sp>
        <p:nvSpPr>
          <p:cNvPr id="1048618" name=""/>
          <p:cNvSpPr txBox="1"/>
          <p:nvPr/>
        </p:nvSpPr>
        <p:spPr>
          <a:xfrm rot="0">
            <a:off x="533400" y="0"/>
            <a:ext cx="8458200" cy="4572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atinLnBrk="1" lvl="0"/>
            <a:r>
              <a:rPr altLang="en-US" b="1" sz="2400" lang="en-US">
                <a:solidFill>
                  <a:srgbClr val="990033"/>
                </a:solidFill>
              </a:rPr>
              <a:t>Rolling Mill Configurations</a:t>
            </a:r>
          </a:p>
        </p:txBody>
      </p:sp>
      <p:sp>
        <p:nvSpPr>
          <p:cNvPr id="1048619" name=""/>
          <p:cNvSpPr txBox="1"/>
          <p:nvPr/>
        </p:nvSpPr>
        <p:spPr>
          <a:xfrm rot="0">
            <a:off x="0" y="533400"/>
            <a:ext cx="9144000" cy="63246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indent="-349250" latinLnBrk="1" lvl="0" marL="349250">
              <a:spcBef>
                <a:spcPct val="20000"/>
              </a:spcBef>
              <a:buFontTx/>
              <a:buChar char="•"/>
            </a:pPr>
            <a:r>
              <a:rPr altLang="en-US" sz="3200" lang="en-US" u="sng">
                <a:solidFill>
                  <a:srgbClr val="003399"/>
                </a:solidFill>
              </a:rPr>
              <a:t>The three-high mill</a:t>
            </a:r>
            <a:r>
              <a:rPr altLang="en-US" sz="3200" lang="en-US">
                <a:solidFill>
                  <a:srgbClr val="003399"/>
                </a:solidFill>
              </a:rPr>
              <a:t> eliminates need for roll reversal but requires some form of elevator on each side of  mill to raise or lower material and mechanical manipulators to turn or shift product between passes</a:t>
            </a:r>
          </a:p>
          <a:p>
            <a:pPr algn="just" eaLnBrk="1" hangingPunct="1" indent="-336550" latinLnBrk="1" lvl="1" marL="800100">
              <a:spcBef>
                <a:spcPct val="20000"/>
              </a:spcBef>
              <a:buFontTx/>
              <a:buChar char="–"/>
            </a:pPr>
            <a:r>
              <a:rPr altLang="en-US" sz="3200" lang="en-US">
                <a:solidFill>
                  <a:srgbClr val="006600"/>
                </a:solidFill>
              </a:rPr>
              <a:t>smaller-diameter rolls produce less length of contact for a given reduction and therefore require lower force and less energy to produce a given change in shape</a:t>
            </a:r>
          </a:p>
          <a:p>
            <a:pPr algn="just" eaLnBrk="1" hangingPunct="1" indent="-336550" latinLnBrk="1" lvl="1" marL="800100">
              <a:spcBef>
                <a:spcPct val="20000"/>
              </a:spcBef>
              <a:buFontTx/>
              <a:buChar char="–"/>
            </a:pPr>
            <a:r>
              <a:rPr altLang="en-US" sz="3200" lang="en-US">
                <a:solidFill>
                  <a:srgbClr val="003399"/>
                </a:solidFill>
              </a:rPr>
              <a:t>smaller cross section, however, provides reduced stiffness and pressed apart  by the metal passing through the middle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1">
  <p:cSld>
    <p:spTree>
      <p:nvGrpSpPr>
        <p:cNvPr id="83" name=""/>
        <p:cNvGrpSpPr/>
        <p:nvPr/>
      </p:nvGrpSpPr>
      <p:grpSpPr>
        <a:xfrm rot="0">
          <a:off x="0" y="0"/>
          <a:ext cx="0" cy="0"/>
          <a:chOff x="0" y="0"/>
          <a:chExt cx="0" cy="0"/>
        </a:xfrm>
      </p:grpSpPr>
      <p:pic>
        <p:nvPicPr>
          <p:cNvPr id="2097155" name="" descr="scan0003"/>
          <p:cNvPicPr>
            <a:picLocks/>
          </p:cNvPicPr>
          <p:nvPr/>
        </p:nvPicPr>
        <p:blipFill>
          <a:blip xmlns:r="http://schemas.openxmlformats.org/officeDocument/2006/relationships" r:embed="rId1">
            <a:lum bright="-36000" contrast="54000"/>
          </a:blip>
          <a:srcRect l="17500" t="7092" r="11667" b="0"/>
          <a:stretch>
            <a:fillRect/>
          </a:stretch>
        </p:blipFill>
        <p:spPr>
          <a:xfrm rot="0">
            <a:off x="0" y="0"/>
            <a:ext cx="9144000" cy="6781800"/>
          </a:xfrm>
          <a:prstGeom prst="rect"/>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1">
  <p:cSld>
    <p:spTree>
      <p:nvGrpSpPr>
        <p:cNvPr id="84" name=""/>
        <p:cNvGrpSpPr/>
        <p:nvPr/>
      </p:nvGrpSpPr>
      <p:grpSpPr>
        <a:xfrm rot="0">
          <a:off x="0" y="0"/>
          <a:ext cx="0" cy="0"/>
          <a:chOff x="0" y="0"/>
          <a:chExt cx="0" cy="0"/>
        </a:xfrm>
      </p:grpSpPr>
      <p:sp>
        <p:nvSpPr>
          <p:cNvPr id="1048620" name=""/>
          <p:cNvSpPr txBox="1"/>
          <p:nvPr/>
        </p:nvSpPr>
        <p:spPr>
          <a:xfrm rot="0">
            <a:off x="533400" y="0"/>
            <a:ext cx="8458200" cy="4572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atinLnBrk="1" lvl="0"/>
            <a:r>
              <a:rPr altLang="en-US" b="1" sz="2400" lang="en-US">
                <a:solidFill>
                  <a:srgbClr val="990033"/>
                </a:solidFill>
              </a:rPr>
              <a:t>Rolling Mill Configurations</a:t>
            </a:r>
          </a:p>
        </p:txBody>
      </p:sp>
      <p:sp>
        <p:nvSpPr>
          <p:cNvPr id="1048621" name=""/>
          <p:cNvSpPr txBox="1"/>
          <p:nvPr/>
        </p:nvSpPr>
        <p:spPr>
          <a:xfrm rot="0">
            <a:off x="0" y="533400"/>
            <a:ext cx="9144000" cy="63246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indent="-349250" latinLnBrk="1" lvl="0" marL="349250">
              <a:lnSpc>
                <a:spcPct val="110000"/>
              </a:lnSpc>
              <a:spcBef>
                <a:spcPct val="20000"/>
              </a:spcBef>
              <a:buFontTx/>
              <a:buChar char="•"/>
            </a:pPr>
            <a:r>
              <a:rPr altLang="en-US" sz="3200" lang="en-US" u="sng">
                <a:solidFill>
                  <a:srgbClr val="003399"/>
                </a:solidFill>
              </a:rPr>
              <a:t>Four-high and cluster arrangements</a:t>
            </a:r>
            <a:r>
              <a:rPr altLang="en-US" sz="3200" lang="en-US">
                <a:solidFill>
                  <a:srgbClr val="003399"/>
                </a:solidFill>
              </a:rPr>
              <a:t> use  backup rolls to support the smaller work rolls</a:t>
            </a:r>
          </a:p>
          <a:p>
            <a:pPr algn="just" eaLnBrk="1" hangingPunct="1" indent="-336550" latinLnBrk="1" lvl="1" marL="800100">
              <a:lnSpc>
                <a:spcPct val="110000"/>
              </a:lnSpc>
              <a:spcBef>
                <a:spcPct val="20000"/>
              </a:spcBef>
              <a:buFontTx/>
              <a:buChar char="–"/>
            </a:pPr>
            <a:r>
              <a:rPr altLang="en-US" sz="3200" lang="en-US">
                <a:solidFill>
                  <a:srgbClr val="003399"/>
                </a:solidFill>
              </a:rPr>
              <a:t>used in hot rolling of wide plate and sheets, and in cold rolling, where small negligence would result in an unacceptable variation in product thickness</a:t>
            </a:r>
          </a:p>
          <a:p>
            <a:pPr algn="just" eaLnBrk="1" hangingPunct="1" indent="-336550" latinLnBrk="1" lvl="1" marL="800100">
              <a:lnSpc>
                <a:spcPct val="110000"/>
              </a:lnSpc>
              <a:spcBef>
                <a:spcPct val="20000"/>
              </a:spcBef>
              <a:buFontTx/>
              <a:buChar char="–"/>
            </a:pPr>
            <a:r>
              <a:rPr altLang="en-US" sz="3200" lang="en-US">
                <a:solidFill>
                  <a:srgbClr val="006600"/>
                </a:solidFill>
              </a:rPr>
              <a:t>Foil is rolled on </a:t>
            </a:r>
            <a:r>
              <a:rPr altLang="en-US" b="1" sz="3200" i="1" lang="en-US">
                <a:solidFill>
                  <a:srgbClr val="006600"/>
                </a:solidFill>
              </a:rPr>
              <a:t>cluster mills</a:t>
            </a:r>
            <a:r>
              <a:rPr altLang="en-US" sz="3200" i="1" lang="en-US">
                <a:solidFill>
                  <a:srgbClr val="006600"/>
                </a:solidFill>
              </a:rPr>
              <a:t> </a:t>
            </a:r>
            <a:r>
              <a:rPr altLang="en-US" sz="3200" lang="en-US">
                <a:solidFill>
                  <a:srgbClr val="006600"/>
                </a:solidFill>
              </a:rPr>
              <a:t>since small thickness requires small-diameter rolls</a:t>
            </a:r>
          </a:p>
          <a:p>
            <a:pPr algn="just" eaLnBrk="1" hangingPunct="1" indent="-336550" latinLnBrk="1" lvl="1" marL="800100">
              <a:lnSpc>
                <a:spcPct val="110000"/>
              </a:lnSpc>
              <a:spcBef>
                <a:spcPct val="20000"/>
              </a:spcBef>
              <a:buFontTx/>
              <a:buChar char="–"/>
            </a:pPr>
            <a:r>
              <a:rPr altLang="en-US" sz="3200" lang="en-US">
                <a:solidFill>
                  <a:srgbClr val="003399"/>
                </a:solidFill>
              </a:rPr>
              <a:t>In a cluster mill, the roll in contact with the work can be as small as 1/4</a:t>
            </a:r>
            <a:r>
              <a:rPr altLang="en-US" b="1" sz="3200" lang="en-US">
                <a:solidFill>
                  <a:srgbClr val="003399"/>
                </a:solidFill>
              </a:rPr>
              <a:t> in.</a:t>
            </a:r>
            <a:r>
              <a:rPr altLang="en-US" sz="3200" lang="en-US">
                <a:solidFill>
                  <a:srgbClr val="003399"/>
                </a:solidFill>
              </a:rPr>
              <a:t> in  diameter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1">
  <p:cSld>
    <p:spTree>
      <p:nvGrpSpPr>
        <p:cNvPr id="85" name=""/>
        <p:cNvGrpSpPr/>
        <p:nvPr/>
      </p:nvGrpSpPr>
      <p:grpSpPr>
        <a:xfrm rot="0">
          <a:off x="0" y="0"/>
          <a:ext cx="0" cy="0"/>
          <a:chOff x="0" y="0"/>
          <a:chExt cx="0" cy="0"/>
        </a:xfrm>
      </p:grpSpPr>
      <p:sp>
        <p:nvSpPr>
          <p:cNvPr id="1048622" name=""/>
          <p:cNvSpPr txBox="1"/>
          <p:nvPr/>
        </p:nvSpPr>
        <p:spPr>
          <a:xfrm rot="0">
            <a:off x="533400" y="0"/>
            <a:ext cx="8458200" cy="4572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atinLnBrk="1" lvl="0"/>
            <a:r>
              <a:rPr altLang="en-US" b="1" sz="2400" lang="en-US">
                <a:solidFill>
                  <a:srgbClr val="990033"/>
                </a:solidFill>
              </a:rPr>
              <a:t>Rolling Mill Configurations</a:t>
            </a:r>
          </a:p>
        </p:txBody>
      </p:sp>
      <p:sp>
        <p:nvSpPr>
          <p:cNvPr id="1048623" name=""/>
          <p:cNvSpPr txBox="1"/>
          <p:nvPr/>
        </p:nvSpPr>
        <p:spPr>
          <a:xfrm rot="0">
            <a:off x="0" y="533400"/>
            <a:ext cx="9144000" cy="63246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indent="-336550" latinLnBrk="1" lvl="1" marL="800100">
              <a:spcBef>
                <a:spcPct val="20000"/>
              </a:spcBef>
              <a:buFontTx/>
              <a:buChar char="–"/>
            </a:pPr>
            <a:r>
              <a:rPr altLang="en-US" b="1" sz="3200" i="1" lang="en-US" u="sng">
                <a:solidFill>
                  <a:srgbClr val="006600"/>
                </a:solidFill>
              </a:rPr>
              <a:t>Pack Rolling</a:t>
            </a:r>
            <a:r>
              <a:rPr altLang="en-US" sz="3200" i="1" lang="en-US">
                <a:solidFill>
                  <a:srgbClr val="006600"/>
                </a:solidFill>
              </a:rPr>
              <a:t>, </a:t>
            </a:r>
            <a:r>
              <a:rPr altLang="en-US" sz="3200" lang="en-US">
                <a:solidFill>
                  <a:srgbClr val="006600"/>
                </a:solidFill>
              </a:rPr>
              <a:t>a process where two or more layers of metal are rolled simultaneously as a means of providing a thicker input material</a:t>
            </a:r>
          </a:p>
          <a:p>
            <a:pPr algn="just" eaLnBrk="1" hangingPunct="1" indent="-336550" latinLnBrk="1" lvl="1" marL="800100">
              <a:spcBef>
                <a:spcPct val="20000"/>
              </a:spcBef>
              <a:buFontTx/>
              <a:buChar char="–"/>
            </a:pPr>
            <a:r>
              <a:rPr altLang="en-US" sz="3200" lang="en-US">
                <a:solidFill>
                  <a:srgbClr val="003399"/>
                </a:solidFill>
              </a:rPr>
              <a:t>Household aluminum foil is usually pack rolled, as evidenced by the one shiny side (in contact with the roll) and one dull side (in contact with the other piece of foil)</a:t>
            </a:r>
          </a:p>
          <a:p>
            <a:pPr algn="just" eaLnBrk="1" hangingPunct="1" indent="-336550" latinLnBrk="1" lvl="1" marL="800100">
              <a:spcBef>
                <a:spcPct val="20000"/>
              </a:spcBef>
              <a:buFontTx/>
              <a:buChar char="–"/>
            </a:pPr>
            <a:r>
              <a:rPr altLang="en-US" sz="3200" lang="en-US">
                <a:solidFill>
                  <a:srgbClr val="006600"/>
                </a:solidFill>
              </a:rPr>
              <a:t>In rolling of non-flat or shaped products, such as structural shapes and railroad rail, the sets of rolls contain contoured grooves that sequentially form desired shape, cross section and control  metal flow</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1">
  <p:cSld>
    <p:spTree>
      <p:nvGrpSpPr>
        <p:cNvPr id="86" name=""/>
        <p:cNvGrpSpPr/>
        <p:nvPr/>
      </p:nvGrpSpPr>
      <p:grpSpPr>
        <a:xfrm rot="0">
          <a:off x="0" y="0"/>
          <a:ext cx="0" cy="0"/>
          <a:chOff x="0" y="0"/>
          <a:chExt cx="0" cy="0"/>
        </a:xfrm>
      </p:grpSpPr>
      <p:pic>
        <p:nvPicPr>
          <p:cNvPr id="2097156" name="" descr="scan0005"/>
          <p:cNvPicPr>
            <a:picLocks/>
          </p:cNvPicPr>
          <p:nvPr/>
        </p:nvPicPr>
        <p:blipFill>
          <a:blip xmlns:r="http://schemas.openxmlformats.org/officeDocument/2006/relationships" r:embed="rId1">
            <a:lum bright="-36000" contrast="42000"/>
          </a:blip>
          <a:srcRect l="0" t="12085" r="8850" b="0"/>
          <a:stretch>
            <a:fillRect/>
          </a:stretch>
        </p:blipFill>
        <p:spPr>
          <a:xfrm rot="0">
            <a:off x="304800" y="0"/>
            <a:ext cx="8839200" cy="6867525"/>
          </a:xfrm>
          <a:prstGeom prst="rect"/>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1">
  <p:cSld>
    <p:spTree>
      <p:nvGrpSpPr>
        <p:cNvPr id="87" name=""/>
        <p:cNvGrpSpPr/>
        <p:nvPr/>
      </p:nvGrpSpPr>
      <p:grpSpPr>
        <a:xfrm rot="0">
          <a:off x="0" y="0"/>
          <a:ext cx="0" cy="0"/>
          <a:chOff x="0" y="0"/>
          <a:chExt cx="0" cy="0"/>
        </a:xfrm>
      </p:grpSpPr>
      <p:sp>
        <p:nvSpPr>
          <p:cNvPr id="1048624" name=""/>
          <p:cNvSpPr txBox="1"/>
          <p:nvPr/>
        </p:nvSpPr>
        <p:spPr>
          <a:xfrm rot="0">
            <a:off x="381000" y="0"/>
            <a:ext cx="8458200" cy="5334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atinLnBrk="1" lvl="0"/>
            <a:r>
              <a:rPr altLang="en-US" b="1" sz="2800" lang="en-US" u="sng">
                <a:solidFill>
                  <a:srgbClr val="990033"/>
                </a:solidFill>
              </a:rPr>
              <a:t>Continuous Rolling Mills</a:t>
            </a:r>
          </a:p>
        </p:txBody>
      </p:sp>
      <p:sp>
        <p:nvSpPr>
          <p:cNvPr id="1048625" name=""/>
          <p:cNvSpPr txBox="1"/>
          <p:nvPr/>
        </p:nvSpPr>
        <p:spPr>
          <a:xfrm rot="0">
            <a:off x="0" y="533400"/>
            <a:ext cx="9144000" cy="64008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indent="-342900" latinLnBrk="1" lvl="0" marL="342900">
              <a:spcBef>
                <a:spcPct val="20000"/>
              </a:spcBef>
              <a:buFontTx/>
              <a:buChar char="•"/>
            </a:pPr>
            <a:r>
              <a:rPr altLang="en-US" sz="3200" lang="en-US">
                <a:solidFill>
                  <a:srgbClr val="003399"/>
                </a:solidFill>
              </a:rPr>
              <a:t>When the volume of a product justifies investment, it may be rolled on a continuous rolling mill. </a:t>
            </a:r>
          </a:p>
          <a:p>
            <a:pPr algn="just" eaLnBrk="1" hangingPunct="1" indent="-480060" latinLnBrk="1" lvl="1" marL="800100">
              <a:spcBef>
                <a:spcPct val="20000"/>
              </a:spcBef>
              <a:buFontTx/>
              <a:buChar char="–"/>
            </a:pPr>
            <a:r>
              <a:rPr altLang="en-US" sz="3200" lang="en-US">
                <a:solidFill>
                  <a:srgbClr val="006600"/>
                </a:solidFill>
              </a:rPr>
              <a:t>Billets, blooms, or slabs are heated and fed through an integrated series of non-reversing stands</a:t>
            </a:r>
          </a:p>
          <a:p>
            <a:pPr algn="just" eaLnBrk="1" hangingPunct="1" indent="-480060" latinLnBrk="1" lvl="1" marL="800100">
              <a:spcBef>
                <a:spcPct val="20000"/>
              </a:spcBef>
              <a:buFontTx/>
              <a:buChar char="–"/>
            </a:pPr>
            <a:r>
              <a:rPr altLang="en-US" sz="3200" lang="en-US">
                <a:solidFill>
                  <a:srgbClr val="003399"/>
                </a:solidFill>
              </a:rPr>
              <a:t>Continuous mills for the hot rolling of steel strip, for example, often consist of a roughing train of approximately four four-high mill stands and a finishing train of six or seven additional four-high stands.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1">
  <p:cSld>
    <p:spTree>
      <p:nvGrpSpPr>
        <p:cNvPr id="88" name=""/>
        <p:cNvGrpSpPr/>
        <p:nvPr/>
      </p:nvGrpSpPr>
      <p:grpSpPr>
        <a:xfrm rot="0">
          <a:off x="0" y="0"/>
          <a:ext cx="0" cy="0"/>
          <a:chOff x="0" y="0"/>
          <a:chExt cx="0" cy="0"/>
        </a:xfrm>
      </p:grpSpPr>
      <p:sp>
        <p:nvSpPr>
          <p:cNvPr id="1048626" name=""/>
          <p:cNvSpPr txBox="1"/>
          <p:nvPr/>
        </p:nvSpPr>
        <p:spPr>
          <a:xfrm rot="0">
            <a:off x="381000" y="0"/>
            <a:ext cx="8458200" cy="5334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atinLnBrk="1" lvl="0"/>
            <a:r>
              <a:rPr altLang="en-US" b="1" sz="2800" lang="en-US" u="sng">
                <a:solidFill>
                  <a:srgbClr val="990033"/>
                </a:solidFill>
              </a:rPr>
              <a:t>Continuous Rolling Mills</a:t>
            </a:r>
          </a:p>
        </p:txBody>
      </p:sp>
      <p:sp>
        <p:nvSpPr>
          <p:cNvPr id="1048627" name=""/>
          <p:cNvSpPr txBox="1"/>
          <p:nvPr/>
        </p:nvSpPr>
        <p:spPr>
          <a:xfrm rot="0">
            <a:off x="0" y="533400"/>
            <a:ext cx="9144000" cy="64008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indent="-480060" latinLnBrk="1" lvl="1" marL="800100">
              <a:lnSpc>
                <a:spcPct val="120000"/>
              </a:lnSpc>
              <a:spcBef>
                <a:spcPct val="20000"/>
              </a:spcBef>
              <a:buFontTx/>
              <a:buChar char="–"/>
            </a:pPr>
            <a:r>
              <a:rPr altLang="en-US" sz="3200" lang="en-US">
                <a:solidFill>
                  <a:srgbClr val="006600"/>
                </a:solidFill>
              </a:rPr>
              <a:t>In a continuous structural mill, the rolls in each stand contain only one set of shaped grooves, in contrast to the multi-grooved rolls used when the product is produced by back-and-forth passes through a single stand. </a:t>
            </a:r>
          </a:p>
          <a:p>
            <a:pPr algn="just" eaLnBrk="1" hangingPunct="1" indent="-480060" latinLnBrk="1" lvl="1" marL="800100">
              <a:lnSpc>
                <a:spcPct val="120000"/>
              </a:lnSpc>
              <a:spcBef>
                <a:spcPct val="20000"/>
              </a:spcBef>
              <a:buFontTx/>
              <a:buChar char="–"/>
            </a:pPr>
            <a:r>
              <a:rPr altLang="en-US" sz="3200" lang="en-US">
                <a:solidFill>
                  <a:srgbClr val="003399"/>
                </a:solidFill>
              </a:rPr>
              <a:t>In a continuous rolling mill, same amount of material must pass through each stand in a given period of time.</a:t>
            </a:r>
          </a:p>
          <a:p>
            <a:pPr algn="just" eaLnBrk="1" hangingPunct="1" indent="-480060" latinLnBrk="1" lvl="1" marL="800100">
              <a:lnSpc>
                <a:spcPct val="120000"/>
              </a:lnSpc>
              <a:spcBef>
                <a:spcPct val="20000"/>
              </a:spcBef>
              <a:buFontTx/>
              <a:buChar char="–"/>
            </a:pPr>
            <a:r>
              <a:rPr altLang="en-US" sz="3200" lang="en-US">
                <a:solidFill>
                  <a:srgbClr val="006600"/>
                </a:solidFill>
              </a:rPr>
              <a:t>If cross section is reduced, speed must be increased proportionately.</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1">
  <p:cSld>
    <p:spTree>
      <p:nvGrpSpPr>
        <p:cNvPr id="89" name=""/>
        <p:cNvGrpSpPr/>
        <p:nvPr/>
      </p:nvGrpSpPr>
      <p:grpSpPr>
        <a:xfrm rot="0">
          <a:off x="0" y="0"/>
          <a:ext cx="0" cy="0"/>
          <a:chOff x="0" y="0"/>
          <a:chExt cx="0" cy="0"/>
        </a:xfrm>
      </p:grpSpPr>
      <p:sp>
        <p:nvSpPr>
          <p:cNvPr id="1048628" name=""/>
          <p:cNvSpPr txBox="1"/>
          <p:nvPr/>
        </p:nvSpPr>
        <p:spPr>
          <a:xfrm rot="0">
            <a:off x="381000" y="0"/>
            <a:ext cx="8458200" cy="6096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atinLnBrk="1" lvl="0"/>
            <a:r>
              <a:rPr altLang="en-US" b="1" sz="2800" lang="en-US" u="sng">
                <a:solidFill>
                  <a:srgbClr val="990033"/>
                </a:solidFill>
              </a:rPr>
              <a:t>Continuous Rolling Mills</a:t>
            </a:r>
          </a:p>
        </p:txBody>
      </p:sp>
      <p:sp>
        <p:nvSpPr>
          <p:cNvPr id="1048629" name=""/>
          <p:cNvSpPr txBox="1"/>
          <p:nvPr/>
        </p:nvSpPr>
        <p:spPr>
          <a:xfrm rot="0">
            <a:off x="0" y="838200"/>
            <a:ext cx="9144000" cy="58674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indent="-285750" latinLnBrk="1" lvl="1" marL="628650">
              <a:lnSpc>
                <a:spcPct val="140000"/>
              </a:lnSpc>
              <a:spcBef>
                <a:spcPct val="20000"/>
              </a:spcBef>
              <a:buFontTx/>
              <a:buChar char="–"/>
            </a:pPr>
            <a:r>
              <a:rPr altLang="en-US" sz="2800" lang="en-US">
                <a:solidFill>
                  <a:srgbClr val="003399"/>
                </a:solidFill>
              </a:rPr>
              <a:t>Thus rolls of each successive stand must turn faster than those of  preceding one by an amount equal to change in cross-sectional area</a:t>
            </a:r>
          </a:p>
          <a:p>
            <a:pPr algn="just" eaLnBrk="1" hangingPunct="1" indent="-285750" latinLnBrk="1" lvl="1" marL="628650">
              <a:lnSpc>
                <a:spcPct val="140000"/>
              </a:lnSpc>
              <a:spcBef>
                <a:spcPct val="20000"/>
              </a:spcBef>
              <a:buFontTx/>
              <a:buChar char="–"/>
            </a:pPr>
            <a:r>
              <a:rPr altLang="en-US" sz="2800" lang="en-US">
                <a:solidFill>
                  <a:srgbClr val="006600"/>
                </a:solidFill>
              </a:rPr>
              <a:t>If this synchronization is not maintained, material may accumulate between stands, or demand for incoming material may place material under excessive tension, and cause a tearing or rupture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1">
  <p:cSld>
    <p:spTree>
      <p:nvGrpSpPr>
        <p:cNvPr id="90" name=""/>
        <p:cNvGrpSpPr/>
        <p:nvPr/>
      </p:nvGrpSpPr>
      <p:grpSpPr>
        <a:xfrm rot="0">
          <a:off x="0" y="0"/>
          <a:ext cx="0" cy="0"/>
          <a:chOff x="0" y="0"/>
          <a:chExt cx="0" cy="0"/>
        </a:xfrm>
      </p:grpSpPr>
      <p:sp>
        <p:nvSpPr>
          <p:cNvPr id="1048630" name=""/>
          <p:cNvSpPr txBox="1"/>
          <p:nvPr/>
        </p:nvSpPr>
        <p:spPr>
          <a:xfrm rot="0">
            <a:off x="381000" y="0"/>
            <a:ext cx="8458200" cy="6096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atinLnBrk="1" lvl="0"/>
            <a:r>
              <a:rPr altLang="en-US" b="1" sz="2800" lang="en-US" u="sng">
                <a:solidFill>
                  <a:srgbClr val="990033"/>
                </a:solidFill>
              </a:rPr>
              <a:t>Continuous Rolling Mills</a:t>
            </a:r>
          </a:p>
        </p:txBody>
      </p:sp>
      <p:sp>
        <p:nvSpPr>
          <p:cNvPr id="1048631" name=""/>
          <p:cNvSpPr txBox="1"/>
          <p:nvPr/>
        </p:nvSpPr>
        <p:spPr>
          <a:xfrm rot="0">
            <a:off x="0" y="533400"/>
            <a:ext cx="9144000" cy="63246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indent="-285750" latinLnBrk="1" lvl="1" marL="628650">
              <a:lnSpc>
                <a:spcPct val="90000"/>
              </a:lnSpc>
              <a:spcBef>
                <a:spcPct val="20000"/>
              </a:spcBef>
              <a:buFontTx/>
              <a:buChar char="–"/>
            </a:pPr>
            <a:r>
              <a:rPr altLang="en-US" sz="3200" lang="en-US">
                <a:solidFill>
                  <a:srgbClr val="003399"/>
                </a:solidFill>
              </a:rPr>
              <a:t>Synchronization of six or seven mill stands is not an easy task, especially when key variables such as temperature and lubrication may change during a single run and product may be exiting final stand at speeds in excess of 70 miles per hour (110 kilometers per hour).</a:t>
            </a:r>
          </a:p>
          <a:p>
            <a:pPr algn="just" eaLnBrk="1" hangingPunct="1" indent="-285750" latinLnBrk="1" lvl="1" marL="628650">
              <a:lnSpc>
                <a:spcPct val="90000"/>
              </a:lnSpc>
              <a:spcBef>
                <a:spcPct val="20000"/>
              </a:spcBef>
              <a:buFontTx/>
              <a:buChar char="–"/>
            </a:pPr>
            <a:endParaRPr altLang="en-US" sz="3200" lang="en-US">
              <a:solidFill>
                <a:srgbClr val="006600"/>
              </a:solidFill>
            </a:endParaRPr>
          </a:p>
          <a:p>
            <a:pPr algn="just" eaLnBrk="1" hangingPunct="1" indent="-285750" latinLnBrk="1" lvl="1" marL="628650">
              <a:lnSpc>
                <a:spcPct val="90000"/>
              </a:lnSpc>
              <a:spcBef>
                <a:spcPct val="20000"/>
              </a:spcBef>
              <a:buFontTx/>
              <a:buChar char="–"/>
            </a:pPr>
            <a:r>
              <a:rPr altLang="en-US" sz="3200" lang="en-US">
                <a:solidFill>
                  <a:srgbClr val="006600"/>
                </a:solidFill>
              </a:rPr>
              <a:t>Computer control is important to successful rolling, and modern mills are equipped with numerous sensors to provide the needed information. </a:t>
            </a:r>
          </a:p>
          <a:p>
            <a:pPr algn="just" eaLnBrk="1" hangingPunct="1" indent="-285750" latinLnBrk="1" lvl="1" marL="628650">
              <a:lnSpc>
                <a:spcPct val="90000"/>
              </a:lnSpc>
              <a:spcBef>
                <a:spcPct val="20000"/>
              </a:spcBef>
              <a:buFontTx/>
              <a:buChar char="–"/>
            </a:pPr>
            <a:endParaRPr altLang="en-US" sz="3200" lang="en-US">
              <a:solidFill>
                <a:srgbClr val="003399"/>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1">
  <p:cSld>
    <p:spTree>
      <p:nvGrpSpPr>
        <p:cNvPr id="91" name=""/>
        <p:cNvGrpSpPr/>
        <p:nvPr/>
      </p:nvGrpSpPr>
      <p:grpSpPr>
        <a:xfrm rot="0">
          <a:off x="0" y="0"/>
          <a:ext cx="0" cy="0"/>
          <a:chOff x="0" y="0"/>
          <a:chExt cx="0" cy="0"/>
        </a:xfrm>
      </p:grpSpPr>
      <p:sp>
        <p:nvSpPr>
          <p:cNvPr id="1048632" name=""/>
          <p:cNvSpPr txBox="1"/>
          <p:nvPr/>
        </p:nvSpPr>
        <p:spPr>
          <a:xfrm rot="0">
            <a:off x="381000" y="0"/>
            <a:ext cx="8458200" cy="5334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atinLnBrk="1" lvl="0"/>
            <a:r>
              <a:rPr altLang="en-US" b="1" sz="2800" lang="en-US" u="sng">
                <a:solidFill>
                  <a:srgbClr val="990033"/>
                </a:solidFill>
              </a:rPr>
              <a:t>Ring Rolling</a:t>
            </a:r>
          </a:p>
        </p:txBody>
      </p:sp>
      <p:sp>
        <p:nvSpPr>
          <p:cNvPr id="1048633" name=""/>
          <p:cNvSpPr txBox="1"/>
          <p:nvPr/>
        </p:nvSpPr>
        <p:spPr>
          <a:xfrm rot="0">
            <a:off x="0" y="533400"/>
            <a:ext cx="9144000" cy="63246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indent="-342900" latinLnBrk="1" lvl="0" marL="342900">
              <a:lnSpc>
                <a:spcPct val="120000"/>
              </a:lnSpc>
              <a:spcBef>
                <a:spcPct val="20000"/>
              </a:spcBef>
              <a:buFontTx/>
              <a:buChar char="•"/>
            </a:pPr>
            <a:r>
              <a:rPr altLang="en-US" sz="3200" lang="en-US">
                <a:solidFill>
                  <a:srgbClr val="003399"/>
                </a:solidFill>
              </a:rPr>
              <a:t>In ring rolling process, one roll is placed through the hole of a thick-walled ring, and a second roll presses in from outside.</a:t>
            </a:r>
          </a:p>
          <a:p>
            <a:pPr algn="just" eaLnBrk="1" hangingPunct="1" indent="-342900" latinLnBrk="1" lvl="0" marL="342900">
              <a:lnSpc>
                <a:spcPct val="120000"/>
              </a:lnSpc>
              <a:spcBef>
                <a:spcPct val="20000"/>
              </a:spcBef>
              <a:buFontTx/>
              <a:buChar char="•"/>
            </a:pPr>
            <a:r>
              <a:rPr altLang="en-US" sz="3200" lang="en-US">
                <a:solidFill>
                  <a:srgbClr val="006600"/>
                </a:solidFill>
              </a:rPr>
              <a:t>As the rolls squeeze and rotate, wall thickness is reduced and  diameter of ring increases. </a:t>
            </a:r>
          </a:p>
          <a:p>
            <a:pPr algn="just" eaLnBrk="1" hangingPunct="1" indent="-342900" latinLnBrk="1" lvl="0" marL="342900">
              <a:lnSpc>
                <a:spcPct val="120000"/>
              </a:lnSpc>
              <a:spcBef>
                <a:spcPct val="20000"/>
              </a:spcBef>
              <a:buFontTx/>
              <a:buChar char="•"/>
            </a:pPr>
            <a:r>
              <a:rPr altLang="en-US" sz="3200" lang="en-US">
                <a:solidFill>
                  <a:srgbClr val="003399"/>
                </a:solidFill>
              </a:rPr>
              <a:t>Shaped rolls can be used to produce a wide variety of cross-section profiles.</a:t>
            </a:r>
          </a:p>
          <a:p>
            <a:pPr algn="just" eaLnBrk="1" hangingPunct="1" indent="-342900" latinLnBrk="1" lvl="0" marL="342900">
              <a:lnSpc>
                <a:spcPct val="120000"/>
              </a:lnSpc>
              <a:spcBef>
                <a:spcPct val="20000"/>
              </a:spcBef>
              <a:buFontTx/>
              <a:buChar char="•"/>
            </a:pPr>
            <a:r>
              <a:rPr altLang="en-US" sz="3200" lang="en-US">
                <a:solidFill>
                  <a:srgbClr val="006600"/>
                </a:solidFill>
              </a:rPr>
              <a:t>Resulting seamless rings find application in products such as rockets, turbines, airplanes, pipelines, and pressure vessels.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1">
  <p:cSld>
    <p:spTree>
      <p:nvGrpSpPr>
        <p:cNvPr id="92" name=""/>
        <p:cNvGrpSpPr/>
        <p:nvPr/>
      </p:nvGrpSpPr>
      <p:grpSpPr>
        <a:xfrm rot="0">
          <a:off x="0" y="0"/>
          <a:ext cx="0" cy="0"/>
          <a:chOff x="0" y="0"/>
          <a:chExt cx="0" cy="0"/>
        </a:xfrm>
      </p:grpSpPr>
      <p:pic>
        <p:nvPicPr>
          <p:cNvPr id="2097157" name="" descr="scan0006"/>
          <p:cNvPicPr>
            <a:picLocks/>
          </p:cNvPicPr>
          <p:nvPr/>
        </p:nvPicPr>
        <p:blipFill>
          <a:blip xmlns:r="http://schemas.openxmlformats.org/officeDocument/2006/relationships" r:embed="rId1">
            <a:lum bright="-24000" contrast="36000"/>
          </a:blip>
          <a:srcRect l="0" t="10054" r="0" b="0"/>
          <a:stretch>
            <a:fillRect/>
          </a:stretch>
        </p:blipFill>
        <p:spPr>
          <a:xfrm rot="0">
            <a:off x="0" y="0"/>
            <a:ext cx="9144000" cy="6167437"/>
          </a:xfrm>
          <a:prstGeom prst="rect"/>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1">
  <p:cSld>
    <p:spTree>
      <p:nvGrpSpPr>
        <p:cNvPr id="93" name=""/>
        <p:cNvGrpSpPr/>
        <p:nvPr/>
      </p:nvGrpSpPr>
      <p:grpSpPr>
        <a:xfrm rot="0">
          <a:off x="0" y="0"/>
          <a:ext cx="0" cy="0"/>
          <a:chOff x="0" y="0"/>
          <a:chExt cx="0" cy="0"/>
        </a:xfrm>
      </p:grpSpPr>
      <p:sp>
        <p:nvSpPr>
          <p:cNvPr id="1048634" name=""/>
          <p:cNvSpPr txBox="1"/>
          <p:nvPr/>
        </p:nvSpPr>
        <p:spPr>
          <a:xfrm rot="0">
            <a:off x="0" y="0"/>
            <a:ext cx="9144000" cy="6858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atinLnBrk="1" lvl="0"/>
            <a:r>
              <a:rPr altLang="en-US" b="1" sz="2400" lang="en-US" u="sng">
                <a:solidFill>
                  <a:srgbClr val="990033"/>
                </a:solidFill>
              </a:rPr>
              <a:t>Characteristics of Hot-Rolled Products </a:t>
            </a:r>
          </a:p>
        </p:txBody>
      </p:sp>
      <p:sp>
        <p:nvSpPr>
          <p:cNvPr id="1048635" name=""/>
          <p:cNvSpPr txBox="1"/>
          <p:nvPr/>
        </p:nvSpPr>
        <p:spPr>
          <a:xfrm rot="0">
            <a:off x="0" y="533400"/>
            <a:ext cx="9144000" cy="63246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indent="-342900" latinLnBrk="1" lvl="0" marL="342900">
              <a:lnSpc>
                <a:spcPct val="120000"/>
              </a:lnSpc>
              <a:spcBef>
                <a:spcPct val="20000"/>
              </a:spcBef>
              <a:buFontTx/>
              <a:buChar char="•"/>
            </a:pPr>
            <a:r>
              <a:rPr altLang="en-US" sz="3200" lang="en-US">
                <a:solidFill>
                  <a:srgbClr val="003399"/>
                </a:solidFill>
              </a:rPr>
              <a:t>Because they are rolled and finished above recrystallization temperature, hot-rolled products have little directionality in their properties and are relatively free of deformation - induced residual stresses.</a:t>
            </a:r>
          </a:p>
          <a:p>
            <a:pPr algn="just" eaLnBrk="1" hangingPunct="1" indent="-342900" latinLnBrk="1" lvl="0" marL="342900">
              <a:lnSpc>
                <a:spcPct val="120000"/>
              </a:lnSpc>
              <a:spcBef>
                <a:spcPct val="20000"/>
              </a:spcBef>
              <a:buFontTx/>
              <a:buChar char="•"/>
            </a:pPr>
            <a:endParaRPr altLang="en-US" sz="3200" lang="en-US">
              <a:solidFill>
                <a:srgbClr val="003399"/>
              </a:solidFill>
            </a:endParaRPr>
          </a:p>
          <a:p>
            <a:pPr algn="just" eaLnBrk="1" hangingPunct="1" indent="-342900" latinLnBrk="1" lvl="0" marL="342900">
              <a:lnSpc>
                <a:spcPct val="120000"/>
              </a:lnSpc>
              <a:spcBef>
                <a:spcPct val="20000"/>
              </a:spcBef>
              <a:buFontTx/>
              <a:buChar char="•"/>
            </a:pPr>
            <a:r>
              <a:rPr altLang="en-US" sz="3200" lang="en-US">
                <a:solidFill>
                  <a:srgbClr val="006600"/>
                </a:solidFill>
              </a:rPr>
              <a:t>These characteristics may vary, depending on thickness of product and presence of complex sections.</a:t>
            </a:r>
          </a:p>
          <a:p>
            <a:pPr algn="just" eaLnBrk="1" hangingPunct="1" indent="-342900" latinLnBrk="1" lvl="0" marL="342900">
              <a:lnSpc>
                <a:spcPct val="120000"/>
              </a:lnSpc>
              <a:spcBef>
                <a:spcPct val="20000"/>
              </a:spcBef>
              <a:buFontTx/>
              <a:buChar char="•"/>
            </a:pPr>
            <a:r>
              <a:rPr altLang="en-US" sz="3200" lang="en-US">
                <a:solidFill>
                  <a:srgbClr val="003399"/>
                </a:solidFill>
              </a:rPr>
              <a:t>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1">
  <p:cSld>
    <p:spTree>
      <p:nvGrpSpPr>
        <p:cNvPr id="94" name=""/>
        <p:cNvGrpSpPr/>
        <p:nvPr/>
      </p:nvGrpSpPr>
      <p:grpSpPr>
        <a:xfrm rot="0">
          <a:off x="0" y="0"/>
          <a:ext cx="0" cy="0"/>
          <a:chOff x="0" y="0"/>
          <a:chExt cx="0" cy="0"/>
        </a:xfrm>
      </p:grpSpPr>
      <p:sp>
        <p:nvSpPr>
          <p:cNvPr id="1048636" name=""/>
          <p:cNvSpPr txBox="1"/>
          <p:nvPr/>
        </p:nvSpPr>
        <p:spPr>
          <a:xfrm rot="0">
            <a:off x="0" y="0"/>
            <a:ext cx="9144000" cy="6858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atinLnBrk="1" lvl="0"/>
            <a:r>
              <a:rPr altLang="en-US" b="1" sz="2400" lang="en-US" u="sng">
                <a:solidFill>
                  <a:srgbClr val="990033"/>
                </a:solidFill>
              </a:rPr>
              <a:t>Characteristics of Hot-Rolled Products  </a:t>
            </a:r>
          </a:p>
        </p:txBody>
      </p:sp>
      <p:sp>
        <p:nvSpPr>
          <p:cNvPr id="1048637" name=""/>
          <p:cNvSpPr txBox="1"/>
          <p:nvPr/>
        </p:nvSpPr>
        <p:spPr>
          <a:xfrm rot="0">
            <a:off x="0" y="685800"/>
            <a:ext cx="9144000" cy="63246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indent="-342900" latinLnBrk="1" lvl="0" marL="342900">
              <a:lnSpc>
                <a:spcPct val="110000"/>
              </a:lnSpc>
              <a:spcBef>
                <a:spcPct val="20000"/>
              </a:spcBef>
              <a:buFontTx/>
              <a:buChar char="•"/>
            </a:pPr>
            <a:r>
              <a:rPr altLang="en-US" sz="3200" lang="en-US">
                <a:solidFill>
                  <a:srgbClr val="003399"/>
                </a:solidFill>
              </a:rPr>
              <a:t>Substantial residual stresses can be induced during hot working.</a:t>
            </a:r>
          </a:p>
        </p:txBody>
      </p:sp>
      <p:pic>
        <p:nvPicPr>
          <p:cNvPr id="2097158" name="" descr="scan0007"/>
          <p:cNvPicPr>
            <a:picLocks/>
          </p:cNvPicPr>
          <p:nvPr/>
        </p:nvPicPr>
        <p:blipFill>
          <a:blip xmlns:r="http://schemas.openxmlformats.org/officeDocument/2006/relationships" r:embed="rId1">
            <a:lum bright="-30000" contrast="48000"/>
          </a:blip>
          <a:srcRect l="0" t="24922" r="5000" b="0"/>
          <a:stretch>
            <a:fillRect/>
          </a:stretch>
        </p:blipFill>
        <p:spPr>
          <a:xfrm rot="0">
            <a:off x="0" y="2590800"/>
            <a:ext cx="9144000" cy="3867150"/>
          </a:xfrm>
          <a:prstGeom prst="rect"/>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1">
  <p:cSld>
    <p:spTree>
      <p:nvGrpSpPr>
        <p:cNvPr id="95" name=""/>
        <p:cNvGrpSpPr/>
        <p:nvPr/>
      </p:nvGrpSpPr>
      <p:grpSpPr>
        <a:xfrm rot="0">
          <a:off x="0" y="0"/>
          <a:ext cx="0" cy="0"/>
          <a:chOff x="0" y="0"/>
          <a:chExt cx="0" cy="0"/>
        </a:xfrm>
      </p:grpSpPr>
      <p:sp>
        <p:nvSpPr>
          <p:cNvPr id="1048638" name=""/>
          <p:cNvSpPr txBox="1"/>
          <p:nvPr/>
        </p:nvSpPr>
        <p:spPr>
          <a:xfrm rot="0">
            <a:off x="0" y="0"/>
            <a:ext cx="9144000" cy="6858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atinLnBrk="1" lvl="0"/>
            <a:r>
              <a:rPr altLang="en-US" b="1" sz="2400" lang="en-US" u="sng">
                <a:solidFill>
                  <a:srgbClr val="990033"/>
                </a:solidFill>
              </a:rPr>
              <a:t>Characteristics of Hot-Rolled Products </a:t>
            </a:r>
          </a:p>
        </p:txBody>
      </p:sp>
      <p:sp>
        <p:nvSpPr>
          <p:cNvPr id="1048639" name=""/>
          <p:cNvSpPr txBox="1"/>
          <p:nvPr/>
        </p:nvSpPr>
        <p:spPr>
          <a:xfrm rot="0">
            <a:off x="0" y="685800"/>
            <a:ext cx="9144000" cy="63246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indent="-342900" latinLnBrk="1" lvl="0" marL="342900">
              <a:lnSpc>
                <a:spcPct val="130000"/>
              </a:lnSpc>
              <a:spcBef>
                <a:spcPct val="20000"/>
              </a:spcBef>
              <a:buFontTx/>
              <a:buChar char="•"/>
            </a:pPr>
            <a:r>
              <a:rPr altLang="en-US" sz="3200" lang="en-US">
                <a:solidFill>
                  <a:srgbClr val="006600"/>
                </a:solidFill>
              </a:rPr>
              <a:t>Thin sheets often show some definite directional characteristics, whereas thicker plate (such as that above 0.8 in. or 20 mm) will usually have very little.</a:t>
            </a:r>
          </a:p>
          <a:p>
            <a:pPr algn="just" eaLnBrk="1" hangingPunct="1" indent="-342900" latinLnBrk="1" lvl="0" marL="342900">
              <a:lnSpc>
                <a:spcPct val="130000"/>
              </a:lnSpc>
              <a:spcBef>
                <a:spcPct val="20000"/>
              </a:spcBef>
              <a:buFontTx/>
              <a:buChar char="•"/>
            </a:pPr>
            <a:r>
              <a:rPr altLang="en-US" sz="3200" lang="en-US">
                <a:solidFill>
                  <a:srgbClr val="003399"/>
                </a:solidFill>
              </a:rPr>
              <a:t>Because of the high residual stresses in rapidly cooled edges, a complex shape, such as an T- or H-beam, may warp noticeably if a portion of one flange is cut away.</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1">
  <p:cSld>
    <p:spTree>
      <p:nvGrpSpPr>
        <p:cNvPr id="96" name=""/>
        <p:cNvGrpSpPr/>
        <p:nvPr/>
      </p:nvGrpSpPr>
      <p:grpSpPr>
        <a:xfrm rot="0">
          <a:off x="0" y="0"/>
          <a:ext cx="0" cy="0"/>
          <a:chOff x="0" y="0"/>
          <a:chExt cx="0" cy="0"/>
        </a:xfrm>
      </p:grpSpPr>
      <p:sp>
        <p:nvSpPr>
          <p:cNvPr id="1048640" name=""/>
          <p:cNvSpPr txBox="1"/>
          <p:nvPr/>
        </p:nvSpPr>
        <p:spPr>
          <a:xfrm rot="0">
            <a:off x="0" y="0"/>
            <a:ext cx="9144000" cy="6858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atinLnBrk="1" lvl="0"/>
            <a:r>
              <a:rPr altLang="en-US" b="1" sz="2400" lang="en-US" u="sng">
                <a:solidFill>
                  <a:srgbClr val="990033"/>
                </a:solidFill>
              </a:rPr>
              <a:t>Characteristics of Hot-Rolled Products </a:t>
            </a:r>
          </a:p>
        </p:txBody>
      </p:sp>
      <p:sp>
        <p:nvSpPr>
          <p:cNvPr id="1048641" name=""/>
          <p:cNvSpPr txBox="1"/>
          <p:nvPr/>
        </p:nvSpPr>
        <p:spPr>
          <a:xfrm rot="0">
            <a:off x="0" y="533400"/>
            <a:ext cx="9144000" cy="63246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indent="-342900" latinLnBrk="1" lvl="0" marL="342900">
              <a:lnSpc>
                <a:spcPct val="110000"/>
              </a:lnSpc>
              <a:spcBef>
                <a:spcPct val="20000"/>
              </a:spcBef>
              <a:buFontTx/>
              <a:buChar char="•"/>
            </a:pPr>
            <a:r>
              <a:rPr altLang="en-US" sz="3200" lang="en-US">
                <a:solidFill>
                  <a:srgbClr val="006600"/>
                </a:solidFill>
              </a:rPr>
              <a:t>As result of hot deformation and good control hot-rolled products are normally of uniform and dependable quality and reliability.</a:t>
            </a:r>
          </a:p>
          <a:p>
            <a:pPr algn="just" eaLnBrk="1" hangingPunct="1" indent="-342900" latinLnBrk="1" lvl="0" marL="342900">
              <a:lnSpc>
                <a:spcPct val="110000"/>
              </a:lnSpc>
              <a:spcBef>
                <a:spcPct val="20000"/>
              </a:spcBef>
              <a:buFontTx/>
              <a:buChar char="•"/>
            </a:pPr>
            <a:r>
              <a:rPr altLang="en-US" sz="3200" lang="en-US">
                <a:solidFill>
                  <a:srgbClr val="003399"/>
                </a:solidFill>
              </a:rPr>
              <a:t>It is quite unusual to find any voids, seams, or laminations when these products are produced by reliable manufacturers. </a:t>
            </a:r>
          </a:p>
          <a:p>
            <a:pPr algn="just" eaLnBrk="1" hangingPunct="1" indent="-342900" latinLnBrk="1" lvl="0" marL="342900">
              <a:lnSpc>
                <a:spcPct val="110000"/>
              </a:lnSpc>
              <a:spcBef>
                <a:spcPct val="20000"/>
              </a:spcBef>
              <a:buFontTx/>
              <a:buChar char="•"/>
            </a:pPr>
            <a:r>
              <a:rPr altLang="en-US" sz="3200" lang="en-US">
                <a:solidFill>
                  <a:srgbClr val="006600"/>
                </a:solidFill>
              </a:rPr>
              <a:t>Surfaces of hot-rolled products are usually a bit rough and are originally covered with a tenacious high-temperature oxide, known as mill scale.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1">
  <p:cSld>
    <p:spTree>
      <p:nvGrpSpPr>
        <p:cNvPr id="97" name=""/>
        <p:cNvGrpSpPr/>
        <p:nvPr/>
      </p:nvGrpSpPr>
      <p:grpSpPr>
        <a:xfrm rot="0">
          <a:off x="0" y="0"/>
          <a:ext cx="0" cy="0"/>
          <a:chOff x="0" y="0"/>
          <a:chExt cx="0" cy="0"/>
        </a:xfrm>
      </p:grpSpPr>
      <p:sp>
        <p:nvSpPr>
          <p:cNvPr id="1048642" name=""/>
          <p:cNvSpPr txBox="1"/>
          <p:nvPr/>
        </p:nvSpPr>
        <p:spPr>
          <a:xfrm rot="0">
            <a:off x="0" y="0"/>
            <a:ext cx="9144000" cy="6858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atinLnBrk="1" lvl="0"/>
            <a:r>
              <a:rPr altLang="en-US" b="1" sz="2400" lang="en-US" u="sng">
                <a:solidFill>
                  <a:srgbClr val="990033"/>
                </a:solidFill>
              </a:rPr>
              <a:t>Characteristics of Hot-Rolled Products </a:t>
            </a:r>
          </a:p>
        </p:txBody>
      </p:sp>
      <p:sp>
        <p:nvSpPr>
          <p:cNvPr id="1048643" name=""/>
          <p:cNvSpPr txBox="1"/>
          <p:nvPr/>
        </p:nvSpPr>
        <p:spPr>
          <a:xfrm rot="0">
            <a:off x="0" y="609600"/>
            <a:ext cx="9144000" cy="60198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indent="-342900" latinLnBrk="1" lvl="0" marL="342900">
              <a:lnSpc>
                <a:spcPct val="140000"/>
              </a:lnSpc>
              <a:spcBef>
                <a:spcPct val="20000"/>
              </a:spcBef>
              <a:buFontTx/>
              <a:buChar char="•"/>
            </a:pPr>
            <a:r>
              <a:rPr altLang="en-US" sz="3200" lang="en-US">
                <a:solidFill>
                  <a:srgbClr val="003399"/>
                </a:solidFill>
              </a:rPr>
              <a:t>Removed by an acid pickling operation, resulting in a surprisingly smooth surface finish. </a:t>
            </a:r>
          </a:p>
          <a:p>
            <a:pPr algn="just" eaLnBrk="1" hangingPunct="1" indent="-342900" latinLnBrk="1" lvl="0" marL="342900">
              <a:lnSpc>
                <a:spcPct val="140000"/>
              </a:lnSpc>
              <a:spcBef>
                <a:spcPct val="20000"/>
              </a:spcBef>
              <a:buFontTx/>
              <a:buChar char="•"/>
            </a:pPr>
            <a:r>
              <a:rPr altLang="en-US" sz="3200" lang="en-US">
                <a:solidFill>
                  <a:srgbClr val="006600"/>
                </a:solidFill>
              </a:rPr>
              <a:t>Dimensional tolerances of hot-rolled products vary with kind of metal and size of the product.</a:t>
            </a:r>
          </a:p>
          <a:p>
            <a:pPr algn="just" eaLnBrk="1" hangingPunct="1" indent="-342900" latinLnBrk="1" lvl="0" marL="342900">
              <a:lnSpc>
                <a:spcPct val="140000"/>
              </a:lnSpc>
              <a:spcBef>
                <a:spcPct val="20000"/>
              </a:spcBef>
              <a:buFontTx/>
              <a:buChar char="•"/>
            </a:pPr>
            <a:r>
              <a:rPr altLang="en-US" sz="3200" lang="en-US">
                <a:solidFill>
                  <a:srgbClr val="003399"/>
                </a:solidFill>
              </a:rPr>
              <a:t>For most products produced in reasonably large tonnages, tolerances are within 2 to 5% of specified dimension (either height or width).</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1">
  <p:cSld>
    <p:spTree>
      <p:nvGrpSpPr>
        <p:cNvPr id="98" name=""/>
        <p:cNvGrpSpPr/>
        <p:nvPr/>
      </p:nvGrpSpPr>
      <p:grpSpPr>
        <a:xfrm rot="0">
          <a:off x="0" y="0"/>
          <a:ext cx="0" cy="0"/>
          <a:chOff x="0" y="0"/>
          <a:chExt cx="0" cy="0"/>
        </a:xfrm>
      </p:grpSpPr>
      <p:sp>
        <p:nvSpPr>
          <p:cNvPr id="1048644" name=""/>
          <p:cNvSpPr txBox="1"/>
          <p:nvPr/>
        </p:nvSpPr>
        <p:spPr>
          <a:xfrm rot="0">
            <a:off x="381000" y="0"/>
            <a:ext cx="8458200" cy="6096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atinLnBrk="1" lvl="0"/>
            <a:r>
              <a:rPr altLang="en-US" b="1" sz="2800" lang="en-US" u="sng">
                <a:solidFill>
                  <a:srgbClr val="990033"/>
                </a:solidFill>
              </a:rPr>
              <a:t>Flatness Control and Rolling Defects</a:t>
            </a:r>
          </a:p>
        </p:txBody>
      </p:sp>
      <p:sp>
        <p:nvSpPr>
          <p:cNvPr id="1048645" name=""/>
          <p:cNvSpPr txBox="1"/>
          <p:nvPr/>
        </p:nvSpPr>
        <p:spPr>
          <a:xfrm rot="0">
            <a:off x="0" y="533400"/>
            <a:ext cx="9144000" cy="63246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indent="-342900" latinLnBrk="1" lvl="0" marL="342900">
              <a:lnSpc>
                <a:spcPct val="130000"/>
              </a:lnSpc>
              <a:spcBef>
                <a:spcPct val="20000"/>
              </a:spcBef>
              <a:buFontTx/>
              <a:buChar char="•"/>
            </a:pPr>
            <a:r>
              <a:rPr altLang="en-US" sz="3200" lang="en-US">
                <a:solidFill>
                  <a:srgbClr val="003399"/>
                </a:solidFill>
              </a:rPr>
              <a:t>Rolling of flat material with uniform thickness requires uniform gap between rolls a</a:t>
            </a:r>
            <a:r>
              <a:rPr altLang="en-US" sz="3200" lang="en-US">
                <a:solidFill>
                  <a:srgbClr val="006600"/>
                </a:solidFill>
              </a:rPr>
              <a:t>ttaining such an objective may be difficult.</a:t>
            </a:r>
          </a:p>
          <a:p>
            <a:pPr algn="just" eaLnBrk="1" hangingPunct="1" indent="-342900" latinLnBrk="1" lvl="0" marL="342900">
              <a:lnSpc>
                <a:spcPct val="130000"/>
              </a:lnSpc>
              <a:spcBef>
                <a:spcPct val="20000"/>
              </a:spcBef>
              <a:buFontTx/>
              <a:buChar char="•"/>
            </a:pPr>
            <a:endParaRPr altLang="en-US" sz="3200" lang="en-US">
              <a:solidFill>
                <a:srgbClr val="006600"/>
              </a:solidFill>
            </a:endParaRPr>
          </a:p>
          <a:p>
            <a:pPr algn="just" eaLnBrk="1" hangingPunct="1" indent="-342900" latinLnBrk="1" lvl="0" marL="342900">
              <a:lnSpc>
                <a:spcPct val="130000"/>
              </a:lnSpc>
              <a:spcBef>
                <a:spcPct val="20000"/>
              </a:spcBef>
              <a:buFontTx/>
              <a:buChar char="•"/>
            </a:pPr>
            <a:r>
              <a:rPr altLang="en-US" sz="3200" lang="en-US">
                <a:solidFill>
                  <a:srgbClr val="003399"/>
                </a:solidFill>
              </a:rPr>
              <a:t>Consider upper roll in a set that is rolling sheet or plate m</a:t>
            </a:r>
            <a:r>
              <a:rPr altLang="en-US" sz="3200" lang="en-US">
                <a:solidFill>
                  <a:srgbClr val="006600"/>
                </a:solidFill>
              </a:rPr>
              <a:t>aterial presses upward in the middle of roll  supported in mill frame.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1">
  <p:cSld>
    <p:spTree>
      <p:nvGrpSpPr>
        <p:cNvPr id="99" name=""/>
        <p:cNvGrpSpPr/>
        <p:nvPr/>
      </p:nvGrpSpPr>
      <p:grpSpPr>
        <a:xfrm rot="0">
          <a:off x="0" y="0"/>
          <a:ext cx="0" cy="0"/>
          <a:chOff x="0" y="0"/>
          <a:chExt cx="0" cy="0"/>
        </a:xfrm>
      </p:grpSpPr>
      <p:sp>
        <p:nvSpPr>
          <p:cNvPr id="1048646" name=""/>
          <p:cNvSpPr txBox="1"/>
          <p:nvPr/>
        </p:nvSpPr>
        <p:spPr>
          <a:xfrm rot="0">
            <a:off x="381000" y="0"/>
            <a:ext cx="8458200" cy="6096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atinLnBrk="1" lvl="0"/>
            <a:r>
              <a:rPr altLang="en-US" b="1" sz="2800" lang="en-US" u="sng">
                <a:solidFill>
                  <a:srgbClr val="990033"/>
                </a:solidFill>
              </a:rPr>
              <a:t>Flatness Control and Rolling Defects</a:t>
            </a:r>
          </a:p>
        </p:txBody>
      </p:sp>
      <p:sp>
        <p:nvSpPr>
          <p:cNvPr id="1048647" name=""/>
          <p:cNvSpPr txBox="1"/>
          <p:nvPr/>
        </p:nvSpPr>
        <p:spPr>
          <a:xfrm rot="0">
            <a:off x="0" y="533400"/>
            <a:ext cx="9144000" cy="63246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indent="-342900" latinLnBrk="1" lvl="0" marL="342900">
              <a:lnSpc>
                <a:spcPct val="110000"/>
              </a:lnSpc>
              <a:spcBef>
                <a:spcPct val="20000"/>
              </a:spcBef>
              <a:buFontTx/>
              <a:buChar char="•"/>
            </a:pPr>
            <a:r>
              <a:rPr altLang="en-US" sz="3200" lang="en-US">
                <a:solidFill>
                  <a:srgbClr val="003399"/>
                </a:solidFill>
              </a:rPr>
              <a:t>Roll is loaded in three-point bending and tends to flex in a manner that produces a thicker center and thinner edge.</a:t>
            </a:r>
          </a:p>
          <a:p>
            <a:pPr algn="just" eaLnBrk="1" hangingPunct="1" indent="-342900" latinLnBrk="1" lvl="0" marL="342900">
              <a:lnSpc>
                <a:spcPct val="110000"/>
              </a:lnSpc>
              <a:spcBef>
                <a:spcPct val="20000"/>
              </a:spcBef>
              <a:buFontTx/>
              <a:buChar char="•"/>
            </a:pPr>
            <a:endParaRPr altLang="en-US" sz="3200" lang="en-US">
              <a:solidFill>
                <a:srgbClr val="003399"/>
              </a:solidFill>
            </a:endParaRPr>
          </a:p>
          <a:p>
            <a:pPr algn="just" eaLnBrk="1" hangingPunct="1" indent="-342900" latinLnBrk="1" lvl="0" marL="342900">
              <a:lnSpc>
                <a:spcPct val="110000"/>
              </a:lnSpc>
              <a:spcBef>
                <a:spcPct val="20000"/>
              </a:spcBef>
              <a:buFontTx/>
              <a:buChar char="•"/>
            </a:pPr>
            <a:r>
              <a:rPr altLang="en-US" sz="3200" lang="en-US">
                <a:solidFill>
                  <a:srgbClr val="006600"/>
                </a:solidFill>
              </a:rPr>
              <a:t>If roll is always used to roll same material at same temperature, forces and deflections can be predicted, and roll can be designed to have a specified amount of crowning. </a:t>
            </a:r>
          </a:p>
          <a:p>
            <a:pPr algn="just" eaLnBrk="1" hangingPunct="1" indent="-342900" latinLnBrk="1" lvl="0" marL="342900">
              <a:lnSpc>
                <a:spcPct val="110000"/>
              </a:lnSpc>
              <a:spcBef>
                <a:spcPct val="20000"/>
              </a:spcBef>
              <a:buFontTx/>
              <a:buChar char="•"/>
            </a:pPr>
            <a:endParaRPr altLang="en-US" sz="3200" lang="en-US">
              <a:solidFill>
                <a:srgbClr val="006600"/>
              </a:solidFill>
            </a:endParaRPr>
          </a:p>
          <a:p>
            <a:pPr algn="just" eaLnBrk="1" hangingPunct="1" indent="-342900" latinLnBrk="1" lvl="0" marL="342900">
              <a:lnSpc>
                <a:spcPct val="110000"/>
              </a:lnSpc>
              <a:spcBef>
                <a:spcPct val="20000"/>
              </a:spcBef>
              <a:buFontTx/>
              <a:buChar char="•"/>
            </a:pPr>
            <a:r>
              <a:rPr altLang="en-US" sz="3200" lang="en-US">
                <a:solidFill>
                  <a:srgbClr val="003399"/>
                </a:solidFill>
              </a:rPr>
              <a:t>When  roll is subjected to a specified load, it will “deflect into flatness”.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1">
  <p:cSld>
    <p:spTree>
      <p:nvGrpSpPr>
        <p:cNvPr id="100" name=""/>
        <p:cNvGrpSpPr/>
        <p:nvPr/>
      </p:nvGrpSpPr>
      <p:grpSpPr>
        <a:xfrm rot="0">
          <a:off x="0" y="0"/>
          <a:ext cx="0" cy="0"/>
          <a:chOff x="0" y="0"/>
          <a:chExt cx="0" cy="0"/>
        </a:xfrm>
      </p:grpSpPr>
      <p:sp>
        <p:nvSpPr>
          <p:cNvPr id="1048648" name=""/>
          <p:cNvSpPr txBox="1"/>
          <p:nvPr/>
        </p:nvSpPr>
        <p:spPr>
          <a:xfrm rot="0">
            <a:off x="381000" y="0"/>
            <a:ext cx="8458200" cy="6096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atinLnBrk="1" lvl="0"/>
            <a:r>
              <a:rPr altLang="en-US" b="1" sz="2800" lang="en-US" u="sng">
                <a:solidFill>
                  <a:srgbClr val="990033"/>
                </a:solidFill>
              </a:rPr>
              <a:t>Flatness Control and Rolling Defects</a:t>
            </a:r>
          </a:p>
        </p:txBody>
      </p:sp>
      <p:sp>
        <p:nvSpPr>
          <p:cNvPr id="1048649" name=""/>
          <p:cNvSpPr txBox="1"/>
          <p:nvPr/>
        </p:nvSpPr>
        <p:spPr>
          <a:xfrm rot="0">
            <a:off x="0" y="533400"/>
            <a:ext cx="9144000" cy="63246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indent="-342900" latinLnBrk="1" lvl="0" marL="342900">
              <a:lnSpc>
                <a:spcPct val="110000"/>
              </a:lnSpc>
              <a:spcBef>
                <a:spcPct val="20000"/>
              </a:spcBef>
              <a:buFontTx/>
              <a:buChar char="•"/>
            </a:pPr>
            <a:r>
              <a:rPr altLang="en-US" sz="3200" lang="en-US">
                <a:solidFill>
                  <a:srgbClr val="006600"/>
                </a:solidFill>
              </a:rPr>
              <a:t>If applied load is not of designed</a:t>
            </a:r>
            <a:r>
              <a:rPr altLang="en-US" sz="3200" i="1" lang="en-US">
                <a:solidFill>
                  <a:srgbClr val="006600"/>
                </a:solidFill>
              </a:rPr>
              <a:t> </a:t>
            </a:r>
            <a:r>
              <a:rPr altLang="en-US" sz="3200" lang="en-US">
                <a:solidFill>
                  <a:srgbClr val="006600"/>
                </a:solidFill>
              </a:rPr>
              <a:t>magnitude, profile will not be flat and defects may result. </a:t>
            </a:r>
          </a:p>
          <a:p>
            <a:pPr algn="just" eaLnBrk="1" hangingPunct="1" indent="-342900" latinLnBrk="1" lvl="0" marL="342900">
              <a:lnSpc>
                <a:spcPct val="110000"/>
              </a:lnSpc>
              <a:spcBef>
                <a:spcPct val="20000"/>
              </a:spcBef>
            </a:pPr>
            <a:r>
              <a:rPr altLang="en-US" sz="3200" lang="en-US">
                <a:solidFill>
                  <a:srgbClr val="00008A"/>
                </a:solidFill>
              </a:rPr>
              <a:t>  </a:t>
            </a:r>
          </a:p>
          <a:p>
            <a:pPr algn="just" eaLnBrk="1" hangingPunct="1" indent="-342900" latinLnBrk="1" lvl="0" marL="342900">
              <a:lnSpc>
                <a:spcPct val="110000"/>
              </a:lnSpc>
              <a:spcBef>
                <a:spcPct val="20000"/>
              </a:spcBef>
            </a:pPr>
            <a:r>
              <a:rPr altLang="en-US" sz="3200" lang="en-US">
                <a:solidFill>
                  <a:srgbClr val="00008A"/>
                </a:solidFill>
              </a:rPr>
              <a:t>  The thinner material will try to become longer but must remain attached to the thicker.  </a:t>
            </a:r>
            <a:r>
              <a:rPr altLang="en-US" sz="3200" lang="en-US">
                <a:solidFill>
                  <a:srgbClr val="006600"/>
                </a:solidFill>
              </a:rPr>
              <a:t>Result may be wavy edges or fractures in center. </a:t>
            </a:r>
            <a:r>
              <a:rPr altLang="en-US" sz="3200" lang="en-US">
                <a:solidFill>
                  <a:srgbClr val="000066"/>
                </a:solidFill>
              </a:rPr>
              <a:t>If correction is excessive, center becomes thinner and longer, and result can be a wavy center or cracking of the edges.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1">
  <p:cSld>
    <p:spTree>
      <p:nvGrpSpPr>
        <p:cNvPr id="101" name=""/>
        <p:cNvGrpSpPr/>
        <p:nvPr/>
      </p:nvGrpSpPr>
      <p:grpSpPr>
        <a:xfrm rot="0">
          <a:off x="0" y="0"/>
          <a:ext cx="0" cy="0"/>
          <a:chOff x="0" y="0"/>
          <a:chExt cx="0" cy="0"/>
        </a:xfrm>
      </p:grpSpPr>
      <p:sp>
        <p:nvSpPr>
          <p:cNvPr id="1048650" name=""/>
          <p:cNvSpPr txBox="1"/>
          <p:nvPr/>
        </p:nvSpPr>
        <p:spPr>
          <a:xfrm rot="0">
            <a:off x="381000" y="0"/>
            <a:ext cx="8458200" cy="6096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atinLnBrk="1" lvl="0"/>
            <a:r>
              <a:rPr altLang="en-US" b="1" sz="2400" lang="en-US" u="sng">
                <a:solidFill>
                  <a:srgbClr val="990033"/>
                </a:solidFill>
              </a:rPr>
              <a:t>Thermo-mechanical Processing and Controlled Rolling</a:t>
            </a:r>
          </a:p>
        </p:txBody>
      </p:sp>
      <p:sp>
        <p:nvSpPr>
          <p:cNvPr id="1048651" name=""/>
          <p:cNvSpPr txBox="1"/>
          <p:nvPr/>
        </p:nvSpPr>
        <p:spPr>
          <a:xfrm rot="0">
            <a:off x="0" y="533400"/>
            <a:ext cx="9144000" cy="63246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indent="-342900" latinLnBrk="1" lvl="0" marL="342900">
              <a:spcBef>
                <a:spcPct val="20000"/>
              </a:spcBef>
              <a:buFontTx/>
              <a:buChar char="•"/>
            </a:pPr>
            <a:r>
              <a:rPr altLang="en-US" sz="3200" lang="en-US">
                <a:solidFill>
                  <a:srgbClr val="003399"/>
                </a:solidFill>
              </a:rPr>
              <a:t>A rolling process is generally used as being a means of changing shape of  material. </a:t>
            </a:r>
          </a:p>
          <a:p>
            <a:pPr algn="just" eaLnBrk="1" hangingPunct="1" indent="-342900" latinLnBrk="1" lvl="0" marL="342900">
              <a:spcBef>
                <a:spcPct val="20000"/>
              </a:spcBef>
              <a:buFontTx/>
              <a:buChar char="•"/>
            </a:pPr>
            <a:r>
              <a:rPr altLang="en-US" sz="3200" lang="en-US">
                <a:solidFill>
                  <a:srgbClr val="006600"/>
                </a:solidFill>
              </a:rPr>
              <a:t>Heat may be used to reduce forces and promote plasticity while mechanical properties (heat treatments) are usually performed as subsequent operations.</a:t>
            </a:r>
          </a:p>
          <a:p>
            <a:pPr algn="just" eaLnBrk="1" hangingPunct="1" indent="-342900" latinLnBrk="1" lvl="0" marL="342900">
              <a:spcBef>
                <a:spcPct val="20000"/>
              </a:spcBef>
              <a:buFontTx/>
              <a:buChar char="•"/>
            </a:pPr>
            <a:r>
              <a:rPr altLang="en-US" sz="3200" lang="en-US">
                <a:solidFill>
                  <a:srgbClr val="003399"/>
                </a:solidFill>
              </a:rPr>
              <a:t>Thermo-mechanical processing consists of both deformation and controlled thermal processing to produce desired levels of strength and toughness in the working product.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1">
  <p:cSld>
    <p:spTree>
      <p:nvGrpSpPr>
        <p:cNvPr id="102" name=""/>
        <p:cNvGrpSpPr/>
        <p:nvPr/>
      </p:nvGrpSpPr>
      <p:grpSpPr>
        <a:xfrm rot="0">
          <a:off x="0" y="0"/>
          <a:ext cx="0" cy="0"/>
          <a:chOff x="0" y="0"/>
          <a:chExt cx="0" cy="0"/>
        </a:xfrm>
      </p:grpSpPr>
      <p:sp>
        <p:nvSpPr>
          <p:cNvPr id="1048652" name=""/>
          <p:cNvSpPr txBox="1"/>
          <p:nvPr/>
        </p:nvSpPr>
        <p:spPr>
          <a:xfrm rot="0">
            <a:off x="381000" y="0"/>
            <a:ext cx="8458200" cy="6096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atinLnBrk="1" lvl="0"/>
            <a:r>
              <a:rPr altLang="en-US" b="1" sz="2400" lang="en-US" u="sng">
                <a:solidFill>
                  <a:srgbClr val="990033"/>
                </a:solidFill>
              </a:rPr>
              <a:t>Thermo-mechanical Processing and Controlled Rolling</a:t>
            </a:r>
          </a:p>
        </p:txBody>
      </p:sp>
      <p:sp>
        <p:nvSpPr>
          <p:cNvPr id="1048653" name=""/>
          <p:cNvSpPr txBox="1"/>
          <p:nvPr/>
        </p:nvSpPr>
        <p:spPr>
          <a:xfrm rot="0">
            <a:off x="0" y="533400"/>
            <a:ext cx="9144000" cy="63246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indent="-342900" latinLnBrk="1" lvl="0" marL="342900">
              <a:lnSpc>
                <a:spcPct val="110000"/>
              </a:lnSpc>
              <a:spcBef>
                <a:spcPct val="20000"/>
              </a:spcBef>
              <a:buFontTx/>
              <a:buChar char="•"/>
            </a:pPr>
            <a:r>
              <a:rPr altLang="en-US" sz="3200" lang="en-US">
                <a:solidFill>
                  <a:srgbClr val="003399"/>
                </a:solidFill>
              </a:rPr>
              <a:t>Possible goals of thermo mechanical includes :-</a:t>
            </a:r>
          </a:p>
          <a:p>
            <a:pPr algn="just" eaLnBrk="1" hangingPunct="1" indent="-480060" latinLnBrk="1" lvl="1" marL="800100">
              <a:lnSpc>
                <a:spcPct val="110000"/>
              </a:lnSpc>
              <a:spcBef>
                <a:spcPct val="20000"/>
              </a:spcBef>
              <a:buFontTx/>
              <a:buChar char="–"/>
            </a:pPr>
            <a:r>
              <a:rPr altLang="en-US" sz="3200" lang="en-US">
                <a:solidFill>
                  <a:srgbClr val="003399"/>
                </a:solidFill>
              </a:rPr>
              <a:t>Production of uniform fine grain size</a:t>
            </a:r>
          </a:p>
          <a:p>
            <a:pPr algn="just" eaLnBrk="1" hangingPunct="1" indent="-480060" latinLnBrk="1" lvl="1" marL="800100">
              <a:lnSpc>
                <a:spcPct val="110000"/>
              </a:lnSpc>
              <a:spcBef>
                <a:spcPct val="20000"/>
              </a:spcBef>
              <a:buFontTx/>
              <a:buChar char="–"/>
            </a:pPr>
            <a:r>
              <a:rPr altLang="en-US" sz="3200" lang="en-US">
                <a:solidFill>
                  <a:srgbClr val="006600"/>
                </a:solidFill>
              </a:rPr>
              <a:t>Controlling nature</a:t>
            </a:r>
          </a:p>
          <a:p>
            <a:pPr algn="just" eaLnBrk="1" hangingPunct="1" indent="-480060" latinLnBrk="1" lvl="1" marL="800100">
              <a:lnSpc>
                <a:spcPct val="110000"/>
              </a:lnSpc>
              <a:spcBef>
                <a:spcPct val="20000"/>
              </a:spcBef>
              <a:buFontTx/>
              <a:buChar char="–"/>
            </a:pPr>
            <a:r>
              <a:rPr altLang="en-US" sz="3200" lang="en-US">
                <a:solidFill>
                  <a:srgbClr val="003399"/>
                </a:solidFill>
              </a:rPr>
              <a:t>Size and distribution of various transformation products (such as ferrite, pearlite, bainite, and martensite in steels)</a:t>
            </a:r>
          </a:p>
          <a:p>
            <a:pPr algn="just" eaLnBrk="1" hangingPunct="1" indent="-480060" latinLnBrk="1" lvl="1" marL="800100">
              <a:lnSpc>
                <a:spcPct val="110000"/>
              </a:lnSpc>
              <a:spcBef>
                <a:spcPct val="20000"/>
              </a:spcBef>
              <a:buFontTx/>
              <a:buChar char="–"/>
            </a:pPr>
            <a:r>
              <a:rPr altLang="en-US" sz="3200" lang="en-US">
                <a:solidFill>
                  <a:srgbClr val="006600"/>
                </a:solidFill>
              </a:rPr>
              <a:t>Controlling the reactions that produce solid solution strengthening or precipitation hardening</a:t>
            </a:r>
          </a:p>
          <a:p>
            <a:pPr algn="just" eaLnBrk="1" hangingPunct="1" indent="-480060" latinLnBrk="1" lvl="1" marL="800100">
              <a:lnSpc>
                <a:spcPct val="110000"/>
              </a:lnSpc>
              <a:spcBef>
                <a:spcPct val="20000"/>
              </a:spcBef>
              <a:buFontTx/>
              <a:buChar char="–"/>
            </a:pPr>
            <a:r>
              <a:rPr altLang="en-US" sz="3200" lang="en-US">
                <a:solidFill>
                  <a:srgbClr val="003399"/>
                </a:solidFill>
              </a:rPr>
              <a:t>Producing a desired level of toughness.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1">
  <p:cSld>
    <p:spTree>
      <p:nvGrpSpPr>
        <p:cNvPr id="103" name=""/>
        <p:cNvGrpSpPr/>
        <p:nvPr/>
      </p:nvGrpSpPr>
      <p:grpSpPr>
        <a:xfrm rot="0">
          <a:off x="0" y="0"/>
          <a:ext cx="0" cy="0"/>
          <a:chOff x="0" y="0"/>
          <a:chExt cx="0" cy="0"/>
        </a:xfrm>
      </p:grpSpPr>
      <p:sp>
        <p:nvSpPr>
          <p:cNvPr id="1048654" name=""/>
          <p:cNvSpPr txBox="1"/>
          <p:nvPr/>
        </p:nvSpPr>
        <p:spPr>
          <a:xfrm rot="0">
            <a:off x="381000" y="0"/>
            <a:ext cx="8458200" cy="6096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atinLnBrk="1" lvl="0"/>
            <a:r>
              <a:rPr altLang="en-US" b="1" sz="2400" lang="en-US" u="sng">
                <a:solidFill>
                  <a:srgbClr val="990033"/>
                </a:solidFill>
              </a:rPr>
              <a:t>Thermo-mechanical Processing and Controlled Rolling</a:t>
            </a:r>
          </a:p>
        </p:txBody>
      </p:sp>
      <p:sp>
        <p:nvSpPr>
          <p:cNvPr id="1048655" name=""/>
          <p:cNvSpPr txBox="1"/>
          <p:nvPr/>
        </p:nvSpPr>
        <p:spPr>
          <a:xfrm rot="0">
            <a:off x="0" y="533400"/>
            <a:ext cx="9144000" cy="63246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indent="-342900" latinLnBrk="1" lvl="0" marL="342900">
              <a:lnSpc>
                <a:spcPct val="120000"/>
              </a:lnSpc>
              <a:spcBef>
                <a:spcPct val="20000"/>
              </a:spcBef>
              <a:buFontTx/>
              <a:buChar char="•"/>
            </a:pPr>
            <a:r>
              <a:rPr altLang="en-US" sz="3200" lang="en-US">
                <a:solidFill>
                  <a:srgbClr val="006600"/>
                </a:solidFill>
              </a:rPr>
              <a:t>Following must all be specified and  controlled:-</a:t>
            </a:r>
          </a:p>
          <a:p>
            <a:pPr algn="just" eaLnBrk="1" hangingPunct="1" indent="-480060" latinLnBrk="1" lvl="1" marL="800100">
              <a:lnSpc>
                <a:spcPct val="120000"/>
              </a:lnSpc>
              <a:spcBef>
                <a:spcPct val="20000"/>
              </a:spcBef>
              <a:buFontTx/>
              <a:buChar char="–"/>
            </a:pPr>
            <a:r>
              <a:rPr altLang="en-US" sz="3200" lang="en-US">
                <a:solidFill>
                  <a:srgbClr val="006600"/>
                </a:solidFill>
              </a:rPr>
              <a:t>Starting structure (controlled by composition and prior thermal treatments),</a:t>
            </a:r>
          </a:p>
          <a:p>
            <a:pPr algn="just" eaLnBrk="1" hangingPunct="1" indent="-480060" latinLnBrk="1" lvl="1" marL="800100">
              <a:lnSpc>
                <a:spcPct val="120000"/>
              </a:lnSpc>
              <a:spcBef>
                <a:spcPct val="20000"/>
              </a:spcBef>
              <a:buFontTx/>
              <a:buChar char="–"/>
            </a:pPr>
            <a:r>
              <a:rPr altLang="en-US" sz="3200" lang="en-US">
                <a:solidFill>
                  <a:srgbClr val="003399"/>
                </a:solidFill>
              </a:rPr>
              <a:t>deformation details,</a:t>
            </a:r>
          </a:p>
          <a:p>
            <a:pPr algn="just" eaLnBrk="1" hangingPunct="1" indent="-480060" latinLnBrk="1" lvl="1" marL="800100">
              <a:lnSpc>
                <a:spcPct val="120000"/>
              </a:lnSpc>
              <a:spcBef>
                <a:spcPct val="20000"/>
              </a:spcBef>
              <a:buFontTx/>
              <a:buChar char="–"/>
            </a:pPr>
            <a:r>
              <a:rPr altLang="en-US" sz="3200" lang="en-US">
                <a:solidFill>
                  <a:srgbClr val="006600"/>
                </a:solidFill>
              </a:rPr>
              <a:t>temperature during the various stages of deformation, </a:t>
            </a:r>
          </a:p>
          <a:p>
            <a:pPr algn="just" eaLnBrk="1" hangingPunct="1" indent="-480060" latinLnBrk="1" lvl="1" marL="800100">
              <a:lnSpc>
                <a:spcPct val="120000"/>
              </a:lnSpc>
              <a:spcBef>
                <a:spcPct val="20000"/>
              </a:spcBef>
              <a:buFontTx/>
              <a:buChar char="–"/>
            </a:pPr>
            <a:r>
              <a:rPr altLang="en-US" sz="3200" lang="en-US">
                <a:solidFill>
                  <a:srgbClr val="003399"/>
                </a:solidFill>
              </a:rPr>
              <a:t>the cool down from the working temperature.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1">
  <p:cSld>
    <p:spTree>
      <p:nvGrpSpPr>
        <p:cNvPr id="104" name=""/>
        <p:cNvGrpSpPr/>
        <p:nvPr/>
      </p:nvGrpSpPr>
      <p:grpSpPr>
        <a:xfrm rot="0">
          <a:off x="0" y="0"/>
          <a:ext cx="0" cy="0"/>
          <a:chOff x="0" y="0"/>
          <a:chExt cx="0" cy="0"/>
        </a:xfrm>
      </p:grpSpPr>
      <p:sp>
        <p:nvSpPr>
          <p:cNvPr id="1048656" name=""/>
          <p:cNvSpPr txBox="1"/>
          <p:nvPr/>
        </p:nvSpPr>
        <p:spPr>
          <a:xfrm rot="0">
            <a:off x="381000" y="0"/>
            <a:ext cx="8458200" cy="6096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atinLnBrk="1" lvl="0"/>
            <a:r>
              <a:rPr altLang="en-US" b="1" sz="2400" lang="en-US" u="sng">
                <a:solidFill>
                  <a:srgbClr val="990033"/>
                </a:solidFill>
              </a:rPr>
              <a:t>Thermo-mechanical Processing and Controlled Rolling</a:t>
            </a:r>
          </a:p>
        </p:txBody>
      </p:sp>
      <p:sp>
        <p:nvSpPr>
          <p:cNvPr id="1048657" name=""/>
          <p:cNvSpPr txBox="1"/>
          <p:nvPr/>
        </p:nvSpPr>
        <p:spPr>
          <a:xfrm rot="0">
            <a:off x="0" y="533400"/>
            <a:ext cx="9144000" cy="6324600"/>
          </a:xfrm>
          <a:prstGeom prst="rect"/>
          <a:noFill/>
          <a:ln>
            <a:noFill/>
          </a:ln>
        </p:spPr>
        <p:txBody>
          <a:bodyPr anchor="t" bIns="45720" lIns="91440" rIns="91440" tIns="45720" vert="horz"/>
          <a:lstStyle>
            <a:lvl1pPr algn="l" fontAlgn="base" indent="0" latinLnBrk="1"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fontAlgn="base" indent="0" latinLnBrk="1"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fontAlgn="base" indent="0" latinLnBrk="1"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fontAlgn="base" indent="0" latinLnBrk="1"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fontAlgn="base" indent="0" latinLnBrk="1"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 eaLnBrk="1" hangingPunct="1" indent="-480060" latinLnBrk="1" lvl="1" marL="800100">
              <a:spcBef>
                <a:spcPct val="20000"/>
              </a:spcBef>
              <a:buFontTx/>
              <a:buChar char="–"/>
            </a:pPr>
            <a:r>
              <a:rPr altLang="en-US" sz="2400" lang="en-US">
                <a:solidFill>
                  <a:srgbClr val="003399"/>
                </a:solidFill>
              </a:rPr>
              <a:t>Computer-controlled rolling facilities are almost a necessity if thermo-mechanical processing is to be  performed successfully.</a:t>
            </a:r>
          </a:p>
          <a:p>
            <a:pPr algn="just" eaLnBrk="1" hangingPunct="1" indent="-480060" latinLnBrk="1" lvl="1" marL="800100">
              <a:spcBef>
                <a:spcPct val="20000"/>
              </a:spcBef>
              <a:buFontTx/>
              <a:buChar char="–"/>
            </a:pPr>
            <a:endParaRPr altLang="en-US" sz="2400" lang="en-US">
              <a:solidFill>
                <a:srgbClr val="003399"/>
              </a:solidFill>
            </a:endParaRPr>
          </a:p>
          <a:p>
            <a:pPr algn="just" eaLnBrk="1" hangingPunct="1" indent="-480060" latinLnBrk="1" lvl="1" marL="800100">
              <a:spcBef>
                <a:spcPct val="20000"/>
              </a:spcBef>
              <a:buFontTx/>
              <a:buChar char="–"/>
            </a:pPr>
            <a:r>
              <a:rPr altLang="en-US" sz="2400" lang="en-US">
                <a:solidFill>
                  <a:srgbClr val="006600"/>
                </a:solidFill>
              </a:rPr>
              <a:t>Possible benefits of thermo-mechanical processing include</a:t>
            </a:r>
          </a:p>
          <a:p>
            <a:pPr algn="just" eaLnBrk="1" hangingPunct="1" indent="-480060" latinLnBrk="1" lvl="1" marL="800100">
              <a:spcBef>
                <a:spcPct val="20000"/>
              </a:spcBef>
              <a:buFontTx/>
              <a:buChar char="–"/>
            </a:pPr>
            <a:endParaRPr altLang="en-US" sz="2400" lang="en-US">
              <a:solidFill>
                <a:srgbClr val="006600"/>
              </a:solidFill>
            </a:endParaRPr>
          </a:p>
          <a:p>
            <a:pPr algn="just" eaLnBrk="1" hangingPunct="1" indent="-480060" latinLnBrk="1" lvl="1" marL="800100">
              <a:spcBef>
                <a:spcPct val="20000"/>
              </a:spcBef>
              <a:buFontTx/>
              <a:buChar char="–"/>
            </a:pPr>
            <a:r>
              <a:rPr altLang="en-US" sz="2400" lang="en-US">
                <a:solidFill>
                  <a:srgbClr val="003399"/>
                </a:solidFill>
              </a:rPr>
              <a:t>improved product properties;</a:t>
            </a:r>
          </a:p>
          <a:p>
            <a:pPr algn="just" eaLnBrk="1" hangingPunct="1" indent="-480060" latinLnBrk="1" lvl="1" marL="800100">
              <a:spcBef>
                <a:spcPct val="20000"/>
              </a:spcBef>
              <a:buFontTx/>
              <a:buChar char="–"/>
            </a:pPr>
            <a:r>
              <a:rPr altLang="en-US" sz="2400" lang="en-US">
                <a:solidFill>
                  <a:srgbClr val="006600"/>
                </a:solidFill>
              </a:rPr>
              <a:t>substantial energy savings (by eliminating subsequent heat treatment);</a:t>
            </a:r>
          </a:p>
          <a:p>
            <a:pPr algn="just" eaLnBrk="1" hangingPunct="1" indent="-480060" latinLnBrk="1" lvl="1" marL="800100">
              <a:spcBef>
                <a:spcPct val="20000"/>
              </a:spcBef>
              <a:buFontTx/>
              <a:buChar char="–"/>
            </a:pPr>
            <a:r>
              <a:rPr altLang="en-US" sz="2400" lang="en-US">
                <a:solidFill>
                  <a:srgbClr val="003399"/>
                </a:solidFill>
              </a:rPr>
              <a:t>Possible substitution of a cheaper, less-alloyed metal for a highly alloyed one that responds to heat treatment.</a:t>
            </a:r>
          </a:p>
        </p:txBody>
      </p:sp>
    </p:spTree>
  </p:cSld>
  <p:clrMapOvr>
    <a:masterClrMapping/>
  </p:clrMapOvr>
</p:sld>
</file>

<file path=ppt/theme/theme1.xml><?xml version="1.0" encoding="utf-8"?>
<a:theme xmlns:a="http://schemas.openxmlformats.org/drawingml/2006/main" name="Office 主题">
  <a:themeElements>
    <a:clrScheme name="Default Color Scheme">
      <a:dk1>
        <a:srgbClr val="000000"/>
      </a:dk1>
      <a:lt1>
        <a:srgbClr val="FFFFFF"/>
      </a:lt1>
      <a:dk2>
        <a:srgbClr val="808080"/>
      </a:dk2>
      <a:lt2>
        <a:srgbClr val="000000"/>
      </a:lt2>
      <a:accent1>
        <a:srgbClr val="BBE0E3"/>
      </a:accent1>
      <a:accent2>
        <a:srgbClr val="333399"/>
      </a:accent2>
      <a:accent3>
        <a:srgbClr val="FFFFFF"/>
      </a:accent3>
      <a:accent4>
        <a:srgbClr val="000000"/>
      </a:accent4>
      <a:accent5>
        <a:srgbClr val="000000"/>
      </a:accent5>
      <a:accent6>
        <a:srgbClr val="000000"/>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Default Color Scheme 1">
        <a:dk1>
          <a:srgbClr val="000000"/>
        </a:dk1>
        <a:lt1>
          <a:srgbClr val="FFFFFF"/>
        </a:lt1>
        <a:dk2>
          <a:srgbClr val="808080"/>
        </a:dk2>
        <a:lt2>
          <a:srgbClr val="000000"/>
        </a:lt2>
        <a:accent1>
          <a:srgbClr val="BBE0E3"/>
        </a:accent1>
        <a:accent2>
          <a:srgbClr val="333399"/>
        </a:accent2>
        <a:accent3>
          <a:srgbClr val="FFFFFF"/>
        </a:accent3>
        <a:accent4>
          <a:srgbClr val="000000"/>
        </a:accent4>
        <a:accent5>
          <a:srgbClr val="000000"/>
        </a:accent5>
        <a:accent6>
          <a:srgbClr val="000000"/>
        </a:accent6>
        <a:hlink>
          <a:srgbClr val="009999"/>
        </a:hlink>
        <a:folHlink>
          <a:srgbClr val="99CC00"/>
        </a:folHlink>
      </a:clrScheme>
    </a:extraClrScheme>
    <a:extraClrScheme>
      <a:clrScheme name="Default Color Scheme 2">
        <a:dk1>
          <a:srgbClr val="000000"/>
        </a:dk1>
        <a:lt1>
          <a:srgbClr val="FFFFFF"/>
        </a:lt1>
        <a:dk2>
          <a:srgbClr val="969696"/>
        </a:dk2>
        <a:lt2>
          <a:srgbClr val="000000"/>
        </a:lt2>
        <a:accent1>
          <a:srgbClr val="FBDF53"/>
        </a:accent1>
        <a:accent2>
          <a:srgbClr val="FF9966"/>
        </a:accent2>
        <a:accent3>
          <a:srgbClr val="FFFFFF"/>
        </a:accent3>
        <a:accent4>
          <a:srgbClr val="000000"/>
        </a:accent4>
        <a:accent5>
          <a:srgbClr val="000000"/>
        </a:accent5>
        <a:accent6>
          <a:srgbClr val="000000"/>
        </a:accent6>
        <a:hlink>
          <a:srgbClr val="CC3300"/>
        </a:hlink>
        <a:folHlink>
          <a:srgbClr val="996600"/>
        </a:folHlink>
      </a:clrScheme>
    </a:extraClrScheme>
    <a:extraClrScheme>
      <a:clrScheme name="Default Color Scheme 3">
        <a:dk1>
          <a:srgbClr val="000000"/>
        </a:dk1>
        <a:lt1>
          <a:srgbClr val="FFFFFF"/>
        </a:lt1>
        <a:dk2>
          <a:srgbClr val="808080"/>
        </a:dk2>
        <a:lt2>
          <a:srgbClr val="000000"/>
        </a:lt2>
        <a:accent1>
          <a:srgbClr val="99CCFF"/>
        </a:accent1>
        <a:accent2>
          <a:srgbClr val="CCCCFF"/>
        </a:accent2>
        <a:accent3>
          <a:srgbClr val="FFFFFF"/>
        </a:accent3>
        <a:accent4>
          <a:srgbClr val="000000"/>
        </a:accent4>
        <a:accent5>
          <a:srgbClr val="000000"/>
        </a:accent5>
        <a:accent6>
          <a:srgbClr val="000000"/>
        </a:accent6>
        <a:hlink>
          <a:srgbClr val="3333CC"/>
        </a:hlink>
        <a:folHlink>
          <a:srgbClr val="AF67FF"/>
        </a:folHlink>
      </a:clrScheme>
    </a:extraClrScheme>
    <a:extraClrScheme>
      <a:clrScheme name="Default Color Scheme 4">
        <a:dk1>
          <a:srgbClr val="000000"/>
        </a:dk1>
        <a:lt1>
          <a:srgbClr val="DEF6F1"/>
        </a:lt1>
        <a:dk2>
          <a:srgbClr val="969696"/>
        </a:dk2>
        <a:lt2>
          <a:srgbClr val="000000"/>
        </a:lt2>
        <a:accent1>
          <a:srgbClr val="FFFFFF"/>
        </a:accent1>
        <a:accent2>
          <a:srgbClr val="8DC6FF"/>
        </a:accent2>
        <a:accent3>
          <a:srgbClr val="DEF6F1"/>
        </a:accent3>
        <a:accent4>
          <a:srgbClr val="000000"/>
        </a:accent4>
        <a:accent5>
          <a:srgbClr val="000000"/>
        </a:accent5>
        <a:accent6>
          <a:srgbClr val="000000"/>
        </a:accent6>
        <a:hlink>
          <a:srgbClr val="0066CC"/>
        </a:hlink>
        <a:folHlink>
          <a:srgbClr val="00A800"/>
        </a:folHlink>
      </a:clrScheme>
    </a:extraClrScheme>
    <a:extraClrScheme>
      <a:clrScheme name="Default Color Scheme 5">
        <a:dk1>
          <a:srgbClr val="000000"/>
        </a:dk1>
        <a:lt1>
          <a:srgbClr val="FFFFD9"/>
        </a:lt1>
        <a:dk2>
          <a:srgbClr val="777777"/>
        </a:dk2>
        <a:lt2>
          <a:srgbClr val="000000"/>
        </a:lt2>
        <a:accent1>
          <a:srgbClr val="FFFFF7"/>
        </a:accent1>
        <a:accent2>
          <a:srgbClr val="33CCCC"/>
        </a:accent2>
        <a:accent3>
          <a:srgbClr val="FFFFD9"/>
        </a:accent3>
        <a:accent4>
          <a:srgbClr val="000000"/>
        </a:accent4>
        <a:accent5>
          <a:srgbClr val="000000"/>
        </a:accent5>
        <a:accent6>
          <a:srgbClr val="000000"/>
        </a:accent6>
        <a:hlink>
          <a:srgbClr val="FF5050"/>
        </a:hlink>
        <a:folHlink>
          <a:srgbClr val="FF9900"/>
        </a:folHlink>
      </a:clrScheme>
    </a:extraClrScheme>
    <a:extraClrScheme>
      <a:clrScheme name="Default Color Scheme 6">
        <a:dk1>
          <a:srgbClr val="FFFFFF"/>
        </a:dk1>
        <a:lt1>
          <a:srgbClr val="008080"/>
        </a:lt1>
        <a:dk2>
          <a:srgbClr val="005A58"/>
        </a:dk2>
        <a:lt2>
          <a:srgbClr val="FFFF99"/>
        </a:lt2>
        <a:accent1>
          <a:srgbClr val="006462"/>
        </a:accent1>
        <a:accent2>
          <a:srgbClr val="6D6FC7"/>
        </a:accent2>
        <a:accent3>
          <a:srgbClr val="008080"/>
        </a:accent3>
        <a:accent4>
          <a:srgbClr val="FFFFFF"/>
        </a:accent4>
        <a:accent5>
          <a:srgbClr val="000000"/>
        </a:accent5>
        <a:accent6>
          <a:srgbClr val="000000"/>
        </a:accent6>
        <a:hlink>
          <a:srgbClr val="00FFFF"/>
        </a:hlink>
        <a:folHlink>
          <a:srgbClr val="00FF00"/>
        </a:folHlink>
      </a:clrScheme>
    </a:extraClrScheme>
    <a:extraClrScheme>
      <a:clrScheme name="Default Color Scheme 7">
        <a:dk1>
          <a:srgbClr val="FFFFFF"/>
        </a:dk1>
        <a:lt1>
          <a:srgbClr val="800000"/>
        </a:lt1>
        <a:dk2>
          <a:srgbClr val="5C1F00"/>
        </a:dk2>
        <a:lt2>
          <a:srgbClr val="DFD293"/>
        </a:lt2>
        <a:accent1>
          <a:srgbClr val="CC3300"/>
        </a:accent1>
        <a:accent2>
          <a:srgbClr val="BE7960"/>
        </a:accent2>
        <a:accent3>
          <a:srgbClr val="800000"/>
        </a:accent3>
        <a:accent4>
          <a:srgbClr val="FFFFFF"/>
        </a:accent4>
        <a:accent5>
          <a:srgbClr val="000000"/>
        </a:accent5>
        <a:accent6>
          <a:srgbClr val="000000"/>
        </a:accent6>
        <a:hlink>
          <a:srgbClr val="FFFF99"/>
        </a:hlink>
        <a:folHlink>
          <a:srgbClr val="D3A219"/>
        </a:folHlink>
      </a:clrScheme>
    </a:extraClrScheme>
    <a:extraClrScheme>
      <a:clrScheme name="Default Color Scheme 8">
        <a:dk1>
          <a:srgbClr val="FFFFFF"/>
        </a:dk1>
        <a:lt1>
          <a:srgbClr val="000099"/>
        </a:lt1>
        <a:dk2>
          <a:srgbClr val="003366"/>
        </a:dk2>
        <a:lt2>
          <a:srgbClr val="CCFFFF"/>
        </a:lt2>
        <a:accent1>
          <a:srgbClr val="3366CC"/>
        </a:accent1>
        <a:accent2>
          <a:srgbClr val="00B000"/>
        </a:accent2>
        <a:accent3>
          <a:srgbClr val="000099"/>
        </a:accent3>
        <a:accent4>
          <a:srgbClr val="FFFFFF"/>
        </a:accent4>
        <a:accent5>
          <a:srgbClr val="000000"/>
        </a:accent5>
        <a:accent6>
          <a:srgbClr val="000000"/>
        </a:accent6>
        <a:hlink>
          <a:srgbClr val="66CCFF"/>
        </a:hlink>
        <a:folHlink>
          <a:srgbClr val="FFE701"/>
        </a:folHlink>
      </a:clrScheme>
    </a:extraClrScheme>
    <a:extraClrScheme>
      <a:clrScheme name="Default Color Scheme 9">
        <a:dk1>
          <a:srgbClr val="FFFFFF"/>
        </a:dk1>
        <a:lt1>
          <a:srgbClr val="000000"/>
        </a:lt1>
        <a:dk2>
          <a:srgbClr val="336699"/>
        </a:dk2>
        <a:lt2>
          <a:srgbClr val="E3EBF1"/>
        </a:lt2>
        <a:accent1>
          <a:srgbClr val="003399"/>
        </a:accent1>
        <a:accent2>
          <a:srgbClr val="468A4B"/>
        </a:accent2>
        <a:accent3>
          <a:srgbClr val="000000"/>
        </a:accent3>
        <a:accent4>
          <a:srgbClr val="FFFFFF"/>
        </a:accent4>
        <a:accent5>
          <a:srgbClr val="000000"/>
        </a:accent5>
        <a:accent6>
          <a:srgbClr val="000000"/>
        </a:accent6>
        <a:hlink>
          <a:srgbClr val="66CCFF"/>
        </a:hlink>
        <a:folHlink>
          <a:srgbClr val="F0E500"/>
        </a:folHlink>
      </a:clrScheme>
    </a:extraClrScheme>
    <a:extraClrScheme>
      <a:clrScheme name="Default Color Scheme 10">
        <a:dk1>
          <a:srgbClr val="FFFFFF"/>
        </a:dk1>
        <a:lt1>
          <a:srgbClr val="686B5D"/>
        </a:lt1>
        <a:dk2>
          <a:srgbClr val="777777"/>
        </a:dk2>
        <a:lt2>
          <a:srgbClr val="D1D1CB"/>
        </a:lt2>
        <a:accent1>
          <a:srgbClr val="909082"/>
        </a:accent1>
        <a:accent2>
          <a:srgbClr val="809EA8"/>
        </a:accent2>
        <a:accent3>
          <a:srgbClr val="686B5D"/>
        </a:accent3>
        <a:accent4>
          <a:srgbClr val="FFFFFF"/>
        </a:accent4>
        <a:accent5>
          <a:srgbClr val="000000"/>
        </a:accent5>
        <a:accent6>
          <a:srgbClr val="000000"/>
        </a:accent6>
        <a:hlink>
          <a:srgbClr val="FFCC66"/>
        </a:hlink>
        <a:folHlink>
          <a:srgbClr val="E9DCB9"/>
        </a:folHlink>
      </a:clrScheme>
    </a:extraClrScheme>
    <a:extraClrScheme>
      <a:clrScheme name="Default Color Scheme 11">
        <a:dk1>
          <a:srgbClr val="FFFFFF"/>
        </a:dk1>
        <a:lt1>
          <a:srgbClr val="666699"/>
        </a:lt1>
        <a:dk2>
          <a:srgbClr val="3E3E5C"/>
        </a:dk2>
        <a:lt2>
          <a:srgbClr val="FFFFFF"/>
        </a:lt2>
        <a:accent1>
          <a:srgbClr val="60597B"/>
        </a:accent1>
        <a:accent2>
          <a:srgbClr val="6666FF"/>
        </a:accent2>
        <a:accent3>
          <a:srgbClr val="666699"/>
        </a:accent3>
        <a:accent4>
          <a:srgbClr val="FFFFFF"/>
        </a:accent4>
        <a:accent5>
          <a:srgbClr val="000000"/>
        </a:accent5>
        <a:accent6>
          <a:srgbClr val="000000"/>
        </a:accent6>
        <a:hlink>
          <a:srgbClr val="99CCFF"/>
        </a:hlink>
        <a:folHlink>
          <a:srgbClr val="FFFF99"/>
        </a:folHlink>
      </a:clrScheme>
    </a:extraClrScheme>
    <a:extraClrScheme>
      <a:clrScheme name="Default Color Scheme 12">
        <a:dk1>
          <a:srgbClr val="FFFFFF"/>
        </a:dk1>
        <a:lt1>
          <a:srgbClr val="523E26"/>
        </a:lt1>
        <a:dk2>
          <a:srgbClr val="2D2015"/>
        </a:dk2>
        <a:lt2>
          <a:srgbClr val="DFC08D"/>
        </a:lt2>
        <a:accent1>
          <a:srgbClr val="8C7B70"/>
        </a:accent1>
        <a:accent2>
          <a:srgbClr val="8F5F2F"/>
        </a:accent2>
        <a:accent3>
          <a:srgbClr val="523E26"/>
        </a:accent3>
        <a:accent4>
          <a:srgbClr val="FFFFFF"/>
        </a:accent4>
        <a:accent5>
          <a:srgbClr val="000000"/>
        </a:accent5>
        <a:accent6>
          <a:srgbClr val="000000"/>
        </a:accent6>
        <a:hlink>
          <a:srgbClr val="CCB400"/>
        </a:hlink>
        <a:folHlink>
          <a:srgbClr val="8C9EA0"/>
        </a:folHlink>
      </a:clrScheme>
    </a:extraClrScheme>
  </a:extraClrSchemeLst>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ScaleCrop>0</ScaleCrop>
  <LinksUpToDate>0</LinksUpToDate>
</Properties>
</file>

<file path=docProps/core.xml><?xml version="1.0" encoding="utf-8"?>
<cp:coreProperties xmlns:cp="http://schemas.openxmlformats.org/package/2006/metadata/core-properties" xmlns:dc="http://purl.org/dc/elements/1.1/" xmlns:dcterms="http://purl.org/dc/terms/" xmlns:xsi="http://www.w3.org/2001/XMLSchema-instance">
  <dc:title>Diapositiva 1</dc:title>
  <dc:creator>Mariajose</dc:creator>
  <cp:lastModifiedBy>BEENA</cp:lastModifiedBy>
  <dcterms:created xsi:type="dcterms:W3CDTF">2010-05-23T08:58:12Z</dcterms:created>
  <dcterms:modified xsi:type="dcterms:W3CDTF">2018-02-16T13:32:46Z</dcterms:modified>
</cp:coreProperties>
</file>