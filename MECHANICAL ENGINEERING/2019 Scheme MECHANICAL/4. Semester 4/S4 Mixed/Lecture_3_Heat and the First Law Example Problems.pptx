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4" r:id="rId6"/>
    <p:sldId id="265" r:id="rId7"/>
    <p:sldId id="266" r:id="rId8"/>
    <p:sldId id="260" r:id="rId9"/>
    <p:sldId id="261" r:id="rId10"/>
    <p:sldId id="262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CC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-23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82FE85-A052-45A8-9A5E-E50E457B730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B74752-63D5-423E-9846-C764F7AF52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012B54-B54E-437D-A8C8-ED0F84848F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DCD1DC-045C-4ECC-B143-5F7A8CFCA4B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95CD78-560E-4014-A859-01E8C6EB14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FFEEB-3AB5-4142-ABBF-B6BED172E5F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FDAE71-BCD6-4EC5-9E1F-CE0CCC06341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30B51B-BEDE-4CA1-8FAC-E9F65FC4DD2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EF0B0C-C789-4725-BB1A-68448F6F3E6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55D568-A4D7-4E35-8643-3A57247602F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555610-30F3-46A3-8AC4-02E8A20F66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A6B67EF-A145-420A-8316-EF2C6C84B8A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B87E4CC-9972-4064-AA14-2A87BB4ADA8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18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9.bin"/><Relationship Id="rId5" Type="http://schemas.openxmlformats.org/officeDocument/2006/relationships/oleObject" Target="../embeddings/oleObject28.bin"/><Relationship Id="rId4" Type="http://schemas.openxmlformats.org/officeDocument/2006/relationships/oleObject" Target="../embeddings/oleObject2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33.bin"/><Relationship Id="rId4" Type="http://schemas.openxmlformats.org/officeDocument/2006/relationships/oleObject" Target="../embeddings/oleObject3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oleObject" Target="../embeddings/oleObject35.bin"/><Relationship Id="rId4" Type="http://schemas.openxmlformats.org/officeDocument/2006/relationships/oleObject" Target="../embeddings/oleObject34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3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40.bin"/><Relationship Id="rId4" Type="http://schemas.openxmlformats.org/officeDocument/2006/relationships/oleObject" Target="../embeddings/oleObject3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5" Type="http://schemas.openxmlformats.org/officeDocument/2006/relationships/oleObject" Target="../embeddings/oleObject43.bin"/><Relationship Id="rId4" Type="http://schemas.openxmlformats.org/officeDocument/2006/relationships/oleObject" Target="../embeddings/oleObject4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288925" y="646113"/>
            <a:ext cx="8397875" cy="311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/>
            <a:r>
              <a:rPr lang="en-US"/>
              <a:t>A gas undergoes a thermodynamic cycle consisting of three processes:</a:t>
            </a:r>
          </a:p>
          <a:p>
            <a:pPr marL="342900" indent="-342900"/>
            <a:endParaRPr lang="en-US"/>
          </a:p>
          <a:p>
            <a:pPr marL="342900" indent="-342900"/>
            <a:r>
              <a:rPr lang="en-US"/>
              <a:t>	</a:t>
            </a:r>
            <a:r>
              <a:rPr lang="en-US">
                <a:solidFill>
                  <a:srgbClr val="000099"/>
                </a:solidFill>
              </a:rPr>
              <a:t>Process 1 - 2:		Compression with </a:t>
            </a:r>
            <a:r>
              <a:rPr lang="en-US" i="1">
                <a:solidFill>
                  <a:srgbClr val="000099"/>
                </a:solidFill>
                <a:latin typeface="Times New Roman" pitchFamily="18" charset="0"/>
              </a:rPr>
              <a:t>pV = constant</a:t>
            </a:r>
            <a:r>
              <a:rPr lang="en-US">
                <a:solidFill>
                  <a:srgbClr val="000099"/>
                </a:solidFill>
              </a:rPr>
              <a:t> from </a:t>
            </a:r>
            <a:r>
              <a:rPr lang="en-US" i="1">
                <a:solidFill>
                  <a:srgbClr val="000099"/>
                </a:solidFill>
                <a:latin typeface="Times New Roman" pitchFamily="18" charset="0"/>
              </a:rPr>
              <a:t>p</a:t>
            </a:r>
            <a:r>
              <a:rPr lang="en-US" i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>
                <a:solidFill>
                  <a:srgbClr val="000099"/>
                </a:solidFill>
              </a:rPr>
              <a:t> = 10</a:t>
            </a:r>
            <a:r>
              <a:rPr lang="en-US" baseline="30000">
                <a:solidFill>
                  <a:srgbClr val="000099"/>
                </a:solidFill>
              </a:rPr>
              <a:t>5</a:t>
            </a:r>
            <a:r>
              <a:rPr lang="en-US">
                <a:solidFill>
                  <a:srgbClr val="000099"/>
                </a:solidFill>
              </a:rPr>
              <a:t> Pa, </a:t>
            </a:r>
          </a:p>
          <a:p>
            <a:pPr marL="342900" indent="-342900"/>
            <a:r>
              <a:rPr lang="en-US">
                <a:solidFill>
                  <a:srgbClr val="000099"/>
                </a:solidFill>
              </a:rPr>
              <a:t>				 </a:t>
            </a:r>
            <a:r>
              <a:rPr lang="en-US" i="1">
                <a:solidFill>
                  <a:srgbClr val="000099"/>
                </a:solidFill>
                <a:latin typeface="Times New Roman" pitchFamily="18" charset="0"/>
              </a:rPr>
              <a:t>V</a:t>
            </a:r>
            <a:r>
              <a:rPr lang="en-US" i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>
                <a:solidFill>
                  <a:srgbClr val="000099"/>
                </a:solidFill>
              </a:rPr>
              <a:t> = 1.6 m</a:t>
            </a:r>
            <a:r>
              <a:rPr lang="en-US" baseline="30000">
                <a:solidFill>
                  <a:srgbClr val="000099"/>
                </a:solidFill>
              </a:rPr>
              <a:t>3</a:t>
            </a:r>
            <a:r>
              <a:rPr lang="en-US">
                <a:solidFill>
                  <a:srgbClr val="000099"/>
                </a:solidFill>
              </a:rPr>
              <a:t>, </a:t>
            </a:r>
            <a:r>
              <a:rPr lang="en-US" i="1">
                <a:solidFill>
                  <a:srgbClr val="000099"/>
                </a:solidFill>
                <a:latin typeface="Times New Roman" pitchFamily="18" charset="0"/>
              </a:rPr>
              <a:t>V</a:t>
            </a:r>
            <a:r>
              <a:rPr lang="en-US" i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lang="en-US">
                <a:solidFill>
                  <a:srgbClr val="000099"/>
                </a:solidFill>
              </a:rPr>
              <a:t> = 0.2 m</a:t>
            </a:r>
            <a:r>
              <a:rPr lang="en-US" baseline="30000">
                <a:solidFill>
                  <a:srgbClr val="000099"/>
                </a:solidFill>
              </a:rPr>
              <a:t>3</a:t>
            </a:r>
            <a:r>
              <a:rPr lang="en-US">
                <a:solidFill>
                  <a:srgbClr val="000099"/>
                </a:solidFill>
              </a:rPr>
              <a:t>, (</a:t>
            </a:r>
            <a:r>
              <a:rPr lang="en-US" i="1">
                <a:solidFill>
                  <a:srgbClr val="000099"/>
                </a:solidFill>
                <a:latin typeface="Times New Roman" pitchFamily="18" charset="0"/>
              </a:rPr>
              <a:t>U</a:t>
            </a:r>
            <a:r>
              <a:rPr lang="en-US" i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lang="en-US" i="1">
                <a:solidFill>
                  <a:srgbClr val="000099"/>
                </a:solidFill>
                <a:latin typeface="Times New Roman" pitchFamily="18" charset="0"/>
              </a:rPr>
              <a:t> –U</a:t>
            </a:r>
            <a:r>
              <a:rPr lang="en-US" i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>
                <a:solidFill>
                  <a:srgbClr val="000099"/>
                </a:solidFill>
              </a:rPr>
              <a:t>) = 0.</a:t>
            </a:r>
          </a:p>
          <a:p>
            <a:pPr marL="342900" indent="-342900"/>
            <a:endParaRPr lang="en-US">
              <a:solidFill>
                <a:srgbClr val="000099"/>
              </a:solidFill>
            </a:endParaRPr>
          </a:p>
          <a:p>
            <a:pPr marL="342900" indent="-342900"/>
            <a:r>
              <a:rPr lang="en-US"/>
              <a:t>	</a:t>
            </a:r>
            <a:r>
              <a:rPr lang="en-US">
                <a:solidFill>
                  <a:srgbClr val="B00000"/>
                </a:solidFill>
              </a:rPr>
              <a:t>Process 2 – 3:		Constant pressure expansion from 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V</a:t>
            </a:r>
            <a:r>
              <a:rPr lang="en-US" i="1" baseline="-25000">
                <a:solidFill>
                  <a:srgbClr val="B00000"/>
                </a:solidFill>
                <a:latin typeface="Times New Roman" pitchFamily="18" charset="0"/>
              </a:rPr>
              <a:t>2</a:t>
            </a:r>
            <a:r>
              <a:rPr lang="en-US">
                <a:solidFill>
                  <a:srgbClr val="B00000"/>
                </a:solidFill>
              </a:rPr>
              <a:t> to 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V</a:t>
            </a:r>
            <a:r>
              <a:rPr lang="en-US" i="1" baseline="-25000">
                <a:solidFill>
                  <a:srgbClr val="B00000"/>
                </a:solidFill>
                <a:latin typeface="Times New Roman" pitchFamily="18" charset="0"/>
              </a:rPr>
              <a:t>3</a:t>
            </a:r>
            <a:r>
              <a:rPr lang="en-US">
                <a:solidFill>
                  <a:srgbClr val="B00000"/>
                </a:solidFill>
              </a:rPr>
              <a:t>.</a:t>
            </a:r>
          </a:p>
          <a:p>
            <a:pPr marL="342900" indent="-342900"/>
            <a:endParaRPr lang="en-US">
              <a:solidFill>
                <a:srgbClr val="B00000"/>
              </a:solidFill>
            </a:endParaRPr>
          </a:p>
          <a:p>
            <a:pPr marL="342900" indent="-342900"/>
            <a:r>
              <a:rPr lang="en-US"/>
              <a:t>	</a:t>
            </a:r>
            <a:r>
              <a:rPr lang="en-US">
                <a:solidFill>
                  <a:schemeClr val="hlink"/>
                </a:solidFill>
              </a:rPr>
              <a:t>Process 3 – 1:		Constant volume, (</a:t>
            </a:r>
            <a:r>
              <a:rPr lang="en-US" i="1">
                <a:solidFill>
                  <a:schemeClr val="hlink"/>
                </a:solidFill>
                <a:latin typeface="Times New Roman" pitchFamily="18" charset="0"/>
              </a:rPr>
              <a:t>U</a:t>
            </a:r>
            <a:r>
              <a:rPr lang="en-US" i="1" baseline="-25000">
                <a:solidFill>
                  <a:schemeClr val="hlink"/>
                </a:solidFill>
                <a:latin typeface="Times New Roman" pitchFamily="18" charset="0"/>
              </a:rPr>
              <a:t>3</a:t>
            </a:r>
            <a:r>
              <a:rPr lang="en-US" i="1">
                <a:solidFill>
                  <a:schemeClr val="hlink"/>
                </a:solidFill>
                <a:latin typeface="Times New Roman" pitchFamily="18" charset="0"/>
              </a:rPr>
              <a:t> –U</a:t>
            </a:r>
            <a:r>
              <a:rPr lang="en-US" i="1" baseline="-25000">
                <a:solidFill>
                  <a:schemeClr val="hlink"/>
                </a:solidFill>
                <a:latin typeface="Times New Roman" pitchFamily="18" charset="0"/>
              </a:rPr>
              <a:t>1</a:t>
            </a:r>
            <a:r>
              <a:rPr lang="en-US">
                <a:solidFill>
                  <a:schemeClr val="hlink"/>
                </a:solidFill>
              </a:rPr>
              <a:t>) = -3549 kJ.</a:t>
            </a:r>
          </a:p>
          <a:p>
            <a:pPr marL="342900" indent="-342900"/>
            <a:endParaRPr lang="en-US"/>
          </a:p>
          <a:p>
            <a:pPr marL="342900" indent="-342900">
              <a:buFontTx/>
              <a:buAutoNum type="alphaLcParenBoth"/>
            </a:pPr>
            <a:r>
              <a:rPr lang="en-US"/>
              <a:t> Sketch the cycle.</a:t>
            </a:r>
          </a:p>
          <a:p>
            <a:pPr marL="342900" indent="-342900">
              <a:buFontTx/>
              <a:buAutoNum type="alphaLcParenBoth"/>
            </a:pPr>
            <a:r>
              <a:rPr lang="en-US"/>
              <a:t> Determine the heat transfer and the work for process 2 – 3.</a:t>
            </a:r>
          </a:p>
        </p:txBody>
      </p:sp>
      <p:grpSp>
        <p:nvGrpSpPr>
          <p:cNvPr id="3075" name="Group 3"/>
          <p:cNvGrpSpPr>
            <a:grpSpLocks/>
          </p:cNvGrpSpPr>
          <p:nvPr/>
        </p:nvGrpSpPr>
        <p:grpSpPr bwMode="auto">
          <a:xfrm>
            <a:off x="3200400" y="4648200"/>
            <a:ext cx="0" cy="990600"/>
            <a:chOff x="2016" y="2928"/>
            <a:chExt cx="0" cy="624"/>
          </a:xfrm>
        </p:grpSpPr>
        <p:sp>
          <p:nvSpPr>
            <p:cNvPr id="3076" name="Line 4"/>
            <p:cNvSpPr>
              <a:spLocks noChangeShapeType="1"/>
            </p:cNvSpPr>
            <p:nvPr/>
          </p:nvSpPr>
          <p:spPr bwMode="auto">
            <a:xfrm>
              <a:off x="2016" y="2928"/>
              <a:ext cx="0" cy="62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77" name="Line 5"/>
            <p:cNvSpPr>
              <a:spLocks noChangeShapeType="1"/>
            </p:cNvSpPr>
            <p:nvPr/>
          </p:nvSpPr>
          <p:spPr bwMode="auto">
            <a:xfrm>
              <a:off x="2016" y="3024"/>
              <a:ext cx="0" cy="2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8" name="Group 6"/>
          <p:cNvGrpSpPr>
            <a:grpSpLocks/>
          </p:cNvGrpSpPr>
          <p:nvPr/>
        </p:nvGrpSpPr>
        <p:grpSpPr bwMode="auto">
          <a:xfrm>
            <a:off x="1295400" y="4267200"/>
            <a:ext cx="2216150" cy="1662113"/>
            <a:chOff x="816" y="2688"/>
            <a:chExt cx="1396" cy="1047"/>
          </a:xfrm>
        </p:grpSpPr>
        <p:sp>
          <p:nvSpPr>
            <p:cNvPr id="3079" name="Freeform 7"/>
            <p:cNvSpPr>
              <a:spLocks/>
            </p:cNvSpPr>
            <p:nvPr/>
          </p:nvSpPr>
          <p:spPr bwMode="auto">
            <a:xfrm>
              <a:off x="960" y="2928"/>
              <a:ext cx="1056" cy="6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4" y="192"/>
                </a:cxn>
                <a:cxn ang="0">
                  <a:pos x="384" y="384"/>
                </a:cxn>
                <a:cxn ang="0">
                  <a:pos x="672" y="528"/>
                </a:cxn>
                <a:cxn ang="0">
                  <a:pos x="1056" y="624"/>
                </a:cxn>
              </a:cxnLst>
              <a:rect l="0" t="0" r="r" b="b"/>
              <a:pathLst>
                <a:path w="1056" h="624">
                  <a:moveTo>
                    <a:pt x="0" y="0"/>
                  </a:moveTo>
                  <a:cubicBezTo>
                    <a:pt x="40" y="64"/>
                    <a:pt x="80" y="128"/>
                    <a:pt x="144" y="192"/>
                  </a:cubicBezTo>
                  <a:cubicBezTo>
                    <a:pt x="208" y="256"/>
                    <a:pt x="296" y="328"/>
                    <a:pt x="384" y="384"/>
                  </a:cubicBezTo>
                  <a:cubicBezTo>
                    <a:pt x="472" y="440"/>
                    <a:pt x="560" y="488"/>
                    <a:pt x="672" y="528"/>
                  </a:cubicBezTo>
                  <a:cubicBezTo>
                    <a:pt x="784" y="568"/>
                    <a:pt x="920" y="596"/>
                    <a:pt x="1056" y="624"/>
                  </a:cubicBezTo>
                </a:path>
              </a:pathLst>
            </a:custGeom>
            <a:noFill/>
            <a:ln w="19050" cmpd="sng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80" name="Freeform 8"/>
            <p:cNvSpPr>
              <a:spLocks/>
            </p:cNvSpPr>
            <p:nvPr/>
          </p:nvSpPr>
          <p:spPr bwMode="auto">
            <a:xfrm>
              <a:off x="1152" y="3168"/>
              <a:ext cx="384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144"/>
                </a:cxn>
                <a:cxn ang="0">
                  <a:pos x="384" y="240"/>
                </a:cxn>
              </a:cxnLst>
              <a:rect l="0" t="0" r="r" b="b"/>
              <a:pathLst>
                <a:path w="384" h="240">
                  <a:moveTo>
                    <a:pt x="0" y="0"/>
                  </a:moveTo>
                  <a:cubicBezTo>
                    <a:pt x="64" y="52"/>
                    <a:pt x="128" y="104"/>
                    <a:pt x="192" y="144"/>
                  </a:cubicBezTo>
                  <a:cubicBezTo>
                    <a:pt x="256" y="184"/>
                    <a:pt x="320" y="212"/>
                    <a:pt x="384" y="240"/>
                  </a:cubicBezTo>
                </a:path>
              </a:pathLst>
            </a:custGeom>
            <a:noFill/>
            <a:ln w="19050" cmpd="sng">
              <a:solidFill>
                <a:srgbClr val="000099"/>
              </a:solidFill>
              <a:round/>
              <a:headEnd type="stealth" w="lg" len="lg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81" name="Text Box 9"/>
            <p:cNvSpPr txBox="1">
              <a:spLocks noChangeArrowheads="1"/>
            </p:cNvSpPr>
            <p:nvPr/>
          </p:nvSpPr>
          <p:spPr bwMode="auto">
            <a:xfrm>
              <a:off x="2016" y="35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3082" name="Text Box 10"/>
            <p:cNvSpPr txBox="1">
              <a:spLocks noChangeArrowheads="1"/>
            </p:cNvSpPr>
            <p:nvPr/>
          </p:nvSpPr>
          <p:spPr bwMode="auto">
            <a:xfrm>
              <a:off x="816" y="2688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2</a:t>
              </a:r>
            </a:p>
          </p:txBody>
        </p:sp>
      </p:grpSp>
      <p:grpSp>
        <p:nvGrpSpPr>
          <p:cNvPr id="3083" name="Group 11"/>
          <p:cNvGrpSpPr>
            <a:grpSpLocks/>
          </p:cNvGrpSpPr>
          <p:nvPr/>
        </p:nvGrpSpPr>
        <p:grpSpPr bwMode="auto">
          <a:xfrm>
            <a:off x="1524000" y="4343400"/>
            <a:ext cx="1911350" cy="366713"/>
            <a:chOff x="960" y="2736"/>
            <a:chExt cx="1204" cy="231"/>
          </a:xfrm>
        </p:grpSpPr>
        <p:sp>
          <p:nvSpPr>
            <p:cNvPr id="3084" name="Line 12"/>
            <p:cNvSpPr>
              <a:spLocks noChangeShapeType="1"/>
            </p:cNvSpPr>
            <p:nvPr/>
          </p:nvSpPr>
          <p:spPr bwMode="auto">
            <a:xfrm>
              <a:off x="960" y="2928"/>
              <a:ext cx="1056" cy="0"/>
            </a:xfrm>
            <a:prstGeom prst="line">
              <a:avLst/>
            </a:prstGeom>
            <a:noFill/>
            <a:ln w="9525">
              <a:solidFill>
                <a:srgbClr val="B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85" name="Line 13"/>
            <p:cNvSpPr>
              <a:spLocks noChangeShapeType="1"/>
            </p:cNvSpPr>
            <p:nvPr/>
          </p:nvSpPr>
          <p:spPr bwMode="auto">
            <a:xfrm>
              <a:off x="1344" y="2928"/>
              <a:ext cx="240" cy="0"/>
            </a:xfrm>
            <a:prstGeom prst="line">
              <a:avLst/>
            </a:prstGeom>
            <a:noFill/>
            <a:ln w="19050">
              <a:solidFill>
                <a:srgbClr val="B0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86" name="Text Box 14"/>
            <p:cNvSpPr txBox="1">
              <a:spLocks noChangeArrowheads="1"/>
            </p:cNvSpPr>
            <p:nvPr/>
          </p:nvSpPr>
          <p:spPr bwMode="auto">
            <a:xfrm>
              <a:off x="1968" y="273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3</a:t>
              </a:r>
            </a:p>
          </p:txBody>
        </p:sp>
      </p:grpSp>
      <p:sp>
        <p:nvSpPr>
          <p:cNvPr id="3087" name="Text Box 15"/>
          <p:cNvSpPr txBox="1">
            <a:spLocks noChangeArrowheads="1"/>
          </p:cNvSpPr>
          <p:nvPr/>
        </p:nvSpPr>
        <p:spPr bwMode="auto">
          <a:xfrm>
            <a:off x="4038600" y="4419600"/>
            <a:ext cx="4876800" cy="219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Notes:</a:t>
            </a:r>
          </a:p>
          <a:p>
            <a:endParaRPr lang="en-US"/>
          </a:p>
          <a:p>
            <a:r>
              <a:rPr lang="en-US"/>
              <a:t>For 1 - 2:  Since </a:t>
            </a:r>
            <a:r>
              <a:rPr lang="en-US">
                <a:sym typeface="Symbol" pitchFamily="18" charset="2"/>
              </a:rPr>
              <a:t>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U</a:t>
            </a:r>
            <a:r>
              <a:rPr lang="en-US" i="1" baseline="-25000">
                <a:latin typeface="Times New Roman" pitchFamily="18" charset="0"/>
                <a:sym typeface="Symbol" pitchFamily="18" charset="2"/>
              </a:rPr>
              <a:t>12</a:t>
            </a:r>
            <a:r>
              <a:rPr lang="en-US">
                <a:sym typeface="Symbol" pitchFamily="18" charset="2"/>
              </a:rPr>
              <a:t> = 0,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Q</a:t>
            </a:r>
            <a:r>
              <a:rPr lang="en-US" i="1" baseline="-25000">
                <a:latin typeface="Times New Roman" pitchFamily="18" charset="0"/>
                <a:sym typeface="Symbol" pitchFamily="18" charset="2"/>
              </a:rPr>
              <a:t>12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 = W</a:t>
            </a:r>
            <a:r>
              <a:rPr lang="en-US" i="1" baseline="-25000">
                <a:latin typeface="Times New Roman" pitchFamily="18" charset="0"/>
                <a:sym typeface="Symbol" pitchFamily="18" charset="2"/>
              </a:rPr>
              <a:t>12</a:t>
            </a:r>
          </a:p>
          <a:p>
            <a:endParaRPr lang="en-US" i="1" baseline="-25000">
              <a:latin typeface="Times New Roman" pitchFamily="18" charset="0"/>
              <a:sym typeface="Symbol" pitchFamily="18" charset="2"/>
            </a:endParaRPr>
          </a:p>
          <a:p>
            <a:r>
              <a:rPr lang="en-US">
                <a:sym typeface="Symbol" pitchFamily="18" charset="2"/>
              </a:rPr>
              <a:t>For 3 – 1: Since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dV</a:t>
            </a:r>
            <a:r>
              <a:rPr lang="en-US" i="1" baseline="-25000">
                <a:latin typeface="Times New Roman" pitchFamily="18" charset="0"/>
                <a:sym typeface="Symbol" pitchFamily="18" charset="2"/>
              </a:rPr>
              <a:t>31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 = 0</a:t>
            </a:r>
            <a:r>
              <a:rPr lang="en-US">
                <a:sym typeface="Symbol" pitchFamily="18" charset="2"/>
              </a:rPr>
              <a:t>,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W</a:t>
            </a:r>
            <a:r>
              <a:rPr lang="en-US" i="1" baseline="-25000">
                <a:latin typeface="Times New Roman" pitchFamily="18" charset="0"/>
                <a:sym typeface="Symbol" pitchFamily="18" charset="2"/>
              </a:rPr>
              <a:t>31</a:t>
            </a:r>
            <a:r>
              <a:rPr lang="en-US">
                <a:sym typeface="Symbol" pitchFamily="18" charset="2"/>
              </a:rPr>
              <a:t> = 0.</a:t>
            </a:r>
          </a:p>
          <a:p>
            <a:endParaRPr lang="en-US">
              <a:sym typeface="Symbol" pitchFamily="18" charset="2"/>
            </a:endParaRPr>
          </a:p>
          <a:p>
            <a:r>
              <a:rPr lang="en-US">
                <a:sym typeface="Symbol" pitchFamily="18" charset="2"/>
              </a:rPr>
              <a:t>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U</a:t>
            </a:r>
            <a:r>
              <a:rPr lang="en-US" i="1" baseline="-25000">
                <a:latin typeface="Times New Roman" pitchFamily="18" charset="0"/>
                <a:sym typeface="Symbol" pitchFamily="18" charset="2"/>
              </a:rPr>
              <a:t>cycle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= 0.  </a:t>
            </a:r>
            <a:endParaRPr lang="en-US"/>
          </a:p>
          <a:p>
            <a:endParaRPr lang="en-US">
              <a:sym typeface="Symbol" pitchFamily="18" charset="2"/>
            </a:endParaRPr>
          </a:p>
        </p:txBody>
      </p:sp>
      <p:grpSp>
        <p:nvGrpSpPr>
          <p:cNvPr id="3088" name="Group 16"/>
          <p:cNvGrpSpPr>
            <a:grpSpLocks/>
          </p:cNvGrpSpPr>
          <p:nvPr/>
        </p:nvGrpSpPr>
        <p:grpSpPr bwMode="auto">
          <a:xfrm>
            <a:off x="685800" y="3886200"/>
            <a:ext cx="3124200" cy="2652713"/>
            <a:chOff x="432" y="2448"/>
            <a:chExt cx="1968" cy="1671"/>
          </a:xfrm>
        </p:grpSpPr>
        <p:grpSp>
          <p:nvGrpSpPr>
            <p:cNvPr id="3089" name="Group 17"/>
            <p:cNvGrpSpPr>
              <a:grpSpLocks/>
            </p:cNvGrpSpPr>
            <p:nvPr/>
          </p:nvGrpSpPr>
          <p:grpSpPr bwMode="auto">
            <a:xfrm>
              <a:off x="432" y="2592"/>
              <a:ext cx="1968" cy="1527"/>
              <a:chOff x="432" y="2592"/>
              <a:chExt cx="1968" cy="1527"/>
            </a:xfrm>
          </p:grpSpPr>
          <p:sp>
            <p:nvSpPr>
              <p:cNvPr id="3090" name="Line 18"/>
              <p:cNvSpPr>
                <a:spLocks noChangeShapeType="1"/>
              </p:cNvSpPr>
              <p:nvPr/>
            </p:nvSpPr>
            <p:spPr bwMode="auto">
              <a:xfrm>
                <a:off x="720" y="2592"/>
                <a:ext cx="0" cy="12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1" name="Line 19"/>
              <p:cNvSpPr>
                <a:spLocks noChangeShapeType="1"/>
              </p:cNvSpPr>
              <p:nvPr/>
            </p:nvSpPr>
            <p:spPr bwMode="auto">
              <a:xfrm>
                <a:off x="720" y="3840"/>
                <a:ext cx="16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2" name="Text Box 20"/>
              <p:cNvSpPr txBox="1">
                <a:spLocks noChangeArrowheads="1"/>
              </p:cNvSpPr>
              <p:nvPr/>
            </p:nvSpPr>
            <p:spPr bwMode="auto">
              <a:xfrm>
                <a:off x="432" y="2592"/>
                <a:ext cx="19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p</a:t>
                </a:r>
              </a:p>
            </p:txBody>
          </p:sp>
          <p:sp>
            <p:nvSpPr>
              <p:cNvPr id="3093" name="Text Box 21"/>
              <p:cNvSpPr txBox="1">
                <a:spLocks noChangeArrowheads="1"/>
              </p:cNvSpPr>
              <p:nvPr/>
            </p:nvSpPr>
            <p:spPr bwMode="auto">
              <a:xfrm>
                <a:off x="1872" y="3888"/>
                <a:ext cx="21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V</a:t>
                </a:r>
              </a:p>
            </p:txBody>
          </p:sp>
        </p:grpSp>
        <p:sp>
          <p:nvSpPr>
            <p:cNvPr id="3094" name="Text Box 22"/>
            <p:cNvSpPr txBox="1">
              <a:spLocks noChangeArrowheads="1"/>
            </p:cNvSpPr>
            <p:nvPr/>
          </p:nvSpPr>
          <p:spPr bwMode="auto">
            <a:xfrm>
              <a:off x="1344" y="2448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(a)</a:t>
              </a:r>
            </a:p>
          </p:txBody>
        </p:sp>
      </p:grpSp>
      <p:sp>
        <p:nvSpPr>
          <p:cNvPr id="3095" name="Text Box 23"/>
          <p:cNvSpPr txBox="1">
            <a:spLocks noChangeArrowheads="1"/>
          </p:cNvSpPr>
          <p:nvPr/>
        </p:nvSpPr>
        <p:spPr bwMode="auto">
          <a:xfrm>
            <a:off x="2819400" y="55563"/>
            <a:ext cx="35909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000099"/>
                </a:solidFill>
              </a:rPr>
              <a:t>Example 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41325" y="265113"/>
            <a:ext cx="5492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(b)</a:t>
            </a:r>
            <a:r>
              <a:rPr lang="en-US">
                <a:solidFill>
                  <a:srgbClr val="B00000"/>
                </a:solidFill>
              </a:rPr>
              <a:t>      </a:t>
            </a: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5880100" y="2108200"/>
          <a:ext cx="2730500" cy="406400"/>
        </p:xfrm>
        <a:graphic>
          <a:graphicData uri="http://schemas.openxmlformats.org/presentationml/2006/ole">
            <p:oleObj spid="_x0000_s4099" name="Equation" r:id="rId3" imgW="2730240" imgH="406080" progId="Equation.3">
              <p:embed/>
            </p:oleObj>
          </a:graphicData>
        </a:graphic>
      </p:graphicFrame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203325" y="2093913"/>
            <a:ext cx="4387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work in the process 2 – 3 is given by,</a:t>
            </a: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1219200" y="2590800"/>
            <a:ext cx="7620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In order to determine this work, we need </a:t>
            </a:r>
            <a:r>
              <a:rPr lang="en-US" i="1">
                <a:latin typeface="Times New Roman" pitchFamily="18" charset="0"/>
              </a:rPr>
              <a:t>V</a:t>
            </a:r>
            <a:r>
              <a:rPr lang="en-US" i="1" baseline="-25000">
                <a:latin typeface="Times New Roman" pitchFamily="18" charset="0"/>
              </a:rPr>
              <a:t>2</a:t>
            </a:r>
            <a:r>
              <a:rPr lang="en-US"/>
              <a:t> since we know that </a:t>
            </a:r>
            <a:r>
              <a:rPr lang="en-US" i="1">
                <a:latin typeface="Times New Roman" pitchFamily="18" charset="0"/>
              </a:rPr>
              <a:t>V</a:t>
            </a:r>
            <a:r>
              <a:rPr lang="en-US" i="1" baseline="-25000">
                <a:latin typeface="Times New Roman" pitchFamily="18" charset="0"/>
              </a:rPr>
              <a:t>3</a:t>
            </a:r>
            <a:r>
              <a:rPr lang="en-US"/>
              <a:t> = </a:t>
            </a:r>
            <a:r>
              <a:rPr lang="en-US" i="1">
                <a:latin typeface="Times New Roman" pitchFamily="18" charset="0"/>
              </a:rPr>
              <a:t>V</a:t>
            </a:r>
            <a:r>
              <a:rPr lang="en-US" i="1" baseline="-25000">
                <a:latin typeface="Times New Roman" pitchFamily="18" charset="0"/>
              </a:rPr>
              <a:t>1</a:t>
            </a:r>
            <a:r>
              <a:rPr lang="en-US"/>
              <a:t>. We can get </a:t>
            </a:r>
            <a:r>
              <a:rPr lang="en-US" i="1">
                <a:latin typeface="Times New Roman" pitchFamily="18" charset="0"/>
              </a:rPr>
              <a:t>V</a:t>
            </a:r>
            <a:r>
              <a:rPr lang="en-US" i="1" baseline="-25000">
                <a:latin typeface="Times New Roman" pitchFamily="18" charset="0"/>
              </a:rPr>
              <a:t>2</a:t>
            </a:r>
            <a:r>
              <a:rPr lang="en-US"/>
              <a:t> from the relation, </a:t>
            </a:r>
            <a:r>
              <a:rPr lang="en-US" i="1">
                <a:latin typeface="Times New Roman" pitchFamily="18" charset="0"/>
              </a:rPr>
              <a:t>pV = constant</a:t>
            </a:r>
            <a:r>
              <a:rPr lang="en-US"/>
              <a:t> .</a:t>
            </a:r>
          </a:p>
        </p:txBody>
      </p:sp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2057400" y="3429000"/>
          <a:ext cx="5016500" cy="355600"/>
        </p:xfrm>
        <a:graphic>
          <a:graphicData uri="http://schemas.openxmlformats.org/presentationml/2006/ole">
            <p:oleObj spid="_x0000_s4102" name="Equation" r:id="rId4" imgW="5016240" imgH="355320" progId="Equation.DSMT4">
              <p:embed/>
            </p:oleObj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698500" y="5715000"/>
          <a:ext cx="8013700" cy="635000"/>
        </p:xfrm>
        <a:graphic>
          <a:graphicData uri="http://schemas.openxmlformats.org/presentationml/2006/ole">
            <p:oleObj spid="_x0000_s4103" name="Equation" r:id="rId5" imgW="8013600" imgH="634680" progId="Equation.DSMT4">
              <p:embed/>
            </p:oleObj>
          </a:graphicData>
        </a:graphic>
      </p:graphicFrame>
      <p:graphicFrame>
        <p:nvGraphicFramePr>
          <p:cNvPr id="4104" name="Object 8"/>
          <p:cNvGraphicFramePr>
            <a:graphicFrameLocks noChangeAspect="1"/>
          </p:cNvGraphicFramePr>
          <p:nvPr/>
        </p:nvGraphicFramePr>
        <p:xfrm>
          <a:off x="4114800" y="3675063"/>
          <a:ext cx="914400" cy="268287"/>
        </p:xfrm>
        <a:graphic>
          <a:graphicData uri="http://schemas.openxmlformats.org/presentationml/2006/ole">
            <p:oleObj spid="_x0000_s4104" name="Equation" r:id="rId6" imgW="914400" imgH="267840" progId="Equation.DSMT4">
              <p:embed/>
            </p:oleObj>
          </a:graphicData>
        </a:graphic>
      </p:graphicFrame>
      <p:graphicFrame>
        <p:nvGraphicFramePr>
          <p:cNvPr id="4105" name="Object 9"/>
          <p:cNvGraphicFramePr>
            <a:graphicFrameLocks noChangeAspect="1"/>
          </p:cNvGraphicFramePr>
          <p:nvPr/>
        </p:nvGraphicFramePr>
        <p:xfrm>
          <a:off x="2057400" y="4038600"/>
          <a:ext cx="4686300" cy="355600"/>
        </p:xfrm>
        <a:graphic>
          <a:graphicData uri="http://schemas.openxmlformats.org/presentationml/2006/ole">
            <p:oleObj spid="_x0000_s4105" name="Equation" r:id="rId7" imgW="4686120" imgH="355320" progId="Equation.DSMT4">
              <p:embed/>
            </p:oleObj>
          </a:graphicData>
        </a:graphic>
      </p:graphicFrame>
      <p:graphicFrame>
        <p:nvGraphicFramePr>
          <p:cNvPr id="4106" name="Object 10"/>
          <p:cNvGraphicFramePr>
            <a:graphicFrameLocks noChangeAspect="1"/>
          </p:cNvGraphicFramePr>
          <p:nvPr/>
        </p:nvGraphicFramePr>
        <p:xfrm>
          <a:off x="1447800" y="838200"/>
          <a:ext cx="3632200" cy="1130300"/>
        </p:xfrm>
        <a:graphic>
          <a:graphicData uri="http://schemas.openxmlformats.org/presentationml/2006/ole">
            <p:oleObj spid="_x0000_s4106" name="Equation" r:id="rId8" imgW="3632040" imgH="1130040" progId="Equation.DSMT4">
              <p:embed/>
            </p:oleObj>
          </a:graphicData>
        </a:graphic>
      </p:graphicFrame>
      <p:graphicFrame>
        <p:nvGraphicFramePr>
          <p:cNvPr id="4107" name="Object 11"/>
          <p:cNvGraphicFramePr>
            <a:graphicFrameLocks noChangeAspect="1"/>
          </p:cNvGraphicFramePr>
          <p:nvPr/>
        </p:nvGraphicFramePr>
        <p:xfrm>
          <a:off x="1993900" y="4699000"/>
          <a:ext cx="4356100" cy="330200"/>
        </p:xfrm>
        <a:graphic>
          <a:graphicData uri="http://schemas.openxmlformats.org/presentationml/2006/ole">
            <p:oleObj spid="_x0000_s4107" name="Equation" r:id="rId9" imgW="4356000" imgH="330120" progId="Equation.DSMT4">
              <p:embed/>
            </p:oleObj>
          </a:graphicData>
        </a:graphic>
      </p:graphicFrame>
      <p:sp>
        <p:nvSpPr>
          <p:cNvPr id="4108" name="Text Box 12"/>
          <p:cNvSpPr txBox="1">
            <a:spLocks noChangeArrowheads="1"/>
          </p:cNvSpPr>
          <p:nvPr/>
        </p:nvSpPr>
        <p:spPr bwMode="auto">
          <a:xfrm>
            <a:off x="609600" y="5272088"/>
            <a:ext cx="4892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Also note that since </a:t>
            </a:r>
            <a:r>
              <a:rPr lang="en-US" i="1">
                <a:latin typeface="Symbol" pitchFamily="18" charset="2"/>
                <a:sym typeface="Symbol" pitchFamily="18" charset="2"/>
              </a:rPr>
              <a:t>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U</a:t>
            </a:r>
            <a:r>
              <a:rPr lang="en-US" i="1" baseline="-25000">
                <a:latin typeface="Symbol" pitchFamily="18" charset="2"/>
                <a:sym typeface="Symbol" pitchFamily="18" charset="2"/>
              </a:rPr>
              <a:t>12</a:t>
            </a:r>
            <a:r>
              <a:rPr lang="en-US" i="1">
                <a:latin typeface="Symbol" pitchFamily="18" charset="2"/>
                <a:sym typeface="Symbol" pitchFamily="18" charset="2"/>
              </a:rPr>
              <a:t> = 0,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Q</a:t>
            </a:r>
            <a:r>
              <a:rPr lang="en-US" i="1" baseline="-25000">
                <a:latin typeface="Times New Roman" pitchFamily="18" charset="0"/>
                <a:sym typeface="Symbol" pitchFamily="18" charset="2"/>
              </a:rPr>
              <a:t>12</a:t>
            </a:r>
            <a:r>
              <a:rPr lang="en-US" i="1">
                <a:latin typeface="Symbol" pitchFamily="18" charset="2"/>
                <a:sym typeface="Symbol" pitchFamily="18" charset="2"/>
              </a:rPr>
              <a:t> = </a:t>
            </a:r>
            <a:r>
              <a:rPr lang="en-US" i="1">
                <a:latin typeface="Times New Roman" pitchFamily="18" charset="0"/>
                <a:sym typeface="Symbol" pitchFamily="18" charset="2"/>
              </a:rPr>
              <a:t>W</a:t>
            </a:r>
            <a:r>
              <a:rPr lang="en-US" i="1" baseline="-25000">
                <a:latin typeface="Symbol" pitchFamily="18" charset="2"/>
                <a:sym typeface="Symbol" pitchFamily="18" charset="2"/>
              </a:rPr>
              <a:t>12</a:t>
            </a:r>
            <a:r>
              <a:rPr lang="en-US">
                <a:sym typeface="Symbol" pitchFamily="18" charset="2"/>
              </a:rPr>
              <a:t> and,</a:t>
            </a:r>
          </a:p>
        </p:txBody>
      </p:sp>
      <p:sp>
        <p:nvSpPr>
          <p:cNvPr id="4109" name="Text Box 13"/>
          <p:cNvSpPr txBox="1">
            <a:spLocks noChangeArrowheads="1"/>
          </p:cNvSpPr>
          <p:nvPr/>
        </p:nvSpPr>
        <p:spPr bwMode="auto">
          <a:xfrm>
            <a:off x="2971800" y="0"/>
            <a:ext cx="3590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000099"/>
                </a:solidFill>
              </a:rPr>
              <a:t>Example 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4101" grpId="0"/>
      <p:bldP spid="410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971800" y="0"/>
            <a:ext cx="3590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000099"/>
                </a:solidFill>
              </a:rPr>
              <a:t>Example Problems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2286000" y="685800"/>
            <a:ext cx="4889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B00000"/>
                </a:solidFill>
              </a:rPr>
              <a:t>Summary in kJ, note that  </a:t>
            </a:r>
            <a:r>
              <a:rPr lang="en-US" i="1">
                <a:solidFill>
                  <a:srgbClr val="B00000"/>
                </a:solidFill>
                <a:sym typeface="Symbol" pitchFamily="18" charset="2"/>
              </a:rPr>
              <a:t>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U</a:t>
            </a:r>
            <a:r>
              <a:rPr lang="en-US">
                <a:solidFill>
                  <a:srgbClr val="B00000"/>
                </a:solidFill>
              </a:rPr>
              <a:t> for the cycle = 0.</a:t>
            </a:r>
          </a:p>
        </p:txBody>
      </p:sp>
      <p:graphicFrame>
        <p:nvGraphicFramePr>
          <p:cNvPr id="5124" name="Group 4"/>
          <p:cNvGraphicFramePr>
            <a:graphicFrameLocks noGrp="1"/>
          </p:cNvGraphicFramePr>
          <p:nvPr/>
        </p:nvGraphicFramePr>
        <p:xfrm>
          <a:off x="1524000" y="1397000"/>
          <a:ext cx="6096000" cy="4318001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1354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r>
                        <a:rPr kumimoji="0" lang="en-US" sz="20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 = 0 </a:t>
                      </a:r>
                      <a:endParaRPr kumimoji="0" lang="en-US" sz="2000" b="0" i="1" u="none" strike="noStrike" cap="none" normalizeH="0" baseline="-25000" smtClean="0">
                        <a:ln>
                          <a:noFill/>
                        </a:ln>
                        <a:solidFill>
                          <a:srgbClr val="B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  <a:r>
                        <a:rPr kumimoji="0" lang="en-US" sz="20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12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= -332.7</a:t>
                      </a:r>
                      <a:endParaRPr kumimoji="0" lang="en-US" sz="2000" b="0" i="1" u="none" strike="noStrike" cap="none" normalizeH="0" baseline="-25000" smtClean="0">
                        <a:ln>
                          <a:noFill/>
                        </a:ln>
                        <a:solidFill>
                          <a:srgbClr val="B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en-US" sz="20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12 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= -332.7</a:t>
                      </a:r>
                      <a:endParaRPr kumimoji="0" lang="en-US" sz="2000" b="0" i="1" u="none" strike="noStrike" cap="none" normalizeH="0" baseline="-25000" smtClean="0">
                        <a:ln>
                          <a:noFill/>
                        </a:ln>
                        <a:solidFill>
                          <a:srgbClr val="B00000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1" u="none" strike="noStrike" cap="none" normalizeH="0" baseline="0" smtClean="0">
                        <a:ln>
                          <a:noFill/>
                        </a:ln>
                        <a:solidFill>
                          <a:srgbClr val="B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55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r>
                        <a:rPr kumimoji="0" lang="en-US" sz="20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23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 = 3549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  <a:r>
                        <a:rPr kumimoji="0" lang="en-US" sz="20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23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 = 1120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en-US" sz="20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23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 = 4669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0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r>
                        <a:rPr kumimoji="0" lang="en-US" sz="20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31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 = -3549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W</a:t>
                      </a:r>
                      <a:r>
                        <a:rPr kumimoji="0" lang="en-US" sz="20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31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 =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Q</a:t>
                      </a:r>
                      <a:r>
                        <a:rPr kumimoji="0" lang="en-US" sz="20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31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B00000"/>
                          </a:solidFill>
                          <a:effectLst/>
                          <a:latin typeface="Times New Roman" pitchFamily="18" charset="0"/>
                        </a:rPr>
                        <a:t> = -3549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42" name="Text Box 22"/>
          <p:cNvSpPr txBox="1">
            <a:spLocks noChangeArrowheads="1"/>
          </p:cNvSpPr>
          <p:nvPr/>
        </p:nvSpPr>
        <p:spPr bwMode="auto">
          <a:xfrm>
            <a:off x="3276600" y="5868988"/>
            <a:ext cx="24542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B00000"/>
                </a:solidFill>
                <a:latin typeface="Times New Roman" pitchFamily="18" charset="0"/>
              </a:rPr>
              <a:t>W</a:t>
            </a:r>
            <a:r>
              <a:rPr lang="en-US" baseline="-25000">
                <a:solidFill>
                  <a:srgbClr val="B00000"/>
                </a:solidFill>
                <a:latin typeface="Times New Roman" pitchFamily="18" charset="0"/>
              </a:rPr>
              <a:t>cycle </a:t>
            </a:r>
            <a:r>
              <a:rPr lang="en-US">
                <a:solidFill>
                  <a:srgbClr val="B00000"/>
                </a:solidFill>
                <a:latin typeface="Times New Roman" pitchFamily="18" charset="0"/>
              </a:rPr>
              <a:t>= Q</a:t>
            </a:r>
            <a:r>
              <a:rPr lang="en-US" baseline="-25000">
                <a:solidFill>
                  <a:srgbClr val="B00000"/>
                </a:solidFill>
                <a:latin typeface="Times New Roman" pitchFamily="18" charset="0"/>
              </a:rPr>
              <a:t>cycle</a:t>
            </a:r>
            <a:r>
              <a:rPr lang="en-US">
                <a:solidFill>
                  <a:srgbClr val="B00000"/>
                </a:solidFill>
                <a:latin typeface="Times New Roman" pitchFamily="18" charset="0"/>
              </a:rPr>
              <a:t> = 787.3 kJ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5" name="Picture 9" descr="E2-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971800"/>
            <a:ext cx="7467600" cy="2936875"/>
          </a:xfrm>
          <a:prstGeom prst="rect">
            <a:avLst/>
          </a:prstGeom>
          <a:noFill/>
        </p:spPr>
      </p:pic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990600" y="381000"/>
            <a:ext cx="7634288" cy="231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gas in a piston-cylinder assembly undergoes an expansion process</a:t>
            </a:r>
          </a:p>
          <a:p>
            <a:r>
              <a:rPr lang="en-US"/>
              <a:t>for which the relationship between pressure and volume is given by </a:t>
            </a:r>
          </a:p>
          <a:p>
            <a:endParaRPr lang="en-US"/>
          </a:p>
          <a:p>
            <a:r>
              <a:rPr lang="en-US" sz="2000" i="1">
                <a:latin typeface="Times New Roman" pitchFamily="18" charset="0"/>
              </a:rPr>
              <a:t>PV</a:t>
            </a:r>
            <a:r>
              <a:rPr lang="en-US" sz="2000" i="1" baseline="30000">
                <a:latin typeface="Times New Roman" pitchFamily="18" charset="0"/>
              </a:rPr>
              <a:t>n</a:t>
            </a:r>
            <a:r>
              <a:rPr lang="en-US" sz="2000" i="1">
                <a:latin typeface="Times New Roman" pitchFamily="18" charset="0"/>
              </a:rPr>
              <a:t> = constant</a:t>
            </a:r>
            <a:r>
              <a:rPr lang="en-US"/>
              <a:t> = A</a:t>
            </a:r>
          </a:p>
          <a:p>
            <a:endParaRPr lang="en-US"/>
          </a:p>
          <a:p>
            <a:r>
              <a:rPr lang="en-US"/>
              <a:t>The initial pressure is 3 bars, the initial volume is 0.1m</a:t>
            </a:r>
            <a:r>
              <a:rPr lang="en-US" baseline="30000"/>
              <a:t>3</a:t>
            </a:r>
            <a:endParaRPr lang="en-US"/>
          </a:p>
          <a:p>
            <a:r>
              <a:rPr lang="en-US"/>
              <a:t>and the final volume is 0.2 m</a:t>
            </a:r>
            <a:r>
              <a:rPr lang="en-US" baseline="30000"/>
              <a:t>3</a:t>
            </a:r>
            <a:r>
              <a:rPr lang="en-US"/>
              <a:t>. Determine the work for the process in kJ if </a:t>
            </a:r>
          </a:p>
          <a:p>
            <a:r>
              <a:rPr lang="en-US"/>
              <a:t>(a) n = 1.5, (b) n = 1.0 and (c) n = 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822325" y="646113"/>
            <a:ext cx="3676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 each case the work is given by, </a:t>
            </a:r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4495800" y="609600"/>
          <a:ext cx="673100" cy="431800"/>
        </p:xfrm>
        <a:graphic>
          <a:graphicData uri="http://schemas.openxmlformats.org/presentationml/2006/ole">
            <p:oleObj spid="_x0000_s10245" name="Equation" r:id="rId3" imgW="672840" imgH="431640" progId="Equation.DSMT4">
              <p:embed/>
            </p:oleObj>
          </a:graphicData>
        </a:graphic>
      </p:graphicFrame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673100" y="1219200"/>
          <a:ext cx="3098800" cy="1498600"/>
        </p:xfrm>
        <a:graphic>
          <a:graphicData uri="http://schemas.openxmlformats.org/presentationml/2006/ole">
            <p:oleObj spid="_x0000_s10246" name="Equation" r:id="rId4" imgW="3098520" imgH="1498320" progId="Equation.DSMT4">
              <p:embed/>
            </p:oleObj>
          </a:graphicData>
        </a:graphic>
      </p:graphicFrame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533400" y="3124200"/>
            <a:ext cx="5419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constant </a:t>
            </a:r>
            <a:r>
              <a:rPr lang="en-US" sz="2000" i="1">
                <a:latin typeface="Times New Roman" pitchFamily="18" charset="0"/>
              </a:rPr>
              <a:t>A</a:t>
            </a:r>
            <a:r>
              <a:rPr lang="en-US"/>
              <a:t> can be evaluated at either end state</a:t>
            </a:r>
          </a:p>
        </p:txBody>
      </p:sp>
      <p:graphicFrame>
        <p:nvGraphicFramePr>
          <p:cNvPr id="10248" name="Object 8"/>
          <p:cNvGraphicFramePr>
            <a:graphicFrameLocks noChangeAspect="1"/>
          </p:cNvGraphicFramePr>
          <p:nvPr/>
        </p:nvGraphicFramePr>
        <p:xfrm>
          <a:off x="6172200" y="3124200"/>
          <a:ext cx="1778000" cy="355600"/>
        </p:xfrm>
        <a:graphic>
          <a:graphicData uri="http://schemas.openxmlformats.org/presentationml/2006/ole">
            <p:oleObj spid="_x0000_s10248" name="Equation" r:id="rId5" imgW="1777680" imgH="355320" progId="Equation.DSMT4">
              <p:embed/>
            </p:oleObj>
          </a:graphicData>
        </a:graphic>
      </p:graphicFrame>
      <p:graphicFrame>
        <p:nvGraphicFramePr>
          <p:cNvPr id="10249" name="Object 9"/>
          <p:cNvGraphicFramePr>
            <a:graphicFrameLocks noChangeAspect="1"/>
          </p:cNvGraphicFramePr>
          <p:nvPr/>
        </p:nvGraphicFramePr>
        <p:xfrm>
          <a:off x="1917700" y="4114800"/>
          <a:ext cx="4902200" cy="800100"/>
        </p:xfrm>
        <a:graphic>
          <a:graphicData uri="http://schemas.openxmlformats.org/presentationml/2006/ole">
            <p:oleObj spid="_x0000_s10249" name="Equation" r:id="rId6" imgW="4902120" imgH="799920" progId="Equation.DSMT4">
              <p:embed/>
            </p:oleObj>
          </a:graphicData>
        </a:graphic>
      </p:graphicFrame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609600" y="5410200"/>
            <a:ext cx="480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This expression is valid for all n except n =1.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593725" y="646113"/>
            <a:ext cx="5657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(a) To evaluate W, the pressure at state 2 is required. </a:t>
            </a:r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1600200" y="1295400"/>
          <a:ext cx="4292600" cy="812800"/>
        </p:xfrm>
        <a:graphic>
          <a:graphicData uri="http://schemas.openxmlformats.org/presentationml/2006/ole">
            <p:oleObj spid="_x0000_s11269" name="Equation" r:id="rId3" imgW="4292280" imgH="812520" progId="Equation.DSMT4">
              <p:embed/>
            </p:oleObj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762000" y="2362200"/>
          <a:ext cx="6426200" cy="1092200"/>
        </p:xfrm>
        <a:graphic>
          <a:graphicData uri="http://schemas.openxmlformats.org/presentationml/2006/ole">
            <p:oleObj spid="_x0000_s11270" name="Equation" r:id="rId4" imgW="6426000" imgH="1091880" progId="Equation.DSMT4">
              <p:embed/>
            </p:oleObj>
          </a:graphicData>
        </a:graphic>
      </p:graphicFrame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746125" y="4075113"/>
            <a:ext cx="54229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(b) For n = 1 we need to consider this special case, </a:t>
            </a:r>
          </a:p>
        </p:txBody>
      </p:sp>
      <p:graphicFrame>
        <p:nvGraphicFramePr>
          <p:cNvPr id="11272" name="Object 8"/>
          <p:cNvGraphicFramePr>
            <a:graphicFrameLocks noChangeAspect="1"/>
          </p:cNvGraphicFramePr>
          <p:nvPr/>
        </p:nvGraphicFramePr>
        <p:xfrm>
          <a:off x="6172200" y="4114800"/>
          <a:ext cx="825500" cy="292100"/>
        </p:xfrm>
        <a:graphic>
          <a:graphicData uri="http://schemas.openxmlformats.org/presentationml/2006/ole">
            <p:oleObj spid="_x0000_s11272" name="Equation" r:id="rId5" imgW="825480" imgH="291960" progId="Equation.DSMT4">
              <p:embed/>
            </p:oleObj>
          </a:graphicData>
        </a:graphic>
      </p:graphicFrame>
      <p:graphicFrame>
        <p:nvGraphicFramePr>
          <p:cNvPr id="11273" name="Object 9"/>
          <p:cNvGraphicFramePr>
            <a:graphicFrameLocks noChangeAspect="1"/>
          </p:cNvGraphicFramePr>
          <p:nvPr/>
        </p:nvGraphicFramePr>
        <p:xfrm>
          <a:off x="3124200" y="4648200"/>
          <a:ext cx="1689100" cy="685800"/>
        </p:xfrm>
        <a:graphic>
          <a:graphicData uri="http://schemas.openxmlformats.org/presentationml/2006/ole">
            <p:oleObj spid="_x0000_s11273" name="Equation" r:id="rId6" imgW="1688760" imgH="685800" progId="Equation.DSMT4">
              <p:embed/>
            </p:oleObj>
          </a:graphicData>
        </a:graphic>
      </p:graphicFrame>
      <p:graphicFrame>
        <p:nvGraphicFramePr>
          <p:cNvPr id="11274" name="Object 10"/>
          <p:cNvGraphicFramePr>
            <a:graphicFrameLocks noChangeAspect="1"/>
          </p:cNvGraphicFramePr>
          <p:nvPr/>
        </p:nvGraphicFramePr>
        <p:xfrm>
          <a:off x="3124200" y="5638800"/>
          <a:ext cx="1498600" cy="254000"/>
        </p:xfrm>
        <a:graphic>
          <a:graphicData uri="http://schemas.openxmlformats.org/presentationml/2006/ole">
            <p:oleObj spid="_x0000_s11274" name="Equation" r:id="rId7" imgW="1498320" imgH="25380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974725" y="623888"/>
            <a:ext cx="5800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(c) For n = 0, the pressure volume relation is just  </a:t>
            </a:r>
            <a:r>
              <a:rPr lang="en-US" sz="2000" i="1">
                <a:latin typeface="Times New Roman" pitchFamily="18" charset="0"/>
              </a:rPr>
              <a:t>p = A</a:t>
            </a:r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2971800" y="1371600"/>
          <a:ext cx="2476500" cy="431800"/>
        </p:xfrm>
        <a:graphic>
          <a:graphicData uri="http://schemas.openxmlformats.org/presentationml/2006/ole">
            <p:oleObj spid="_x0000_s12293" name="Equation" r:id="rId3" imgW="2476440" imgH="431640" progId="Equation.DSMT4">
              <p:embed/>
            </p:oleObj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3581400" y="2133600"/>
          <a:ext cx="1181100" cy="254000"/>
        </p:xfrm>
        <a:graphic>
          <a:graphicData uri="http://schemas.openxmlformats.org/presentationml/2006/ole">
            <p:oleObj spid="_x0000_s12294" name="Equation" r:id="rId4" imgW="1180800" imgH="25380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381000" y="914400"/>
            <a:ext cx="3048000" cy="1219200"/>
            <a:chOff x="1344" y="2688"/>
            <a:chExt cx="1920" cy="768"/>
          </a:xfrm>
        </p:grpSpPr>
        <p:sp>
          <p:nvSpPr>
            <p:cNvPr id="6147" name="Rectangle 3"/>
            <p:cNvSpPr>
              <a:spLocks noChangeArrowheads="1"/>
            </p:cNvSpPr>
            <p:nvPr/>
          </p:nvSpPr>
          <p:spPr bwMode="auto">
            <a:xfrm>
              <a:off x="1344" y="2688"/>
              <a:ext cx="1728" cy="192"/>
            </a:xfrm>
            <a:prstGeom prst="rect">
              <a:avLst/>
            </a:prstGeom>
            <a:solidFill>
              <a:srgbClr val="9A0E9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8" name="Rectangle 4"/>
            <p:cNvSpPr>
              <a:spLocks noChangeArrowheads="1"/>
            </p:cNvSpPr>
            <p:nvPr/>
          </p:nvSpPr>
          <p:spPr bwMode="auto">
            <a:xfrm>
              <a:off x="1344" y="3264"/>
              <a:ext cx="1728" cy="192"/>
            </a:xfrm>
            <a:prstGeom prst="rect">
              <a:avLst/>
            </a:prstGeom>
            <a:solidFill>
              <a:srgbClr val="9A0E9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9" name="Rectangle 5"/>
            <p:cNvSpPr>
              <a:spLocks noChangeArrowheads="1"/>
            </p:cNvSpPr>
            <p:nvPr/>
          </p:nvSpPr>
          <p:spPr bwMode="auto">
            <a:xfrm>
              <a:off x="3072" y="2688"/>
              <a:ext cx="192" cy="768"/>
            </a:xfrm>
            <a:prstGeom prst="rect">
              <a:avLst/>
            </a:prstGeom>
            <a:solidFill>
              <a:srgbClr val="9A0E9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0" name="Rectangle 6"/>
            <p:cNvSpPr>
              <a:spLocks noChangeArrowheads="1"/>
            </p:cNvSpPr>
            <p:nvPr/>
          </p:nvSpPr>
          <p:spPr bwMode="auto">
            <a:xfrm>
              <a:off x="2256" y="2688"/>
              <a:ext cx="192" cy="768"/>
            </a:xfrm>
            <a:prstGeom prst="rect">
              <a:avLst/>
            </a:prstGeom>
            <a:solidFill>
              <a:srgbClr val="9A0E9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1" name="Rectangle 7"/>
            <p:cNvSpPr>
              <a:spLocks noChangeArrowheads="1"/>
            </p:cNvSpPr>
            <p:nvPr/>
          </p:nvSpPr>
          <p:spPr bwMode="auto">
            <a:xfrm>
              <a:off x="1584" y="3024"/>
              <a:ext cx="864" cy="96"/>
            </a:xfrm>
            <a:prstGeom prst="rect">
              <a:avLst/>
            </a:prstGeom>
            <a:solidFill>
              <a:srgbClr val="9A0E9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2" name="Rectangle 8" descr="5%"/>
            <p:cNvSpPr>
              <a:spLocks noChangeArrowheads="1"/>
            </p:cNvSpPr>
            <p:nvPr/>
          </p:nvSpPr>
          <p:spPr bwMode="auto">
            <a:xfrm>
              <a:off x="2448" y="2880"/>
              <a:ext cx="624" cy="384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3" name="Text Box 9"/>
            <p:cNvSpPr txBox="1">
              <a:spLocks noChangeArrowheads="1"/>
            </p:cNvSpPr>
            <p:nvPr/>
          </p:nvSpPr>
          <p:spPr bwMode="auto">
            <a:xfrm>
              <a:off x="2496" y="2928"/>
              <a:ext cx="5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 b="1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  <a:r>
                <a:rPr lang="en-US" b="1" baseline="-2500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b="1">
                  <a:solidFill>
                    <a:srgbClr val="000000"/>
                  </a:solidFill>
                  <a:latin typeface="Times New Roman" pitchFamily="18" charset="0"/>
                </a:rPr>
                <a:t>, V</a:t>
              </a:r>
              <a:r>
                <a:rPr lang="en-US" b="1" baseline="-2500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3581400" y="838200"/>
            <a:ext cx="5373688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CC0000"/>
                </a:solidFill>
              </a:rPr>
              <a:t>A gas is enclosed in a cylinder with a movable</a:t>
            </a:r>
          </a:p>
          <a:p>
            <a:r>
              <a:rPr lang="en-US" sz="2000">
                <a:solidFill>
                  <a:srgbClr val="CC0000"/>
                </a:solidFill>
              </a:rPr>
              <a:t>piston.  Under conditions that the walls are</a:t>
            </a:r>
          </a:p>
          <a:p>
            <a:r>
              <a:rPr lang="en-US" sz="2000">
                <a:solidFill>
                  <a:srgbClr val="CC0000"/>
                </a:solidFill>
              </a:rPr>
              <a:t>Adiabatic, a quasi-static increase in volume</a:t>
            </a:r>
          </a:p>
          <a:p>
            <a:r>
              <a:rPr lang="en-US" sz="2000">
                <a:solidFill>
                  <a:srgbClr val="CC0000"/>
                </a:solidFill>
              </a:rPr>
              <a:t>results in a decrease in pressure according to,</a:t>
            </a:r>
          </a:p>
        </p:txBody>
      </p:sp>
      <p:graphicFrame>
        <p:nvGraphicFramePr>
          <p:cNvPr id="6155" name="Object 11"/>
          <p:cNvGraphicFramePr>
            <a:graphicFrameLocks noChangeAspect="1"/>
          </p:cNvGraphicFramePr>
          <p:nvPr/>
        </p:nvGraphicFramePr>
        <p:xfrm>
          <a:off x="4908550" y="2286000"/>
          <a:ext cx="2819400" cy="330200"/>
        </p:xfrm>
        <a:graphic>
          <a:graphicData uri="http://schemas.openxmlformats.org/presentationml/2006/ole">
            <p:oleObj spid="_x0000_s6155" name="Equation" r:id="rId3" imgW="2819160" imgH="330120" progId="Equation.DSMT4">
              <p:embed/>
            </p:oleObj>
          </a:graphicData>
        </a:graphic>
      </p:graphicFrame>
      <p:sp>
        <p:nvSpPr>
          <p:cNvPr id="6156" name="Text Box 12"/>
          <p:cNvSpPr txBox="1">
            <a:spLocks noChangeArrowheads="1"/>
          </p:cNvSpPr>
          <p:nvPr/>
        </p:nvSpPr>
        <p:spPr bwMode="auto">
          <a:xfrm>
            <a:off x="381000" y="2667000"/>
            <a:ext cx="3886200" cy="302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Find the quasi-static work done on the system and the net heat transfer to the</a:t>
            </a:r>
          </a:p>
          <a:p>
            <a:r>
              <a:rPr lang="en-US" sz="1600"/>
              <a:t>system in each of the three processes, ADB, ACB and the linear AB.  In the process ADB the gas is heated at constant pressure (P = 10</a:t>
            </a:r>
            <a:r>
              <a:rPr lang="en-US" sz="1600" baseline="30000"/>
              <a:t>5</a:t>
            </a:r>
            <a:r>
              <a:rPr lang="en-US" sz="1600"/>
              <a:t> Pa) until its volume increases from 10</a:t>
            </a:r>
            <a:r>
              <a:rPr lang="en-US" sz="1600" baseline="30000"/>
              <a:t>-3</a:t>
            </a:r>
            <a:r>
              <a:rPr lang="en-US" sz="1600"/>
              <a:t> to 8 x 10</a:t>
            </a:r>
            <a:r>
              <a:rPr lang="en-US" sz="1600" baseline="30000"/>
              <a:t>-3</a:t>
            </a:r>
            <a:r>
              <a:rPr lang="en-US" sz="1600"/>
              <a:t> m</a:t>
            </a:r>
            <a:r>
              <a:rPr lang="en-US" sz="1600" baseline="30000"/>
              <a:t>3</a:t>
            </a:r>
            <a:r>
              <a:rPr lang="en-US" sz="1600"/>
              <a:t>. The gas is then cooled at constant volume until its pressure decreases to 10</a:t>
            </a:r>
            <a:r>
              <a:rPr lang="en-US" sz="1600" baseline="30000"/>
              <a:t>5</a:t>
            </a:r>
            <a:r>
              <a:rPr lang="en-US" sz="1600"/>
              <a:t>/32 Pa. The other processes (ACB and AB) can be similarly interpreted according to the figure.</a:t>
            </a:r>
          </a:p>
        </p:txBody>
      </p:sp>
      <p:grpSp>
        <p:nvGrpSpPr>
          <p:cNvPr id="6157" name="Group 13"/>
          <p:cNvGrpSpPr>
            <a:grpSpLocks/>
          </p:cNvGrpSpPr>
          <p:nvPr/>
        </p:nvGrpSpPr>
        <p:grpSpPr bwMode="auto">
          <a:xfrm>
            <a:off x="4419600" y="2895600"/>
            <a:ext cx="3913188" cy="3567113"/>
            <a:chOff x="2784" y="1824"/>
            <a:chExt cx="2465" cy="2247"/>
          </a:xfrm>
        </p:grpSpPr>
        <p:sp>
          <p:nvSpPr>
            <p:cNvPr id="6158" name="Line 14"/>
            <p:cNvSpPr>
              <a:spLocks noChangeShapeType="1"/>
            </p:cNvSpPr>
            <p:nvPr/>
          </p:nvSpPr>
          <p:spPr bwMode="auto">
            <a:xfrm flipV="1">
              <a:off x="3312" y="1824"/>
              <a:ext cx="0" cy="18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59" name="Line 15"/>
            <p:cNvSpPr>
              <a:spLocks noChangeShapeType="1"/>
            </p:cNvSpPr>
            <p:nvPr/>
          </p:nvSpPr>
          <p:spPr bwMode="auto">
            <a:xfrm>
              <a:off x="3312" y="3648"/>
              <a:ext cx="18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60" name="Rectangle 16"/>
            <p:cNvSpPr>
              <a:spLocks noChangeArrowheads="1"/>
            </p:cNvSpPr>
            <p:nvPr/>
          </p:nvSpPr>
          <p:spPr bwMode="auto">
            <a:xfrm>
              <a:off x="3696" y="2400"/>
              <a:ext cx="1248" cy="81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1" name="Line 17"/>
            <p:cNvSpPr>
              <a:spLocks noChangeShapeType="1"/>
            </p:cNvSpPr>
            <p:nvPr/>
          </p:nvSpPr>
          <p:spPr bwMode="auto">
            <a:xfrm>
              <a:off x="4176" y="240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62" name="Line 18"/>
            <p:cNvSpPr>
              <a:spLocks noChangeShapeType="1"/>
            </p:cNvSpPr>
            <p:nvPr/>
          </p:nvSpPr>
          <p:spPr bwMode="auto">
            <a:xfrm>
              <a:off x="4176" y="32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63" name="Line 19"/>
            <p:cNvSpPr>
              <a:spLocks noChangeShapeType="1"/>
            </p:cNvSpPr>
            <p:nvPr/>
          </p:nvSpPr>
          <p:spPr bwMode="auto">
            <a:xfrm>
              <a:off x="4944" y="264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64" name="Line 20"/>
            <p:cNvSpPr>
              <a:spLocks noChangeShapeType="1"/>
            </p:cNvSpPr>
            <p:nvPr/>
          </p:nvSpPr>
          <p:spPr bwMode="auto">
            <a:xfrm>
              <a:off x="3696" y="264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65" name="Line 21"/>
            <p:cNvSpPr>
              <a:spLocks noChangeShapeType="1"/>
            </p:cNvSpPr>
            <p:nvPr/>
          </p:nvSpPr>
          <p:spPr bwMode="auto">
            <a:xfrm>
              <a:off x="3696" y="2400"/>
              <a:ext cx="1248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66" name="Line 22"/>
            <p:cNvSpPr>
              <a:spLocks noChangeShapeType="1"/>
            </p:cNvSpPr>
            <p:nvPr/>
          </p:nvSpPr>
          <p:spPr bwMode="auto">
            <a:xfrm>
              <a:off x="4128" y="268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67" name="Freeform 23"/>
            <p:cNvSpPr>
              <a:spLocks/>
            </p:cNvSpPr>
            <p:nvPr/>
          </p:nvSpPr>
          <p:spPr bwMode="auto">
            <a:xfrm>
              <a:off x="3696" y="2400"/>
              <a:ext cx="1248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6" y="240"/>
                </a:cxn>
                <a:cxn ang="0">
                  <a:pos x="288" y="432"/>
                </a:cxn>
                <a:cxn ang="0">
                  <a:pos x="624" y="624"/>
                </a:cxn>
                <a:cxn ang="0">
                  <a:pos x="1248" y="816"/>
                </a:cxn>
              </a:cxnLst>
              <a:rect l="0" t="0" r="r" b="b"/>
              <a:pathLst>
                <a:path w="1248" h="816">
                  <a:moveTo>
                    <a:pt x="0" y="0"/>
                  </a:moveTo>
                  <a:cubicBezTo>
                    <a:pt x="24" y="84"/>
                    <a:pt x="48" y="168"/>
                    <a:pt x="96" y="240"/>
                  </a:cubicBezTo>
                  <a:cubicBezTo>
                    <a:pt x="144" y="312"/>
                    <a:pt x="200" y="368"/>
                    <a:pt x="288" y="432"/>
                  </a:cubicBezTo>
                  <a:cubicBezTo>
                    <a:pt x="376" y="496"/>
                    <a:pt x="464" y="560"/>
                    <a:pt x="624" y="624"/>
                  </a:cubicBezTo>
                  <a:cubicBezTo>
                    <a:pt x="784" y="688"/>
                    <a:pt x="1016" y="752"/>
                    <a:pt x="1248" y="816"/>
                  </a:cubicBezTo>
                </a:path>
              </a:pathLst>
            </a:cu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Freeform 24"/>
            <p:cNvSpPr>
              <a:spLocks/>
            </p:cNvSpPr>
            <p:nvPr/>
          </p:nvSpPr>
          <p:spPr bwMode="auto">
            <a:xfrm>
              <a:off x="3888" y="2736"/>
              <a:ext cx="240" cy="1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6" y="96"/>
                </a:cxn>
                <a:cxn ang="0">
                  <a:pos x="240" y="192"/>
                </a:cxn>
              </a:cxnLst>
              <a:rect l="0" t="0" r="r" b="b"/>
              <a:pathLst>
                <a:path w="240" h="192">
                  <a:moveTo>
                    <a:pt x="0" y="0"/>
                  </a:moveTo>
                  <a:cubicBezTo>
                    <a:pt x="28" y="32"/>
                    <a:pt x="56" y="64"/>
                    <a:pt x="96" y="96"/>
                  </a:cubicBezTo>
                  <a:cubicBezTo>
                    <a:pt x="136" y="128"/>
                    <a:pt x="188" y="160"/>
                    <a:pt x="240" y="192"/>
                  </a:cubicBezTo>
                </a:path>
              </a:pathLst>
            </a:custGeom>
            <a:noFill/>
            <a:ln w="12700" cmpd="sng">
              <a:solidFill>
                <a:srgbClr val="CC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Line 25"/>
            <p:cNvSpPr>
              <a:spLocks noChangeShapeType="1"/>
            </p:cNvSpPr>
            <p:nvPr/>
          </p:nvSpPr>
          <p:spPr bwMode="auto">
            <a:xfrm>
              <a:off x="3696" y="326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70" name="Line 26"/>
            <p:cNvSpPr>
              <a:spLocks noChangeShapeType="1"/>
            </p:cNvSpPr>
            <p:nvPr/>
          </p:nvSpPr>
          <p:spPr bwMode="auto">
            <a:xfrm>
              <a:off x="4944" y="326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71" name="Line 27"/>
            <p:cNvSpPr>
              <a:spLocks noChangeShapeType="1"/>
            </p:cNvSpPr>
            <p:nvPr/>
          </p:nvSpPr>
          <p:spPr bwMode="auto">
            <a:xfrm flipH="1">
              <a:off x="3312" y="240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72" name="Line 28"/>
            <p:cNvSpPr>
              <a:spLocks noChangeShapeType="1"/>
            </p:cNvSpPr>
            <p:nvPr/>
          </p:nvSpPr>
          <p:spPr bwMode="auto">
            <a:xfrm flipH="1">
              <a:off x="3312" y="32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73" name="Text Box 29"/>
            <p:cNvSpPr txBox="1">
              <a:spLocks noChangeArrowheads="1"/>
            </p:cNvSpPr>
            <p:nvPr/>
          </p:nvSpPr>
          <p:spPr bwMode="auto">
            <a:xfrm>
              <a:off x="3552" y="3696"/>
              <a:ext cx="36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10</a:t>
              </a:r>
              <a:r>
                <a:rPr lang="en-US" baseline="30000"/>
                <a:t>-3</a:t>
              </a:r>
            </a:p>
          </p:txBody>
        </p:sp>
        <p:sp>
          <p:nvSpPr>
            <p:cNvPr id="6174" name="Text Box 30"/>
            <p:cNvSpPr txBox="1">
              <a:spLocks noChangeArrowheads="1"/>
            </p:cNvSpPr>
            <p:nvPr/>
          </p:nvSpPr>
          <p:spPr bwMode="auto">
            <a:xfrm>
              <a:off x="4656" y="3696"/>
              <a:ext cx="59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8 x 10</a:t>
              </a:r>
              <a:r>
                <a:rPr lang="en-US" baseline="30000"/>
                <a:t>-3</a:t>
              </a:r>
            </a:p>
          </p:txBody>
        </p:sp>
        <p:sp>
          <p:nvSpPr>
            <p:cNvPr id="6175" name="Text Box 31"/>
            <p:cNvSpPr txBox="1">
              <a:spLocks noChangeArrowheads="1"/>
            </p:cNvSpPr>
            <p:nvPr/>
          </p:nvSpPr>
          <p:spPr bwMode="auto">
            <a:xfrm>
              <a:off x="3984" y="3840"/>
              <a:ext cx="52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V (m</a:t>
              </a:r>
              <a:r>
                <a:rPr lang="en-US" baseline="30000"/>
                <a:t>3</a:t>
              </a:r>
              <a:r>
                <a:rPr lang="en-US"/>
                <a:t>)</a:t>
              </a:r>
            </a:p>
          </p:txBody>
        </p:sp>
        <p:sp>
          <p:nvSpPr>
            <p:cNvPr id="6176" name="Text Box 32"/>
            <p:cNvSpPr txBox="1">
              <a:spLocks noChangeArrowheads="1"/>
            </p:cNvSpPr>
            <p:nvPr/>
          </p:nvSpPr>
          <p:spPr bwMode="auto">
            <a:xfrm rot="-5400000">
              <a:off x="2734" y="2690"/>
              <a:ext cx="5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P (Pa)</a:t>
              </a:r>
            </a:p>
          </p:txBody>
        </p:sp>
        <p:sp>
          <p:nvSpPr>
            <p:cNvPr id="6177" name="Text Box 33"/>
            <p:cNvSpPr txBox="1">
              <a:spLocks noChangeArrowheads="1"/>
            </p:cNvSpPr>
            <p:nvPr/>
          </p:nvSpPr>
          <p:spPr bwMode="auto">
            <a:xfrm>
              <a:off x="2976" y="2304"/>
              <a:ext cx="3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10</a:t>
              </a:r>
              <a:r>
                <a:rPr lang="en-US" baseline="30000"/>
                <a:t>5</a:t>
              </a:r>
            </a:p>
          </p:txBody>
        </p:sp>
        <p:sp>
          <p:nvSpPr>
            <p:cNvPr id="6178" name="Text Box 34"/>
            <p:cNvSpPr txBox="1">
              <a:spLocks noChangeArrowheads="1"/>
            </p:cNvSpPr>
            <p:nvPr/>
          </p:nvSpPr>
          <p:spPr bwMode="auto">
            <a:xfrm>
              <a:off x="2784" y="3120"/>
              <a:ext cx="5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10</a:t>
              </a:r>
              <a:r>
                <a:rPr lang="en-US" baseline="30000"/>
                <a:t>5</a:t>
              </a:r>
              <a:r>
                <a:rPr lang="en-US"/>
                <a:t>/32</a:t>
              </a:r>
              <a:endParaRPr lang="en-US" baseline="30000"/>
            </a:p>
          </p:txBody>
        </p:sp>
      </p:grpSp>
      <p:sp>
        <p:nvSpPr>
          <p:cNvPr id="6179" name="Text Box 35"/>
          <p:cNvSpPr txBox="1">
            <a:spLocks noChangeArrowheads="1"/>
          </p:cNvSpPr>
          <p:nvPr/>
        </p:nvSpPr>
        <p:spPr bwMode="auto">
          <a:xfrm>
            <a:off x="2819400" y="55563"/>
            <a:ext cx="35909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000099"/>
                </a:solidFill>
              </a:rPr>
              <a:t>Example Problems</a:t>
            </a:r>
          </a:p>
        </p:txBody>
      </p:sp>
      <p:sp>
        <p:nvSpPr>
          <p:cNvPr id="6180" name="Text Box 36"/>
          <p:cNvSpPr txBox="1">
            <a:spLocks noChangeArrowheads="1"/>
          </p:cNvSpPr>
          <p:nvPr/>
        </p:nvSpPr>
        <p:spPr bwMode="auto">
          <a:xfrm>
            <a:off x="5715000" y="34290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A</a:t>
            </a:r>
          </a:p>
        </p:txBody>
      </p:sp>
      <p:sp>
        <p:nvSpPr>
          <p:cNvPr id="6181" name="Text Box 37"/>
          <p:cNvSpPr txBox="1">
            <a:spLocks noChangeArrowheads="1"/>
          </p:cNvSpPr>
          <p:nvPr/>
        </p:nvSpPr>
        <p:spPr bwMode="auto">
          <a:xfrm>
            <a:off x="7772400" y="34290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</a:t>
            </a:r>
          </a:p>
        </p:txBody>
      </p:sp>
      <p:sp>
        <p:nvSpPr>
          <p:cNvPr id="6182" name="Text Box 38"/>
          <p:cNvSpPr txBox="1">
            <a:spLocks noChangeArrowheads="1"/>
          </p:cNvSpPr>
          <p:nvPr/>
        </p:nvSpPr>
        <p:spPr bwMode="auto">
          <a:xfrm>
            <a:off x="7848600" y="51054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B</a:t>
            </a:r>
          </a:p>
        </p:txBody>
      </p:sp>
      <p:sp>
        <p:nvSpPr>
          <p:cNvPr id="6183" name="Text Box 39"/>
          <p:cNvSpPr txBox="1">
            <a:spLocks noChangeArrowheads="1"/>
          </p:cNvSpPr>
          <p:nvPr/>
        </p:nvSpPr>
        <p:spPr bwMode="auto">
          <a:xfrm>
            <a:off x="5486400" y="51054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C</a:t>
            </a:r>
          </a:p>
        </p:txBody>
      </p:sp>
      <p:sp>
        <p:nvSpPr>
          <p:cNvPr id="6184" name="Freeform 40"/>
          <p:cNvSpPr>
            <a:spLocks/>
          </p:cNvSpPr>
          <p:nvPr/>
        </p:nvSpPr>
        <p:spPr bwMode="auto">
          <a:xfrm>
            <a:off x="4597400" y="2073275"/>
            <a:ext cx="3403600" cy="2308225"/>
          </a:xfrm>
          <a:custGeom>
            <a:avLst/>
            <a:gdLst/>
            <a:ahLst/>
            <a:cxnLst>
              <a:cxn ang="0">
                <a:pos x="1000" y="1454"/>
              </a:cxn>
              <a:cxn ang="0">
                <a:pos x="840" y="1334"/>
              </a:cxn>
              <a:cxn ang="0">
                <a:pos x="768" y="1262"/>
              </a:cxn>
              <a:cxn ang="0">
                <a:pos x="608" y="1150"/>
              </a:cxn>
              <a:cxn ang="0">
                <a:pos x="552" y="1110"/>
              </a:cxn>
              <a:cxn ang="0">
                <a:pos x="504" y="1070"/>
              </a:cxn>
              <a:cxn ang="0">
                <a:pos x="424" y="990"/>
              </a:cxn>
              <a:cxn ang="0">
                <a:pos x="200" y="814"/>
              </a:cxn>
              <a:cxn ang="0">
                <a:pos x="112" y="750"/>
              </a:cxn>
              <a:cxn ang="0">
                <a:pos x="64" y="686"/>
              </a:cxn>
              <a:cxn ang="0">
                <a:pos x="40" y="654"/>
              </a:cxn>
              <a:cxn ang="0">
                <a:pos x="0" y="526"/>
              </a:cxn>
              <a:cxn ang="0">
                <a:pos x="24" y="318"/>
              </a:cxn>
              <a:cxn ang="0">
                <a:pos x="48" y="270"/>
              </a:cxn>
              <a:cxn ang="0">
                <a:pos x="80" y="182"/>
              </a:cxn>
              <a:cxn ang="0">
                <a:pos x="136" y="142"/>
              </a:cxn>
              <a:cxn ang="0">
                <a:pos x="392" y="30"/>
              </a:cxn>
              <a:cxn ang="0">
                <a:pos x="1376" y="22"/>
              </a:cxn>
              <a:cxn ang="0">
                <a:pos x="1784" y="30"/>
              </a:cxn>
              <a:cxn ang="0">
                <a:pos x="1952" y="78"/>
              </a:cxn>
              <a:cxn ang="0">
                <a:pos x="2088" y="118"/>
              </a:cxn>
              <a:cxn ang="0">
                <a:pos x="2144" y="166"/>
              </a:cxn>
              <a:cxn ang="0">
                <a:pos x="2104" y="334"/>
              </a:cxn>
              <a:cxn ang="0">
                <a:pos x="2056" y="374"/>
              </a:cxn>
              <a:cxn ang="0">
                <a:pos x="1896" y="486"/>
              </a:cxn>
              <a:cxn ang="0">
                <a:pos x="1736" y="550"/>
              </a:cxn>
              <a:cxn ang="0">
                <a:pos x="1488" y="622"/>
              </a:cxn>
              <a:cxn ang="0">
                <a:pos x="1224" y="702"/>
              </a:cxn>
              <a:cxn ang="0">
                <a:pos x="1096" y="734"/>
              </a:cxn>
              <a:cxn ang="0">
                <a:pos x="792" y="742"/>
              </a:cxn>
              <a:cxn ang="0">
                <a:pos x="304" y="718"/>
              </a:cxn>
              <a:cxn ang="0">
                <a:pos x="64" y="694"/>
              </a:cxn>
            </a:cxnLst>
            <a:rect l="0" t="0" r="r" b="b"/>
            <a:pathLst>
              <a:path w="2144" h="1454">
                <a:moveTo>
                  <a:pt x="1000" y="1454"/>
                </a:moveTo>
                <a:cubicBezTo>
                  <a:pt x="947" y="1414"/>
                  <a:pt x="889" y="1379"/>
                  <a:pt x="840" y="1334"/>
                </a:cubicBezTo>
                <a:cubicBezTo>
                  <a:pt x="815" y="1311"/>
                  <a:pt x="795" y="1282"/>
                  <a:pt x="768" y="1262"/>
                </a:cubicBezTo>
                <a:cubicBezTo>
                  <a:pt x="716" y="1223"/>
                  <a:pt x="660" y="1187"/>
                  <a:pt x="608" y="1150"/>
                </a:cubicBezTo>
                <a:cubicBezTo>
                  <a:pt x="532" y="1096"/>
                  <a:pt x="640" y="1154"/>
                  <a:pt x="552" y="1110"/>
                </a:cubicBezTo>
                <a:cubicBezTo>
                  <a:pt x="477" y="1009"/>
                  <a:pt x="570" y="1121"/>
                  <a:pt x="504" y="1070"/>
                </a:cubicBezTo>
                <a:cubicBezTo>
                  <a:pt x="504" y="1070"/>
                  <a:pt x="433" y="999"/>
                  <a:pt x="424" y="990"/>
                </a:cubicBezTo>
                <a:cubicBezTo>
                  <a:pt x="359" y="925"/>
                  <a:pt x="273" y="869"/>
                  <a:pt x="200" y="814"/>
                </a:cubicBezTo>
                <a:cubicBezTo>
                  <a:pt x="175" y="796"/>
                  <a:pt x="134" y="774"/>
                  <a:pt x="112" y="750"/>
                </a:cubicBezTo>
                <a:cubicBezTo>
                  <a:pt x="94" y="730"/>
                  <a:pt x="80" y="707"/>
                  <a:pt x="64" y="686"/>
                </a:cubicBezTo>
                <a:cubicBezTo>
                  <a:pt x="56" y="675"/>
                  <a:pt x="40" y="654"/>
                  <a:pt x="40" y="654"/>
                </a:cubicBezTo>
                <a:cubicBezTo>
                  <a:pt x="28" y="608"/>
                  <a:pt x="8" y="575"/>
                  <a:pt x="0" y="526"/>
                </a:cubicBezTo>
                <a:cubicBezTo>
                  <a:pt x="3" y="470"/>
                  <a:pt x="1" y="379"/>
                  <a:pt x="24" y="318"/>
                </a:cubicBezTo>
                <a:cubicBezTo>
                  <a:pt x="66" y="206"/>
                  <a:pt x="18" y="374"/>
                  <a:pt x="48" y="270"/>
                </a:cubicBezTo>
                <a:cubicBezTo>
                  <a:pt x="56" y="242"/>
                  <a:pt x="61" y="205"/>
                  <a:pt x="80" y="182"/>
                </a:cubicBezTo>
                <a:cubicBezTo>
                  <a:pt x="95" y="164"/>
                  <a:pt x="119" y="157"/>
                  <a:pt x="136" y="142"/>
                </a:cubicBezTo>
                <a:cubicBezTo>
                  <a:pt x="209" y="80"/>
                  <a:pt x="299" y="49"/>
                  <a:pt x="392" y="30"/>
                </a:cubicBezTo>
                <a:cubicBezTo>
                  <a:pt x="723" y="41"/>
                  <a:pt x="1043" y="28"/>
                  <a:pt x="1376" y="22"/>
                </a:cubicBezTo>
                <a:cubicBezTo>
                  <a:pt x="1511" y="0"/>
                  <a:pt x="1649" y="19"/>
                  <a:pt x="1784" y="30"/>
                </a:cubicBezTo>
                <a:cubicBezTo>
                  <a:pt x="1837" y="57"/>
                  <a:pt x="1894" y="64"/>
                  <a:pt x="1952" y="78"/>
                </a:cubicBezTo>
                <a:cubicBezTo>
                  <a:pt x="1999" y="90"/>
                  <a:pt x="2041" y="109"/>
                  <a:pt x="2088" y="118"/>
                </a:cubicBezTo>
                <a:cubicBezTo>
                  <a:pt x="2090" y="119"/>
                  <a:pt x="2144" y="158"/>
                  <a:pt x="2144" y="166"/>
                </a:cubicBezTo>
                <a:cubicBezTo>
                  <a:pt x="2144" y="221"/>
                  <a:pt x="2122" y="281"/>
                  <a:pt x="2104" y="334"/>
                </a:cubicBezTo>
                <a:cubicBezTo>
                  <a:pt x="2097" y="354"/>
                  <a:pt x="2069" y="361"/>
                  <a:pt x="2056" y="374"/>
                </a:cubicBezTo>
                <a:cubicBezTo>
                  <a:pt x="2005" y="425"/>
                  <a:pt x="1969" y="471"/>
                  <a:pt x="1896" y="486"/>
                </a:cubicBezTo>
                <a:cubicBezTo>
                  <a:pt x="1844" y="521"/>
                  <a:pt x="1795" y="530"/>
                  <a:pt x="1736" y="550"/>
                </a:cubicBezTo>
                <a:cubicBezTo>
                  <a:pt x="1653" y="578"/>
                  <a:pt x="1575" y="610"/>
                  <a:pt x="1488" y="622"/>
                </a:cubicBezTo>
                <a:cubicBezTo>
                  <a:pt x="1404" y="656"/>
                  <a:pt x="1312" y="680"/>
                  <a:pt x="1224" y="702"/>
                </a:cubicBezTo>
                <a:cubicBezTo>
                  <a:pt x="1186" y="712"/>
                  <a:pt x="1135" y="732"/>
                  <a:pt x="1096" y="734"/>
                </a:cubicBezTo>
                <a:cubicBezTo>
                  <a:pt x="995" y="739"/>
                  <a:pt x="893" y="739"/>
                  <a:pt x="792" y="742"/>
                </a:cubicBezTo>
                <a:cubicBezTo>
                  <a:pt x="610" y="737"/>
                  <a:pt x="475" y="728"/>
                  <a:pt x="304" y="718"/>
                </a:cubicBezTo>
                <a:cubicBezTo>
                  <a:pt x="219" y="707"/>
                  <a:pt x="150" y="694"/>
                  <a:pt x="64" y="694"/>
                </a:cubicBezTo>
              </a:path>
            </a:pathLst>
          </a:custGeom>
          <a:noFill/>
          <a:ln w="19050" cmpd="sng">
            <a:solidFill>
              <a:srgbClr val="9A0E97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185" name="Group 41"/>
          <p:cNvGrpSpPr>
            <a:grpSpLocks/>
          </p:cNvGrpSpPr>
          <p:nvPr/>
        </p:nvGrpSpPr>
        <p:grpSpPr bwMode="auto">
          <a:xfrm>
            <a:off x="3108325" y="3810000"/>
            <a:ext cx="4740275" cy="2317750"/>
            <a:chOff x="1958" y="2400"/>
            <a:chExt cx="2986" cy="1460"/>
          </a:xfrm>
        </p:grpSpPr>
        <p:grpSp>
          <p:nvGrpSpPr>
            <p:cNvPr id="6186" name="Group 42"/>
            <p:cNvGrpSpPr>
              <a:grpSpLocks/>
            </p:cNvGrpSpPr>
            <p:nvPr/>
          </p:nvGrpSpPr>
          <p:grpSpPr bwMode="auto">
            <a:xfrm>
              <a:off x="3696" y="2400"/>
              <a:ext cx="1248" cy="1248"/>
              <a:chOff x="3696" y="2400"/>
              <a:chExt cx="1248" cy="1248"/>
            </a:xfrm>
          </p:grpSpPr>
          <p:sp>
            <p:nvSpPr>
              <p:cNvPr id="6187" name="AutoShape 43"/>
              <p:cNvSpPr>
                <a:spLocks noChangeArrowheads="1"/>
              </p:cNvSpPr>
              <p:nvPr/>
            </p:nvSpPr>
            <p:spPr bwMode="auto">
              <a:xfrm>
                <a:off x="3696" y="2400"/>
                <a:ext cx="1248" cy="816"/>
              </a:xfrm>
              <a:prstGeom prst="rtTriangle">
                <a:avLst/>
              </a:prstGeom>
              <a:solidFill>
                <a:srgbClr val="000099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8" name="Rectangle 44"/>
              <p:cNvSpPr>
                <a:spLocks noChangeArrowheads="1"/>
              </p:cNvSpPr>
              <p:nvPr/>
            </p:nvSpPr>
            <p:spPr bwMode="auto">
              <a:xfrm>
                <a:off x="3696" y="3216"/>
                <a:ext cx="1248" cy="432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189" name="Group 45"/>
            <p:cNvGrpSpPr>
              <a:grpSpLocks/>
            </p:cNvGrpSpPr>
            <p:nvPr/>
          </p:nvGrpSpPr>
          <p:grpSpPr bwMode="auto">
            <a:xfrm>
              <a:off x="1958" y="3548"/>
              <a:ext cx="1738" cy="312"/>
              <a:chOff x="1958" y="3548"/>
              <a:chExt cx="1738" cy="312"/>
            </a:xfrm>
          </p:grpSpPr>
          <p:sp>
            <p:nvSpPr>
              <p:cNvPr id="6190" name="Text Box 46"/>
              <p:cNvSpPr txBox="1">
                <a:spLocks noChangeArrowheads="1"/>
              </p:cNvSpPr>
              <p:nvPr/>
            </p:nvSpPr>
            <p:spPr bwMode="auto">
              <a:xfrm>
                <a:off x="1958" y="3623"/>
                <a:ext cx="442" cy="237"/>
              </a:xfrm>
              <a:prstGeom prst="rect">
                <a:avLst/>
              </a:prstGeom>
              <a:noFill/>
              <a:ln w="9525">
                <a:solidFill>
                  <a:srgbClr val="000099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>
                    <a:solidFill>
                      <a:srgbClr val="000099"/>
                    </a:solidFill>
                  </a:rPr>
                  <a:t>W</a:t>
                </a:r>
                <a:r>
                  <a:rPr lang="en-US" baseline="-25000">
                    <a:solidFill>
                      <a:srgbClr val="000099"/>
                    </a:solidFill>
                  </a:rPr>
                  <a:t>AB</a:t>
                </a:r>
              </a:p>
            </p:txBody>
          </p:sp>
          <p:sp>
            <p:nvSpPr>
              <p:cNvPr id="6191" name="Line 47"/>
              <p:cNvSpPr>
                <a:spLocks noChangeShapeType="1"/>
              </p:cNvSpPr>
              <p:nvPr/>
            </p:nvSpPr>
            <p:spPr bwMode="auto">
              <a:xfrm flipV="1">
                <a:off x="2400" y="3548"/>
                <a:ext cx="1296" cy="196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441325" y="990600"/>
            <a:ext cx="5054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From the first Law:		</a:t>
            </a:r>
            <a:r>
              <a:rPr lang="en-US">
                <a:sym typeface="Symbol" pitchFamily="18" charset="2"/>
              </a:rPr>
              <a:t>U = Q – W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609600" y="1414463"/>
            <a:ext cx="4876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B00000"/>
                </a:solidFill>
                <a:sym typeface="Symbol" pitchFamily="18" charset="2"/>
              </a:rPr>
              <a:t>For the adiabatic process: 		U =  – W</a:t>
            </a:r>
            <a:endParaRPr lang="en-US">
              <a:solidFill>
                <a:srgbClr val="B00000"/>
              </a:solidFill>
            </a:endParaRPr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2667000" y="1719263"/>
          <a:ext cx="4470400" cy="2120900"/>
        </p:xfrm>
        <a:graphic>
          <a:graphicData uri="http://schemas.openxmlformats.org/presentationml/2006/ole">
            <p:oleObj spid="_x0000_s7172" name="Equation" r:id="rId3" imgW="4470120" imgH="2120760" progId="Equation.DSMT4">
              <p:embed/>
            </p:oleObj>
          </a:graphicData>
        </a:graphic>
      </p:graphicFrame>
      <p:grpSp>
        <p:nvGrpSpPr>
          <p:cNvPr id="7173" name="Group 5"/>
          <p:cNvGrpSpPr>
            <a:grpSpLocks/>
          </p:cNvGrpSpPr>
          <p:nvPr/>
        </p:nvGrpSpPr>
        <p:grpSpPr bwMode="auto">
          <a:xfrm>
            <a:off x="593725" y="3954463"/>
            <a:ext cx="7635875" cy="1574800"/>
            <a:chOff x="374" y="2491"/>
            <a:chExt cx="4810" cy="992"/>
          </a:xfrm>
        </p:grpSpPr>
        <p:sp>
          <p:nvSpPr>
            <p:cNvPr id="7174" name="Text Box 6"/>
            <p:cNvSpPr txBox="1">
              <a:spLocks noChangeArrowheads="1"/>
            </p:cNvSpPr>
            <p:nvPr/>
          </p:nvSpPr>
          <p:spPr bwMode="auto">
            <a:xfrm>
              <a:off x="374" y="2523"/>
              <a:ext cx="4810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For the process ADB:</a:t>
              </a:r>
            </a:p>
            <a:p>
              <a:endParaRPr lang="en-US"/>
            </a:p>
            <a:p>
              <a:r>
                <a:rPr lang="en-US"/>
                <a:t>but,                                          and from the result of the </a:t>
              </a:r>
              <a:r>
                <a:rPr lang="en-US">
                  <a:solidFill>
                    <a:srgbClr val="B00000"/>
                  </a:solidFill>
                </a:rPr>
                <a:t>adiabatic process</a:t>
              </a:r>
            </a:p>
          </p:txBody>
        </p:sp>
        <p:graphicFrame>
          <p:nvGraphicFramePr>
            <p:cNvPr id="7175" name="Object 7"/>
            <p:cNvGraphicFramePr>
              <a:graphicFrameLocks noChangeAspect="1"/>
            </p:cNvGraphicFramePr>
            <p:nvPr/>
          </p:nvGraphicFramePr>
          <p:xfrm>
            <a:off x="1992" y="2491"/>
            <a:ext cx="2328" cy="272"/>
          </p:xfrm>
          <a:graphic>
            <a:graphicData uri="http://schemas.openxmlformats.org/presentationml/2006/ole">
              <p:oleObj spid="_x0000_s7175" name="Equation" r:id="rId4" imgW="3695400" imgH="431640" progId="Equation.DSMT4">
                <p:embed/>
              </p:oleObj>
            </a:graphicData>
          </a:graphic>
        </p:graphicFrame>
        <p:graphicFrame>
          <p:nvGraphicFramePr>
            <p:cNvPr id="7176" name="Object 8"/>
            <p:cNvGraphicFramePr>
              <a:graphicFrameLocks noChangeAspect="1"/>
            </p:cNvGraphicFramePr>
            <p:nvPr/>
          </p:nvGraphicFramePr>
          <p:xfrm>
            <a:off x="720" y="2891"/>
            <a:ext cx="1488" cy="208"/>
          </p:xfrm>
          <a:graphic>
            <a:graphicData uri="http://schemas.openxmlformats.org/presentationml/2006/ole">
              <p:oleObj spid="_x0000_s7176" name="Equation" r:id="rId5" imgW="2361960" imgH="330120" progId="Equation.DSMT4">
                <p:embed/>
              </p:oleObj>
            </a:graphicData>
          </a:graphic>
        </p:graphicFrame>
        <p:graphicFrame>
          <p:nvGraphicFramePr>
            <p:cNvPr id="7177" name="Object 9"/>
            <p:cNvGraphicFramePr>
              <a:graphicFrameLocks noChangeAspect="1"/>
            </p:cNvGraphicFramePr>
            <p:nvPr/>
          </p:nvGraphicFramePr>
          <p:xfrm>
            <a:off x="1252" y="3243"/>
            <a:ext cx="3256" cy="240"/>
          </p:xfrm>
          <a:graphic>
            <a:graphicData uri="http://schemas.openxmlformats.org/presentationml/2006/ole">
              <p:oleObj spid="_x0000_s7177" name="Equation" r:id="rId6" imgW="5168880" imgH="380880" progId="Equation.DSMT4">
                <p:embed/>
              </p:oleObj>
            </a:graphicData>
          </a:graphic>
        </p:graphicFrame>
      </p:grpSp>
      <p:graphicFrame>
        <p:nvGraphicFramePr>
          <p:cNvPr id="7178" name="Rectangle 10"/>
          <p:cNvGraphicFramePr>
            <a:graphicFrameLocks/>
          </p:cNvGraphicFramePr>
          <p:nvPr/>
        </p:nvGraphicFramePr>
        <p:xfrm>
          <a:off x="1524000" y="1820863"/>
          <a:ext cx="6096000" cy="4064000"/>
        </p:xfrm>
        <a:graphic>
          <a:graphicData uri="http://schemas.openxmlformats.org/presentationml/2006/ole">
            <p:oleObj spid="_x0000_s7178" name="Equation" r:id="rId7" imgW="0" imgH="0" progId="Equation.DSMT4">
              <p:embed/>
            </p:oleObj>
          </a:graphicData>
        </a:graphic>
      </p:graphicFrame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2819400" y="55563"/>
            <a:ext cx="35909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000099"/>
                </a:solidFill>
              </a:rPr>
              <a:t>Example 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819400" y="55563"/>
            <a:ext cx="35909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000099"/>
                </a:solidFill>
              </a:rPr>
              <a:t>Example Problems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152400" y="1219200"/>
            <a:ext cx="81994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Similarly for the process ACB:  we find that </a:t>
            </a:r>
            <a:r>
              <a:rPr lang="en-US" i="1">
                <a:latin typeface="Times New Roman" pitchFamily="18" charset="0"/>
              </a:rPr>
              <a:t>W</a:t>
            </a:r>
            <a:r>
              <a:rPr lang="en-US" i="1" baseline="-25000">
                <a:latin typeface="Times New Roman" pitchFamily="18" charset="0"/>
              </a:rPr>
              <a:t>ACB</a:t>
            </a:r>
            <a:r>
              <a:rPr lang="en-US"/>
              <a:t> = -21.9 J and </a:t>
            </a:r>
            <a:r>
              <a:rPr lang="en-US" i="1">
                <a:latin typeface="Times New Roman" pitchFamily="18" charset="0"/>
              </a:rPr>
              <a:t>Q</a:t>
            </a:r>
            <a:r>
              <a:rPr lang="en-US" i="1" baseline="-25000">
                <a:latin typeface="Times New Roman" pitchFamily="18" charset="0"/>
              </a:rPr>
              <a:t>ACB</a:t>
            </a:r>
            <a:r>
              <a:rPr lang="en-US"/>
              <a:t> = -90.6 J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228600" y="5486400"/>
            <a:ext cx="87026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B00000"/>
                </a:solidFill>
              </a:rPr>
              <a:t>Note that while we can calculate 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Q</a:t>
            </a:r>
            <a:r>
              <a:rPr lang="en-US" i="1" baseline="-25000">
                <a:solidFill>
                  <a:srgbClr val="B00000"/>
                </a:solidFill>
                <a:latin typeface="Times New Roman" pitchFamily="18" charset="0"/>
              </a:rPr>
              <a:t>ADB</a:t>
            </a:r>
            <a:r>
              <a:rPr lang="en-US">
                <a:solidFill>
                  <a:srgbClr val="B00000"/>
                </a:solidFill>
              </a:rPr>
              <a:t> and 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Q</a:t>
            </a:r>
            <a:r>
              <a:rPr lang="en-US" i="1" baseline="-25000">
                <a:solidFill>
                  <a:srgbClr val="B00000"/>
                </a:solidFill>
                <a:latin typeface="Times New Roman" pitchFamily="18" charset="0"/>
              </a:rPr>
              <a:t>ACB</a:t>
            </a:r>
            <a:r>
              <a:rPr lang="en-US">
                <a:solidFill>
                  <a:srgbClr val="B00000"/>
                </a:solidFill>
              </a:rPr>
              <a:t> , we can not calculate 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Q</a:t>
            </a:r>
            <a:r>
              <a:rPr lang="en-US" i="1" baseline="-25000">
                <a:solidFill>
                  <a:srgbClr val="B00000"/>
                </a:solidFill>
                <a:latin typeface="Times New Roman" pitchFamily="18" charset="0"/>
              </a:rPr>
              <a:t>AD 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, Q</a:t>
            </a:r>
            <a:r>
              <a:rPr lang="en-US" i="1" baseline="-25000">
                <a:solidFill>
                  <a:srgbClr val="B00000"/>
                </a:solidFill>
                <a:latin typeface="Times New Roman" pitchFamily="18" charset="0"/>
              </a:rPr>
              <a:t>DB , 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Q</a:t>
            </a:r>
            <a:r>
              <a:rPr lang="en-US" i="1" baseline="-25000">
                <a:solidFill>
                  <a:srgbClr val="B00000"/>
                </a:solidFill>
                <a:latin typeface="Times New Roman" pitchFamily="18" charset="0"/>
              </a:rPr>
              <a:t>AC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 and Q</a:t>
            </a:r>
            <a:r>
              <a:rPr lang="en-US" i="1" baseline="-25000">
                <a:solidFill>
                  <a:srgbClr val="B00000"/>
                </a:solidFill>
                <a:latin typeface="Times New Roman" pitchFamily="18" charset="0"/>
              </a:rPr>
              <a:t>CB</a:t>
            </a:r>
            <a:r>
              <a:rPr lang="en-US">
                <a:solidFill>
                  <a:srgbClr val="B00000"/>
                </a:solidFill>
              </a:rPr>
              <a:t> , 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separately </a:t>
            </a:r>
            <a:r>
              <a:rPr lang="en-US">
                <a:solidFill>
                  <a:srgbClr val="B00000"/>
                </a:solidFill>
                <a:latin typeface="Times New Roman" pitchFamily="18" charset="0"/>
              </a:rPr>
              <a:t>for we do not know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 </a:t>
            </a:r>
            <a:r>
              <a:rPr lang="en-US">
                <a:solidFill>
                  <a:srgbClr val="B00000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U</a:t>
            </a:r>
            <a:r>
              <a:rPr lang="en-US" i="1" baseline="-25000">
                <a:solidFill>
                  <a:srgbClr val="B00000"/>
                </a:solidFill>
                <a:latin typeface="Times New Roman" pitchFamily="18" charset="0"/>
              </a:rPr>
              <a:t>D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 – U</a:t>
            </a:r>
            <a:r>
              <a:rPr lang="en-US" i="1" baseline="-25000">
                <a:solidFill>
                  <a:srgbClr val="B00000"/>
                </a:solidFill>
                <a:latin typeface="Times New Roman" pitchFamily="18" charset="0"/>
              </a:rPr>
              <a:t>A</a:t>
            </a:r>
            <a:r>
              <a:rPr lang="en-US">
                <a:solidFill>
                  <a:srgbClr val="B00000"/>
                </a:solidFill>
                <a:latin typeface="Times New Roman" pitchFamily="18" charset="0"/>
              </a:rPr>
              <a:t>)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 or </a:t>
            </a:r>
            <a:r>
              <a:rPr lang="en-US">
                <a:solidFill>
                  <a:srgbClr val="B00000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U</a:t>
            </a:r>
            <a:r>
              <a:rPr lang="en-US" i="1" baseline="-25000">
                <a:solidFill>
                  <a:srgbClr val="B00000"/>
                </a:solidFill>
                <a:latin typeface="Times New Roman" pitchFamily="18" charset="0"/>
              </a:rPr>
              <a:t>C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 – U</a:t>
            </a:r>
            <a:r>
              <a:rPr lang="en-US" i="1" baseline="-25000">
                <a:solidFill>
                  <a:srgbClr val="B00000"/>
                </a:solidFill>
                <a:latin typeface="Times New Roman" pitchFamily="18" charset="0"/>
              </a:rPr>
              <a:t>A</a:t>
            </a:r>
            <a:r>
              <a:rPr lang="en-US">
                <a:solidFill>
                  <a:srgbClr val="B00000"/>
                </a:solidFill>
                <a:latin typeface="Times New Roman" pitchFamily="18" charset="0"/>
              </a:rPr>
              <a:t>)</a:t>
            </a:r>
            <a:r>
              <a:rPr lang="en-US" i="1">
                <a:solidFill>
                  <a:srgbClr val="B00000"/>
                </a:solidFill>
                <a:latin typeface="Times New Roman" pitchFamily="18" charset="0"/>
              </a:rPr>
              <a:t>. 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519113" y="2239963"/>
            <a:ext cx="6102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the process AB: W can also calculated from the area:  </a:t>
            </a:r>
          </a:p>
        </p:txBody>
      </p:sp>
      <p:grpSp>
        <p:nvGrpSpPr>
          <p:cNvPr id="8200" name="Group 8"/>
          <p:cNvGrpSpPr>
            <a:grpSpLocks/>
          </p:cNvGrpSpPr>
          <p:nvPr/>
        </p:nvGrpSpPr>
        <p:grpSpPr bwMode="auto">
          <a:xfrm>
            <a:off x="7361238" y="2392363"/>
            <a:ext cx="838200" cy="838200"/>
            <a:chOff x="4320" y="2832"/>
            <a:chExt cx="528" cy="528"/>
          </a:xfrm>
        </p:grpSpPr>
        <p:sp>
          <p:nvSpPr>
            <p:cNvPr id="8201" name="AutoShape 9"/>
            <p:cNvSpPr>
              <a:spLocks noChangeArrowheads="1"/>
            </p:cNvSpPr>
            <p:nvPr/>
          </p:nvSpPr>
          <p:spPr bwMode="auto">
            <a:xfrm>
              <a:off x="4320" y="2832"/>
              <a:ext cx="528" cy="345"/>
            </a:xfrm>
            <a:prstGeom prst="rtTriangle">
              <a:avLst/>
            </a:prstGeom>
            <a:solidFill>
              <a:srgbClr val="000099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2" name="Rectangle 10"/>
            <p:cNvSpPr>
              <a:spLocks noChangeArrowheads="1"/>
            </p:cNvSpPr>
            <p:nvPr/>
          </p:nvSpPr>
          <p:spPr bwMode="auto">
            <a:xfrm>
              <a:off x="4320" y="3177"/>
              <a:ext cx="528" cy="183"/>
            </a:xfrm>
            <a:prstGeom prst="rect">
              <a:avLst/>
            </a:prstGeom>
            <a:solidFill>
              <a:srgbClr val="000099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8203" name="Object 11"/>
          <p:cNvGraphicFramePr>
            <a:graphicFrameLocks noChangeAspect="1"/>
          </p:cNvGraphicFramePr>
          <p:nvPr/>
        </p:nvGraphicFramePr>
        <p:xfrm>
          <a:off x="1344613" y="3143250"/>
          <a:ext cx="5448300" cy="330200"/>
        </p:xfrm>
        <a:graphic>
          <a:graphicData uri="http://schemas.openxmlformats.org/presentationml/2006/ole">
            <p:oleObj spid="_x0000_s8203" name="Equation" r:id="rId3" imgW="5448240" imgH="33012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/>
      <p:bldP spid="819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533400" y="762000"/>
            <a:ext cx="7766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Given the standard enthalpies of formation,           ,find the enthalpy for the </a:t>
            </a:r>
          </a:p>
          <a:p>
            <a:r>
              <a:rPr lang="en-US"/>
              <a:t>following reaction at 298K and 1 atmosphere pressure.</a:t>
            </a: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1143000" y="3581400"/>
          <a:ext cx="5194300" cy="330200"/>
        </p:xfrm>
        <a:graphic>
          <a:graphicData uri="http://schemas.openxmlformats.org/presentationml/2006/ole">
            <p:oleObj spid="_x0000_s13317" name="Equation" r:id="rId3" imgW="5194080" imgH="330120" progId="Equation.DSMT4">
              <p:embed/>
            </p:oleObj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5029200" y="762000"/>
          <a:ext cx="508000" cy="381000"/>
        </p:xfrm>
        <a:graphic>
          <a:graphicData uri="http://schemas.openxmlformats.org/presentationml/2006/ole">
            <p:oleObj spid="_x0000_s13318" name="Equation" r:id="rId4" imgW="507960" imgH="380880" progId="Equation.DSMT4">
              <p:embed/>
            </p:oleObj>
          </a:graphicData>
        </a:graphic>
      </p:graphicFrame>
      <p:graphicFrame>
        <p:nvGraphicFramePr>
          <p:cNvPr id="13319" name="Object 7"/>
          <p:cNvGraphicFramePr>
            <a:graphicFrameLocks noChangeAspect="1"/>
          </p:cNvGraphicFramePr>
          <p:nvPr/>
        </p:nvGraphicFramePr>
        <p:xfrm>
          <a:off x="2438400" y="1524000"/>
          <a:ext cx="1562100" cy="381000"/>
        </p:xfrm>
        <a:graphic>
          <a:graphicData uri="http://schemas.openxmlformats.org/presentationml/2006/ole">
            <p:oleObj spid="_x0000_s13319" name="Equation" r:id="rId5" imgW="1562040" imgH="380880" progId="Equation.DSMT4">
              <p:embed/>
            </p:oleObj>
          </a:graphicData>
        </a:graphic>
      </p:graphicFrame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1066800" y="2057400"/>
            <a:ext cx="37338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MnSiO</a:t>
            </a:r>
            <a:r>
              <a:rPr lang="en-US" baseline="-25000"/>
              <a:t>3</a:t>
            </a:r>
            <a:r>
              <a:rPr lang="en-US"/>
              <a:t>		-246</a:t>
            </a:r>
            <a:endParaRPr lang="en-US" baseline="-25000"/>
          </a:p>
          <a:p>
            <a:r>
              <a:rPr lang="en-US"/>
              <a:t>MnO		-384</a:t>
            </a:r>
          </a:p>
          <a:p>
            <a:r>
              <a:rPr lang="en-US"/>
              <a:t>SiO</a:t>
            </a:r>
            <a:r>
              <a:rPr lang="en-US" baseline="-25000"/>
              <a:t>2		</a:t>
            </a:r>
            <a:r>
              <a:rPr lang="en-US"/>
              <a:t>-910</a:t>
            </a:r>
            <a:endParaRPr lang="en-US" baseline="-25000"/>
          </a:p>
        </p:txBody>
      </p:sp>
      <p:graphicFrame>
        <p:nvGraphicFramePr>
          <p:cNvPr id="13321" name="Object 9"/>
          <p:cNvGraphicFramePr>
            <a:graphicFrameLocks noChangeAspect="1"/>
          </p:cNvGraphicFramePr>
          <p:nvPr/>
        </p:nvGraphicFramePr>
        <p:xfrm>
          <a:off x="2559050" y="4495800"/>
          <a:ext cx="3517900" cy="939800"/>
        </p:xfrm>
        <a:graphic>
          <a:graphicData uri="http://schemas.openxmlformats.org/presentationml/2006/ole">
            <p:oleObj spid="_x0000_s13321" name="Equation" r:id="rId6" imgW="3517560" imgH="93960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746125" y="646113"/>
            <a:ext cx="7131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Given the specific heat functionality find the heat of reaction at 800K.</a:t>
            </a:r>
          </a:p>
        </p:txBody>
      </p:sp>
      <p:grpSp>
        <p:nvGrpSpPr>
          <p:cNvPr id="14350" name="Group 14"/>
          <p:cNvGrpSpPr>
            <a:grpSpLocks/>
          </p:cNvGrpSpPr>
          <p:nvPr/>
        </p:nvGrpSpPr>
        <p:grpSpPr bwMode="auto">
          <a:xfrm>
            <a:off x="1066800" y="1370013"/>
            <a:ext cx="7620000" cy="1830387"/>
            <a:chOff x="672" y="720"/>
            <a:chExt cx="4800" cy="1153"/>
          </a:xfrm>
        </p:grpSpPr>
        <p:sp>
          <p:nvSpPr>
            <p:cNvPr id="14342" name="Text Box 6"/>
            <p:cNvSpPr txBox="1">
              <a:spLocks noChangeArrowheads="1"/>
            </p:cNvSpPr>
            <p:nvPr/>
          </p:nvSpPr>
          <p:spPr bwMode="auto">
            <a:xfrm>
              <a:off x="672" y="1296"/>
              <a:ext cx="4800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MnSiO</a:t>
              </a:r>
              <a:r>
                <a:rPr lang="en-US" baseline="-25000"/>
                <a:t>3</a:t>
              </a:r>
              <a:r>
                <a:rPr lang="en-US"/>
                <a:t>		110	16.2		-25.8	     298-1500</a:t>
              </a:r>
              <a:endParaRPr lang="en-US" baseline="-25000"/>
            </a:p>
            <a:p>
              <a:r>
                <a:rPr lang="en-US"/>
                <a:t>MnO		46.0	 8.2		-3.7	     298-900</a:t>
              </a:r>
            </a:p>
            <a:p>
              <a:r>
                <a:rPr lang="en-US"/>
                <a:t>SiO</a:t>
              </a:r>
              <a:r>
                <a:rPr lang="en-US" baseline="-25000"/>
                <a:t>2		</a:t>
              </a:r>
              <a:r>
                <a:rPr lang="en-US"/>
                <a:t>46.9	34.2		-11.3 	     298-1000</a:t>
              </a:r>
              <a:endParaRPr lang="en-US" baseline="-25000"/>
            </a:p>
          </p:txBody>
        </p:sp>
        <p:sp>
          <p:nvSpPr>
            <p:cNvPr id="14343" name="Text Box 7"/>
            <p:cNvSpPr txBox="1">
              <a:spLocks noChangeArrowheads="1"/>
            </p:cNvSpPr>
            <p:nvPr/>
          </p:nvSpPr>
          <p:spPr bwMode="auto">
            <a:xfrm>
              <a:off x="1248" y="720"/>
              <a:ext cx="24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Heat capacity Constants (J/mol-K)</a:t>
              </a:r>
            </a:p>
          </p:txBody>
        </p:sp>
        <p:sp>
          <p:nvSpPr>
            <p:cNvPr id="14344" name="Text Box 8"/>
            <p:cNvSpPr txBox="1">
              <a:spLocks noChangeArrowheads="1"/>
            </p:cNvSpPr>
            <p:nvPr/>
          </p:nvSpPr>
          <p:spPr bwMode="auto">
            <a:xfrm>
              <a:off x="1968" y="1008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a</a:t>
              </a:r>
            </a:p>
          </p:txBody>
        </p:sp>
        <p:sp>
          <p:nvSpPr>
            <p:cNvPr id="14345" name="Text Box 9"/>
            <p:cNvSpPr txBox="1">
              <a:spLocks noChangeArrowheads="1"/>
            </p:cNvSpPr>
            <p:nvPr/>
          </p:nvSpPr>
          <p:spPr bwMode="auto">
            <a:xfrm>
              <a:off x="2400" y="1008"/>
              <a:ext cx="6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b="1"/>
                <a:t>b x 10</a:t>
              </a:r>
              <a:r>
                <a:rPr lang="en-US" b="1" baseline="30000"/>
                <a:t>3</a:t>
              </a:r>
              <a:endParaRPr lang="en-US" b="1"/>
            </a:p>
          </p:txBody>
        </p:sp>
        <p:sp>
          <p:nvSpPr>
            <p:cNvPr id="14348" name="Text Box 12"/>
            <p:cNvSpPr txBox="1">
              <a:spLocks noChangeArrowheads="1"/>
            </p:cNvSpPr>
            <p:nvPr/>
          </p:nvSpPr>
          <p:spPr bwMode="auto">
            <a:xfrm>
              <a:off x="3600" y="960"/>
              <a:ext cx="7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b="1"/>
                <a:t>c x 10</a:t>
              </a:r>
              <a:r>
                <a:rPr lang="en-US" b="1" baseline="30000"/>
                <a:t>-5</a:t>
              </a:r>
            </a:p>
          </p:txBody>
        </p:sp>
        <p:sp>
          <p:nvSpPr>
            <p:cNvPr id="14349" name="Text Box 13"/>
            <p:cNvSpPr txBox="1">
              <a:spLocks noChangeArrowheads="1"/>
            </p:cNvSpPr>
            <p:nvPr/>
          </p:nvSpPr>
          <p:spPr bwMode="auto">
            <a:xfrm>
              <a:off x="4272" y="921"/>
              <a:ext cx="11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/>
                <a:t>Temp range (K)</a:t>
              </a:r>
            </a:p>
          </p:txBody>
        </p:sp>
      </p:grp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974725" y="3617913"/>
            <a:ext cx="7169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First bring each of the components in the reaction from 298K to 800K</a:t>
            </a:r>
          </a:p>
        </p:txBody>
      </p:sp>
      <p:graphicFrame>
        <p:nvGraphicFramePr>
          <p:cNvPr id="14352" name="Object 16"/>
          <p:cNvGraphicFramePr>
            <a:graphicFrameLocks noChangeAspect="1"/>
          </p:cNvGraphicFramePr>
          <p:nvPr/>
        </p:nvGraphicFramePr>
        <p:xfrm>
          <a:off x="2438400" y="4038600"/>
          <a:ext cx="3937000" cy="2654300"/>
        </p:xfrm>
        <a:graphic>
          <a:graphicData uri="http://schemas.openxmlformats.org/presentationml/2006/ole">
            <p:oleObj spid="_x0000_s14352" name="Equation" r:id="rId3" imgW="3936960" imgH="265428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914400" y="1295400"/>
          <a:ext cx="4711700" cy="1371600"/>
        </p:xfrm>
        <a:graphic>
          <a:graphicData uri="http://schemas.openxmlformats.org/presentationml/2006/ole">
            <p:oleObj spid="_x0000_s15364" name="Equation" r:id="rId3" imgW="4711680" imgH="1371600" progId="Equation.DSMT4">
              <p:embed/>
            </p:oleObj>
          </a:graphicData>
        </a:graphic>
      </p:graphicFrame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838200" y="530225"/>
            <a:ext cx="443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Then evaluate </a:t>
            </a:r>
            <a:r>
              <a:rPr lang="en-US">
                <a:latin typeface="Symbol" pitchFamily="18" charset="2"/>
              </a:rPr>
              <a:t>D</a:t>
            </a:r>
            <a:r>
              <a:rPr lang="en-US"/>
              <a:t>H for the reaction at 800K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5410200" y="1905000"/>
            <a:ext cx="1827213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latin typeface="Symbol" pitchFamily="18" charset="2"/>
              </a:rPr>
              <a:t>D</a:t>
            </a:r>
            <a:r>
              <a:rPr lang="en-US" sz="2000" i="1">
                <a:latin typeface="Times New Roman" pitchFamily="18" charset="0"/>
              </a:rPr>
              <a:t>a</a:t>
            </a:r>
            <a:r>
              <a:rPr lang="en-US" sz="2000">
                <a:latin typeface="Times New Roman" pitchFamily="18" charset="0"/>
              </a:rPr>
              <a:t> =-17.1</a:t>
            </a:r>
          </a:p>
          <a:p>
            <a:r>
              <a:rPr lang="en-US" sz="2000">
                <a:latin typeface="Symbol" pitchFamily="18" charset="2"/>
              </a:rPr>
              <a:t>D</a:t>
            </a:r>
            <a:r>
              <a:rPr lang="en-US" sz="2000" i="1">
                <a:latin typeface="Times New Roman" pitchFamily="18" charset="0"/>
              </a:rPr>
              <a:t>b</a:t>
            </a:r>
            <a:r>
              <a:rPr lang="en-US" sz="2000">
                <a:latin typeface="Times New Roman" pitchFamily="18" charset="0"/>
              </a:rPr>
              <a:t> = 26.2 </a:t>
            </a:r>
            <a:r>
              <a:rPr lang="en-US" sz="2000"/>
              <a:t>x</a:t>
            </a:r>
            <a:r>
              <a:rPr lang="en-US" sz="2000">
                <a:latin typeface="Times New Roman" pitchFamily="18" charset="0"/>
              </a:rPr>
              <a:t> 10</a:t>
            </a:r>
            <a:r>
              <a:rPr lang="en-US" sz="2000" baseline="30000">
                <a:latin typeface="Times New Roman" pitchFamily="18" charset="0"/>
              </a:rPr>
              <a:t>-3</a:t>
            </a:r>
            <a:endParaRPr lang="en-US" sz="2000">
              <a:latin typeface="Times New Roman" pitchFamily="18" charset="0"/>
            </a:endParaRPr>
          </a:p>
          <a:p>
            <a:r>
              <a:rPr lang="en-US" sz="2000">
                <a:latin typeface="Symbol" pitchFamily="18" charset="2"/>
              </a:rPr>
              <a:t>D</a:t>
            </a:r>
            <a:r>
              <a:rPr lang="en-US" sz="2000" i="1">
                <a:latin typeface="Times New Roman" pitchFamily="18" charset="0"/>
              </a:rPr>
              <a:t>c</a:t>
            </a:r>
            <a:r>
              <a:rPr lang="en-US" sz="2000">
                <a:latin typeface="Times New Roman" pitchFamily="18" charset="0"/>
              </a:rPr>
              <a:t> = 10.8 </a:t>
            </a:r>
            <a:r>
              <a:rPr lang="en-US" sz="2000"/>
              <a:t>x</a:t>
            </a:r>
            <a:r>
              <a:rPr lang="en-US" sz="2000">
                <a:latin typeface="Times New Roman" pitchFamily="18" charset="0"/>
              </a:rPr>
              <a:t> 10</a:t>
            </a:r>
            <a:r>
              <a:rPr lang="en-US" sz="2000" baseline="30000">
                <a:latin typeface="Times New Roman" pitchFamily="18" charset="0"/>
              </a:rPr>
              <a:t>5</a:t>
            </a:r>
            <a:endParaRPr lang="en-US" sz="2000">
              <a:latin typeface="Times New Roman" pitchFamily="18" charset="0"/>
            </a:endParaRPr>
          </a:p>
        </p:txBody>
      </p:sp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914400" y="3200400"/>
          <a:ext cx="6946900" cy="1498600"/>
        </p:xfrm>
        <a:graphic>
          <a:graphicData uri="http://schemas.openxmlformats.org/presentationml/2006/ole">
            <p:oleObj spid="_x0000_s15367" name="Equation" r:id="rId4" imgW="6946560" imgH="1498320" progId="Equation.DSMT4">
              <p:embed/>
            </p:oleObj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2743200" y="5410200"/>
          <a:ext cx="3746500" cy="304800"/>
        </p:xfrm>
        <a:graphic>
          <a:graphicData uri="http://schemas.openxmlformats.org/presentationml/2006/ole">
            <p:oleObj spid="_x0000_s15369" name="Equation" r:id="rId5" imgW="3746160" imgH="30456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457200" y="228600"/>
            <a:ext cx="83105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chemeClr val="accent2"/>
                </a:solidFill>
              </a:rPr>
              <a:t>P,V, T Relations and Thermodynamic Properties</a:t>
            </a:r>
          </a:p>
        </p:txBody>
      </p:sp>
      <p:pic>
        <p:nvPicPr>
          <p:cNvPr id="16387" name="Picture 3" descr="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44650"/>
            <a:ext cx="3656013" cy="3382963"/>
          </a:xfrm>
          <a:prstGeom prst="rect">
            <a:avLst/>
          </a:prstGeom>
          <a:noFill/>
        </p:spPr>
      </p:pic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609600" y="5073650"/>
            <a:ext cx="3429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CC0000"/>
                </a:solidFill>
                <a:latin typeface="Times New Roman" pitchFamily="18" charset="0"/>
              </a:rPr>
              <a:t>P,v, T</a:t>
            </a:r>
            <a:r>
              <a:rPr lang="en-US" b="1">
                <a:solidFill>
                  <a:srgbClr val="CC0000"/>
                </a:solidFill>
              </a:rPr>
              <a:t> surface for a substance </a:t>
            </a:r>
          </a:p>
          <a:p>
            <a:r>
              <a:rPr lang="en-US" b="1">
                <a:solidFill>
                  <a:srgbClr val="CC0000"/>
                </a:solidFill>
              </a:rPr>
              <a:t>that expands on freezing.</a:t>
            </a:r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>
            <a:off x="1676400" y="3679825"/>
            <a:ext cx="304800" cy="174625"/>
          </a:xfrm>
          <a:prstGeom prst="line">
            <a:avLst/>
          </a:prstGeom>
          <a:noFill/>
          <a:ln w="38100" cmpd="dbl">
            <a:solidFill>
              <a:srgbClr val="CC0000"/>
            </a:solidFill>
            <a:round/>
            <a:headEnd type="none" w="lg" len="lg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6390" name="Picture 6" descr="Fig 1b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1143000"/>
            <a:ext cx="2286000" cy="2330450"/>
          </a:xfrm>
          <a:prstGeom prst="rect">
            <a:avLst/>
          </a:prstGeom>
          <a:noFill/>
        </p:spPr>
      </p:pic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6324600" y="1371600"/>
            <a:ext cx="26098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solidFill>
                  <a:schemeClr val="accent2"/>
                </a:solidFill>
                <a:latin typeface="Times New Roman" pitchFamily="18" charset="0"/>
              </a:rPr>
              <a:t>P, v, T</a:t>
            </a:r>
            <a:r>
              <a:rPr lang="en-US">
                <a:solidFill>
                  <a:schemeClr val="accent2"/>
                </a:solidFill>
              </a:rPr>
              <a:t> surface projected</a:t>
            </a:r>
          </a:p>
          <a:p>
            <a:r>
              <a:rPr lang="en-US">
                <a:solidFill>
                  <a:schemeClr val="accent2"/>
                </a:solidFill>
              </a:rPr>
              <a:t>on the </a:t>
            </a:r>
            <a:r>
              <a:rPr lang="en-US" b="1" i="1">
                <a:solidFill>
                  <a:schemeClr val="accent2"/>
                </a:solidFill>
                <a:latin typeface="Times New Roman" pitchFamily="18" charset="0"/>
              </a:rPr>
              <a:t>P-T</a:t>
            </a:r>
            <a:r>
              <a:rPr lang="en-US">
                <a:solidFill>
                  <a:schemeClr val="accent2"/>
                </a:solidFill>
              </a:rPr>
              <a:t> plane. 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4495800" y="3505200"/>
            <a:ext cx="1720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Phase diagram</a:t>
            </a:r>
          </a:p>
        </p:txBody>
      </p:sp>
      <p:pic>
        <p:nvPicPr>
          <p:cNvPr id="16393" name="Picture 9" descr="Fig 1c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91000" y="3886200"/>
            <a:ext cx="2741613" cy="2630488"/>
          </a:xfrm>
          <a:prstGeom prst="rect">
            <a:avLst/>
          </a:prstGeom>
          <a:noFill/>
        </p:spPr>
      </p:pic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6324600" y="4343400"/>
            <a:ext cx="25527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solidFill>
                  <a:schemeClr val="hlink"/>
                </a:solidFill>
                <a:latin typeface="Times New Roman" pitchFamily="18" charset="0"/>
              </a:rPr>
              <a:t>P,v, T</a:t>
            </a:r>
            <a:r>
              <a:rPr lang="en-US">
                <a:solidFill>
                  <a:schemeClr val="hlink"/>
                </a:solidFill>
              </a:rPr>
              <a:t> surface projected</a:t>
            </a:r>
          </a:p>
          <a:p>
            <a:r>
              <a:rPr lang="en-US">
                <a:solidFill>
                  <a:schemeClr val="hlink"/>
                </a:solidFill>
              </a:rPr>
              <a:t>on the </a:t>
            </a:r>
            <a:r>
              <a:rPr lang="en-US" b="1" i="1">
                <a:solidFill>
                  <a:schemeClr val="hlink"/>
                </a:solidFill>
                <a:latin typeface="Times New Roman" pitchFamily="18" charset="0"/>
              </a:rPr>
              <a:t>P- v</a:t>
            </a:r>
            <a:r>
              <a:rPr lang="en-US">
                <a:solidFill>
                  <a:schemeClr val="hlink"/>
                </a:solidFill>
              </a:rPr>
              <a:t> plane.</a:t>
            </a:r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685800" y="5791200"/>
            <a:ext cx="274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i="1">
                <a:solidFill>
                  <a:srgbClr val="008000"/>
                </a:solidFill>
                <a:latin typeface="Times New Roman" pitchFamily="18" charset="0"/>
              </a:rPr>
              <a:t>v = V/m, specific volume</a:t>
            </a:r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619125" y="1179513"/>
            <a:ext cx="291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Graphical equation of state</a:t>
            </a:r>
          </a:p>
        </p:txBody>
      </p:sp>
      <p:sp>
        <p:nvSpPr>
          <p:cNvPr id="16397" name="Freeform 13"/>
          <p:cNvSpPr>
            <a:spLocks/>
          </p:cNvSpPr>
          <p:nvPr/>
        </p:nvSpPr>
        <p:spPr bwMode="auto">
          <a:xfrm>
            <a:off x="2438400" y="2971800"/>
            <a:ext cx="2590800" cy="1562100"/>
          </a:xfrm>
          <a:custGeom>
            <a:avLst/>
            <a:gdLst/>
            <a:ahLst/>
            <a:cxnLst>
              <a:cxn ang="0">
                <a:pos x="0" y="720"/>
              </a:cxn>
              <a:cxn ang="0">
                <a:pos x="816" y="864"/>
              </a:cxn>
              <a:cxn ang="0">
                <a:pos x="1680" y="0"/>
              </a:cxn>
            </a:cxnLst>
            <a:rect l="0" t="0" r="r" b="b"/>
            <a:pathLst>
              <a:path w="1680" h="984">
                <a:moveTo>
                  <a:pt x="0" y="720"/>
                </a:moveTo>
                <a:cubicBezTo>
                  <a:pt x="268" y="852"/>
                  <a:pt x="536" y="984"/>
                  <a:pt x="816" y="864"/>
                </a:cubicBezTo>
                <a:cubicBezTo>
                  <a:pt x="1096" y="744"/>
                  <a:pt x="1388" y="372"/>
                  <a:pt x="1680" y="0"/>
                </a:cubicBezTo>
              </a:path>
            </a:pathLst>
          </a:custGeom>
          <a:noFill/>
          <a:ln w="12700" cmpd="sng">
            <a:solidFill>
              <a:srgbClr val="CC0000"/>
            </a:solidFill>
            <a:round/>
            <a:headEnd type="none" w="med" len="med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" dur="10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nimBg="1"/>
      <p:bldP spid="16391" grpId="0"/>
      <p:bldP spid="16392" grpId="0"/>
      <p:bldP spid="16394" grpId="0"/>
      <p:bldP spid="1639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457200" y="228600"/>
            <a:ext cx="83105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chemeClr val="accent2"/>
                </a:solidFill>
              </a:rPr>
              <a:t>P,V, T Relations and Thermodynamic Properties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4648200" y="2133600"/>
            <a:ext cx="3429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008000"/>
                </a:solidFill>
                <a:latin typeface="Times New Roman" pitchFamily="18" charset="0"/>
              </a:rPr>
              <a:t>P,v, T</a:t>
            </a:r>
            <a:r>
              <a:rPr lang="en-US" b="1">
                <a:solidFill>
                  <a:srgbClr val="008000"/>
                </a:solidFill>
              </a:rPr>
              <a:t> surface for a substance </a:t>
            </a:r>
          </a:p>
          <a:p>
            <a:r>
              <a:rPr lang="en-US" b="1">
                <a:solidFill>
                  <a:srgbClr val="008000"/>
                </a:solidFill>
              </a:rPr>
              <a:t>that contracts on freezing.</a:t>
            </a:r>
          </a:p>
        </p:txBody>
      </p:sp>
      <p:pic>
        <p:nvPicPr>
          <p:cNvPr id="17412" name="Picture 4" descr="Fig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143000"/>
            <a:ext cx="3656013" cy="4813300"/>
          </a:xfrm>
          <a:prstGeom prst="rect">
            <a:avLst/>
          </a:prstGeom>
          <a:noFill/>
        </p:spPr>
      </p:pic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2108200" y="2647950"/>
            <a:ext cx="266700" cy="169863"/>
          </a:xfrm>
          <a:prstGeom prst="line">
            <a:avLst/>
          </a:prstGeom>
          <a:noFill/>
          <a:ln w="38100" cmpd="dbl">
            <a:solidFill>
              <a:srgbClr val="CC0000"/>
            </a:solidFill>
            <a:round/>
            <a:headEnd type="stealth" w="lg" len="lg"/>
            <a:tailEnd type="non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4772025" y="3948113"/>
            <a:ext cx="34988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Phase diagram and </a:t>
            </a:r>
            <a:r>
              <a:rPr lang="en-US" b="1" i="1">
                <a:solidFill>
                  <a:srgbClr val="008000"/>
                </a:solidFill>
                <a:latin typeface="Times New Roman" pitchFamily="18" charset="0"/>
              </a:rPr>
              <a:t>P-v</a:t>
            </a:r>
            <a:r>
              <a:rPr lang="en-US">
                <a:solidFill>
                  <a:srgbClr val="008000"/>
                </a:solidFill>
              </a:rPr>
              <a:t> surface</a:t>
            </a:r>
          </a:p>
          <a:p>
            <a:r>
              <a:rPr lang="en-US">
                <a:solidFill>
                  <a:srgbClr val="008000"/>
                </a:solidFill>
              </a:rPr>
              <a:t>for a substance that contracts on</a:t>
            </a:r>
          </a:p>
          <a:p>
            <a:r>
              <a:rPr lang="en-US">
                <a:solidFill>
                  <a:srgbClr val="008000"/>
                </a:solidFill>
              </a:rPr>
              <a:t>freezing.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1114425" y="760413"/>
            <a:ext cx="291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Graphical equation of state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457200" y="228600"/>
            <a:ext cx="83105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chemeClr val="accent2"/>
                </a:solidFill>
              </a:rPr>
              <a:t>P,V, T Relations and Thermodynamic Properties</a:t>
            </a:r>
          </a:p>
        </p:txBody>
      </p:sp>
      <p:pic>
        <p:nvPicPr>
          <p:cNvPr id="18435" name="Picture 3" descr="F3-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94163" y="2319338"/>
            <a:ext cx="4570412" cy="2341562"/>
          </a:xfrm>
          <a:prstGeom prst="rect">
            <a:avLst/>
          </a:prstGeom>
          <a:noFill/>
        </p:spPr>
      </p:pic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47700" y="1168400"/>
            <a:ext cx="79438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00"/>
                </a:solidFill>
              </a:rPr>
              <a:t>Phase change:  	consider a container of liquid water heated at constant</a:t>
            </a:r>
          </a:p>
          <a:p>
            <a:r>
              <a:rPr lang="en-US" b="1">
                <a:solidFill>
                  <a:srgbClr val="CC0000"/>
                </a:solidFill>
              </a:rPr>
              <a:t>		pressure (1 Atm ~ 10</a:t>
            </a:r>
            <a:r>
              <a:rPr lang="en-US" b="1" baseline="30000">
                <a:solidFill>
                  <a:srgbClr val="CC0000"/>
                </a:solidFill>
              </a:rPr>
              <a:t>5</a:t>
            </a:r>
            <a:r>
              <a:rPr lang="en-US" b="1">
                <a:solidFill>
                  <a:srgbClr val="CC0000"/>
                </a:solidFill>
              </a:rPr>
              <a:t> Pa)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5588000" y="2324100"/>
            <a:ext cx="1651000" cy="2273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7315200" y="2324100"/>
            <a:ext cx="1651000" cy="2273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174625" y="2411413"/>
            <a:ext cx="3473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>
              <a:buFontTx/>
              <a:buAutoNum type="alphaLcParenBoth"/>
            </a:pPr>
            <a:r>
              <a:rPr lang="en-US"/>
              <a:t>The temperature of the water</a:t>
            </a:r>
          </a:p>
          <a:p>
            <a:pPr marL="342900" indent="-342900"/>
            <a:r>
              <a:rPr lang="en-US"/>
              <a:t>rises to 100 C.</a:t>
            </a: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149225" y="5357813"/>
            <a:ext cx="8058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(c) After all the fluid is converted to vapor, the temperature and volume rise as</a:t>
            </a:r>
          </a:p>
          <a:p>
            <a:r>
              <a:rPr lang="en-US">
                <a:solidFill>
                  <a:schemeClr val="accent2"/>
                </a:solidFill>
              </a:rPr>
              <a:t>heat is added to the vapor.</a:t>
            </a: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161925" y="3236913"/>
            <a:ext cx="3829050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(b) At 100 C the heat energy goes</a:t>
            </a:r>
          </a:p>
          <a:p>
            <a:r>
              <a:rPr lang="en-US">
                <a:solidFill>
                  <a:srgbClr val="008000"/>
                </a:solidFill>
              </a:rPr>
              <a:t>into converting the liquid water to</a:t>
            </a:r>
          </a:p>
          <a:p>
            <a:r>
              <a:rPr lang="en-US">
                <a:solidFill>
                  <a:srgbClr val="008000"/>
                </a:solidFill>
              </a:rPr>
              <a:t>water vapor.  The volume of the</a:t>
            </a:r>
          </a:p>
          <a:p>
            <a:r>
              <a:rPr lang="en-US">
                <a:solidFill>
                  <a:srgbClr val="008000"/>
                </a:solidFill>
              </a:rPr>
              <a:t>system increases.  The temperature</a:t>
            </a:r>
          </a:p>
          <a:p>
            <a:r>
              <a:rPr lang="en-US">
                <a:solidFill>
                  <a:srgbClr val="008000"/>
                </a:solidFill>
              </a:rPr>
              <a:t>of the two – phase, liquid/vapor</a:t>
            </a:r>
          </a:p>
          <a:p>
            <a:r>
              <a:rPr lang="en-US">
                <a:solidFill>
                  <a:srgbClr val="008000"/>
                </a:solidFill>
              </a:rPr>
              <a:t>system stays constant (100 C) until</a:t>
            </a:r>
          </a:p>
          <a:p>
            <a:r>
              <a:rPr lang="en-US">
                <a:solidFill>
                  <a:srgbClr val="008000"/>
                </a:solidFill>
              </a:rPr>
              <a:t>the last drop of liquid disappears.</a:t>
            </a:r>
          </a:p>
          <a:p>
            <a:endParaRPr lang="en-US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animBg="1"/>
      <p:bldP spid="18438" grpId="0" animBg="1"/>
      <p:bldP spid="18439" grpId="0"/>
      <p:bldP spid="18440" grpId="0"/>
      <p:bldP spid="184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457200" y="228600"/>
            <a:ext cx="83105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chemeClr val="accent2"/>
                </a:solidFill>
              </a:rPr>
              <a:t>P,V, T Relations and Thermodynamic Properties</a:t>
            </a:r>
          </a:p>
        </p:txBody>
      </p:sp>
      <p:pic>
        <p:nvPicPr>
          <p:cNvPr id="19459" name="Picture 3" descr="F3-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01888" y="974725"/>
            <a:ext cx="3656012" cy="2613025"/>
          </a:xfrm>
          <a:prstGeom prst="rect">
            <a:avLst/>
          </a:prstGeom>
          <a:noFill/>
        </p:spPr>
      </p:pic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2644775" y="3841750"/>
            <a:ext cx="3022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 i="1">
                <a:solidFill>
                  <a:schemeClr val="hlink"/>
                </a:solidFill>
                <a:latin typeface="Times New Roman" pitchFamily="18" charset="0"/>
              </a:rPr>
              <a:t>P,v, T</a:t>
            </a:r>
            <a:r>
              <a:rPr lang="en-US">
                <a:solidFill>
                  <a:schemeClr val="hlink"/>
                </a:solidFill>
              </a:rPr>
              <a:t> surface projected on </a:t>
            </a:r>
          </a:p>
          <a:p>
            <a:r>
              <a:rPr lang="en-US">
                <a:solidFill>
                  <a:schemeClr val="hlink"/>
                </a:solidFill>
              </a:rPr>
              <a:t>the </a:t>
            </a:r>
            <a:r>
              <a:rPr lang="en-US" b="1" i="1">
                <a:solidFill>
                  <a:schemeClr val="hlink"/>
                </a:solidFill>
                <a:latin typeface="Times New Roman" pitchFamily="18" charset="0"/>
              </a:rPr>
              <a:t>T- v</a:t>
            </a:r>
            <a:r>
              <a:rPr lang="en-US">
                <a:solidFill>
                  <a:schemeClr val="hlink"/>
                </a:solidFill>
              </a:rPr>
              <a:t> plane for water.</a:t>
            </a:r>
          </a:p>
        </p:txBody>
      </p:sp>
      <p:sp>
        <p:nvSpPr>
          <p:cNvPr id="19461" name="Freeform 5"/>
          <p:cNvSpPr>
            <a:spLocks/>
          </p:cNvSpPr>
          <p:nvPr/>
        </p:nvSpPr>
        <p:spPr bwMode="auto">
          <a:xfrm>
            <a:off x="3314700" y="1692275"/>
            <a:ext cx="631825" cy="1690688"/>
          </a:xfrm>
          <a:custGeom>
            <a:avLst/>
            <a:gdLst/>
            <a:ahLst/>
            <a:cxnLst>
              <a:cxn ang="0">
                <a:pos x="398" y="0"/>
              </a:cxn>
              <a:cxn ang="0">
                <a:pos x="346" y="12"/>
              </a:cxn>
              <a:cxn ang="0">
                <a:pos x="298" y="40"/>
              </a:cxn>
              <a:cxn ang="0">
                <a:pos x="266" y="84"/>
              </a:cxn>
              <a:cxn ang="0">
                <a:pos x="221" y="151"/>
              </a:cxn>
              <a:cxn ang="0">
                <a:pos x="182" y="235"/>
              </a:cxn>
              <a:cxn ang="0">
                <a:pos x="158" y="302"/>
              </a:cxn>
              <a:cxn ang="0">
                <a:pos x="106" y="465"/>
              </a:cxn>
              <a:cxn ang="0">
                <a:pos x="70" y="592"/>
              </a:cxn>
              <a:cxn ang="0">
                <a:pos x="46" y="691"/>
              </a:cxn>
              <a:cxn ang="0">
                <a:pos x="24" y="816"/>
              </a:cxn>
              <a:cxn ang="0">
                <a:pos x="7" y="936"/>
              </a:cxn>
              <a:cxn ang="0">
                <a:pos x="0" y="1065"/>
              </a:cxn>
            </a:cxnLst>
            <a:rect l="0" t="0" r="r" b="b"/>
            <a:pathLst>
              <a:path w="398" h="1065">
                <a:moveTo>
                  <a:pt x="398" y="0"/>
                </a:moveTo>
                <a:cubicBezTo>
                  <a:pt x="380" y="2"/>
                  <a:pt x="363" y="5"/>
                  <a:pt x="346" y="12"/>
                </a:cubicBezTo>
                <a:cubicBezTo>
                  <a:pt x="329" y="19"/>
                  <a:pt x="311" y="28"/>
                  <a:pt x="298" y="40"/>
                </a:cubicBezTo>
                <a:cubicBezTo>
                  <a:pt x="285" y="52"/>
                  <a:pt x="279" y="65"/>
                  <a:pt x="266" y="84"/>
                </a:cubicBezTo>
                <a:cubicBezTo>
                  <a:pt x="253" y="103"/>
                  <a:pt x="235" y="126"/>
                  <a:pt x="221" y="151"/>
                </a:cubicBezTo>
                <a:cubicBezTo>
                  <a:pt x="207" y="176"/>
                  <a:pt x="192" y="210"/>
                  <a:pt x="182" y="235"/>
                </a:cubicBezTo>
                <a:cubicBezTo>
                  <a:pt x="172" y="260"/>
                  <a:pt x="171" y="264"/>
                  <a:pt x="158" y="302"/>
                </a:cubicBezTo>
                <a:cubicBezTo>
                  <a:pt x="145" y="340"/>
                  <a:pt x="121" y="417"/>
                  <a:pt x="106" y="465"/>
                </a:cubicBezTo>
                <a:cubicBezTo>
                  <a:pt x="91" y="513"/>
                  <a:pt x="80" y="554"/>
                  <a:pt x="70" y="592"/>
                </a:cubicBezTo>
                <a:cubicBezTo>
                  <a:pt x="60" y="630"/>
                  <a:pt x="54" y="654"/>
                  <a:pt x="46" y="691"/>
                </a:cubicBezTo>
                <a:cubicBezTo>
                  <a:pt x="38" y="728"/>
                  <a:pt x="30" y="775"/>
                  <a:pt x="24" y="816"/>
                </a:cubicBezTo>
                <a:cubicBezTo>
                  <a:pt x="18" y="857"/>
                  <a:pt x="11" y="895"/>
                  <a:pt x="7" y="936"/>
                </a:cubicBezTo>
                <a:cubicBezTo>
                  <a:pt x="3" y="977"/>
                  <a:pt x="1" y="1021"/>
                  <a:pt x="0" y="1065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2" name="Freeform 6"/>
          <p:cNvSpPr>
            <a:spLocks/>
          </p:cNvSpPr>
          <p:nvPr/>
        </p:nvSpPr>
        <p:spPr bwMode="auto">
          <a:xfrm>
            <a:off x="3954463" y="1687513"/>
            <a:ext cx="1474787" cy="1695450"/>
          </a:xfrm>
          <a:custGeom>
            <a:avLst/>
            <a:gdLst/>
            <a:ahLst/>
            <a:cxnLst>
              <a:cxn ang="0">
                <a:pos x="0" y="3"/>
              </a:cxn>
              <a:cxn ang="0">
                <a:pos x="31" y="0"/>
              </a:cxn>
              <a:cxn ang="0">
                <a:pos x="65" y="5"/>
              </a:cxn>
              <a:cxn ang="0">
                <a:pos x="87" y="17"/>
              </a:cxn>
              <a:cxn ang="0">
                <a:pos x="135" y="53"/>
              </a:cxn>
              <a:cxn ang="0">
                <a:pos x="166" y="101"/>
              </a:cxn>
              <a:cxn ang="0">
                <a:pos x="216" y="190"/>
              </a:cxn>
              <a:cxn ang="0">
                <a:pos x="269" y="303"/>
              </a:cxn>
              <a:cxn ang="0">
                <a:pos x="339" y="439"/>
              </a:cxn>
              <a:cxn ang="0">
                <a:pos x="415" y="562"/>
              </a:cxn>
              <a:cxn ang="0">
                <a:pos x="504" y="689"/>
              </a:cxn>
              <a:cxn ang="0">
                <a:pos x="643" y="838"/>
              </a:cxn>
              <a:cxn ang="0">
                <a:pos x="783" y="963"/>
              </a:cxn>
              <a:cxn ang="0">
                <a:pos x="879" y="1032"/>
              </a:cxn>
              <a:cxn ang="0">
                <a:pos x="929" y="1068"/>
              </a:cxn>
            </a:cxnLst>
            <a:rect l="0" t="0" r="r" b="b"/>
            <a:pathLst>
              <a:path w="929" h="1068">
                <a:moveTo>
                  <a:pt x="0" y="3"/>
                </a:moveTo>
                <a:cubicBezTo>
                  <a:pt x="10" y="1"/>
                  <a:pt x="20" y="0"/>
                  <a:pt x="31" y="0"/>
                </a:cubicBezTo>
                <a:cubicBezTo>
                  <a:pt x="42" y="0"/>
                  <a:pt x="56" y="2"/>
                  <a:pt x="65" y="5"/>
                </a:cubicBezTo>
                <a:cubicBezTo>
                  <a:pt x="74" y="8"/>
                  <a:pt x="75" y="9"/>
                  <a:pt x="87" y="17"/>
                </a:cubicBezTo>
                <a:cubicBezTo>
                  <a:pt x="99" y="25"/>
                  <a:pt x="122" y="39"/>
                  <a:pt x="135" y="53"/>
                </a:cubicBezTo>
                <a:cubicBezTo>
                  <a:pt x="148" y="67"/>
                  <a:pt x="153" y="78"/>
                  <a:pt x="166" y="101"/>
                </a:cubicBezTo>
                <a:cubicBezTo>
                  <a:pt x="179" y="124"/>
                  <a:pt x="199" y="156"/>
                  <a:pt x="216" y="190"/>
                </a:cubicBezTo>
                <a:cubicBezTo>
                  <a:pt x="233" y="224"/>
                  <a:pt x="249" y="262"/>
                  <a:pt x="269" y="303"/>
                </a:cubicBezTo>
                <a:cubicBezTo>
                  <a:pt x="289" y="344"/>
                  <a:pt x="315" y="396"/>
                  <a:pt x="339" y="439"/>
                </a:cubicBezTo>
                <a:cubicBezTo>
                  <a:pt x="363" y="482"/>
                  <a:pt x="387" y="520"/>
                  <a:pt x="415" y="562"/>
                </a:cubicBezTo>
                <a:cubicBezTo>
                  <a:pt x="443" y="604"/>
                  <a:pt x="466" y="643"/>
                  <a:pt x="504" y="689"/>
                </a:cubicBezTo>
                <a:cubicBezTo>
                  <a:pt x="542" y="735"/>
                  <a:pt x="597" y="792"/>
                  <a:pt x="643" y="838"/>
                </a:cubicBezTo>
                <a:cubicBezTo>
                  <a:pt x="689" y="884"/>
                  <a:pt x="744" y="931"/>
                  <a:pt x="783" y="963"/>
                </a:cubicBezTo>
                <a:cubicBezTo>
                  <a:pt x="822" y="995"/>
                  <a:pt x="855" y="1014"/>
                  <a:pt x="879" y="1032"/>
                </a:cubicBezTo>
                <a:cubicBezTo>
                  <a:pt x="903" y="1050"/>
                  <a:pt x="916" y="1059"/>
                  <a:pt x="929" y="1068"/>
                </a:cubicBezTo>
              </a:path>
            </a:pathLst>
          </a:custGeom>
          <a:noFill/>
          <a:ln w="28575" cmpd="sng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3" name="Oval 7"/>
          <p:cNvSpPr>
            <a:spLocks noChangeArrowheads="1"/>
          </p:cNvSpPr>
          <p:nvPr/>
        </p:nvSpPr>
        <p:spPr bwMode="auto">
          <a:xfrm>
            <a:off x="3924300" y="1668463"/>
            <a:ext cx="42863" cy="428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298450" y="1655763"/>
            <a:ext cx="1800225" cy="395287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00"/>
                </a:solidFill>
              </a:rPr>
              <a:t>Saturated liquid</a:t>
            </a:r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>
            <a:off x="2095500" y="1828800"/>
            <a:ext cx="1400175" cy="4476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6080125" y="1703388"/>
            <a:ext cx="1838325" cy="3952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Saturated vapor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 flipH="1">
            <a:off x="4495800" y="1895475"/>
            <a:ext cx="1581150" cy="4953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3213100" y="3424238"/>
            <a:ext cx="320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i="1">
                <a:solidFill>
                  <a:srgbClr val="CC0000"/>
                </a:solidFill>
                <a:latin typeface="Times New Roman" pitchFamily="18" charset="0"/>
              </a:rPr>
              <a:t>v</a:t>
            </a:r>
            <a:r>
              <a:rPr lang="en-US" sz="1600" b="1" i="1" baseline="-25000">
                <a:solidFill>
                  <a:srgbClr val="CC0000"/>
                </a:solidFill>
                <a:latin typeface="Times New Roman" pitchFamily="18" charset="0"/>
              </a:rPr>
              <a:t>f</a:t>
            </a:r>
            <a:endParaRPr lang="en-US" sz="1600" b="1" i="1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3362325" y="2933700"/>
            <a:ext cx="0" cy="457200"/>
          </a:xfrm>
          <a:prstGeom prst="line">
            <a:avLst/>
          </a:prstGeom>
          <a:noFill/>
          <a:ln w="9525">
            <a:solidFill>
              <a:srgbClr val="CC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4756150" y="3376613"/>
            <a:ext cx="4302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b="1" i="1">
                <a:solidFill>
                  <a:schemeClr val="accent2"/>
                </a:solidFill>
                <a:latin typeface="Times New Roman" pitchFamily="18" charset="0"/>
              </a:rPr>
              <a:t>v</a:t>
            </a:r>
            <a:r>
              <a:rPr lang="en-US" sz="1600" b="1" i="1" baseline="-25000">
                <a:solidFill>
                  <a:schemeClr val="accent2"/>
                </a:solidFill>
                <a:latin typeface="Times New Roman" pitchFamily="18" charset="0"/>
              </a:rPr>
              <a:t>g</a:t>
            </a:r>
            <a:endParaRPr lang="en-US" sz="1600" b="1" i="1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>
            <a:off x="4886325" y="2924175"/>
            <a:ext cx="0" cy="447675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>
            <a:off x="4286250" y="2924175"/>
            <a:ext cx="0" cy="4476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4146550" y="3433763"/>
            <a:ext cx="3635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b="1" i="1">
                <a:latin typeface="Times New Roman" pitchFamily="18" charset="0"/>
              </a:rPr>
              <a:t>v</a:t>
            </a:r>
          </a:p>
        </p:txBody>
      </p:sp>
      <p:sp>
        <p:nvSpPr>
          <p:cNvPr id="19474" name="Line 18"/>
          <p:cNvSpPr>
            <a:spLocks noChangeShapeType="1"/>
          </p:cNvSpPr>
          <p:nvPr/>
        </p:nvSpPr>
        <p:spPr bwMode="auto">
          <a:xfrm>
            <a:off x="3352800" y="2924175"/>
            <a:ext cx="1533525" cy="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75" name="Text Box 19"/>
          <p:cNvSpPr txBox="1">
            <a:spLocks noChangeArrowheads="1"/>
          </p:cNvSpPr>
          <p:nvPr/>
        </p:nvSpPr>
        <p:spPr bwMode="auto">
          <a:xfrm>
            <a:off x="6280150" y="3614738"/>
            <a:ext cx="320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i="1">
                <a:solidFill>
                  <a:srgbClr val="CC0000"/>
                </a:solidFill>
                <a:latin typeface="Times New Roman" pitchFamily="18" charset="0"/>
              </a:rPr>
              <a:t>v</a:t>
            </a:r>
            <a:r>
              <a:rPr lang="en-US" sz="1600" b="1" i="1" baseline="-25000">
                <a:solidFill>
                  <a:srgbClr val="CC0000"/>
                </a:solidFill>
                <a:latin typeface="Times New Roman" pitchFamily="18" charset="0"/>
              </a:rPr>
              <a:t>f</a:t>
            </a:r>
            <a:endParaRPr lang="en-US" sz="1600" b="1" i="1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9476" name="Line 20"/>
          <p:cNvSpPr>
            <a:spLocks noChangeShapeType="1"/>
          </p:cNvSpPr>
          <p:nvPr/>
        </p:nvSpPr>
        <p:spPr bwMode="auto">
          <a:xfrm>
            <a:off x="6429375" y="3124200"/>
            <a:ext cx="0" cy="457200"/>
          </a:xfrm>
          <a:prstGeom prst="line">
            <a:avLst/>
          </a:prstGeom>
          <a:noFill/>
          <a:ln w="9525">
            <a:solidFill>
              <a:srgbClr val="CC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77" name="Text Box 21"/>
          <p:cNvSpPr txBox="1">
            <a:spLocks noChangeArrowheads="1"/>
          </p:cNvSpPr>
          <p:nvPr/>
        </p:nvSpPr>
        <p:spPr bwMode="auto">
          <a:xfrm>
            <a:off x="7823200" y="3567113"/>
            <a:ext cx="4302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b="1" i="1">
                <a:solidFill>
                  <a:schemeClr val="accent2"/>
                </a:solidFill>
                <a:latin typeface="Times New Roman" pitchFamily="18" charset="0"/>
              </a:rPr>
              <a:t>v</a:t>
            </a:r>
            <a:r>
              <a:rPr lang="en-US" sz="1600" b="1" i="1" baseline="-25000">
                <a:solidFill>
                  <a:schemeClr val="accent2"/>
                </a:solidFill>
                <a:latin typeface="Times New Roman" pitchFamily="18" charset="0"/>
              </a:rPr>
              <a:t>g</a:t>
            </a:r>
            <a:endParaRPr lang="en-US" sz="1600" b="1" i="1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19478" name="Line 22"/>
          <p:cNvSpPr>
            <a:spLocks noChangeShapeType="1"/>
          </p:cNvSpPr>
          <p:nvPr/>
        </p:nvSpPr>
        <p:spPr bwMode="auto">
          <a:xfrm>
            <a:off x="7953375" y="3114675"/>
            <a:ext cx="0" cy="447675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79" name="Line 23"/>
          <p:cNvSpPr>
            <a:spLocks noChangeShapeType="1"/>
          </p:cNvSpPr>
          <p:nvPr/>
        </p:nvSpPr>
        <p:spPr bwMode="auto">
          <a:xfrm>
            <a:off x="7353300" y="3114675"/>
            <a:ext cx="0" cy="4476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80" name="Text Box 24"/>
          <p:cNvSpPr txBox="1">
            <a:spLocks noChangeArrowheads="1"/>
          </p:cNvSpPr>
          <p:nvPr/>
        </p:nvSpPr>
        <p:spPr bwMode="auto">
          <a:xfrm>
            <a:off x="7213600" y="3624263"/>
            <a:ext cx="3635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b="1" i="1">
                <a:latin typeface="Times New Roman" pitchFamily="18" charset="0"/>
              </a:rPr>
              <a:t>v</a:t>
            </a:r>
          </a:p>
        </p:txBody>
      </p:sp>
      <p:sp>
        <p:nvSpPr>
          <p:cNvPr id="19481" name="Line 25"/>
          <p:cNvSpPr>
            <a:spLocks noChangeShapeType="1"/>
          </p:cNvSpPr>
          <p:nvPr/>
        </p:nvSpPr>
        <p:spPr bwMode="auto">
          <a:xfrm>
            <a:off x="6419850" y="3114675"/>
            <a:ext cx="1533525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82" name="Oval 26"/>
          <p:cNvSpPr>
            <a:spLocks noChangeArrowheads="1"/>
          </p:cNvSpPr>
          <p:nvPr/>
        </p:nvSpPr>
        <p:spPr bwMode="auto">
          <a:xfrm>
            <a:off x="6381750" y="30670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83" name="Oval 27"/>
          <p:cNvSpPr>
            <a:spLocks noChangeArrowheads="1"/>
          </p:cNvSpPr>
          <p:nvPr/>
        </p:nvSpPr>
        <p:spPr bwMode="auto">
          <a:xfrm>
            <a:off x="7915275" y="30670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84" name="Text Box 28"/>
          <p:cNvSpPr txBox="1">
            <a:spLocks noChangeArrowheads="1"/>
          </p:cNvSpPr>
          <p:nvPr/>
        </p:nvSpPr>
        <p:spPr bwMode="auto">
          <a:xfrm>
            <a:off x="6127750" y="2984500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imes New Roman" pitchFamily="18" charset="0"/>
              </a:rPr>
              <a:t>f</a:t>
            </a:r>
          </a:p>
        </p:txBody>
      </p:sp>
      <p:sp>
        <p:nvSpPr>
          <p:cNvPr id="19485" name="Text Box 29"/>
          <p:cNvSpPr txBox="1">
            <a:spLocks noChangeArrowheads="1"/>
          </p:cNvSpPr>
          <p:nvPr/>
        </p:nvSpPr>
        <p:spPr bwMode="auto">
          <a:xfrm>
            <a:off x="7985125" y="2965450"/>
            <a:ext cx="285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latin typeface="Times New Roman" pitchFamily="18" charset="0"/>
              </a:rPr>
              <a:t>g</a:t>
            </a:r>
          </a:p>
        </p:txBody>
      </p:sp>
      <p:sp>
        <p:nvSpPr>
          <p:cNvPr id="19486" name="Line 30"/>
          <p:cNvSpPr>
            <a:spLocks noChangeShapeType="1"/>
          </p:cNvSpPr>
          <p:nvPr/>
        </p:nvSpPr>
        <p:spPr bwMode="auto">
          <a:xfrm>
            <a:off x="6438900" y="3352800"/>
            <a:ext cx="895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87" name="Line 31"/>
          <p:cNvSpPr>
            <a:spLocks noChangeShapeType="1"/>
          </p:cNvSpPr>
          <p:nvPr/>
        </p:nvSpPr>
        <p:spPr bwMode="auto">
          <a:xfrm>
            <a:off x="7353300" y="3352800"/>
            <a:ext cx="619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88" name="Text Box 32"/>
          <p:cNvSpPr txBox="1">
            <a:spLocks noChangeArrowheads="1"/>
          </p:cNvSpPr>
          <p:nvPr/>
        </p:nvSpPr>
        <p:spPr bwMode="auto">
          <a:xfrm>
            <a:off x="6689725" y="3325813"/>
            <a:ext cx="4333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i="1">
                <a:latin typeface="Times New Roman" pitchFamily="18" charset="0"/>
              </a:rPr>
              <a:t>v-v</a:t>
            </a:r>
            <a:r>
              <a:rPr lang="en-US" sz="1400" i="1" baseline="-25000">
                <a:latin typeface="Times New Roman" pitchFamily="18" charset="0"/>
              </a:rPr>
              <a:t>f</a:t>
            </a:r>
          </a:p>
        </p:txBody>
      </p:sp>
      <p:sp>
        <p:nvSpPr>
          <p:cNvPr id="19489" name="Text Box 33"/>
          <p:cNvSpPr txBox="1">
            <a:spLocks noChangeArrowheads="1"/>
          </p:cNvSpPr>
          <p:nvPr/>
        </p:nvSpPr>
        <p:spPr bwMode="auto">
          <a:xfrm>
            <a:off x="7394575" y="3321050"/>
            <a:ext cx="6032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i="1">
                <a:latin typeface="Times New Roman" pitchFamily="18" charset="0"/>
              </a:rPr>
              <a:t>v</a:t>
            </a:r>
            <a:r>
              <a:rPr lang="en-US" sz="1400" i="1" baseline="-25000">
                <a:latin typeface="Times New Roman" pitchFamily="18" charset="0"/>
              </a:rPr>
              <a:t>g</a:t>
            </a:r>
            <a:r>
              <a:rPr lang="en-US" sz="1400" i="1">
                <a:latin typeface="Times New Roman" pitchFamily="18" charset="0"/>
              </a:rPr>
              <a:t>-v</a:t>
            </a:r>
          </a:p>
        </p:txBody>
      </p:sp>
      <p:sp>
        <p:nvSpPr>
          <p:cNvPr id="19490" name="AutoShape 34"/>
          <p:cNvSpPr>
            <a:spLocks noChangeArrowheads="1"/>
          </p:cNvSpPr>
          <p:nvPr/>
        </p:nvSpPr>
        <p:spPr bwMode="auto">
          <a:xfrm>
            <a:off x="7275513" y="3124200"/>
            <a:ext cx="165100" cy="14287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91" name="Text Box 35"/>
          <p:cNvSpPr txBox="1">
            <a:spLocks noChangeArrowheads="1"/>
          </p:cNvSpPr>
          <p:nvPr/>
        </p:nvSpPr>
        <p:spPr bwMode="auto">
          <a:xfrm>
            <a:off x="7823200" y="2447925"/>
            <a:ext cx="295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i="1">
                <a:latin typeface="Times New Roman" pitchFamily="18" charset="0"/>
              </a:rPr>
              <a:t>x</a:t>
            </a:r>
          </a:p>
        </p:txBody>
      </p:sp>
      <p:sp>
        <p:nvSpPr>
          <p:cNvPr id="19492" name="Line 36"/>
          <p:cNvSpPr>
            <a:spLocks noChangeShapeType="1"/>
          </p:cNvSpPr>
          <p:nvPr/>
        </p:nvSpPr>
        <p:spPr bwMode="auto">
          <a:xfrm>
            <a:off x="7953375" y="276225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93" name="Text Box 37"/>
          <p:cNvSpPr txBox="1">
            <a:spLocks noChangeArrowheads="1"/>
          </p:cNvSpPr>
          <p:nvPr/>
        </p:nvSpPr>
        <p:spPr bwMode="auto">
          <a:xfrm>
            <a:off x="6175375" y="2505075"/>
            <a:ext cx="657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i="1">
                <a:latin typeface="Times New Roman" pitchFamily="18" charset="0"/>
              </a:rPr>
              <a:t>1-x</a:t>
            </a:r>
          </a:p>
        </p:txBody>
      </p:sp>
      <p:sp>
        <p:nvSpPr>
          <p:cNvPr id="19494" name="Line 38"/>
          <p:cNvSpPr>
            <a:spLocks noChangeShapeType="1"/>
          </p:cNvSpPr>
          <p:nvPr/>
        </p:nvSpPr>
        <p:spPr bwMode="auto">
          <a:xfrm>
            <a:off x="6419850" y="2838450"/>
            <a:ext cx="0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95" name="Text Box 39"/>
          <p:cNvSpPr txBox="1">
            <a:spLocks noChangeArrowheads="1"/>
          </p:cNvSpPr>
          <p:nvPr/>
        </p:nvSpPr>
        <p:spPr bwMode="auto">
          <a:xfrm>
            <a:off x="5803900" y="4151313"/>
            <a:ext cx="3028950" cy="67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>
                <a:latin typeface="Times New Roman" pitchFamily="18" charset="0"/>
              </a:rPr>
              <a:t>x</a:t>
            </a:r>
            <a:r>
              <a:rPr lang="en-US"/>
              <a:t> is the mass fraction of the </a:t>
            </a:r>
          </a:p>
          <a:p>
            <a:r>
              <a:rPr lang="en-US"/>
              <a:t>vapor called the </a:t>
            </a:r>
            <a:r>
              <a:rPr lang="en-US" sz="2000" b="1" i="1">
                <a:latin typeface="Times New Roman" pitchFamily="18" charset="0"/>
              </a:rPr>
              <a:t>quality</a:t>
            </a:r>
            <a:r>
              <a:rPr lang="en-US"/>
              <a:t>.</a:t>
            </a:r>
          </a:p>
        </p:txBody>
      </p:sp>
      <p:sp>
        <p:nvSpPr>
          <p:cNvPr id="19496" name="Text Box 40"/>
          <p:cNvSpPr txBox="1">
            <a:spLocks noChangeArrowheads="1"/>
          </p:cNvSpPr>
          <p:nvPr/>
        </p:nvSpPr>
        <p:spPr bwMode="auto">
          <a:xfrm>
            <a:off x="546100" y="4957763"/>
            <a:ext cx="1479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00"/>
                </a:solidFill>
              </a:rPr>
              <a:t>Lever rule:</a:t>
            </a:r>
            <a:r>
              <a:rPr lang="en-US"/>
              <a:t>  </a:t>
            </a:r>
          </a:p>
        </p:txBody>
      </p:sp>
      <p:graphicFrame>
        <p:nvGraphicFramePr>
          <p:cNvPr id="19497" name="Object 41"/>
          <p:cNvGraphicFramePr>
            <a:graphicFrameLocks noChangeAspect="1"/>
          </p:cNvGraphicFramePr>
          <p:nvPr/>
        </p:nvGraphicFramePr>
        <p:xfrm>
          <a:off x="6437313" y="4962525"/>
          <a:ext cx="1498600" cy="762000"/>
        </p:xfrm>
        <a:graphic>
          <a:graphicData uri="http://schemas.openxmlformats.org/presentationml/2006/ole">
            <p:oleObj spid="_x0000_s19497" name="Equation" r:id="rId4" imgW="1498320" imgH="761760" progId="Equation.DSMT4">
              <p:embed/>
            </p:oleObj>
          </a:graphicData>
        </a:graphic>
      </p:graphicFrame>
      <p:graphicFrame>
        <p:nvGraphicFramePr>
          <p:cNvPr id="19498" name="Object 42"/>
          <p:cNvGraphicFramePr>
            <a:graphicFrameLocks noChangeAspect="1"/>
          </p:cNvGraphicFramePr>
          <p:nvPr/>
        </p:nvGraphicFramePr>
        <p:xfrm>
          <a:off x="2295525" y="4957763"/>
          <a:ext cx="2552700" cy="1600200"/>
        </p:xfrm>
        <a:graphic>
          <a:graphicData uri="http://schemas.openxmlformats.org/presentationml/2006/ole">
            <p:oleObj spid="_x0000_s19498" name="Equation" r:id="rId5" imgW="2552400" imgH="1600200" progId="Equation.DSMT4">
              <p:embed/>
            </p:oleObj>
          </a:graphicData>
        </a:graphic>
      </p:graphicFrame>
      <p:sp>
        <p:nvSpPr>
          <p:cNvPr id="19499" name="Text Box 43"/>
          <p:cNvSpPr txBox="1">
            <a:spLocks noChangeArrowheads="1"/>
          </p:cNvSpPr>
          <p:nvPr/>
        </p:nvSpPr>
        <p:spPr bwMode="auto">
          <a:xfrm>
            <a:off x="4175125" y="5332413"/>
            <a:ext cx="1746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rule of mixtures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0"/>
                                        <p:tgtEl>
                                          <p:spTgt spid="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1000"/>
                                        <p:tgtEl>
                                          <p:spTgt spid="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1000"/>
                                        <p:tgtEl>
                                          <p:spTgt spid="1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0"/>
                                        <p:tgtEl>
                                          <p:spTgt spid="1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1000"/>
                                        <p:tgtEl>
                                          <p:spTgt spid="1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1000"/>
                                        <p:tgtEl>
                                          <p:spTgt spid="1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10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1000"/>
                                        <p:tgtEl>
                                          <p:spTgt spid="1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1000"/>
                                        <p:tgtEl>
                                          <p:spTgt spid="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0"/>
                                        <p:tgtEl>
                                          <p:spTgt spid="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1000"/>
                                        <p:tgtEl>
                                          <p:spTgt spid="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1000"/>
                                        <p:tgtEl>
                                          <p:spTgt spid="1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1000"/>
                                        <p:tgtEl>
                                          <p:spTgt spid="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0"/>
                                        <p:tgtEl>
                                          <p:spTgt spid="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1000"/>
                                        <p:tgtEl>
                                          <p:spTgt spid="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1000"/>
                                        <p:tgtEl>
                                          <p:spTgt spid="19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1000"/>
                                        <p:tgtEl>
                                          <p:spTgt spid="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1000"/>
                                        <p:tgtEl>
                                          <p:spTgt spid="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animBg="1"/>
      <p:bldP spid="19464" grpId="0" animBg="1"/>
      <p:bldP spid="19465" grpId="0" animBg="1"/>
      <p:bldP spid="19466" grpId="0" animBg="1"/>
      <p:bldP spid="19467" grpId="0" animBg="1"/>
      <p:bldP spid="19475" grpId="0"/>
      <p:bldP spid="19476" grpId="0" animBg="1"/>
      <p:bldP spid="19477" grpId="0"/>
      <p:bldP spid="19478" grpId="0" animBg="1"/>
      <p:bldP spid="19479" grpId="0" animBg="1"/>
      <p:bldP spid="19480" grpId="0"/>
      <p:bldP spid="19481" grpId="0" animBg="1"/>
      <p:bldP spid="19482" grpId="0" animBg="1"/>
      <p:bldP spid="19483" grpId="0" animBg="1"/>
      <p:bldP spid="19484" grpId="0"/>
      <p:bldP spid="19485" grpId="0"/>
      <p:bldP spid="19486" grpId="0" animBg="1"/>
      <p:bldP spid="19487" grpId="0" animBg="1"/>
      <p:bldP spid="19488" grpId="0"/>
      <p:bldP spid="19489" grpId="0"/>
      <p:bldP spid="19490" grpId="0" animBg="1"/>
      <p:bldP spid="19491" grpId="0"/>
      <p:bldP spid="19492" grpId="0" animBg="1"/>
      <p:bldP spid="19493" grpId="0"/>
      <p:bldP spid="19494" grpId="0" animBg="1"/>
      <p:bldP spid="19495" grpId="0"/>
      <p:bldP spid="19496" grpId="0"/>
      <p:bldP spid="1949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457200" y="228600"/>
            <a:ext cx="83105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chemeClr val="accent2"/>
                </a:solidFill>
              </a:rPr>
              <a:t>P,V, T Relations and Thermodynamic Properties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746250" y="1016000"/>
            <a:ext cx="46831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8000"/>
                </a:solidFill>
              </a:rPr>
              <a:t>Specific internal energy and enthalpy</a:t>
            </a:r>
          </a:p>
          <a:p>
            <a:endParaRPr lang="en-US" sz="2000" b="1">
              <a:solidFill>
                <a:srgbClr val="008000"/>
              </a:solidFill>
            </a:endParaRPr>
          </a:p>
          <a:p>
            <a:pPr>
              <a:buFontTx/>
              <a:buChar char="•"/>
            </a:pPr>
            <a:r>
              <a:rPr lang="en-US" sz="2000" b="1">
                <a:solidFill>
                  <a:srgbClr val="008000"/>
                </a:solidFill>
              </a:rPr>
              <a:t>  </a:t>
            </a:r>
            <a:r>
              <a:rPr lang="en-US" sz="2000" b="1" i="1">
                <a:solidFill>
                  <a:srgbClr val="008000"/>
                </a:solidFill>
                <a:latin typeface="Times New Roman" pitchFamily="18" charset="0"/>
              </a:rPr>
              <a:t>u = U/unit mass</a:t>
            </a:r>
            <a:r>
              <a:rPr lang="en-US" sz="2000" b="1">
                <a:solidFill>
                  <a:srgbClr val="008000"/>
                </a:solidFill>
              </a:rPr>
              <a:t>	(J/kg)</a:t>
            </a:r>
          </a:p>
          <a:p>
            <a:pPr>
              <a:buFontTx/>
              <a:buChar char="•"/>
            </a:pPr>
            <a:r>
              <a:rPr lang="en-US" sz="2000" b="1">
                <a:solidFill>
                  <a:srgbClr val="008000"/>
                </a:solidFill>
              </a:rPr>
              <a:t>  </a:t>
            </a:r>
            <a:r>
              <a:rPr lang="en-US" sz="2000" b="1" i="1">
                <a:solidFill>
                  <a:srgbClr val="008000"/>
                </a:solidFill>
                <a:latin typeface="Times New Roman" pitchFamily="18" charset="0"/>
              </a:rPr>
              <a:t>h = H/unit mass</a:t>
            </a:r>
            <a:r>
              <a:rPr lang="en-US" sz="2000" b="1">
                <a:solidFill>
                  <a:srgbClr val="008000"/>
                </a:solidFill>
              </a:rPr>
              <a:t>	(J/kg)</a:t>
            </a:r>
          </a:p>
          <a:p>
            <a:pPr>
              <a:buFontTx/>
              <a:buChar char="•"/>
            </a:pPr>
            <a:endParaRPr lang="en-US" sz="2000" b="1">
              <a:solidFill>
                <a:srgbClr val="008000"/>
              </a:solidFill>
            </a:endParaRPr>
          </a:p>
          <a:p>
            <a:r>
              <a:rPr lang="en-US" sz="2000" b="1" i="1">
                <a:solidFill>
                  <a:srgbClr val="008000"/>
                </a:solidFill>
                <a:latin typeface="Times New Roman" pitchFamily="18" charset="0"/>
              </a:rPr>
              <a:t>u = Q/mass – W/mass</a:t>
            </a:r>
          </a:p>
          <a:p>
            <a:endParaRPr lang="en-US" sz="2000" b="1">
              <a:solidFill>
                <a:srgbClr val="008000"/>
              </a:solidFill>
            </a:endParaRPr>
          </a:p>
          <a:p>
            <a:r>
              <a:rPr lang="en-US" sz="2000" b="1" i="1">
                <a:solidFill>
                  <a:srgbClr val="008000"/>
                </a:solidFill>
                <a:latin typeface="Times New Roman" pitchFamily="18" charset="0"/>
              </a:rPr>
              <a:t>h = u + pv	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517525" y="3732213"/>
            <a:ext cx="7283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simple rule of mixtures can always be used for any of the specific </a:t>
            </a:r>
          </a:p>
          <a:p>
            <a:r>
              <a:rPr lang="en-US"/>
              <a:t>quantities (</a:t>
            </a:r>
            <a:r>
              <a:rPr lang="en-US" i="1">
                <a:latin typeface="Times New Roman" pitchFamily="18" charset="0"/>
              </a:rPr>
              <a:t>v, u, h</a:t>
            </a:r>
            <a:r>
              <a:rPr lang="en-US"/>
              <a:t>):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3298825" y="4268788"/>
            <a:ext cx="18875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i="1">
                <a:latin typeface="Times New Roman" pitchFamily="18" charset="0"/>
              </a:rPr>
              <a:t>h </a:t>
            </a:r>
            <a:r>
              <a:rPr lang="en-US" sz="2000">
                <a:latin typeface="Times New Roman" pitchFamily="18" charset="0"/>
              </a:rPr>
              <a:t>= (</a:t>
            </a:r>
            <a:r>
              <a:rPr lang="en-US" sz="2000" i="1">
                <a:latin typeface="Times New Roman" pitchFamily="18" charset="0"/>
              </a:rPr>
              <a:t>1-x</a:t>
            </a:r>
            <a:r>
              <a:rPr lang="en-US" sz="2000">
                <a:latin typeface="Times New Roman" pitchFamily="18" charset="0"/>
              </a:rPr>
              <a:t>)</a:t>
            </a:r>
            <a:r>
              <a:rPr lang="en-US" sz="2000" i="1">
                <a:latin typeface="Times New Roman" pitchFamily="18" charset="0"/>
              </a:rPr>
              <a:t>h</a:t>
            </a:r>
            <a:r>
              <a:rPr lang="en-US" sz="2000" i="1" baseline="-25000">
                <a:latin typeface="Times New Roman" pitchFamily="18" charset="0"/>
              </a:rPr>
              <a:t>f </a:t>
            </a:r>
            <a:r>
              <a:rPr lang="en-US" sz="2000" i="1">
                <a:latin typeface="Times New Roman" pitchFamily="18" charset="0"/>
              </a:rPr>
              <a:t>+ xh</a:t>
            </a:r>
            <a:r>
              <a:rPr lang="en-US" sz="2000" i="1" baseline="-25000">
                <a:latin typeface="Times New Roman" pitchFamily="18" charset="0"/>
              </a:rPr>
              <a:t>g</a:t>
            </a:r>
            <a:r>
              <a:rPr lang="en-US" baseline="-25000"/>
              <a:t> 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3311525" y="4662488"/>
            <a:ext cx="18875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i="1">
                <a:latin typeface="Times New Roman" pitchFamily="18" charset="0"/>
              </a:rPr>
              <a:t>u </a:t>
            </a:r>
            <a:r>
              <a:rPr lang="en-US" sz="2000">
                <a:latin typeface="Times New Roman" pitchFamily="18" charset="0"/>
              </a:rPr>
              <a:t>= (</a:t>
            </a:r>
            <a:r>
              <a:rPr lang="en-US" sz="2000" i="1">
                <a:latin typeface="Times New Roman" pitchFamily="18" charset="0"/>
              </a:rPr>
              <a:t>1-x</a:t>
            </a:r>
            <a:r>
              <a:rPr lang="en-US" sz="2000">
                <a:latin typeface="Times New Roman" pitchFamily="18" charset="0"/>
              </a:rPr>
              <a:t>)</a:t>
            </a:r>
            <a:r>
              <a:rPr lang="en-US" sz="2000" i="1">
                <a:latin typeface="Times New Roman" pitchFamily="18" charset="0"/>
              </a:rPr>
              <a:t>u</a:t>
            </a:r>
            <a:r>
              <a:rPr lang="en-US" sz="2000" i="1" baseline="-25000">
                <a:latin typeface="Times New Roman" pitchFamily="18" charset="0"/>
              </a:rPr>
              <a:t>f </a:t>
            </a:r>
            <a:r>
              <a:rPr lang="en-US" sz="2000" i="1">
                <a:latin typeface="Times New Roman" pitchFamily="18" charset="0"/>
              </a:rPr>
              <a:t>+ xu</a:t>
            </a:r>
            <a:r>
              <a:rPr lang="en-US" sz="2000" i="1" baseline="-25000">
                <a:latin typeface="Times New Roman" pitchFamily="18" charset="0"/>
              </a:rPr>
              <a:t>g</a:t>
            </a:r>
            <a:r>
              <a:rPr lang="en-US" baseline="-25000"/>
              <a:t> 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5102225" y="51038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3324225" y="5106988"/>
            <a:ext cx="18018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>
                <a:latin typeface="Times New Roman" pitchFamily="18" charset="0"/>
              </a:rPr>
              <a:t>v </a:t>
            </a:r>
            <a:r>
              <a:rPr lang="en-US" sz="2000">
                <a:latin typeface="Times New Roman" pitchFamily="18" charset="0"/>
              </a:rPr>
              <a:t>= (</a:t>
            </a:r>
            <a:r>
              <a:rPr lang="en-US" sz="2000" i="1">
                <a:latin typeface="Times New Roman" pitchFamily="18" charset="0"/>
              </a:rPr>
              <a:t>1-x</a:t>
            </a:r>
            <a:r>
              <a:rPr lang="en-US" sz="2000">
                <a:latin typeface="Times New Roman" pitchFamily="18" charset="0"/>
              </a:rPr>
              <a:t>)</a:t>
            </a:r>
            <a:r>
              <a:rPr lang="en-US" sz="2000" i="1">
                <a:latin typeface="Times New Roman" pitchFamily="18" charset="0"/>
              </a:rPr>
              <a:t>v</a:t>
            </a:r>
            <a:r>
              <a:rPr lang="en-US" sz="2000" i="1" baseline="-25000">
                <a:latin typeface="Times New Roman" pitchFamily="18" charset="0"/>
              </a:rPr>
              <a:t>f </a:t>
            </a:r>
            <a:r>
              <a:rPr lang="en-US" sz="2000" i="1">
                <a:latin typeface="Times New Roman" pitchFamily="18" charset="0"/>
              </a:rPr>
              <a:t>+ xv</a:t>
            </a:r>
            <a:r>
              <a:rPr lang="en-US" sz="2000" i="1" baseline="-25000">
                <a:latin typeface="Times New Roman" pitchFamily="18" charset="0"/>
              </a:rPr>
              <a:t>g</a:t>
            </a:r>
          </a:p>
        </p:txBody>
      </p:sp>
      <p:sp>
        <p:nvSpPr>
          <p:cNvPr id="20489" name="Text Box 9"/>
          <p:cNvSpPr txBox="1">
            <a:spLocks noChangeArrowheads="1"/>
          </p:cNvSpPr>
          <p:nvPr/>
        </p:nvSpPr>
        <p:spPr bwMode="auto">
          <a:xfrm>
            <a:off x="695325" y="5640388"/>
            <a:ext cx="8018463" cy="67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>
                <a:latin typeface="Times New Roman" pitchFamily="18" charset="0"/>
              </a:rPr>
              <a:t>h, u, v</a:t>
            </a:r>
            <a:r>
              <a:rPr lang="en-US"/>
              <a:t> are the specific enthalpy, internal energy, and volume in the two-phase</a:t>
            </a:r>
          </a:p>
          <a:p>
            <a:r>
              <a:rPr lang="en-US"/>
              <a:t>fluid/gas region.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5" grpId="0"/>
      <p:bldP spid="20486" grpId="0"/>
      <p:bldP spid="20488" grpId="0"/>
      <p:bldP spid="2048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3810000" y="3413125"/>
            <a:ext cx="892175" cy="673100"/>
            <a:chOff x="2784" y="462"/>
            <a:chExt cx="562" cy="424"/>
          </a:xfrm>
        </p:grpSpPr>
        <p:sp>
          <p:nvSpPr>
            <p:cNvPr id="21507" name="Rectangle 3"/>
            <p:cNvSpPr>
              <a:spLocks noChangeArrowheads="1"/>
            </p:cNvSpPr>
            <p:nvPr/>
          </p:nvSpPr>
          <p:spPr bwMode="auto">
            <a:xfrm>
              <a:off x="2830" y="488"/>
              <a:ext cx="232" cy="2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8" name="Line 4"/>
            <p:cNvSpPr>
              <a:spLocks noChangeShapeType="1"/>
            </p:cNvSpPr>
            <p:nvPr/>
          </p:nvSpPr>
          <p:spPr bwMode="auto">
            <a:xfrm flipH="1">
              <a:off x="2784" y="462"/>
              <a:ext cx="432" cy="0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09" name="Line 5"/>
            <p:cNvSpPr>
              <a:spLocks noChangeShapeType="1"/>
            </p:cNvSpPr>
            <p:nvPr/>
          </p:nvSpPr>
          <p:spPr bwMode="auto">
            <a:xfrm flipH="1">
              <a:off x="2784" y="732"/>
              <a:ext cx="432" cy="0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10" name="Line 6"/>
            <p:cNvSpPr>
              <a:spLocks noChangeShapeType="1"/>
            </p:cNvSpPr>
            <p:nvPr/>
          </p:nvSpPr>
          <p:spPr bwMode="auto">
            <a:xfrm>
              <a:off x="2802" y="466"/>
              <a:ext cx="0" cy="258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11" name="Line 7"/>
            <p:cNvSpPr>
              <a:spLocks noChangeShapeType="1"/>
            </p:cNvSpPr>
            <p:nvPr/>
          </p:nvSpPr>
          <p:spPr bwMode="auto">
            <a:xfrm>
              <a:off x="3098" y="470"/>
              <a:ext cx="0" cy="248"/>
            </a:xfrm>
            <a:prstGeom prst="line">
              <a:avLst/>
            </a:prstGeom>
            <a:noFill/>
            <a:ln w="762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12" name="Line 8"/>
            <p:cNvSpPr>
              <a:spLocks noChangeShapeType="1"/>
            </p:cNvSpPr>
            <p:nvPr/>
          </p:nvSpPr>
          <p:spPr bwMode="auto">
            <a:xfrm>
              <a:off x="3120" y="596"/>
              <a:ext cx="198" cy="0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Text Box 9"/>
            <p:cNvSpPr txBox="1">
              <a:spLocks noChangeArrowheads="1"/>
            </p:cNvSpPr>
            <p:nvPr/>
          </p:nvSpPr>
          <p:spPr bwMode="auto">
            <a:xfrm>
              <a:off x="2792" y="518"/>
              <a:ext cx="29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900">
                  <a:latin typeface="Times New Roman" pitchFamily="18" charset="0"/>
                </a:rPr>
                <a:t>Water</a:t>
              </a:r>
            </a:p>
          </p:txBody>
        </p:sp>
        <p:sp>
          <p:nvSpPr>
            <p:cNvPr id="21514" name="Line 10"/>
            <p:cNvSpPr>
              <a:spLocks noChangeShapeType="1"/>
            </p:cNvSpPr>
            <p:nvPr/>
          </p:nvSpPr>
          <p:spPr bwMode="auto">
            <a:xfrm>
              <a:off x="2896" y="704"/>
              <a:ext cx="0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Line 11"/>
            <p:cNvSpPr>
              <a:spLocks noChangeShapeType="1"/>
            </p:cNvSpPr>
            <p:nvPr/>
          </p:nvSpPr>
          <p:spPr bwMode="auto">
            <a:xfrm>
              <a:off x="2896" y="81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Text Box 12"/>
            <p:cNvSpPr txBox="1">
              <a:spLocks noChangeArrowheads="1"/>
            </p:cNvSpPr>
            <p:nvPr/>
          </p:nvSpPr>
          <p:spPr bwMode="auto">
            <a:xfrm>
              <a:off x="2946" y="742"/>
              <a:ext cx="40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900">
                  <a:latin typeface="Times New Roman" pitchFamily="18" charset="0"/>
                </a:rPr>
                <a:t>Boundary</a:t>
              </a:r>
            </a:p>
          </p:txBody>
        </p:sp>
      </p:grpSp>
      <p:grpSp>
        <p:nvGrpSpPr>
          <p:cNvPr id="21517" name="Group 13"/>
          <p:cNvGrpSpPr>
            <a:grpSpLocks/>
          </p:cNvGrpSpPr>
          <p:nvPr/>
        </p:nvGrpSpPr>
        <p:grpSpPr bwMode="auto">
          <a:xfrm>
            <a:off x="4830763" y="4021138"/>
            <a:ext cx="3703637" cy="2182812"/>
            <a:chOff x="3043" y="2533"/>
            <a:chExt cx="2333" cy="1375"/>
          </a:xfrm>
        </p:grpSpPr>
        <p:sp>
          <p:nvSpPr>
            <p:cNvPr id="21518" name="Text Box 14"/>
            <p:cNvSpPr txBox="1">
              <a:spLocks noChangeArrowheads="1"/>
            </p:cNvSpPr>
            <p:nvPr/>
          </p:nvSpPr>
          <p:spPr bwMode="auto">
            <a:xfrm rot="-5400000">
              <a:off x="2902" y="2929"/>
              <a:ext cx="51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i="1">
                  <a:solidFill>
                    <a:schemeClr val="hlink"/>
                  </a:solidFill>
                  <a:latin typeface="Times New Roman" pitchFamily="18" charset="0"/>
                </a:rPr>
                <a:t>T </a:t>
              </a:r>
              <a:r>
                <a:rPr lang="en-US">
                  <a:solidFill>
                    <a:schemeClr val="hlink"/>
                  </a:solidFill>
                  <a:latin typeface="Times New Roman" pitchFamily="18" charset="0"/>
                </a:rPr>
                <a:t>(</a:t>
              </a:r>
              <a:r>
                <a:rPr lang="en-US">
                  <a:solidFill>
                    <a:schemeClr val="hlink"/>
                  </a:solidFill>
                  <a:latin typeface="Times New Roman" pitchFamily="18" charset="0"/>
                  <a:cs typeface="Times New Roman" pitchFamily="18" charset="0"/>
                </a:rPr>
                <a:t>º</a:t>
              </a:r>
              <a:r>
                <a:rPr lang="en-US">
                  <a:solidFill>
                    <a:schemeClr val="hlink"/>
                  </a:solidFill>
                  <a:latin typeface="Times New Roman" pitchFamily="18" charset="0"/>
                </a:rPr>
                <a:t>C)</a:t>
              </a:r>
            </a:p>
          </p:txBody>
        </p:sp>
        <p:grpSp>
          <p:nvGrpSpPr>
            <p:cNvPr id="21519" name="Group 15"/>
            <p:cNvGrpSpPr>
              <a:grpSpLocks/>
            </p:cNvGrpSpPr>
            <p:nvPr/>
          </p:nvGrpSpPr>
          <p:grpSpPr bwMode="auto">
            <a:xfrm>
              <a:off x="3323" y="2533"/>
              <a:ext cx="2053" cy="1375"/>
              <a:chOff x="3323" y="2533"/>
              <a:chExt cx="2053" cy="1375"/>
            </a:xfrm>
          </p:grpSpPr>
          <p:sp>
            <p:nvSpPr>
              <p:cNvPr id="21520" name="Line 16"/>
              <p:cNvSpPr>
                <a:spLocks noChangeShapeType="1"/>
              </p:cNvSpPr>
              <p:nvPr/>
            </p:nvSpPr>
            <p:spPr bwMode="auto">
              <a:xfrm>
                <a:off x="3323" y="2581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1" name="Line 17"/>
              <p:cNvSpPr>
                <a:spLocks noChangeShapeType="1"/>
              </p:cNvSpPr>
              <p:nvPr/>
            </p:nvSpPr>
            <p:spPr bwMode="auto">
              <a:xfrm>
                <a:off x="3323" y="3637"/>
                <a:ext cx="13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2" name="Freeform 18"/>
              <p:cNvSpPr>
                <a:spLocks/>
              </p:cNvSpPr>
              <p:nvPr/>
            </p:nvSpPr>
            <p:spPr bwMode="auto">
              <a:xfrm>
                <a:off x="3368" y="2710"/>
                <a:ext cx="1053" cy="843"/>
              </a:xfrm>
              <a:custGeom>
                <a:avLst/>
                <a:gdLst/>
                <a:ahLst/>
                <a:cxnLst>
                  <a:cxn ang="0">
                    <a:pos x="0" y="843"/>
                  </a:cxn>
                  <a:cxn ang="0">
                    <a:pos x="45" y="822"/>
                  </a:cxn>
                  <a:cxn ang="0">
                    <a:pos x="96" y="792"/>
                  </a:cxn>
                  <a:cxn ang="0">
                    <a:pos x="144" y="741"/>
                  </a:cxn>
                  <a:cxn ang="0">
                    <a:pos x="186" y="648"/>
                  </a:cxn>
                  <a:cxn ang="0">
                    <a:pos x="249" y="462"/>
                  </a:cxn>
                  <a:cxn ang="0">
                    <a:pos x="294" y="309"/>
                  </a:cxn>
                  <a:cxn ang="0">
                    <a:pos x="315" y="219"/>
                  </a:cxn>
                  <a:cxn ang="0">
                    <a:pos x="363" y="117"/>
                  </a:cxn>
                  <a:cxn ang="0">
                    <a:pos x="432" y="33"/>
                  </a:cxn>
                  <a:cxn ang="0">
                    <a:pos x="504" y="3"/>
                  </a:cxn>
                  <a:cxn ang="0">
                    <a:pos x="546" y="0"/>
                  </a:cxn>
                  <a:cxn ang="0">
                    <a:pos x="603" y="21"/>
                  </a:cxn>
                  <a:cxn ang="0">
                    <a:pos x="654" y="75"/>
                  </a:cxn>
                  <a:cxn ang="0">
                    <a:pos x="726" y="201"/>
                  </a:cxn>
                  <a:cxn ang="0">
                    <a:pos x="771" y="306"/>
                  </a:cxn>
                  <a:cxn ang="0">
                    <a:pos x="840" y="468"/>
                  </a:cxn>
                  <a:cxn ang="0">
                    <a:pos x="906" y="630"/>
                  </a:cxn>
                  <a:cxn ang="0">
                    <a:pos x="936" y="696"/>
                  </a:cxn>
                  <a:cxn ang="0">
                    <a:pos x="990" y="771"/>
                  </a:cxn>
                  <a:cxn ang="0">
                    <a:pos x="1053" y="837"/>
                  </a:cxn>
                  <a:cxn ang="0">
                    <a:pos x="0" y="843"/>
                  </a:cxn>
                </a:cxnLst>
                <a:rect l="0" t="0" r="r" b="b"/>
                <a:pathLst>
                  <a:path w="1053" h="843">
                    <a:moveTo>
                      <a:pt x="0" y="843"/>
                    </a:moveTo>
                    <a:lnTo>
                      <a:pt x="45" y="822"/>
                    </a:lnTo>
                    <a:lnTo>
                      <a:pt x="96" y="792"/>
                    </a:lnTo>
                    <a:lnTo>
                      <a:pt x="144" y="741"/>
                    </a:lnTo>
                    <a:lnTo>
                      <a:pt x="186" y="648"/>
                    </a:lnTo>
                    <a:lnTo>
                      <a:pt x="249" y="462"/>
                    </a:lnTo>
                    <a:lnTo>
                      <a:pt x="294" y="309"/>
                    </a:lnTo>
                    <a:lnTo>
                      <a:pt x="315" y="219"/>
                    </a:lnTo>
                    <a:lnTo>
                      <a:pt x="363" y="117"/>
                    </a:lnTo>
                    <a:lnTo>
                      <a:pt x="432" y="33"/>
                    </a:lnTo>
                    <a:lnTo>
                      <a:pt x="504" y="3"/>
                    </a:lnTo>
                    <a:lnTo>
                      <a:pt x="546" y="0"/>
                    </a:lnTo>
                    <a:lnTo>
                      <a:pt x="603" y="21"/>
                    </a:lnTo>
                    <a:lnTo>
                      <a:pt x="654" y="75"/>
                    </a:lnTo>
                    <a:lnTo>
                      <a:pt x="726" y="201"/>
                    </a:lnTo>
                    <a:lnTo>
                      <a:pt x="771" y="306"/>
                    </a:lnTo>
                    <a:lnTo>
                      <a:pt x="840" y="468"/>
                    </a:lnTo>
                    <a:lnTo>
                      <a:pt x="906" y="630"/>
                    </a:lnTo>
                    <a:lnTo>
                      <a:pt x="936" y="696"/>
                    </a:lnTo>
                    <a:lnTo>
                      <a:pt x="990" y="771"/>
                    </a:lnTo>
                    <a:lnTo>
                      <a:pt x="1053" y="837"/>
                    </a:lnTo>
                    <a:lnTo>
                      <a:pt x="0" y="843"/>
                    </a:lnTo>
                    <a:close/>
                  </a:path>
                </a:pathLst>
              </a:custGeom>
              <a:solidFill>
                <a:srgbClr val="ECAFEF"/>
              </a:solidFill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3" name="Line 19"/>
              <p:cNvSpPr>
                <a:spLocks noChangeShapeType="1"/>
              </p:cNvSpPr>
              <p:nvPr/>
            </p:nvSpPr>
            <p:spPr bwMode="auto">
              <a:xfrm>
                <a:off x="3656" y="3040"/>
                <a:ext cx="5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4" name="Line 20"/>
              <p:cNvSpPr>
                <a:spLocks noChangeShapeType="1"/>
              </p:cNvSpPr>
              <p:nvPr/>
            </p:nvSpPr>
            <p:spPr bwMode="auto">
              <a:xfrm flipH="1">
                <a:off x="3533" y="3394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5" name="Freeform 21"/>
              <p:cNvSpPr>
                <a:spLocks/>
              </p:cNvSpPr>
              <p:nvPr/>
            </p:nvSpPr>
            <p:spPr bwMode="auto">
              <a:xfrm>
                <a:off x="4162" y="2658"/>
                <a:ext cx="414" cy="378"/>
              </a:xfrm>
              <a:custGeom>
                <a:avLst/>
                <a:gdLst/>
                <a:ahLst/>
                <a:cxnLst>
                  <a:cxn ang="0">
                    <a:pos x="0" y="378"/>
                  </a:cxn>
                  <a:cxn ang="0">
                    <a:pos x="120" y="294"/>
                  </a:cxn>
                  <a:cxn ang="0">
                    <a:pos x="234" y="186"/>
                  </a:cxn>
                  <a:cxn ang="0">
                    <a:pos x="414" y="0"/>
                  </a:cxn>
                </a:cxnLst>
                <a:rect l="0" t="0" r="r" b="b"/>
                <a:pathLst>
                  <a:path w="414" h="378">
                    <a:moveTo>
                      <a:pt x="0" y="378"/>
                    </a:moveTo>
                    <a:cubicBezTo>
                      <a:pt x="40" y="352"/>
                      <a:pt x="81" y="326"/>
                      <a:pt x="120" y="294"/>
                    </a:cubicBezTo>
                    <a:cubicBezTo>
                      <a:pt x="159" y="262"/>
                      <a:pt x="185" y="235"/>
                      <a:pt x="234" y="186"/>
                    </a:cubicBezTo>
                    <a:cubicBezTo>
                      <a:pt x="283" y="137"/>
                      <a:pt x="348" y="68"/>
                      <a:pt x="414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6" name="Freeform 22"/>
              <p:cNvSpPr>
                <a:spLocks/>
              </p:cNvSpPr>
              <p:nvPr/>
            </p:nvSpPr>
            <p:spPr bwMode="auto">
              <a:xfrm>
                <a:off x="4300" y="3264"/>
                <a:ext cx="258" cy="126"/>
              </a:xfrm>
              <a:custGeom>
                <a:avLst/>
                <a:gdLst/>
                <a:ahLst/>
                <a:cxnLst>
                  <a:cxn ang="0">
                    <a:pos x="0" y="126"/>
                  </a:cxn>
                  <a:cxn ang="0">
                    <a:pos x="186" y="48"/>
                  </a:cxn>
                  <a:cxn ang="0">
                    <a:pos x="258" y="0"/>
                  </a:cxn>
                </a:cxnLst>
                <a:rect l="0" t="0" r="r" b="b"/>
                <a:pathLst>
                  <a:path w="258" h="126">
                    <a:moveTo>
                      <a:pt x="0" y="126"/>
                    </a:moveTo>
                    <a:cubicBezTo>
                      <a:pt x="71" y="97"/>
                      <a:pt x="143" y="69"/>
                      <a:pt x="186" y="48"/>
                    </a:cubicBezTo>
                    <a:cubicBezTo>
                      <a:pt x="229" y="27"/>
                      <a:pt x="243" y="13"/>
                      <a:pt x="258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7" name="Text Box 23"/>
              <p:cNvSpPr txBox="1">
                <a:spLocks noChangeArrowheads="1"/>
              </p:cNvSpPr>
              <p:nvPr/>
            </p:nvSpPr>
            <p:spPr bwMode="auto">
              <a:xfrm>
                <a:off x="4566" y="2533"/>
                <a:ext cx="437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10</a:t>
                </a:r>
                <a:r>
                  <a:rPr lang="en-US" sz="1400" baseline="30000"/>
                  <a:t>6 </a:t>
                </a:r>
                <a:r>
                  <a:rPr lang="en-US" sz="1400"/>
                  <a:t>Pa</a:t>
                </a:r>
              </a:p>
            </p:txBody>
          </p:sp>
          <p:sp>
            <p:nvSpPr>
              <p:cNvPr id="21528" name="Text Box 24"/>
              <p:cNvSpPr txBox="1">
                <a:spLocks noChangeArrowheads="1"/>
              </p:cNvSpPr>
              <p:nvPr/>
            </p:nvSpPr>
            <p:spPr bwMode="auto">
              <a:xfrm>
                <a:off x="4542" y="3145"/>
                <a:ext cx="834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4.758 x 10</a:t>
                </a:r>
                <a:r>
                  <a:rPr lang="en-US" sz="1400" baseline="30000"/>
                  <a:t>5 </a:t>
                </a:r>
                <a:r>
                  <a:rPr lang="en-US" sz="1400"/>
                  <a:t>Pa</a:t>
                </a:r>
              </a:p>
            </p:txBody>
          </p:sp>
          <p:sp>
            <p:nvSpPr>
              <p:cNvPr id="21529" name="Line 25"/>
              <p:cNvSpPr>
                <a:spLocks noChangeShapeType="1"/>
              </p:cNvSpPr>
              <p:nvPr/>
            </p:nvSpPr>
            <p:spPr bwMode="auto">
              <a:xfrm>
                <a:off x="4240" y="2778"/>
                <a:ext cx="414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30" name="Text Box 26"/>
              <p:cNvSpPr txBox="1">
                <a:spLocks noChangeArrowheads="1"/>
              </p:cNvSpPr>
              <p:nvPr/>
            </p:nvSpPr>
            <p:spPr bwMode="auto">
              <a:xfrm>
                <a:off x="4626" y="2673"/>
                <a:ext cx="414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>
                    <a:solidFill>
                      <a:schemeClr val="hlink"/>
                    </a:solidFill>
                  </a:rPr>
                  <a:t>400 C</a:t>
                </a:r>
              </a:p>
            </p:txBody>
          </p:sp>
          <p:sp>
            <p:nvSpPr>
              <p:cNvPr id="21531" name="Text Box 27"/>
              <p:cNvSpPr txBox="1">
                <a:spLocks noChangeArrowheads="1"/>
              </p:cNvSpPr>
              <p:nvPr/>
            </p:nvSpPr>
            <p:spPr bwMode="auto">
              <a:xfrm>
                <a:off x="3714" y="3677"/>
                <a:ext cx="681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>
                    <a:latin typeface="Times New Roman" pitchFamily="18" charset="0"/>
                  </a:rPr>
                  <a:t>v</a:t>
                </a:r>
                <a:r>
                  <a:rPr lang="en-US"/>
                  <a:t> (m</a:t>
                </a:r>
                <a:r>
                  <a:rPr lang="en-US" baseline="30000"/>
                  <a:t>3</a:t>
                </a:r>
                <a:r>
                  <a:rPr lang="en-US"/>
                  <a:t>/kg)</a:t>
                </a:r>
              </a:p>
            </p:txBody>
          </p:sp>
          <p:sp>
            <p:nvSpPr>
              <p:cNvPr id="21532" name="Text Box 28"/>
              <p:cNvSpPr txBox="1">
                <a:spLocks noChangeArrowheads="1"/>
              </p:cNvSpPr>
              <p:nvPr/>
            </p:nvSpPr>
            <p:spPr bwMode="auto">
              <a:xfrm>
                <a:off x="3638" y="2879"/>
                <a:ext cx="507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>
                    <a:solidFill>
                      <a:schemeClr val="hlink"/>
                    </a:solidFill>
                  </a:rPr>
                  <a:t>179.9 C</a:t>
                </a:r>
              </a:p>
            </p:txBody>
          </p:sp>
          <p:sp>
            <p:nvSpPr>
              <p:cNvPr id="21533" name="Text Box 29"/>
              <p:cNvSpPr txBox="1">
                <a:spLocks noChangeArrowheads="1"/>
              </p:cNvSpPr>
              <p:nvPr/>
            </p:nvSpPr>
            <p:spPr bwMode="auto">
              <a:xfrm>
                <a:off x="3654" y="3229"/>
                <a:ext cx="414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>
                    <a:solidFill>
                      <a:schemeClr val="hlink"/>
                    </a:solidFill>
                  </a:rPr>
                  <a:t>150 C</a:t>
                </a:r>
              </a:p>
            </p:txBody>
          </p:sp>
          <p:sp>
            <p:nvSpPr>
              <p:cNvPr id="21534" name="Text Box 30"/>
              <p:cNvSpPr txBox="1">
                <a:spLocks noChangeArrowheads="1"/>
              </p:cNvSpPr>
              <p:nvPr/>
            </p:nvSpPr>
            <p:spPr bwMode="auto">
              <a:xfrm>
                <a:off x="4312" y="2573"/>
                <a:ext cx="178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400"/>
                  <a:t>1</a:t>
                </a:r>
              </a:p>
            </p:txBody>
          </p:sp>
          <p:sp>
            <p:nvSpPr>
              <p:cNvPr id="21535" name="Oval 31"/>
              <p:cNvSpPr>
                <a:spLocks noChangeArrowheads="1"/>
              </p:cNvSpPr>
              <p:nvPr/>
            </p:nvSpPr>
            <p:spPr bwMode="auto">
              <a:xfrm>
                <a:off x="4431" y="2748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36" name="Line 32"/>
              <p:cNvSpPr>
                <a:spLocks noChangeShapeType="1"/>
              </p:cNvSpPr>
              <p:nvPr/>
            </p:nvSpPr>
            <p:spPr bwMode="auto">
              <a:xfrm flipH="1">
                <a:off x="3385" y="3390"/>
                <a:ext cx="150" cy="1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37" name="Freeform 33"/>
              <p:cNvSpPr>
                <a:spLocks/>
              </p:cNvSpPr>
              <p:nvPr/>
            </p:nvSpPr>
            <p:spPr bwMode="auto">
              <a:xfrm>
                <a:off x="3427" y="3045"/>
                <a:ext cx="222" cy="207"/>
              </a:xfrm>
              <a:custGeom>
                <a:avLst/>
                <a:gdLst/>
                <a:ahLst/>
                <a:cxnLst>
                  <a:cxn ang="0">
                    <a:pos x="222" y="0"/>
                  </a:cxn>
                  <a:cxn ang="0">
                    <a:pos x="135" y="114"/>
                  </a:cxn>
                  <a:cxn ang="0">
                    <a:pos x="0" y="207"/>
                  </a:cxn>
                </a:cxnLst>
                <a:rect l="0" t="0" r="r" b="b"/>
                <a:pathLst>
                  <a:path w="222" h="207">
                    <a:moveTo>
                      <a:pt x="222" y="0"/>
                    </a:moveTo>
                    <a:cubicBezTo>
                      <a:pt x="197" y="39"/>
                      <a:pt x="172" y="79"/>
                      <a:pt x="135" y="114"/>
                    </a:cubicBezTo>
                    <a:cubicBezTo>
                      <a:pt x="98" y="149"/>
                      <a:pt x="49" y="178"/>
                      <a:pt x="0" y="207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1538" name="Text Box 34"/>
          <p:cNvSpPr txBox="1">
            <a:spLocks noChangeArrowheads="1"/>
          </p:cNvSpPr>
          <p:nvPr/>
        </p:nvSpPr>
        <p:spPr bwMode="auto">
          <a:xfrm>
            <a:off x="314325" y="608013"/>
            <a:ext cx="8616950" cy="256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Water in a piston cylinder assembly undergoes two processes from an initial state</a:t>
            </a:r>
          </a:p>
          <a:p>
            <a:r>
              <a:rPr lang="en-US"/>
              <a:t>where the pressure is 10</a:t>
            </a:r>
            <a:r>
              <a:rPr lang="en-US" baseline="30000"/>
              <a:t>6</a:t>
            </a:r>
            <a:r>
              <a:rPr lang="en-US"/>
              <a:t> Pa and the temperature is 400 C.</a:t>
            </a:r>
          </a:p>
          <a:p>
            <a:endParaRPr lang="en-US"/>
          </a:p>
          <a:p>
            <a:r>
              <a:rPr lang="en-US" i="1"/>
              <a:t>Process 1-2</a:t>
            </a:r>
            <a:r>
              <a:rPr lang="en-US"/>
              <a:t>:  	The water is cooled as it compressed at constant pressure to the </a:t>
            </a:r>
          </a:p>
          <a:p>
            <a:r>
              <a:rPr lang="en-US"/>
              <a:t>		saturated  vapor state at 10</a:t>
            </a:r>
            <a:r>
              <a:rPr lang="en-US" baseline="30000"/>
              <a:t>6</a:t>
            </a:r>
            <a:r>
              <a:rPr lang="en-US"/>
              <a:t> Pa.</a:t>
            </a:r>
          </a:p>
          <a:p>
            <a:r>
              <a:rPr lang="en-US" i="1"/>
              <a:t>Process 2-3</a:t>
            </a:r>
            <a:r>
              <a:rPr lang="en-US"/>
              <a:t>:	The water is cooled at constant volume to 150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ºC.</a:t>
            </a:r>
            <a:r>
              <a:rPr lang="en-US"/>
              <a:t> </a:t>
            </a:r>
          </a:p>
          <a:p>
            <a:endParaRPr lang="en-US"/>
          </a:p>
          <a:p>
            <a:r>
              <a:rPr lang="en-US"/>
              <a:t>Sketch the processes on p-v and T-v diagrams.  </a:t>
            </a:r>
          </a:p>
          <a:p>
            <a:r>
              <a:rPr lang="en-US"/>
              <a:t>For the overall process determine the work and heat transfer in kJ/kg.  </a:t>
            </a:r>
          </a:p>
        </p:txBody>
      </p:sp>
      <p:grpSp>
        <p:nvGrpSpPr>
          <p:cNvPr id="21539" name="Group 35"/>
          <p:cNvGrpSpPr>
            <a:grpSpLocks/>
          </p:cNvGrpSpPr>
          <p:nvPr/>
        </p:nvGrpSpPr>
        <p:grpSpPr bwMode="auto">
          <a:xfrm>
            <a:off x="769938" y="4095750"/>
            <a:ext cx="3576637" cy="2117725"/>
            <a:chOff x="485" y="2580"/>
            <a:chExt cx="2253" cy="1334"/>
          </a:xfrm>
        </p:grpSpPr>
        <p:sp>
          <p:nvSpPr>
            <p:cNvPr id="21540" name="Line 36"/>
            <p:cNvSpPr>
              <a:spLocks noChangeShapeType="1"/>
            </p:cNvSpPr>
            <p:nvPr/>
          </p:nvSpPr>
          <p:spPr bwMode="auto">
            <a:xfrm>
              <a:off x="1038" y="258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Line 37"/>
            <p:cNvSpPr>
              <a:spLocks noChangeShapeType="1"/>
            </p:cNvSpPr>
            <p:nvPr/>
          </p:nvSpPr>
          <p:spPr bwMode="auto">
            <a:xfrm>
              <a:off x="1038" y="3636"/>
              <a:ext cx="13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Freeform 38"/>
            <p:cNvSpPr>
              <a:spLocks/>
            </p:cNvSpPr>
            <p:nvPr/>
          </p:nvSpPr>
          <p:spPr bwMode="auto">
            <a:xfrm>
              <a:off x="1083" y="2709"/>
              <a:ext cx="1053" cy="843"/>
            </a:xfrm>
            <a:custGeom>
              <a:avLst/>
              <a:gdLst/>
              <a:ahLst/>
              <a:cxnLst>
                <a:cxn ang="0">
                  <a:pos x="0" y="843"/>
                </a:cxn>
                <a:cxn ang="0">
                  <a:pos x="45" y="822"/>
                </a:cxn>
                <a:cxn ang="0">
                  <a:pos x="96" y="792"/>
                </a:cxn>
                <a:cxn ang="0">
                  <a:pos x="144" y="741"/>
                </a:cxn>
                <a:cxn ang="0">
                  <a:pos x="186" y="648"/>
                </a:cxn>
                <a:cxn ang="0">
                  <a:pos x="249" y="462"/>
                </a:cxn>
                <a:cxn ang="0">
                  <a:pos x="294" y="309"/>
                </a:cxn>
                <a:cxn ang="0">
                  <a:pos x="315" y="219"/>
                </a:cxn>
                <a:cxn ang="0">
                  <a:pos x="363" y="117"/>
                </a:cxn>
                <a:cxn ang="0">
                  <a:pos x="432" y="33"/>
                </a:cxn>
                <a:cxn ang="0">
                  <a:pos x="504" y="3"/>
                </a:cxn>
                <a:cxn ang="0">
                  <a:pos x="546" y="0"/>
                </a:cxn>
                <a:cxn ang="0">
                  <a:pos x="603" y="21"/>
                </a:cxn>
                <a:cxn ang="0">
                  <a:pos x="654" y="75"/>
                </a:cxn>
                <a:cxn ang="0">
                  <a:pos x="726" y="201"/>
                </a:cxn>
                <a:cxn ang="0">
                  <a:pos x="771" y="306"/>
                </a:cxn>
                <a:cxn ang="0">
                  <a:pos x="840" y="468"/>
                </a:cxn>
                <a:cxn ang="0">
                  <a:pos x="906" y="630"/>
                </a:cxn>
                <a:cxn ang="0">
                  <a:pos x="936" y="696"/>
                </a:cxn>
                <a:cxn ang="0">
                  <a:pos x="990" y="771"/>
                </a:cxn>
                <a:cxn ang="0">
                  <a:pos x="1053" y="837"/>
                </a:cxn>
                <a:cxn ang="0">
                  <a:pos x="0" y="843"/>
                </a:cxn>
              </a:cxnLst>
              <a:rect l="0" t="0" r="r" b="b"/>
              <a:pathLst>
                <a:path w="1053" h="843">
                  <a:moveTo>
                    <a:pt x="0" y="843"/>
                  </a:moveTo>
                  <a:lnTo>
                    <a:pt x="45" y="822"/>
                  </a:lnTo>
                  <a:lnTo>
                    <a:pt x="96" y="792"/>
                  </a:lnTo>
                  <a:lnTo>
                    <a:pt x="144" y="741"/>
                  </a:lnTo>
                  <a:lnTo>
                    <a:pt x="186" y="648"/>
                  </a:lnTo>
                  <a:lnTo>
                    <a:pt x="249" y="462"/>
                  </a:lnTo>
                  <a:lnTo>
                    <a:pt x="294" y="309"/>
                  </a:lnTo>
                  <a:lnTo>
                    <a:pt x="315" y="219"/>
                  </a:lnTo>
                  <a:lnTo>
                    <a:pt x="363" y="117"/>
                  </a:lnTo>
                  <a:lnTo>
                    <a:pt x="432" y="33"/>
                  </a:lnTo>
                  <a:lnTo>
                    <a:pt x="504" y="3"/>
                  </a:lnTo>
                  <a:lnTo>
                    <a:pt x="546" y="0"/>
                  </a:lnTo>
                  <a:lnTo>
                    <a:pt x="603" y="21"/>
                  </a:lnTo>
                  <a:lnTo>
                    <a:pt x="654" y="75"/>
                  </a:lnTo>
                  <a:lnTo>
                    <a:pt x="726" y="201"/>
                  </a:lnTo>
                  <a:lnTo>
                    <a:pt x="771" y="306"/>
                  </a:lnTo>
                  <a:lnTo>
                    <a:pt x="840" y="468"/>
                  </a:lnTo>
                  <a:lnTo>
                    <a:pt x="906" y="630"/>
                  </a:lnTo>
                  <a:lnTo>
                    <a:pt x="936" y="696"/>
                  </a:lnTo>
                  <a:lnTo>
                    <a:pt x="990" y="771"/>
                  </a:lnTo>
                  <a:lnTo>
                    <a:pt x="1053" y="837"/>
                  </a:lnTo>
                  <a:lnTo>
                    <a:pt x="0" y="843"/>
                  </a:lnTo>
                  <a:close/>
                </a:path>
              </a:pathLst>
            </a:custGeom>
            <a:solidFill>
              <a:schemeClr val="accent1"/>
            </a:solidFill>
            <a:ln w="127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Line 39"/>
            <p:cNvSpPr>
              <a:spLocks noChangeShapeType="1"/>
            </p:cNvSpPr>
            <p:nvPr/>
          </p:nvSpPr>
          <p:spPr bwMode="auto">
            <a:xfrm>
              <a:off x="1371" y="3039"/>
              <a:ext cx="8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Freeform 40"/>
            <p:cNvSpPr>
              <a:spLocks/>
            </p:cNvSpPr>
            <p:nvPr/>
          </p:nvSpPr>
          <p:spPr bwMode="auto">
            <a:xfrm>
              <a:off x="1866" y="3036"/>
              <a:ext cx="216" cy="1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8" y="42"/>
                </a:cxn>
                <a:cxn ang="0">
                  <a:pos x="102" y="81"/>
                </a:cxn>
                <a:cxn ang="0">
                  <a:pos x="177" y="135"/>
                </a:cxn>
                <a:cxn ang="0">
                  <a:pos x="216" y="159"/>
                </a:cxn>
              </a:cxnLst>
              <a:rect l="0" t="0" r="r" b="b"/>
              <a:pathLst>
                <a:path w="216" h="159">
                  <a:moveTo>
                    <a:pt x="0" y="0"/>
                  </a:moveTo>
                  <a:cubicBezTo>
                    <a:pt x="15" y="14"/>
                    <a:pt x="31" y="29"/>
                    <a:pt x="48" y="42"/>
                  </a:cubicBezTo>
                  <a:cubicBezTo>
                    <a:pt x="65" y="55"/>
                    <a:pt x="81" y="66"/>
                    <a:pt x="102" y="81"/>
                  </a:cubicBezTo>
                  <a:cubicBezTo>
                    <a:pt x="123" y="96"/>
                    <a:pt x="158" y="122"/>
                    <a:pt x="177" y="135"/>
                  </a:cubicBezTo>
                  <a:cubicBezTo>
                    <a:pt x="196" y="148"/>
                    <a:pt x="206" y="153"/>
                    <a:pt x="216" y="159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Freeform 41"/>
            <p:cNvSpPr>
              <a:spLocks/>
            </p:cNvSpPr>
            <p:nvPr/>
          </p:nvSpPr>
          <p:spPr bwMode="auto">
            <a:xfrm>
              <a:off x="2121" y="2997"/>
              <a:ext cx="222" cy="105"/>
            </a:xfrm>
            <a:custGeom>
              <a:avLst/>
              <a:gdLst/>
              <a:ahLst/>
              <a:cxnLst>
                <a:cxn ang="0">
                  <a:pos x="222" y="105"/>
                </a:cxn>
                <a:cxn ang="0">
                  <a:pos x="147" y="75"/>
                </a:cxn>
                <a:cxn ang="0">
                  <a:pos x="96" y="54"/>
                </a:cxn>
                <a:cxn ang="0">
                  <a:pos x="45" y="27"/>
                </a:cxn>
                <a:cxn ang="0">
                  <a:pos x="0" y="0"/>
                </a:cxn>
              </a:cxnLst>
              <a:rect l="0" t="0" r="r" b="b"/>
              <a:pathLst>
                <a:path w="222" h="105">
                  <a:moveTo>
                    <a:pt x="222" y="105"/>
                  </a:moveTo>
                  <a:cubicBezTo>
                    <a:pt x="195" y="94"/>
                    <a:pt x="168" y="83"/>
                    <a:pt x="147" y="75"/>
                  </a:cubicBezTo>
                  <a:cubicBezTo>
                    <a:pt x="126" y="67"/>
                    <a:pt x="113" y="62"/>
                    <a:pt x="96" y="54"/>
                  </a:cubicBezTo>
                  <a:cubicBezTo>
                    <a:pt x="79" y="46"/>
                    <a:pt x="61" y="36"/>
                    <a:pt x="45" y="27"/>
                  </a:cubicBezTo>
                  <a:cubicBezTo>
                    <a:pt x="29" y="18"/>
                    <a:pt x="14" y="9"/>
                    <a:pt x="0" y="0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Freeform 42"/>
            <p:cNvSpPr>
              <a:spLocks/>
            </p:cNvSpPr>
            <p:nvPr/>
          </p:nvSpPr>
          <p:spPr bwMode="auto">
            <a:xfrm>
              <a:off x="2013" y="3396"/>
              <a:ext cx="300" cy="129"/>
            </a:xfrm>
            <a:custGeom>
              <a:avLst/>
              <a:gdLst/>
              <a:ahLst/>
              <a:cxnLst>
                <a:cxn ang="0">
                  <a:pos x="300" y="129"/>
                </a:cxn>
                <a:cxn ang="0">
                  <a:pos x="156" y="72"/>
                </a:cxn>
                <a:cxn ang="0">
                  <a:pos x="72" y="36"/>
                </a:cxn>
                <a:cxn ang="0">
                  <a:pos x="0" y="0"/>
                </a:cxn>
              </a:cxnLst>
              <a:rect l="0" t="0" r="r" b="b"/>
              <a:pathLst>
                <a:path w="300" h="129">
                  <a:moveTo>
                    <a:pt x="300" y="129"/>
                  </a:moveTo>
                  <a:cubicBezTo>
                    <a:pt x="247" y="108"/>
                    <a:pt x="194" y="87"/>
                    <a:pt x="156" y="72"/>
                  </a:cubicBezTo>
                  <a:cubicBezTo>
                    <a:pt x="118" y="57"/>
                    <a:pt x="98" y="48"/>
                    <a:pt x="72" y="36"/>
                  </a:cubicBezTo>
                  <a:cubicBezTo>
                    <a:pt x="46" y="24"/>
                    <a:pt x="23" y="12"/>
                    <a:pt x="0" y="0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Line 43"/>
            <p:cNvSpPr>
              <a:spLocks noChangeShapeType="1"/>
            </p:cNvSpPr>
            <p:nvPr/>
          </p:nvSpPr>
          <p:spPr bwMode="auto">
            <a:xfrm flipH="1">
              <a:off x="1248" y="3399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Text Box 44"/>
            <p:cNvSpPr txBox="1">
              <a:spLocks noChangeArrowheads="1"/>
            </p:cNvSpPr>
            <p:nvPr/>
          </p:nvSpPr>
          <p:spPr bwMode="auto">
            <a:xfrm>
              <a:off x="2172" y="2877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21549" name="Text Box 45"/>
            <p:cNvSpPr txBox="1">
              <a:spLocks noChangeArrowheads="1"/>
            </p:cNvSpPr>
            <p:nvPr/>
          </p:nvSpPr>
          <p:spPr bwMode="auto">
            <a:xfrm>
              <a:off x="2324" y="2973"/>
              <a:ext cx="41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400 C</a:t>
              </a:r>
            </a:p>
          </p:txBody>
        </p:sp>
        <p:sp>
          <p:nvSpPr>
            <p:cNvPr id="21550" name="Text Box 46"/>
            <p:cNvSpPr txBox="1">
              <a:spLocks noChangeArrowheads="1"/>
            </p:cNvSpPr>
            <p:nvPr/>
          </p:nvSpPr>
          <p:spPr bwMode="auto">
            <a:xfrm>
              <a:off x="2044" y="3143"/>
              <a:ext cx="50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179.9 C</a:t>
              </a:r>
            </a:p>
          </p:txBody>
        </p:sp>
        <p:sp>
          <p:nvSpPr>
            <p:cNvPr id="21551" name="Text Box 47"/>
            <p:cNvSpPr txBox="1">
              <a:spLocks noChangeArrowheads="1"/>
            </p:cNvSpPr>
            <p:nvPr/>
          </p:nvSpPr>
          <p:spPr bwMode="auto">
            <a:xfrm>
              <a:off x="2270" y="3421"/>
              <a:ext cx="41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150 C</a:t>
              </a:r>
            </a:p>
          </p:txBody>
        </p:sp>
        <p:sp>
          <p:nvSpPr>
            <p:cNvPr id="21552" name="Text Box 48"/>
            <p:cNvSpPr txBox="1">
              <a:spLocks noChangeArrowheads="1"/>
            </p:cNvSpPr>
            <p:nvPr/>
          </p:nvSpPr>
          <p:spPr bwMode="auto">
            <a:xfrm>
              <a:off x="792" y="294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10</a:t>
              </a:r>
            </a:p>
          </p:txBody>
        </p:sp>
        <p:sp>
          <p:nvSpPr>
            <p:cNvPr id="21553" name="Text Box 49"/>
            <p:cNvSpPr txBox="1">
              <a:spLocks noChangeArrowheads="1"/>
            </p:cNvSpPr>
            <p:nvPr/>
          </p:nvSpPr>
          <p:spPr bwMode="auto">
            <a:xfrm>
              <a:off x="670" y="3307"/>
              <a:ext cx="39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4.758</a:t>
              </a:r>
            </a:p>
          </p:txBody>
        </p:sp>
        <p:sp>
          <p:nvSpPr>
            <p:cNvPr id="21554" name="Line 50"/>
            <p:cNvSpPr>
              <a:spLocks noChangeShapeType="1"/>
            </p:cNvSpPr>
            <p:nvPr/>
          </p:nvSpPr>
          <p:spPr bwMode="auto">
            <a:xfrm flipH="1">
              <a:off x="1038" y="3396"/>
              <a:ext cx="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Line 51"/>
            <p:cNvSpPr>
              <a:spLocks noChangeShapeType="1"/>
            </p:cNvSpPr>
            <p:nvPr/>
          </p:nvSpPr>
          <p:spPr bwMode="auto">
            <a:xfrm flipH="1">
              <a:off x="1044" y="3036"/>
              <a:ext cx="3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56" name="Text Box 52"/>
            <p:cNvSpPr txBox="1">
              <a:spLocks noChangeArrowheads="1"/>
            </p:cNvSpPr>
            <p:nvPr/>
          </p:nvSpPr>
          <p:spPr bwMode="auto">
            <a:xfrm rot="-5400000">
              <a:off x="216" y="2853"/>
              <a:ext cx="76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P</a:t>
              </a:r>
              <a:r>
                <a:rPr lang="en-US"/>
                <a:t> (10</a:t>
              </a:r>
              <a:r>
                <a:rPr lang="en-US" baseline="30000"/>
                <a:t>5</a:t>
              </a:r>
              <a:r>
                <a:rPr lang="en-US"/>
                <a:t> Pa)</a:t>
              </a:r>
            </a:p>
          </p:txBody>
        </p:sp>
        <p:sp>
          <p:nvSpPr>
            <p:cNvPr id="21557" name="Text Box 53"/>
            <p:cNvSpPr txBox="1">
              <a:spLocks noChangeArrowheads="1"/>
            </p:cNvSpPr>
            <p:nvPr/>
          </p:nvSpPr>
          <p:spPr bwMode="auto">
            <a:xfrm>
              <a:off x="1430" y="3683"/>
              <a:ext cx="68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v</a:t>
              </a:r>
              <a:r>
                <a:rPr lang="en-US"/>
                <a:t> (m</a:t>
              </a:r>
              <a:r>
                <a:rPr lang="en-US" baseline="30000"/>
                <a:t>3</a:t>
              </a:r>
              <a:r>
                <a:rPr lang="en-US"/>
                <a:t>/kg)</a:t>
              </a:r>
            </a:p>
          </p:txBody>
        </p:sp>
        <p:sp>
          <p:nvSpPr>
            <p:cNvPr id="21558" name="Freeform 54"/>
            <p:cNvSpPr>
              <a:spLocks/>
            </p:cNvSpPr>
            <p:nvPr/>
          </p:nvSpPr>
          <p:spPr bwMode="auto">
            <a:xfrm>
              <a:off x="1134" y="2694"/>
              <a:ext cx="237" cy="345"/>
            </a:xfrm>
            <a:custGeom>
              <a:avLst/>
              <a:gdLst/>
              <a:ahLst/>
              <a:cxnLst>
                <a:cxn ang="0">
                  <a:pos x="237" y="345"/>
                </a:cxn>
                <a:cxn ang="0">
                  <a:pos x="171" y="309"/>
                </a:cxn>
                <a:cxn ang="0">
                  <a:pos x="75" y="186"/>
                </a:cxn>
                <a:cxn ang="0">
                  <a:pos x="0" y="0"/>
                </a:cxn>
              </a:cxnLst>
              <a:rect l="0" t="0" r="r" b="b"/>
              <a:pathLst>
                <a:path w="237" h="345">
                  <a:moveTo>
                    <a:pt x="237" y="345"/>
                  </a:moveTo>
                  <a:cubicBezTo>
                    <a:pt x="217" y="340"/>
                    <a:pt x="198" y="335"/>
                    <a:pt x="171" y="309"/>
                  </a:cubicBezTo>
                  <a:cubicBezTo>
                    <a:pt x="144" y="283"/>
                    <a:pt x="103" y="237"/>
                    <a:pt x="75" y="186"/>
                  </a:cubicBezTo>
                  <a:cubicBezTo>
                    <a:pt x="47" y="135"/>
                    <a:pt x="12" y="3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hlink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Freeform 55"/>
            <p:cNvSpPr>
              <a:spLocks/>
            </p:cNvSpPr>
            <p:nvPr/>
          </p:nvSpPr>
          <p:spPr bwMode="auto">
            <a:xfrm>
              <a:off x="1134" y="3174"/>
              <a:ext cx="117" cy="222"/>
            </a:xfrm>
            <a:custGeom>
              <a:avLst/>
              <a:gdLst/>
              <a:ahLst/>
              <a:cxnLst>
                <a:cxn ang="0">
                  <a:pos x="117" y="222"/>
                </a:cxn>
                <a:cxn ang="0">
                  <a:pos x="51" y="153"/>
                </a:cxn>
                <a:cxn ang="0">
                  <a:pos x="0" y="0"/>
                </a:cxn>
              </a:cxnLst>
              <a:rect l="0" t="0" r="r" b="b"/>
              <a:pathLst>
                <a:path w="117" h="222">
                  <a:moveTo>
                    <a:pt x="117" y="222"/>
                  </a:moveTo>
                  <a:cubicBezTo>
                    <a:pt x="93" y="206"/>
                    <a:pt x="70" y="190"/>
                    <a:pt x="51" y="153"/>
                  </a:cubicBezTo>
                  <a:cubicBezTo>
                    <a:pt x="32" y="116"/>
                    <a:pt x="16" y="58"/>
                    <a:pt x="0" y="0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Oval 56"/>
            <p:cNvSpPr>
              <a:spLocks noChangeArrowheads="1"/>
            </p:cNvSpPr>
            <p:nvPr/>
          </p:nvSpPr>
          <p:spPr bwMode="auto">
            <a:xfrm>
              <a:off x="2170" y="3012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561" name="Group 57"/>
          <p:cNvGrpSpPr>
            <a:grpSpLocks/>
          </p:cNvGrpSpPr>
          <p:nvPr/>
        </p:nvGrpSpPr>
        <p:grpSpPr bwMode="auto">
          <a:xfrm>
            <a:off x="2778125" y="4824413"/>
            <a:ext cx="282575" cy="863600"/>
            <a:chOff x="1750" y="3039"/>
            <a:chExt cx="178" cy="544"/>
          </a:xfrm>
        </p:grpSpPr>
        <p:grpSp>
          <p:nvGrpSpPr>
            <p:cNvPr id="21562" name="Group 58"/>
            <p:cNvGrpSpPr>
              <a:grpSpLocks/>
            </p:cNvGrpSpPr>
            <p:nvPr/>
          </p:nvGrpSpPr>
          <p:grpSpPr bwMode="auto">
            <a:xfrm>
              <a:off x="1840" y="3039"/>
              <a:ext cx="56" cy="386"/>
              <a:chOff x="1840" y="3039"/>
              <a:chExt cx="56" cy="386"/>
            </a:xfrm>
          </p:grpSpPr>
          <p:sp>
            <p:nvSpPr>
              <p:cNvPr id="21563" name="Line 59"/>
              <p:cNvSpPr>
                <a:spLocks noChangeShapeType="1"/>
              </p:cNvSpPr>
              <p:nvPr/>
            </p:nvSpPr>
            <p:spPr bwMode="auto">
              <a:xfrm>
                <a:off x="1866" y="3039"/>
                <a:ext cx="0" cy="354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64" name="Oval 60"/>
              <p:cNvSpPr>
                <a:spLocks noChangeArrowheads="1"/>
              </p:cNvSpPr>
              <p:nvPr/>
            </p:nvSpPr>
            <p:spPr bwMode="auto">
              <a:xfrm>
                <a:off x="1840" y="3369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65" name="Line 61"/>
              <p:cNvSpPr>
                <a:spLocks noChangeShapeType="1"/>
              </p:cNvSpPr>
              <p:nvPr/>
            </p:nvSpPr>
            <p:spPr bwMode="auto">
              <a:xfrm>
                <a:off x="1866" y="3118"/>
                <a:ext cx="0" cy="16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566" name="Text Box 62"/>
            <p:cNvSpPr txBox="1">
              <a:spLocks noChangeArrowheads="1"/>
            </p:cNvSpPr>
            <p:nvPr/>
          </p:nvSpPr>
          <p:spPr bwMode="auto">
            <a:xfrm>
              <a:off x="1750" y="3391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3</a:t>
              </a:r>
            </a:p>
          </p:txBody>
        </p:sp>
      </p:grpSp>
      <p:grpSp>
        <p:nvGrpSpPr>
          <p:cNvPr id="21567" name="Group 63"/>
          <p:cNvGrpSpPr>
            <a:grpSpLocks/>
          </p:cNvGrpSpPr>
          <p:nvPr/>
        </p:nvGrpSpPr>
        <p:grpSpPr bwMode="auto">
          <a:xfrm>
            <a:off x="2863850" y="4519613"/>
            <a:ext cx="609600" cy="346075"/>
            <a:chOff x="1804" y="2847"/>
            <a:chExt cx="384" cy="218"/>
          </a:xfrm>
        </p:grpSpPr>
        <p:grpSp>
          <p:nvGrpSpPr>
            <p:cNvPr id="21568" name="Group 64"/>
            <p:cNvGrpSpPr>
              <a:grpSpLocks/>
            </p:cNvGrpSpPr>
            <p:nvPr/>
          </p:nvGrpSpPr>
          <p:grpSpPr bwMode="auto">
            <a:xfrm>
              <a:off x="1840" y="3009"/>
              <a:ext cx="348" cy="56"/>
              <a:chOff x="1984" y="2817"/>
              <a:chExt cx="348" cy="56"/>
            </a:xfrm>
          </p:grpSpPr>
          <p:sp>
            <p:nvSpPr>
              <p:cNvPr id="21569" name="Line 65"/>
              <p:cNvSpPr>
                <a:spLocks noChangeShapeType="1"/>
              </p:cNvSpPr>
              <p:nvPr/>
            </p:nvSpPr>
            <p:spPr bwMode="auto">
              <a:xfrm>
                <a:off x="2014" y="2848"/>
                <a:ext cx="318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70" name="Line 66"/>
              <p:cNvSpPr>
                <a:spLocks noChangeShapeType="1"/>
              </p:cNvSpPr>
              <p:nvPr/>
            </p:nvSpPr>
            <p:spPr bwMode="auto">
              <a:xfrm>
                <a:off x="2086" y="2846"/>
                <a:ext cx="186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 type="stealth" w="lg" len="lg"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71" name="Oval 67"/>
              <p:cNvSpPr>
                <a:spLocks noChangeArrowheads="1"/>
              </p:cNvSpPr>
              <p:nvPr/>
            </p:nvSpPr>
            <p:spPr bwMode="auto">
              <a:xfrm>
                <a:off x="1984" y="2817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572" name="Text Box 68"/>
            <p:cNvSpPr txBox="1">
              <a:spLocks noChangeArrowheads="1"/>
            </p:cNvSpPr>
            <p:nvPr/>
          </p:nvSpPr>
          <p:spPr bwMode="auto">
            <a:xfrm>
              <a:off x="1804" y="2847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2</a:t>
              </a:r>
            </a:p>
          </p:txBody>
        </p:sp>
      </p:grpSp>
      <p:grpSp>
        <p:nvGrpSpPr>
          <p:cNvPr id="21573" name="Group 69"/>
          <p:cNvGrpSpPr>
            <a:grpSpLocks/>
          </p:cNvGrpSpPr>
          <p:nvPr/>
        </p:nvGrpSpPr>
        <p:grpSpPr bwMode="auto">
          <a:xfrm>
            <a:off x="6375400" y="4832350"/>
            <a:ext cx="282575" cy="842963"/>
            <a:chOff x="4016" y="3040"/>
            <a:chExt cx="178" cy="531"/>
          </a:xfrm>
        </p:grpSpPr>
        <p:sp>
          <p:nvSpPr>
            <p:cNvPr id="21574" name="Text Box 70"/>
            <p:cNvSpPr txBox="1">
              <a:spLocks noChangeArrowheads="1"/>
            </p:cNvSpPr>
            <p:nvPr/>
          </p:nvSpPr>
          <p:spPr bwMode="auto">
            <a:xfrm>
              <a:off x="4016" y="3379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3</a:t>
              </a:r>
            </a:p>
          </p:txBody>
        </p:sp>
        <p:grpSp>
          <p:nvGrpSpPr>
            <p:cNvPr id="21575" name="Group 71"/>
            <p:cNvGrpSpPr>
              <a:grpSpLocks/>
            </p:cNvGrpSpPr>
            <p:nvPr/>
          </p:nvGrpSpPr>
          <p:grpSpPr bwMode="auto">
            <a:xfrm>
              <a:off x="4125" y="3040"/>
              <a:ext cx="56" cy="380"/>
              <a:chOff x="3917" y="2824"/>
              <a:chExt cx="56" cy="380"/>
            </a:xfrm>
          </p:grpSpPr>
          <p:sp>
            <p:nvSpPr>
              <p:cNvPr id="21576" name="Line 72"/>
              <p:cNvSpPr>
                <a:spLocks noChangeShapeType="1"/>
              </p:cNvSpPr>
              <p:nvPr/>
            </p:nvSpPr>
            <p:spPr bwMode="auto">
              <a:xfrm>
                <a:off x="3943" y="2824"/>
                <a:ext cx="0" cy="354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77" name="Line 73"/>
              <p:cNvSpPr>
                <a:spLocks noChangeShapeType="1"/>
              </p:cNvSpPr>
              <p:nvPr/>
            </p:nvSpPr>
            <p:spPr bwMode="auto">
              <a:xfrm>
                <a:off x="3942" y="2898"/>
                <a:ext cx="0" cy="21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78" name="Oval 74"/>
              <p:cNvSpPr>
                <a:spLocks noChangeArrowheads="1"/>
              </p:cNvSpPr>
              <p:nvPr/>
            </p:nvSpPr>
            <p:spPr bwMode="auto">
              <a:xfrm>
                <a:off x="3917" y="3148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1579" name="Group 75"/>
          <p:cNvGrpSpPr>
            <a:grpSpLocks/>
          </p:cNvGrpSpPr>
          <p:nvPr/>
        </p:nvGrpSpPr>
        <p:grpSpPr bwMode="auto">
          <a:xfrm>
            <a:off x="6480175" y="4440238"/>
            <a:ext cx="574675" cy="433387"/>
            <a:chOff x="4082" y="2797"/>
            <a:chExt cx="362" cy="273"/>
          </a:xfrm>
        </p:grpSpPr>
        <p:sp>
          <p:nvSpPr>
            <p:cNvPr id="21580" name="Text Box 76"/>
            <p:cNvSpPr txBox="1">
              <a:spLocks noChangeArrowheads="1"/>
            </p:cNvSpPr>
            <p:nvPr/>
          </p:nvSpPr>
          <p:spPr bwMode="auto">
            <a:xfrm>
              <a:off x="4082" y="2839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2</a:t>
              </a:r>
            </a:p>
          </p:txBody>
        </p:sp>
        <p:grpSp>
          <p:nvGrpSpPr>
            <p:cNvPr id="21581" name="Group 77"/>
            <p:cNvGrpSpPr>
              <a:grpSpLocks/>
            </p:cNvGrpSpPr>
            <p:nvPr/>
          </p:nvGrpSpPr>
          <p:grpSpPr bwMode="auto">
            <a:xfrm>
              <a:off x="4125" y="2797"/>
              <a:ext cx="319" cy="273"/>
              <a:chOff x="4125" y="2797"/>
              <a:chExt cx="319" cy="273"/>
            </a:xfrm>
          </p:grpSpPr>
          <p:sp>
            <p:nvSpPr>
              <p:cNvPr id="21582" name="Freeform 78"/>
              <p:cNvSpPr>
                <a:spLocks/>
              </p:cNvSpPr>
              <p:nvPr/>
            </p:nvSpPr>
            <p:spPr bwMode="auto">
              <a:xfrm>
                <a:off x="4222" y="2893"/>
                <a:ext cx="126" cy="111"/>
              </a:xfrm>
              <a:custGeom>
                <a:avLst/>
                <a:gdLst/>
                <a:ahLst/>
                <a:cxnLst>
                  <a:cxn ang="0">
                    <a:pos x="126" y="0"/>
                  </a:cxn>
                  <a:cxn ang="0">
                    <a:pos x="60" y="60"/>
                  </a:cxn>
                  <a:cxn ang="0">
                    <a:pos x="0" y="111"/>
                  </a:cxn>
                </a:cxnLst>
                <a:rect l="0" t="0" r="r" b="b"/>
                <a:pathLst>
                  <a:path w="126" h="111">
                    <a:moveTo>
                      <a:pt x="126" y="0"/>
                    </a:moveTo>
                    <a:cubicBezTo>
                      <a:pt x="103" y="21"/>
                      <a:pt x="81" y="42"/>
                      <a:pt x="60" y="60"/>
                    </a:cubicBezTo>
                    <a:cubicBezTo>
                      <a:pt x="39" y="78"/>
                      <a:pt x="19" y="94"/>
                      <a:pt x="0" y="111"/>
                    </a:cubicBezTo>
                  </a:path>
                </a:pathLst>
              </a:custGeom>
              <a:noFill/>
              <a:ln w="28575" cmpd="sng">
                <a:solidFill>
                  <a:srgbClr val="CC0000"/>
                </a:solidFill>
                <a:round/>
                <a:headEnd type="none" w="med" len="med"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1583" name="Group 79"/>
              <p:cNvGrpSpPr>
                <a:grpSpLocks/>
              </p:cNvGrpSpPr>
              <p:nvPr/>
            </p:nvGrpSpPr>
            <p:grpSpPr bwMode="auto">
              <a:xfrm>
                <a:off x="4125" y="2797"/>
                <a:ext cx="319" cy="273"/>
                <a:chOff x="3917" y="2577"/>
                <a:chExt cx="319" cy="273"/>
              </a:xfrm>
            </p:grpSpPr>
            <p:sp>
              <p:nvSpPr>
                <p:cNvPr id="21584" name="Freeform 80"/>
                <p:cNvSpPr>
                  <a:spLocks/>
                </p:cNvSpPr>
                <p:nvPr/>
              </p:nvSpPr>
              <p:spPr bwMode="auto">
                <a:xfrm>
                  <a:off x="3963" y="2577"/>
                  <a:ext cx="273" cy="237"/>
                </a:xfrm>
                <a:custGeom>
                  <a:avLst/>
                  <a:gdLst/>
                  <a:ahLst/>
                  <a:cxnLst>
                    <a:cxn ang="0">
                      <a:pos x="0" y="237"/>
                    </a:cxn>
                    <a:cxn ang="0">
                      <a:pos x="81" y="177"/>
                    </a:cxn>
                    <a:cxn ang="0">
                      <a:pos x="213" y="66"/>
                    </a:cxn>
                    <a:cxn ang="0">
                      <a:pos x="273" y="0"/>
                    </a:cxn>
                  </a:cxnLst>
                  <a:rect l="0" t="0" r="r" b="b"/>
                  <a:pathLst>
                    <a:path w="273" h="237">
                      <a:moveTo>
                        <a:pt x="0" y="237"/>
                      </a:moveTo>
                      <a:cubicBezTo>
                        <a:pt x="22" y="221"/>
                        <a:pt x="45" y="205"/>
                        <a:pt x="81" y="177"/>
                      </a:cubicBezTo>
                      <a:cubicBezTo>
                        <a:pt x="117" y="149"/>
                        <a:pt x="181" y="95"/>
                        <a:pt x="213" y="66"/>
                      </a:cubicBezTo>
                      <a:cubicBezTo>
                        <a:pt x="245" y="37"/>
                        <a:pt x="259" y="18"/>
                        <a:pt x="273" y="0"/>
                      </a:cubicBezTo>
                    </a:path>
                  </a:pathLst>
                </a:custGeom>
                <a:noFill/>
                <a:ln w="28575" cmpd="sng">
                  <a:solidFill>
                    <a:srgbClr val="CC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85" name="Oval 81"/>
                <p:cNvSpPr>
                  <a:spLocks noChangeArrowheads="1"/>
                </p:cNvSpPr>
                <p:nvPr/>
              </p:nvSpPr>
              <p:spPr bwMode="auto">
                <a:xfrm>
                  <a:off x="3917" y="2794"/>
                  <a:ext cx="56" cy="5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1586" name="Text Box 82"/>
          <p:cNvSpPr txBox="1">
            <a:spLocks noChangeArrowheads="1"/>
          </p:cNvSpPr>
          <p:nvPr/>
        </p:nvSpPr>
        <p:spPr bwMode="auto">
          <a:xfrm>
            <a:off x="3832225" y="-23813"/>
            <a:ext cx="1438275" cy="457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chemeClr val="accent2"/>
                </a:solidFill>
              </a:rPr>
              <a:t>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2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20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2000"/>
                                        <p:tgtEl>
                                          <p:spTgt spid="2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2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50825" y="315913"/>
            <a:ext cx="7677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only work done in this process is the constant pressure compression, </a:t>
            </a:r>
          </a:p>
          <a:p>
            <a:r>
              <a:rPr lang="en-US"/>
              <a:t>process 1-2, since process 2-3 is constant volume.</a:t>
            </a: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2762250" y="1231900"/>
          <a:ext cx="3035300" cy="1320800"/>
        </p:xfrm>
        <a:graphic>
          <a:graphicData uri="http://schemas.openxmlformats.org/presentationml/2006/ole">
            <p:oleObj spid="_x0000_s22531" name="Equation" r:id="rId3" imgW="3035160" imgH="1320480" progId="Equation.DSMT4">
              <p:embed/>
            </p:oleObj>
          </a:graphicData>
        </a:graphic>
      </p:graphicFrame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123825" y="2805113"/>
            <a:ext cx="8807450" cy="97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Since for state 1 we know P and T, we can get the specific volume from a data </a:t>
            </a:r>
            <a:r>
              <a:rPr lang="en-US">
                <a:solidFill>
                  <a:srgbClr val="CC0000"/>
                </a:solidFill>
              </a:rPr>
              <a:t>Table</a:t>
            </a:r>
            <a:r>
              <a:rPr lang="en-US"/>
              <a:t>,</a:t>
            </a:r>
          </a:p>
          <a:p>
            <a:r>
              <a:rPr lang="en-US" sz="2000">
                <a:latin typeface="Times New Roman" pitchFamily="18" charset="0"/>
              </a:rPr>
              <a:t>(</a:t>
            </a:r>
            <a:r>
              <a:rPr lang="en-US" sz="2000" i="1">
                <a:latin typeface="Times New Roman" pitchFamily="18" charset="0"/>
              </a:rPr>
              <a:t>properties of superheated water vapor</a:t>
            </a:r>
            <a:r>
              <a:rPr lang="en-US" sz="2000">
                <a:latin typeface="Times New Roman" pitchFamily="18" charset="0"/>
              </a:rPr>
              <a:t>) </a:t>
            </a:r>
            <a:r>
              <a:rPr lang="en-US" sz="2000" i="1">
                <a:solidFill>
                  <a:srgbClr val="CC0000"/>
                </a:solidFill>
                <a:latin typeface="Times New Roman" pitchFamily="18" charset="0"/>
              </a:rPr>
              <a:t>v</a:t>
            </a:r>
            <a:r>
              <a:rPr lang="en-US" sz="2000" i="1" baseline="-25000">
                <a:solidFill>
                  <a:srgbClr val="CC0000"/>
                </a:solidFill>
                <a:latin typeface="Times New Roman" pitchFamily="18" charset="0"/>
              </a:rPr>
              <a:t>1</a:t>
            </a:r>
            <a:r>
              <a:rPr lang="en-US">
                <a:solidFill>
                  <a:srgbClr val="CC0000"/>
                </a:solidFill>
              </a:rPr>
              <a:t> = 0.3066 m</a:t>
            </a:r>
            <a:r>
              <a:rPr lang="en-US" baseline="30000">
                <a:solidFill>
                  <a:srgbClr val="CC0000"/>
                </a:solidFill>
              </a:rPr>
              <a:t>3</a:t>
            </a:r>
            <a:r>
              <a:rPr lang="en-US">
                <a:solidFill>
                  <a:srgbClr val="CC0000"/>
                </a:solidFill>
              </a:rPr>
              <a:t>/kg</a:t>
            </a:r>
            <a:r>
              <a:rPr lang="en-US"/>
              <a:t>.  The specific volume</a:t>
            </a:r>
          </a:p>
          <a:p>
            <a:r>
              <a:rPr lang="en-US"/>
              <a:t>at state 2 is the saturated value at 10 bar </a:t>
            </a:r>
            <a:r>
              <a:rPr lang="en-US" sz="2000" i="1">
                <a:solidFill>
                  <a:srgbClr val="CC0000"/>
                </a:solidFill>
                <a:latin typeface="Times New Roman" pitchFamily="18" charset="0"/>
              </a:rPr>
              <a:t>v</a:t>
            </a:r>
            <a:r>
              <a:rPr lang="en-US" sz="2000" i="1" baseline="-25000">
                <a:solidFill>
                  <a:srgbClr val="CC0000"/>
                </a:solidFill>
                <a:latin typeface="Times New Roman" pitchFamily="18" charset="0"/>
              </a:rPr>
              <a:t>2</a:t>
            </a:r>
            <a:r>
              <a:rPr lang="en-US">
                <a:solidFill>
                  <a:srgbClr val="CC0000"/>
                </a:solidFill>
              </a:rPr>
              <a:t> = 0.1944 m</a:t>
            </a:r>
            <a:r>
              <a:rPr lang="en-US" baseline="30000">
                <a:solidFill>
                  <a:srgbClr val="CC0000"/>
                </a:solidFill>
              </a:rPr>
              <a:t>3</a:t>
            </a:r>
            <a:r>
              <a:rPr lang="en-US">
                <a:solidFill>
                  <a:srgbClr val="CC0000"/>
                </a:solidFill>
              </a:rPr>
              <a:t>/kg</a:t>
            </a:r>
            <a:r>
              <a:rPr lang="en-US"/>
              <a:t>. 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974725" y="4052888"/>
            <a:ext cx="47196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>
                <a:latin typeface="Times New Roman" pitchFamily="18" charset="0"/>
              </a:rPr>
              <a:t>W/m = 10</a:t>
            </a:r>
            <a:r>
              <a:rPr lang="en-US" sz="2000" i="1" baseline="30000">
                <a:latin typeface="Times New Roman" pitchFamily="18" charset="0"/>
              </a:rPr>
              <a:t>6</a:t>
            </a:r>
            <a:r>
              <a:rPr lang="en-US" sz="2000" i="1">
                <a:latin typeface="Times New Roman" pitchFamily="18" charset="0"/>
              </a:rPr>
              <a:t> (0.1944 – 0.3066) = </a:t>
            </a:r>
            <a:r>
              <a:rPr lang="en-US" sz="2000" i="1">
                <a:solidFill>
                  <a:srgbClr val="0000FF"/>
                </a:solidFill>
                <a:latin typeface="Times New Roman" pitchFamily="18" charset="0"/>
              </a:rPr>
              <a:t>-</a:t>
            </a:r>
            <a:r>
              <a:rPr lang="en-US" sz="2000" i="1">
                <a:latin typeface="Times New Roman" pitchFamily="18" charset="0"/>
              </a:rPr>
              <a:t>112.2 kJ/kg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466725" y="4745038"/>
            <a:ext cx="6892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From the 1</a:t>
            </a:r>
            <a:r>
              <a:rPr lang="en-US" baseline="30000"/>
              <a:t>st</a:t>
            </a:r>
            <a:r>
              <a:rPr lang="en-US"/>
              <a:t> Law, </a:t>
            </a:r>
            <a:r>
              <a:rPr lang="en-US" sz="2000" i="1">
                <a:latin typeface="Times New Roman" pitchFamily="18" charset="0"/>
              </a:rPr>
              <a:t>Q = </a:t>
            </a:r>
            <a:r>
              <a:rPr lang="en-US" sz="2000" i="1">
                <a:latin typeface="Times New Roman" pitchFamily="18" charset="0"/>
                <a:sym typeface="Symbol" pitchFamily="18" charset="2"/>
              </a:rPr>
              <a:t></a:t>
            </a:r>
            <a:r>
              <a:rPr lang="en-US" sz="2000" i="1">
                <a:latin typeface="Times New Roman" pitchFamily="18" charset="0"/>
              </a:rPr>
              <a:t>U + W</a:t>
            </a:r>
            <a:r>
              <a:rPr lang="en-US"/>
              <a:t>, and dividing through by the mass,</a:t>
            </a:r>
            <a:endParaRPr lang="en-US" sz="2000" i="1">
              <a:latin typeface="Times New Roman" pitchFamily="18" charset="0"/>
            </a:endParaRPr>
          </a:p>
        </p:txBody>
      </p:sp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2997200" y="5384800"/>
          <a:ext cx="3048000" cy="635000"/>
        </p:xfrm>
        <a:graphic>
          <a:graphicData uri="http://schemas.openxmlformats.org/presentationml/2006/ole">
            <p:oleObj spid="_x0000_s22535" name="Equation" r:id="rId4" imgW="3047760" imgH="634680" progId="Equation.DSMT4">
              <p:embed/>
            </p:oleObj>
          </a:graphicData>
        </a:graphic>
      </p:graphicFrame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5978525" y="4033838"/>
            <a:ext cx="19351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0000FF"/>
                </a:solidFill>
              </a:rPr>
              <a:t>The minus sign indicates</a:t>
            </a:r>
          </a:p>
          <a:p>
            <a:r>
              <a:rPr lang="en-US" sz="1200">
                <a:solidFill>
                  <a:srgbClr val="0000FF"/>
                </a:solidFill>
              </a:rPr>
              <a:t>work done ON the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33" grpId="0"/>
      <p:bldP spid="225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708025" y="357188"/>
            <a:ext cx="7200900" cy="67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>
                <a:latin typeface="Times New Roman" pitchFamily="18" charset="0"/>
              </a:rPr>
              <a:t>u</a:t>
            </a:r>
            <a:r>
              <a:rPr lang="en-US" sz="2000" i="1" baseline="-25000">
                <a:latin typeface="Times New Roman" pitchFamily="18" charset="0"/>
              </a:rPr>
              <a:t>1</a:t>
            </a:r>
            <a:r>
              <a:rPr lang="en-US" sz="2000" i="1">
                <a:latin typeface="Times New Roman" pitchFamily="18" charset="0"/>
              </a:rPr>
              <a:t> </a:t>
            </a:r>
            <a:r>
              <a:rPr lang="en-US"/>
              <a:t>is the specific internal energy in state 1, which we can get also get </a:t>
            </a:r>
          </a:p>
          <a:p>
            <a:r>
              <a:rPr lang="en-US"/>
              <a:t>from a Table as 2957.3 kJ/kg.  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619125" y="1068388"/>
            <a:ext cx="8237538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To get </a:t>
            </a:r>
            <a:r>
              <a:rPr lang="en-US" sz="2000" i="1">
                <a:latin typeface="Times New Roman" pitchFamily="18" charset="0"/>
              </a:rPr>
              <a:t>u</a:t>
            </a:r>
            <a:r>
              <a:rPr lang="en-US" sz="2000" i="1" baseline="-25000">
                <a:latin typeface="Times New Roman" pitchFamily="18" charset="0"/>
              </a:rPr>
              <a:t>3</a:t>
            </a:r>
            <a:r>
              <a:rPr lang="en-US"/>
              <a:t> note that we are in a 2-phase fluid/vapor region, so </a:t>
            </a:r>
            <a:r>
              <a:rPr lang="en-US" sz="2000" i="1">
                <a:latin typeface="Times New Roman" pitchFamily="18" charset="0"/>
              </a:rPr>
              <a:t>u</a:t>
            </a:r>
            <a:r>
              <a:rPr lang="en-US" sz="2000" i="1" baseline="-25000">
                <a:latin typeface="Times New Roman" pitchFamily="18" charset="0"/>
              </a:rPr>
              <a:t>3</a:t>
            </a:r>
            <a:r>
              <a:rPr lang="en-US"/>
              <a:t> will be a linear</a:t>
            </a:r>
          </a:p>
          <a:p>
            <a:r>
              <a:rPr lang="en-US"/>
              <a:t>combination of </a:t>
            </a:r>
            <a:r>
              <a:rPr lang="en-US" sz="2000" i="1">
                <a:latin typeface="Times New Roman" pitchFamily="18" charset="0"/>
              </a:rPr>
              <a:t>u</a:t>
            </a:r>
            <a:r>
              <a:rPr lang="en-US" sz="2000" i="1" baseline="-25000">
                <a:latin typeface="Times New Roman" pitchFamily="18" charset="0"/>
              </a:rPr>
              <a:t>f</a:t>
            </a:r>
            <a:r>
              <a:rPr lang="en-US"/>
              <a:t> and </a:t>
            </a:r>
            <a:r>
              <a:rPr lang="en-US" sz="2000" i="1">
                <a:latin typeface="Times New Roman" pitchFamily="18" charset="0"/>
              </a:rPr>
              <a:t>u</a:t>
            </a:r>
            <a:r>
              <a:rPr lang="en-US" sz="2000" i="1" baseline="-25000">
                <a:latin typeface="Times New Roman" pitchFamily="18" charset="0"/>
              </a:rPr>
              <a:t>g</a:t>
            </a:r>
            <a:r>
              <a:rPr lang="en-US"/>
              <a:t> determined from the quantity of fluid and vapor present</a:t>
            </a:r>
          </a:p>
          <a:p>
            <a:r>
              <a:rPr lang="en-US"/>
              <a:t>at </a:t>
            </a:r>
            <a:r>
              <a:rPr lang="en-US" sz="2000" i="1">
                <a:solidFill>
                  <a:srgbClr val="CC0000"/>
                </a:solidFill>
                <a:latin typeface="Times New Roman" pitchFamily="18" charset="0"/>
              </a:rPr>
              <a:t>v</a:t>
            </a:r>
            <a:r>
              <a:rPr lang="en-US" sz="2000" i="1" baseline="-25000">
                <a:solidFill>
                  <a:srgbClr val="CC0000"/>
                </a:solidFill>
                <a:latin typeface="Times New Roman" pitchFamily="18" charset="0"/>
              </a:rPr>
              <a:t>3</a:t>
            </a:r>
            <a:r>
              <a:rPr lang="en-US" sz="2000" i="1">
                <a:solidFill>
                  <a:srgbClr val="CC0000"/>
                </a:solidFill>
                <a:latin typeface="Times New Roman" pitchFamily="18" charset="0"/>
              </a:rPr>
              <a:t> = v</a:t>
            </a:r>
            <a:r>
              <a:rPr lang="en-US" sz="2000" i="1" baseline="-25000">
                <a:solidFill>
                  <a:srgbClr val="CC0000"/>
                </a:solidFill>
                <a:latin typeface="Times New Roman" pitchFamily="18" charset="0"/>
              </a:rPr>
              <a:t>2</a:t>
            </a:r>
            <a:r>
              <a:rPr lang="en-US" sz="2000" i="1">
                <a:latin typeface="Times New Roman" pitchFamily="18" charset="0"/>
              </a:rPr>
              <a:t>.  </a:t>
            </a:r>
            <a:r>
              <a:rPr lang="en-US"/>
              <a:t>The mass fraction of vapor present or “</a:t>
            </a:r>
            <a:r>
              <a:rPr lang="en-US" i="1">
                <a:solidFill>
                  <a:schemeClr val="accent2"/>
                </a:solidFill>
              </a:rPr>
              <a:t>quality</a:t>
            </a:r>
            <a:r>
              <a:rPr lang="en-US"/>
              <a:t>” is given by,  </a:t>
            </a:r>
          </a:p>
        </p:txBody>
      </p:sp>
      <p:grpSp>
        <p:nvGrpSpPr>
          <p:cNvPr id="23556" name="Group 4"/>
          <p:cNvGrpSpPr>
            <a:grpSpLocks/>
          </p:cNvGrpSpPr>
          <p:nvPr/>
        </p:nvGrpSpPr>
        <p:grpSpPr bwMode="auto">
          <a:xfrm>
            <a:off x="427038" y="2355850"/>
            <a:ext cx="3576637" cy="2117725"/>
            <a:chOff x="485" y="2580"/>
            <a:chExt cx="2253" cy="1334"/>
          </a:xfrm>
        </p:grpSpPr>
        <p:sp>
          <p:nvSpPr>
            <p:cNvPr id="23557" name="Line 5"/>
            <p:cNvSpPr>
              <a:spLocks noChangeShapeType="1"/>
            </p:cNvSpPr>
            <p:nvPr/>
          </p:nvSpPr>
          <p:spPr bwMode="auto">
            <a:xfrm>
              <a:off x="1038" y="258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58" name="Line 6"/>
            <p:cNvSpPr>
              <a:spLocks noChangeShapeType="1"/>
            </p:cNvSpPr>
            <p:nvPr/>
          </p:nvSpPr>
          <p:spPr bwMode="auto">
            <a:xfrm>
              <a:off x="1038" y="3636"/>
              <a:ext cx="13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59" name="Freeform 7"/>
            <p:cNvSpPr>
              <a:spLocks/>
            </p:cNvSpPr>
            <p:nvPr/>
          </p:nvSpPr>
          <p:spPr bwMode="auto">
            <a:xfrm>
              <a:off x="1083" y="2709"/>
              <a:ext cx="1053" cy="843"/>
            </a:xfrm>
            <a:custGeom>
              <a:avLst/>
              <a:gdLst/>
              <a:ahLst/>
              <a:cxnLst>
                <a:cxn ang="0">
                  <a:pos x="0" y="843"/>
                </a:cxn>
                <a:cxn ang="0">
                  <a:pos x="45" y="822"/>
                </a:cxn>
                <a:cxn ang="0">
                  <a:pos x="96" y="792"/>
                </a:cxn>
                <a:cxn ang="0">
                  <a:pos x="144" y="741"/>
                </a:cxn>
                <a:cxn ang="0">
                  <a:pos x="186" y="648"/>
                </a:cxn>
                <a:cxn ang="0">
                  <a:pos x="249" y="462"/>
                </a:cxn>
                <a:cxn ang="0">
                  <a:pos x="294" y="309"/>
                </a:cxn>
                <a:cxn ang="0">
                  <a:pos x="315" y="219"/>
                </a:cxn>
                <a:cxn ang="0">
                  <a:pos x="363" y="117"/>
                </a:cxn>
                <a:cxn ang="0">
                  <a:pos x="432" y="33"/>
                </a:cxn>
                <a:cxn ang="0">
                  <a:pos x="504" y="3"/>
                </a:cxn>
                <a:cxn ang="0">
                  <a:pos x="546" y="0"/>
                </a:cxn>
                <a:cxn ang="0">
                  <a:pos x="603" y="21"/>
                </a:cxn>
                <a:cxn ang="0">
                  <a:pos x="654" y="75"/>
                </a:cxn>
                <a:cxn ang="0">
                  <a:pos x="726" y="201"/>
                </a:cxn>
                <a:cxn ang="0">
                  <a:pos x="771" y="306"/>
                </a:cxn>
                <a:cxn ang="0">
                  <a:pos x="840" y="468"/>
                </a:cxn>
                <a:cxn ang="0">
                  <a:pos x="906" y="630"/>
                </a:cxn>
                <a:cxn ang="0">
                  <a:pos x="936" y="696"/>
                </a:cxn>
                <a:cxn ang="0">
                  <a:pos x="990" y="771"/>
                </a:cxn>
                <a:cxn ang="0">
                  <a:pos x="1053" y="837"/>
                </a:cxn>
                <a:cxn ang="0">
                  <a:pos x="0" y="843"/>
                </a:cxn>
              </a:cxnLst>
              <a:rect l="0" t="0" r="r" b="b"/>
              <a:pathLst>
                <a:path w="1053" h="843">
                  <a:moveTo>
                    <a:pt x="0" y="843"/>
                  </a:moveTo>
                  <a:lnTo>
                    <a:pt x="45" y="822"/>
                  </a:lnTo>
                  <a:lnTo>
                    <a:pt x="96" y="792"/>
                  </a:lnTo>
                  <a:lnTo>
                    <a:pt x="144" y="741"/>
                  </a:lnTo>
                  <a:lnTo>
                    <a:pt x="186" y="648"/>
                  </a:lnTo>
                  <a:lnTo>
                    <a:pt x="249" y="462"/>
                  </a:lnTo>
                  <a:lnTo>
                    <a:pt x="294" y="309"/>
                  </a:lnTo>
                  <a:lnTo>
                    <a:pt x="315" y="219"/>
                  </a:lnTo>
                  <a:lnTo>
                    <a:pt x="363" y="117"/>
                  </a:lnTo>
                  <a:lnTo>
                    <a:pt x="432" y="33"/>
                  </a:lnTo>
                  <a:lnTo>
                    <a:pt x="504" y="3"/>
                  </a:lnTo>
                  <a:lnTo>
                    <a:pt x="546" y="0"/>
                  </a:lnTo>
                  <a:lnTo>
                    <a:pt x="603" y="21"/>
                  </a:lnTo>
                  <a:lnTo>
                    <a:pt x="654" y="75"/>
                  </a:lnTo>
                  <a:lnTo>
                    <a:pt x="726" y="201"/>
                  </a:lnTo>
                  <a:lnTo>
                    <a:pt x="771" y="306"/>
                  </a:lnTo>
                  <a:lnTo>
                    <a:pt x="840" y="468"/>
                  </a:lnTo>
                  <a:lnTo>
                    <a:pt x="906" y="630"/>
                  </a:lnTo>
                  <a:lnTo>
                    <a:pt x="936" y="696"/>
                  </a:lnTo>
                  <a:lnTo>
                    <a:pt x="990" y="771"/>
                  </a:lnTo>
                  <a:lnTo>
                    <a:pt x="1053" y="837"/>
                  </a:lnTo>
                  <a:lnTo>
                    <a:pt x="0" y="843"/>
                  </a:lnTo>
                  <a:close/>
                </a:path>
              </a:pathLst>
            </a:custGeom>
            <a:solidFill>
              <a:schemeClr val="accent1"/>
            </a:solidFill>
            <a:ln w="127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60" name="Line 8"/>
            <p:cNvSpPr>
              <a:spLocks noChangeShapeType="1"/>
            </p:cNvSpPr>
            <p:nvPr/>
          </p:nvSpPr>
          <p:spPr bwMode="auto">
            <a:xfrm>
              <a:off x="1371" y="3039"/>
              <a:ext cx="8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61" name="Freeform 9"/>
            <p:cNvSpPr>
              <a:spLocks/>
            </p:cNvSpPr>
            <p:nvPr/>
          </p:nvSpPr>
          <p:spPr bwMode="auto">
            <a:xfrm>
              <a:off x="1866" y="3036"/>
              <a:ext cx="216" cy="1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8" y="42"/>
                </a:cxn>
                <a:cxn ang="0">
                  <a:pos x="102" y="81"/>
                </a:cxn>
                <a:cxn ang="0">
                  <a:pos x="177" y="135"/>
                </a:cxn>
                <a:cxn ang="0">
                  <a:pos x="216" y="159"/>
                </a:cxn>
              </a:cxnLst>
              <a:rect l="0" t="0" r="r" b="b"/>
              <a:pathLst>
                <a:path w="216" h="159">
                  <a:moveTo>
                    <a:pt x="0" y="0"/>
                  </a:moveTo>
                  <a:cubicBezTo>
                    <a:pt x="15" y="14"/>
                    <a:pt x="31" y="29"/>
                    <a:pt x="48" y="42"/>
                  </a:cubicBezTo>
                  <a:cubicBezTo>
                    <a:pt x="65" y="55"/>
                    <a:pt x="81" y="66"/>
                    <a:pt x="102" y="81"/>
                  </a:cubicBezTo>
                  <a:cubicBezTo>
                    <a:pt x="123" y="96"/>
                    <a:pt x="158" y="122"/>
                    <a:pt x="177" y="135"/>
                  </a:cubicBezTo>
                  <a:cubicBezTo>
                    <a:pt x="196" y="148"/>
                    <a:pt x="206" y="153"/>
                    <a:pt x="216" y="159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62" name="Freeform 10"/>
            <p:cNvSpPr>
              <a:spLocks/>
            </p:cNvSpPr>
            <p:nvPr/>
          </p:nvSpPr>
          <p:spPr bwMode="auto">
            <a:xfrm>
              <a:off x="2121" y="2997"/>
              <a:ext cx="222" cy="105"/>
            </a:xfrm>
            <a:custGeom>
              <a:avLst/>
              <a:gdLst/>
              <a:ahLst/>
              <a:cxnLst>
                <a:cxn ang="0">
                  <a:pos x="222" y="105"/>
                </a:cxn>
                <a:cxn ang="0">
                  <a:pos x="147" y="75"/>
                </a:cxn>
                <a:cxn ang="0">
                  <a:pos x="96" y="54"/>
                </a:cxn>
                <a:cxn ang="0">
                  <a:pos x="45" y="27"/>
                </a:cxn>
                <a:cxn ang="0">
                  <a:pos x="0" y="0"/>
                </a:cxn>
              </a:cxnLst>
              <a:rect l="0" t="0" r="r" b="b"/>
              <a:pathLst>
                <a:path w="222" h="105">
                  <a:moveTo>
                    <a:pt x="222" y="105"/>
                  </a:moveTo>
                  <a:cubicBezTo>
                    <a:pt x="195" y="94"/>
                    <a:pt x="168" y="83"/>
                    <a:pt x="147" y="75"/>
                  </a:cubicBezTo>
                  <a:cubicBezTo>
                    <a:pt x="126" y="67"/>
                    <a:pt x="113" y="62"/>
                    <a:pt x="96" y="54"/>
                  </a:cubicBezTo>
                  <a:cubicBezTo>
                    <a:pt x="79" y="46"/>
                    <a:pt x="61" y="36"/>
                    <a:pt x="45" y="27"/>
                  </a:cubicBezTo>
                  <a:cubicBezTo>
                    <a:pt x="29" y="18"/>
                    <a:pt x="14" y="9"/>
                    <a:pt x="0" y="0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63" name="Freeform 11"/>
            <p:cNvSpPr>
              <a:spLocks/>
            </p:cNvSpPr>
            <p:nvPr/>
          </p:nvSpPr>
          <p:spPr bwMode="auto">
            <a:xfrm>
              <a:off x="2013" y="3396"/>
              <a:ext cx="300" cy="129"/>
            </a:xfrm>
            <a:custGeom>
              <a:avLst/>
              <a:gdLst/>
              <a:ahLst/>
              <a:cxnLst>
                <a:cxn ang="0">
                  <a:pos x="300" y="129"/>
                </a:cxn>
                <a:cxn ang="0">
                  <a:pos x="156" y="72"/>
                </a:cxn>
                <a:cxn ang="0">
                  <a:pos x="72" y="36"/>
                </a:cxn>
                <a:cxn ang="0">
                  <a:pos x="0" y="0"/>
                </a:cxn>
              </a:cxnLst>
              <a:rect l="0" t="0" r="r" b="b"/>
              <a:pathLst>
                <a:path w="300" h="129">
                  <a:moveTo>
                    <a:pt x="300" y="129"/>
                  </a:moveTo>
                  <a:cubicBezTo>
                    <a:pt x="247" y="108"/>
                    <a:pt x="194" y="87"/>
                    <a:pt x="156" y="72"/>
                  </a:cubicBezTo>
                  <a:cubicBezTo>
                    <a:pt x="118" y="57"/>
                    <a:pt x="98" y="48"/>
                    <a:pt x="72" y="36"/>
                  </a:cubicBezTo>
                  <a:cubicBezTo>
                    <a:pt x="46" y="24"/>
                    <a:pt x="23" y="12"/>
                    <a:pt x="0" y="0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64" name="Line 12"/>
            <p:cNvSpPr>
              <a:spLocks noChangeShapeType="1"/>
            </p:cNvSpPr>
            <p:nvPr/>
          </p:nvSpPr>
          <p:spPr bwMode="auto">
            <a:xfrm flipH="1">
              <a:off x="1248" y="3399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65" name="Text Box 13"/>
            <p:cNvSpPr txBox="1">
              <a:spLocks noChangeArrowheads="1"/>
            </p:cNvSpPr>
            <p:nvPr/>
          </p:nvSpPr>
          <p:spPr bwMode="auto">
            <a:xfrm>
              <a:off x="2172" y="2877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  <p:sp>
          <p:nvSpPr>
            <p:cNvPr id="23566" name="Text Box 14"/>
            <p:cNvSpPr txBox="1">
              <a:spLocks noChangeArrowheads="1"/>
            </p:cNvSpPr>
            <p:nvPr/>
          </p:nvSpPr>
          <p:spPr bwMode="auto">
            <a:xfrm>
              <a:off x="2324" y="2973"/>
              <a:ext cx="41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400 C</a:t>
              </a:r>
            </a:p>
          </p:txBody>
        </p:sp>
        <p:sp>
          <p:nvSpPr>
            <p:cNvPr id="23567" name="Text Box 15"/>
            <p:cNvSpPr txBox="1">
              <a:spLocks noChangeArrowheads="1"/>
            </p:cNvSpPr>
            <p:nvPr/>
          </p:nvSpPr>
          <p:spPr bwMode="auto">
            <a:xfrm>
              <a:off x="2044" y="3143"/>
              <a:ext cx="50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179.9 C</a:t>
              </a:r>
            </a:p>
          </p:txBody>
        </p:sp>
        <p:sp>
          <p:nvSpPr>
            <p:cNvPr id="23568" name="Text Box 16"/>
            <p:cNvSpPr txBox="1">
              <a:spLocks noChangeArrowheads="1"/>
            </p:cNvSpPr>
            <p:nvPr/>
          </p:nvSpPr>
          <p:spPr bwMode="auto">
            <a:xfrm>
              <a:off x="2270" y="3421"/>
              <a:ext cx="41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150 C</a:t>
              </a:r>
            </a:p>
          </p:txBody>
        </p:sp>
        <p:sp>
          <p:nvSpPr>
            <p:cNvPr id="23569" name="Text Box 17"/>
            <p:cNvSpPr txBox="1">
              <a:spLocks noChangeArrowheads="1"/>
            </p:cNvSpPr>
            <p:nvPr/>
          </p:nvSpPr>
          <p:spPr bwMode="auto">
            <a:xfrm>
              <a:off x="792" y="2943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10</a:t>
              </a:r>
            </a:p>
          </p:txBody>
        </p:sp>
        <p:sp>
          <p:nvSpPr>
            <p:cNvPr id="23570" name="Text Box 18"/>
            <p:cNvSpPr txBox="1">
              <a:spLocks noChangeArrowheads="1"/>
            </p:cNvSpPr>
            <p:nvPr/>
          </p:nvSpPr>
          <p:spPr bwMode="auto">
            <a:xfrm>
              <a:off x="670" y="3307"/>
              <a:ext cx="39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4.758</a:t>
              </a:r>
            </a:p>
          </p:txBody>
        </p:sp>
        <p:sp>
          <p:nvSpPr>
            <p:cNvPr id="23571" name="Line 19"/>
            <p:cNvSpPr>
              <a:spLocks noChangeShapeType="1"/>
            </p:cNvSpPr>
            <p:nvPr/>
          </p:nvSpPr>
          <p:spPr bwMode="auto">
            <a:xfrm flipH="1">
              <a:off x="1038" y="3396"/>
              <a:ext cx="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72" name="Line 20"/>
            <p:cNvSpPr>
              <a:spLocks noChangeShapeType="1"/>
            </p:cNvSpPr>
            <p:nvPr/>
          </p:nvSpPr>
          <p:spPr bwMode="auto">
            <a:xfrm flipH="1">
              <a:off x="1044" y="3036"/>
              <a:ext cx="3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73" name="Text Box 21"/>
            <p:cNvSpPr txBox="1">
              <a:spLocks noChangeArrowheads="1"/>
            </p:cNvSpPr>
            <p:nvPr/>
          </p:nvSpPr>
          <p:spPr bwMode="auto">
            <a:xfrm rot="-5400000">
              <a:off x="216" y="2853"/>
              <a:ext cx="76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P</a:t>
              </a:r>
              <a:r>
                <a:rPr lang="en-US"/>
                <a:t> (10</a:t>
              </a:r>
              <a:r>
                <a:rPr lang="en-US" baseline="30000"/>
                <a:t>5</a:t>
              </a:r>
              <a:r>
                <a:rPr lang="en-US"/>
                <a:t> Pa)</a:t>
              </a:r>
            </a:p>
          </p:txBody>
        </p:sp>
        <p:sp>
          <p:nvSpPr>
            <p:cNvPr id="23574" name="Text Box 22"/>
            <p:cNvSpPr txBox="1">
              <a:spLocks noChangeArrowheads="1"/>
            </p:cNvSpPr>
            <p:nvPr/>
          </p:nvSpPr>
          <p:spPr bwMode="auto">
            <a:xfrm>
              <a:off x="1430" y="3683"/>
              <a:ext cx="68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v</a:t>
              </a:r>
              <a:r>
                <a:rPr lang="en-US"/>
                <a:t> (m</a:t>
              </a:r>
              <a:r>
                <a:rPr lang="en-US" baseline="30000"/>
                <a:t>3</a:t>
              </a:r>
              <a:r>
                <a:rPr lang="en-US"/>
                <a:t>/kg)</a:t>
              </a:r>
            </a:p>
          </p:txBody>
        </p:sp>
        <p:sp>
          <p:nvSpPr>
            <p:cNvPr id="23575" name="Freeform 23"/>
            <p:cNvSpPr>
              <a:spLocks/>
            </p:cNvSpPr>
            <p:nvPr/>
          </p:nvSpPr>
          <p:spPr bwMode="auto">
            <a:xfrm>
              <a:off x="1134" y="2694"/>
              <a:ext cx="237" cy="345"/>
            </a:xfrm>
            <a:custGeom>
              <a:avLst/>
              <a:gdLst/>
              <a:ahLst/>
              <a:cxnLst>
                <a:cxn ang="0">
                  <a:pos x="237" y="345"/>
                </a:cxn>
                <a:cxn ang="0">
                  <a:pos x="171" y="309"/>
                </a:cxn>
                <a:cxn ang="0">
                  <a:pos x="75" y="186"/>
                </a:cxn>
                <a:cxn ang="0">
                  <a:pos x="0" y="0"/>
                </a:cxn>
              </a:cxnLst>
              <a:rect l="0" t="0" r="r" b="b"/>
              <a:pathLst>
                <a:path w="237" h="345">
                  <a:moveTo>
                    <a:pt x="237" y="345"/>
                  </a:moveTo>
                  <a:cubicBezTo>
                    <a:pt x="217" y="340"/>
                    <a:pt x="198" y="335"/>
                    <a:pt x="171" y="309"/>
                  </a:cubicBezTo>
                  <a:cubicBezTo>
                    <a:pt x="144" y="283"/>
                    <a:pt x="103" y="237"/>
                    <a:pt x="75" y="186"/>
                  </a:cubicBezTo>
                  <a:cubicBezTo>
                    <a:pt x="47" y="135"/>
                    <a:pt x="12" y="3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hlink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Freeform 24"/>
            <p:cNvSpPr>
              <a:spLocks/>
            </p:cNvSpPr>
            <p:nvPr/>
          </p:nvSpPr>
          <p:spPr bwMode="auto">
            <a:xfrm>
              <a:off x="1134" y="3174"/>
              <a:ext cx="117" cy="222"/>
            </a:xfrm>
            <a:custGeom>
              <a:avLst/>
              <a:gdLst/>
              <a:ahLst/>
              <a:cxnLst>
                <a:cxn ang="0">
                  <a:pos x="117" y="222"/>
                </a:cxn>
                <a:cxn ang="0">
                  <a:pos x="51" y="153"/>
                </a:cxn>
                <a:cxn ang="0">
                  <a:pos x="0" y="0"/>
                </a:cxn>
              </a:cxnLst>
              <a:rect l="0" t="0" r="r" b="b"/>
              <a:pathLst>
                <a:path w="117" h="222">
                  <a:moveTo>
                    <a:pt x="117" y="222"/>
                  </a:moveTo>
                  <a:cubicBezTo>
                    <a:pt x="93" y="206"/>
                    <a:pt x="70" y="190"/>
                    <a:pt x="51" y="153"/>
                  </a:cubicBezTo>
                  <a:cubicBezTo>
                    <a:pt x="32" y="116"/>
                    <a:pt x="16" y="58"/>
                    <a:pt x="0" y="0"/>
                  </a:cubicBezTo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77" name="Oval 25"/>
            <p:cNvSpPr>
              <a:spLocks noChangeArrowheads="1"/>
            </p:cNvSpPr>
            <p:nvPr/>
          </p:nvSpPr>
          <p:spPr bwMode="auto">
            <a:xfrm>
              <a:off x="2170" y="3012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78" name="Group 26"/>
          <p:cNvGrpSpPr>
            <a:grpSpLocks/>
          </p:cNvGrpSpPr>
          <p:nvPr/>
        </p:nvGrpSpPr>
        <p:grpSpPr bwMode="auto">
          <a:xfrm>
            <a:off x="2435225" y="3084513"/>
            <a:ext cx="282575" cy="863600"/>
            <a:chOff x="1750" y="3039"/>
            <a:chExt cx="178" cy="544"/>
          </a:xfrm>
        </p:grpSpPr>
        <p:grpSp>
          <p:nvGrpSpPr>
            <p:cNvPr id="23579" name="Group 27"/>
            <p:cNvGrpSpPr>
              <a:grpSpLocks/>
            </p:cNvGrpSpPr>
            <p:nvPr/>
          </p:nvGrpSpPr>
          <p:grpSpPr bwMode="auto">
            <a:xfrm>
              <a:off x="1840" y="3039"/>
              <a:ext cx="56" cy="386"/>
              <a:chOff x="1840" y="3039"/>
              <a:chExt cx="56" cy="386"/>
            </a:xfrm>
          </p:grpSpPr>
          <p:sp>
            <p:nvSpPr>
              <p:cNvPr id="23580" name="Line 28"/>
              <p:cNvSpPr>
                <a:spLocks noChangeShapeType="1"/>
              </p:cNvSpPr>
              <p:nvPr/>
            </p:nvSpPr>
            <p:spPr bwMode="auto">
              <a:xfrm>
                <a:off x="1866" y="3039"/>
                <a:ext cx="0" cy="354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1" name="Oval 29"/>
              <p:cNvSpPr>
                <a:spLocks noChangeArrowheads="1"/>
              </p:cNvSpPr>
              <p:nvPr/>
            </p:nvSpPr>
            <p:spPr bwMode="auto">
              <a:xfrm>
                <a:off x="1840" y="3369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2" name="Line 30"/>
              <p:cNvSpPr>
                <a:spLocks noChangeShapeType="1"/>
              </p:cNvSpPr>
              <p:nvPr/>
            </p:nvSpPr>
            <p:spPr bwMode="auto">
              <a:xfrm>
                <a:off x="1866" y="3118"/>
                <a:ext cx="0" cy="16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583" name="Text Box 31"/>
            <p:cNvSpPr txBox="1">
              <a:spLocks noChangeArrowheads="1"/>
            </p:cNvSpPr>
            <p:nvPr/>
          </p:nvSpPr>
          <p:spPr bwMode="auto">
            <a:xfrm>
              <a:off x="1750" y="3391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3</a:t>
              </a:r>
            </a:p>
          </p:txBody>
        </p:sp>
      </p:grpSp>
      <p:grpSp>
        <p:nvGrpSpPr>
          <p:cNvPr id="23584" name="Group 32"/>
          <p:cNvGrpSpPr>
            <a:grpSpLocks/>
          </p:cNvGrpSpPr>
          <p:nvPr/>
        </p:nvGrpSpPr>
        <p:grpSpPr bwMode="auto">
          <a:xfrm>
            <a:off x="2520950" y="2779713"/>
            <a:ext cx="609600" cy="346075"/>
            <a:chOff x="1804" y="2847"/>
            <a:chExt cx="384" cy="218"/>
          </a:xfrm>
        </p:grpSpPr>
        <p:grpSp>
          <p:nvGrpSpPr>
            <p:cNvPr id="23585" name="Group 33"/>
            <p:cNvGrpSpPr>
              <a:grpSpLocks/>
            </p:cNvGrpSpPr>
            <p:nvPr/>
          </p:nvGrpSpPr>
          <p:grpSpPr bwMode="auto">
            <a:xfrm>
              <a:off x="1840" y="3009"/>
              <a:ext cx="348" cy="56"/>
              <a:chOff x="1984" y="2817"/>
              <a:chExt cx="348" cy="56"/>
            </a:xfrm>
          </p:grpSpPr>
          <p:sp>
            <p:nvSpPr>
              <p:cNvPr id="23586" name="Line 34"/>
              <p:cNvSpPr>
                <a:spLocks noChangeShapeType="1"/>
              </p:cNvSpPr>
              <p:nvPr/>
            </p:nvSpPr>
            <p:spPr bwMode="auto">
              <a:xfrm>
                <a:off x="2014" y="2848"/>
                <a:ext cx="318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7" name="Line 35"/>
              <p:cNvSpPr>
                <a:spLocks noChangeShapeType="1"/>
              </p:cNvSpPr>
              <p:nvPr/>
            </p:nvSpPr>
            <p:spPr bwMode="auto">
              <a:xfrm>
                <a:off x="2086" y="2846"/>
                <a:ext cx="186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 type="stealth" w="lg" len="lg"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8" name="Oval 36"/>
              <p:cNvSpPr>
                <a:spLocks noChangeArrowheads="1"/>
              </p:cNvSpPr>
              <p:nvPr/>
            </p:nvSpPr>
            <p:spPr bwMode="auto">
              <a:xfrm>
                <a:off x="1984" y="2817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589" name="Text Box 37"/>
            <p:cNvSpPr txBox="1">
              <a:spLocks noChangeArrowheads="1"/>
            </p:cNvSpPr>
            <p:nvPr/>
          </p:nvSpPr>
          <p:spPr bwMode="auto">
            <a:xfrm>
              <a:off x="1804" y="2847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2</a:t>
              </a:r>
            </a:p>
          </p:txBody>
        </p:sp>
      </p:grpSp>
      <p:sp>
        <p:nvSpPr>
          <p:cNvPr id="23590" name="Line 38"/>
          <p:cNvSpPr>
            <a:spLocks noChangeShapeType="1"/>
          </p:cNvSpPr>
          <p:nvPr/>
        </p:nvSpPr>
        <p:spPr bwMode="auto">
          <a:xfrm>
            <a:off x="1612900" y="3644900"/>
            <a:ext cx="12319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91" name="Line 39"/>
          <p:cNvSpPr>
            <a:spLocks noChangeShapeType="1"/>
          </p:cNvSpPr>
          <p:nvPr/>
        </p:nvSpPr>
        <p:spPr bwMode="auto">
          <a:xfrm>
            <a:off x="1638300" y="3644900"/>
            <a:ext cx="965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92" name="Line 40"/>
          <p:cNvSpPr>
            <a:spLocks noChangeShapeType="1"/>
          </p:cNvSpPr>
          <p:nvPr/>
        </p:nvSpPr>
        <p:spPr bwMode="auto">
          <a:xfrm>
            <a:off x="1638300" y="3632200"/>
            <a:ext cx="0" cy="965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93" name="Line 41"/>
          <p:cNvSpPr>
            <a:spLocks noChangeShapeType="1"/>
          </p:cNvSpPr>
          <p:nvPr/>
        </p:nvSpPr>
        <p:spPr bwMode="auto">
          <a:xfrm>
            <a:off x="2857500" y="3632200"/>
            <a:ext cx="0" cy="965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94" name="Line 42"/>
          <p:cNvSpPr>
            <a:spLocks noChangeShapeType="1"/>
          </p:cNvSpPr>
          <p:nvPr/>
        </p:nvSpPr>
        <p:spPr bwMode="auto">
          <a:xfrm>
            <a:off x="2616200" y="3670300"/>
            <a:ext cx="0" cy="965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95" name="Text Box 43"/>
          <p:cNvSpPr txBox="1">
            <a:spLocks noChangeArrowheads="1"/>
          </p:cNvSpPr>
          <p:nvPr/>
        </p:nvSpPr>
        <p:spPr bwMode="auto">
          <a:xfrm>
            <a:off x="1470025" y="4584700"/>
            <a:ext cx="3286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latin typeface="Times New Roman" pitchFamily="18" charset="0"/>
              </a:rPr>
              <a:t>v</a:t>
            </a:r>
            <a:r>
              <a:rPr lang="en-US" i="1" baseline="-25000">
                <a:latin typeface="Times New Roman" pitchFamily="18" charset="0"/>
              </a:rPr>
              <a:t>f</a:t>
            </a:r>
          </a:p>
        </p:txBody>
      </p:sp>
      <p:sp>
        <p:nvSpPr>
          <p:cNvPr id="23596" name="Text Box 44"/>
          <p:cNvSpPr txBox="1">
            <a:spLocks noChangeArrowheads="1"/>
          </p:cNvSpPr>
          <p:nvPr/>
        </p:nvSpPr>
        <p:spPr bwMode="auto">
          <a:xfrm>
            <a:off x="2740025" y="46101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i="1">
                <a:latin typeface="Times New Roman" pitchFamily="18" charset="0"/>
              </a:rPr>
              <a:t>v</a:t>
            </a:r>
            <a:r>
              <a:rPr lang="en-US" i="1" baseline="-25000">
                <a:latin typeface="Times New Roman" pitchFamily="18" charset="0"/>
              </a:rPr>
              <a:t>g</a:t>
            </a:r>
          </a:p>
        </p:txBody>
      </p:sp>
      <p:sp>
        <p:nvSpPr>
          <p:cNvPr id="23597" name="Text Box 45"/>
          <p:cNvSpPr txBox="1">
            <a:spLocks noChangeArrowheads="1"/>
          </p:cNvSpPr>
          <p:nvPr/>
        </p:nvSpPr>
        <p:spPr bwMode="auto">
          <a:xfrm>
            <a:off x="2409825" y="45212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i="1">
                <a:latin typeface="Times New Roman" pitchFamily="18" charset="0"/>
              </a:rPr>
              <a:t>v</a:t>
            </a:r>
            <a:r>
              <a:rPr lang="en-US" i="1" baseline="-25000">
                <a:latin typeface="Times New Roman" pitchFamily="18" charset="0"/>
              </a:rPr>
              <a:t>3</a:t>
            </a:r>
          </a:p>
        </p:txBody>
      </p:sp>
      <p:graphicFrame>
        <p:nvGraphicFramePr>
          <p:cNvPr id="23598" name="Object 46"/>
          <p:cNvGraphicFramePr>
            <a:graphicFrameLocks noChangeAspect="1"/>
          </p:cNvGraphicFramePr>
          <p:nvPr/>
        </p:nvGraphicFramePr>
        <p:xfrm>
          <a:off x="4102100" y="2882900"/>
          <a:ext cx="4546600" cy="762000"/>
        </p:xfrm>
        <a:graphic>
          <a:graphicData uri="http://schemas.openxmlformats.org/presentationml/2006/ole">
            <p:oleObj spid="_x0000_s23598" name="Equation" r:id="rId3" imgW="4546440" imgH="761760" progId="Equation.DSMT4">
              <p:embed/>
            </p:oleObj>
          </a:graphicData>
        </a:graphic>
      </p:graphicFrame>
      <p:graphicFrame>
        <p:nvGraphicFramePr>
          <p:cNvPr id="23599" name="Object 47"/>
          <p:cNvGraphicFramePr>
            <a:graphicFrameLocks noChangeAspect="1"/>
          </p:cNvGraphicFramePr>
          <p:nvPr/>
        </p:nvGraphicFramePr>
        <p:xfrm>
          <a:off x="508000" y="5575300"/>
          <a:ext cx="7950200" cy="635000"/>
        </p:xfrm>
        <a:graphic>
          <a:graphicData uri="http://schemas.openxmlformats.org/presentationml/2006/ole">
            <p:oleObj spid="_x0000_s23599" name="Equation" r:id="rId4" imgW="7949880" imgH="634680" progId="Equation.DSMT4">
              <p:embed/>
            </p:oleObj>
          </a:graphicData>
        </a:graphic>
      </p:graphicFrame>
      <p:sp>
        <p:nvSpPr>
          <p:cNvPr id="23600" name="Text Box 48"/>
          <p:cNvSpPr txBox="1">
            <a:spLocks noChangeArrowheads="1"/>
          </p:cNvSpPr>
          <p:nvPr/>
        </p:nvSpPr>
        <p:spPr bwMode="auto">
          <a:xfrm>
            <a:off x="4035425" y="5180013"/>
            <a:ext cx="971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Finally, </a:t>
            </a:r>
          </a:p>
        </p:txBody>
      </p:sp>
      <p:grpSp>
        <p:nvGrpSpPr>
          <p:cNvPr id="23601" name="Group 49"/>
          <p:cNvGrpSpPr>
            <a:grpSpLocks/>
          </p:cNvGrpSpPr>
          <p:nvPr/>
        </p:nvGrpSpPr>
        <p:grpSpPr bwMode="auto">
          <a:xfrm>
            <a:off x="3959225" y="2449513"/>
            <a:ext cx="4014788" cy="1246187"/>
            <a:chOff x="2494" y="1543"/>
            <a:chExt cx="2529" cy="785"/>
          </a:xfrm>
        </p:grpSpPr>
        <p:sp>
          <p:nvSpPr>
            <p:cNvPr id="23602" name="Text Box 50"/>
            <p:cNvSpPr txBox="1">
              <a:spLocks noChangeArrowheads="1"/>
            </p:cNvSpPr>
            <p:nvPr/>
          </p:nvSpPr>
          <p:spPr bwMode="auto">
            <a:xfrm>
              <a:off x="2494" y="1543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CC0000"/>
                  </a:solidFill>
                </a:rPr>
                <a:t>Table</a:t>
              </a:r>
            </a:p>
          </p:txBody>
        </p:sp>
        <p:grpSp>
          <p:nvGrpSpPr>
            <p:cNvPr id="23603" name="Group 51"/>
            <p:cNvGrpSpPr>
              <a:grpSpLocks/>
            </p:cNvGrpSpPr>
            <p:nvPr/>
          </p:nvGrpSpPr>
          <p:grpSpPr bwMode="auto">
            <a:xfrm>
              <a:off x="3152" y="1656"/>
              <a:ext cx="1871" cy="672"/>
              <a:chOff x="3152" y="1656"/>
              <a:chExt cx="1871" cy="672"/>
            </a:xfrm>
          </p:grpSpPr>
          <p:sp>
            <p:nvSpPr>
              <p:cNvPr id="23604" name="Freeform 52"/>
              <p:cNvSpPr>
                <a:spLocks/>
              </p:cNvSpPr>
              <p:nvPr/>
            </p:nvSpPr>
            <p:spPr bwMode="auto">
              <a:xfrm>
                <a:off x="3160" y="1656"/>
                <a:ext cx="1863" cy="392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152" y="8"/>
                  </a:cxn>
                  <a:cxn ang="0">
                    <a:pos x="600" y="56"/>
                  </a:cxn>
                  <a:cxn ang="0">
                    <a:pos x="1160" y="88"/>
                  </a:cxn>
                  <a:cxn ang="0">
                    <a:pos x="1584" y="96"/>
                  </a:cxn>
                  <a:cxn ang="0">
                    <a:pos x="1832" y="128"/>
                  </a:cxn>
                  <a:cxn ang="0">
                    <a:pos x="1768" y="304"/>
                  </a:cxn>
                  <a:cxn ang="0">
                    <a:pos x="1416" y="360"/>
                  </a:cxn>
                  <a:cxn ang="0">
                    <a:pos x="1136" y="360"/>
                  </a:cxn>
                  <a:cxn ang="0">
                    <a:pos x="976" y="360"/>
                  </a:cxn>
                  <a:cxn ang="0">
                    <a:pos x="912" y="344"/>
                  </a:cxn>
                  <a:cxn ang="0">
                    <a:pos x="904" y="72"/>
                  </a:cxn>
                </a:cxnLst>
                <a:rect l="0" t="0" r="r" b="b"/>
                <a:pathLst>
                  <a:path w="1863" h="392">
                    <a:moveTo>
                      <a:pt x="0" y="8"/>
                    </a:moveTo>
                    <a:cubicBezTo>
                      <a:pt x="26" y="4"/>
                      <a:pt x="52" y="0"/>
                      <a:pt x="152" y="8"/>
                    </a:cubicBezTo>
                    <a:cubicBezTo>
                      <a:pt x="252" y="16"/>
                      <a:pt x="432" y="43"/>
                      <a:pt x="600" y="56"/>
                    </a:cubicBezTo>
                    <a:cubicBezTo>
                      <a:pt x="768" y="69"/>
                      <a:pt x="996" y="81"/>
                      <a:pt x="1160" y="88"/>
                    </a:cubicBezTo>
                    <a:cubicBezTo>
                      <a:pt x="1324" y="95"/>
                      <a:pt x="1472" y="89"/>
                      <a:pt x="1584" y="96"/>
                    </a:cubicBezTo>
                    <a:cubicBezTo>
                      <a:pt x="1696" y="103"/>
                      <a:pt x="1801" y="93"/>
                      <a:pt x="1832" y="128"/>
                    </a:cubicBezTo>
                    <a:cubicBezTo>
                      <a:pt x="1863" y="163"/>
                      <a:pt x="1837" y="265"/>
                      <a:pt x="1768" y="304"/>
                    </a:cubicBezTo>
                    <a:cubicBezTo>
                      <a:pt x="1699" y="343"/>
                      <a:pt x="1521" y="351"/>
                      <a:pt x="1416" y="360"/>
                    </a:cubicBezTo>
                    <a:cubicBezTo>
                      <a:pt x="1311" y="369"/>
                      <a:pt x="1209" y="360"/>
                      <a:pt x="1136" y="360"/>
                    </a:cubicBezTo>
                    <a:cubicBezTo>
                      <a:pt x="1063" y="360"/>
                      <a:pt x="1013" y="363"/>
                      <a:pt x="976" y="360"/>
                    </a:cubicBezTo>
                    <a:cubicBezTo>
                      <a:pt x="939" y="357"/>
                      <a:pt x="924" y="392"/>
                      <a:pt x="912" y="344"/>
                    </a:cubicBezTo>
                    <a:cubicBezTo>
                      <a:pt x="900" y="296"/>
                      <a:pt x="902" y="184"/>
                      <a:pt x="904" y="72"/>
                    </a:cubicBezTo>
                  </a:path>
                </a:pathLst>
              </a:cu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5" name="Freeform 53"/>
              <p:cNvSpPr>
                <a:spLocks/>
              </p:cNvSpPr>
              <p:nvPr/>
            </p:nvSpPr>
            <p:spPr bwMode="auto">
              <a:xfrm>
                <a:off x="3152" y="1672"/>
                <a:ext cx="880" cy="656"/>
              </a:xfrm>
              <a:custGeom>
                <a:avLst/>
                <a:gdLst/>
                <a:ahLst/>
                <a:cxnLst>
                  <a:cxn ang="0">
                    <a:pos x="384" y="416"/>
                  </a:cxn>
                  <a:cxn ang="0">
                    <a:pos x="808" y="408"/>
                  </a:cxn>
                  <a:cxn ang="0">
                    <a:pos x="880" y="448"/>
                  </a:cxn>
                  <a:cxn ang="0">
                    <a:pos x="808" y="624"/>
                  </a:cxn>
                  <a:cxn ang="0">
                    <a:pos x="704" y="656"/>
                  </a:cxn>
                  <a:cxn ang="0">
                    <a:pos x="456" y="632"/>
                  </a:cxn>
                  <a:cxn ang="0">
                    <a:pos x="384" y="576"/>
                  </a:cxn>
                  <a:cxn ang="0">
                    <a:pos x="400" y="376"/>
                  </a:cxn>
                  <a:cxn ang="0">
                    <a:pos x="320" y="288"/>
                  </a:cxn>
                  <a:cxn ang="0">
                    <a:pos x="280" y="248"/>
                  </a:cxn>
                  <a:cxn ang="0">
                    <a:pos x="248" y="200"/>
                  </a:cxn>
                  <a:cxn ang="0">
                    <a:pos x="200" y="168"/>
                  </a:cxn>
                  <a:cxn ang="0">
                    <a:pos x="104" y="120"/>
                  </a:cxn>
                  <a:cxn ang="0">
                    <a:pos x="56" y="80"/>
                  </a:cxn>
                  <a:cxn ang="0">
                    <a:pos x="0" y="0"/>
                  </a:cxn>
                </a:cxnLst>
                <a:rect l="0" t="0" r="r" b="b"/>
                <a:pathLst>
                  <a:path w="880" h="656">
                    <a:moveTo>
                      <a:pt x="384" y="416"/>
                    </a:moveTo>
                    <a:cubicBezTo>
                      <a:pt x="534" y="378"/>
                      <a:pt x="599" y="403"/>
                      <a:pt x="808" y="408"/>
                    </a:cubicBezTo>
                    <a:cubicBezTo>
                      <a:pt x="846" y="421"/>
                      <a:pt x="866" y="406"/>
                      <a:pt x="880" y="448"/>
                    </a:cubicBezTo>
                    <a:cubicBezTo>
                      <a:pt x="871" y="485"/>
                      <a:pt x="847" y="602"/>
                      <a:pt x="808" y="624"/>
                    </a:cubicBezTo>
                    <a:cubicBezTo>
                      <a:pt x="780" y="640"/>
                      <a:pt x="736" y="648"/>
                      <a:pt x="704" y="656"/>
                    </a:cubicBezTo>
                    <a:cubicBezTo>
                      <a:pt x="616" y="651"/>
                      <a:pt x="540" y="649"/>
                      <a:pt x="456" y="632"/>
                    </a:cubicBezTo>
                    <a:cubicBezTo>
                      <a:pt x="423" y="615"/>
                      <a:pt x="414" y="596"/>
                      <a:pt x="384" y="576"/>
                    </a:cubicBezTo>
                    <a:cubicBezTo>
                      <a:pt x="378" y="501"/>
                      <a:pt x="377" y="446"/>
                      <a:pt x="400" y="376"/>
                    </a:cubicBezTo>
                    <a:cubicBezTo>
                      <a:pt x="378" y="344"/>
                      <a:pt x="352" y="310"/>
                      <a:pt x="320" y="288"/>
                    </a:cubicBezTo>
                    <a:cubicBezTo>
                      <a:pt x="256" y="192"/>
                      <a:pt x="355" y="333"/>
                      <a:pt x="280" y="248"/>
                    </a:cubicBezTo>
                    <a:cubicBezTo>
                      <a:pt x="267" y="234"/>
                      <a:pt x="259" y="216"/>
                      <a:pt x="248" y="200"/>
                    </a:cubicBezTo>
                    <a:cubicBezTo>
                      <a:pt x="237" y="184"/>
                      <a:pt x="216" y="178"/>
                      <a:pt x="200" y="168"/>
                    </a:cubicBezTo>
                    <a:cubicBezTo>
                      <a:pt x="168" y="148"/>
                      <a:pt x="141" y="129"/>
                      <a:pt x="104" y="120"/>
                    </a:cubicBezTo>
                    <a:cubicBezTo>
                      <a:pt x="89" y="105"/>
                      <a:pt x="70" y="96"/>
                      <a:pt x="56" y="80"/>
                    </a:cubicBezTo>
                    <a:cubicBezTo>
                      <a:pt x="34" y="55"/>
                      <a:pt x="23" y="23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3606" name="Group 54"/>
          <p:cNvGrpSpPr>
            <a:grpSpLocks/>
          </p:cNvGrpSpPr>
          <p:nvPr/>
        </p:nvGrpSpPr>
        <p:grpSpPr bwMode="auto">
          <a:xfrm>
            <a:off x="4048125" y="3795713"/>
            <a:ext cx="5035550" cy="1490662"/>
            <a:chOff x="2550" y="2399"/>
            <a:chExt cx="3172" cy="939"/>
          </a:xfrm>
        </p:grpSpPr>
        <p:sp>
          <p:nvSpPr>
            <p:cNvPr id="23607" name="Text Box 55"/>
            <p:cNvSpPr txBox="1">
              <a:spLocks noChangeArrowheads="1"/>
            </p:cNvSpPr>
            <p:nvPr/>
          </p:nvSpPr>
          <p:spPr bwMode="auto">
            <a:xfrm>
              <a:off x="2550" y="2399"/>
              <a:ext cx="3172" cy="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Then using the rule of mixtures we can evaluate</a:t>
              </a:r>
            </a:p>
            <a:p>
              <a:r>
                <a:rPr lang="en-US" sz="2000" i="1">
                  <a:latin typeface="Times New Roman" pitchFamily="18" charset="0"/>
                </a:rPr>
                <a:t>u</a:t>
              </a:r>
              <a:r>
                <a:rPr lang="en-US" sz="2000" i="1" baseline="-25000">
                  <a:latin typeface="Times New Roman" pitchFamily="18" charset="0"/>
                </a:rPr>
                <a:t>3</a:t>
              </a:r>
              <a:r>
                <a:rPr lang="en-US" sz="2000" i="1">
                  <a:latin typeface="Times New Roman" pitchFamily="18" charset="0"/>
                </a:rPr>
                <a:t>.</a:t>
              </a:r>
              <a:endParaRPr lang="en-US" sz="2000" i="1" baseline="-25000">
                <a:latin typeface="Times New Roman" pitchFamily="18" charset="0"/>
              </a:endParaRPr>
            </a:p>
          </p:txBody>
        </p:sp>
        <p:graphicFrame>
          <p:nvGraphicFramePr>
            <p:cNvPr id="23608" name="Object 56"/>
            <p:cNvGraphicFramePr>
              <a:graphicFrameLocks noChangeAspect="1"/>
            </p:cNvGraphicFramePr>
            <p:nvPr/>
          </p:nvGraphicFramePr>
          <p:xfrm>
            <a:off x="2796" y="2864"/>
            <a:ext cx="2280" cy="240"/>
          </p:xfrm>
          <a:graphic>
            <a:graphicData uri="http://schemas.openxmlformats.org/presentationml/2006/ole">
              <p:oleObj spid="_x0000_s23608" name="Equation" r:id="rId5" imgW="3619440" imgH="380880" progId="Equation.DSMT4">
                <p:embed/>
              </p:oleObj>
            </a:graphicData>
          </a:graphic>
        </p:graphicFrame>
        <p:sp>
          <p:nvSpPr>
            <p:cNvPr id="23609" name="Text Box 57"/>
            <p:cNvSpPr txBox="1">
              <a:spLocks noChangeArrowheads="1"/>
            </p:cNvSpPr>
            <p:nvPr/>
          </p:nvSpPr>
          <p:spPr bwMode="auto">
            <a:xfrm>
              <a:off x="3190" y="3126"/>
              <a:ext cx="50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CC0000"/>
                  </a:solidFill>
                </a:rPr>
                <a:t>631.68</a:t>
              </a:r>
            </a:p>
          </p:txBody>
        </p:sp>
        <p:sp>
          <p:nvSpPr>
            <p:cNvPr id="23610" name="Text Box 58"/>
            <p:cNvSpPr txBox="1">
              <a:spLocks noChangeArrowheads="1"/>
            </p:cNvSpPr>
            <p:nvPr/>
          </p:nvSpPr>
          <p:spPr bwMode="auto">
            <a:xfrm>
              <a:off x="3734" y="3126"/>
              <a:ext cx="50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CC0000"/>
                  </a:solidFill>
                </a:rPr>
                <a:t>2559.5</a:t>
              </a:r>
            </a:p>
          </p:txBody>
        </p:sp>
        <p:sp>
          <p:nvSpPr>
            <p:cNvPr id="23611" name="Line 59"/>
            <p:cNvSpPr>
              <a:spLocks noChangeShapeType="1"/>
            </p:cNvSpPr>
            <p:nvPr/>
          </p:nvSpPr>
          <p:spPr bwMode="auto">
            <a:xfrm flipH="1">
              <a:off x="3504" y="3064"/>
              <a:ext cx="40" cy="69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612" name="Line 60"/>
            <p:cNvSpPr>
              <a:spLocks noChangeShapeType="1"/>
            </p:cNvSpPr>
            <p:nvPr/>
          </p:nvSpPr>
          <p:spPr bwMode="auto">
            <a:xfrm>
              <a:off x="3952" y="3048"/>
              <a:ext cx="0" cy="8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613" name="Text Box 61"/>
          <p:cNvSpPr txBox="1">
            <a:spLocks noChangeArrowheads="1"/>
          </p:cNvSpPr>
          <p:nvPr/>
        </p:nvSpPr>
        <p:spPr bwMode="auto">
          <a:xfrm>
            <a:off x="5686425" y="6142038"/>
            <a:ext cx="2686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0000FF"/>
                </a:solidFill>
              </a:rPr>
              <a:t>The minus sign indicates that heat is </a:t>
            </a:r>
          </a:p>
          <a:p>
            <a:r>
              <a:rPr lang="en-US" sz="1200">
                <a:solidFill>
                  <a:srgbClr val="0000FF"/>
                </a:solidFill>
              </a:rPr>
              <a:t>transferred OUT of  the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2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2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2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90" grpId="0" animBg="1"/>
      <p:bldP spid="2360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1" name="Text Box 55"/>
          <p:cNvSpPr txBox="1">
            <a:spLocks noChangeArrowheads="1"/>
          </p:cNvSpPr>
          <p:nvPr/>
        </p:nvSpPr>
        <p:spPr bwMode="auto">
          <a:xfrm>
            <a:off x="276225" y="587375"/>
            <a:ext cx="85534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two-phase liquid-vapor mixture is initially at 5 bar in a closed container of</a:t>
            </a:r>
          </a:p>
          <a:p>
            <a:r>
              <a:rPr lang="en-US"/>
              <a:t>volume 0.2 m</a:t>
            </a:r>
            <a:r>
              <a:rPr lang="en-US" baseline="30000"/>
              <a:t>3</a:t>
            </a:r>
            <a:r>
              <a:rPr lang="en-US"/>
              <a:t> and “quality”, x = 0.10.  The system is heated until only saturated</a:t>
            </a:r>
          </a:p>
          <a:p>
            <a:r>
              <a:rPr lang="en-US"/>
              <a:t>water remains.  Determine the mass of the water in the tank and the final pressure.</a:t>
            </a:r>
          </a:p>
        </p:txBody>
      </p:sp>
      <p:sp>
        <p:nvSpPr>
          <p:cNvPr id="24632" name="Rectangle 56"/>
          <p:cNvSpPr>
            <a:spLocks noChangeArrowheads="1"/>
          </p:cNvSpPr>
          <p:nvPr/>
        </p:nvSpPr>
        <p:spPr bwMode="auto">
          <a:xfrm>
            <a:off x="619125" y="1990725"/>
            <a:ext cx="958850" cy="958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633" name="Rectangle 57"/>
          <p:cNvSpPr>
            <a:spLocks noChangeArrowheads="1"/>
          </p:cNvSpPr>
          <p:nvPr/>
        </p:nvSpPr>
        <p:spPr bwMode="auto">
          <a:xfrm>
            <a:off x="557213" y="1928813"/>
            <a:ext cx="1077912" cy="10779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634" name="Text Box 58"/>
          <p:cNvSpPr txBox="1">
            <a:spLocks noChangeArrowheads="1"/>
          </p:cNvSpPr>
          <p:nvPr/>
        </p:nvSpPr>
        <p:spPr bwMode="auto">
          <a:xfrm>
            <a:off x="806450" y="2225675"/>
            <a:ext cx="611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H</a:t>
            </a:r>
            <a:r>
              <a:rPr lang="en-US" baseline="-25000"/>
              <a:t>2</a:t>
            </a:r>
            <a:r>
              <a:rPr lang="en-US"/>
              <a:t>O</a:t>
            </a:r>
          </a:p>
        </p:txBody>
      </p:sp>
      <p:sp>
        <p:nvSpPr>
          <p:cNvPr id="24635" name="Text Box 59"/>
          <p:cNvSpPr txBox="1">
            <a:spLocks noChangeArrowheads="1"/>
          </p:cNvSpPr>
          <p:nvPr/>
        </p:nvSpPr>
        <p:spPr bwMode="auto">
          <a:xfrm>
            <a:off x="2120900" y="1797050"/>
            <a:ext cx="2751138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Given Data</a:t>
            </a:r>
          </a:p>
          <a:p>
            <a:r>
              <a:rPr lang="en-US"/>
              <a:t>V = 0.2 m</a:t>
            </a:r>
            <a:r>
              <a:rPr lang="en-US" baseline="30000"/>
              <a:t>3</a:t>
            </a:r>
            <a:r>
              <a:rPr lang="en-US"/>
              <a:t> </a:t>
            </a:r>
          </a:p>
          <a:p>
            <a:r>
              <a:rPr lang="en-US"/>
              <a:t>P</a:t>
            </a:r>
            <a:r>
              <a:rPr lang="en-US" baseline="-25000"/>
              <a:t>1</a:t>
            </a:r>
            <a:r>
              <a:rPr lang="en-US"/>
              <a:t>= 5 bar</a:t>
            </a:r>
          </a:p>
          <a:p>
            <a:r>
              <a:rPr lang="en-US"/>
              <a:t>x</a:t>
            </a:r>
            <a:r>
              <a:rPr lang="en-US" baseline="-25000"/>
              <a:t>1  </a:t>
            </a:r>
            <a:r>
              <a:rPr lang="en-US"/>
              <a:t>= 0.10</a:t>
            </a:r>
          </a:p>
          <a:p>
            <a:r>
              <a:rPr lang="en-US"/>
              <a:t>x</a:t>
            </a:r>
            <a:r>
              <a:rPr lang="en-US" baseline="-25000"/>
              <a:t>2</a:t>
            </a:r>
            <a:r>
              <a:rPr lang="en-US"/>
              <a:t> = 1.0 (saturated water)</a:t>
            </a:r>
          </a:p>
        </p:txBody>
      </p:sp>
      <p:sp>
        <p:nvSpPr>
          <p:cNvPr id="24637" name="Text Box 61"/>
          <p:cNvSpPr txBox="1">
            <a:spLocks noChangeArrowheads="1"/>
          </p:cNvSpPr>
          <p:nvPr/>
        </p:nvSpPr>
        <p:spPr bwMode="auto">
          <a:xfrm>
            <a:off x="5100638" y="1752600"/>
            <a:ext cx="35496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u="sng">
                <a:solidFill>
                  <a:srgbClr val="CC0000"/>
                </a:solidFill>
              </a:rPr>
              <a:t>Using the Table:</a:t>
            </a:r>
          </a:p>
          <a:p>
            <a:r>
              <a:rPr lang="en-US">
                <a:solidFill>
                  <a:srgbClr val="CC0000"/>
                </a:solidFill>
              </a:rPr>
              <a:t>State 1: </a:t>
            </a:r>
          </a:p>
          <a:p>
            <a:r>
              <a:rPr lang="en-US">
                <a:solidFill>
                  <a:srgbClr val="CC0000"/>
                </a:solidFill>
              </a:rPr>
              <a:t>v</a:t>
            </a:r>
            <a:r>
              <a:rPr lang="en-US" baseline="-25000">
                <a:solidFill>
                  <a:srgbClr val="CC0000"/>
                </a:solidFill>
              </a:rPr>
              <a:t>f1</a:t>
            </a:r>
            <a:r>
              <a:rPr lang="en-US">
                <a:solidFill>
                  <a:srgbClr val="CC0000"/>
                </a:solidFill>
              </a:rPr>
              <a:t>= 1.0296 x 10</a:t>
            </a:r>
            <a:r>
              <a:rPr lang="en-US" baseline="30000">
                <a:solidFill>
                  <a:srgbClr val="CC0000"/>
                </a:solidFill>
              </a:rPr>
              <a:t>-3</a:t>
            </a:r>
            <a:r>
              <a:rPr lang="en-US">
                <a:solidFill>
                  <a:srgbClr val="CC0000"/>
                </a:solidFill>
              </a:rPr>
              <a:t> m</a:t>
            </a:r>
            <a:r>
              <a:rPr lang="en-US" baseline="30000">
                <a:solidFill>
                  <a:srgbClr val="CC0000"/>
                </a:solidFill>
              </a:rPr>
              <a:t>3</a:t>
            </a:r>
            <a:r>
              <a:rPr lang="en-US">
                <a:solidFill>
                  <a:srgbClr val="CC0000"/>
                </a:solidFill>
              </a:rPr>
              <a:t>/kg</a:t>
            </a:r>
          </a:p>
          <a:p>
            <a:r>
              <a:rPr lang="en-US">
                <a:solidFill>
                  <a:srgbClr val="CC0000"/>
                </a:solidFill>
              </a:rPr>
              <a:t>v</a:t>
            </a:r>
            <a:r>
              <a:rPr lang="en-US" baseline="-25000">
                <a:solidFill>
                  <a:srgbClr val="CC0000"/>
                </a:solidFill>
              </a:rPr>
              <a:t>g1</a:t>
            </a:r>
            <a:r>
              <a:rPr lang="en-US">
                <a:solidFill>
                  <a:srgbClr val="CC0000"/>
                </a:solidFill>
              </a:rPr>
              <a:t>= 0.3749 m</a:t>
            </a:r>
            <a:r>
              <a:rPr lang="en-US" baseline="30000">
                <a:solidFill>
                  <a:srgbClr val="CC0000"/>
                </a:solidFill>
              </a:rPr>
              <a:t>3</a:t>
            </a:r>
            <a:r>
              <a:rPr lang="en-US">
                <a:solidFill>
                  <a:srgbClr val="CC0000"/>
                </a:solidFill>
              </a:rPr>
              <a:t>/kg</a:t>
            </a:r>
          </a:p>
        </p:txBody>
      </p:sp>
      <p:grpSp>
        <p:nvGrpSpPr>
          <p:cNvPr id="24646" name="Group 70"/>
          <p:cNvGrpSpPr>
            <a:grpSpLocks/>
          </p:cNvGrpSpPr>
          <p:nvPr/>
        </p:nvGrpSpPr>
        <p:grpSpPr bwMode="auto">
          <a:xfrm>
            <a:off x="274638" y="4057650"/>
            <a:ext cx="3602037" cy="2620963"/>
            <a:chOff x="173" y="2556"/>
            <a:chExt cx="2269" cy="1651"/>
          </a:xfrm>
        </p:grpSpPr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>
              <a:off x="725" y="2556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582" name="Line 6"/>
            <p:cNvSpPr>
              <a:spLocks noChangeShapeType="1"/>
            </p:cNvSpPr>
            <p:nvPr/>
          </p:nvSpPr>
          <p:spPr bwMode="auto">
            <a:xfrm>
              <a:off x="725" y="3612"/>
              <a:ext cx="13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583" name="Freeform 7"/>
            <p:cNvSpPr>
              <a:spLocks/>
            </p:cNvSpPr>
            <p:nvPr/>
          </p:nvSpPr>
          <p:spPr bwMode="auto">
            <a:xfrm>
              <a:off x="770" y="2685"/>
              <a:ext cx="1053" cy="843"/>
            </a:xfrm>
            <a:custGeom>
              <a:avLst/>
              <a:gdLst/>
              <a:ahLst/>
              <a:cxnLst>
                <a:cxn ang="0">
                  <a:pos x="0" y="843"/>
                </a:cxn>
                <a:cxn ang="0">
                  <a:pos x="45" y="822"/>
                </a:cxn>
                <a:cxn ang="0">
                  <a:pos x="96" y="792"/>
                </a:cxn>
                <a:cxn ang="0">
                  <a:pos x="144" y="741"/>
                </a:cxn>
                <a:cxn ang="0">
                  <a:pos x="186" y="648"/>
                </a:cxn>
                <a:cxn ang="0">
                  <a:pos x="249" y="462"/>
                </a:cxn>
                <a:cxn ang="0">
                  <a:pos x="294" y="309"/>
                </a:cxn>
                <a:cxn ang="0">
                  <a:pos x="315" y="219"/>
                </a:cxn>
                <a:cxn ang="0">
                  <a:pos x="363" y="117"/>
                </a:cxn>
                <a:cxn ang="0">
                  <a:pos x="432" y="33"/>
                </a:cxn>
                <a:cxn ang="0">
                  <a:pos x="504" y="3"/>
                </a:cxn>
                <a:cxn ang="0">
                  <a:pos x="546" y="0"/>
                </a:cxn>
                <a:cxn ang="0">
                  <a:pos x="603" y="21"/>
                </a:cxn>
                <a:cxn ang="0">
                  <a:pos x="654" y="75"/>
                </a:cxn>
                <a:cxn ang="0">
                  <a:pos x="726" y="201"/>
                </a:cxn>
                <a:cxn ang="0">
                  <a:pos x="771" y="306"/>
                </a:cxn>
                <a:cxn ang="0">
                  <a:pos x="840" y="468"/>
                </a:cxn>
                <a:cxn ang="0">
                  <a:pos x="906" y="630"/>
                </a:cxn>
                <a:cxn ang="0">
                  <a:pos x="936" y="696"/>
                </a:cxn>
                <a:cxn ang="0">
                  <a:pos x="990" y="771"/>
                </a:cxn>
                <a:cxn ang="0">
                  <a:pos x="1053" y="837"/>
                </a:cxn>
                <a:cxn ang="0">
                  <a:pos x="0" y="843"/>
                </a:cxn>
              </a:cxnLst>
              <a:rect l="0" t="0" r="r" b="b"/>
              <a:pathLst>
                <a:path w="1053" h="843">
                  <a:moveTo>
                    <a:pt x="0" y="843"/>
                  </a:moveTo>
                  <a:lnTo>
                    <a:pt x="45" y="822"/>
                  </a:lnTo>
                  <a:lnTo>
                    <a:pt x="96" y="792"/>
                  </a:lnTo>
                  <a:lnTo>
                    <a:pt x="144" y="741"/>
                  </a:lnTo>
                  <a:lnTo>
                    <a:pt x="186" y="648"/>
                  </a:lnTo>
                  <a:lnTo>
                    <a:pt x="249" y="462"/>
                  </a:lnTo>
                  <a:lnTo>
                    <a:pt x="294" y="309"/>
                  </a:lnTo>
                  <a:lnTo>
                    <a:pt x="315" y="219"/>
                  </a:lnTo>
                  <a:lnTo>
                    <a:pt x="363" y="117"/>
                  </a:lnTo>
                  <a:lnTo>
                    <a:pt x="432" y="33"/>
                  </a:lnTo>
                  <a:lnTo>
                    <a:pt x="504" y="3"/>
                  </a:lnTo>
                  <a:lnTo>
                    <a:pt x="546" y="0"/>
                  </a:lnTo>
                  <a:lnTo>
                    <a:pt x="603" y="21"/>
                  </a:lnTo>
                  <a:lnTo>
                    <a:pt x="654" y="75"/>
                  </a:lnTo>
                  <a:lnTo>
                    <a:pt x="726" y="201"/>
                  </a:lnTo>
                  <a:lnTo>
                    <a:pt x="771" y="306"/>
                  </a:lnTo>
                  <a:lnTo>
                    <a:pt x="840" y="468"/>
                  </a:lnTo>
                  <a:lnTo>
                    <a:pt x="906" y="630"/>
                  </a:lnTo>
                  <a:lnTo>
                    <a:pt x="936" y="696"/>
                  </a:lnTo>
                  <a:lnTo>
                    <a:pt x="990" y="771"/>
                  </a:lnTo>
                  <a:lnTo>
                    <a:pt x="1053" y="837"/>
                  </a:lnTo>
                  <a:lnTo>
                    <a:pt x="0" y="843"/>
                  </a:lnTo>
                  <a:close/>
                </a:path>
              </a:pathLst>
            </a:custGeom>
            <a:solidFill>
              <a:schemeClr val="accent1"/>
            </a:solidFill>
            <a:ln w="127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584" name="Line 8"/>
            <p:cNvSpPr>
              <a:spLocks noChangeShapeType="1"/>
            </p:cNvSpPr>
            <p:nvPr/>
          </p:nvSpPr>
          <p:spPr bwMode="auto">
            <a:xfrm>
              <a:off x="1055" y="3013"/>
              <a:ext cx="8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593" name="Text Box 17"/>
            <p:cNvSpPr txBox="1">
              <a:spLocks noChangeArrowheads="1"/>
            </p:cNvSpPr>
            <p:nvPr/>
          </p:nvSpPr>
          <p:spPr bwMode="auto">
            <a:xfrm>
              <a:off x="479" y="2919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rgbClr val="CC0000"/>
                  </a:solidFill>
                </a:rPr>
                <a:t>?</a:t>
              </a:r>
            </a:p>
          </p:txBody>
        </p:sp>
        <p:sp>
          <p:nvSpPr>
            <p:cNvPr id="24594" name="Text Box 18"/>
            <p:cNvSpPr txBox="1">
              <a:spLocks noChangeArrowheads="1"/>
            </p:cNvSpPr>
            <p:nvPr/>
          </p:nvSpPr>
          <p:spPr bwMode="auto">
            <a:xfrm>
              <a:off x="456" y="3283"/>
              <a:ext cx="2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5.0</a:t>
              </a:r>
            </a:p>
          </p:txBody>
        </p:sp>
        <p:sp>
          <p:nvSpPr>
            <p:cNvPr id="24595" name="Line 19"/>
            <p:cNvSpPr>
              <a:spLocks noChangeShapeType="1"/>
            </p:cNvSpPr>
            <p:nvPr/>
          </p:nvSpPr>
          <p:spPr bwMode="auto">
            <a:xfrm flipH="1">
              <a:off x="725" y="3372"/>
              <a:ext cx="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596" name="Line 20"/>
            <p:cNvSpPr>
              <a:spLocks noChangeShapeType="1"/>
            </p:cNvSpPr>
            <p:nvPr/>
          </p:nvSpPr>
          <p:spPr bwMode="auto">
            <a:xfrm flipH="1">
              <a:off x="731" y="3012"/>
              <a:ext cx="3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597" name="Text Box 21"/>
            <p:cNvSpPr txBox="1">
              <a:spLocks noChangeArrowheads="1"/>
            </p:cNvSpPr>
            <p:nvPr/>
          </p:nvSpPr>
          <p:spPr bwMode="auto">
            <a:xfrm rot="-5400000">
              <a:off x="15" y="2939"/>
              <a:ext cx="5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P</a:t>
              </a:r>
              <a:r>
                <a:rPr lang="en-US"/>
                <a:t> (bar)</a:t>
              </a:r>
            </a:p>
          </p:txBody>
        </p:sp>
        <p:sp>
          <p:nvSpPr>
            <p:cNvPr id="24614" name="Line 38"/>
            <p:cNvSpPr>
              <a:spLocks noChangeShapeType="1"/>
            </p:cNvSpPr>
            <p:nvPr/>
          </p:nvSpPr>
          <p:spPr bwMode="auto">
            <a:xfrm>
              <a:off x="956" y="3377"/>
              <a:ext cx="77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16" name="Line 40"/>
            <p:cNvSpPr>
              <a:spLocks noChangeShapeType="1"/>
            </p:cNvSpPr>
            <p:nvPr/>
          </p:nvSpPr>
          <p:spPr bwMode="auto">
            <a:xfrm>
              <a:off x="935" y="3360"/>
              <a:ext cx="0" cy="6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17" name="Line 41"/>
            <p:cNvSpPr>
              <a:spLocks noChangeShapeType="1"/>
            </p:cNvSpPr>
            <p:nvPr/>
          </p:nvSpPr>
          <p:spPr bwMode="auto">
            <a:xfrm>
              <a:off x="1703" y="3360"/>
              <a:ext cx="0" cy="6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18" name="Line 42"/>
            <p:cNvSpPr>
              <a:spLocks noChangeShapeType="1"/>
            </p:cNvSpPr>
            <p:nvPr/>
          </p:nvSpPr>
          <p:spPr bwMode="auto">
            <a:xfrm>
              <a:off x="1551" y="2595"/>
              <a:ext cx="0" cy="1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19" name="Text Box 43"/>
            <p:cNvSpPr txBox="1">
              <a:spLocks noChangeArrowheads="1"/>
            </p:cNvSpPr>
            <p:nvPr/>
          </p:nvSpPr>
          <p:spPr bwMode="auto">
            <a:xfrm>
              <a:off x="829" y="3960"/>
              <a:ext cx="27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v</a:t>
              </a:r>
              <a:r>
                <a:rPr lang="en-US" i="1" baseline="-25000">
                  <a:latin typeface="Times New Roman" pitchFamily="18" charset="0"/>
                </a:rPr>
                <a:t>f1</a:t>
              </a:r>
            </a:p>
          </p:txBody>
        </p:sp>
        <p:sp>
          <p:nvSpPr>
            <p:cNvPr id="24620" name="Text Box 44"/>
            <p:cNvSpPr txBox="1">
              <a:spLocks noChangeArrowheads="1"/>
            </p:cNvSpPr>
            <p:nvPr/>
          </p:nvSpPr>
          <p:spPr bwMode="auto">
            <a:xfrm>
              <a:off x="1629" y="3976"/>
              <a:ext cx="34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v</a:t>
              </a:r>
              <a:r>
                <a:rPr lang="en-US" i="1" baseline="-25000">
                  <a:latin typeface="Times New Roman" pitchFamily="18" charset="0"/>
                </a:rPr>
                <a:t>g1</a:t>
              </a:r>
            </a:p>
          </p:txBody>
        </p:sp>
        <p:sp>
          <p:nvSpPr>
            <p:cNvPr id="24622" name="Line 46"/>
            <p:cNvSpPr>
              <a:spLocks noChangeShapeType="1"/>
            </p:cNvSpPr>
            <p:nvPr/>
          </p:nvSpPr>
          <p:spPr bwMode="auto">
            <a:xfrm>
              <a:off x="1679" y="337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23" name="Text Box 47"/>
            <p:cNvSpPr txBox="1">
              <a:spLocks noChangeArrowheads="1"/>
            </p:cNvSpPr>
            <p:nvPr/>
          </p:nvSpPr>
          <p:spPr bwMode="auto">
            <a:xfrm>
              <a:off x="2159" y="3280"/>
              <a:ext cx="23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P</a:t>
              </a:r>
              <a:r>
                <a:rPr lang="en-US" sz="1400" baseline="-25000"/>
                <a:t>1</a:t>
              </a:r>
            </a:p>
          </p:txBody>
        </p:sp>
        <p:sp>
          <p:nvSpPr>
            <p:cNvPr id="24624" name="Text Box 48"/>
            <p:cNvSpPr txBox="1">
              <a:spLocks noChangeArrowheads="1"/>
            </p:cNvSpPr>
            <p:nvPr/>
          </p:nvSpPr>
          <p:spPr bwMode="auto">
            <a:xfrm>
              <a:off x="1967" y="2944"/>
              <a:ext cx="47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CC0000"/>
                  </a:solidFill>
                </a:rPr>
                <a:t>P</a:t>
              </a:r>
              <a:r>
                <a:rPr lang="en-US" sz="1400" baseline="-25000">
                  <a:solidFill>
                    <a:srgbClr val="CC0000"/>
                  </a:solidFill>
                </a:rPr>
                <a:t>2</a:t>
              </a:r>
              <a:r>
                <a:rPr lang="en-US" sz="1400">
                  <a:solidFill>
                    <a:srgbClr val="CC0000"/>
                  </a:solidFill>
                </a:rPr>
                <a:t> =?</a:t>
              </a:r>
              <a:endParaRPr lang="en-US" sz="1400" baseline="-25000">
                <a:solidFill>
                  <a:srgbClr val="CC0000"/>
                </a:solidFill>
              </a:endParaRPr>
            </a:p>
          </p:txBody>
        </p:sp>
        <p:sp>
          <p:nvSpPr>
            <p:cNvPr id="24625" name="Text Box 49"/>
            <p:cNvSpPr txBox="1">
              <a:spLocks noChangeArrowheads="1"/>
            </p:cNvSpPr>
            <p:nvPr/>
          </p:nvSpPr>
          <p:spPr bwMode="auto">
            <a:xfrm>
              <a:off x="2028" y="3504"/>
              <a:ext cx="26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v</a:t>
              </a:r>
              <a:endParaRPr lang="en-US" i="1" baseline="-25000">
                <a:latin typeface="Times New Roman" pitchFamily="18" charset="0"/>
              </a:endParaRPr>
            </a:p>
          </p:txBody>
        </p:sp>
        <p:sp>
          <p:nvSpPr>
            <p:cNvPr id="24627" name="Oval 51"/>
            <p:cNvSpPr>
              <a:spLocks noChangeArrowheads="1"/>
            </p:cNvSpPr>
            <p:nvPr/>
          </p:nvSpPr>
          <p:spPr bwMode="auto">
            <a:xfrm>
              <a:off x="1527" y="3341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8" name="Oval 52"/>
            <p:cNvSpPr>
              <a:spLocks noChangeArrowheads="1"/>
            </p:cNvSpPr>
            <p:nvPr/>
          </p:nvSpPr>
          <p:spPr bwMode="auto">
            <a:xfrm>
              <a:off x="1524" y="2996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9" name="Text Box 53"/>
            <p:cNvSpPr txBox="1">
              <a:spLocks noChangeArrowheads="1"/>
            </p:cNvSpPr>
            <p:nvPr/>
          </p:nvSpPr>
          <p:spPr bwMode="auto">
            <a:xfrm>
              <a:off x="1371" y="2986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2</a:t>
              </a:r>
              <a:endParaRPr lang="en-US" sz="1400" baseline="-25000"/>
            </a:p>
          </p:txBody>
        </p:sp>
        <p:sp>
          <p:nvSpPr>
            <p:cNvPr id="24630" name="Text Box 54"/>
            <p:cNvSpPr txBox="1">
              <a:spLocks noChangeArrowheads="1"/>
            </p:cNvSpPr>
            <p:nvPr/>
          </p:nvSpPr>
          <p:spPr bwMode="auto">
            <a:xfrm>
              <a:off x="1366" y="336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  <a:endParaRPr lang="en-US" sz="1400" baseline="-25000"/>
            </a:p>
          </p:txBody>
        </p:sp>
        <p:sp>
          <p:nvSpPr>
            <p:cNvPr id="24638" name="Text Box 62"/>
            <p:cNvSpPr txBox="1">
              <a:spLocks noChangeArrowheads="1"/>
            </p:cNvSpPr>
            <p:nvPr/>
          </p:nvSpPr>
          <p:spPr bwMode="auto">
            <a:xfrm>
              <a:off x="1456" y="3933"/>
              <a:ext cx="34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v</a:t>
              </a:r>
              <a:endParaRPr lang="en-US" i="1" baseline="-25000">
                <a:latin typeface="Times New Roman" pitchFamily="18" charset="0"/>
              </a:endParaRPr>
            </a:p>
          </p:txBody>
        </p:sp>
      </p:grpSp>
      <p:sp>
        <p:nvSpPr>
          <p:cNvPr id="24640" name="Line 64"/>
          <p:cNvSpPr>
            <a:spLocks noChangeShapeType="1"/>
          </p:cNvSpPr>
          <p:nvPr/>
        </p:nvSpPr>
        <p:spPr bwMode="auto">
          <a:xfrm flipV="1">
            <a:off x="2462213" y="4806950"/>
            <a:ext cx="0" cy="5016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4647" name="Group 71"/>
          <p:cNvGrpSpPr>
            <a:grpSpLocks/>
          </p:cNvGrpSpPr>
          <p:nvPr/>
        </p:nvGrpSpPr>
        <p:grpSpPr bwMode="auto">
          <a:xfrm>
            <a:off x="4986338" y="3846513"/>
            <a:ext cx="3060700" cy="1565275"/>
            <a:chOff x="3141" y="2423"/>
            <a:chExt cx="1928" cy="986"/>
          </a:xfrm>
        </p:grpSpPr>
        <p:graphicFrame>
          <p:nvGraphicFramePr>
            <p:cNvPr id="24639" name="Object 63"/>
            <p:cNvGraphicFramePr>
              <a:graphicFrameLocks noChangeAspect="1"/>
            </p:cNvGraphicFramePr>
            <p:nvPr/>
          </p:nvGraphicFramePr>
          <p:xfrm>
            <a:off x="3141" y="2423"/>
            <a:ext cx="1928" cy="208"/>
          </p:xfrm>
          <a:graphic>
            <a:graphicData uri="http://schemas.openxmlformats.org/presentationml/2006/ole">
              <p:oleObj spid="_x0000_s24639" name="Equation" r:id="rId3" imgW="3060360" imgH="330120" progId="Equation.DSMT4">
                <p:embed/>
              </p:oleObj>
            </a:graphicData>
          </a:graphic>
        </p:graphicFrame>
        <p:graphicFrame>
          <p:nvGraphicFramePr>
            <p:cNvPr id="24641" name="Object 65"/>
            <p:cNvGraphicFramePr>
              <a:graphicFrameLocks noChangeAspect="1"/>
            </p:cNvGraphicFramePr>
            <p:nvPr/>
          </p:nvGraphicFramePr>
          <p:xfrm>
            <a:off x="3264" y="2689"/>
            <a:ext cx="1736" cy="720"/>
          </p:xfrm>
          <a:graphic>
            <a:graphicData uri="http://schemas.openxmlformats.org/presentationml/2006/ole">
              <p:oleObj spid="_x0000_s24641" name="Equation" r:id="rId4" imgW="2755800" imgH="1143000" progId="Equation.DSMT4">
                <p:embed/>
              </p:oleObj>
            </a:graphicData>
          </a:graphic>
        </p:graphicFrame>
      </p:grpSp>
      <p:sp>
        <p:nvSpPr>
          <p:cNvPr id="24643" name="Text Box 67"/>
          <p:cNvSpPr txBox="1">
            <a:spLocks noChangeArrowheads="1"/>
          </p:cNvSpPr>
          <p:nvPr/>
        </p:nvSpPr>
        <p:spPr bwMode="auto">
          <a:xfrm>
            <a:off x="630238" y="3359150"/>
            <a:ext cx="793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water is in a closed system and the total volume and mass are constant.</a:t>
            </a:r>
          </a:p>
        </p:txBody>
      </p:sp>
      <p:graphicFrame>
        <p:nvGraphicFramePr>
          <p:cNvPr id="24644" name="Object 68"/>
          <p:cNvGraphicFramePr>
            <a:graphicFrameLocks noChangeAspect="1"/>
          </p:cNvGraphicFramePr>
          <p:nvPr/>
        </p:nvGraphicFramePr>
        <p:xfrm>
          <a:off x="3932238" y="5634038"/>
          <a:ext cx="1866900" cy="609600"/>
        </p:xfrm>
        <a:graphic>
          <a:graphicData uri="http://schemas.openxmlformats.org/presentationml/2006/ole">
            <p:oleObj spid="_x0000_s24644" name="Equation" r:id="rId5" imgW="1866600" imgH="609480" progId="Equation.DSMT4">
              <p:embed/>
            </p:oleObj>
          </a:graphicData>
        </a:graphic>
      </p:graphicFrame>
      <p:sp>
        <p:nvSpPr>
          <p:cNvPr id="24645" name="Text Box 69"/>
          <p:cNvSpPr txBox="1">
            <a:spLocks noChangeArrowheads="1"/>
          </p:cNvSpPr>
          <p:nvPr/>
        </p:nvSpPr>
        <p:spPr bwMode="auto">
          <a:xfrm>
            <a:off x="5821363" y="5888038"/>
            <a:ext cx="2538412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3333FF"/>
                </a:solidFill>
              </a:rPr>
              <a:t>linearly extrapolated between </a:t>
            </a:r>
          </a:p>
          <a:p>
            <a:r>
              <a:rPr lang="en-US" sz="1400">
                <a:solidFill>
                  <a:srgbClr val="3333FF"/>
                </a:solidFill>
              </a:rPr>
              <a:t>50 and 60 bar.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2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37" grpId="0"/>
      <p:bldP spid="24640" grpId="0" animBg="1"/>
      <p:bldP spid="24645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1423</Words>
  <Application>Microsoft Office PowerPoint</Application>
  <PresentationFormat>On-screen Show (4:3)</PresentationFormat>
  <Paragraphs>266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Times New Roman</vt:lpstr>
      <vt:lpstr>Symbol</vt:lpstr>
      <vt:lpstr>Default Design</vt:lpstr>
      <vt:lpstr>Microsoft Equation 3.0</vt:lpstr>
      <vt:lpstr>MathType 5.0 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 ASU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karl</dc:creator>
  <cp:lastModifiedBy>karls</cp:lastModifiedBy>
  <cp:revision>20</cp:revision>
  <dcterms:created xsi:type="dcterms:W3CDTF">2008-09-08T15:31:22Z</dcterms:created>
  <dcterms:modified xsi:type="dcterms:W3CDTF">2012-08-24T17:05:22Z</dcterms:modified>
</cp:coreProperties>
</file>