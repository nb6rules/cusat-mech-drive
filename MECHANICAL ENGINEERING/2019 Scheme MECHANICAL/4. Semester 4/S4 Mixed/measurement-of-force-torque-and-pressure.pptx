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58" r:id="rId4"/>
    <p:sldId id="259" r:id="rId5"/>
    <p:sldId id="262" r:id="rId6"/>
    <p:sldId id="263" r:id="rId7"/>
    <p:sldId id="264" r:id="rId8"/>
    <p:sldId id="268" r:id="rId9"/>
    <p:sldId id="269" r:id="rId10"/>
    <p:sldId id="271" r:id="rId11"/>
    <p:sldId id="272" r:id="rId12"/>
    <p:sldId id="265" r:id="rId13"/>
    <p:sldId id="266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</p:sldIdLst>
  <p:sldSz cx="9144000" cy="6858000" type="screen4x3"/>
  <p:notesSz cx="6858000" cy="9144000"/>
  <p:defaultTextStyle>
    <a:defPPr>
      <a:defRPr lang="en-US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3" autoAdjust="0"/>
    <p:restoredTop sz="94709" autoAdjust="0"/>
  </p:normalViewPr>
  <p:slideViewPr>
    <p:cSldViewPr>
      <p:cViewPr varScale="1">
        <p:scale>
          <a:sx n="70" d="100"/>
          <a:sy n="70" d="100"/>
        </p:scale>
        <p:origin x="-136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5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7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32186" indent="0" algn="l">
              <a:buNone/>
              <a:defRPr sz="31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36433" indent="0" algn="ctr">
              <a:buNone/>
            </a:lvl2pPr>
            <a:lvl3pPr marL="1072866" indent="0" algn="ctr">
              <a:buNone/>
            </a:lvl3pPr>
            <a:lvl4pPr marL="1609298" indent="0" algn="ctr">
              <a:buNone/>
            </a:lvl4pPr>
            <a:lvl5pPr marL="2145731" indent="0" algn="ctr">
              <a:buNone/>
            </a:lvl5pPr>
            <a:lvl6pPr marL="2682164" indent="0" algn="ctr">
              <a:buNone/>
            </a:lvl6pPr>
            <a:lvl7pPr marL="3218597" indent="0" algn="ctr">
              <a:buNone/>
            </a:lvl7pPr>
            <a:lvl8pPr marL="3755029" indent="0" algn="ctr">
              <a:buNone/>
            </a:lvl8pPr>
            <a:lvl9pPr marL="4291462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3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1" y="-53"/>
            <a:ext cx="6858000" cy="6858055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5280"/>
              </a:lnSpc>
              <a:buNone/>
              <a:defRPr sz="47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21457" indent="0">
              <a:lnSpc>
                <a:spcPts val="2699"/>
              </a:lnSpc>
              <a:spcBef>
                <a:spcPts val="0"/>
              </a:spcBef>
              <a:buNone/>
              <a:defRPr sz="23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2"/>
            <a:ext cx="76200" cy="6858055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1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53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9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5101" indent="0" algn="l">
              <a:lnSpc>
                <a:spcPct val="100000"/>
              </a:lnSpc>
              <a:spcBef>
                <a:spcPts val="117"/>
              </a:spcBef>
              <a:buNone/>
              <a:defRPr sz="2200" b="0">
                <a:solidFill>
                  <a:schemeClr val="tx1"/>
                </a:solidFill>
              </a:defRPr>
            </a:lvl1pPr>
            <a:lvl2pPr>
              <a:buNone/>
              <a:defRPr sz="2300" b="1"/>
            </a:lvl2pPr>
            <a:lvl3pPr>
              <a:buNone/>
              <a:defRPr sz="2100" b="1"/>
            </a:lvl3pPr>
            <a:lvl4pPr>
              <a:buNone/>
              <a:defRPr sz="1900" b="1"/>
            </a:lvl4pPr>
            <a:lvl5pPr>
              <a:buNone/>
              <a:defRPr sz="19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9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5101" indent="0" algn="l">
              <a:lnSpc>
                <a:spcPct val="100000"/>
              </a:lnSpc>
              <a:spcBef>
                <a:spcPts val="117"/>
              </a:spcBef>
              <a:buNone/>
              <a:defRPr sz="2200" b="0">
                <a:solidFill>
                  <a:schemeClr val="tx1"/>
                </a:solidFill>
              </a:defRPr>
            </a:lvl1pPr>
            <a:lvl2pPr>
              <a:buNone/>
              <a:defRPr sz="2300" b="1"/>
            </a:lvl2pPr>
            <a:lvl3pPr>
              <a:buNone/>
              <a:defRPr sz="2100" b="1"/>
            </a:lvl3pPr>
            <a:lvl4pPr>
              <a:buNone/>
              <a:defRPr sz="1900" b="1"/>
            </a:lvl4pPr>
            <a:lvl5pPr>
              <a:buNone/>
              <a:defRPr sz="19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61332" indent="-321860">
              <a:lnSpc>
                <a:spcPct val="100000"/>
              </a:lnSpc>
              <a:spcBef>
                <a:spcPts val="821"/>
              </a:spcBef>
              <a:defRPr sz="2800"/>
            </a:lvl1pPr>
            <a:lvl2pPr>
              <a:lnSpc>
                <a:spcPct val="100000"/>
              </a:lnSpc>
              <a:spcBef>
                <a:spcPts val="821"/>
              </a:spcBef>
              <a:defRPr sz="2300"/>
            </a:lvl2pPr>
            <a:lvl3pPr>
              <a:lnSpc>
                <a:spcPct val="100000"/>
              </a:lnSpc>
              <a:spcBef>
                <a:spcPts val="821"/>
              </a:spcBef>
              <a:defRPr sz="2100"/>
            </a:lvl3pPr>
            <a:lvl4pPr>
              <a:lnSpc>
                <a:spcPct val="100000"/>
              </a:lnSpc>
              <a:spcBef>
                <a:spcPts val="821"/>
              </a:spcBef>
              <a:defRPr sz="1900"/>
            </a:lvl4pPr>
            <a:lvl5pPr>
              <a:lnSpc>
                <a:spcPct val="100000"/>
              </a:lnSpc>
              <a:spcBef>
                <a:spcPts val="821"/>
              </a:spcBef>
              <a:defRPr sz="1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61332" indent="-321860">
              <a:lnSpc>
                <a:spcPct val="100000"/>
              </a:lnSpc>
              <a:spcBef>
                <a:spcPts val="821"/>
              </a:spcBef>
              <a:defRPr sz="2800"/>
            </a:lvl1pPr>
            <a:lvl2pPr>
              <a:lnSpc>
                <a:spcPct val="100000"/>
              </a:lnSpc>
              <a:spcBef>
                <a:spcPts val="821"/>
              </a:spcBef>
              <a:defRPr sz="2300"/>
            </a:lvl2pPr>
            <a:lvl3pPr>
              <a:lnSpc>
                <a:spcPct val="100000"/>
              </a:lnSpc>
              <a:spcBef>
                <a:spcPts val="821"/>
              </a:spcBef>
              <a:defRPr sz="2100"/>
            </a:lvl3pPr>
            <a:lvl4pPr>
              <a:lnSpc>
                <a:spcPct val="100000"/>
              </a:lnSpc>
              <a:spcBef>
                <a:spcPts val="821"/>
              </a:spcBef>
              <a:defRPr sz="1900"/>
            </a:lvl4pPr>
            <a:lvl5pPr>
              <a:lnSpc>
                <a:spcPct val="100000"/>
              </a:lnSpc>
              <a:spcBef>
                <a:spcPts val="821"/>
              </a:spcBef>
              <a:defRPr sz="1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3"/>
            <a:ext cx="73152" cy="6858055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7"/>
            <a:ext cx="3810000" cy="1162051"/>
          </a:xfrm>
          <a:ln>
            <a:noFill/>
          </a:ln>
        </p:spPr>
        <p:txBody>
          <a:bodyPr anchor="b"/>
          <a:lstStyle>
            <a:lvl1pPr algn="l">
              <a:lnSpc>
                <a:spcPts val="2347"/>
              </a:lnSpc>
              <a:buNone/>
              <a:defRPr sz="26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5"/>
            <a:ext cx="3810000" cy="698500"/>
          </a:xfrm>
        </p:spPr>
        <p:txBody>
          <a:bodyPr/>
          <a:lstStyle>
            <a:lvl1pPr marL="53643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1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4"/>
            <a:ext cx="8153400" cy="3992563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1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5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07287" tIns="321860" rIns="107287" bIns="53643" rtlCol="0" anchor="t">
            <a:normAutofit/>
          </a:bodyPr>
          <a:lstStyle>
            <a:extLst/>
          </a:lstStyle>
          <a:p>
            <a:pPr marL="0" indent="-332588" algn="l" rtl="0" eaLnBrk="1" latinLnBrk="0" hangingPunct="1">
              <a:lnSpc>
                <a:spcPts val="3520"/>
              </a:lnSpc>
              <a:spcBef>
                <a:spcPts val="704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6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107287" tIns="321860" anchor="t"/>
          <a:lstStyle>
            <a:lvl1pPr marL="0" indent="0" algn="l" eaLnBrk="1" latinLnBrk="0" hangingPunct="1">
              <a:buNone/>
              <a:defRPr sz="3800"/>
            </a:lvl1pPr>
            <a:extLst/>
          </a:lstStyle>
          <a:p>
            <a:pPr marL="0" algn="l" eaLnBrk="1" latinLnBrk="0" hangingPunct="1"/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4" y="954343"/>
            <a:ext cx="685800" cy="204311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7"/>
            <a:ext cx="649224" cy="204311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877"/>
              </a:lnSpc>
              <a:spcBef>
                <a:spcPts val="0"/>
              </a:spcBef>
              <a:buNone/>
              <a:defRPr sz="1600">
                <a:solidFill>
                  <a:srgbClr val="777777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43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4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4" y="-815920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9" y="21106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4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7" y="-53"/>
            <a:ext cx="8131127" cy="6858055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9"/>
            <a:ext cx="7498080" cy="1143000"/>
          </a:xfrm>
          <a:prstGeom prst="rect">
            <a:avLst/>
          </a:prstGeom>
        </p:spPr>
        <p:txBody>
          <a:bodyPr lIns="107287" tIns="53643" rIns="107287" bIns="53643"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 lIns="107287" tIns="53643" rIns="107287" bIns="53643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1"/>
          </a:xfrm>
          <a:prstGeom prst="rect">
            <a:avLst/>
          </a:prstGeom>
        </p:spPr>
        <p:txBody>
          <a:bodyPr lIns="107287" tIns="53643" rIns="107287" bIns="53643" anchor="b"/>
          <a:lstStyle>
            <a:lvl1pPr algn="r" eaLnBrk="1" latinLnBrk="0" hangingPunct="1">
              <a:defRPr kumimoji="0" sz="14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B4DB11F-2CD3-44C7-94B0-5E0D705E3C04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1"/>
          </a:xfrm>
          <a:prstGeom prst="rect">
            <a:avLst/>
          </a:prstGeom>
        </p:spPr>
        <p:txBody>
          <a:bodyPr lIns="107287" tIns="53643" rIns="107287" bIns="53643" anchor="b"/>
          <a:lstStyle>
            <a:lvl1pPr eaLnBrk="1" latinLnBrk="0" hangingPunct="1">
              <a:defRPr kumimoji="0" sz="14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1"/>
          </a:xfrm>
          <a:prstGeom prst="rect">
            <a:avLst/>
          </a:prstGeom>
        </p:spPr>
        <p:txBody>
          <a:bodyPr lIns="107287" tIns="53643" rIns="107287" bIns="53643" anchor="b"/>
          <a:lstStyle>
            <a:lvl1pPr algn="ctr" eaLnBrk="1" latinLnBrk="0" hangingPunct="1">
              <a:defRPr kumimoji="0" sz="14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860A22D-1DF6-4D36-922D-F46950C3C1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3"/>
            <a:ext cx="73152" cy="6858055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7287" tIns="53643" rIns="107287" bIns="53643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429146" indent="-332588" algn="l" rtl="0" eaLnBrk="1" latinLnBrk="0" hangingPunct="1">
        <a:lnSpc>
          <a:spcPct val="100000"/>
        </a:lnSpc>
        <a:spcBef>
          <a:spcPts val="704"/>
        </a:spcBef>
        <a:buClr>
          <a:schemeClr val="accent1"/>
        </a:buClr>
        <a:buSzPct val="80000"/>
        <a:buFont typeface="Wingdings 2"/>
        <a:buChar char=""/>
        <a:defRPr kumimoji="0"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751006" indent="-278945" algn="l" rtl="0" eaLnBrk="1" latinLnBrk="0" hangingPunct="1">
        <a:lnSpc>
          <a:spcPct val="100000"/>
        </a:lnSpc>
        <a:spcBef>
          <a:spcPts val="645"/>
        </a:spcBef>
        <a:buClr>
          <a:schemeClr val="accent1"/>
        </a:buClr>
        <a:buFont typeface="Verdana"/>
        <a:buChar char="◦"/>
        <a:defRPr kumimoji="0"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040680" indent="-268216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7439" indent="-203844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469" indent="-214573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1770228" indent="-214573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987" indent="-214573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3018" indent="-214573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777" indent="-214573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Measurement of force torque and pressure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devices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33375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749675"/>
                <a:gridCol w="37496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Measurands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Measuring instruments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Force,  load 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Analytical balance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Platform balance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Proving</a:t>
                      </a:r>
                      <a:r>
                        <a:rPr lang="en-US" baseline="0" dirty="0" smtClean="0"/>
                        <a:t> ring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Torque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Prony</a:t>
                      </a:r>
                      <a:r>
                        <a:rPr lang="en-US" dirty="0" smtClean="0"/>
                        <a:t> brake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Hydraulic dynamometer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Pressure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Bridgeman gauge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Mcload</a:t>
                      </a:r>
                      <a:r>
                        <a:rPr lang="en-US" dirty="0" smtClean="0"/>
                        <a:t> gauge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Pirani</a:t>
                      </a:r>
                      <a:r>
                        <a:rPr lang="en-US" baseline="0" dirty="0" smtClean="0"/>
                        <a:t> gauge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/>
              <a:t>Force: </a:t>
            </a:r>
            <a:r>
              <a:rPr lang="en-US" dirty="0" smtClean="0"/>
              <a:t>It is defined as the reaction between the two bodies or components.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reaction can be either tensile force (Pull) or it can be Compressive force (Push).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Measurement of force can be done by any two methods:</a:t>
            </a:r>
          </a:p>
          <a:p>
            <a:pPr lvl="1" algn="just">
              <a:lnSpc>
                <a:spcPct val="150000"/>
              </a:lnSpc>
            </a:pPr>
            <a:r>
              <a:rPr lang="en-US" b="1" dirty="0" smtClean="0"/>
              <a:t>Direct Method: </a:t>
            </a:r>
            <a:r>
              <a:rPr lang="en-US" dirty="0" smtClean="0"/>
              <a:t>This involves a direct comparison with a known gravitational force on a standard mass. Example: Physical Balance.</a:t>
            </a:r>
          </a:p>
          <a:p>
            <a:pPr lvl="1" algn="just">
              <a:lnSpc>
                <a:spcPct val="150000"/>
              </a:lnSpc>
            </a:pPr>
            <a:r>
              <a:rPr lang="en-US" b="1" dirty="0" smtClean="0"/>
              <a:t>Indirect Method: </a:t>
            </a:r>
            <a:r>
              <a:rPr lang="en-US" dirty="0" smtClean="0"/>
              <a:t>This involves the measurement of effect of force on a body. E.g. Force is calculated from acceleration due to gravity and the mass of the component.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Direct Method: </a:t>
            </a:r>
            <a:r>
              <a:rPr lang="en-US" sz="3200" b="1" i="1" dirty="0" smtClean="0"/>
              <a:t>Analytical Balance (Equal arm balance)</a:t>
            </a:r>
            <a:endParaRPr lang="en-US" sz="28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1250" t="1292" r="6250"/>
          <a:stretch>
            <a:fillRect/>
          </a:stretch>
        </p:blipFill>
        <p:spPr bwMode="auto">
          <a:xfrm>
            <a:off x="3173095" y="1521120"/>
            <a:ext cx="4023360" cy="465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Unequal arm balance: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/>
          <a:srcRect l="21429" t="12500" r="23215" b="17857"/>
          <a:stretch>
            <a:fillRect/>
          </a:stretch>
        </p:blipFill>
        <p:spPr bwMode="auto">
          <a:xfrm>
            <a:off x="5181600" y="1371600"/>
            <a:ext cx="3452813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371600"/>
            <a:ext cx="4343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pPr eaLnBrk="1" hangingPunct="1"/>
            <a:r>
              <a:rPr lang="en-US" sz="2800" b="1" smtClean="0"/>
              <a:t>Unequal arm balance: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81000" y="838200"/>
            <a:ext cx="8382000" cy="5745163"/>
            <a:chOff x="381000" y="838200"/>
            <a:chExt cx="8382000" cy="5745630"/>
          </a:xfrm>
        </p:grpSpPr>
        <p:pic>
          <p:nvPicPr>
            <p:cNvPr id="819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81000" y="838200"/>
              <a:ext cx="8382000" cy="5745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Straight Arrow Connector 5"/>
            <p:cNvCxnSpPr/>
            <p:nvPr/>
          </p:nvCxnSpPr>
          <p:spPr>
            <a:xfrm rot="10800000">
              <a:off x="1447800" y="1295437"/>
              <a:ext cx="6096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10800000">
              <a:off x="2422525" y="1293850"/>
              <a:ext cx="549275" cy="158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10800000">
              <a:off x="3108325" y="1297025"/>
              <a:ext cx="1738313" cy="15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rot="10800000">
              <a:off x="5394325" y="1293850"/>
              <a:ext cx="1828800" cy="158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Unequal arm balance: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3962400" cy="5410200"/>
          </a:xfrm>
        </p:spPr>
        <p:txBody>
          <a:bodyPr rtlCol="0">
            <a:normAutofit fontScale="70000" lnSpcReduction="20000"/>
          </a:bodyPr>
          <a:lstStyle/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For balance of moments,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              F</a:t>
            </a:r>
            <a:r>
              <a:rPr lang="en-US" baseline="-25000" dirty="0" smtClean="0"/>
              <a:t>t</a:t>
            </a:r>
            <a:r>
              <a:rPr lang="en-US" dirty="0" smtClean="0"/>
              <a:t> * a = F</a:t>
            </a:r>
            <a:r>
              <a:rPr lang="en-US" baseline="-25000" dirty="0" smtClean="0"/>
              <a:t>g</a:t>
            </a:r>
            <a:r>
              <a:rPr lang="en-US" dirty="0" smtClean="0"/>
              <a:t> * b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or test force,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		F</a:t>
            </a:r>
            <a:r>
              <a:rPr lang="en-US" baseline="-25000" dirty="0" smtClean="0"/>
              <a:t>t </a:t>
            </a:r>
            <a:r>
              <a:rPr lang="en-US" dirty="0" smtClean="0"/>
              <a:t>= F</a:t>
            </a:r>
            <a:r>
              <a:rPr lang="en-US" baseline="-25000" dirty="0" smtClean="0"/>
              <a:t>g</a:t>
            </a:r>
            <a:r>
              <a:rPr lang="en-US" dirty="0" smtClean="0"/>
              <a:t> * (b / a)</a:t>
            </a:r>
          </a:p>
          <a:p>
            <a:pPr marL="0" indent="0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Therefore, the test force is proportional to the distance ‘b’ of the mass from the pivot.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14800" y="914400"/>
            <a:ext cx="4800600" cy="4343400"/>
            <a:chOff x="381000" y="838200"/>
            <a:chExt cx="8382000" cy="5745630"/>
          </a:xfrm>
        </p:grpSpPr>
        <p:pic>
          <p:nvPicPr>
            <p:cNvPr id="9221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81000" y="838200"/>
              <a:ext cx="8382000" cy="5745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Straight Arrow Connector 5"/>
            <p:cNvCxnSpPr/>
            <p:nvPr/>
          </p:nvCxnSpPr>
          <p:spPr>
            <a:xfrm rot="10800000">
              <a:off x="1448154" y="1296002"/>
              <a:ext cx="609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10800000">
              <a:off x="2423836" y="1293903"/>
              <a:ext cx="548821" cy="20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10800000">
              <a:off x="3108476" y="1296002"/>
              <a:ext cx="1737935" cy="21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rot="10800000">
              <a:off x="5395233" y="1293903"/>
              <a:ext cx="1829405" cy="20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400" smtClean="0"/>
              <a:t>Platform Balance: (Multiple Lever System)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14400"/>
            <a:ext cx="6096000" cy="558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990600"/>
            <a:ext cx="3684588" cy="337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381000" y="274637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900" dirty="0" smtClean="0"/>
              <a:t>Platform Balance: (Multiple Lever System)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5334000" cy="58674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200" dirty="0" smtClean="0"/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 smtClean="0"/>
              <a:t>Large weight W may be measured in terms of smaller weights Wp and Ws.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 smtClean="0"/>
              <a:t>Weight Wp is called the poise weight and Ws the pan weight.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 smtClean="0"/>
              <a:t>The weight W1 and W2 is may be substituted for W.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dirty="0" smtClean="0"/>
              <a:t>With W on the scale platform and balanced by a pan weight Ws, the relation is given by </a:t>
            </a:r>
          </a:p>
          <a:p>
            <a:pPr lvl="1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/>
              <a:t>T*b = Ws * a	       (1)</a:t>
            </a:r>
          </a:p>
          <a:p>
            <a:pPr lvl="1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/>
              <a:t>T*c = W1 (f/d) e + W2 * h           (2)</a:t>
            </a:r>
          </a:p>
          <a:p>
            <a:pPr marL="0" indent="0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 smtClean="0"/>
              <a:t>Now if we proportion the linkage such the </a:t>
            </a:r>
            <a:endParaRPr lang="en-US" sz="1400" dirty="0"/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13318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5715000"/>
            <a:ext cx="8366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0" y="1333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2498725" y="4267200"/>
            <a:ext cx="70167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86200" y="4648200"/>
            <a:ext cx="533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Proving ring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The proving ring is a device used to measure force. It consists of an elastic ring of known diameter with a measuring device located in the center of the ring.</a:t>
            </a:r>
          </a:p>
          <a:p>
            <a:r>
              <a:rPr lang="en-US" sz="2200" dirty="0" smtClean="0"/>
              <a:t>They are made of a steel alloy.</a:t>
            </a:r>
          </a:p>
          <a:p>
            <a:r>
              <a:rPr lang="en-US" sz="2200" dirty="0" smtClean="0"/>
              <a:t>manufactured according to design specifications established in 1946 by the National Bureau of Standards (NBS).</a:t>
            </a:r>
          </a:p>
          <a:p>
            <a:r>
              <a:rPr lang="en-US" sz="2200" dirty="0" smtClean="0"/>
              <a:t>Proving rings can be designed to measure either compression or tension forces.</a:t>
            </a:r>
            <a:endParaRPr lang="en-US" sz="2200" dirty="0"/>
          </a:p>
        </p:txBody>
      </p:sp>
      <p:pic>
        <p:nvPicPr>
          <p:cNvPr id="5" name="Picture 4" descr="mhpr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495800"/>
            <a:ext cx="2286000" cy="21316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Proving ring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Standard for </a:t>
            </a:r>
            <a:r>
              <a:rPr lang="en-US" sz="2200" dirty="0" smtClean="0">
                <a:solidFill>
                  <a:srgbClr val="FF0000"/>
                </a:solidFill>
              </a:rPr>
              <a:t>calibrating material testing machine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Capacity 1000 N to 1000 </a:t>
            </a:r>
            <a:r>
              <a:rPr lang="en-US" sz="2200" dirty="0" err="1" smtClean="0"/>
              <a:t>kN.</a:t>
            </a:r>
            <a:endParaRPr lang="en-US" sz="2200" dirty="0" smtClean="0"/>
          </a:p>
          <a:p>
            <a:r>
              <a:rPr lang="en-US" sz="2200" dirty="0" smtClean="0"/>
              <a:t>Deflection is used as the measure of applied load.</a:t>
            </a:r>
          </a:p>
          <a:p>
            <a:r>
              <a:rPr lang="en-US" sz="2200" dirty="0" smtClean="0"/>
              <a:t>This deflection is measured by a precision micrometer.</a:t>
            </a:r>
          </a:p>
          <a:p>
            <a:r>
              <a:rPr lang="en-US" sz="2200" dirty="0" smtClean="0"/>
              <a:t>Micrometer is set with a help of </a:t>
            </a:r>
            <a:r>
              <a:rPr lang="en-US" sz="2200" dirty="0" smtClean="0">
                <a:solidFill>
                  <a:srgbClr val="FF0000"/>
                </a:solidFill>
              </a:rPr>
              <a:t>vibrating reed</a:t>
            </a:r>
            <a:r>
              <a:rPr lang="en-US" sz="2200" i="1" dirty="0" smtClean="0">
                <a:solidFill>
                  <a:srgbClr val="FF0000"/>
                </a:solidFill>
              </a:rPr>
              <a:t>.</a:t>
            </a:r>
            <a:endParaRPr lang="en-US" sz="2200" i="1" dirty="0">
              <a:solidFill>
                <a:srgbClr val="FF0000"/>
              </a:solidFill>
            </a:endParaRPr>
          </a:p>
        </p:txBody>
      </p:sp>
      <p:pic>
        <p:nvPicPr>
          <p:cNvPr id="5" name="Picture 4" descr="mhpr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495800"/>
            <a:ext cx="2286000" cy="213162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3886200"/>
            <a:ext cx="235574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362200" y="4876800"/>
            <a:ext cx="3124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 = force or load </a:t>
            </a:r>
          </a:p>
          <a:p>
            <a:r>
              <a:rPr lang="en-US" dirty="0" smtClean="0"/>
              <a:t>M </a:t>
            </a:r>
            <a:r>
              <a:rPr lang="en-US" dirty="0" smtClean="0"/>
              <a:t>= Bending moment</a:t>
            </a:r>
          </a:p>
          <a:p>
            <a:r>
              <a:rPr lang="en-US" dirty="0" smtClean="0"/>
              <a:t>R = Radius of proving ring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Proving Ring: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algn="just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sz="2200" dirty="0" smtClean="0"/>
              <a:t>A ring used for calibrating tensile testing machines. It works on the principle of LVDT which senses the displacement caused by the force resulting in a proportional voltage.</a:t>
            </a:r>
          </a:p>
          <a:p>
            <a:pPr algn="just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sz="2200" dirty="0" smtClean="0"/>
              <a:t>It is provided with the projection lugs for loading. An LVDT is attached with the integral internal bosses C and D for sensing the displacement caused by application of force.</a:t>
            </a:r>
          </a:p>
          <a:p>
            <a:pPr algn="just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sz="2200" dirty="0" smtClean="0"/>
              <a:t>When the forces are applied through the integral external bosses A and B, the diameter of ring changes depending upon the application which is known as ring deflection.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pic>
        <p:nvPicPr>
          <p:cNvPr id="10244" name="Picture 2" descr="http://image.made-in-china.com/2f0j00bvSQdswkdmqK/Proving-R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76200"/>
            <a:ext cx="2133600" cy="280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0" y="1838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7" name="Rectangle 8"/>
          <p:cNvSpPr>
            <a:spLocks noChangeArrowheads="1"/>
          </p:cNvSpPr>
          <p:nvPr/>
        </p:nvSpPr>
        <p:spPr bwMode="auto">
          <a:xfrm>
            <a:off x="0" y="1838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0248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2895600"/>
            <a:ext cx="33115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Proving Ring: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791200"/>
          </a:xfrm>
        </p:spPr>
        <p:txBody>
          <a:bodyPr rtlCol="0">
            <a:normAutofit fontScale="70000" lnSpcReduction="20000"/>
          </a:bodyPr>
          <a:lstStyle/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400" dirty="0" smtClean="0"/>
              <a:t>The resulting deflection of the ring is measured by LVDT which converts the ring deflection or displacement in to voltage signal.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400" dirty="0" smtClean="0"/>
              <a:t>An external amplifier may be connected to provide direct current to drive the indicators or the measured value of force.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3400" dirty="0" smtClean="0"/>
              <a:t>In place of LVDT micrometer can also be provided for accurate measurement of force or deflection, which is given by formula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400" dirty="0" smtClean="0"/>
          </a:p>
          <a:p>
            <a:pPr algn="just" eaLnBrk="1" fontAlgn="auto" hangingPunct="1">
              <a:spcBef>
                <a:spcPts val="1200"/>
              </a:spcBef>
              <a:spcAft>
                <a:spcPts val="600"/>
              </a:spcAft>
              <a:buFont typeface="Arial" pitchFamily="34" charset="0"/>
              <a:buNone/>
              <a:defRPr/>
            </a:pPr>
            <a:r>
              <a:rPr lang="en-US" sz="1700" dirty="0" smtClean="0"/>
              <a:t>Where,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3400" dirty="0" smtClean="0"/>
              <a:t>F is the force, E is the young's modulus, I is the moment of inertia about the centroidal axis, D is the outer diameter of the ring and y is the deflection. </a:t>
            </a:r>
            <a:endParaRPr lang="en-US" dirty="0" smtClean="0"/>
          </a:p>
        </p:txBody>
      </p:sp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8000" y="4038600"/>
            <a:ext cx="22367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"/>
          <p:cNvPicPr>
            <a:picLocks noChangeAspect="1" noChangeArrowheads="1"/>
          </p:cNvPicPr>
          <p:nvPr/>
        </p:nvPicPr>
        <p:blipFill>
          <a:blip r:embed="rId2"/>
          <a:srcRect t="5000"/>
          <a:stretch>
            <a:fillRect/>
          </a:stretch>
        </p:blipFill>
        <p:spPr bwMode="auto">
          <a:xfrm>
            <a:off x="5867400" y="5029200"/>
            <a:ext cx="3276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     Torque Measurement: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534400" cy="57150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sz="2400" b="1" i="1" dirty="0" smtClean="0"/>
              <a:t>Torque: </a:t>
            </a:r>
            <a:r>
              <a:rPr lang="en-US" sz="2400" dirty="0" smtClean="0"/>
              <a:t>Force that causes twisting or turning moment.</a:t>
            </a:r>
          </a:p>
          <a:p>
            <a:pPr algn="just" eaLnBrk="1" hangingPunct="1">
              <a:buFont typeface="Arial" charset="0"/>
              <a:buNone/>
            </a:pPr>
            <a:r>
              <a:rPr lang="en-US" sz="2400" dirty="0" smtClean="0"/>
              <a:t>	E.g. the force generated by an internal-combustion engine to turn a vehicle's drive or shaft.</a:t>
            </a:r>
          </a:p>
          <a:p>
            <a:pPr algn="just" eaLnBrk="1" hangingPunct="1"/>
            <a:r>
              <a:rPr lang="en-US" sz="2400" dirty="0" smtClean="0"/>
              <a:t>Torque measuring devices are called as </a:t>
            </a:r>
            <a:r>
              <a:rPr lang="en-US" sz="2400" i="1" dirty="0" smtClean="0"/>
              <a:t>dynamometers</a:t>
            </a:r>
            <a:r>
              <a:rPr lang="en-US" sz="2400" dirty="0" smtClean="0"/>
              <a:t>.</a:t>
            </a:r>
          </a:p>
          <a:p>
            <a:pPr algn="just" eaLnBrk="1" hangingPunct="1"/>
            <a:endParaRPr lang="en-US" sz="2400" dirty="0" smtClean="0"/>
          </a:p>
          <a:p>
            <a:pPr algn="just" eaLnBrk="1" hangingPunct="1"/>
            <a:endParaRPr lang="en-US" sz="2400" dirty="0" smtClean="0"/>
          </a:p>
          <a:p>
            <a:pPr algn="just" eaLnBrk="1" hangingPunct="1"/>
            <a:endParaRPr lang="en-US" sz="2400" dirty="0" smtClean="0"/>
          </a:p>
          <a:p>
            <a:pPr algn="just" eaLnBrk="1" hangingPunct="1"/>
            <a:endParaRPr lang="en-US" sz="2400" dirty="0" smtClean="0"/>
          </a:p>
          <a:p>
            <a:pPr algn="just" eaLnBrk="1" hangingPunct="1"/>
            <a:endParaRPr lang="en-US" sz="2400" dirty="0" smtClean="0"/>
          </a:p>
          <a:p>
            <a:pPr algn="just" eaLnBrk="1" hangingPunct="1"/>
            <a:r>
              <a:rPr lang="en-US" sz="2400" dirty="0" smtClean="0"/>
              <a:t>The torque may be computed by measuring the force </a:t>
            </a:r>
            <a:r>
              <a:rPr lang="en-US" sz="2400" i="1" dirty="0" smtClean="0"/>
              <a:t>‘F’</a:t>
            </a:r>
            <a:r>
              <a:rPr lang="en-US" sz="2400" dirty="0" smtClean="0"/>
              <a:t> at a known radius</a:t>
            </a:r>
            <a:r>
              <a:rPr lang="en-US" sz="2800" dirty="0" smtClean="0"/>
              <a:t> </a:t>
            </a:r>
            <a:r>
              <a:rPr lang="en-US" sz="2800" i="1" dirty="0" smtClean="0"/>
              <a:t>‘r’,</a:t>
            </a:r>
            <a:r>
              <a:rPr lang="en-US" sz="2800" dirty="0" smtClean="0"/>
              <a:t> given by the formula </a:t>
            </a:r>
          </a:p>
        </p:txBody>
      </p:sp>
      <p:pic>
        <p:nvPicPr>
          <p:cNvPr id="1434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2667000"/>
            <a:ext cx="42672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2438400"/>
            <a:ext cx="2667000" cy="203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800" y="5715000"/>
            <a:ext cx="1676400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TextBox 6"/>
          <p:cNvSpPr txBox="1">
            <a:spLocks noChangeArrowheads="1"/>
          </p:cNvSpPr>
          <p:nvPr/>
        </p:nvSpPr>
        <p:spPr bwMode="auto">
          <a:xfrm>
            <a:off x="3048000" y="5715000"/>
            <a:ext cx="1219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 N - 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     Torque Measurement: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mtClean="0"/>
              <a:t>Torque measurement is usually associated with determination of mechanical power, either power required to operate a machine or to find out the power developed by the machine.</a:t>
            </a:r>
          </a:p>
          <a:p>
            <a:pPr eaLnBrk="1" hangingPunct="1"/>
            <a:endParaRPr lang="en-US" smtClean="0"/>
          </a:p>
          <a:p>
            <a:pPr algn="just" eaLnBrk="1" hangingPunct="1">
              <a:lnSpc>
                <a:spcPct val="150000"/>
              </a:lnSpc>
              <a:buFont typeface="Arial" charset="0"/>
              <a:buNone/>
            </a:pPr>
            <a:endParaRPr lang="en-US" smtClean="0"/>
          </a:p>
          <a:p>
            <a:pPr algn="just" eaLnBrk="1" hangingPunct="1">
              <a:lnSpc>
                <a:spcPct val="150000"/>
              </a:lnSpc>
              <a:buFont typeface="Arial" charset="0"/>
              <a:buNone/>
            </a:pPr>
            <a:r>
              <a:rPr lang="en-US" smtClean="0"/>
              <a:t>Where,</a:t>
            </a:r>
          </a:p>
          <a:p>
            <a:pPr algn="just" eaLnBrk="1" hangingPunct="1">
              <a:lnSpc>
                <a:spcPct val="150000"/>
              </a:lnSpc>
              <a:buFont typeface="Arial" charset="0"/>
              <a:buNone/>
            </a:pPr>
            <a:r>
              <a:rPr lang="en-US" smtClean="0"/>
              <a:t> 	N = Speed in rpm.</a:t>
            </a:r>
          </a:p>
          <a:p>
            <a:pPr algn="just" eaLnBrk="1" hangingPunct="1">
              <a:lnSpc>
                <a:spcPct val="150000"/>
              </a:lnSpc>
              <a:buFont typeface="Arial" charset="0"/>
              <a:buNone/>
            </a:pPr>
            <a:r>
              <a:rPr lang="en-US" smtClean="0"/>
              <a:t>	T =Torque developed due to load “W”, (N-m)             </a:t>
            </a:r>
          </a:p>
          <a:p>
            <a:pPr algn="just" eaLnBrk="1" hangingPunct="1">
              <a:lnSpc>
                <a:spcPct val="150000"/>
              </a:lnSpc>
              <a:buFont typeface="Arial" charset="0"/>
              <a:buNone/>
            </a:pPr>
            <a:r>
              <a:rPr lang="en-US" smtClean="0"/>
              <a:t>	R = Radius from the center to the point of application of force (m)</a:t>
            </a:r>
          </a:p>
          <a:p>
            <a:pPr algn="just" eaLnBrk="1" hangingPunct="1">
              <a:buFont typeface="Arial" charset="0"/>
              <a:buNone/>
            </a:pPr>
            <a:endParaRPr lang="en-IN" sz="2400" smtClean="0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2971800" y="2743200"/>
          <a:ext cx="2843213" cy="809625"/>
        </p:xfrm>
        <a:graphic>
          <a:graphicData uri="http://schemas.openxmlformats.org/presentationml/2006/ole">
            <p:oleObj spid="_x0000_s1026" name="Equation" r:id="rId3" imgW="137160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      Types of Dynamometers: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algn="just" eaLnBrk="1" hangingPunct="1"/>
            <a:r>
              <a:rPr lang="en-US" b="1" dirty="0" smtClean="0"/>
              <a:t>Absorption dynamometers:</a:t>
            </a:r>
          </a:p>
          <a:p>
            <a:pPr lvl="1" algn="just" eaLnBrk="1" hangingPunct="1"/>
            <a:r>
              <a:rPr lang="en-US" dirty="0" smtClean="0"/>
              <a:t>They are useful for measuring power or torque developed by power source such as engines or electric motors.</a:t>
            </a:r>
          </a:p>
          <a:p>
            <a:pPr lvl="1" algn="just" eaLnBrk="1" hangingPunct="1"/>
            <a:endParaRPr lang="en-US" dirty="0" smtClean="0"/>
          </a:p>
          <a:p>
            <a:pPr algn="just" eaLnBrk="1" hangingPunct="1"/>
            <a:r>
              <a:rPr lang="en-US" b="1" dirty="0" smtClean="0"/>
              <a:t>Driving dynamometers:</a:t>
            </a:r>
          </a:p>
          <a:p>
            <a:pPr lvl="1" algn="just" eaLnBrk="1" hangingPunct="1"/>
            <a:r>
              <a:rPr lang="en-US" dirty="0" smtClean="0"/>
              <a:t>These dynamometers measure power or torque and as well provide energy to operate the device to be tested.</a:t>
            </a:r>
          </a:p>
          <a:p>
            <a:pPr lvl="1" algn="just" eaLnBrk="1" hangingPunct="1"/>
            <a:r>
              <a:rPr lang="en-US" dirty="0" smtClean="0"/>
              <a:t>These are useful in determining performance characteristics of devices such as pumps and compression.</a:t>
            </a:r>
          </a:p>
          <a:p>
            <a:pPr lvl="1" algn="just" eaLnBrk="1" hangingPunct="1"/>
            <a:endParaRPr lang="en-US" dirty="0" smtClean="0"/>
          </a:p>
          <a:p>
            <a:pPr algn="just" eaLnBrk="1" hangingPunct="1"/>
            <a:r>
              <a:rPr lang="en-US" b="1" dirty="0" smtClean="0"/>
              <a:t>Transmission dynamometers:</a:t>
            </a:r>
          </a:p>
          <a:p>
            <a:pPr lvl="1" algn="just" eaLnBrk="1" hangingPunct="1"/>
            <a:r>
              <a:rPr lang="en-US" dirty="0" smtClean="0"/>
              <a:t>These are the passive devices placed at an appropriate location within a machine or in between the machine to sense the torque at that location.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219200" y="198437"/>
            <a:ext cx="8229600" cy="563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 smtClean="0"/>
              <a:t>Mechanical Dynamometer (</a:t>
            </a:r>
            <a:r>
              <a:rPr lang="en-US" sz="3600" dirty="0" err="1" smtClean="0"/>
              <a:t>Prony</a:t>
            </a:r>
            <a:r>
              <a:rPr lang="en-US" sz="3600" dirty="0" smtClean="0"/>
              <a:t> Brake):</a:t>
            </a:r>
          </a:p>
        </p:txBody>
      </p:sp>
      <p:pic>
        <p:nvPicPr>
          <p:cNvPr id="10" name="Content Placeholder 9" descr="prony brake.bmp"/>
          <p:cNvPicPr>
            <a:picLocks noGrp="1" noChangeAspect="1"/>
          </p:cNvPicPr>
          <p:nvPr>
            <p:ph idx="1"/>
          </p:nvPr>
        </p:nvPicPr>
        <p:blipFill>
          <a:blip r:embed="rId2"/>
          <a:srcRect l="2585" r="47460" b="43590"/>
          <a:stretch>
            <a:fillRect/>
          </a:stretch>
        </p:blipFill>
        <p:spPr>
          <a:xfrm>
            <a:off x="4952999" y="3657600"/>
            <a:ext cx="4109935" cy="2971800"/>
          </a:xfrm>
        </p:spPr>
      </p:pic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685800"/>
            <a:ext cx="6218238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rot="5400000" flipH="1" flipV="1">
            <a:off x="3390900" y="1866900"/>
            <a:ext cx="1143000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6200000" flipV="1">
            <a:off x="5410200" y="2438400"/>
            <a:ext cx="609600" cy="4572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1" name="TextBox 9"/>
          <p:cNvSpPr txBox="1">
            <a:spLocks noChangeArrowheads="1"/>
          </p:cNvSpPr>
          <p:nvPr/>
        </p:nvSpPr>
        <p:spPr bwMode="auto">
          <a:xfrm>
            <a:off x="5638800" y="2895600"/>
            <a:ext cx="838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Rope</a:t>
            </a:r>
          </a:p>
        </p:txBody>
      </p:sp>
      <p:pic>
        <p:nvPicPr>
          <p:cNvPr id="6146" name="Picture 2" descr="http://www.hampden.com/tortoisecms/uploads/images/original/lgPB-100%20lg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3352800"/>
            <a:ext cx="3941671" cy="350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en-US" sz="3600" dirty="0" smtClean="0"/>
              <a:t>Consists of wooden cleats or blocks mounted diametrically opposite on a flywheel attached to the rotating shaft whose power is to be determined.</a:t>
            </a:r>
          </a:p>
          <a:p>
            <a:pPr algn="just"/>
            <a:r>
              <a:rPr lang="en-US" sz="3600" dirty="0" smtClean="0"/>
              <a:t>One wooden block carries a lever arm and an arrangement is made to tighten the rope to increase the frictional resistance between the blocks.</a:t>
            </a:r>
          </a:p>
          <a:p>
            <a:pPr algn="just"/>
            <a:r>
              <a:rPr lang="en-US" sz="3600" dirty="0" smtClean="0"/>
              <a:t>The torque exerted by the </a:t>
            </a:r>
            <a:r>
              <a:rPr lang="en-US" sz="3600" dirty="0" err="1" smtClean="0"/>
              <a:t>Prony</a:t>
            </a:r>
            <a:r>
              <a:rPr lang="en-US" sz="3600" dirty="0" smtClean="0"/>
              <a:t> brake is T = F . L </a:t>
            </a:r>
          </a:p>
          <a:p>
            <a:endParaRPr lang="en-US" dirty="0"/>
          </a:p>
        </p:txBody>
      </p:sp>
      <p:pic>
        <p:nvPicPr>
          <p:cNvPr id="8" name="Content Placeholder 7" descr="pb2.bmp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69271" b="35698"/>
          <a:stretch>
            <a:fillRect/>
          </a:stretch>
        </p:blipFill>
        <p:spPr>
          <a:xfrm>
            <a:off x="5410199" y="1752600"/>
            <a:ext cx="3014061" cy="4038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Hydraulic Dynamometer: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8229600" cy="5867400"/>
          </a:xfrm>
        </p:spPr>
        <p:txBody>
          <a:bodyPr>
            <a:normAutofit/>
          </a:bodyPr>
          <a:lstStyle/>
          <a:p>
            <a:pPr algn="just" eaLnBrk="1" hangingPunct="1"/>
            <a:endParaRPr lang="en-US" sz="2200" dirty="0" smtClean="0"/>
          </a:p>
          <a:p>
            <a:pPr algn="just" eaLnBrk="1" hangingPunct="1"/>
            <a:r>
              <a:rPr lang="en-US" sz="2200" dirty="0" smtClean="0"/>
              <a:t>This is a power sink which uses fluid friction for dissipation of the input energy and there by measures the input torque or power. </a:t>
            </a:r>
          </a:p>
          <a:p>
            <a:pPr algn="just" eaLnBrk="1" hangingPunct="1"/>
            <a:r>
              <a:rPr lang="en-US" sz="2200" dirty="0" smtClean="0"/>
              <a:t>The capacity of hydraulic dynamometer is a function of two parameters speed and the water level.</a:t>
            </a:r>
          </a:p>
          <a:p>
            <a:pPr algn="just" eaLnBrk="1" hangingPunct="1"/>
            <a:r>
              <a:rPr lang="en-US" sz="2200" dirty="0" smtClean="0"/>
              <a:t>The torque is measured with the help of reaction arm or shaft. </a:t>
            </a:r>
          </a:p>
          <a:p>
            <a:pPr algn="just" eaLnBrk="1" hangingPunct="1"/>
            <a:r>
              <a:rPr lang="en-US" sz="2200" dirty="0" smtClean="0"/>
              <a:t>The power absorption at a given speed may be controlled by adjustment of water level in the housing.</a:t>
            </a:r>
          </a:p>
        </p:txBody>
      </p:sp>
      <p:pic>
        <p:nvPicPr>
          <p:cNvPr id="5124" name="Picture 4" descr="http://image.made-in-china.com/2f0j00VCSQnvthfHkN/Hydraulic-Dynamometer-10-.jpg"/>
          <p:cNvPicPr>
            <a:picLocks noChangeAspect="1" noChangeArrowheads="1"/>
          </p:cNvPicPr>
          <p:nvPr/>
        </p:nvPicPr>
        <p:blipFill>
          <a:blip r:embed="rId2"/>
          <a:srcRect l="12000" t="7494" r="14667" b="10070"/>
          <a:stretch>
            <a:fillRect/>
          </a:stretch>
        </p:blipFill>
        <p:spPr bwMode="auto">
          <a:xfrm>
            <a:off x="5486400" y="3931920"/>
            <a:ext cx="3657600" cy="29260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/>
              <a:t>This dynamometer may be used in larger capacities than the simple </a:t>
            </a:r>
            <a:r>
              <a:rPr lang="en-US" sz="2200" dirty="0" err="1" smtClean="0"/>
              <a:t>Prony</a:t>
            </a:r>
            <a:r>
              <a:rPr lang="en-US" sz="2200" dirty="0" smtClean="0"/>
              <a:t> brake dynamometer because heat generated can be can be easily removed by circulating the water in and out of the housing.</a:t>
            </a:r>
          </a:p>
          <a:p>
            <a:pPr algn="just"/>
            <a:r>
              <a:rPr lang="en-US" sz="2200" dirty="0" smtClean="0"/>
              <a:t>The force acting on the shaft is then measured by using the force measuring device or strain gauges.</a:t>
            </a:r>
          </a:p>
          <a:p>
            <a:pPr algn="just"/>
            <a:r>
              <a:rPr lang="en-US" sz="2200" dirty="0" smtClean="0"/>
              <a:t>Then by using the relation, T = F . r, we can find the torque acting on it.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Hydraulic Dynamometer: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79695"/>
              </a:clrFrom>
              <a:clrTo>
                <a:srgbClr val="979695">
                  <a:alpha val="0"/>
                </a:srgbClr>
              </a:clrTo>
            </a:clrChange>
            <a:lum bright="20000" contrast="40000"/>
          </a:blip>
          <a:srcRect l="2020" t="4309" r="5051" b="2321"/>
          <a:stretch>
            <a:fillRect/>
          </a:stretch>
        </p:blipFill>
        <p:spPr bwMode="auto">
          <a:xfrm>
            <a:off x="1219200" y="1143000"/>
            <a:ext cx="7391400" cy="522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Hydraulic Dynamometer Characters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Small in size. Easy installation</a:t>
            </a:r>
          </a:p>
          <a:p>
            <a:r>
              <a:rPr lang="en-US" dirty="0" smtClean="0"/>
              <a:t>Simple dynamometer structure and easy for maintenance</a:t>
            </a:r>
          </a:p>
          <a:p>
            <a:r>
              <a:rPr lang="en-US" dirty="0" smtClean="0"/>
              <a:t>High brake torque</a:t>
            </a:r>
          </a:p>
          <a:p>
            <a:r>
              <a:rPr lang="en-US" dirty="0" smtClean="0"/>
              <a:t>High measurement accuracy</a:t>
            </a:r>
          </a:p>
          <a:p>
            <a:r>
              <a:rPr lang="en-US" dirty="0" smtClean="0"/>
              <a:t>Reliable and stable working condition</a:t>
            </a:r>
          </a:p>
          <a:p>
            <a:r>
              <a:rPr lang="en-US" dirty="0" smtClean="0"/>
              <a:t>High real-time speed measurement accuracy with EM sensors</a:t>
            </a:r>
          </a:p>
          <a:p>
            <a:r>
              <a:rPr lang="en-US" dirty="0" smtClean="0"/>
              <a:t>Fast loading control by electronic-control butterfly valve</a:t>
            </a:r>
          </a:p>
          <a:p>
            <a:r>
              <a:rPr lang="en-US" dirty="0" smtClean="0"/>
              <a:t>High reaction speed which is suitable on dynamic testing Tuning of in-use engines, typically at service centers or for racing applications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Custom 13">
      <a:dk1>
        <a:sysClr val="windowText" lastClr="000000"/>
      </a:dk1>
      <a:lt1>
        <a:sysClr val="window" lastClr="FFFFFF"/>
      </a:lt1>
      <a:dk2>
        <a:srgbClr val="FF0000"/>
      </a:dk2>
      <a:lt2>
        <a:srgbClr val="0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576</TotalTime>
  <Words>1019</Words>
  <Application>Microsoft Office PowerPoint</Application>
  <PresentationFormat>On-screen Show (4:3)</PresentationFormat>
  <Paragraphs>118</Paragraphs>
  <Slides>22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Solstice</vt:lpstr>
      <vt:lpstr>Equation</vt:lpstr>
      <vt:lpstr>Measurement of force torque and pressure </vt:lpstr>
      <vt:lpstr>Measuring devices </vt:lpstr>
      <vt:lpstr>Introduction</vt:lpstr>
      <vt:lpstr>Direct Method: Analytical Balance (Equal arm balance)</vt:lpstr>
      <vt:lpstr>Unequal arm balance:</vt:lpstr>
      <vt:lpstr>Unequal arm balance:</vt:lpstr>
      <vt:lpstr>Unequal arm balance:</vt:lpstr>
      <vt:lpstr>Platform Balance: (Multiple Lever System)</vt:lpstr>
      <vt:lpstr>Platform Balance: (Multiple Lever System)</vt:lpstr>
      <vt:lpstr>Proving ring </vt:lpstr>
      <vt:lpstr>Proving ring </vt:lpstr>
      <vt:lpstr>Proving Ring:</vt:lpstr>
      <vt:lpstr>Proving Ring:</vt:lpstr>
      <vt:lpstr>     Torque Measurement:</vt:lpstr>
      <vt:lpstr>     Torque Measurement:</vt:lpstr>
      <vt:lpstr>      Types of Dynamometers:</vt:lpstr>
      <vt:lpstr>Mechanical Dynamometer (Prony Brake):</vt:lpstr>
      <vt:lpstr>Slide 18</vt:lpstr>
      <vt:lpstr>Hydraulic Dynamometer:</vt:lpstr>
      <vt:lpstr>Slide 20</vt:lpstr>
      <vt:lpstr>Hydraulic Dynamometer:</vt:lpstr>
      <vt:lpstr>Hydraulic Dynamometer Characters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of force torque and pressure </dc:title>
  <dc:creator>vishwas</dc:creator>
  <cp:lastModifiedBy>SSE</cp:lastModifiedBy>
  <cp:revision>13</cp:revision>
  <dcterms:created xsi:type="dcterms:W3CDTF">2012-09-13T14:02:14Z</dcterms:created>
  <dcterms:modified xsi:type="dcterms:W3CDTF">2012-09-21T04:28:09Z</dcterms:modified>
</cp:coreProperties>
</file>